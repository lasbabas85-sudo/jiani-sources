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</p:sldMasterIdLst>
  <p:notesMasterIdLst>
    <p:notesMasterId r:id="rId50"/>
  </p:notesMasterIdLst>
  <p:sldIdLst>
    <p:sldId id="346" r:id="rId3"/>
    <p:sldId id="256" r:id="rId4"/>
    <p:sldId id="347" r:id="rId5"/>
    <p:sldId id="350" r:id="rId6"/>
    <p:sldId id="352" r:id="rId7"/>
    <p:sldId id="257" r:id="rId8"/>
    <p:sldId id="258" r:id="rId9"/>
    <p:sldId id="349" r:id="rId10"/>
    <p:sldId id="333" r:id="rId11"/>
    <p:sldId id="326" r:id="rId12"/>
    <p:sldId id="351" r:id="rId13"/>
    <p:sldId id="264" r:id="rId14"/>
    <p:sldId id="353" r:id="rId15"/>
    <p:sldId id="294" r:id="rId16"/>
    <p:sldId id="308" r:id="rId17"/>
    <p:sldId id="310" r:id="rId18"/>
    <p:sldId id="312" r:id="rId19"/>
    <p:sldId id="277" r:id="rId20"/>
    <p:sldId id="278" r:id="rId21"/>
    <p:sldId id="279" r:id="rId22"/>
    <p:sldId id="280" r:id="rId23"/>
    <p:sldId id="281" r:id="rId24"/>
    <p:sldId id="344" r:id="rId25"/>
    <p:sldId id="354" r:id="rId26"/>
    <p:sldId id="355" r:id="rId27"/>
    <p:sldId id="356" r:id="rId28"/>
    <p:sldId id="284" r:id="rId29"/>
    <p:sldId id="285" r:id="rId30"/>
    <p:sldId id="286" r:id="rId31"/>
    <p:sldId id="287" r:id="rId32"/>
    <p:sldId id="345" r:id="rId33"/>
    <p:sldId id="283" r:id="rId34"/>
    <p:sldId id="334" r:id="rId35"/>
    <p:sldId id="335" r:id="rId36"/>
    <p:sldId id="337" r:id="rId37"/>
    <p:sldId id="339" r:id="rId38"/>
    <p:sldId id="296" r:id="rId39"/>
    <p:sldId id="340" r:id="rId40"/>
    <p:sldId id="297" r:id="rId41"/>
    <p:sldId id="341" r:id="rId42"/>
    <p:sldId id="342" r:id="rId43"/>
    <p:sldId id="343" r:id="rId44"/>
    <p:sldId id="358" r:id="rId45"/>
    <p:sldId id="364" r:id="rId46"/>
    <p:sldId id="361" r:id="rId47"/>
    <p:sldId id="362" r:id="rId48"/>
    <p:sldId id="363" r:id="rId49"/>
  </p:sldIdLst>
  <p:sldSz cx="9144000" cy="6858000" type="screen4x3"/>
  <p:notesSz cx="6858000" cy="9144000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000066"/>
    <a:srgbClr val="808080"/>
    <a:srgbClr val="FF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970" autoAdjust="0"/>
  </p:normalViewPr>
  <p:slideViewPr>
    <p:cSldViewPr>
      <p:cViewPr varScale="1">
        <p:scale>
          <a:sx n="80" d="100"/>
          <a:sy n="80" d="100"/>
        </p:scale>
        <p:origin x="-1445" y="-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42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12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69A54440-E0F8-4299-97F8-0F55741BD320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86273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A97D437-BEF2-46C1-A701-FEADB95C39B5}" type="slidenum">
              <a:rPr lang="fr-FR" smtClean="0"/>
              <a:pPr/>
              <a:t>12</a:t>
            </a:fld>
            <a:endParaRPr lang="fr-FR" smtClean="0"/>
          </a:p>
        </p:txBody>
      </p:sp>
      <p:sp>
        <p:nvSpPr>
          <p:cNvPr id="52227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8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52229" name="Espace réservé du numéro de diapositive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B83076B6-776F-4D8E-BD1D-D34E66C1219E}" type="slidenum">
              <a:rPr lang="fr-FR" sz="1200">
                <a:latin typeface="Calibri" pitchFamily="34" charset="0"/>
              </a:rPr>
              <a:pPr algn="r"/>
              <a:t>12</a:t>
            </a:fld>
            <a:endParaRPr lang="fr-FR" sz="120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5C25297-5CDF-4CAB-9ED0-7E2531257F17}" type="slidenum">
              <a:rPr lang="fr-FR" smtClean="0"/>
              <a:pPr/>
              <a:t>14</a:t>
            </a:fld>
            <a:endParaRPr lang="fr-FR" smtClean="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27125" y="711200"/>
            <a:ext cx="4605338" cy="3454400"/>
          </a:xfrm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68800"/>
            <a:ext cx="5029200" cy="4064000"/>
          </a:xfrm>
          <a:noFill/>
          <a:ln/>
        </p:spPr>
        <p:txBody>
          <a:bodyPr/>
          <a:lstStyle/>
          <a:p>
            <a:pPr eaLnBrk="1" hangingPunct="1"/>
            <a:endParaRPr lang="fr-CA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5B0B9D9-B0AC-45E3-B6FF-F154845387F5}" type="slidenum">
              <a:rPr lang="fr-FR" smtClean="0"/>
              <a:pPr/>
              <a:t>15</a:t>
            </a:fld>
            <a:endParaRPr lang="fr-FR" smtClean="0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r>
              <a:rPr lang="fr-CA" smtClean="0"/>
              <a:t>DÉRIVATION DES VALEURS DE CETTE DIAPO:</a:t>
            </a:r>
          </a:p>
          <a:p>
            <a:pPr eaLnBrk="1" hangingPunct="1"/>
            <a:r>
              <a:rPr lang="fr-CA" smtClean="0"/>
              <a:t>0.43%/an*20=8.6% pour 20 ans…..</a:t>
            </a:r>
          </a:p>
          <a:p>
            <a:pPr eaLnBrk="1" hangingPunct="1"/>
            <a:r>
              <a:rPr lang="fr-CA" smtClean="0"/>
              <a:t>Dans le fichier Excel regroupant toutes les donnée, la moyenne des 82 pays, tous les âges et genres est de 10.5 km/h:  -8.6%=(-X*100)/10.5; alors X=0.9 km/h pour 20 ans </a:t>
            </a:r>
          </a:p>
          <a:p>
            <a:pPr eaLnBrk="1" hangingPunct="1"/>
            <a:r>
              <a:rPr lang="fr-CA" smtClean="0"/>
              <a:t>Et l’âge moyen des 6 à 19 ans étant de 12.5 ans,</a:t>
            </a:r>
          </a:p>
          <a:p>
            <a:pPr eaLnBrk="1" hangingPunct="1"/>
            <a:r>
              <a:rPr lang="fr-CA" smtClean="0"/>
              <a:t>VO2max= 31.025+3.238*10.5-3.248*12.5+0.1536*12.5*10.5=44.58 </a:t>
            </a:r>
          </a:p>
          <a:p>
            <a:pPr eaLnBrk="1" hangingPunct="1"/>
            <a:r>
              <a:rPr lang="fr-CA" smtClean="0"/>
              <a:t>Et –0.086*44.58=3.84 ml o2</a:t>
            </a:r>
          </a:p>
          <a:p>
            <a:pPr eaLnBrk="1" hangingPunct="1"/>
            <a:r>
              <a:rPr lang="fr-CA" smtClean="0"/>
              <a:t>Ensuite comme 4 à 22 % représentent 8.6/4=2.15 fois moins et 22//8.6=2.5 fois plus que la moyenne 8.6, les valeurs de 0.9 et 3.84 furent divisées par 2.15 (=0.42 et 1.79) ou multipliées par 2.5 (=2.3 et 9.82)</a:t>
            </a: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ABB8A5B-9512-42C9-8E8C-9921B8F5312B}" type="slidenum">
              <a:rPr lang="fr-FR" smtClean="0"/>
              <a:pPr/>
              <a:t>23</a:t>
            </a:fld>
            <a:endParaRPr lang="fr-FR" smtClean="0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12EFC95-1110-401D-8A98-280E12D209AB}" type="slidenum">
              <a:rPr lang="fr-FR" smtClean="0"/>
              <a:pPr/>
              <a:t>27</a:t>
            </a:fld>
            <a:endParaRPr lang="fr-FR" smtClean="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2950" cy="3416300"/>
          </a:xfrm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7F9E85-CE69-4A89-865C-E8377129BC27}" type="slidenum">
              <a:rPr lang="fr-FR" smtClean="0"/>
              <a:pPr/>
              <a:t>28</a:t>
            </a:fld>
            <a:endParaRPr lang="fr-FR" smtClean="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2950" cy="3416300"/>
          </a:xfrm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89D76D1-D647-4BCA-B065-5381B1384738}" type="slidenum">
              <a:rPr lang="fr-FR" smtClean="0"/>
              <a:pPr/>
              <a:t>29</a:t>
            </a:fld>
            <a:endParaRPr lang="fr-FR" smtClean="0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2950" cy="3416300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515303-5310-4978-A521-CC9F3862D627}" type="slidenum">
              <a:rPr lang="fr-FR" smtClean="0"/>
              <a:pPr/>
              <a:t>30</a:t>
            </a:fld>
            <a:endParaRPr lang="fr-FR" smtClean="0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2950" cy="3416300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3B536A9-2154-4E64-B233-6C6C7588D5D7}" type="slidenum">
              <a:rPr lang="fr-FR" smtClean="0"/>
              <a:pPr/>
              <a:t>33</a:t>
            </a:fld>
            <a:endParaRPr lang="fr-FR" smtClean="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9845F8A-4834-4991-BBA9-58A8260FDFD6}" type="slidenum">
              <a:rPr lang="fr-FR" smtClean="0"/>
              <a:pPr/>
              <a:t>34</a:t>
            </a:fld>
            <a:endParaRPr lang="fr-FR" smtClean="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CL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600ED1E-CD3B-4CA9-B287-D1EF2C33711F}" type="slidenum">
              <a:rPr lang="fr-FR" smtClean="0"/>
              <a:pPr/>
              <a:t>35</a:t>
            </a:fld>
            <a:endParaRPr lang="fr-FR" smtClean="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C517877-2EF0-497E-816B-3F9FFC459A64}" type="slidenum">
              <a:rPr lang="fr-FR" smtClean="0"/>
              <a:pPr/>
              <a:t>36</a:t>
            </a:fld>
            <a:endParaRPr lang="fr-FR" smtClean="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D11A292-A119-4D7E-9A9F-DB0283570937}" type="slidenum">
              <a:rPr lang="fr-FR" smtClean="0"/>
              <a:pPr/>
              <a:t>37</a:t>
            </a:fld>
            <a:endParaRPr lang="fr-FR" smtClean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2950" cy="3416300"/>
          </a:xfrm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73461B9-7D8A-47CD-A363-64E5D650ED8B}" type="slidenum">
              <a:rPr lang="fr-FR" smtClean="0"/>
              <a:pPr/>
              <a:t>38</a:t>
            </a:fld>
            <a:endParaRPr lang="fr-FR" smtClean="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85F0768-E844-4A2C-9ABA-941EA2C4D548}" type="slidenum">
              <a:rPr lang="fr-FR" smtClean="0"/>
              <a:pPr/>
              <a:t>39</a:t>
            </a:fld>
            <a:endParaRPr lang="fr-FR" smtClean="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2950" cy="3416300"/>
          </a:xfrm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8FAFDB2-E770-427D-BFA9-C1557158FA0F}" type="slidenum">
              <a:rPr lang="fr-FR" smtClean="0"/>
              <a:pPr/>
              <a:t>40</a:t>
            </a:fld>
            <a:endParaRPr lang="fr-FR" smtClean="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450B5E6-262A-4123-ADBB-269B61F16B35}" type="slidenum">
              <a:rPr lang="fr-FR" smtClean="0"/>
              <a:pPr/>
              <a:t>41</a:t>
            </a:fld>
            <a:endParaRPr lang="fr-FR" smtClean="0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8B13C5-1322-4FE9-8B74-FCCA4BD8180D}" type="slidenum">
              <a:rPr lang="fr-FR" smtClean="0"/>
              <a:pPr/>
              <a:t>42</a:t>
            </a:fld>
            <a:endParaRPr lang="fr-FR" smtClean="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C0439A7-8172-4CC5-9548-03A3A65CAEFF}" type="slidenum">
              <a:rPr lang="fr-FR" smtClean="0"/>
              <a:pPr/>
              <a:t>45</a:t>
            </a:fld>
            <a:endParaRPr lang="fr-FR" smtClean="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CA" smtClean="0"/>
              <a:t>Un des éléments clés de l’Avis : ce qui importe pour les personnes âgées, ce n’est pas tant l’espérance de vie que l’espérance de vie active</a:t>
            </a:r>
          </a:p>
          <a:p>
            <a:endParaRPr lang="en-CA" smtClean="0"/>
          </a:p>
          <a:p>
            <a:r>
              <a:rPr lang="en-CA" smtClean="0"/>
              <a:t>‘Je ne veut pas vivre vieux, je veux vivre jeune’ (un aîné)</a:t>
            </a:r>
          </a:p>
          <a:p>
            <a:endParaRPr lang="en-CA" smtClean="0"/>
          </a:p>
          <a:p>
            <a:r>
              <a:rPr lang="en-CA" smtClean="0"/>
              <a:t>En cette matière, l’activité physique, on en a maintenant la preuve, joue un rôle inégalé, irremplaçable (en anglais on dirait ‘unique’)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C2E870E-835F-4042-8FE1-86AC603A9A4B}" type="slidenum">
              <a:rPr lang="fr-FR" smtClean="0"/>
              <a:pPr/>
              <a:t>46</a:t>
            </a:fld>
            <a:endParaRPr lang="fr-FR" smtClean="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CA" smtClean="0"/>
              <a:t>On le répète, l’activité physique est irremplaçable pour retarder le moment où on devient dépendant</a:t>
            </a:r>
          </a:p>
          <a:p>
            <a:endParaRPr lang="en-CA" smtClean="0"/>
          </a:p>
          <a:p>
            <a:r>
              <a:rPr lang="en-CA" smtClean="0"/>
              <a:t>Image : haltères aussi irremplaçables que la brosse à dent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3417AE-1268-43E5-85B2-B5278443A2DD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E5C090-9E39-4F37-9256-8297B640864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A2C4D1-E2C5-49F5-806F-70F24D6C0177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CE0736-AF10-4DCC-9FD6-EDC71FC95D0F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6B3F7F-1A19-4A90-8551-9035682CCDE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B14436-112E-439B-A93B-1E7379A6388E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B5CAAA-4EDF-42D0-BD20-57B82AAFC16C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2AFB07-0A40-458D-B97F-25B8CAA2D50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973C68-3038-4BDE-92DB-0E764B336386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9C0FE2-3851-437A-933F-F1E7E33F1A24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FAD593-69A0-4540-B981-22ECE7071A47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59875" cy="6858000"/>
            <a:chOff x="0" y="0"/>
            <a:chExt cx="5770" cy="4320"/>
          </a:xfrm>
        </p:grpSpPr>
        <p:sp>
          <p:nvSpPr>
            <p:cNvPr id="5" name="Rectangle 3"/>
            <p:cNvSpPr>
              <a:spLocks noChangeArrowheads="1"/>
            </p:cNvSpPr>
            <p:nvPr userDrawn="1"/>
          </p:nvSpPr>
          <p:spPr bwMode="hidden">
            <a:xfrm>
              <a:off x="5232" y="1"/>
              <a:ext cx="528" cy="4319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94118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fr-FR"/>
            </a:p>
          </p:txBody>
        </p:sp>
        <p:sp>
          <p:nvSpPr>
            <p:cNvPr id="6" name="Rectangle 4"/>
            <p:cNvSpPr>
              <a:spLocks noChangeArrowheads="1"/>
            </p:cNvSpPr>
            <p:nvPr userDrawn="1"/>
          </p:nvSpPr>
          <p:spPr bwMode="hidden">
            <a:xfrm>
              <a:off x="1056" y="0"/>
              <a:ext cx="192" cy="4320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fr-FR"/>
            </a:p>
          </p:txBody>
        </p:sp>
        <p:sp>
          <p:nvSpPr>
            <p:cNvPr id="7" name="Rectangle 5"/>
            <p:cNvSpPr>
              <a:spLocks noChangeArrowheads="1"/>
            </p:cNvSpPr>
            <p:nvPr userDrawn="1"/>
          </p:nvSpPr>
          <p:spPr bwMode="hidden">
            <a:xfrm>
              <a:off x="1728" y="0"/>
              <a:ext cx="432" cy="4320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fr-FR"/>
            </a:p>
          </p:txBody>
        </p:sp>
        <p:sp>
          <p:nvSpPr>
            <p:cNvPr id="8" name="Rectangle 6"/>
            <p:cNvSpPr>
              <a:spLocks noChangeArrowheads="1"/>
            </p:cNvSpPr>
            <p:nvPr userDrawn="1"/>
          </p:nvSpPr>
          <p:spPr bwMode="hidden">
            <a:xfrm>
              <a:off x="2256" y="0"/>
              <a:ext cx="240" cy="432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fr-FR"/>
            </a:p>
          </p:txBody>
        </p:sp>
        <p:sp>
          <p:nvSpPr>
            <p:cNvPr id="9" name="Rectangle 7"/>
            <p:cNvSpPr>
              <a:spLocks noChangeArrowheads="1"/>
            </p:cNvSpPr>
            <p:nvPr userDrawn="1"/>
          </p:nvSpPr>
          <p:spPr bwMode="hidden">
            <a:xfrm>
              <a:off x="1344" y="0"/>
              <a:ext cx="384" cy="43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fr-FR"/>
            </a:p>
          </p:txBody>
        </p:sp>
        <p:sp>
          <p:nvSpPr>
            <p:cNvPr id="10" name="Rectangle 8"/>
            <p:cNvSpPr>
              <a:spLocks noChangeArrowheads="1"/>
            </p:cNvSpPr>
            <p:nvPr userDrawn="1"/>
          </p:nvSpPr>
          <p:spPr bwMode="hidden">
            <a:xfrm>
              <a:off x="480" y="0"/>
              <a:ext cx="576" cy="43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fr-FR"/>
            </a:p>
          </p:txBody>
        </p:sp>
        <p:sp>
          <p:nvSpPr>
            <p:cNvPr id="11" name="Rectangle 9"/>
            <p:cNvSpPr>
              <a:spLocks noChangeArrowheads="1"/>
            </p:cNvSpPr>
            <p:nvPr userDrawn="1"/>
          </p:nvSpPr>
          <p:spPr bwMode="hidden">
            <a:xfrm>
              <a:off x="288" y="0"/>
              <a:ext cx="192" cy="43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2">
                    <a:gamma/>
                    <a:shade val="8470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fr-FR"/>
            </a:p>
          </p:txBody>
        </p:sp>
        <p:sp>
          <p:nvSpPr>
            <p:cNvPr id="12" name="Rectangle 10"/>
            <p:cNvSpPr>
              <a:spLocks noChangeArrowheads="1"/>
            </p:cNvSpPr>
            <p:nvPr userDrawn="1"/>
          </p:nvSpPr>
          <p:spPr bwMode="hidden">
            <a:xfrm>
              <a:off x="0" y="0"/>
              <a:ext cx="288" cy="4320"/>
            </a:xfrm>
            <a:prstGeom prst="rect">
              <a:avLst/>
            </a:pr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fr-FR"/>
            </a:p>
          </p:txBody>
        </p:sp>
        <p:sp>
          <p:nvSpPr>
            <p:cNvPr id="13" name="Rectangle 11"/>
            <p:cNvSpPr>
              <a:spLocks noChangeArrowheads="1"/>
            </p:cNvSpPr>
            <p:nvPr userDrawn="1"/>
          </p:nvSpPr>
          <p:spPr bwMode="hidden">
            <a:xfrm>
              <a:off x="2160" y="0"/>
              <a:ext cx="240" cy="43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fr-FR"/>
            </a:p>
          </p:txBody>
        </p:sp>
        <p:sp>
          <p:nvSpPr>
            <p:cNvPr id="14" name="Rectangle 12"/>
            <p:cNvSpPr>
              <a:spLocks noChangeArrowheads="1"/>
            </p:cNvSpPr>
            <p:nvPr userDrawn="1"/>
          </p:nvSpPr>
          <p:spPr bwMode="hidden">
            <a:xfrm>
              <a:off x="2784" y="0"/>
              <a:ext cx="528" cy="4320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fr-FR"/>
            </a:p>
          </p:txBody>
        </p:sp>
        <p:sp>
          <p:nvSpPr>
            <p:cNvPr id="15" name="Rectangle 13"/>
            <p:cNvSpPr>
              <a:spLocks noChangeArrowheads="1"/>
            </p:cNvSpPr>
            <p:nvPr userDrawn="1"/>
          </p:nvSpPr>
          <p:spPr bwMode="hidden">
            <a:xfrm>
              <a:off x="1248" y="0"/>
              <a:ext cx="144" cy="4320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fr-FR"/>
            </a:p>
          </p:txBody>
        </p:sp>
        <p:sp>
          <p:nvSpPr>
            <p:cNvPr id="16" name="Rectangle 14"/>
            <p:cNvSpPr>
              <a:spLocks noChangeArrowheads="1"/>
            </p:cNvSpPr>
            <p:nvPr userDrawn="1"/>
          </p:nvSpPr>
          <p:spPr bwMode="hidden">
            <a:xfrm>
              <a:off x="3300" y="0"/>
              <a:ext cx="252" cy="4320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fr-FR"/>
            </a:p>
          </p:txBody>
        </p:sp>
        <p:sp>
          <p:nvSpPr>
            <p:cNvPr id="17" name="Rectangle 15"/>
            <p:cNvSpPr>
              <a:spLocks noChangeArrowheads="1"/>
            </p:cNvSpPr>
            <p:nvPr userDrawn="1"/>
          </p:nvSpPr>
          <p:spPr bwMode="hidden">
            <a:xfrm>
              <a:off x="4656" y="0"/>
              <a:ext cx="144" cy="43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2">
                    <a:gamma/>
                    <a:shade val="96863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fr-FR"/>
            </a:p>
          </p:txBody>
        </p:sp>
        <p:sp>
          <p:nvSpPr>
            <p:cNvPr id="18" name="Rectangle 16"/>
            <p:cNvSpPr>
              <a:spLocks noChangeArrowheads="1"/>
            </p:cNvSpPr>
            <p:nvPr userDrawn="1"/>
          </p:nvSpPr>
          <p:spPr bwMode="hidden">
            <a:xfrm>
              <a:off x="4608" y="0"/>
              <a:ext cx="672" cy="43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fr-FR"/>
            </a:p>
          </p:txBody>
        </p:sp>
        <p:sp>
          <p:nvSpPr>
            <p:cNvPr id="19" name="Rectangle 17"/>
            <p:cNvSpPr>
              <a:spLocks noChangeArrowheads="1"/>
            </p:cNvSpPr>
            <p:nvPr userDrawn="1"/>
          </p:nvSpPr>
          <p:spPr bwMode="hidden">
            <a:xfrm>
              <a:off x="3504" y="0"/>
              <a:ext cx="624" cy="43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fr-FR"/>
            </a:p>
          </p:txBody>
        </p:sp>
        <p:sp>
          <p:nvSpPr>
            <p:cNvPr id="20" name="Rectangle 18"/>
            <p:cNvSpPr>
              <a:spLocks noChangeArrowheads="1"/>
            </p:cNvSpPr>
            <p:nvPr userDrawn="1"/>
          </p:nvSpPr>
          <p:spPr bwMode="hidden">
            <a:xfrm>
              <a:off x="3840" y="0"/>
              <a:ext cx="528" cy="4320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fr-FR"/>
            </a:p>
          </p:txBody>
        </p:sp>
        <p:sp>
          <p:nvSpPr>
            <p:cNvPr id="21" name="Rectangle 19"/>
            <p:cNvSpPr>
              <a:spLocks noChangeArrowheads="1"/>
            </p:cNvSpPr>
            <p:nvPr userDrawn="1"/>
          </p:nvSpPr>
          <p:spPr bwMode="hidden">
            <a:xfrm>
              <a:off x="4368" y="0"/>
              <a:ext cx="240" cy="43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2">
                    <a:gamma/>
                    <a:shade val="96863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fr-FR"/>
            </a:p>
          </p:txBody>
        </p:sp>
        <p:sp>
          <p:nvSpPr>
            <p:cNvPr id="22" name="Rectangle 20"/>
            <p:cNvSpPr>
              <a:spLocks noChangeArrowheads="1"/>
            </p:cNvSpPr>
            <p:nvPr userDrawn="1"/>
          </p:nvSpPr>
          <p:spPr bwMode="hidden">
            <a:xfrm>
              <a:off x="2680" y="0"/>
              <a:ext cx="152" cy="43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fr-FR"/>
            </a:p>
          </p:txBody>
        </p:sp>
        <p:sp>
          <p:nvSpPr>
            <p:cNvPr id="23" name="Rectangle 21"/>
            <p:cNvSpPr>
              <a:spLocks noChangeArrowheads="1"/>
            </p:cNvSpPr>
            <p:nvPr userDrawn="1"/>
          </p:nvSpPr>
          <p:spPr bwMode="hidden">
            <a:xfrm>
              <a:off x="2366" y="0"/>
              <a:ext cx="336" cy="4320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fr-FR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hidden">
            <a:xfrm>
              <a:off x="1" y="3875"/>
              <a:ext cx="5760" cy="445"/>
            </a:xfrm>
            <a:custGeom>
              <a:avLst/>
              <a:gdLst/>
              <a:ahLst/>
              <a:cxnLst>
                <a:cxn ang="0">
                  <a:pos x="5700" y="86"/>
                </a:cxn>
                <a:cxn ang="0">
                  <a:pos x="5508" y="86"/>
                </a:cxn>
                <a:cxn ang="0">
                  <a:pos x="5454" y="76"/>
                </a:cxn>
                <a:cxn ang="0">
                  <a:pos x="5448" y="65"/>
                </a:cxn>
                <a:cxn ang="0">
                  <a:pos x="5442" y="44"/>
                </a:cxn>
                <a:cxn ang="0">
                  <a:pos x="5414" y="18"/>
                </a:cxn>
                <a:cxn ang="0">
                  <a:pos x="5332" y="7"/>
                </a:cxn>
                <a:cxn ang="0">
                  <a:pos x="5051" y="22"/>
                </a:cxn>
                <a:cxn ang="0">
                  <a:pos x="4986" y="55"/>
                </a:cxn>
                <a:cxn ang="0">
                  <a:pos x="4854" y="102"/>
                </a:cxn>
                <a:cxn ang="0">
                  <a:pos x="4740" y="112"/>
                </a:cxn>
                <a:cxn ang="0">
                  <a:pos x="4662" y="91"/>
                </a:cxn>
                <a:cxn ang="0">
                  <a:pos x="4598" y="25"/>
                </a:cxn>
                <a:cxn ang="0">
                  <a:pos x="4514" y="9"/>
                </a:cxn>
                <a:cxn ang="0">
                  <a:pos x="4410" y="39"/>
                </a:cxn>
                <a:cxn ang="0">
                  <a:pos x="4236" y="81"/>
                </a:cxn>
                <a:cxn ang="0">
                  <a:pos x="4020" y="102"/>
                </a:cxn>
                <a:cxn ang="0">
                  <a:pos x="3810" y="102"/>
                </a:cxn>
                <a:cxn ang="0">
                  <a:pos x="3654" y="76"/>
                </a:cxn>
                <a:cxn ang="0">
                  <a:pos x="3594" y="50"/>
                </a:cxn>
                <a:cxn ang="0">
                  <a:pos x="3528" y="44"/>
                </a:cxn>
                <a:cxn ang="0">
                  <a:pos x="3480" y="55"/>
                </a:cxn>
                <a:cxn ang="0">
                  <a:pos x="3420" y="76"/>
                </a:cxn>
                <a:cxn ang="0">
                  <a:pos x="3048" y="112"/>
                </a:cxn>
                <a:cxn ang="0">
                  <a:pos x="2844" y="128"/>
                </a:cxn>
                <a:cxn ang="0">
                  <a:pos x="2742" y="117"/>
                </a:cxn>
                <a:cxn ang="0">
                  <a:pos x="2710" y="56"/>
                </a:cxn>
                <a:cxn ang="0">
                  <a:pos x="2658" y="50"/>
                </a:cxn>
                <a:cxn ang="0">
                  <a:pos x="2558" y="95"/>
                </a:cxn>
                <a:cxn ang="0">
                  <a:pos x="2444" y="109"/>
                </a:cxn>
                <a:cxn ang="0">
                  <a:pos x="2322" y="91"/>
                </a:cxn>
                <a:cxn ang="0">
                  <a:pos x="2274" y="70"/>
                </a:cxn>
                <a:cxn ang="0">
                  <a:pos x="2185" y="3"/>
                </a:cxn>
                <a:cxn ang="0">
                  <a:pos x="2048" y="64"/>
                </a:cxn>
                <a:cxn ang="0">
                  <a:pos x="1794" y="102"/>
                </a:cxn>
                <a:cxn ang="0">
                  <a:pos x="1560" y="91"/>
                </a:cxn>
                <a:cxn ang="0">
                  <a:pos x="1482" y="76"/>
                </a:cxn>
                <a:cxn ang="0">
                  <a:pos x="1428" y="50"/>
                </a:cxn>
                <a:cxn ang="0">
                  <a:pos x="1374" y="44"/>
                </a:cxn>
                <a:cxn ang="0">
                  <a:pos x="1308" y="55"/>
                </a:cxn>
                <a:cxn ang="0">
                  <a:pos x="1140" y="107"/>
                </a:cxn>
                <a:cxn ang="0">
                  <a:pos x="948" y="143"/>
                </a:cxn>
                <a:cxn ang="0">
                  <a:pos x="708" y="138"/>
                </a:cxn>
                <a:cxn ang="0">
                  <a:pos x="534" y="96"/>
                </a:cxn>
                <a:cxn ang="0">
                  <a:pos x="444" y="55"/>
                </a:cxn>
                <a:cxn ang="0">
                  <a:pos x="396" y="34"/>
                </a:cxn>
                <a:cxn ang="0">
                  <a:pos x="378" y="39"/>
                </a:cxn>
                <a:cxn ang="0">
                  <a:pos x="342" y="70"/>
                </a:cxn>
                <a:cxn ang="0">
                  <a:pos x="288" y="96"/>
                </a:cxn>
                <a:cxn ang="0">
                  <a:pos x="192" y="112"/>
                </a:cxn>
                <a:cxn ang="0">
                  <a:pos x="90" y="112"/>
                </a:cxn>
                <a:cxn ang="0">
                  <a:pos x="0" y="96"/>
                </a:cxn>
                <a:cxn ang="0">
                  <a:pos x="5760" y="445"/>
                </a:cxn>
              </a:cxnLst>
              <a:rect l="0" t="0" r="r" b="b"/>
              <a:pathLst>
                <a:path w="5760" h="445">
                  <a:moveTo>
                    <a:pt x="5760" y="445"/>
                  </a:moveTo>
                  <a:lnTo>
                    <a:pt x="5760" y="76"/>
                  </a:lnTo>
                  <a:lnTo>
                    <a:pt x="5730" y="81"/>
                  </a:lnTo>
                  <a:lnTo>
                    <a:pt x="5700" y="86"/>
                  </a:lnTo>
                  <a:lnTo>
                    <a:pt x="5646" y="91"/>
                  </a:lnTo>
                  <a:lnTo>
                    <a:pt x="5592" y="91"/>
                  </a:lnTo>
                  <a:lnTo>
                    <a:pt x="5544" y="91"/>
                  </a:lnTo>
                  <a:lnTo>
                    <a:pt x="5508" y="86"/>
                  </a:lnTo>
                  <a:lnTo>
                    <a:pt x="5490" y="86"/>
                  </a:lnTo>
                  <a:lnTo>
                    <a:pt x="5478" y="81"/>
                  </a:lnTo>
                  <a:lnTo>
                    <a:pt x="5466" y="76"/>
                  </a:lnTo>
                  <a:lnTo>
                    <a:pt x="5454" y="76"/>
                  </a:lnTo>
                  <a:lnTo>
                    <a:pt x="5454" y="70"/>
                  </a:lnTo>
                  <a:lnTo>
                    <a:pt x="5454" y="70"/>
                  </a:lnTo>
                  <a:lnTo>
                    <a:pt x="5448" y="70"/>
                  </a:lnTo>
                  <a:lnTo>
                    <a:pt x="5448" y="65"/>
                  </a:lnTo>
                  <a:lnTo>
                    <a:pt x="5448" y="60"/>
                  </a:lnTo>
                  <a:lnTo>
                    <a:pt x="5448" y="55"/>
                  </a:lnTo>
                  <a:lnTo>
                    <a:pt x="5442" y="50"/>
                  </a:lnTo>
                  <a:lnTo>
                    <a:pt x="5442" y="44"/>
                  </a:lnTo>
                  <a:lnTo>
                    <a:pt x="5436" y="39"/>
                  </a:lnTo>
                  <a:lnTo>
                    <a:pt x="5424" y="34"/>
                  </a:lnTo>
                  <a:lnTo>
                    <a:pt x="5418" y="29"/>
                  </a:lnTo>
                  <a:lnTo>
                    <a:pt x="5414" y="18"/>
                  </a:lnTo>
                  <a:lnTo>
                    <a:pt x="5401" y="16"/>
                  </a:lnTo>
                  <a:lnTo>
                    <a:pt x="5386" y="10"/>
                  </a:lnTo>
                  <a:lnTo>
                    <a:pt x="5368" y="7"/>
                  </a:lnTo>
                  <a:lnTo>
                    <a:pt x="5332" y="7"/>
                  </a:lnTo>
                  <a:lnTo>
                    <a:pt x="5246" y="10"/>
                  </a:lnTo>
                  <a:lnTo>
                    <a:pt x="5144" y="7"/>
                  </a:lnTo>
                  <a:lnTo>
                    <a:pt x="5090" y="16"/>
                  </a:lnTo>
                  <a:lnTo>
                    <a:pt x="5051" y="22"/>
                  </a:lnTo>
                  <a:lnTo>
                    <a:pt x="5036" y="30"/>
                  </a:lnTo>
                  <a:lnTo>
                    <a:pt x="5022" y="39"/>
                  </a:lnTo>
                  <a:lnTo>
                    <a:pt x="5010" y="44"/>
                  </a:lnTo>
                  <a:lnTo>
                    <a:pt x="4986" y="55"/>
                  </a:lnTo>
                  <a:lnTo>
                    <a:pt x="4950" y="70"/>
                  </a:lnTo>
                  <a:lnTo>
                    <a:pt x="4920" y="86"/>
                  </a:lnTo>
                  <a:lnTo>
                    <a:pt x="4884" y="96"/>
                  </a:lnTo>
                  <a:lnTo>
                    <a:pt x="4854" y="102"/>
                  </a:lnTo>
                  <a:lnTo>
                    <a:pt x="4824" y="107"/>
                  </a:lnTo>
                  <a:lnTo>
                    <a:pt x="4794" y="112"/>
                  </a:lnTo>
                  <a:lnTo>
                    <a:pt x="4764" y="112"/>
                  </a:lnTo>
                  <a:lnTo>
                    <a:pt x="4740" y="112"/>
                  </a:lnTo>
                  <a:lnTo>
                    <a:pt x="4716" y="107"/>
                  </a:lnTo>
                  <a:lnTo>
                    <a:pt x="4698" y="102"/>
                  </a:lnTo>
                  <a:lnTo>
                    <a:pt x="4674" y="96"/>
                  </a:lnTo>
                  <a:lnTo>
                    <a:pt x="4662" y="91"/>
                  </a:lnTo>
                  <a:lnTo>
                    <a:pt x="4644" y="86"/>
                  </a:lnTo>
                  <a:lnTo>
                    <a:pt x="4631" y="66"/>
                  </a:lnTo>
                  <a:lnTo>
                    <a:pt x="4617" y="42"/>
                  </a:lnTo>
                  <a:lnTo>
                    <a:pt x="4598" y="25"/>
                  </a:lnTo>
                  <a:lnTo>
                    <a:pt x="4584" y="13"/>
                  </a:lnTo>
                  <a:lnTo>
                    <a:pt x="4565" y="4"/>
                  </a:lnTo>
                  <a:lnTo>
                    <a:pt x="4535" y="3"/>
                  </a:lnTo>
                  <a:lnTo>
                    <a:pt x="4514" y="9"/>
                  </a:lnTo>
                  <a:lnTo>
                    <a:pt x="4494" y="18"/>
                  </a:lnTo>
                  <a:lnTo>
                    <a:pt x="4471" y="23"/>
                  </a:lnTo>
                  <a:lnTo>
                    <a:pt x="4440" y="29"/>
                  </a:lnTo>
                  <a:lnTo>
                    <a:pt x="4410" y="39"/>
                  </a:lnTo>
                  <a:lnTo>
                    <a:pt x="4374" y="50"/>
                  </a:lnTo>
                  <a:lnTo>
                    <a:pt x="4332" y="60"/>
                  </a:lnTo>
                  <a:lnTo>
                    <a:pt x="4284" y="76"/>
                  </a:lnTo>
                  <a:lnTo>
                    <a:pt x="4236" y="81"/>
                  </a:lnTo>
                  <a:lnTo>
                    <a:pt x="4183" y="91"/>
                  </a:lnTo>
                  <a:lnTo>
                    <a:pt x="4128" y="96"/>
                  </a:lnTo>
                  <a:lnTo>
                    <a:pt x="4074" y="102"/>
                  </a:lnTo>
                  <a:lnTo>
                    <a:pt x="4020" y="102"/>
                  </a:lnTo>
                  <a:lnTo>
                    <a:pt x="3966" y="102"/>
                  </a:lnTo>
                  <a:lnTo>
                    <a:pt x="3912" y="102"/>
                  </a:lnTo>
                  <a:lnTo>
                    <a:pt x="3858" y="102"/>
                  </a:lnTo>
                  <a:lnTo>
                    <a:pt x="3810" y="102"/>
                  </a:lnTo>
                  <a:lnTo>
                    <a:pt x="3762" y="96"/>
                  </a:lnTo>
                  <a:lnTo>
                    <a:pt x="3726" y="91"/>
                  </a:lnTo>
                  <a:lnTo>
                    <a:pt x="3684" y="81"/>
                  </a:lnTo>
                  <a:lnTo>
                    <a:pt x="3654" y="76"/>
                  </a:lnTo>
                  <a:lnTo>
                    <a:pt x="3642" y="70"/>
                  </a:lnTo>
                  <a:lnTo>
                    <a:pt x="3630" y="65"/>
                  </a:lnTo>
                  <a:lnTo>
                    <a:pt x="3612" y="60"/>
                  </a:lnTo>
                  <a:lnTo>
                    <a:pt x="3594" y="50"/>
                  </a:lnTo>
                  <a:lnTo>
                    <a:pt x="3576" y="50"/>
                  </a:lnTo>
                  <a:lnTo>
                    <a:pt x="3558" y="44"/>
                  </a:lnTo>
                  <a:lnTo>
                    <a:pt x="3540" y="44"/>
                  </a:lnTo>
                  <a:lnTo>
                    <a:pt x="3528" y="44"/>
                  </a:lnTo>
                  <a:lnTo>
                    <a:pt x="3516" y="50"/>
                  </a:lnTo>
                  <a:lnTo>
                    <a:pt x="3504" y="50"/>
                  </a:lnTo>
                  <a:lnTo>
                    <a:pt x="3492" y="55"/>
                  </a:lnTo>
                  <a:lnTo>
                    <a:pt x="3480" y="55"/>
                  </a:lnTo>
                  <a:lnTo>
                    <a:pt x="3468" y="65"/>
                  </a:lnTo>
                  <a:lnTo>
                    <a:pt x="3456" y="70"/>
                  </a:lnTo>
                  <a:lnTo>
                    <a:pt x="3450" y="70"/>
                  </a:lnTo>
                  <a:lnTo>
                    <a:pt x="3420" y="76"/>
                  </a:lnTo>
                  <a:lnTo>
                    <a:pt x="3330" y="81"/>
                  </a:lnTo>
                  <a:lnTo>
                    <a:pt x="3204" y="91"/>
                  </a:lnTo>
                  <a:lnTo>
                    <a:pt x="3126" y="102"/>
                  </a:lnTo>
                  <a:lnTo>
                    <a:pt x="3048" y="112"/>
                  </a:lnTo>
                  <a:lnTo>
                    <a:pt x="2970" y="123"/>
                  </a:lnTo>
                  <a:lnTo>
                    <a:pt x="2904" y="128"/>
                  </a:lnTo>
                  <a:lnTo>
                    <a:pt x="2868" y="128"/>
                  </a:lnTo>
                  <a:lnTo>
                    <a:pt x="2844" y="128"/>
                  </a:lnTo>
                  <a:lnTo>
                    <a:pt x="2814" y="128"/>
                  </a:lnTo>
                  <a:lnTo>
                    <a:pt x="2790" y="128"/>
                  </a:lnTo>
                  <a:lnTo>
                    <a:pt x="2766" y="123"/>
                  </a:lnTo>
                  <a:lnTo>
                    <a:pt x="2742" y="117"/>
                  </a:lnTo>
                  <a:lnTo>
                    <a:pt x="2724" y="112"/>
                  </a:lnTo>
                  <a:lnTo>
                    <a:pt x="2706" y="107"/>
                  </a:lnTo>
                  <a:lnTo>
                    <a:pt x="2704" y="83"/>
                  </a:lnTo>
                  <a:lnTo>
                    <a:pt x="2710" y="56"/>
                  </a:lnTo>
                  <a:lnTo>
                    <a:pt x="2710" y="36"/>
                  </a:lnTo>
                  <a:lnTo>
                    <a:pt x="2696" y="25"/>
                  </a:lnTo>
                  <a:lnTo>
                    <a:pt x="2672" y="36"/>
                  </a:lnTo>
                  <a:lnTo>
                    <a:pt x="2658" y="50"/>
                  </a:lnTo>
                  <a:lnTo>
                    <a:pt x="2638" y="60"/>
                  </a:lnTo>
                  <a:lnTo>
                    <a:pt x="2614" y="76"/>
                  </a:lnTo>
                  <a:lnTo>
                    <a:pt x="2590" y="84"/>
                  </a:lnTo>
                  <a:lnTo>
                    <a:pt x="2558" y="95"/>
                  </a:lnTo>
                  <a:lnTo>
                    <a:pt x="2536" y="98"/>
                  </a:lnTo>
                  <a:lnTo>
                    <a:pt x="2508" y="102"/>
                  </a:lnTo>
                  <a:lnTo>
                    <a:pt x="2478" y="105"/>
                  </a:lnTo>
                  <a:lnTo>
                    <a:pt x="2444" y="109"/>
                  </a:lnTo>
                  <a:lnTo>
                    <a:pt x="2410" y="110"/>
                  </a:lnTo>
                  <a:lnTo>
                    <a:pt x="2374" y="107"/>
                  </a:lnTo>
                  <a:lnTo>
                    <a:pt x="2348" y="103"/>
                  </a:lnTo>
                  <a:lnTo>
                    <a:pt x="2322" y="91"/>
                  </a:lnTo>
                  <a:lnTo>
                    <a:pt x="2304" y="86"/>
                  </a:lnTo>
                  <a:lnTo>
                    <a:pt x="2292" y="81"/>
                  </a:lnTo>
                  <a:lnTo>
                    <a:pt x="2286" y="76"/>
                  </a:lnTo>
                  <a:lnTo>
                    <a:pt x="2274" y="70"/>
                  </a:lnTo>
                  <a:lnTo>
                    <a:pt x="2268" y="65"/>
                  </a:lnTo>
                  <a:lnTo>
                    <a:pt x="2246" y="18"/>
                  </a:lnTo>
                  <a:lnTo>
                    <a:pt x="2224" y="0"/>
                  </a:lnTo>
                  <a:lnTo>
                    <a:pt x="2185" y="3"/>
                  </a:lnTo>
                  <a:lnTo>
                    <a:pt x="2156" y="16"/>
                  </a:lnTo>
                  <a:lnTo>
                    <a:pt x="2126" y="22"/>
                  </a:lnTo>
                  <a:lnTo>
                    <a:pt x="2081" y="49"/>
                  </a:lnTo>
                  <a:lnTo>
                    <a:pt x="2048" y="64"/>
                  </a:lnTo>
                  <a:lnTo>
                    <a:pt x="2018" y="76"/>
                  </a:lnTo>
                  <a:lnTo>
                    <a:pt x="1986" y="96"/>
                  </a:lnTo>
                  <a:lnTo>
                    <a:pt x="1896" y="102"/>
                  </a:lnTo>
                  <a:lnTo>
                    <a:pt x="1794" y="102"/>
                  </a:lnTo>
                  <a:lnTo>
                    <a:pt x="1692" y="102"/>
                  </a:lnTo>
                  <a:lnTo>
                    <a:pt x="1644" y="102"/>
                  </a:lnTo>
                  <a:lnTo>
                    <a:pt x="1602" y="96"/>
                  </a:lnTo>
                  <a:lnTo>
                    <a:pt x="1560" y="91"/>
                  </a:lnTo>
                  <a:lnTo>
                    <a:pt x="1524" y="86"/>
                  </a:lnTo>
                  <a:lnTo>
                    <a:pt x="1506" y="86"/>
                  </a:lnTo>
                  <a:lnTo>
                    <a:pt x="1494" y="81"/>
                  </a:lnTo>
                  <a:lnTo>
                    <a:pt x="1482" y="76"/>
                  </a:lnTo>
                  <a:lnTo>
                    <a:pt x="1476" y="70"/>
                  </a:lnTo>
                  <a:lnTo>
                    <a:pt x="1458" y="65"/>
                  </a:lnTo>
                  <a:lnTo>
                    <a:pt x="1440" y="55"/>
                  </a:lnTo>
                  <a:lnTo>
                    <a:pt x="1428" y="50"/>
                  </a:lnTo>
                  <a:lnTo>
                    <a:pt x="1410" y="50"/>
                  </a:lnTo>
                  <a:lnTo>
                    <a:pt x="1398" y="44"/>
                  </a:lnTo>
                  <a:lnTo>
                    <a:pt x="1386" y="44"/>
                  </a:lnTo>
                  <a:lnTo>
                    <a:pt x="1374" y="44"/>
                  </a:lnTo>
                  <a:lnTo>
                    <a:pt x="1356" y="44"/>
                  </a:lnTo>
                  <a:lnTo>
                    <a:pt x="1344" y="44"/>
                  </a:lnTo>
                  <a:lnTo>
                    <a:pt x="1332" y="50"/>
                  </a:lnTo>
                  <a:lnTo>
                    <a:pt x="1308" y="55"/>
                  </a:lnTo>
                  <a:lnTo>
                    <a:pt x="1260" y="70"/>
                  </a:lnTo>
                  <a:lnTo>
                    <a:pt x="1218" y="86"/>
                  </a:lnTo>
                  <a:lnTo>
                    <a:pt x="1176" y="96"/>
                  </a:lnTo>
                  <a:lnTo>
                    <a:pt x="1140" y="107"/>
                  </a:lnTo>
                  <a:lnTo>
                    <a:pt x="1098" y="117"/>
                  </a:lnTo>
                  <a:lnTo>
                    <a:pt x="1062" y="128"/>
                  </a:lnTo>
                  <a:lnTo>
                    <a:pt x="1020" y="133"/>
                  </a:lnTo>
                  <a:lnTo>
                    <a:pt x="948" y="143"/>
                  </a:lnTo>
                  <a:lnTo>
                    <a:pt x="882" y="149"/>
                  </a:lnTo>
                  <a:lnTo>
                    <a:pt x="822" y="149"/>
                  </a:lnTo>
                  <a:lnTo>
                    <a:pt x="762" y="143"/>
                  </a:lnTo>
                  <a:lnTo>
                    <a:pt x="708" y="138"/>
                  </a:lnTo>
                  <a:lnTo>
                    <a:pt x="654" y="128"/>
                  </a:lnTo>
                  <a:lnTo>
                    <a:pt x="612" y="117"/>
                  </a:lnTo>
                  <a:lnTo>
                    <a:pt x="570" y="107"/>
                  </a:lnTo>
                  <a:lnTo>
                    <a:pt x="534" y="96"/>
                  </a:lnTo>
                  <a:lnTo>
                    <a:pt x="504" y="86"/>
                  </a:lnTo>
                  <a:lnTo>
                    <a:pt x="480" y="76"/>
                  </a:lnTo>
                  <a:lnTo>
                    <a:pt x="462" y="65"/>
                  </a:lnTo>
                  <a:lnTo>
                    <a:pt x="444" y="55"/>
                  </a:lnTo>
                  <a:lnTo>
                    <a:pt x="426" y="44"/>
                  </a:lnTo>
                  <a:lnTo>
                    <a:pt x="408" y="34"/>
                  </a:lnTo>
                  <a:lnTo>
                    <a:pt x="402" y="34"/>
                  </a:lnTo>
                  <a:lnTo>
                    <a:pt x="396" y="34"/>
                  </a:lnTo>
                  <a:lnTo>
                    <a:pt x="390" y="34"/>
                  </a:lnTo>
                  <a:lnTo>
                    <a:pt x="390" y="34"/>
                  </a:lnTo>
                  <a:lnTo>
                    <a:pt x="384" y="34"/>
                  </a:lnTo>
                  <a:lnTo>
                    <a:pt x="378" y="39"/>
                  </a:lnTo>
                  <a:lnTo>
                    <a:pt x="372" y="44"/>
                  </a:lnTo>
                  <a:lnTo>
                    <a:pt x="360" y="55"/>
                  </a:lnTo>
                  <a:lnTo>
                    <a:pt x="348" y="65"/>
                  </a:lnTo>
                  <a:lnTo>
                    <a:pt x="342" y="70"/>
                  </a:lnTo>
                  <a:lnTo>
                    <a:pt x="336" y="76"/>
                  </a:lnTo>
                  <a:lnTo>
                    <a:pt x="324" y="86"/>
                  </a:lnTo>
                  <a:lnTo>
                    <a:pt x="306" y="91"/>
                  </a:lnTo>
                  <a:lnTo>
                    <a:pt x="288" y="96"/>
                  </a:lnTo>
                  <a:lnTo>
                    <a:pt x="264" y="102"/>
                  </a:lnTo>
                  <a:lnTo>
                    <a:pt x="240" y="107"/>
                  </a:lnTo>
                  <a:lnTo>
                    <a:pt x="216" y="112"/>
                  </a:lnTo>
                  <a:lnTo>
                    <a:pt x="192" y="112"/>
                  </a:lnTo>
                  <a:lnTo>
                    <a:pt x="168" y="117"/>
                  </a:lnTo>
                  <a:lnTo>
                    <a:pt x="145" y="117"/>
                  </a:lnTo>
                  <a:lnTo>
                    <a:pt x="120" y="117"/>
                  </a:lnTo>
                  <a:lnTo>
                    <a:pt x="90" y="112"/>
                  </a:lnTo>
                  <a:lnTo>
                    <a:pt x="66" y="112"/>
                  </a:lnTo>
                  <a:lnTo>
                    <a:pt x="42" y="107"/>
                  </a:lnTo>
                  <a:lnTo>
                    <a:pt x="24" y="102"/>
                  </a:lnTo>
                  <a:lnTo>
                    <a:pt x="0" y="96"/>
                  </a:lnTo>
                  <a:lnTo>
                    <a:pt x="0" y="445"/>
                  </a:lnTo>
                  <a:lnTo>
                    <a:pt x="5760" y="445"/>
                  </a:lnTo>
                  <a:lnTo>
                    <a:pt x="5760" y="445"/>
                  </a:lnTo>
                  <a:lnTo>
                    <a:pt x="5760" y="445"/>
                  </a:lnTo>
                </a:path>
              </a:pathLst>
            </a:custGeom>
            <a:solidFill>
              <a:schemeClr val="accent2">
                <a:alpha val="50000"/>
              </a:schemeClr>
            </a:solidFill>
            <a:ln w="9525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fr-FR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hidden">
            <a:xfrm>
              <a:off x="0" y="3867"/>
              <a:ext cx="5770" cy="174"/>
            </a:xfrm>
            <a:custGeom>
              <a:avLst/>
              <a:gdLst/>
              <a:ahLst/>
              <a:cxnLst>
                <a:cxn ang="0">
                  <a:pos x="4993" y="66"/>
                </a:cxn>
                <a:cxn ang="0">
                  <a:pos x="4771" y="132"/>
                </a:cxn>
                <a:cxn ang="0">
                  <a:pos x="4640" y="96"/>
                </a:cxn>
                <a:cxn ang="0">
                  <a:pos x="4598" y="36"/>
                </a:cxn>
                <a:cxn ang="0">
                  <a:pos x="4478" y="30"/>
                </a:cxn>
                <a:cxn ang="0">
                  <a:pos x="4186" y="108"/>
                </a:cxn>
                <a:cxn ang="0">
                  <a:pos x="3815" y="120"/>
                </a:cxn>
                <a:cxn ang="0">
                  <a:pos x="3617" y="72"/>
                </a:cxn>
                <a:cxn ang="0">
                  <a:pos x="3510" y="60"/>
                </a:cxn>
                <a:cxn ang="0">
                  <a:pos x="3336" y="96"/>
                </a:cxn>
                <a:cxn ang="0">
                  <a:pos x="2846" y="150"/>
                </a:cxn>
                <a:cxn ang="0">
                  <a:pos x="2703" y="96"/>
                </a:cxn>
                <a:cxn ang="0">
                  <a:pos x="2619" y="90"/>
                </a:cxn>
                <a:cxn ang="0">
                  <a:pos x="2416" y="132"/>
                </a:cxn>
                <a:cxn ang="0">
                  <a:pos x="2278" y="84"/>
                </a:cxn>
                <a:cxn ang="0">
                  <a:pos x="2151" y="36"/>
                </a:cxn>
                <a:cxn ang="0">
                  <a:pos x="1947" y="120"/>
                </a:cxn>
                <a:cxn ang="0">
                  <a:pos x="1525" y="102"/>
                </a:cxn>
                <a:cxn ang="0">
                  <a:pos x="1429" y="60"/>
                </a:cxn>
                <a:cxn ang="0">
                  <a:pos x="1333" y="60"/>
                </a:cxn>
                <a:cxn ang="0">
                  <a:pos x="1058" y="150"/>
                </a:cxn>
                <a:cxn ang="0">
                  <a:pos x="652" y="150"/>
                </a:cxn>
                <a:cxn ang="0">
                  <a:pos x="442" y="66"/>
                </a:cxn>
                <a:cxn ang="0">
                  <a:pos x="377" y="48"/>
                </a:cxn>
                <a:cxn ang="0">
                  <a:pos x="305" y="108"/>
                </a:cxn>
                <a:cxn ang="0">
                  <a:pos x="144" y="138"/>
                </a:cxn>
                <a:cxn ang="0">
                  <a:pos x="0" y="96"/>
                </a:cxn>
                <a:cxn ang="0">
                  <a:pos x="167" y="120"/>
                </a:cxn>
                <a:cxn ang="0">
                  <a:pos x="323" y="84"/>
                </a:cxn>
                <a:cxn ang="0">
                  <a:pos x="383" y="24"/>
                </a:cxn>
                <a:cxn ang="0">
                  <a:pos x="460" y="60"/>
                </a:cxn>
                <a:cxn ang="0">
                  <a:pos x="706" y="144"/>
                </a:cxn>
                <a:cxn ang="0">
                  <a:pos x="1100" y="120"/>
                </a:cxn>
                <a:cxn ang="0">
                  <a:pos x="1345" y="36"/>
                </a:cxn>
                <a:cxn ang="0">
                  <a:pos x="1441" y="48"/>
                </a:cxn>
                <a:cxn ang="0">
                  <a:pos x="1561" y="90"/>
                </a:cxn>
                <a:cxn ang="0">
                  <a:pos x="1971" y="96"/>
                </a:cxn>
                <a:cxn ang="0">
                  <a:pos x="2235" y="3"/>
                </a:cxn>
                <a:cxn ang="0">
                  <a:pos x="2350" y="102"/>
                </a:cxn>
                <a:cxn ang="0">
                  <a:pos x="2559" y="96"/>
                </a:cxn>
                <a:cxn ang="0">
                  <a:pos x="2715" y="24"/>
                </a:cxn>
                <a:cxn ang="0">
                  <a:pos x="2792" y="132"/>
                </a:cxn>
                <a:cxn ang="0">
                  <a:pos x="3127" y="102"/>
                </a:cxn>
                <a:cxn ang="0">
                  <a:pos x="3486" y="48"/>
                </a:cxn>
                <a:cxn ang="0">
                  <a:pos x="3582" y="42"/>
                </a:cxn>
                <a:cxn ang="0">
                  <a:pos x="3731" y="90"/>
                </a:cxn>
                <a:cxn ang="0">
                  <a:pos x="4078" y="102"/>
                </a:cxn>
                <a:cxn ang="0">
                  <a:pos x="4419" y="30"/>
                </a:cxn>
                <a:cxn ang="0">
                  <a:pos x="4574" y="6"/>
                </a:cxn>
                <a:cxn ang="0">
                  <a:pos x="4628" y="60"/>
                </a:cxn>
                <a:cxn ang="0">
                  <a:pos x="4724" y="108"/>
                </a:cxn>
                <a:cxn ang="0">
                  <a:pos x="4927" y="84"/>
                </a:cxn>
                <a:cxn ang="0">
                  <a:pos x="5118" y="14"/>
                </a:cxn>
                <a:cxn ang="0">
                  <a:pos x="5280" y="9"/>
                </a:cxn>
                <a:cxn ang="0">
                  <a:pos x="5453" y="36"/>
                </a:cxn>
                <a:cxn ang="0">
                  <a:pos x="5465" y="72"/>
                </a:cxn>
                <a:cxn ang="0">
                  <a:pos x="5656" y="90"/>
                </a:cxn>
                <a:cxn ang="0">
                  <a:pos x="5710" y="102"/>
                </a:cxn>
                <a:cxn ang="0">
                  <a:pos x="5477" y="90"/>
                </a:cxn>
                <a:cxn ang="0">
                  <a:pos x="5453" y="60"/>
                </a:cxn>
                <a:cxn ang="0">
                  <a:pos x="5393" y="30"/>
                </a:cxn>
                <a:cxn ang="0">
                  <a:pos x="5219" y="24"/>
                </a:cxn>
              </a:cxnLst>
              <a:rect l="0" t="0" r="r" b="b"/>
              <a:pathLst>
                <a:path w="5770" h="174">
                  <a:moveTo>
                    <a:pt x="5151" y="24"/>
                  </a:moveTo>
                  <a:lnTo>
                    <a:pt x="5127" y="26"/>
                  </a:lnTo>
                  <a:lnTo>
                    <a:pt x="5082" y="30"/>
                  </a:lnTo>
                  <a:lnTo>
                    <a:pt x="5049" y="38"/>
                  </a:lnTo>
                  <a:lnTo>
                    <a:pt x="5029" y="48"/>
                  </a:lnTo>
                  <a:lnTo>
                    <a:pt x="5017" y="54"/>
                  </a:lnTo>
                  <a:lnTo>
                    <a:pt x="4993" y="66"/>
                  </a:lnTo>
                  <a:lnTo>
                    <a:pt x="4957" y="84"/>
                  </a:lnTo>
                  <a:lnTo>
                    <a:pt x="4927" y="102"/>
                  </a:lnTo>
                  <a:lnTo>
                    <a:pt x="4891" y="114"/>
                  </a:lnTo>
                  <a:lnTo>
                    <a:pt x="4861" y="120"/>
                  </a:lnTo>
                  <a:lnTo>
                    <a:pt x="4831" y="126"/>
                  </a:lnTo>
                  <a:lnTo>
                    <a:pt x="4801" y="132"/>
                  </a:lnTo>
                  <a:lnTo>
                    <a:pt x="4771" y="132"/>
                  </a:lnTo>
                  <a:lnTo>
                    <a:pt x="4748" y="132"/>
                  </a:lnTo>
                  <a:lnTo>
                    <a:pt x="4724" y="126"/>
                  </a:lnTo>
                  <a:lnTo>
                    <a:pt x="4706" y="120"/>
                  </a:lnTo>
                  <a:lnTo>
                    <a:pt x="4682" y="114"/>
                  </a:lnTo>
                  <a:lnTo>
                    <a:pt x="4670" y="108"/>
                  </a:lnTo>
                  <a:lnTo>
                    <a:pt x="4652" y="102"/>
                  </a:lnTo>
                  <a:lnTo>
                    <a:pt x="4640" y="96"/>
                  </a:lnTo>
                  <a:lnTo>
                    <a:pt x="4634" y="84"/>
                  </a:lnTo>
                  <a:lnTo>
                    <a:pt x="4628" y="78"/>
                  </a:lnTo>
                  <a:lnTo>
                    <a:pt x="4622" y="66"/>
                  </a:lnTo>
                  <a:lnTo>
                    <a:pt x="4616" y="54"/>
                  </a:lnTo>
                  <a:lnTo>
                    <a:pt x="4610" y="48"/>
                  </a:lnTo>
                  <a:lnTo>
                    <a:pt x="4604" y="42"/>
                  </a:lnTo>
                  <a:lnTo>
                    <a:pt x="4598" y="36"/>
                  </a:lnTo>
                  <a:lnTo>
                    <a:pt x="4586" y="30"/>
                  </a:lnTo>
                  <a:lnTo>
                    <a:pt x="4574" y="24"/>
                  </a:lnTo>
                  <a:lnTo>
                    <a:pt x="4562" y="18"/>
                  </a:lnTo>
                  <a:lnTo>
                    <a:pt x="4544" y="18"/>
                  </a:lnTo>
                  <a:lnTo>
                    <a:pt x="4526" y="18"/>
                  </a:lnTo>
                  <a:lnTo>
                    <a:pt x="4502" y="24"/>
                  </a:lnTo>
                  <a:lnTo>
                    <a:pt x="4478" y="30"/>
                  </a:lnTo>
                  <a:lnTo>
                    <a:pt x="4449" y="36"/>
                  </a:lnTo>
                  <a:lnTo>
                    <a:pt x="4419" y="48"/>
                  </a:lnTo>
                  <a:lnTo>
                    <a:pt x="4383" y="60"/>
                  </a:lnTo>
                  <a:lnTo>
                    <a:pt x="4341" y="72"/>
                  </a:lnTo>
                  <a:lnTo>
                    <a:pt x="4287" y="90"/>
                  </a:lnTo>
                  <a:lnTo>
                    <a:pt x="4239" y="96"/>
                  </a:lnTo>
                  <a:lnTo>
                    <a:pt x="4186" y="108"/>
                  </a:lnTo>
                  <a:lnTo>
                    <a:pt x="4132" y="114"/>
                  </a:lnTo>
                  <a:lnTo>
                    <a:pt x="4078" y="120"/>
                  </a:lnTo>
                  <a:lnTo>
                    <a:pt x="4024" y="120"/>
                  </a:lnTo>
                  <a:lnTo>
                    <a:pt x="3970" y="120"/>
                  </a:lnTo>
                  <a:lnTo>
                    <a:pt x="3916" y="120"/>
                  </a:lnTo>
                  <a:lnTo>
                    <a:pt x="3863" y="120"/>
                  </a:lnTo>
                  <a:lnTo>
                    <a:pt x="3815" y="120"/>
                  </a:lnTo>
                  <a:lnTo>
                    <a:pt x="3767" y="114"/>
                  </a:lnTo>
                  <a:lnTo>
                    <a:pt x="3731" y="108"/>
                  </a:lnTo>
                  <a:lnTo>
                    <a:pt x="3689" y="96"/>
                  </a:lnTo>
                  <a:lnTo>
                    <a:pt x="3659" y="90"/>
                  </a:lnTo>
                  <a:lnTo>
                    <a:pt x="3647" y="84"/>
                  </a:lnTo>
                  <a:lnTo>
                    <a:pt x="3635" y="78"/>
                  </a:lnTo>
                  <a:lnTo>
                    <a:pt x="3617" y="72"/>
                  </a:lnTo>
                  <a:lnTo>
                    <a:pt x="3600" y="60"/>
                  </a:lnTo>
                  <a:lnTo>
                    <a:pt x="3582" y="60"/>
                  </a:lnTo>
                  <a:lnTo>
                    <a:pt x="3564" y="54"/>
                  </a:lnTo>
                  <a:lnTo>
                    <a:pt x="3546" y="54"/>
                  </a:lnTo>
                  <a:lnTo>
                    <a:pt x="3534" y="54"/>
                  </a:lnTo>
                  <a:lnTo>
                    <a:pt x="3522" y="60"/>
                  </a:lnTo>
                  <a:lnTo>
                    <a:pt x="3510" y="60"/>
                  </a:lnTo>
                  <a:lnTo>
                    <a:pt x="3498" y="66"/>
                  </a:lnTo>
                  <a:lnTo>
                    <a:pt x="3486" y="66"/>
                  </a:lnTo>
                  <a:lnTo>
                    <a:pt x="3474" y="78"/>
                  </a:lnTo>
                  <a:lnTo>
                    <a:pt x="3462" y="84"/>
                  </a:lnTo>
                  <a:lnTo>
                    <a:pt x="3456" y="84"/>
                  </a:lnTo>
                  <a:lnTo>
                    <a:pt x="3426" y="90"/>
                  </a:lnTo>
                  <a:lnTo>
                    <a:pt x="3336" y="96"/>
                  </a:lnTo>
                  <a:lnTo>
                    <a:pt x="3205" y="108"/>
                  </a:lnTo>
                  <a:lnTo>
                    <a:pt x="3127" y="120"/>
                  </a:lnTo>
                  <a:lnTo>
                    <a:pt x="3049" y="132"/>
                  </a:lnTo>
                  <a:lnTo>
                    <a:pt x="2972" y="144"/>
                  </a:lnTo>
                  <a:lnTo>
                    <a:pt x="2906" y="150"/>
                  </a:lnTo>
                  <a:lnTo>
                    <a:pt x="2870" y="150"/>
                  </a:lnTo>
                  <a:lnTo>
                    <a:pt x="2846" y="150"/>
                  </a:lnTo>
                  <a:lnTo>
                    <a:pt x="2816" y="150"/>
                  </a:lnTo>
                  <a:lnTo>
                    <a:pt x="2792" y="150"/>
                  </a:lnTo>
                  <a:lnTo>
                    <a:pt x="2768" y="144"/>
                  </a:lnTo>
                  <a:lnTo>
                    <a:pt x="2744" y="138"/>
                  </a:lnTo>
                  <a:lnTo>
                    <a:pt x="2727" y="132"/>
                  </a:lnTo>
                  <a:lnTo>
                    <a:pt x="2709" y="126"/>
                  </a:lnTo>
                  <a:lnTo>
                    <a:pt x="2703" y="96"/>
                  </a:lnTo>
                  <a:lnTo>
                    <a:pt x="2703" y="78"/>
                  </a:lnTo>
                  <a:lnTo>
                    <a:pt x="2709" y="42"/>
                  </a:lnTo>
                  <a:lnTo>
                    <a:pt x="2697" y="36"/>
                  </a:lnTo>
                  <a:lnTo>
                    <a:pt x="2673" y="42"/>
                  </a:lnTo>
                  <a:lnTo>
                    <a:pt x="2661" y="60"/>
                  </a:lnTo>
                  <a:lnTo>
                    <a:pt x="2643" y="72"/>
                  </a:lnTo>
                  <a:lnTo>
                    <a:pt x="2619" y="90"/>
                  </a:lnTo>
                  <a:lnTo>
                    <a:pt x="2595" y="102"/>
                  </a:lnTo>
                  <a:lnTo>
                    <a:pt x="2559" y="114"/>
                  </a:lnTo>
                  <a:lnTo>
                    <a:pt x="2541" y="114"/>
                  </a:lnTo>
                  <a:lnTo>
                    <a:pt x="2511" y="120"/>
                  </a:lnTo>
                  <a:lnTo>
                    <a:pt x="2481" y="126"/>
                  </a:lnTo>
                  <a:lnTo>
                    <a:pt x="2446" y="126"/>
                  </a:lnTo>
                  <a:lnTo>
                    <a:pt x="2416" y="132"/>
                  </a:lnTo>
                  <a:lnTo>
                    <a:pt x="2380" y="126"/>
                  </a:lnTo>
                  <a:lnTo>
                    <a:pt x="2350" y="120"/>
                  </a:lnTo>
                  <a:lnTo>
                    <a:pt x="2326" y="108"/>
                  </a:lnTo>
                  <a:lnTo>
                    <a:pt x="2308" y="102"/>
                  </a:lnTo>
                  <a:lnTo>
                    <a:pt x="2296" y="96"/>
                  </a:lnTo>
                  <a:lnTo>
                    <a:pt x="2290" y="90"/>
                  </a:lnTo>
                  <a:lnTo>
                    <a:pt x="2278" y="84"/>
                  </a:lnTo>
                  <a:lnTo>
                    <a:pt x="2272" y="78"/>
                  </a:lnTo>
                  <a:lnTo>
                    <a:pt x="2250" y="57"/>
                  </a:lnTo>
                  <a:lnTo>
                    <a:pt x="2243" y="35"/>
                  </a:lnTo>
                  <a:lnTo>
                    <a:pt x="2228" y="18"/>
                  </a:lnTo>
                  <a:lnTo>
                    <a:pt x="2208" y="18"/>
                  </a:lnTo>
                  <a:lnTo>
                    <a:pt x="2172" y="24"/>
                  </a:lnTo>
                  <a:lnTo>
                    <a:pt x="2151" y="36"/>
                  </a:lnTo>
                  <a:lnTo>
                    <a:pt x="2127" y="51"/>
                  </a:lnTo>
                  <a:lnTo>
                    <a:pt x="2097" y="60"/>
                  </a:lnTo>
                  <a:lnTo>
                    <a:pt x="2073" y="72"/>
                  </a:lnTo>
                  <a:lnTo>
                    <a:pt x="2046" y="87"/>
                  </a:lnTo>
                  <a:lnTo>
                    <a:pt x="2007" y="102"/>
                  </a:lnTo>
                  <a:lnTo>
                    <a:pt x="1977" y="114"/>
                  </a:lnTo>
                  <a:lnTo>
                    <a:pt x="1947" y="120"/>
                  </a:lnTo>
                  <a:lnTo>
                    <a:pt x="1895" y="120"/>
                  </a:lnTo>
                  <a:lnTo>
                    <a:pt x="1794" y="120"/>
                  </a:lnTo>
                  <a:lnTo>
                    <a:pt x="1692" y="120"/>
                  </a:lnTo>
                  <a:lnTo>
                    <a:pt x="1644" y="120"/>
                  </a:lnTo>
                  <a:lnTo>
                    <a:pt x="1602" y="114"/>
                  </a:lnTo>
                  <a:lnTo>
                    <a:pt x="1561" y="108"/>
                  </a:lnTo>
                  <a:lnTo>
                    <a:pt x="1525" y="102"/>
                  </a:lnTo>
                  <a:lnTo>
                    <a:pt x="1507" y="102"/>
                  </a:lnTo>
                  <a:lnTo>
                    <a:pt x="1495" y="96"/>
                  </a:lnTo>
                  <a:lnTo>
                    <a:pt x="1483" y="90"/>
                  </a:lnTo>
                  <a:lnTo>
                    <a:pt x="1477" y="84"/>
                  </a:lnTo>
                  <a:lnTo>
                    <a:pt x="1459" y="78"/>
                  </a:lnTo>
                  <a:lnTo>
                    <a:pt x="1441" y="66"/>
                  </a:lnTo>
                  <a:lnTo>
                    <a:pt x="1429" y="60"/>
                  </a:lnTo>
                  <a:lnTo>
                    <a:pt x="1411" y="60"/>
                  </a:lnTo>
                  <a:lnTo>
                    <a:pt x="1399" y="54"/>
                  </a:lnTo>
                  <a:lnTo>
                    <a:pt x="1387" y="54"/>
                  </a:lnTo>
                  <a:lnTo>
                    <a:pt x="1375" y="54"/>
                  </a:lnTo>
                  <a:lnTo>
                    <a:pt x="1357" y="54"/>
                  </a:lnTo>
                  <a:lnTo>
                    <a:pt x="1345" y="54"/>
                  </a:lnTo>
                  <a:lnTo>
                    <a:pt x="1333" y="60"/>
                  </a:lnTo>
                  <a:lnTo>
                    <a:pt x="1309" y="66"/>
                  </a:lnTo>
                  <a:lnTo>
                    <a:pt x="1262" y="84"/>
                  </a:lnTo>
                  <a:lnTo>
                    <a:pt x="1220" y="102"/>
                  </a:lnTo>
                  <a:lnTo>
                    <a:pt x="1178" y="114"/>
                  </a:lnTo>
                  <a:lnTo>
                    <a:pt x="1142" y="126"/>
                  </a:lnTo>
                  <a:lnTo>
                    <a:pt x="1100" y="138"/>
                  </a:lnTo>
                  <a:lnTo>
                    <a:pt x="1058" y="150"/>
                  </a:lnTo>
                  <a:lnTo>
                    <a:pt x="1016" y="156"/>
                  </a:lnTo>
                  <a:lnTo>
                    <a:pt x="945" y="168"/>
                  </a:lnTo>
                  <a:lnTo>
                    <a:pt x="879" y="174"/>
                  </a:lnTo>
                  <a:lnTo>
                    <a:pt x="819" y="174"/>
                  </a:lnTo>
                  <a:lnTo>
                    <a:pt x="759" y="168"/>
                  </a:lnTo>
                  <a:lnTo>
                    <a:pt x="706" y="162"/>
                  </a:lnTo>
                  <a:lnTo>
                    <a:pt x="652" y="150"/>
                  </a:lnTo>
                  <a:lnTo>
                    <a:pt x="610" y="138"/>
                  </a:lnTo>
                  <a:lnTo>
                    <a:pt x="568" y="126"/>
                  </a:lnTo>
                  <a:lnTo>
                    <a:pt x="532" y="114"/>
                  </a:lnTo>
                  <a:lnTo>
                    <a:pt x="502" y="102"/>
                  </a:lnTo>
                  <a:lnTo>
                    <a:pt x="478" y="90"/>
                  </a:lnTo>
                  <a:lnTo>
                    <a:pt x="460" y="78"/>
                  </a:lnTo>
                  <a:lnTo>
                    <a:pt x="442" y="66"/>
                  </a:lnTo>
                  <a:lnTo>
                    <a:pt x="425" y="54"/>
                  </a:lnTo>
                  <a:lnTo>
                    <a:pt x="407" y="42"/>
                  </a:lnTo>
                  <a:lnTo>
                    <a:pt x="401" y="42"/>
                  </a:lnTo>
                  <a:lnTo>
                    <a:pt x="395" y="42"/>
                  </a:lnTo>
                  <a:lnTo>
                    <a:pt x="389" y="42"/>
                  </a:lnTo>
                  <a:lnTo>
                    <a:pt x="383" y="42"/>
                  </a:lnTo>
                  <a:lnTo>
                    <a:pt x="377" y="48"/>
                  </a:lnTo>
                  <a:lnTo>
                    <a:pt x="371" y="54"/>
                  </a:lnTo>
                  <a:lnTo>
                    <a:pt x="359" y="66"/>
                  </a:lnTo>
                  <a:lnTo>
                    <a:pt x="347" y="78"/>
                  </a:lnTo>
                  <a:lnTo>
                    <a:pt x="341" y="84"/>
                  </a:lnTo>
                  <a:lnTo>
                    <a:pt x="335" y="90"/>
                  </a:lnTo>
                  <a:lnTo>
                    <a:pt x="323" y="102"/>
                  </a:lnTo>
                  <a:lnTo>
                    <a:pt x="305" y="108"/>
                  </a:lnTo>
                  <a:lnTo>
                    <a:pt x="287" y="114"/>
                  </a:lnTo>
                  <a:lnTo>
                    <a:pt x="263" y="120"/>
                  </a:lnTo>
                  <a:lnTo>
                    <a:pt x="239" y="126"/>
                  </a:lnTo>
                  <a:lnTo>
                    <a:pt x="215" y="132"/>
                  </a:lnTo>
                  <a:lnTo>
                    <a:pt x="191" y="132"/>
                  </a:lnTo>
                  <a:lnTo>
                    <a:pt x="167" y="138"/>
                  </a:lnTo>
                  <a:lnTo>
                    <a:pt x="144" y="138"/>
                  </a:lnTo>
                  <a:lnTo>
                    <a:pt x="120" y="138"/>
                  </a:lnTo>
                  <a:lnTo>
                    <a:pt x="90" y="132"/>
                  </a:lnTo>
                  <a:lnTo>
                    <a:pt x="66" y="132"/>
                  </a:lnTo>
                  <a:lnTo>
                    <a:pt x="42" y="126"/>
                  </a:lnTo>
                  <a:lnTo>
                    <a:pt x="24" y="120"/>
                  </a:lnTo>
                  <a:lnTo>
                    <a:pt x="0" y="114"/>
                  </a:lnTo>
                  <a:lnTo>
                    <a:pt x="0" y="96"/>
                  </a:lnTo>
                  <a:lnTo>
                    <a:pt x="24" y="102"/>
                  </a:lnTo>
                  <a:lnTo>
                    <a:pt x="42" y="108"/>
                  </a:lnTo>
                  <a:lnTo>
                    <a:pt x="66" y="114"/>
                  </a:lnTo>
                  <a:lnTo>
                    <a:pt x="90" y="114"/>
                  </a:lnTo>
                  <a:lnTo>
                    <a:pt x="120" y="120"/>
                  </a:lnTo>
                  <a:lnTo>
                    <a:pt x="144" y="120"/>
                  </a:lnTo>
                  <a:lnTo>
                    <a:pt x="167" y="120"/>
                  </a:lnTo>
                  <a:lnTo>
                    <a:pt x="191" y="114"/>
                  </a:lnTo>
                  <a:lnTo>
                    <a:pt x="215" y="114"/>
                  </a:lnTo>
                  <a:lnTo>
                    <a:pt x="239" y="108"/>
                  </a:lnTo>
                  <a:lnTo>
                    <a:pt x="263" y="102"/>
                  </a:lnTo>
                  <a:lnTo>
                    <a:pt x="287" y="96"/>
                  </a:lnTo>
                  <a:lnTo>
                    <a:pt x="305" y="90"/>
                  </a:lnTo>
                  <a:lnTo>
                    <a:pt x="323" y="84"/>
                  </a:lnTo>
                  <a:lnTo>
                    <a:pt x="335" y="72"/>
                  </a:lnTo>
                  <a:lnTo>
                    <a:pt x="341" y="66"/>
                  </a:lnTo>
                  <a:lnTo>
                    <a:pt x="347" y="60"/>
                  </a:lnTo>
                  <a:lnTo>
                    <a:pt x="359" y="48"/>
                  </a:lnTo>
                  <a:lnTo>
                    <a:pt x="371" y="36"/>
                  </a:lnTo>
                  <a:lnTo>
                    <a:pt x="377" y="30"/>
                  </a:lnTo>
                  <a:lnTo>
                    <a:pt x="383" y="24"/>
                  </a:lnTo>
                  <a:lnTo>
                    <a:pt x="389" y="24"/>
                  </a:lnTo>
                  <a:lnTo>
                    <a:pt x="395" y="24"/>
                  </a:lnTo>
                  <a:lnTo>
                    <a:pt x="401" y="24"/>
                  </a:lnTo>
                  <a:lnTo>
                    <a:pt x="407" y="24"/>
                  </a:lnTo>
                  <a:lnTo>
                    <a:pt x="425" y="36"/>
                  </a:lnTo>
                  <a:lnTo>
                    <a:pt x="442" y="48"/>
                  </a:lnTo>
                  <a:lnTo>
                    <a:pt x="460" y="60"/>
                  </a:lnTo>
                  <a:lnTo>
                    <a:pt x="478" y="72"/>
                  </a:lnTo>
                  <a:lnTo>
                    <a:pt x="502" y="84"/>
                  </a:lnTo>
                  <a:lnTo>
                    <a:pt x="532" y="96"/>
                  </a:lnTo>
                  <a:lnTo>
                    <a:pt x="568" y="108"/>
                  </a:lnTo>
                  <a:lnTo>
                    <a:pt x="610" y="120"/>
                  </a:lnTo>
                  <a:lnTo>
                    <a:pt x="652" y="132"/>
                  </a:lnTo>
                  <a:lnTo>
                    <a:pt x="706" y="144"/>
                  </a:lnTo>
                  <a:lnTo>
                    <a:pt x="759" y="150"/>
                  </a:lnTo>
                  <a:lnTo>
                    <a:pt x="819" y="156"/>
                  </a:lnTo>
                  <a:lnTo>
                    <a:pt x="879" y="156"/>
                  </a:lnTo>
                  <a:lnTo>
                    <a:pt x="945" y="150"/>
                  </a:lnTo>
                  <a:lnTo>
                    <a:pt x="1016" y="138"/>
                  </a:lnTo>
                  <a:lnTo>
                    <a:pt x="1058" y="132"/>
                  </a:lnTo>
                  <a:lnTo>
                    <a:pt x="1100" y="120"/>
                  </a:lnTo>
                  <a:lnTo>
                    <a:pt x="1142" y="108"/>
                  </a:lnTo>
                  <a:lnTo>
                    <a:pt x="1178" y="96"/>
                  </a:lnTo>
                  <a:lnTo>
                    <a:pt x="1220" y="84"/>
                  </a:lnTo>
                  <a:lnTo>
                    <a:pt x="1262" y="66"/>
                  </a:lnTo>
                  <a:lnTo>
                    <a:pt x="1309" y="48"/>
                  </a:lnTo>
                  <a:lnTo>
                    <a:pt x="1333" y="42"/>
                  </a:lnTo>
                  <a:lnTo>
                    <a:pt x="1345" y="36"/>
                  </a:lnTo>
                  <a:lnTo>
                    <a:pt x="1357" y="36"/>
                  </a:lnTo>
                  <a:lnTo>
                    <a:pt x="1375" y="36"/>
                  </a:lnTo>
                  <a:lnTo>
                    <a:pt x="1387" y="36"/>
                  </a:lnTo>
                  <a:lnTo>
                    <a:pt x="1399" y="36"/>
                  </a:lnTo>
                  <a:lnTo>
                    <a:pt x="1411" y="42"/>
                  </a:lnTo>
                  <a:lnTo>
                    <a:pt x="1429" y="42"/>
                  </a:lnTo>
                  <a:lnTo>
                    <a:pt x="1441" y="48"/>
                  </a:lnTo>
                  <a:lnTo>
                    <a:pt x="1459" y="60"/>
                  </a:lnTo>
                  <a:lnTo>
                    <a:pt x="1477" y="66"/>
                  </a:lnTo>
                  <a:lnTo>
                    <a:pt x="1483" y="72"/>
                  </a:lnTo>
                  <a:lnTo>
                    <a:pt x="1495" y="78"/>
                  </a:lnTo>
                  <a:lnTo>
                    <a:pt x="1507" y="84"/>
                  </a:lnTo>
                  <a:lnTo>
                    <a:pt x="1525" y="84"/>
                  </a:lnTo>
                  <a:lnTo>
                    <a:pt x="1561" y="90"/>
                  </a:lnTo>
                  <a:lnTo>
                    <a:pt x="1602" y="96"/>
                  </a:lnTo>
                  <a:lnTo>
                    <a:pt x="1644" y="102"/>
                  </a:lnTo>
                  <a:lnTo>
                    <a:pt x="1692" y="102"/>
                  </a:lnTo>
                  <a:lnTo>
                    <a:pt x="1794" y="102"/>
                  </a:lnTo>
                  <a:lnTo>
                    <a:pt x="1895" y="102"/>
                  </a:lnTo>
                  <a:lnTo>
                    <a:pt x="1938" y="102"/>
                  </a:lnTo>
                  <a:lnTo>
                    <a:pt x="1971" y="96"/>
                  </a:lnTo>
                  <a:lnTo>
                    <a:pt x="2019" y="77"/>
                  </a:lnTo>
                  <a:lnTo>
                    <a:pt x="2063" y="57"/>
                  </a:lnTo>
                  <a:lnTo>
                    <a:pt x="2111" y="38"/>
                  </a:lnTo>
                  <a:lnTo>
                    <a:pt x="2145" y="18"/>
                  </a:lnTo>
                  <a:lnTo>
                    <a:pt x="2172" y="9"/>
                  </a:lnTo>
                  <a:lnTo>
                    <a:pt x="2202" y="0"/>
                  </a:lnTo>
                  <a:lnTo>
                    <a:pt x="2235" y="3"/>
                  </a:lnTo>
                  <a:lnTo>
                    <a:pt x="2250" y="24"/>
                  </a:lnTo>
                  <a:lnTo>
                    <a:pt x="2262" y="51"/>
                  </a:lnTo>
                  <a:lnTo>
                    <a:pt x="2290" y="72"/>
                  </a:lnTo>
                  <a:lnTo>
                    <a:pt x="2296" y="78"/>
                  </a:lnTo>
                  <a:lnTo>
                    <a:pt x="2308" y="84"/>
                  </a:lnTo>
                  <a:lnTo>
                    <a:pt x="2326" y="90"/>
                  </a:lnTo>
                  <a:lnTo>
                    <a:pt x="2350" y="102"/>
                  </a:lnTo>
                  <a:lnTo>
                    <a:pt x="2380" y="108"/>
                  </a:lnTo>
                  <a:lnTo>
                    <a:pt x="2416" y="114"/>
                  </a:lnTo>
                  <a:lnTo>
                    <a:pt x="2446" y="108"/>
                  </a:lnTo>
                  <a:lnTo>
                    <a:pt x="2481" y="108"/>
                  </a:lnTo>
                  <a:lnTo>
                    <a:pt x="2511" y="102"/>
                  </a:lnTo>
                  <a:lnTo>
                    <a:pt x="2541" y="96"/>
                  </a:lnTo>
                  <a:lnTo>
                    <a:pt x="2559" y="96"/>
                  </a:lnTo>
                  <a:lnTo>
                    <a:pt x="2595" y="84"/>
                  </a:lnTo>
                  <a:lnTo>
                    <a:pt x="2619" y="72"/>
                  </a:lnTo>
                  <a:lnTo>
                    <a:pt x="2643" y="54"/>
                  </a:lnTo>
                  <a:lnTo>
                    <a:pt x="2661" y="42"/>
                  </a:lnTo>
                  <a:lnTo>
                    <a:pt x="2673" y="24"/>
                  </a:lnTo>
                  <a:lnTo>
                    <a:pt x="2697" y="18"/>
                  </a:lnTo>
                  <a:lnTo>
                    <a:pt x="2715" y="24"/>
                  </a:lnTo>
                  <a:lnTo>
                    <a:pt x="2715" y="48"/>
                  </a:lnTo>
                  <a:lnTo>
                    <a:pt x="2709" y="78"/>
                  </a:lnTo>
                  <a:lnTo>
                    <a:pt x="2709" y="108"/>
                  </a:lnTo>
                  <a:lnTo>
                    <a:pt x="2727" y="114"/>
                  </a:lnTo>
                  <a:lnTo>
                    <a:pt x="2744" y="120"/>
                  </a:lnTo>
                  <a:lnTo>
                    <a:pt x="2768" y="126"/>
                  </a:lnTo>
                  <a:lnTo>
                    <a:pt x="2792" y="132"/>
                  </a:lnTo>
                  <a:lnTo>
                    <a:pt x="2816" y="132"/>
                  </a:lnTo>
                  <a:lnTo>
                    <a:pt x="2846" y="132"/>
                  </a:lnTo>
                  <a:lnTo>
                    <a:pt x="2870" y="132"/>
                  </a:lnTo>
                  <a:lnTo>
                    <a:pt x="2906" y="132"/>
                  </a:lnTo>
                  <a:lnTo>
                    <a:pt x="2972" y="126"/>
                  </a:lnTo>
                  <a:lnTo>
                    <a:pt x="3049" y="114"/>
                  </a:lnTo>
                  <a:lnTo>
                    <a:pt x="3127" y="102"/>
                  </a:lnTo>
                  <a:lnTo>
                    <a:pt x="3205" y="90"/>
                  </a:lnTo>
                  <a:lnTo>
                    <a:pt x="3336" y="78"/>
                  </a:lnTo>
                  <a:lnTo>
                    <a:pt x="3426" y="72"/>
                  </a:lnTo>
                  <a:lnTo>
                    <a:pt x="3456" y="66"/>
                  </a:lnTo>
                  <a:lnTo>
                    <a:pt x="3462" y="66"/>
                  </a:lnTo>
                  <a:lnTo>
                    <a:pt x="3474" y="60"/>
                  </a:lnTo>
                  <a:lnTo>
                    <a:pt x="3486" y="48"/>
                  </a:lnTo>
                  <a:lnTo>
                    <a:pt x="3498" y="48"/>
                  </a:lnTo>
                  <a:lnTo>
                    <a:pt x="3510" y="42"/>
                  </a:lnTo>
                  <a:lnTo>
                    <a:pt x="3522" y="42"/>
                  </a:lnTo>
                  <a:lnTo>
                    <a:pt x="3534" y="36"/>
                  </a:lnTo>
                  <a:lnTo>
                    <a:pt x="3546" y="36"/>
                  </a:lnTo>
                  <a:lnTo>
                    <a:pt x="3564" y="36"/>
                  </a:lnTo>
                  <a:lnTo>
                    <a:pt x="3582" y="42"/>
                  </a:lnTo>
                  <a:lnTo>
                    <a:pt x="3600" y="42"/>
                  </a:lnTo>
                  <a:lnTo>
                    <a:pt x="3617" y="54"/>
                  </a:lnTo>
                  <a:lnTo>
                    <a:pt x="3635" y="60"/>
                  </a:lnTo>
                  <a:lnTo>
                    <a:pt x="3647" y="66"/>
                  </a:lnTo>
                  <a:lnTo>
                    <a:pt x="3659" y="72"/>
                  </a:lnTo>
                  <a:lnTo>
                    <a:pt x="3689" y="78"/>
                  </a:lnTo>
                  <a:lnTo>
                    <a:pt x="3731" y="90"/>
                  </a:lnTo>
                  <a:lnTo>
                    <a:pt x="3767" y="96"/>
                  </a:lnTo>
                  <a:lnTo>
                    <a:pt x="3815" y="102"/>
                  </a:lnTo>
                  <a:lnTo>
                    <a:pt x="3863" y="102"/>
                  </a:lnTo>
                  <a:lnTo>
                    <a:pt x="3916" y="102"/>
                  </a:lnTo>
                  <a:lnTo>
                    <a:pt x="3970" y="102"/>
                  </a:lnTo>
                  <a:lnTo>
                    <a:pt x="4024" y="102"/>
                  </a:lnTo>
                  <a:lnTo>
                    <a:pt x="4078" y="102"/>
                  </a:lnTo>
                  <a:lnTo>
                    <a:pt x="4132" y="96"/>
                  </a:lnTo>
                  <a:lnTo>
                    <a:pt x="4186" y="90"/>
                  </a:lnTo>
                  <a:lnTo>
                    <a:pt x="4239" y="78"/>
                  </a:lnTo>
                  <a:lnTo>
                    <a:pt x="4287" y="72"/>
                  </a:lnTo>
                  <a:lnTo>
                    <a:pt x="4341" y="54"/>
                  </a:lnTo>
                  <a:lnTo>
                    <a:pt x="4383" y="42"/>
                  </a:lnTo>
                  <a:lnTo>
                    <a:pt x="4419" y="30"/>
                  </a:lnTo>
                  <a:lnTo>
                    <a:pt x="4449" y="18"/>
                  </a:lnTo>
                  <a:lnTo>
                    <a:pt x="4478" y="12"/>
                  </a:lnTo>
                  <a:lnTo>
                    <a:pt x="4502" y="6"/>
                  </a:lnTo>
                  <a:lnTo>
                    <a:pt x="4526" y="0"/>
                  </a:lnTo>
                  <a:lnTo>
                    <a:pt x="4544" y="0"/>
                  </a:lnTo>
                  <a:lnTo>
                    <a:pt x="4562" y="0"/>
                  </a:lnTo>
                  <a:lnTo>
                    <a:pt x="4574" y="6"/>
                  </a:lnTo>
                  <a:lnTo>
                    <a:pt x="4586" y="12"/>
                  </a:lnTo>
                  <a:lnTo>
                    <a:pt x="4598" y="18"/>
                  </a:lnTo>
                  <a:lnTo>
                    <a:pt x="4604" y="24"/>
                  </a:lnTo>
                  <a:lnTo>
                    <a:pt x="4610" y="30"/>
                  </a:lnTo>
                  <a:lnTo>
                    <a:pt x="4616" y="36"/>
                  </a:lnTo>
                  <a:lnTo>
                    <a:pt x="4622" y="48"/>
                  </a:lnTo>
                  <a:lnTo>
                    <a:pt x="4628" y="60"/>
                  </a:lnTo>
                  <a:lnTo>
                    <a:pt x="4634" y="66"/>
                  </a:lnTo>
                  <a:lnTo>
                    <a:pt x="4640" y="78"/>
                  </a:lnTo>
                  <a:lnTo>
                    <a:pt x="4652" y="84"/>
                  </a:lnTo>
                  <a:lnTo>
                    <a:pt x="4670" y="90"/>
                  </a:lnTo>
                  <a:lnTo>
                    <a:pt x="4682" y="96"/>
                  </a:lnTo>
                  <a:lnTo>
                    <a:pt x="4706" y="102"/>
                  </a:lnTo>
                  <a:lnTo>
                    <a:pt x="4724" y="108"/>
                  </a:lnTo>
                  <a:lnTo>
                    <a:pt x="4748" y="114"/>
                  </a:lnTo>
                  <a:lnTo>
                    <a:pt x="4771" y="114"/>
                  </a:lnTo>
                  <a:lnTo>
                    <a:pt x="4801" y="114"/>
                  </a:lnTo>
                  <a:lnTo>
                    <a:pt x="4831" y="108"/>
                  </a:lnTo>
                  <a:lnTo>
                    <a:pt x="4861" y="102"/>
                  </a:lnTo>
                  <a:lnTo>
                    <a:pt x="4891" y="96"/>
                  </a:lnTo>
                  <a:lnTo>
                    <a:pt x="4927" y="84"/>
                  </a:lnTo>
                  <a:lnTo>
                    <a:pt x="4957" y="66"/>
                  </a:lnTo>
                  <a:lnTo>
                    <a:pt x="4993" y="48"/>
                  </a:lnTo>
                  <a:lnTo>
                    <a:pt x="5017" y="36"/>
                  </a:lnTo>
                  <a:lnTo>
                    <a:pt x="5029" y="30"/>
                  </a:lnTo>
                  <a:lnTo>
                    <a:pt x="5061" y="24"/>
                  </a:lnTo>
                  <a:lnTo>
                    <a:pt x="5091" y="17"/>
                  </a:lnTo>
                  <a:lnTo>
                    <a:pt x="5118" y="14"/>
                  </a:lnTo>
                  <a:lnTo>
                    <a:pt x="5145" y="9"/>
                  </a:lnTo>
                  <a:lnTo>
                    <a:pt x="5175" y="9"/>
                  </a:lnTo>
                  <a:lnTo>
                    <a:pt x="5199" y="8"/>
                  </a:lnTo>
                  <a:lnTo>
                    <a:pt x="5219" y="9"/>
                  </a:lnTo>
                  <a:lnTo>
                    <a:pt x="5238" y="9"/>
                  </a:lnTo>
                  <a:lnTo>
                    <a:pt x="5258" y="11"/>
                  </a:lnTo>
                  <a:lnTo>
                    <a:pt x="5280" y="9"/>
                  </a:lnTo>
                  <a:lnTo>
                    <a:pt x="5304" y="11"/>
                  </a:lnTo>
                  <a:lnTo>
                    <a:pt x="5327" y="8"/>
                  </a:lnTo>
                  <a:lnTo>
                    <a:pt x="5351" y="8"/>
                  </a:lnTo>
                  <a:lnTo>
                    <a:pt x="5390" y="9"/>
                  </a:lnTo>
                  <a:lnTo>
                    <a:pt x="5435" y="24"/>
                  </a:lnTo>
                  <a:lnTo>
                    <a:pt x="5447" y="30"/>
                  </a:lnTo>
                  <a:lnTo>
                    <a:pt x="5453" y="36"/>
                  </a:lnTo>
                  <a:lnTo>
                    <a:pt x="5453" y="42"/>
                  </a:lnTo>
                  <a:lnTo>
                    <a:pt x="5459" y="48"/>
                  </a:lnTo>
                  <a:lnTo>
                    <a:pt x="5459" y="54"/>
                  </a:lnTo>
                  <a:lnTo>
                    <a:pt x="5459" y="60"/>
                  </a:lnTo>
                  <a:lnTo>
                    <a:pt x="5459" y="66"/>
                  </a:lnTo>
                  <a:lnTo>
                    <a:pt x="5465" y="66"/>
                  </a:lnTo>
                  <a:lnTo>
                    <a:pt x="5465" y="72"/>
                  </a:lnTo>
                  <a:lnTo>
                    <a:pt x="5477" y="72"/>
                  </a:lnTo>
                  <a:lnTo>
                    <a:pt x="5489" y="78"/>
                  </a:lnTo>
                  <a:lnTo>
                    <a:pt x="5501" y="84"/>
                  </a:lnTo>
                  <a:lnTo>
                    <a:pt x="5519" y="84"/>
                  </a:lnTo>
                  <a:lnTo>
                    <a:pt x="5555" y="90"/>
                  </a:lnTo>
                  <a:lnTo>
                    <a:pt x="5603" y="90"/>
                  </a:lnTo>
                  <a:lnTo>
                    <a:pt x="5656" y="90"/>
                  </a:lnTo>
                  <a:lnTo>
                    <a:pt x="5710" y="84"/>
                  </a:lnTo>
                  <a:lnTo>
                    <a:pt x="5740" y="78"/>
                  </a:lnTo>
                  <a:lnTo>
                    <a:pt x="5770" y="72"/>
                  </a:lnTo>
                  <a:lnTo>
                    <a:pt x="5770" y="90"/>
                  </a:lnTo>
                  <a:lnTo>
                    <a:pt x="5770" y="90"/>
                  </a:lnTo>
                  <a:lnTo>
                    <a:pt x="5740" y="96"/>
                  </a:lnTo>
                  <a:lnTo>
                    <a:pt x="5710" y="102"/>
                  </a:lnTo>
                  <a:lnTo>
                    <a:pt x="5656" y="108"/>
                  </a:lnTo>
                  <a:lnTo>
                    <a:pt x="5603" y="108"/>
                  </a:lnTo>
                  <a:lnTo>
                    <a:pt x="5555" y="108"/>
                  </a:lnTo>
                  <a:lnTo>
                    <a:pt x="5519" y="102"/>
                  </a:lnTo>
                  <a:lnTo>
                    <a:pt x="5501" y="102"/>
                  </a:lnTo>
                  <a:lnTo>
                    <a:pt x="5489" y="96"/>
                  </a:lnTo>
                  <a:lnTo>
                    <a:pt x="5477" y="90"/>
                  </a:lnTo>
                  <a:lnTo>
                    <a:pt x="5465" y="90"/>
                  </a:lnTo>
                  <a:lnTo>
                    <a:pt x="5465" y="84"/>
                  </a:lnTo>
                  <a:lnTo>
                    <a:pt x="5459" y="84"/>
                  </a:lnTo>
                  <a:lnTo>
                    <a:pt x="5459" y="78"/>
                  </a:lnTo>
                  <a:lnTo>
                    <a:pt x="5459" y="72"/>
                  </a:lnTo>
                  <a:lnTo>
                    <a:pt x="5459" y="66"/>
                  </a:lnTo>
                  <a:lnTo>
                    <a:pt x="5453" y="60"/>
                  </a:lnTo>
                  <a:lnTo>
                    <a:pt x="5453" y="54"/>
                  </a:lnTo>
                  <a:lnTo>
                    <a:pt x="5447" y="48"/>
                  </a:lnTo>
                  <a:lnTo>
                    <a:pt x="5435" y="42"/>
                  </a:lnTo>
                  <a:lnTo>
                    <a:pt x="5429" y="36"/>
                  </a:lnTo>
                  <a:lnTo>
                    <a:pt x="5423" y="36"/>
                  </a:lnTo>
                  <a:lnTo>
                    <a:pt x="5405" y="30"/>
                  </a:lnTo>
                  <a:lnTo>
                    <a:pt x="5393" y="30"/>
                  </a:lnTo>
                  <a:lnTo>
                    <a:pt x="5370" y="23"/>
                  </a:lnTo>
                  <a:lnTo>
                    <a:pt x="5346" y="24"/>
                  </a:lnTo>
                  <a:lnTo>
                    <a:pt x="5325" y="27"/>
                  </a:lnTo>
                  <a:lnTo>
                    <a:pt x="5298" y="29"/>
                  </a:lnTo>
                  <a:lnTo>
                    <a:pt x="5270" y="29"/>
                  </a:lnTo>
                  <a:lnTo>
                    <a:pt x="5247" y="26"/>
                  </a:lnTo>
                  <a:lnTo>
                    <a:pt x="5219" y="24"/>
                  </a:lnTo>
                  <a:lnTo>
                    <a:pt x="5199" y="21"/>
                  </a:lnTo>
                  <a:lnTo>
                    <a:pt x="5174" y="24"/>
                  </a:lnTo>
                </a:path>
              </a:pathLst>
            </a:custGeom>
            <a:gradFill rotWithShape="0">
              <a:gsLst>
                <a:gs pos="0">
                  <a:schemeClr val="accent2"/>
                </a:gs>
                <a:gs pos="50000">
                  <a:schemeClr val="accent2">
                    <a:gamma/>
                    <a:tint val="96863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fr-FR"/>
            </a:p>
          </p:txBody>
        </p:sp>
      </p:grpSp>
      <p:sp>
        <p:nvSpPr>
          <p:cNvPr id="20504" name="Rectangle 24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00200"/>
            <a:ext cx="7772400" cy="1828800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20505" name="Rectangle 2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26" name="Rectangle 26"/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7" name="Rectangle 2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8" name="Rectangle 2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05AEEB-0EAB-41A7-A6EF-70D05D27D08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2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2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E68ED3-6C52-4AB8-B274-EA1C5AF1F07E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6" name="Rectangle 2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2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2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9058F5-047E-41B2-97BD-3EAD587FBC2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6" name="Rectangle 2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2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2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0FA127-A111-4F14-86FA-A2063751521E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7" name="Rectangle 2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2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2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43AA0E-2613-4B7A-87FF-257C36B0AFE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9" name="Rectangle 2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2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2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69710B-4BA8-4ACE-870D-33D659F0767D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5" name="Rectangle 2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2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43BE7F-87C3-4E90-8752-185BF1CBCABB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4" name="Rectangle 2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2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2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007FA8-BB0F-4472-A06A-A93FE743322D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7" name="Rectangle 2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2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2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D8D2CD-CF25-4527-8601-B0164AF6C1C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7" name="Rectangle 2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2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2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0D9495-A2D6-4672-B528-129D62BEAD57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6" name="Rectangle 2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2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2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621890-EED0-4FDF-9063-CE8487A44DBB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6" name="Rectangle 2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rotWithShape="0">
          <a:gsLst>
            <a:gs pos="0">
              <a:srgbClr val="0000FF"/>
            </a:gs>
            <a:gs pos="100000">
              <a:srgbClr val="000076"/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pour modifier le style du titre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E9754F8-43E4-4332-BEB5-5CAAFF4C82D6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83" r:id="rId2"/>
    <p:sldLayoutId id="2147483884" r:id="rId3"/>
    <p:sldLayoutId id="2147483885" r:id="rId4"/>
    <p:sldLayoutId id="2147483886" r:id="rId5"/>
    <p:sldLayoutId id="2147483887" r:id="rId6"/>
    <p:sldLayoutId id="2147483888" r:id="rId7"/>
    <p:sldLayoutId id="2147483889" r:id="rId8"/>
    <p:sldLayoutId id="2147483890" r:id="rId9"/>
    <p:sldLayoutId id="2147483891" r:id="rId10"/>
    <p:sldLayoutId id="214748389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rotWithShape="0">
          <a:gsLst>
            <a:gs pos="0">
              <a:srgbClr val="0000FF"/>
            </a:gs>
            <a:gs pos="100000">
              <a:srgbClr val="000076"/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0" y="0"/>
            <a:ext cx="9159875" cy="6858000"/>
            <a:chOff x="0" y="0"/>
            <a:chExt cx="5770" cy="4320"/>
          </a:xfrm>
        </p:grpSpPr>
        <p:sp>
          <p:nvSpPr>
            <p:cNvPr id="19459" name="Rectangle 3"/>
            <p:cNvSpPr>
              <a:spLocks noChangeArrowheads="1"/>
            </p:cNvSpPr>
            <p:nvPr userDrawn="1"/>
          </p:nvSpPr>
          <p:spPr bwMode="hidden">
            <a:xfrm>
              <a:off x="5232" y="1"/>
              <a:ext cx="528" cy="4319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94118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fr-FR"/>
            </a:p>
          </p:txBody>
        </p:sp>
        <p:sp>
          <p:nvSpPr>
            <p:cNvPr id="19460" name="Rectangle 4"/>
            <p:cNvSpPr>
              <a:spLocks noChangeArrowheads="1"/>
            </p:cNvSpPr>
            <p:nvPr userDrawn="1"/>
          </p:nvSpPr>
          <p:spPr bwMode="hidden">
            <a:xfrm>
              <a:off x="1056" y="0"/>
              <a:ext cx="192" cy="4320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fr-FR"/>
            </a:p>
          </p:txBody>
        </p:sp>
        <p:sp>
          <p:nvSpPr>
            <p:cNvPr id="19461" name="Rectangle 5"/>
            <p:cNvSpPr>
              <a:spLocks noChangeArrowheads="1"/>
            </p:cNvSpPr>
            <p:nvPr userDrawn="1"/>
          </p:nvSpPr>
          <p:spPr bwMode="hidden">
            <a:xfrm>
              <a:off x="1728" y="0"/>
              <a:ext cx="432" cy="4320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fr-FR"/>
            </a:p>
          </p:txBody>
        </p:sp>
        <p:sp>
          <p:nvSpPr>
            <p:cNvPr id="19462" name="Rectangle 6"/>
            <p:cNvSpPr>
              <a:spLocks noChangeArrowheads="1"/>
            </p:cNvSpPr>
            <p:nvPr userDrawn="1"/>
          </p:nvSpPr>
          <p:spPr bwMode="hidden">
            <a:xfrm>
              <a:off x="2256" y="0"/>
              <a:ext cx="240" cy="432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fr-FR"/>
            </a:p>
          </p:txBody>
        </p:sp>
        <p:sp>
          <p:nvSpPr>
            <p:cNvPr id="19463" name="Rectangle 7"/>
            <p:cNvSpPr>
              <a:spLocks noChangeArrowheads="1"/>
            </p:cNvSpPr>
            <p:nvPr userDrawn="1"/>
          </p:nvSpPr>
          <p:spPr bwMode="hidden">
            <a:xfrm>
              <a:off x="1344" y="0"/>
              <a:ext cx="384" cy="43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fr-FR"/>
            </a:p>
          </p:txBody>
        </p:sp>
        <p:sp>
          <p:nvSpPr>
            <p:cNvPr id="19464" name="Rectangle 8"/>
            <p:cNvSpPr>
              <a:spLocks noChangeArrowheads="1"/>
            </p:cNvSpPr>
            <p:nvPr userDrawn="1"/>
          </p:nvSpPr>
          <p:spPr bwMode="hidden">
            <a:xfrm>
              <a:off x="480" y="0"/>
              <a:ext cx="576" cy="43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fr-FR"/>
            </a:p>
          </p:txBody>
        </p:sp>
        <p:sp>
          <p:nvSpPr>
            <p:cNvPr id="19465" name="Rectangle 9"/>
            <p:cNvSpPr>
              <a:spLocks noChangeArrowheads="1"/>
            </p:cNvSpPr>
            <p:nvPr userDrawn="1"/>
          </p:nvSpPr>
          <p:spPr bwMode="hidden">
            <a:xfrm>
              <a:off x="288" y="0"/>
              <a:ext cx="192" cy="43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2">
                    <a:gamma/>
                    <a:shade val="8470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fr-FR"/>
            </a:p>
          </p:txBody>
        </p:sp>
        <p:sp>
          <p:nvSpPr>
            <p:cNvPr id="19466" name="Rectangle 10"/>
            <p:cNvSpPr>
              <a:spLocks noChangeArrowheads="1"/>
            </p:cNvSpPr>
            <p:nvPr userDrawn="1"/>
          </p:nvSpPr>
          <p:spPr bwMode="hidden">
            <a:xfrm>
              <a:off x="0" y="0"/>
              <a:ext cx="288" cy="4320"/>
            </a:xfrm>
            <a:prstGeom prst="rect">
              <a:avLst/>
            </a:pr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fr-FR"/>
            </a:p>
          </p:txBody>
        </p:sp>
        <p:sp>
          <p:nvSpPr>
            <p:cNvPr id="19467" name="Rectangle 11"/>
            <p:cNvSpPr>
              <a:spLocks noChangeArrowheads="1"/>
            </p:cNvSpPr>
            <p:nvPr userDrawn="1"/>
          </p:nvSpPr>
          <p:spPr bwMode="hidden">
            <a:xfrm>
              <a:off x="2160" y="0"/>
              <a:ext cx="240" cy="43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fr-FR"/>
            </a:p>
          </p:txBody>
        </p:sp>
        <p:sp>
          <p:nvSpPr>
            <p:cNvPr id="19468" name="Rectangle 12"/>
            <p:cNvSpPr>
              <a:spLocks noChangeArrowheads="1"/>
            </p:cNvSpPr>
            <p:nvPr userDrawn="1"/>
          </p:nvSpPr>
          <p:spPr bwMode="hidden">
            <a:xfrm>
              <a:off x="2784" y="0"/>
              <a:ext cx="528" cy="4320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fr-FR"/>
            </a:p>
          </p:txBody>
        </p:sp>
        <p:sp>
          <p:nvSpPr>
            <p:cNvPr id="19469" name="Rectangle 13"/>
            <p:cNvSpPr>
              <a:spLocks noChangeArrowheads="1"/>
            </p:cNvSpPr>
            <p:nvPr userDrawn="1"/>
          </p:nvSpPr>
          <p:spPr bwMode="hidden">
            <a:xfrm>
              <a:off x="1248" y="0"/>
              <a:ext cx="144" cy="4320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fr-FR"/>
            </a:p>
          </p:txBody>
        </p:sp>
        <p:sp>
          <p:nvSpPr>
            <p:cNvPr id="19470" name="Rectangle 14"/>
            <p:cNvSpPr>
              <a:spLocks noChangeArrowheads="1"/>
            </p:cNvSpPr>
            <p:nvPr userDrawn="1"/>
          </p:nvSpPr>
          <p:spPr bwMode="hidden">
            <a:xfrm>
              <a:off x="3300" y="0"/>
              <a:ext cx="252" cy="4320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fr-FR"/>
            </a:p>
          </p:txBody>
        </p:sp>
        <p:sp>
          <p:nvSpPr>
            <p:cNvPr id="19471" name="Rectangle 15"/>
            <p:cNvSpPr>
              <a:spLocks noChangeArrowheads="1"/>
            </p:cNvSpPr>
            <p:nvPr userDrawn="1"/>
          </p:nvSpPr>
          <p:spPr bwMode="hidden">
            <a:xfrm>
              <a:off x="4656" y="0"/>
              <a:ext cx="144" cy="43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2">
                    <a:gamma/>
                    <a:shade val="96863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fr-FR"/>
            </a:p>
          </p:txBody>
        </p:sp>
        <p:sp>
          <p:nvSpPr>
            <p:cNvPr id="19472" name="Rectangle 16"/>
            <p:cNvSpPr>
              <a:spLocks noChangeArrowheads="1"/>
            </p:cNvSpPr>
            <p:nvPr userDrawn="1"/>
          </p:nvSpPr>
          <p:spPr bwMode="hidden">
            <a:xfrm>
              <a:off x="4608" y="0"/>
              <a:ext cx="672" cy="43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fr-FR"/>
            </a:p>
          </p:txBody>
        </p:sp>
        <p:sp>
          <p:nvSpPr>
            <p:cNvPr id="19473" name="Rectangle 17"/>
            <p:cNvSpPr>
              <a:spLocks noChangeArrowheads="1"/>
            </p:cNvSpPr>
            <p:nvPr userDrawn="1"/>
          </p:nvSpPr>
          <p:spPr bwMode="hidden">
            <a:xfrm>
              <a:off x="3504" y="0"/>
              <a:ext cx="624" cy="43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fr-FR"/>
            </a:p>
          </p:txBody>
        </p:sp>
        <p:sp>
          <p:nvSpPr>
            <p:cNvPr id="19474" name="Rectangle 18"/>
            <p:cNvSpPr>
              <a:spLocks noChangeArrowheads="1"/>
            </p:cNvSpPr>
            <p:nvPr userDrawn="1"/>
          </p:nvSpPr>
          <p:spPr bwMode="hidden">
            <a:xfrm>
              <a:off x="3840" y="0"/>
              <a:ext cx="528" cy="4320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fr-FR"/>
            </a:p>
          </p:txBody>
        </p:sp>
        <p:sp>
          <p:nvSpPr>
            <p:cNvPr id="19475" name="Rectangle 19"/>
            <p:cNvSpPr>
              <a:spLocks noChangeArrowheads="1"/>
            </p:cNvSpPr>
            <p:nvPr userDrawn="1"/>
          </p:nvSpPr>
          <p:spPr bwMode="hidden">
            <a:xfrm>
              <a:off x="4368" y="0"/>
              <a:ext cx="240" cy="43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2">
                    <a:gamma/>
                    <a:shade val="96863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fr-FR"/>
            </a:p>
          </p:txBody>
        </p:sp>
        <p:sp>
          <p:nvSpPr>
            <p:cNvPr id="19476" name="Rectangle 20"/>
            <p:cNvSpPr>
              <a:spLocks noChangeArrowheads="1"/>
            </p:cNvSpPr>
            <p:nvPr userDrawn="1"/>
          </p:nvSpPr>
          <p:spPr bwMode="hidden">
            <a:xfrm>
              <a:off x="2680" y="0"/>
              <a:ext cx="152" cy="43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fr-FR"/>
            </a:p>
          </p:txBody>
        </p:sp>
        <p:sp>
          <p:nvSpPr>
            <p:cNvPr id="19477" name="Rectangle 21"/>
            <p:cNvSpPr>
              <a:spLocks noChangeArrowheads="1"/>
            </p:cNvSpPr>
            <p:nvPr userDrawn="1"/>
          </p:nvSpPr>
          <p:spPr bwMode="hidden">
            <a:xfrm>
              <a:off x="2366" y="0"/>
              <a:ext cx="336" cy="4320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fr-FR"/>
            </a:p>
          </p:txBody>
        </p:sp>
        <p:sp>
          <p:nvSpPr>
            <p:cNvPr id="19478" name="Freeform 22"/>
            <p:cNvSpPr>
              <a:spLocks/>
            </p:cNvSpPr>
            <p:nvPr userDrawn="1"/>
          </p:nvSpPr>
          <p:spPr bwMode="hidden">
            <a:xfrm>
              <a:off x="1" y="3875"/>
              <a:ext cx="5760" cy="445"/>
            </a:xfrm>
            <a:custGeom>
              <a:avLst/>
              <a:gdLst/>
              <a:ahLst/>
              <a:cxnLst>
                <a:cxn ang="0">
                  <a:pos x="5700" y="86"/>
                </a:cxn>
                <a:cxn ang="0">
                  <a:pos x="5508" y="86"/>
                </a:cxn>
                <a:cxn ang="0">
                  <a:pos x="5454" y="76"/>
                </a:cxn>
                <a:cxn ang="0">
                  <a:pos x="5448" y="65"/>
                </a:cxn>
                <a:cxn ang="0">
                  <a:pos x="5442" y="44"/>
                </a:cxn>
                <a:cxn ang="0">
                  <a:pos x="5414" y="18"/>
                </a:cxn>
                <a:cxn ang="0">
                  <a:pos x="5332" y="7"/>
                </a:cxn>
                <a:cxn ang="0">
                  <a:pos x="5051" y="22"/>
                </a:cxn>
                <a:cxn ang="0">
                  <a:pos x="4986" y="55"/>
                </a:cxn>
                <a:cxn ang="0">
                  <a:pos x="4854" y="102"/>
                </a:cxn>
                <a:cxn ang="0">
                  <a:pos x="4740" y="112"/>
                </a:cxn>
                <a:cxn ang="0">
                  <a:pos x="4662" y="91"/>
                </a:cxn>
                <a:cxn ang="0">
                  <a:pos x="4598" y="25"/>
                </a:cxn>
                <a:cxn ang="0">
                  <a:pos x="4514" y="9"/>
                </a:cxn>
                <a:cxn ang="0">
                  <a:pos x="4410" y="39"/>
                </a:cxn>
                <a:cxn ang="0">
                  <a:pos x="4236" y="81"/>
                </a:cxn>
                <a:cxn ang="0">
                  <a:pos x="4020" y="102"/>
                </a:cxn>
                <a:cxn ang="0">
                  <a:pos x="3810" y="102"/>
                </a:cxn>
                <a:cxn ang="0">
                  <a:pos x="3654" y="76"/>
                </a:cxn>
                <a:cxn ang="0">
                  <a:pos x="3594" y="50"/>
                </a:cxn>
                <a:cxn ang="0">
                  <a:pos x="3528" y="44"/>
                </a:cxn>
                <a:cxn ang="0">
                  <a:pos x="3480" y="55"/>
                </a:cxn>
                <a:cxn ang="0">
                  <a:pos x="3420" y="76"/>
                </a:cxn>
                <a:cxn ang="0">
                  <a:pos x="3048" y="112"/>
                </a:cxn>
                <a:cxn ang="0">
                  <a:pos x="2844" y="128"/>
                </a:cxn>
                <a:cxn ang="0">
                  <a:pos x="2742" y="117"/>
                </a:cxn>
                <a:cxn ang="0">
                  <a:pos x="2710" y="56"/>
                </a:cxn>
                <a:cxn ang="0">
                  <a:pos x="2658" y="50"/>
                </a:cxn>
                <a:cxn ang="0">
                  <a:pos x="2558" y="95"/>
                </a:cxn>
                <a:cxn ang="0">
                  <a:pos x="2444" y="109"/>
                </a:cxn>
                <a:cxn ang="0">
                  <a:pos x="2322" y="91"/>
                </a:cxn>
                <a:cxn ang="0">
                  <a:pos x="2274" y="70"/>
                </a:cxn>
                <a:cxn ang="0">
                  <a:pos x="2185" y="3"/>
                </a:cxn>
                <a:cxn ang="0">
                  <a:pos x="2048" y="64"/>
                </a:cxn>
                <a:cxn ang="0">
                  <a:pos x="1794" y="102"/>
                </a:cxn>
                <a:cxn ang="0">
                  <a:pos x="1560" y="91"/>
                </a:cxn>
                <a:cxn ang="0">
                  <a:pos x="1482" y="76"/>
                </a:cxn>
                <a:cxn ang="0">
                  <a:pos x="1428" y="50"/>
                </a:cxn>
                <a:cxn ang="0">
                  <a:pos x="1374" y="44"/>
                </a:cxn>
                <a:cxn ang="0">
                  <a:pos x="1308" y="55"/>
                </a:cxn>
                <a:cxn ang="0">
                  <a:pos x="1140" y="107"/>
                </a:cxn>
                <a:cxn ang="0">
                  <a:pos x="948" y="143"/>
                </a:cxn>
                <a:cxn ang="0">
                  <a:pos x="708" y="138"/>
                </a:cxn>
                <a:cxn ang="0">
                  <a:pos x="534" y="96"/>
                </a:cxn>
                <a:cxn ang="0">
                  <a:pos x="444" y="55"/>
                </a:cxn>
                <a:cxn ang="0">
                  <a:pos x="396" y="34"/>
                </a:cxn>
                <a:cxn ang="0">
                  <a:pos x="378" y="39"/>
                </a:cxn>
                <a:cxn ang="0">
                  <a:pos x="342" y="70"/>
                </a:cxn>
                <a:cxn ang="0">
                  <a:pos x="288" y="96"/>
                </a:cxn>
                <a:cxn ang="0">
                  <a:pos x="192" y="112"/>
                </a:cxn>
                <a:cxn ang="0">
                  <a:pos x="90" y="112"/>
                </a:cxn>
                <a:cxn ang="0">
                  <a:pos x="0" y="96"/>
                </a:cxn>
                <a:cxn ang="0">
                  <a:pos x="5760" y="445"/>
                </a:cxn>
              </a:cxnLst>
              <a:rect l="0" t="0" r="r" b="b"/>
              <a:pathLst>
                <a:path w="5760" h="445">
                  <a:moveTo>
                    <a:pt x="5760" y="445"/>
                  </a:moveTo>
                  <a:lnTo>
                    <a:pt x="5760" y="76"/>
                  </a:lnTo>
                  <a:lnTo>
                    <a:pt x="5730" y="81"/>
                  </a:lnTo>
                  <a:lnTo>
                    <a:pt x="5700" y="86"/>
                  </a:lnTo>
                  <a:lnTo>
                    <a:pt x="5646" y="91"/>
                  </a:lnTo>
                  <a:lnTo>
                    <a:pt x="5592" y="91"/>
                  </a:lnTo>
                  <a:lnTo>
                    <a:pt x="5544" y="91"/>
                  </a:lnTo>
                  <a:lnTo>
                    <a:pt x="5508" y="86"/>
                  </a:lnTo>
                  <a:lnTo>
                    <a:pt x="5490" y="86"/>
                  </a:lnTo>
                  <a:lnTo>
                    <a:pt x="5478" y="81"/>
                  </a:lnTo>
                  <a:lnTo>
                    <a:pt x="5466" y="76"/>
                  </a:lnTo>
                  <a:lnTo>
                    <a:pt x="5454" y="76"/>
                  </a:lnTo>
                  <a:lnTo>
                    <a:pt x="5454" y="70"/>
                  </a:lnTo>
                  <a:lnTo>
                    <a:pt x="5454" y="70"/>
                  </a:lnTo>
                  <a:lnTo>
                    <a:pt x="5448" y="70"/>
                  </a:lnTo>
                  <a:lnTo>
                    <a:pt x="5448" y="65"/>
                  </a:lnTo>
                  <a:lnTo>
                    <a:pt x="5448" y="60"/>
                  </a:lnTo>
                  <a:lnTo>
                    <a:pt x="5448" y="55"/>
                  </a:lnTo>
                  <a:lnTo>
                    <a:pt x="5442" y="50"/>
                  </a:lnTo>
                  <a:lnTo>
                    <a:pt x="5442" y="44"/>
                  </a:lnTo>
                  <a:lnTo>
                    <a:pt x="5436" y="39"/>
                  </a:lnTo>
                  <a:lnTo>
                    <a:pt x="5424" y="34"/>
                  </a:lnTo>
                  <a:lnTo>
                    <a:pt x="5418" y="29"/>
                  </a:lnTo>
                  <a:lnTo>
                    <a:pt x="5414" y="18"/>
                  </a:lnTo>
                  <a:lnTo>
                    <a:pt x="5401" y="16"/>
                  </a:lnTo>
                  <a:lnTo>
                    <a:pt x="5386" y="10"/>
                  </a:lnTo>
                  <a:lnTo>
                    <a:pt x="5368" y="7"/>
                  </a:lnTo>
                  <a:lnTo>
                    <a:pt x="5332" y="7"/>
                  </a:lnTo>
                  <a:lnTo>
                    <a:pt x="5246" y="10"/>
                  </a:lnTo>
                  <a:lnTo>
                    <a:pt x="5144" y="7"/>
                  </a:lnTo>
                  <a:lnTo>
                    <a:pt x="5090" y="16"/>
                  </a:lnTo>
                  <a:lnTo>
                    <a:pt x="5051" y="22"/>
                  </a:lnTo>
                  <a:lnTo>
                    <a:pt x="5036" y="30"/>
                  </a:lnTo>
                  <a:lnTo>
                    <a:pt x="5022" y="39"/>
                  </a:lnTo>
                  <a:lnTo>
                    <a:pt x="5010" y="44"/>
                  </a:lnTo>
                  <a:lnTo>
                    <a:pt x="4986" y="55"/>
                  </a:lnTo>
                  <a:lnTo>
                    <a:pt x="4950" y="70"/>
                  </a:lnTo>
                  <a:lnTo>
                    <a:pt x="4920" y="86"/>
                  </a:lnTo>
                  <a:lnTo>
                    <a:pt x="4884" y="96"/>
                  </a:lnTo>
                  <a:lnTo>
                    <a:pt x="4854" y="102"/>
                  </a:lnTo>
                  <a:lnTo>
                    <a:pt x="4824" y="107"/>
                  </a:lnTo>
                  <a:lnTo>
                    <a:pt x="4794" y="112"/>
                  </a:lnTo>
                  <a:lnTo>
                    <a:pt x="4764" y="112"/>
                  </a:lnTo>
                  <a:lnTo>
                    <a:pt x="4740" y="112"/>
                  </a:lnTo>
                  <a:lnTo>
                    <a:pt x="4716" y="107"/>
                  </a:lnTo>
                  <a:lnTo>
                    <a:pt x="4698" y="102"/>
                  </a:lnTo>
                  <a:lnTo>
                    <a:pt x="4674" y="96"/>
                  </a:lnTo>
                  <a:lnTo>
                    <a:pt x="4662" y="91"/>
                  </a:lnTo>
                  <a:lnTo>
                    <a:pt x="4644" y="86"/>
                  </a:lnTo>
                  <a:lnTo>
                    <a:pt x="4631" y="66"/>
                  </a:lnTo>
                  <a:lnTo>
                    <a:pt x="4617" y="42"/>
                  </a:lnTo>
                  <a:lnTo>
                    <a:pt x="4598" y="25"/>
                  </a:lnTo>
                  <a:lnTo>
                    <a:pt x="4584" y="13"/>
                  </a:lnTo>
                  <a:lnTo>
                    <a:pt x="4565" y="4"/>
                  </a:lnTo>
                  <a:lnTo>
                    <a:pt x="4535" y="3"/>
                  </a:lnTo>
                  <a:lnTo>
                    <a:pt x="4514" y="9"/>
                  </a:lnTo>
                  <a:lnTo>
                    <a:pt x="4494" y="18"/>
                  </a:lnTo>
                  <a:lnTo>
                    <a:pt x="4471" y="23"/>
                  </a:lnTo>
                  <a:lnTo>
                    <a:pt x="4440" y="29"/>
                  </a:lnTo>
                  <a:lnTo>
                    <a:pt x="4410" y="39"/>
                  </a:lnTo>
                  <a:lnTo>
                    <a:pt x="4374" y="50"/>
                  </a:lnTo>
                  <a:lnTo>
                    <a:pt x="4332" y="60"/>
                  </a:lnTo>
                  <a:lnTo>
                    <a:pt x="4284" y="76"/>
                  </a:lnTo>
                  <a:lnTo>
                    <a:pt x="4236" y="81"/>
                  </a:lnTo>
                  <a:lnTo>
                    <a:pt x="4183" y="91"/>
                  </a:lnTo>
                  <a:lnTo>
                    <a:pt x="4128" y="96"/>
                  </a:lnTo>
                  <a:lnTo>
                    <a:pt x="4074" y="102"/>
                  </a:lnTo>
                  <a:lnTo>
                    <a:pt x="4020" y="102"/>
                  </a:lnTo>
                  <a:lnTo>
                    <a:pt x="3966" y="102"/>
                  </a:lnTo>
                  <a:lnTo>
                    <a:pt x="3912" y="102"/>
                  </a:lnTo>
                  <a:lnTo>
                    <a:pt x="3858" y="102"/>
                  </a:lnTo>
                  <a:lnTo>
                    <a:pt x="3810" y="102"/>
                  </a:lnTo>
                  <a:lnTo>
                    <a:pt x="3762" y="96"/>
                  </a:lnTo>
                  <a:lnTo>
                    <a:pt x="3726" y="91"/>
                  </a:lnTo>
                  <a:lnTo>
                    <a:pt x="3684" y="81"/>
                  </a:lnTo>
                  <a:lnTo>
                    <a:pt x="3654" y="76"/>
                  </a:lnTo>
                  <a:lnTo>
                    <a:pt x="3642" y="70"/>
                  </a:lnTo>
                  <a:lnTo>
                    <a:pt x="3630" y="65"/>
                  </a:lnTo>
                  <a:lnTo>
                    <a:pt x="3612" y="60"/>
                  </a:lnTo>
                  <a:lnTo>
                    <a:pt x="3594" y="50"/>
                  </a:lnTo>
                  <a:lnTo>
                    <a:pt x="3576" y="50"/>
                  </a:lnTo>
                  <a:lnTo>
                    <a:pt x="3558" y="44"/>
                  </a:lnTo>
                  <a:lnTo>
                    <a:pt x="3540" y="44"/>
                  </a:lnTo>
                  <a:lnTo>
                    <a:pt x="3528" y="44"/>
                  </a:lnTo>
                  <a:lnTo>
                    <a:pt x="3516" y="50"/>
                  </a:lnTo>
                  <a:lnTo>
                    <a:pt x="3504" y="50"/>
                  </a:lnTo>
                  <a:lnTo>
                    <a:pt x="3492" y="55"/>
                  </a:lnTo>
                  <a:lnTo>
                    <a:pt x="3480" y="55"/>
                  </a:lnTo>
                  <a:lnTo>
                    <a:pt x="3468" y="65"/>
                  </a:lnTo>
                  <a:lnTo>
                    <a:pt x="3456" y="70"/>
                  </a:lnTo>
                  <a:lnTo>
                    <a:pt x="3450" y="70"/>
                  </a:lnTo>
                  <a:lnTo>
                    <a:pt x="3420" y="76"/>
                  </a:lnTo>
                  <a:lnTo>
                    <a:pt x="3330" y="81"/>
                  </a:lnTo>
                  <a:lnTo>
                    <a:pt x="3204" y="91"/>
                  </a:lnTo>
                  <a:lnTo>
                    <a:pt x="3126" y="102"/>
                  </a:lnTo>
                  <a:lnTo>
                    <a:pt x="3048" y="112"/>
                  </a:lnTo>
                  <a:lnTo>
                    <a:pt x="2970" y="123"/>
                  </a:lnTo>
                  <a:lnTo>
                    <a:pt x="2904" y="128"/>
                  </a:lnTo>
                  <a:lnTo>
                    <a:pt x="2868" y="128"/>
                  </a:lnTo>
                  <a:lnTo>
                    <a:pt x="2844" y="128"/>
                  </a:lnTo>
                  <a:lnTo>
                    <a:pt x="2814" y="128"/>
                  </a:lnTo>
                  <a:lnTo>
                    <a:pt x="2790" y="128"/>
                  </a:lnTo>
                  <a:lnTo>
                    <a:pt x="2766" y="123"/>
                  </a:lnTo>
                  <a:lnTo>
                    <a:pt x="2742" y="117"/>
                  </a:lnTo>
                  <a:lnTo>
                    <a:pt x="2724" y="112"/>
                  </a:lnTo>
                  <a:lnTo>
                    <a:pt x="2706" y="107"/>
                  </a:lnTo>
                  <a:lnTo>
                    <a:pt x="2704" y="83"/>
                  </a:lnTo>
                  <a:lnTo>
                    <a:pt x="2710" y="56"/>
                  </a:lnTo>
                  <a:lnTo>
                    <a:pt x="2710" y="36"/>
                  </a:lnTo>
                  <a:lnTo>
                    <a:pt x="2696" y="25"/>
                  </a:lnTo>
                  <a:lnTo>
                    <a:pt x="2672" y="36"/>
                  </a:lnTo>
                  <a:lnTo>
                    <a:pt x="2658" y="50"/>
                  </a:lnTo>
                  <a:lnTo>
                    <a:pt x="2638" y="60"/>
                  </a:lnTo>
                  <a:lnTo>
                    <a:pt x="2614" y="76"/>
                  </a:lnTo>
                  <a:lnTo>
                    <a:pt x="2590" y="84"/>
                  </a:lnTo>
                  <a:lnTo>
                    <a:pt x="2558" y="95"/>
                  </a:lnTo>
                  <a:lnTo>
                    <a:pt x="2536" y="98"/>
                  </a:lnTo>
                  <a:lnTo>
                    <a:pt x="2508" y="102"/>
                  </a:lnTo>
                  <a:lnTo>
                    <a:pt x="2478" y="105"/>
                  </a:lnTo>
                  <a:lnTo>
                    <a:pt x="2444" y="109"/>
                  </a:lnTo>
                  <a:lnTo>
                    <a:pt x="2410" y="110"/>
                  </a:lnTo>
                  <a:lnTo>
                    <a:pt x="2374" y="107"/>
                  </a:lnTo>
                  <a:lnTo>
                    <a:pt x="2348" y="103"/>
                  </a:lnTo>
                  <a:lnTo>
                    <a:pt x="2322" y="91"/>
                  </a:lnTo>
                  <a:lnTo>
                    <a:pt x="2304" y="86"/>
                  </a:lnTo>
                  <a:lnTo>
                    <a:pt x="2292" y="81"/>
                  </a:lnTo>
                  <a:lnTo>
                    <a:pt x="2286" y="76"/>
                  </a:lnTo>
                  <a:lnTo>
                    <a:pt x="2274" y="70"/>
                  </a:lnTo>
                  <a:lnTo>
                    <a:pt x="2268" y="65"/>
                  </a:lnTo>
                  <a:lnTo>
                    <a:pt x="2246" y="18"/>
                  </a:lnTo>
                  <a:lnTo>
                    <a:pt x="2224" y="0"/>
                  </a:lnTo>
                  <a:lnTo>
                    <a:pt x="2185" y="3"/>
                  </a:lnTo>
                  <a:lnTo>
                    <a:pt x="2156" y="16"/>
                  </a:lnTo>
                  <a:lnTo>
                    <a:pt x="2126" y="22"/>
                  </a:lnTo>
                  <a:lnTo>
                    <a:pt x="2081" y="49"/>
                  </a:lnTo>
                  <a:lnTo>
                    <a:pt x="2048" y="64"/>
                  </a:lnTo>
                  <a:lnTo>
                    <a:pt x="2018" y="76"/>
                  </a:lnTo>
                  <a:lnTo>
                    <a:pt x="1986" y="96"/>
                  </a:lnTo>
                  <a:lnTo>
                    <a:pt x="1896" y="102"/>
                  </a:lnTo>
                  <a:lnTo>
                    <a:pt x="1794" y="102"/>
                  </a:lnTo>
                  <a:lnTo>
                    <a:pt x="1692" y="102"/>
                  </a:lnTo>
                  <a:lnTo>
                    <a:pt x="1644" y="102"/>
                  </a:lnTo>
                  <a:lnTo>
                    <a:pt x="1602" y="96"/>
                  </a:lnTo>
                  <a:lnTo>
                    <a:pt x="1560" y="91"/>
                  </a:lnTo>
                  <a:lnTo>
                    <a:pt x="1524" y="86"/>
                  </a:lnTo>
                  <a:lnTo>
                    <a:pt x="1506" y="86"/>
                  </a:lnTo>
                  <a:lnTo>
                    <a:pt x="1494" y="81"/>
                  </a:lnTo>
                  <a:lnTo>
                    <a:pt x="1482" y="76"/>
                  </a:lnTo>
                  <a:lnTo>
                    <a:pt x="1476" y="70"/>
                  </a:lnTo>
                  <a:lnTo>
                    <a:pt x="1458" y="65"/>
                  </a:lnTo>
                  <a:lnTo>
                    <a:pt x="1440" y="55"/>
                  </a:lnTo>
                  <a:lnTo>
                    <a:pt x="1428" y="50"/>
                  </a:lnTo>
                  <a:lnTo>
                    <a:pt x="1410" y="50"/>
                  </a:lnTo>
                  <a:lnTo>
                    <a:pt x="1398" y="44"/>
                  </a:lnTo>
                  <a:lnTo>
                    <a:pt x="1386" y="44"/>
                  </a:lnTo>
                  <a:lnTo>
                    <a:pt x="1374" y="44"/>
                  </a:lnTo>
                  <a:lnTo>
                    <a:pt x="1356" y="44"/>
                  </a:lnTo>
                  <a:lnTo>
                    <a:pt x="1344" y="44"/>
                  </a:lnTo>
                  <a:lnTo>
                    <a:pt x="1332" y="50"/>
                  </a:lnTo>
                  <a:lnTo>
                    <a:pt x="1308" y="55"/>
                  </a:lnTo>
                  <a:lnTo>
                    <a:pt x="1260" y="70"/>
                  </a:lnTo>
                  <a:lnTo>
                    <a:pt x="1218" y="86"/>
                  </a:lnTo>
                  <a:lnTo>
                    <a:pt x="1176" y="96"/>
                  </a:lnTo>
                  <a:lnTo>
                    <a:pt x="1140" y="107"/>
                  </a:lnTo>
                  <a:lnTo>
                    <a:pt x="1098" y="117"/>
                  </a:lnTo>
                  <a:lnTo>
                    <a:pt x="1062" y="128"/>
                  </a:lnTo>
                  <a:lnTo>
                    <a:pt x="1020" y="133"/>
                  </a:lnTo>
                  <a:lnTo>
                    <a:pt x="948" y="143"/>
                  </a:lnTo>
                  <a:lnTo>
                    <a:pt x="882" y="149"/>
                  </a:lnTo>
                  <a:lnTo>
                    <a:pt x="822" y="149"/>
                  </a:lnTo>
                  <a:lnTo>
                    <a:pt x="762" y="143"/>
                  </a:lnTo>
                  <a:lnTo>
                    <a:pt x="708" y="138"/>
                  </a:lnTo>
                  <a:lnTo>
                    <a:pt x="654" y="128"/>
                  </a:lnTo>
                  <a:lnTo>
                    <a:pt x="612" y="117"/>
                  </a:lnTo>
                  <a:lnTo>
                    <a:pt x="570" y="107"/>
                  </a:lnTo>
                  <a:lnTo>
                    <a:pt x="534" y="96"/>
                  </a:lnTo>
                  <a:lnTo>
                    <a:pt x="504" y="86"/>
                  </a:lnTo>
                  <a:lnTo>
                    <a:pt x="480" y="76"/>
                  </a:lnTo>
                  <a:lnTo>
                    <a:pt x="462" y="65"/>
                  </a:lnTo>
                  <a:lnTo>
                    <a:pt x="444" y="55"/>
                  </a:lnTo>
                  <a:lnTo>
                    <a:pt x="426" y="44"/>
                  </a:lnTo>
                  <a:lnTo>
                    <a:pt x="408" y="34"/>
                  </a:lnTo>
                  <a:lnTo>
                    <a:pt x="402" y="34"/>
                  </a:lnTo>
                  <a:lnTo>
                    <a:pt x="396" y="34"/>
                  </a:lnTo>
                  <a:lnTo>
                    <a:pt x="390" y="34"/>
                  </a:lnTo>
                  <a:lnTo>
                    <a:pt x="390" y="34"/>
                  </a:lnTo>
                  <a:lnTo>
                    <a:pt x="384" y="34"/>
                  </a:lnTo>
                  <a:lnTo>
                    <a:pt x="378" y="39"/>
                  </a:lnTo>
                  <a:lnTo>
                    <a:pt x="372" y="44"/>
                  </a:lnTo>
                  <a:lnTo>
                    <a:pt x="360" y="55"/>
                  </a:lnTo>
                  <a:lnTo>
                    <a:pt x="348" y="65"/>
                  </a:lnTo>
                  <a:lnTo>
                    <a:pt x="342" y="70"/>
                  </a:lnTo>
                  <a:lnTo>
                    <a:pt x="336" y="76"/>
                  </a:lnTo>
                  <a:lnTo>
                    <a:pt x="324" y="86"/>
                  </a:lnTo>
                  <a:lnTo>
                    <a:pt x="306" y="91"/>
                  </a:lnTo>
                  <a:lnTo>
                    <a:pt x="288" y="96"/>
                  </a:lnTo>
                  <a:lnTo>
                    <a:pt x="264" y="102"/>
                  </a:lnTo>
                  <a:lnTo>
                    <a:pt x="240" y="107"/>
                  </a:lnTo>
                  <a:lnTo>
                    <a:pt x="216" y="112"/>
                  </a:lnTo>
                  <a:lnTo>
                    <a:pt x="192" y="112"/>
                  </a:lnTo>
                  <a:lnTo>
                    <a:pt x="168" y="117"/>
                  </a:lnTo>
                  <a:lnTo>
                    <a:pt x="145" y="117"/>
                  </a:lnTo>
                  <a:lnTo>
                    <a:pt x="120" y="117"/>
                  </a:lnTo>
                  <a:lnTo>
                    <a:pt x="90" y="112"/>
                  </a:lnTo>
                  <a:lnTo>
                    <a:pt x="66" y="112"/>
                  </a:lnTo>
                  <a:lnTo>
                    <a:pt x="42" y="107"/>
                  </a:lnTo>
                  <a:lnTo>
                    <a:pt x="24" y="102"/>
                  </a:lnTo>
                  <a:lnTo>
                    <a:pt x="0" y="96"/>
                  </a:lnTo>
                  <a:lnTo>
                    <a:pt x="0" y="445"/>
                  </a:lnTo>
                  <a:lnTo>
                    <a:pt x="5760" y="445"/>
                  </a:lnTo>
                  <a:lnTo>
                    <a:pt x="5760" y="445"/>
                  </a:lnTo>
                  <a:lnTo>
                    <a:pt x="5760" y="445"/>
                  </a:lnTo>
                </a:path>
              </a:pathLst>
            </a:custGeom>
            <a:solidFill>
              <a:schemeClr val="accent2">
                <a:alpha val="50000"/>
              </a:schemeClr>
            </a:solidFill>
            <a:ln w="9525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fr-FR"/>
            </a:p>
          </p:txBody>
        </p:sp>
        <p:sp>
          <p:nvSpPr>
            <p:cNvPr id="19479" name="Freeform 23"/>
            <p:cNvSpPr>
              <a:spLocks/>
            </p:cNvSpPr>
            <p:nvPr userDrawn="1"/>
          </p:nvSpPr>
          <p:spPr bwMode="hidden">
            <a:xfrm>
              <a:off x="0" y="3867"/>
              <a:ext cx="5770" cy="174"/>
            </a:xfrm>
            <a:custGeom>
              <a:avLst/>
              <a:gdLst/>
              <a:ahLst/>
              <a:cxnLst>
                <a:cxn ang="0">
                  <a:pos x="4993" y="66"/>
                </a:cxn>
                <a:cxn ang="0">
                  <a:pos x="4771" y="132"/>
                </a:cxn>
                <a:cxn ang="0">
                  <a:pos x="4640" y="96"/>
                </a:cxn>
                <a:cxn ang="0">
                  <a:pos x="4598" y="36"/>
                </a:cxn>
                <a:cxn ang="0">
                  <a:pos x="4478" y="30"/>
                </a:cxn>
                <a:cxn ang="0">
                  <a:pos x="4186" y="108"/>
                </a:cxn>
                <a:cxn ang="0">
                  <a:pos x="3815" y="120"/>
                </a:cxn>
                <a:cxn ang="0">
                  <a:pos x="3617" y="72"/>
                </a:cxn>
                <a:cxn ang="0">
                  <a:pos x="3510" y="60"/>
                </a:cxn>
                <a:cxn ang="0">
                  <a:pos x="3336" y="96"/>
                </a:cxn>
                <a:cxn ang="0">
                  <a:pos x="2846" y="150"/>
                </a:cxn>
                <a:cxn ang="0">
                  <a:pos x="2703" y="96"/>
                </a:cxn>
                <a:cxn ang="0">
                  <a:pos x="2619" y="90"/>
                </a:cxn>
                <a:cxn ang="0">
                  <a:pos x="2416" y="132"/>
                </a:cxn>
                <a:cxn ang="0">
                  <a:pos x="2278" y="84"/>
                </a:cxn>
                <a:cxn ang="0">
                  <a:pos x="2151" y="36"/>
                </a:cxn>
                <a:cxn ang="0">
                  <a:pos x="1947" y="120"/>
                </a:cxn>
                <a:cxn ang="0">
                  <a:pos x="1525" y="102"/>
                </a:cxn>
                <a:cxn ang="0">
                  <a:pos x="1429" y="60"/>
                </a:cxn>
                <a:cxn ang="0">
                  <a:pos x="1333" y="60"/>
                </a:cxn>
                <a:cxn ang="0">
                  <a:pos x="1058" y="150"/>
                </a:cxn>
                <a:cxn ang="0">
                  <a:pos x="652" y="150"/>
                </a:cxn>
                <a:cxn ang="0">
                  <a:pos x="442" y="66"/>
                </a:cxn>
                <a:cxn ang="0">
                  <a:pos x="377" y="48"/>
                </a:cxn>
                <a:cxn ang="0">
                  <a:pos x="305" y="108"/>
                </a:cxn>
                <a:cxn ang="0">
                  <a:pos x="144" y="138"/>
                </a:cxn>
                <a:cxn ang="0">
                  <a:pos x="0" y="96"/>
                </a:cxn>
                <a:cxn ang="0">
                  <a:pos x="167" y="120"/>
                </a:cxn>
                <a:cxn ang="0">
                  <a:pos x="323" y="84"/>
                </a:cxn>
                <a:cxn ang="0">
                  <a:pos x="383" y="24"/>
                </a:cxn>
                <a:cxn ang="0">
                  <a:pos x="460" y="60"/>
                </a:cxn>
                <a:cxn ang="0">
                  <a:pos x="706" y="144"/>
                </a:cxn>
                <a:cxn ang="0">
                  <a:pos x="1100" y="120"/>
                </a:cxn>
                <a:cxn ang="0">
                  <a:pos x="1345" y="36"/>
                </a:cxn>
                <a:cxn ang="0">
                  <a:pos x="1441" y="48"/>
                </a:cxn>
                <a:cxn ang="0">
                  <a:pos x="1561" y="90"/>
                </a:cxn>
                <a:cxn ang="0">
                  <a:pos x="1971" y="96"/>
                </a:cxn>
                <a:cxn ang="0">
                  <a:pos x="2235" y="3"/>
                </a:cxn>
                <a:cxn ang="0">
                  <a:pos x="2350" y="102"/>
                </a:cxn>
                <a:cxn ang="0">
                  <a:pos x="2559" y="96"/>
                </a:cxn>
                <a:cxn ang="0">
                  <a:pos x="2715" y="24"/>
                </a:cxn>
                <a:cxn ang="0">
                  <a:pos x="2792" y="132"/>
                </a:cxn>
                <a:cxn ang="0">
                  <a:pos x="3127" y="102"/>
                </a:cxn>
                <a:cxn ang="0">
                  <a:pos x="3486" y="48"/>
                </a:cxn>
                <a:cxn ang="0">
                  <a:pos x="3582" y="42"/>
                </a:cxn>
                <a:cxn ang="0">
                  <a:pos x="3731" y="90"/>
                </a:cxn>
                <a:cxn ang="0">
                  <a:pos x="4078" y="102"/>
                </a:cxn>
                <a:cxn ang="0">
                  <a:pos x="4419" y="30"/>
                </a:cxn>
                <a:cxn ang="0">
                  <a:pos x="4574" y="6"/>
                </a:cxn>
                <a:cxn ang="0">
                  <a:pos x="4628" y="60"/>
                </a:cxn>
                <a:cxn ang="0">
                  <a:pos x="4724" y="108"/>
                </a:cxn>
                <a:cxn ang="0">
                  <a:pos x="4927" y="84"/>
                </a:cxn>
                <a:cxn ang="0">
                  <a:pos x="5118" y="14"/>
                </a:cxn>
                <a:cxn ang="0">
                  <a:pos x="5280" y="9"/>
                </a:cxn>
                <a:cxn ang="0">
                  <a:pos x="5453" y="36"/>
                </a:cxn>
                <a:cxn ang="0">
                  <a:pos x="5465" y="72"/>
                </a:cxn>
                <a:cxn ang="0">
                  <a:pos x="5656" y="90"/>
                </a:cxn>
                <a:cxn ang="0">
                  <a:pos x="5710" y="102"/>
                </a:cxn>
                <a:cxn ang="0">
                  <a:pos x="5477" y="90"/>
                </a:cxn>
                <a:cxn ang="0">
                  <a:pos x="5453" y="60"/>
                </a:cxn>
                <a:cxn ang="0">
                  <a:pos x="5393" y="30"/>
                </a:cxn>
                <a:cxn ang="0">
                  <a:pos x="5219" y="24"/>
                </a:cxn>
              </a:cxnLst>
              <a:rect l="0" t="0" r="r" b="b"/>
              <a:pathLst>
                <a:path w="5770" h="174">
                  <a:moveTo>
                    <a:pt x="5151" y="24"/>
                  </a:moveTo>
                  <a:lnTo>
                    <a:pt x="5127" y="26"/>
                  </a:lnTo>
                  <a:lnTo>
                    <a:pt x="5082" y="30"/>
                  </a:lnTo>
                  <a:lnTo>
                    <a:pt x="5049" y="38"/>
                  </a:lnTo>
                  <a:lnTo>
                    <a:pt x="5029" y="48"/>
                  </a:lnTo>
                  <a:lnTo>
                    <a:pt x="5017" y="54"/>
                  </a:lnTo>
                  <a:lnTo>
                    <a:pt x="4993" y="66"/>
                  </a:lnTo>
                  <a:lnTo>
                    <a:pt x="4957" y="84"/>
                  </a:lnTo>
                  <a:lnTo>
                    <a:pt x="4927" y="102"/>
                  </a:lnTo>
                  <a:lnTo>
                    <a:pt x="4891" y="114"/>
                  </a:lnTo>
                  <a:lnTo>
                    <a:pt x="4861" y="120"/>
                  </a:lnTo>
                  <a:lnTo>
                    <a:pt x="4831" y="126"/>
                  </a:lnTo>
                  <a:lnTo>
                    <a:pt x="4801" y="132"/>
                  </a:lnTo>
                  <a:lnTo>
                    <a:pt x="4771" y="132"/>
                  </a:lnTo>
                  <a:lnTo>
                    <a:pt x="4748" y="132"/>
                  </a:lnTo>
                  <a:lnTo>
                    <a:pt x="4724" y="126"/>
                  </a:lnTo>
                  <a:lnTo>
                    <a:pt x="4706" y="120"/>
                  </a:lnTo>
                  <a:lnTo>
                    <a:pt x="4682" y="114"/>
                  </a:lnTo>
                  <a:lnTo>
                    <a:pt x="4670" y="108"/>
                  </a:lnTo>
                  <a:lnTo>
                    <a:pt x="4652" y="102"/>
                  </a:lnTo>
                  <a:lnTo>
                    <a:pt x="4640" y="96"/>
                  </a:lnTo>
                  <a:lnTo>
                    <a:pt x="4634" y="84"/>
                  </a:lnTo>
                  <a:lnTo>
                    <a:pt x="4628" y="78"/>
                  </a:lnTo>
                  <a:lnTo>
                    <a:pt x="4622" y="66"/>
                  </a:lnTo>
                  <a:lnTo>
                    <a:pt x="4616" y="54"/>
                  </a:lnTo>
                  <a:lnTo>
                    <a:pt x="4610" y="48"/>
                  </a:lnTo>
                  <a:lnTo>
                    <a:pt x="4604" y="42"/>
                  </a:lnTo>
                  <a:lnTo>
                    <a:pt x="4598" y="36"/>
                  </a:lnTo>
                  <a:lnTo>
                    <a:pt x="4586" y="30"/>
                  </a:lnTo>
                  <a:lnTo>
                    <a:pt x="4574" y="24"/>
                  </a:lnTo>
                  <a:lnTo>
                    <a:pt x="4562" y="18"/>
                  </a:lnTo>
                  <a:lnTo>
                    <a:pt x="4544" y="18"/>
                  </a:lnTo>
                  <a:lnTo>
                    <a:pt x="4526" y="18"/>
                  </a:lnTo>
                  <a:lnTo>
                    <a:pt x="4502" y="24"/>
                  </a:lnTo>
                  <a:lnTo>
                    <a:pt x="4478" y="30"/>
                  </a:lnTo>
                  <a:lnTo>
                    <a:pt x="4449" y="36"/>
                  </a:lnTo>
                  <a:lnTo>
                    <a:pt x="4419" y="48"/>
                  </a:lnTo>
                  <a:lnTo>
                    <a:pt x="4383" y="60"/>
                  </a:lnTo>
                  <a:lnTo>
                    <a:pt x="4341" y="72"/>
                  </a:lnTo>
                  <a:lnTo>
                    <a:pt x="4287" y="90"/>
                  </a:lnTo>
                  <a:lnTo>
                    <a:pt x="4239" y="96"/>
                  </a:lnTo>
                  <a:lnTo>
                    <a:pt x="4186" y="108"/>
                  </a:lnTo>
                  <a:lnTo>
                    <a:pt x="4132" y="114"/>
                  </a:lnTo>
                  <a:lnTo>
                    <a:pt x="4078" y="120"/>
                  </a:lnTo>
                  <a:lnTo>
                    <a:pt x="4024" y="120"/>
                  </a:lnTo>
                  <a:lnTo>
                    <a:pt x="3970" y="120"/>
                  </a:lnTo>
                  <a:lnTo>
                    <a:pt x="3916" y="120"/>
                  </a:lnTo>
                  <a:lnTo>
                    <a:pt x="3863" y="120"/>
                  </a:lnTo>
                  <a:lnTo>
                    <a:pt x="3815" y="120"/>
                  </a:lnTo>
                  <a:lnTo>
                    <a:pt x="3767" y="114"/>
                  </a:lnTo>
                  <a:lnTo>
                    <a:pt x="3731" y="108"/>
                  </a:lnTo>
                  <a:lnTo>
                    <a:pt x="3689" y="96"/>
                  </a:lnTo>
                  <a:lnTo>
                    <a:pt x="3659" y="90"/>
                  </a:lnTo>
                  <a:lnTo>
                    <a:pt x="3647" y="84"/>
                  </a:lnTo>
                  <a:lnTo>
                    <a:pt x="3635" y="78"/>
                  </a:lnTo>
                  <a:lnTo>
                    <a:pt x="3617" y="72"/>
                  </a:lnTo>
                  <a:lnTo>
                    <a:pt x="3600" y="60"/>
                  </a:lnTo>
                  <a:lnTo>
                    <a:pt x="3582" y="60"/>
                  </a:lnTo>
                  <a:lnTo>
                    <a:pt x="3564" y="54"/>
                  </a:lnTo>
                  <a:lnTo>
                    <a:pt x="3546" y="54"/>
                  </a:lnTo>
                  <a:lnTo>
                    <a:pt x="3534" y="54"/>
                  </a:lnTo>
                  <a:lnTo>
                    <a:pt x="3522" y="60"/>
                  </a:lnTo>
                  <a:lnTo>
                    <a:pt x="3510" y="60"/>
                  </a:lnTo>
                  <a:lnTo>
                    <a:pt x="3498" y="66"/>
                  </a:lnTo>
                  <a:lnTo>
                    <a:pt x="3486" y="66"/>
                  </a:lnTo>
                  <a:lnTo>
                    <a:pt x="3474" y="78"/>
                  </a:lnTo>
                  <a:lnTo>
                    <a:pt x="3462" y="84"/>
                  </a:lnTo>
                  <a:lnTo>
                    <a:pt x="3456" y="84"/>
                  </a:lnTo>
                  <a:lnTo>
                    <a:pt x="3426" y="90"/>
                  </a:lnTo>
                  <a:lnTo>
                    <a:pt x="3336" y="96"/>
                  </a:lnTo>
                  <a:lnTo>
                    <a:pt x="3205" y="108"/>
                  </a:lnTo>
                  <a:lnTo>
                    <a:pt x="3127" y="120"/>
                  </a:lnTo>
                  <a:lnTo>
                    <a:pt x="3049" y="132"/>
                  </a:lnTo>
                  <a:lnTo>
                    <a:pt x="2972" y="144"/>
                  </a:lnTo>
                  <a:lnTo>
                    <a:pt x="2906" y="150"/>
                  </a:lnTo>
                  <a:lnTo>
                    <a:pt x="2870" y="150"/>
                  </a:lnTo>
                  <a:lnTo>
                    <a:pt x="2846" y="150"/>
                  </a:lnTo>
                  <a:lnTo>
                    <a:pt x="2816" y="150"/>
                  </a:lnTo>
                  <a:lnTo>
                    <a:pt x="2792" y="150"/>
                  </a:lnTo>
                  <a:lnTo>
                    <a:pt x="2768" y="144"/>
                  </a:lnTo>
                  <a:lnTo>
                    <a:pt x="2744" y="138"/>
                  </a:lnTo>
                  <a:lnTo>
                    <a:pt x="2727" y="132"/>
                  </a:lnTo>
                  <a:lnTo>
                    <a:pt x="2709" y="126"/>
                  </a:lnTo>
                  <a:lnTo>
                    <a:pt x="2703" y="96"/>
                  </a:lnTo>
                  <a:lnTo>
                    <a:pt x="2703" y="78"/>
                  </a:lnTo>
                  <a:lnTo>
                    <a:pt x="2709" y="42"/>
                  </a:lnTo>
                  <a:lnTo>
                    <a:pt x="2697" y="36"/>
                  </a:lnTo>
                  <a:lnTo>
                    <a:pt x="2673" y="42"/>
                  </a:lnTo>
                  <a:lnTo>
                    <a:pt x="2661" y="60"/>
                  </a:lnTo>
                  <a:lnTo>
                    <a:pt x="2643" y="72"/>
                  </a:lnTo>
                  <a:lnTo>
                    <a:pt x="2619" y="90"/>
                  </a:lnTo>
                  <a:lnTo>
                    <a:pt x="2595" y="102"/>
                  </a:lnTo>
                  <a:lnTo>
                    <a:pt x="2559" y="114"/>
                  </a:lnTo>
                  <a:lnTo>
                    <a:pt x="2541" y="114"/>
                  </a:lnTo>
                  <a:lnTo>
                    <a:pt x="2511" y="120"/>
                  </a:lnTo>
                  <a:lnTo>
                    <a:pt x="2481" y="126"/>
                  </a:lnTo>
                  <a:lnTo>
                    <a:pt x="2446" y="126"/>
                  </a:lnTo>
                  <a:lnTo>
                    <a:pt x="2416" y="132"/>
                  </a:lnTo>
                  <a:lnTo>
                    <a:pt x="2380" y="126"/>
                  </a:lnTo>
                  <a:lnTo>
                    <a:pt x="2350" y="120"/>
                  </a:lnTo>
                  <a:lnTo>
                    <a:pt x="2326" y="108"/>
                  </a:lnTo>
                  <a:lnTo>
                    <a:pt x="2308" y="102"/>
                  </a:lnTo>
                  <a:lnTo>
                    <a:pt x="2296" y="96"/>
                  </a:lnTo>
                  <a:lnTo>
                    <a:pt x="2290" y="90"/>
                  </a:lnTo>
                  <a:lnTo>
                    <a:pt x="2278" y="84"/>
                  </a:lnTo>
                  <a:lnTo>
                    <a:pt x="2272" y="78"/>
                  </a:lnTo>
                  <a:lnTo>
                    <a:pt x="2250" y="57"/>
                  </a:lnTo>
                  <a:lnTo>
                    <a:pt x="2243" y="35"/>
                  </a:lnTo>
                  <a:lnTo>
                    <a:pt x="2228" y="18"/>
                  </a:lnTo>
                  <a:lnTo>
                    <a:pt x="2208" y="18"/>
                  </a:lnTo>
                  <a:lnTo>
                    <a:pt x="2172" y="24"/>
                  </a:lnTo>
                  <a:lnTo>
                    <a:pt x="2151" y="36"/>
                  </a:lnTo>
                  <a:lnTo>
                    <a:pt x="2127" y="51"/>
                  </a:lnTo>
                  <a:lnTo>
                    <a:pt x="2097" y="60"/>
                  </a:lnTo>
                  <a:lnTo>
                    <a:pt x="2073" y="72"/>
                  </a:lnTo>
                  <a:lnTo>
                    <a:pt x="2046" y="87"/>
                  </a:lnTo>
                  <a:lnTo>
                    <a:pt x="2007" y="102"/>
                  </a:lnTo>
                  <a:lnTo>
                    <a:pt x="1977" y="114"/>
                  </a:lnTo>
                  <a:lnTo>
                    <a:pt x="1947" y="120"/>
                  </a:lnTo>
                  <a:lnTo>
                    <a:pt x="1895" y="120"/>
                  </a:lnTo>
                  <a:lnTo>
                    <a:pt x="1794" y="120"/>
                  </a:lnTo>
                  <a:lnTo>
                    <a:pt x="1692" y="120"/>
                  </a:lnTo>
                  <a:lnTo>
                    <a:pt x="1644" y="120"/>
                  </a:lnTo>
                  <a:lnTo>
                    <a:pt x="1602" y="114"/>
                  </a:lnTo>
                  <a:lnTo>
                    <a:pt x="1561" y="108"/>
                  </a:lnTo>
                  <a:lnTo>
                    <a:pt x="1525" y="102"/>
                  </a:lnTo>
                  <a:lnTo>
                    <a:pt x="1507" y="102"/>
                  </a:lnTo>
                  <a:lnTo>
                    <a:pt x="1495" y="96"/>
                  </a:lnTo>
                  <a:lnTo>
                    <a:pt x="1483" y="90"/>
                  </a:lnTo>
                  <a:lnTo>
                    <a:pt x="1477" y="84"/>
                  </a:lnTo>
                  <a:lnTo>
                    <a:pt x="1459" y="78"/>
                  </a:lnTo>
                  <a:lnTo>
                    <a:pt x="1441" y="66"/>
                  </a:lnTo>
                  <a:lnTo>
                    <a:pt x="1429" y="60"/>
                  </a:lnTo>
                  <a:lnTo>
                    <a:pt x="1411" y="60"/>
                  </a:lnTo>
                  <a:lnTo>
                    <a:pt x="1399" y="54"/>
                  </a:lnTo>
                  <a:lnTo>
                    <a:pt x="1387" y="54"/>
                  </a:lnTo>
                  <a:lnTo>
                    <a:pt x="1375" y="54"/>
                  </a:lnTo>
                  <a:lnTo>
                    <a:pt x="1357" y="54"/>
                  </a:lnTo>
                  <a:lnTo>
                    <a:pt x="1345" y="54"/>
                  </a:lnTo>
                  <a:lnTo>
                    <a:pt x="1333" y="60"/>
                  </a:lnTo>
                  <a:lnTo>
                    <a:pt x="1309" y="66"/>
                  </a:lnTo>
                  <a:lnTo>
                    <a:pt x="1262" y="84"/>
                  </a:lnTo>
                  <a:lnTo>
                    <a:pt x="1220" y="102"/>
                  </a:lnTo>
                  <a:lnTo>
                    <a:pt x="1178" y="114"/>
                  </a:lnTo>
                  <a:lnTo>
                    <a:pt x="1142" y="126"/>
                  </a:lnTo>
                  <a:lnTo>
                    <a:pt x="1100" y="138"/>
                  </a:lnTo>
                  <a:lnTo>
                    <a:pt x="1058" y="150"/>
                  </a:lnTo>
                  <a:lnTo>
                    <a:pt x="1016" y="156"/>
                  </a:lnTo>
                  <a:lnTo>
                    <a:pt x="945" y="168"/>
                  </a:lnTo>
                  <a:lnTo>
                    <a:pt x="879" y="174"/>
                  </a:lnTo>
                  <a:lnTo>
                    <a:pt x="819" y="174"/>
                  </a:lnTo>
                  <a:lnTo>
                    <a:pt x="759" y="168"/>
                  </a:lnTo>
                  <a:lnTo>
                    <a:pt x="706" y="162"/>
                  </a:lnTo>
                  <a:lnTo>
                    <a:pt x="652" y="150"/>
                  </a:lnTo>
                  <a:lnTo>
                    <a:pt x="610" y="138"/>
                  </a:lnTo>
                  <a:lnTo>
                    <a:pt x="568" y="126"/>
                  </a:lnTo>
                  <a:lnTo>
                    <a:pt x="532" y="114"/>
                  </a:lnTo>
                  <a:lnTo>
                    <a:pt x="502" y="102"/>
                  </a:lnTo>
                  <a:lnTo>
                    <a:pt x="478" y="90"/>
                  </a:lnTo>
                  <a:lnTo>
                    <a:pt x="460" y="78"/>
                  </a:lnTo>
                  <a:lnTo>
                    <a:pt x="442" y="66"/>
                  </a:lnTo>
                  <a:lnTo>
                    <a:pt x="425" y="54"/>
                  </a:lnTo>
                  <a:lnTo>
                    <a:pt x="407" y="42"/>
                  </a:lnTo>
                  <a:lnTo>
                    <a:pt x="401" y="42"/>
                  </a:lnTo>
                  <a:lnTo>
                    <a:pt x="395" y="42"/>
                  </a:lnTo>
                  <a:lnTo>
                    <a:pt x="389" y="42"/>
                  </a:lnTo>
                  <a:lnTo>
                    <a:pt x="383" y="42"/>
                  </a:lnTo>
                  <a:lnTo>
                    <a:pt x="377" y="48"/>
                  </a:lnTo>
                  <a:lnTo>
                    <a:pt x="371" y="54"/>
                  </a:lnTo>
                  <a:lnTo>
                    <a:pt x="359" y="66"/>
                  </a:lnTo>
                  <a:lnTo>
                    <a:pt x="347" y="78"/>
                  </a:lnTo>
                  <a:lnTo>
                    <a:pt x="341" y="84"/>
                  </a:lnTo>
                  <a:lnTo>
                    <a:pt x="335" y="90"/>
                  </a:lnTo>
                  <a:lnTo>
                    <a:pt x="323" y="102"/>
                  </a:lnTo>
                  <a:lnTo>
                    <a:pt x="305" y="108"/>
                  </a:lnTo>
                  <a:lnTo>
                    <a:pt x="287" y="114"/>
                  </a:lnTo>
                  <a:lnTo>
                    <a:pt x="263" y="120"/>
                  </a:lnTo>
                  <a:lnTo>
                    <a:pt x="239" y="126"/>
                  </a:lnTo>
                  <a:lnTo>
                    <a:pt x="215" y="132"/>
                  </a:lnTo>
                  <a:lnTo>
                    <a:pt x="191" y="132"/>
                  </a:lnTo>
                  <a:lnTo>
                    <a:pt x="167" y="138"/>
                  </a:lnTo>
                  <a:lnTo>
                    <a:pt x="144" y="138"/>
                  </a:lnTo>
                  <a:lnTo>
                    <a:pt x="120" y="138"/>
                  </a:lnTo>
                  <a:lnTo>
                    <a:pt x="90" y="132"/>
                  </a:lnTo>
                  <a:lnTo>
                    <a:pt x="66" y="132"/>
                  </a:lnTo>
                  <a:lnTo>
                    <a:pt x="42" y="126"/>
                  </a:lnTo>
                  <a:lnTo>
                    <a:pt x="24" y="120"/>
                  </a:lnTo>
                  <a:lnTo>
                    <a:pt x="0" y="114"/>
                  </a:lnTo>
                  <a:lnTo>
                    <a:pt x="0" y="96"/>
                  </a:lnTo>
                  <a:lnTo>
                    <a:pt x="24" y="102"/>
                  </a:lnTo>
                  <a:lnTo>
                    <a:pt x="42" y="108"/>
                  </a:lnTo>
                  <a:lnTo>
                    <a:pt x="66" y="114"/>
                  </a:lnTo>
                  <a:lnTo>
                    <a:pt x="90" y="114"/>
                  </a:lnTo>
                  <a:lnTo>
                    <a:pt x="120" y="120"/>
                  </a:lnTo>
                  <a:lnTo>
                    <a:pt x="144" y="120"/>
                  </a:lnTo>
                  <a:lnTo>
                    <a:pt x="167" y="120"/>
                  </a:lnTo>
                  <a:lnTo>
                    <a:pt x="191" y="114"/>
                  </a:lnTo>
                  <a:lnTo>
                    <a:pt x="215" y="114"/>
                  </a:lnTo>
                  <a:lnTo>
                    <a:pt x="239" y="108"/>
                  </a:lnTo>
                  <a:lnTo>
                    <a:pt x="263" y="102"/>
                  </a:lnTo>
                  <a:lnTo>
                    <a:pt x="287" y="96"/>
                  </a:lnTo>
                  <a:lnTo>
                    <a:pt x="305" y="90"/>
                  </a:lnTo>
                  <a:lnTo>
                    <a:pt x="323" y="84"/>
                  </a:lnTo>
                  <a:lnTo>
                    <a:pt x="335" y="72"/>
                  </a:lnTo>
                  <a:lnTo>
                    <a:pt x="341" y="66"/>
                  </a:lnTo>
                  <a:lnTo>
                    <a:pt x="347" y="60"/>
                  </a:lnTo>
                  <a:lnTo>
                    <a:pt x="359" y="48"/>
                  </a:lnTo>
                  <a:lnTo>
                    <a:pt x="371" y="36"/>
                  </a:lnTo>
                  <a:lnTo>
                    <a:pt x="377" y="30"/>
                  </a:lnTo>
                  <a:lnTo>
                    <a:pt x="383" y="24"/>
                  </a:lnTo>
                  <a:lnTo>
                    <a:pt x="389" y="24"/>
                  </a:lnTo>
                  <a:lnTo>
                    <a:pt x="395" y="24"/>
                  </a:lnTo>
                  <a:lnTo>
                    <a:pt x="401" y="24"/>
                  </a:lnTo>
                  <a:lnTo>
                    <a:pt x="407" y="24"/>
                  </a:lnTo>
                  <a:lnTo>
                    <a:pt x="425" y="36"/>
                  </a:lnTo>
                  <a:lnTo>
                    <a:pt x="442" y="48"/>
                  </a:lnTo>
                  <a:lnTo>
                    <a:pt x="460" y="60"/>
                  </a:lnTo>
                  <a:lnTo>
                    <a:pt x="478" y="72"/>
                  </a:lnTo>
                  <a:lnTo>
                    <a:pt x="502" y="84"/>
                  </a:lnTo>
                  <a:lnTo>
                    <a:pt x="532" y="96"/>
                  </a:lnTo>
                  <a:lnTo>
                    <a:pt x="568" y="108"/>
                  </a:lnTo>
                  <a:lnTo>
                    <a:pt x="610" y="120"/>
                  </a:lnTo>
                  <a:lnTo>
                    <a:pt x="652" y="132"/>
                  </a:lnTo>
                  <a:lnTo>
                    <a:pt x="706" y="144"/>
                  </a:lnTo>
                  <a:lnTo>
                    <a:pt x="759" y="150"/>
                  </a:lnTo>
                  <a:lnTo>
                    <a:pt x="819" y="156"/>
                  </a:lnTo>
                  <a:lnTo>
                    <a:pt x="879" y="156"/>
                  </a:lnTo>
                  <a:lnTo>
                    <a:pt x="945" y="150"/>
                  </a:lnTo>
                  <a:lnTo>
                    <a:pt x="1016" y="138"/>
                  </a:lnTo>
                  <a:lnTo>
                    <a:pt x="1058" y="132"/>
                  </a:lnTo>
                  <a:lnTo>
                    <a:pt x="1100" y="120"/>
                  </a:lnTo>
                  <a:lnTo>
                    <a:pt x="1142" y="108"/>
                  </a:lnTo>
                  <a:lnTo>
                    <a:pt x="1178" y="96"/>
                  </a:lnTo>
                  <a:lnTo>
                    <a:pt x="1220" y="84"/>
                  </a:lnTo>
                  <a:lnTo>
                    <a:pt x="1262" y="66"/>
                  </a:lnTo>
                  <a:lnTo>
                    <a:pt x="1309" y="48"/>
                  </a:lnTo>
                  <a:lnTo>
                    <a:pt x="1333" y="42"/>
                  </a:lnTo>
                  <a:lnTo>
                    <a:pt x="1345" y="36"/>
                  </a:lnTo>
                  <a:lnTo>
                    <a:pt x="1357" y="36"/>
                  </a:lnTo>
                  <a:lnTo>
                    <a:pt x="1375" y="36"/>
                  </a:lnTo>
                  <a:lnTo>
                    <a:pt x="1387" y="36"/>
                  </a:lnTo>
                  <a:lnTo>
                    <a:pt x="1399" y="36"/>
                  </a:lnTo>
                  <a:lnTo>
                    <a:pt x="1411" y="42"/>
                  </a:lnTo>
                  <a:lnTo>
                    <a:pt x="1429" y="42"/>
                  </a:lnTo>
                  <a:lnTo>
                    <a:pt x="1441" y="48"/>
                  </a:lnTo>
                  <a:lnTo>
                    <a:pt x="1459" y="60"/>
                  </a:lnTo>
                  <a:lnTo>
                    <a:pt x="1477" y="66"/>
                  </a:lnTo>
                  <a:lnTo>
                    <a:pt x="1483" y="72"/>
                  </a:lnTo>
                  <a:lnTo>
                    <a:pt x="1495" y="78"/>
                  </a:lnTo>
                  <a:lnTo>
                    <a:pt x="1507" y="84"/>
                  </a:lnTo>
                  <a:lnTo>
                    <a:pt x="1525" y="84"/>
                  </a:lnTo>
                  <a:lnTo>
                    <a:pt x="1561" y="90"/>
                  </a:lnTo>
                  <a:lnTo>
                    <a:pt x="1602" y="96"/>
                  </a:lnTo>
                  <a:lnTo>
                    <a:pt x="1644" y="102"/>
                  </a:lnTo>
                  <a:lnTo>
                    <a:pt x="1692" y="102"/>
                  </a:lnTo>
                  <a:lnTo>
                    <a:pt x="1794" y="102"/>
                  </a:lnTo>
                  <a:lnTo>
                    <a:pt x="1895" y="102"/>
                  </a:lnTo>
                  <a:lnTo>
                    <a:pt x="1938" y="102"/>
                  </a:lnTo>
                  <a:lnTo>
                    <a:pt x="1971" y="96"/>
                  </a:lnTo>
                  <a:lnTo>
                    <a:pt x="2019" y="77"/>
                  </a:lnTo>
                  <a:lnTo>
                    <a:pt x="2063" y="57"/>
                  </a:lnTo>
                  <a:lnTo>
                    <a:pt x="2111" y="38"/>
                  </a:lnTo>
                  <a:lnTo>
                    <a:pt x="2145" y="18"/>
                  </a:lnTo>
                  <a:lnTo>
                    <a:pt x="2172" y="9"/>
                  </a:lnTo>
                  <a:lnTo>
                    <a:pt x="2202" y="0"/>
                  </a:lnTo>
                  <a:lnTo>
                    <a:pt x="2235" y="3"/>
                  </a:lnTo>
                  <a:lnTo>
                    <a:pt x="2250" y="24"/>
                  </a:lnTo>
                  <a:lnTo>
                    <a:pt x="2262" y="51"/>
                  </a:lnTo>
                  <a:lnTo>
                    <a:pt x="2290" y="72"/>
                  </a:lnTo>
                  <a:lnTo>
                    <a:pt x="2296" y="78"/>
                  </a:lnTo>
                  <a:lnTo>
                    <a:pt x="2308" y="84"/>
                  </a:lnTo>
                  <a:lnTo>
                    <a:pt x="2326" y="90"/>
                  </a:lnTo>
                  <a:lnTo>
                    <a:pt x="2350" y="102"/>
                  </a:lnTo>
                  <a:lnTo>
                    <a:pt x="2380" y="108"/>
                  </a:lnTo>
                  <a:lnTo>
                    <a:pt x="2416" y="114"/>
                  </a:lnTo>
                  <a:lnTo>
                    <a:pt x="2446" y="108"/>
                  </a:lnTo>
                  <a:lnTo>
                    <a:pt x="2481" y="108"/>
                  </a:lnTo>
                  <a:lnTo>
                    <a:pt x="2511" y="102"/>
                  </a:lnTo>
                  <a:lnTo>
                    <a:pt x="2541" y="96"/>
                  </a:lnTo>
                  <a:lnTo>
                    <a:pt x="2559" y="96"/>
                  </a:lnTo>
                  <a:lnTo>
                    <a:pt x="2595" y="84"/>
                  </a:lnTo>
                  <a:lnTo>
                    <a:pt x="2619" y="72"/>
                  </a:lnTo>
                  <a:lnTo>
                    <a:pt x="2643" y="54"/>
                  </a:lnTo>
                  <a:lnTo>
                    <a:pt x="2661" y="42"/>
                  </a:lnTo>
                  <a:lnTo>
                    <a:pt x="2673" y="24"/>
                  </a:lnTo>
                  <a:lnTo>
                    <a:pt x="2697" y="18"/>
                  </a:lnTo>
                  <a:lnTo>
                    <a:pt x="2715" y="24"/>
                  </a:lnTo>
                  <a:lnTo>
                    <a:pt x="2715" y="48"/>
                  </a:lnTo>
                  <a:lnTo>
                    <a:pt x="2709" y="78"/>
                  </a:lnTo>
                  <a:lnTo>
                    <a:pt x="2709" y="108"/>
                  </a:lnTo>
                  <a:lnTo>
                    <a:pt x="2727" y="114"/>
                  </a:lnTo>
                  <a:lnTo>
                    <a:pt x="2744" y="120"/>
                  </a:lnTo>
                  <a:lnTo>
                    <a:pt x="2768" y="126"/>
                  </a:lnTo>
                  <a:lnTo>
                    <a:pt x="2792" y="132"/>
                  </a:lnTo>
                  <a:lnTo>
                    <a:pt x="2816" y="132"/>
                  </a:lnTo>
                  <a:lnTo>
                    <a:pt x="2846" y="132"/>
                  </a:lnTo>
                  <a:lnTo>
                    <a:pt x="2870" y="132"/>
                  </a:lnTo>
                  <a:lnTo>
                    <a:pt x="2906" y="132"/>
                  </a:lnTo>
                  <a:lnTo>
                    <a:pt x="2972" y="126"/>
                  </a:lnTo>
                  <a:lnTo>
                    <a:pt x="3049" y="114"/>
                  </a:lnTo>
                  <a:lnTo>
                    <a:pt x="3127" y="102"/>
                  </a:lnTo>
                  <a:lnTo>
                    <a:pt x="3205" y="90"/>
                  </a:lnTo>
                  <a:lnTo>
                    <a:pt x="3336" y="78"/>
                  </a:lnTo>
                  <a:lnTo>
                    <a:pt x="3426" y="72"/>
                  </a:lnTo>
                  <a:lnTo>
                    <a:pt x="3456" y="66"/>
                  </a:lnTo>
                  <a:lnTo>
                    <a:pt x="3462" y="66"/>
                  </a:lnTo>
                  <a:lnTo>
                    <a:pt x="3474" y="60"/>
                  </a:lnTo>
                  <a:lnTo>
                    <a:pt x="3486" y="48"/>
                  </a:lnTo>
                  <a:lnTo>
                    <a:pt x="3498" y="48"/>
                  </a:lnTo>
                  <a:lnTo>
                    <a:pt x="3510" y="42"/>
                  </a:lnTo>
                  <a:lnTo>
                    <a:pt x="3522" y="42"/>
                  </a:lnTo>
                  <a:lnTo>
                    <a:pt x="3534" y="36"/>
                  </a:lnTo>
                  <a:lnTo>
                    <a:pt x="3546" y="36"/>
                  </a:lnTo>
                  <a:lnTo>
                    <a:pt x="3564" y="36"/>
                  </a:lnTo>
                  <a:lnTo>
                    <a:pt x="3582" y="42"/>
                  </a:lnTo>
                  <a:lnTo>
                    <a:pt x="3600" y="42"/>
                  </a:lnTo>
                  <a:lnTo>
                    <a:pt x="3617" y="54"/>
                  </a:lnTo>
                  <a:lnTo>
                    <a:pt x="3635" y="60"/>
                  </a:lnTo>
                  <a:lnTo>
                    <a:pt x="3647" y="66"/>
                  </a:lnTo>
                  <a:lnTo>
                    <a:pt x="3659" y="72"/>
                  </a:lnTo>
                  <a:lnTo>
                    <a:pt x="3689" y="78"/>
                  </a:lnTo>
                  <a:lnTo>
                    <a:pt x="3731" y="90"/>
                  </a:lnTo>
                  <a:lnTo>
                    <a:pt x="3767" y="96"/>
                  </a:lnTo>
                  <a:lnTo>
                    <a:pt x="3815" y="102"/>
                  </a:lnTo>
                  <a:lnTo>
                    <a:pt x="3863" y="102"/>
                  </a:lnTo>
                  <a:lnTo>
                    <a:pt x="3916" y="102"/>
                  </a:lnTo>
                  <a:lnTo>
                    <a:pt x="3970" y="102"/>
                  </a:lnTo>
                  <a:lnTo>
                    <a:pt x="4024" y="102"/>
                  </a:lnTo>
                  <a:lnTo>
                    <a:pt x="4078" y="102"/>
                  </a:lnTo>
                  <a:lnTo>
                    <a:pt x="4132" y="96"/>
                  </a:lnTo>
                  <a:lnTo>
                    <a:pt x="4186" y="90"/>
                  </a:lnTo>
                  <a:lnTo>
                    <a:pt x="4239" y="78"/>
                  </a:lnTo>
                  <a:lnTo>
                    <a:pt x="4287" y="72"/>
                  </a:lnTo>
                  <a:lnTo>
                    <a:pt x="4341" y="54"/>
                  </a:lnTo>
                  <a:lnTo>
                    <a:pt x="4383" y="42"/>
                  </a:lnTo>
                  <a:lnTo>
                    <a:pt x="4419" y="30"/>
                  </a:lnTo>
                  <a:lnTo>
                    <a:pt x="4449" y="18"/>
                  </a:lnTo>
                  <a:lnTo>
                    <a:pt x="4478" y="12"/>
                  </a:lnTo>
                  <a:lnTo>
                    <a:pt x="4502" y="6"/>
                  </a:lnTo>
                  <a:lnTo>
                    <a:pt x="4526" y="0"/>
                  </a:lnTo>
                  <a:lnTo>
                    <a:pt x="4544" y="0"/>
                  </a:lnTo>
                  <a:lnTo>
                    <a:pt x="4562" y="0"/>
                  </a:lnTo>
                  <a:lnTo>
                    <a:pt x="4574" y="6"/>
                  </a:lnTo>
                  <a:lnTo>
                    <a:pt x="4586" y="12"/>
                  </a:lnTo>
                  <a:lnTo>
                    <a:pt x="4598" y="18"/>
                  </a:lnTo>
                  <a:lnTo>
                    <a:pt x="4604" y="24"/>
                  </a:lnTo>
                  <a:lnTo>
                    <a:pt x="4610" y="30"/>
                  </a:lnTo>
                  <a:lnTo>
                    <a:pt x="4616" y="36"/>
                  </a:lnTo>
                  <a:lnTo>
                    <a:pt x="4622" y="48"/>
                  </a:lnTo>
                  <a:lnTo>
                    <a:pt x="4628" y="60"/>
                  </a:lnTo>
                  <a:lnTo>
                    <a:pt x="4634" y="66"/>
                  </a:lnTo>
                  <a:lnTo>
                    <a:pt x="4640" y="78"/>
                  </a:lnTo>
                  <a:lnTo>
                    <a:pt x="4652" y="84"/>
                  </a:lnTo>
                  <a:lnTo>
                    <a:pt x="4670" y="90"/>
                  </a:lnTo>
                  <a:lnTo>
                    <a:pt x="4682" y="96"/>
                  </a:lnTo>
                  <a:lnTo>
                    <a:pt x="4706" y="102"/>
                  </a:lnTo>
                  <a:lnTo>
                    <a:pt x="4724" y="108"/>
                  </a:lnTo>
                  <a:lnTo>
                    <a:pt x="4748" y="114"/>
                  </a:lnTo>
                  <a:lnTo>
                    <a:pt x="4771" y="114"/>
                  </a:lnTo>
                  <a:lnTo>
                    <a:pt x="4801" y="114"/>
                  </a:lnTo>
                  <a:lnTo>
                    <a:pt x="4831" y="108"/>
                  </a:lnTo>
                  <a:lnTo>
                    <a:pt x="4861" y="102"/>
                  </a:lnTo>
                  <a:lnTo>
                    <a:pt x="4891" y="96"/>
                  </a:lnTo>
                  <a:lnTo>
                    <a:pt x="4927" y="84"/>
                  </a:lnTo>
                  <a:lnTo>
                    <a:pt x="4957" y="66"/>
                  </a:lnTo>
                  <a:lnTo>
                    <a:pt x="4993" y="48"/>
                  </a:lnTo>
                  <a:lnTo>
                    <a:pt x="5017" y="36"/>
                  </a:lnTo>
                  <a:lnTo>
                    <a:pt x="5029" y="30"/>
                  </a:lnTo>
                  <a:lnTo>
                    <a:pt x="5061" y="24"/>
                  </a:lnTo>
                  <a:lnTo>
                    <a:pt x="5091" y="17"/>
                  </a:lnTo>
                  <a:lnTo>
                    <a:pt x="5118" y="14"/>
                  </a:lnTo>
                  <a:lnTo>
                    <a:pt x="5145" y="9"/>
                  </a:lnTo>
                  <a:lnTo>
                    <a:pt x="5175" y="9"/>
                  </a:lnTo>
                  <a:lnTo>
                    <a:pt x="5199" y="8"/>
                  </a:lnTo>
                  <a:lnTo>
                    <a:pt x="5219" y="9"/>
                  </a:lnTo>
                  <a:lnTo>
                    <a:pt x="5238" y="9"/>
                  </a:lnTo>
                  <a:lnTo>
                    <a:pt x="5258" y="11"/>
                  </a:lnTo>
                  <a:lnTo>
                    <a:pt x="5280" y="9"/>
                  </a:lnTo>
                  <a:lnTo>
                    <a:pt x="5304" y="11"/>
                  </a:lnTo>
                  <a:lnTo>
                    <a:pt x="5327" y="8"/>
                  </a:lnTo>
                  <a:lnTo>
                    <a:pt x="5351" y="8"/>
                  </a:lnTo>
                  <a:lnTo>
                    <a:pt x="5390" y="9"/>
                  </a:lnTo>
                  <a:lnTo>
                    <a:pt x="5435" y="24"/>
                  </a:lnTo>
                  <a:lnTo>
                    <a:pt x="5447" y="30"/>
                  </a:lnTo>
                  <a:lnTo>
                    <a:pt x="5453" y="36"/>
                  </a:lnTo>
                  <a:lnTo>
                    <a:pt x="5453" y="42"/>
                  </a:lnTo>
                  <a:lnTo>
                    <a:pt x="5459" y="48"/>
                  </a:lnTo>
                  <a:lnTo>
                    <a:pt x="5459" y="54"/>
                  </a:lnTo>
                  <a:lnTo>
                    <a:pt x="5459" y="60"/>
                  </a:lnTo>
                  <a:lnTo>
                    <a:pt x="5459" y="66"/>
                  </a:lnTo>
                  <a:lnTo>
                    <a:pt x="5465" y="66"/>
                  </a:lnTo>
                  <a:lnTo>
                    <a:pt x="5465" y="72"/>
                  </a:lnTo>
                  <a:lnTo>
                    <a:pt x="5477" y="72"/>
                  </a:lnTo>
                  <a:lnTo>
                    <a:pt x="5489" y="78"/>
                  </a:lnTo>
                  <a:lnTo>
                    <a:pt x="5501" y="84"/>
                  </a:lnTo>
                  <a:lnTo>
                    <a:pt x="5519" y="84"/>
                  </a:lnTo>
                  <a:lnTo>
                    <a:pt x="5555" y="90"/>
                  </a:lnTo>
                  <a:lnTo>
                    <a:pt x="5603" y="90"/>
                  </a:lnTo>
                  <a:lnTo>
                    <a:pt x="5656" y="90"/>
                  </a:lnTo>
                  <a:lnTo>
                    <a:pt x="5710" y="84"/>
                  </a:lnTo>
                  <a:lnTo>
                    <a:pt x="5740" y="78"/>
                  </a:lnTo>
                  <a:lnTo>
                    <a:pt x="5770" y="72"/>
                  </a:lnTo>
                  <a:lnTo>
                    <a:pt x="5770" y="90"/>
                  </a:lnTo>
                  <a:lnTo>
                    <a:pt x="5770" y="90"/>
                  </a:lnTo>
                  <a:lnTo>
                    <a:pt x="5740" y="96"/>
                  </a:lnTo>
                  <a:lnTo>
                    <a:pt x="5710" y="102"/>
                  </a:lnTo>
                  <a:lnTo>
                    <a:pt x="5656" y="108"/>
                  </a:lnTo>
                  <a:lnTo>
                    <a:pt x="5603" y="108"/>
                  </a:lnTo>
                  <a:lnTo>
                    <a:pt x="5555" y="108"/>
                  </a:lnTo>
                  <a:lnTo>
                    <a:pt x="5519" y="102"/>
                  </a:lnTo>
                  <a:lnTo>
                    <a:pt x="5501" y="102"/>
                  </a:lnTo>
                  <a:lnTo>
                    <a:pt x="5489" y="96"/>
                  </a:lnTo>
                  <a:lnTo>
                    <a:pt x="5477" y="90"/>
                  </a:lnTo>
                  <a:lnTo>
                    <a:pt x="5465" y="90"/>
                  </a:lnTo>
                  <a:lnTo>
                    <a:pt x="5465" y="84"/>
                  </a:lnTo>
                  <a:lnTo>
                    <a:pt x="5459" y="84"/>
                  </a:lnTo>
                  <a:lnTo>
                    <a:pt x="5459" y="78"/>
                  </a:lnTo>
                  <a:lnTo>
                    <a:pt x="5459" y="72"/>
                  </a:lnTo>
                  <a:lnTo>
                    <a:pt x="5459" y="66"/>
                  </a:lnTo>
                  <a:lnTo>
                    <a:pt x="5453" y="60"/>
                  </a:lnTo>
                  <a:lnTo>
                    <a:pt x="5453" y="54"/>
                  </a:lnTo>
                  <a:lnTo>
                    <a:pt x="5447" y="48"/>
                  </a:lnTo>
                  <a:lnTo>
                    <a:pt x="5435" y="42"/>
                  </a:lnTo>
                  <a:lnTo>
                    <a:pt x="5429" y="36"/>
                  </a:lnTo>
                  <a:lnTo>
                    <a:pt x="5423" y="36"/>
                  </a:lnTo>
                  <a:lnTo>
                    <a:pt x="5405" y="30"/>
                  </a:lnTo>
                  <a:lnTo>
                    <a:pt x="5393" y="30"/>
                  </a:lnTo>
                  <a:lnTo>
                    <a:pt x="5370" y="23"/>
                  </a:lnTo>
                  <a:lnTo>
                    <a:pt x="5346" y="24"/>
                  </a:lnTo>
                  <a:lnTo>
                    <a:pt x="5325" y="27"/>
                  </a:lnTo>
                  <a:lnTo>
                    <a:pt x="5298" y="29"/>
                  </a:lnTo>
                  <a:lnTo>
                    <a:pt x="5270" y="29"/>
                  </a:lnTo>
                  <a:lnTo>
                    <a:pt x="5247" y="26"/>
                  </a:lnTo>
                  <a:lnTo>
                    <a:pt x="5219" y="24"/>
                  </a:lnTo>
                  <a:lnTo>
                    <a:pt x="5199" y="21"/>
                  </a:lnTo>
                  <a:lnTo>
                    <a:pt x="5174" y="24"/>
                  </a:lnTo>
                </a:path>
              </a:pathLst>
            </a:custGeom>
            <a:gradFill rotWithShape="0">
              <a:gsLst>
                <a:gs pos="0">
                  <a:schemeClr val="accent2"/>
                </a:gs>
                <a:gs pos="50000">
                  <a:schemeClr val="accent2">
                    <a:gamma/>
                    <a:tint val="96863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fr-FR"/>
            </a:p>
          </p:txBody>
        </p:sp>
      </p:grpSp>
      <p:sp>
        <p:nvSpPr>
          <p:cNvPr id="19480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pour modifier le style du titre</a:t>
            </a:r>
          </a:p>
        </p:txBody>
      </p:sp>
      <p:sp>
        <p:nvSpPr>
          <p:cNvPr id="19481" name="Rectangle 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</a:p>
        </p:txBody>
      </p:sp>
      <p:sp>
        <p:nvSpPr>
          <p:cNvPr id="19482" name="Rectangle 2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9483" name="Rectangle 2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D476A669-ACDC-4F52-93E5-3589CD423CE6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19484" name="Rectangle 2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endParaRPr lang="fr-FR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903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l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l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l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reaps33@gmail.co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1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4.jpeg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.bin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e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2329330" y="1090008"/>
            <a:ext cx="4384534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fr-FR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SPORT et </a:t>
            </a:r>
            <a:r>
              <a:rPr lang="fr-FR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SANTE</a:t>
            </a:r>
            <a:endParaRPr lang="fr-FR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itchFamily="18" charset="0"/>
            </a:endParaRPr>
          </a:p>
          <a:p>
            <a:pPr algn="ctr">
              <a:defRPr/>
            </a:pPr>
            <a:r>
              <a:rPr lang="fr-FR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ou</a:t>
            </a:r>
            <a:endParaRPr lang="fr-FR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itchFamily="18" charset="0"/>
            </a:endParaRPr>
          </a:p>
          <a:p>
            <a:pPr algn="ctr">
              <a:defRPr/>
            </a:pPr>
            <a:r>
              <a:rPr lang="fr-FR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SANTE ET SPORT ?</a:t>
            </a:r>
          </a:p>
        </p:txBody>
      </p:sp>
      <p:sp>
        <p:nvSpPr>
          <p:cNvPr id="5123" name="ZoneTexte 4"/>
          <p:cNvSpPr txBox="1">
            <a:spLocks noChangeArrowheads="1"/>
          </p:cNvSpPr>
          <p:nvPr/>
        </p:nvSpPr>
        <p:spPr bwMode="auto">
          <a:xfrm>
            <a:off x="2935485" y="3400423"/>
            <a:ext cx="2486025" cy="89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Georges CAZORLA</a:t>
            </a:r>
          </a:p>
          <a:p>
            <a:pPr algn="ctr"/>
            <a:endParaRPr lang="fr-FR" dirty="0">
              <a:solidFill>
                <a:schemeClr val="bg1"/>
              </a:solidFill>
            </a:endParaRPr>
          </a:p>
          <a:p>
            <a:pPr algn="ctr"/>
            <a:r>
              <a:rPr lang="fr-FR" sz="1600" dirty="0">
                <a:solidFill>
                  <a:schemeClr val="bg1"/>
                </a:solidFill>
              </a:rPr>
              <a:t>Université de Bordeaux 2</a:t>
            </a:r>
          </a:p>
        </p:txBody>
      </p:sp>
      <p:sp>
        <p:nvSpPr>
          <p:cNvPr id="5124" name="ZoneTexte 5"/>
          <p:cNvSpPr txBox="1">
            <a:spLocks noChangeArrowheads="1"/>
          </p:cNvSpPr>
          <p:nvPr/>
        </p:nvSpPr>
        <p:spPr bwMode="auto">
          <a:xfrm>
            <a:off x="1785938" y="285750"/>
            <a:ext cx="58737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i="1">
                <a:solidFill>
                  <a:schemeClr val="bg1"/>
                </a:solidFill>
              </a:rPr>
              <a:t>3</a:t>
            </a:r>
            <a:r>
              <a:rPr lang="fr-FR" i="1" baseline="30000">
                <a:solidFill>
                  <a:schemeClr val="bg1"/>
                </a:solidFill>
              </a:rPr>
              <a:t>ème</a:t>
            </a:r>
            <a:r>
              <a:rPr lang="fr-FR" i="1">
                <a:solidFill>
                  <a:schemeClr val="bg1"/>
                </a:solidFill>
              </a:rPr>
              <a:t> Colloque Recherche en Pays de la Loire : IFEPSA </a:t>
            </a:r>
          </a:p>
        </p:txBody>
      </p:sp>
      <p:pic>
        <p:nvPicPr>
          <p:cNvPr id="5" name="Imag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63" r="74960" b="63425"/>
          <a:stretch>
            <a:fillRect/>
          </a:stretch>
        </p:blipFill>
        <p:spPr bwMode="auto">
          <a:xfrm>
            <a:off x="3235151" y="4771231"/>
            <a:ext cx="2176462" cy="833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87226" y="5733256"/>
            <a:ext cx="7607300" cy="64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ctr" eaLnBrk="1" hangingPunct="1">
              <a:tabLst>
                <a:tab pos="5311775" algn="l"/>
              </a:tabLst>
            </a:pPr>
            <a:r>
              <a:rPr lang="fr-FR" sz="1800" b="1" i="1" dirty="0">
                <a:solidFill>
                  <a:srgbClr val="FFFF00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Association pour la Recherche et l’Évaluation en Activité Physique et en Sport </a:t>
            </a:r>
          </a:p>
          <a:p>
            <a:pPr algn="ctr" eaLnBrk="1" hangingPunct="1">
              <a:tabLst>
                <a:tab pos="5311775" algn="l"/>
              </a:tabLst>
            </a:pPr>
            <a:r>
              <a:rPr lang="fr-FR" sz="1800" b="1" i="1" dirty="0">
                <a:solidFill>
                  <a:srgbClr val="FFFF00"/>
                </a:solidFill>
                <a:latin typeface="Calibri" pitchFamily="34" charset="0"/>
                <a:ea typeface="Times New Roman" pitchFamily="18" charset="0"/>
                <a:cs typeface="Calibri" pitchFamily="34" charset="0"/>
                <a:hlinkClick r:id="rId3"/>
              </a:rPr>
              <a:t>areaps33@gmail.com</a:t>
            </a:r>
            <a:r>
              <a:rPr lang="fr-FR" sz="1800" b="1" i="1" dirty="0">
                <a:solidFill>
                  <a:srgbClr val="FFFF00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    Web : areaps.org </a:t>
            </a:r>
            <a:endParaRPr lang="fr-FR" sz="1800" dirty="0">
              <a:solidFill>
                <a:srgbClr val="FFFF00"/>
              </a:solidFill>
              <a:latin typeface="Arial" charset="0"/>
              <a:ea typeface="Times New Roman" pitchFamily="18" charset="0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990600"/>
            <a:ext cx="8915400" cy="1143000"/>
          </a:xfrm>
        </p:spPr>
        <p:txBody>
          <a:bodyPr lIns="92075" tIns="46038" rIns="92075" bIns="46038"/>
          <a:lstStyle/>
          <a:p>
            <a:pPr eaLnBrk="1" hangingPunct="1"/>
            <a:r>
              <a:rPr lang="fr-FR" smtClean="0">
                <a:solidFill>
                  <a:schemeClr val="tx1"/>
                </a:solidFill>
              </a:rPr>
              <a:t>LA SANTE</a:t>
            </a:r>
            <a:endParaRPr lang="fr-FR" sz="400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971800"/>
            <a:ext cx="7772400" cy="4114800"/>
          </a:xfrm>
        </p:spPr>
        <p:txBody>
          <a:bodyPr lIns="92075" tIns="46038" rIns="92075" bIns="46038"/>
          <a:lstStyle/>
          <a:p>
            <a:pPr algn="ctr" eaLnBrk="1" hangingPunct="1">
              <a:buFontTx/>
              <a:buNone/>
            </a:pPr>
            <a:r>
              <a:rPr lang="fr-FR" smtClean="0"/>
              <a:t>Selon l’Organisation Mondiale de la Santé,</a:t>
            </a:r>
          </a:p>
          <a:p>
            <a:pPr algn="ctr" eaLnBrk="1" hangingPunct="1">
              <a:buFontTx/>
              <a:buNone/>
            </a:pPr>
            <a:endParaRPr lang="fr-FR" smtClean="0"/>
          </a:p>
          <a:p>
            <a:pPr algn="ctr" eaLnBrk="1" hangingPunct="1">
              <a:buFontTx/>
              <a:buNone/>
            </a:pPr>
            <a:r>
              <a:rPr lang="fr-FR" smtClean="0"/>
              <a:t>« la santé est un état de bien-être mental, physique et social »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2044700" y="285750"/>
            <a:ext cx="4956175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2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Quelques définitions et réflexions…</a:t>
            </a: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  <p:transition spd="slow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1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build="p" autoUpdateAnimBg="0" advAuto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ZoneTexte 3"/>
          <p:cNvSpPr txBox="1">
            <a:spLocks noChangeArrowheads="1"/>
          </p:cNvSpPr>
          <p:nvPr/>
        </p:nvSpPr>
        <p:spPr bwMode="auto">
          <a:xfrm>
            <a:off x="-36513" y="1214438"/>
            <a:ext cx="9180513" cy="421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sz="4400">
                <a:solidFill>
                  <a:schemeClr val="bg1"/>
                </a:solidFill>
              </a:rPr>
              <a:t>LE SPORT</a:t>
            </a:r>
          </a:p>
          <a:p>
            <a:pPr algn="ctr"/>
            <a:endParaRPr lang="fr-FR" sz="4000">
              <a:solidFill>
                <a:schemeClr val="bg1"/>
              </a:solidFill>
            </a:endParaRPr>
          </a:p>
          <a:p>
            <a:pPr algn="ctr"/>
            <a:endParaRPr lang="fr-FR" sz="2400">
              <a:solidFill>
                <a:schemeClr val="bg1"/>
              </a:solidFill>
            </a:endParaRPr>
          </a:p>
          <a:p>
            <a:pPr algn="ctr"/>
            <a:r>
              <a:rPr lang="fr-FR" sz="3200">
                <a:solidFill>
                  <a:schemeClr val="bg1"/>
                </a:solidFill>
              </a:rPr>
              <a:t>Activité organisée et codifiée pour </a:t>
            </a:r>
          </a:p>
          <a:p>
            <a:pPr algn="ctr"/>
            <a:endParaRPr lang="fr-FR" sz="3200">
              <a:solidFill>
                <a:schemeClr val="bg1"/>
              </a:solidFill>
            </a:endParaRPr>
          </a:p>
          <a:p>
            <a:pPr algn="ctr"/>
            <a:r>
              <a:rPr lang="fr-FR" sz="3200">
                <a:solidFill>
                  <a:schemeClr val="bg1"/>
                </a:solidFill>
              </a:rPr>
              <a:t>réaliser une</a:t>
            </a:r>
          </a:p>
          <a:p>
            <a:pPr algn="ctr"/>
            <a:endParaRPr lang="fr-FR" sz="3200">
              <a:solidFill>
                <a:schemeClr val="bg1"/>
              </a:solidFill>
            </a:endParaRPr>
          </a:p>
          <a:p>
            <a:pPr algn="ctr"/>
            <a:r>
              <a:rPr lang="fr-FR" sz="3200" b="1">
                <a:solidFill>
                  <a:srgbClr val="FFFF00"/>
                </a:solidFill>
              </a:rPr>
              <a:t> performance </a:t>
            </a:r>
            <a:r>
              <a:rPr lang="fr-FR" sz="3200">
                <a:solidFill>
                  <a:schemeClr val="bg1"/>
                </a:solidFill>
              </a:rPr>
              <a:t>individuelle ou collective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2044700" y="285750"/>
            <a:ext cx="4956175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2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Quelques définitions et réflexions…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>
            <a:spLocks noChangeArrowheads="1"/>
          </p:cNvSpPr>
          <p:nvPr/>
        </p:nvSpPr>
        <p:spPr bwMode="auto">
          <a:xfrm>
            <a:off x="71438" y="428625"/>
            <a:ext cx="9239250" cy="5940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Char char="-"/>
            </a:pPr>
            <a:r>
              <a:rPr lang="fr-FR" sz="2000">
                <a:solidFill>
                  <a:schemeClr val="bg1"/>
                </a:solidFill>
              </a:rPr>
              <a:t> Le sport , comme la recherche de la santé, utilise l’activité physique pour </a:t>
            </a:r>
          </a:p>
          <a:p>
            <a:r>
              <a:rPr lang="fr-FR" sz="2000">
                <a:solidFill>
                  <a:schemeClr val="bg1"/>
                </a:solidFill>
              </a:rPr>
              <a:t>optimiser le niveau de condition physique,</a:t>
            </a:r>
          </a:p>
          <a:p>
            <a:endParaRPr lang="fr-FR" sz="2000">
              <a:solidFill>
                <a:schemeClr val="bg1"/>
              </a:solidFill>
            </a:endParaRPr>
          </a:p>
          <a:p>
            <a:endParaRPr lang="fr-FR" sz="2000">
              <a:solidFill>
                <a:schemeClr val="bg1"/>
              </a:solidFill>
            </a:endParaRPr>
          </a:p>
          <a:p>
            <a:r>
              <a:rPr lang="fr-FR" sz="2000">
                <a:solidFill>
                  <a:schemeClr val="bg1"/>
                </a:solidFill>
              </a:rPr>
              <a:t>- Dans le cas du sport, le meilleur niveau de condition physique spécifique est </a:t>
            </a:r>
          </a:p>
          <a:p>
            <a:r>
              <a:rPr lang="fr-FR" sz="2000">
                <a:solidFill>
                  <a:schemeClr val="bg1"/>
                </a:solidFill>
              </a:rPr>
              <a:t>recherché </a:t>
            </a:r>
            <a:r>
              <a:rPr lang="fr-FR" sz="2000" b="1">
                <a:solidFill>
                  <a:srgbClr val="FFFF00"/>
                </a:solidFill>
              </a:rPr>
              <a:t>pour améliorer la performance</a:t>
            </a:r>
          </a:p>
          <a:p>
            <a:endParaRPr lang="fr-FR" sz="2000" b="1">
              <a:solidFill>
                <a:srgbClr val="FFFF00"/>
              </a:solidFill>
            </a:endParaRPr>
          </a:p>
          <a:p>
            <a:endParaRPr lang="fr-FR" sz="200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fr-FR" sz="2000">
                <a:solidFill>
                  <a:schemeClr val="bg1"/>
                </a:solidFill>
              </a:rPr>
              <a:t>Dans le cas de la santé, la condition physique est développée pour obtenir</a:t>
            </a:r>
          </a:p>
          <a:p>
            <a:r>
              <a:rPr lang="fr-FR" sz="2000" b="1">
                <a:solidFill>
                  <a:srgbClr val="FFFF00"/>
                </a:solidFill>
              </a:rPr>
              <a:t>cet état de bien-être mental </a:t>
            </a:r>
            <a:r>
              <a:rPr lang="fr-FR" sz="2000">
                <a:solidFill>
                  <a:schemeClr val="bg1"/>
                </a:solidFill>
              </a:rPr>
              <a:t>(bien se « sentir dans sa peau»),, </a:t>
            </a:r>
            <a:r>
              <a:rPr lang="fr-FR" sz="2000" b="1">
                <a:solidFill>
                  <a:srgbClr val="FFFF00"/>
                </a:solidFill>
              </a:rPr>
              <a:t>physique</a:t>
            </a:r>
            <a:r>
              <a:rPr lang="fr-FR" sz="2000">
                <a:solidFill>
                  <a:schemeClr val="bg1"/>
                </a:solidFill>
              </a:rPr>
              <a:t> (faire</a:t>
            </a:r>
          </a:p>
          <a:p>
            <a:r>
              <a:rPr lang="fr-FR" sz="2000">
                <a:solidFill>
                  <a:schemeClr val="bg1"/>
                </a:solidFill>
              </a:rPr>
              <a:t>de la prévention primaire voire secondaire) </a:t>
            </a:r>
            <a:r>
              <a:rPr lang="fr-FR" sz="2000" b="1">
                <a:solidFill>
                  <a:srgbClr val="FFFF00"/>
                </a:solidFill>
              </a:rPr>
              <a:t>et social </a:t>
            </a:r>
            <a:r>
              <a:rPr lang="fr-FR" sz="2000">
                <a:solidFill>
                  <a:schemeClr val="bg1"/>
                </a:solidFill>
              </a:rPr>
              <a:t>(retrouver des amis…) </a:t>
            </a:r>
          </a:p>
          <a:p>
            <a:endParaRPr lang="fr-FR" sz="2000">
              <a:solidFill>
                <a:schemeClr val="bg1"/>
              </a:solidFill>
            </a:endParaRPr>
          </a:p>
          <a:p>
            <a:endParaRPr lang="fr-FR" sz="200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fr-FR" sz="2000">
                <a:solidFill>
                  <a:schemeClr val="bg1"/>
                </a:solidFill>
              </a:rPr>
              <a:t>En tout état de cause, pour réaliser une performance le sportif doit être aussi </a:t>
            </a:r>
          </a:p>
          <a:p>
            <a:r>
              <a:rPr lang="fr-FR" sz="2000">
                <a:solidFill>
                  <a:schemeClr val="bg1"/>
                </a:solidFill>
              </a:rPr>
              <a:t>en bonne santé…d’où l’inversion souhaitée : </a:t>
            </a:r>
            <a:r>
              <a:rPr lang="fr-FR" sz="2000" b="1">
                <a:solidFill>
                  <a:srgbClr val="FFFF00"/>
                </a:solidFill>
              </a:rPr>
              <a:t>SANTE ET SPORT !</a:t>
            </a:r>
          </a:p>
          <a:p>
            <a:endParaRPr lang="fr-FR" sz="2000" b="1">
              <a:solidFill>
                <a:srgbClr val="FFFF00"/>
              </a:solidFill>
            </a:endParaRPr>
          </a:p>
          <a:p>
            <a:endParaRPr lang="fr-FR" sz="2000">
              <a:solidFill>
                <a:schemeClr val="bg1"/>
              </a:solidFill>
            </a:endParaRPr>
          </a:p>
          <a:p>
            <a:r>
              <a:rPr lang="fr-FR" sz="2000">
                <a:solidFill>
                  <a:schemeClr val="bg1"/>
                </a:solidFill>
              </a:rPr>
              <a:t>Santé et sport utilisent donc des moyens communs, l’activité physique et la </a:t>
            </a:r>
          </a:p>
          <a:p>
            <a:r>
              <a:rPr lang="fr-FR" sz="2000">
                <a:solidFill>
                  <a:schemeClr val="bg1"/>
                </a:solidFill>
              </a:rPr>
              <a:t>condition physique mais pour des perspectives différentes qui leur sont propres.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/>
          <p:cNvSpPr>
            <a:spLocks noChangeArrowheads="1"/>
          </p:cNvSpPr>
          <p:nvPr/>
        </p:nvSpPr>
        <p:spPr bwMode="auto">
          <a:xfrm>
            <a:off x="357188" y="1571625"/>
            <a:ext cx="8572500" cy="5032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fr-FR" sz="3200" b="1">
                <a:solidFill>
                  <a:srgbClr val="FFFF00"/>
                </a:solidFill>
                <a:latin typeface="Bookman Old Style" pitchFamily="18" charset="0"/>
              </a:rPr>
              <a:t>L’activité physique </a:t>
            </a:r>
            <a:r>
              <a:rPr lang="fr-FR">
                <a:solidFill>
                  <a:schemeClr val="bg1"/>
                </a:solidFill>
              </a:rPr>
              <a:t>est habituellement décrite, surtout par les nutritionnistes ,comme :</a:t>
            </a:r>
          </a:p>
          <a:p>
            <a:pPr>
              <a:lnSpc>
                <a:spcPct val="150000"/>
              </a:lnSpc>
            </a:pPr>
            <a:r>
              <a:rPr lang="fr-FR">
                <a:solidFill>
                  <a:schemeClr val="bg1"/>
                </a:solidFill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fr-FR" sz="2000">
                <a:solidFill>
                  <a:schemeClr val="bg1"/>
                </a:solidFill>
              </a:rPr>
              <a:t>« tout mouvement corporel produit par la contraction des muscles squelettiques entraînant une augmentation substantielle de la dépense d’énergie par rapport à la dépense de repos d’un individu » </a:t>
            </a:r>
            <a:r>
              <a:rPr lang="fr-FR" i="1">
                <a:solidFill>
                  <a:schemeClr val="bg1"/>
                </a:solidFill>
              </a:rPr>
              <a:t>(USDHHS, 1996 ; Molnar et Livingstone, 2000 ; Kesaniemi et al., 2001).</a:t>
            </a:r>
          </a:p>
          <a:p>
            <a:pPr>
              <a:lnSpc>
                <a:spcPct val="150000"/>
              </a:lnSpc>
            </a:pPr>
            <a:endParaRPr lang="fr-FR" i="1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fr-FR" sz="3200" b="1">
                <a:solidFill>
                  <a:srgbClr val="FFFF00"/>
                </a:solidFill>
                <a:latin typeface="Bookman Old Style" pitchFamily="18" charset="0"/>
              </a:rPr>
              <a:t>L’activité sportive </a:t>
            </a:r>
            <a:r>
              <a:rPr lang="fr-FR">
                <a:solidFill>
                  <a:schemeClr val="bg1"/>
                </a:solidFill>
              </a:rPr>
              <a:t>est un « sous-ensemble de l’activité physique, spécialisé et organisé » </a:t>
            </a:r>
            <a:r>
              <a:rPr lang="fr-FR" i="1">
                <a:solidFill>
                  <a:schemeClr val="bg1"/>
                </a:solidFill>
              </a:rPr>
              <a:t>(Enquête INSERM 2007).</a:t>
            </a:r>
          </a:p>
        </p:txBody>
      </p:sp>
      <p:sp>
        <p:nvSpPr>
          <p:cNvPr id="9219" name="ZoneTexte 4"/>
          <p:cNvSpPr txBox="1">
            <a:spLocks noChangeArrowheads="1"/>
          </p:cNvSpPr>
          <p:nvPr/>
        </p:nvSpPr>
        <p:spPr bwMode="auto">
          <a:xfrm>
            <a:off x="142875" y="285750"/>
            <a:ext cx="86677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sz="2800" b="1">
                <a:solidFill>
                  <a:srgbClr val="FFFF00"/>
                </a:solidFill>
                <a:latin typeface="Bookman Old Style" pitchFamily="18" charset="0"/>
              </a:rPr>
              <a:t>ACTIVITE PHYSIQUE vs ACTIVITE SPORTIVE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CL" sz="32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QU’EST-CE QUE “ ÊTRE EN BONNE CONDITION PHYSIQUE” ?</a:t>
            </a:r>
            <a:endParaRPr lang="es-CL" b="1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itchFamily="18" charset="0"/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981200"/>
            <a:ext cx="8915400" cy="4114800"/>
          </a:xfrm>
        </p:spPr>
        <p:txBody>
          <a:bodyPr/>
          <a:lstStyle/>
          <a:p>
            <a:pPr eaLnBrk="1" hangingPunct="1"/>
            <a:r>
              <a:rPr lang="es-CL" sz="2400" b="1" smtClean="0">
                <a:solidFill>
                  <a:srgbClr val="FFFF00"/>
                </a:solidFill>
                <a:latin typeface="Bookman Old Style" pitchFamily="18" charset="0"/>
              </a:rPr>
              <a:t>Approche subjective :</a:t>
            </a:r>
            <a:r>
              <a:rPr lang="es-CL" sz="2400" b="1" smtClean="0">
                <a:latin typeface="Bookman Old Style" pitchFamily="18" charset="0"/>
              </a:rPr>
              <a:t> “ bien se sentir dans son corps et accomplir ses diverses activités quotidiennes avec plaisir sans ressentir de fatigue”.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s-CL" sz="2400" b="1" smtClean="0">
              <a:latin typeface="Bookman Old Style" pitchFamily="18" charset="0"/>
            </a:endParaRPr>
          </a:p>
          <a:p>
            <a:pPr eaLnBrk="1" hangingPunct="1"/>
            <a:r>
              <a:rPr lang="es-CL" sz="2400" b="1" smtClean="0">
                <a:solidFill>
                  <a:srgbClr val="FFFF00"/>
                </a:solidFill>
                <a:latin typeface="Bookman Old Style" pitchFamily="18" charset="0"/>
              </a:rPr>
              <a:t>Approche physiologique et médicale :</a:t>
            </a:r>
            <a:r>
              <a:rPr lang="es-CL" sz="2400" b="1" smtClean="0">
                <a:latin typeface="Bookman Old Style" pitchFamily="18" charset="0"/>
              </a:rPr>
              <a:t> Réduire les  facteurs de risque, prévenir les maladies cardio-vasculaires, réduire son éventuel embonpoint, améliorer sa santé et augmenter ses performances motrices.</a:t>
            </a: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2843213" y="228600"/>
            <a:ext cx="2816225" cy="415925"/>
          </a:xfrm>
          <a:prstGeom prst="rect">
            <a:avLst/>
          </a:prstGeom>
          <a:noFill/>
          <a:ln w="19050">
            <a:solidFill>
              <a:srgbClr val="FFFF00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eaLnBrk="0" hangingPunct="0"/>
            <a:r>
              <a:rPr lang="fr-FR" sz="2000" b="1">
                <a:solidFill>
                  <a:srgbClr val="FFFF00"/>
                </a:solidFill>
              </a:rPr>
              <a:t>Condition Physique</a:t>
            </a:r>
          </a:p>
        </p:txBody>
      </p:sp>
      <p:sp>
        <p:nvSpPr>
          <p:cNvPr id="5123" name="Line 3"/>
          <p:cNvSpPr>
            <a:spLocks noChangeShapeType="1"/>
          </p:cNvSpPr>
          <p:nvPr/>
        </p:nvSpPr>
        <p:spPr bwMode="auto">
          <a:xfrm flipH="1">
            <a:off x="2514600" y="685800"/>
            <a:ext cx="7620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5124" name="Line 4"/>
          <p:cNvSpPr>
            <a:spLocks noChangeShapeType="1"/>
          </p:cNvSpPr>
          <p:nvPr/>
        </p:nvSpPr>
        <p:spPr bwMode="auto">
          <a:xfrm>
            <a:off x="5029200" y="685800"/>
            <a:ext cx="8382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5125" name="Text Box 5"/>
          <p:cNvSpPr txBox="1">
            <a:spLocks noChangeArrowheads="1"/>
          </p:cNvSpPr>
          <p:nvPr/>
        </p:nvSpPr>
        <p:spPr bwMode="auto">
          <a:xfrm>
            <a:off x="1739900" y="1143000"/>
            <a:ext cx="1917700" cy="6540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eaLnBrk="0" hangingPunct="0"/>
            <a:r>
              <a:rPr lang="fr-FR"/>
              <a:t>Dimensions </a:t>
            </a:r>
          </a:p>
          <a:p>
            <a:pPr algn="ctr" eaLnBrk="0" hangingPunct="0"/>
            <a:r>
              <a:rPr lang="fr-FR"/>
              <a:t>objectives</a:t>
            </a:r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5867400" y="1066800"/>
            <a:ext cx="1524000" cy="6540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0" hangingPunct="0"/>
            <a:r>
              <a:rPr lang="fr-FR"/>
              <a:t>Dimensions</a:t>
            </a:r>
          </a:p>
          <a:p>
            <a:pPr eaLnBrk="0" hangingPunct="0"/>
            <a:r>
              <a:rPr lang="fr-FR"/>
              <a:t>subjectives</a:t>
            </a:r>
          </a:p>
        </p:txBody>
      </p:sp>
      <p:sp>
        <p:nvSpPr>
          <p:cNvPr id="5127" name="Line 7"/>
          <p:cNvSpPr>
            <a:spLocks noChangeShapeType="1"/>
          </p:cNvSpPr>
          <p:nvPr/>
        </p:nvSpPr>
        <p:spPr bwMode="auto">
          <a:xfrm flipH="1">
            <a:off x="1600200" y="1828800"/>
            <a:ext cx="7620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5128" name="Line 8"/>
          <p:cNvSpPr>
            <a:spLocks noChangeShapeType="1"/>
          </p:cNvSpPr>
          <p:nvPr/>
        </p:nvSpPr>
        <p:spPr bwMode="auto">
          <a:xfrm>
            <a:off x="2895600" y="1828800"/>
            <a:ext cx="8382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5129" name="Text Box 9"/>
          <p:cNvSpPr txBox="1">
            <a:spLocks noChangeArrowheads="1"/>
          </p:cNvSpPr>
          <p:nvPr/>
        </p:nvSpPr>
        <p:spPr bwMode="auto">
          <a:xfrm>
            <a:off x="381000" y="2057400"/>
            <a:ext cx="2590800" cy="3794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0" hangingPunct="0"/>
            <a:r>
              <a:rPr lang="fr-FR"/>
              <a:t>Liées à la performance</a:t>
            </a:r>
          </a:p>
        </p:txBody>
      </p:sp>
      <p:sp>
        <p:nvSpPr>
          <p:cNvPr id="5130" name="Text Box 10"/>
          <p:cNvSpPr txBox="1">
            <a:spLocks noChangeArrowheads="1"/>
          </p:cNvSpPr>
          <p:nvPr/>
        </p:nvSpPr>
        <p:spPr bwMode="auto">
          <a:xfrm>
            <a:off x="3795713" y="2017713"/>
            <a:ext cx="1995487" cy="3794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0" hangingPunct="0"/>
            <a:r>
              <a:rPr lang="fr-FR"/>
              <a:t>Liées à la santé</a:t>
            </a:r>
          </a:p>
        </p:txBody>
      </p:sp>
      <p:sp>
        <p:nvSpPr>
          <p:cNvPr id="5132" name="Text Box 12"/>
          <p:cNvSpPr txBox="1">
            <a:spLocks noChangeArrowheads="1"/>
          </p:cNvSpPr>
          <p:nvPr/>
        </p:nvSpPr>
        <p:spPr bwMode="auto">
          <a:xfrm>
            <a:off x="3924300" y="2924175"/>
            <a:ext cx="3810000" cy="23018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0" hangingPunct="0">
              <a:buFontTx/>
              <a:buChar char="•"/>
            </a:pPr>
            <a:r>
              <a:rPr lang="fr-FR"/>
              <a:t> Endurance cardiorespiratoire,</a:t>
            </a:r>
          </a:p>
          <a:p>
            <a:pPr eaLnBrk="0" hangingPunct="0"/>
            <a:endParaRPr lang="fr-FR"/>
          </a:p>
          <a:p>
            <a:pPr eaLnBrk="0" hangingPunct="0">
              <a:buFontTx/>
              <a:buChar char="•"/>
            </a:pPr>
            <a:r>
              <a:rPr lang="fr-FR"/>
              <a:t> Composition corporelle,</a:t>
            </a:r>
          </a:p>
          <a:p>
            <a:pPr eaLnBrk="0" hangingPunct="0"/>
            <a:endParaRPr lang="fr-FR"/>
          </a:p>
          <a:p>
            <a:pPr eaLnBrk="0" hangingPunct="0">
              <a:buFontTx/>
              <a:buChar char="•"/>
            </a:pPr>
            <a:r>
              <a:rPr lang="fr-FR"/>
              <a:t> force et endurance musculaires</a:t>
            </a:r>
          </a:p>
          <a:p>
            <a:pPr eaLnBrk="0" hangingPunct="0"/>
            <a:endParaRPr lang="fr-FR"/>
          </a:p>
          <a:p>
            <a:pPr eaLnBrk="0" hangingPunct="0">
              <a:buFontTx/>
              <a:buChar char="•"/>
            </a:pPr>
            <a:r>
              <a:rPr lang="fr-FR"/>
              <a:t> flexibilité</a:t>
            </a:r>
          </a:p>
          <a:p>
            <a:pPr eaLnBrk="0" hangingPunct="0"/>
            <a:endParaRPr lang="fr-FR"/>
          </a:p>
        </p:txBody>
      </p:sp>
      <p:sp>
        <p:nvSpPr>
          <p:cNvPr id="5133" name="Line 13"/>
          <p:cNvSpPr>
            <a:spLocks noChangeShapeType="1"/>
          </p:cNvSpPr>
          <p:nvPr/>
        </p:nvSpPr>
        <p:spPr bwMode="auto">
          <a:xfrm>
            <a:off x="1524000" y="2438400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5134" name="Line 14"/>
          <p:cNvSpPr>
            <a:spLocks noChangeShapeType="1"/>
          </p:cNvSpPr>
          <p:nvPr/>
        </p:nvSpPr>
        <p:spPr bwMode="auto">
          <a:xfrm>
            <a:off x="4648200" y="2438400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5135" name="Text Box 15"/>
          <p:cNvSpPr txBox="1">
            <a:spLocks noChangeArrowheads="1"/>
          </p:cNvSpPr>
          <p:nvPr/>
        </p:nvSpPr>
        <p:spPr bwMode="auto">
          <a:xfrm>
            <a:off x="5867400" y="1981200"/>
            <a:ext cx="3276600" cy="6540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0" hangingPunct="0"/>
            <a:r>
              <a:rPr lang="fr-FR"/>
              <a:t>Perception des déterminants</a:t>
            </a:r>
          </a:p>
          <a:p>
            <a:pPr eaLnBrk="0" hangingPunct="0"/>
            <a:r>
              <a:rPr lang="fr-FR"/>
              <a:t>de la condition physique</a:t>
            </a:r>
          </a:p>
        </p:txBody>
      </p:sp>
      <p:sp>
        <p:nvSpPr>
          <p:cNvPr id="5136" name="Line 16"/>
          <p:cNvSpPr>
            <a:spLocks noChangeShapeType="1"/>
          </p:cNvSpPr>
          <p:nvPr/>
        </p:nvSpPr>
        <p:spPr bwMode="auto">
          <a:xfrm>
            <a:off x="6477000" y="1752600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2304" name="ZoneTexte 16"/>
          <p:cNvSpPr txBox="1">
            <a:spLocks noChangeArrowheads="1"/>
          </p:cNvSpPr>
          <p:nvPr/>
        </p:nvSpPr>
        <p:spPr bwMode="auto">
          <a:xfrm>
            <a:off x="142875" y="2917825"/>
            <a:ext cx="3595688" cy="39401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ts val="2500"/>
              </a:lnSpc>
            </a:pPr>
            <a:r>
              <a:rPr lang="fr-FR"/>
              <a:t>Capacités physiques spécifiques </a:t>
            </a:r>
          </a:p>
          <a:p>
            <a:pPr>
              <a:lnSpc>
                <a:spcPts val="2500"/>
              </a:lnSpc>
              <a:buFont typeface="Arial" charset="0"/>
              <a:buChar char="•"/>
            </a:pPr>
            <a:r>
              <a:rPr lang="fr-FR">
                <a:solidFill>
                  <a:srgbClr val="FFFF00"/>
                </a:solidFill>
              </a:rPr>
              <a:t> Composition corporelle</a:t>
            </a:r>
          </a:p>
          <a:p>
            <a:pPr>
              <a:lnSpc>
                <a:spcPts val="2500"/>
              </a:lnSpc>
              <a:buFont typeface="Arial" charset="0"/>
              <a:buChar char="•"/>
            </a:pPr>
            <a:r>
              <a:rPr lang="fr-FR"/>
              <a:t> Coordination</a:t>
            </a:r>
          </a:p>
          <a:p>
            <a:pPr>
              <a:lnSpc>
                <a:spcPts val="2500"/>
              </a:lnSpc>
              <a:buFont typeface="Arial" charset="0"/>
              <a:buChar char="•"/>
            </a:pPr>
            <a:r>
              <a:rPr lang="fr-FR"/>
              <a:t> </a:t>
            </a:r>
            <a:r>
              <a:rPr lang="fr-FR">
                <a:solidFill>
                  <a:srgbClr val="FFFF00"/>
                </a:solidFill>
              </a:rPr>
              <a:t>Amplitude articulaire</a:t>
            </a:r>
          </a:p>
          <a:p>
            <a:pPr>
              <a:lnSpc>
                <a:spcPts val="2500"/>
              </a:lnSpc>
              <a:buFont typeface="Arial" charset="0"/>
              <a:buChar char="•"/>
            </a:pPr>
            <a:r>
              <a:rPr lang="fr-FR"/>
              <a:t> </a:t>
            </a:r>
            <a:r>
              <a:rPr lang="fr-FR">
                <a:solidFill>
                  <a:srgbClr val="FFFF00"/>
                </a:solidFill>
              </a:rPr>
              <a:t>Force musculaire</a:t>
            </a:r>
          </a:p>
          <a:p>
            <a:pPr>
              <a:lnSpc>
                <a:spcPts val="2500"/>
              </a:lnSpc>
              <a:buFont typeface="Arial" charset="0"/>
              <a:buChar char="•"/>
            </a:pPr>
            <a:r>
              <a:rPr lang="fr-FR"/>
              <a:t> Vitesse</a:t>
            </a:r>
          </a:p>
          <a:p>
            <a:pPr>
              <a:lnSpc>
                <a:spcPts val="2500"/>
              </a:lnSpc>
              <a:buFont typeface="Arial" charset="0"/>
              <a:buChar char="•"/>
            </a:pPr>
            <a:r>
              <a:rPr lang="fr-FR"/>
              <a:t> Puissance musculaire</a:t>
            </a:r>
          </a:p>
          <a:p>
            <a:pPr>
              <a:lnSpc>
                <a:spcPts val="2500"/>
              </a:lnSpc>
              <a:buFont typeface="Arial" charset="0"/>
              <a:buChar char="•"/>
            </a:pPr>
            <a:r>
              <a:rPr lang="fr-FR"/>
              <a:t> </a:t>
            </a:r>
            <a:r>
              <a:rPr lang="fr-FR">
                <a:solidFill>
                  <a:srgbClr val="FFFF00"/>
                </a:solidFill>
              </a:rPr>
              <a:t>Endurance musculaire</a:t>
            </a:r>
          </a:p>
          <a:p>
            <a:pPr>
              <a:lnSpc>
                <a:spcPts val="2500"/>
              </a:lnSpc>
              <a:buFont typeface="Arial" charset="0"/>
              <a:buChar char="•"/>
            </a:pPr>
            <a:r>
              <a:rPr lang="fr-FR"/>
              <a:t> Capacité physiologique</a:t>
            </a:r>
          </a:p>
          <a:p>
            <a:pPr>
              <a:lnSpc>
                <a:spcPts val="2500"/>
              </a:lnSpc>
            </a:pPr>
            <a:r>
              <a:rPr lang="fr-FR"/>
              <a:t>   </a:t>
            </a:r>
            <a:r>
              <a:rPr lang="fr-FR">
                <a:solidFill>
                  <a:srgbClr val="FFFF00"/>
                </a:solidFill>
              </a:rPr>
              <a:t>- cardiorespiratoire</a:t>
            </a:r>
          </a:p>
          <a:p>
            <a:pPr>
              <a:lnSpc>
                <a:spcPts val="2500"/>
              </a:lnSpc>
            </a:pPr>
            <a:r>
              <a:rPr lang="fr-FR">
                <a:solidFill>
                  <a:srgbClr val="FFFF00"/>
                </a:solidFill>
              </a:rPr>
              <a:t>   - aérobie</a:t>
            </a:r>
          </a:p>
          <a:p>
            <a:pPr>
              <a:lnSpc>
                <a:spcPts val="2500"/>
              </a:lnSpc>
            </a:pPr>
            <a:r>
              <a:rPr lang="fr-FR"/>
              <a:t>   - anaérobie </a:t>
            </a: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3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600"/>
                            </p:stCondLst>
                            <p:childTnLst>
                              <p:par>
                                <p:cTn id="9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100"/>
                            </p:stCondLst>
                            <p:childTnLst>
                              <p:par>
                                <p:cTn id="16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3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3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4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300"/>
                                        <p:tgtEl>
                                          <p:spTgt spid="5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700"/>
                            </p:stCondLst>
                            <p:childTnLst>
                              <p:par>
                                <p:cTn id="40" presetID="17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200"/>
                            </p:stCondLst>
                            <p:childTnLst>
                              <p:par>
                                <p:cTn id="4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300"/>
                                        <p:tgtEl>
                                          <p:spTgt spid="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400"/>
                            </p:stCondLst>
                            <p:childTnLst>
                              <p:par>
                                <p:cTn id="51" presetID="17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900"/>
                            </p:stCondLst>
                            <p:childTnLst>
                              <p:par>
                                <p:cTn id="5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3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2000"/>
                                        <p:tgtEl>
                                          <p:spTgt spid="12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5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300"/>
                                        <p:tgtEl>
                                          <p:spTgt spid="5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animBg="1" autoUpdateAnimBg="0"/>
      <p:bldP spid="5123" grpId="0" animBg="1"/>
      <p:bldP spid="5124" grpId="0" animBg="1"/>
      <p:bldP spid="5125" grpId="0" animBg="1" autoUpdateAnimBg="0"/>
      <p:bldP spid="5126" grpId="0" animBg="1" autoUpdateAnimBg="0"/>
      <p:bldP spid="5127" grpId="0" animBg="1"/>
      <p:bldP spid="5128" grpId="0" animBg="1"/>
      <p:bldP spid="5129" grpId="0" animBg="1" autoUpdateAnimBg="0"/>
      <p:bldP spid="5130" grpId="0" animBg="1" autoUpdateAnimBg="0"/>
      <p:bldP spid="5132" grpId="0" animBg="1" autoUpdateAnimBg="0"/>
      <p:bldP spid="5133" grpId="0" animBg="1"/>
      <p:bldP spid="5134" grpId="0" animBg="1"/>
      <p:bldP spid="5135" grpId="0" animBg="1" autoUpdateAnimBg="0"/>
      <p:bldP spid="5136" grpId="0" animBg="1"/>
      <p:bldP spid="1230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3"/>
          <p:cNvSpPr>
            <a:spLocks noChangeArrowheads="1"/>
          </p:cNvSpPr>
          <p:nvPr/>
        </p:nvSpPr>
        <p:spPr bwMode="auto">
          <a:xfrm>
            <a:off x="373063" y="1143000"/>
            <a:ext cx="8770937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sz="3600" b="1">
                <a:solidFill>
                  <a:srgbClr val="FFFF00"/>
                </a:solidFill>
                <a:latin typeface="Bookman Old Style" pitchFamily="18" charset="0"/>
              </a:rPr>
              <a:t>« Le sport, c’est bon pour la santé » 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3929063" y="3071813"/>
            <a:ext cx="755650" cy="13239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8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cteur droit 4"/>
          <p:cNvCxnSpPr/>
          <p:nvPr/>
        </p:nvCxnSpPr>
        <p:spPr>
          <a:xfrm rot="5400000">
            <a:off x="-1500187" y="2286000"/>
            <a:ext cx="4572000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15" name="ZoneTexte 6"/>
          <p:cNvSpPr txBox="1">
            <a:spLocks noChangeArrowheads="1"/>
          </p:cNvSpPr>
          <p:nvPr/>
        </p:nvSpPr>
        <p:spPr bwMode="auto">
          <a:xfrm rot="-5400000">
            <a:off x="-1429544" y="2143919"/>
            <a:ext cx="38004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>
                <a:solidFill>
                  <a:schemeClr val="bg1"/>
                </a:solidFill>
              </a:rPr>
              <a:t>Bénéfices de l’exercice sur la santé</a:t>
            </a:r>
          </a:p>
        </p:txBody>
      </p:sp>
      <p:cxnSp>
        <p:nvCxnSpPr>
          <p:cNvPr id="9" name="Connecteur droit 8"/>
          <p:cNvCxnSpPr/>
          <p:nvPr/>
        </p:nvCxnSpPr>
        <p:spPr>
          <a:xfrm>
            <a:off x="785813" y="4572000"/>
            <a:ext cx="8072437" cy="1588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rme libre 7"/>
          <p:cNvSpPr/>
          <p:nvPr/>
        </p:nvSpPr>
        <p:spPr>
          <a:xfrm>
            <a:off x="804863" y="785813"/>
            <a:ext cx="7553325" cy="2946400"/>
          </a:xfrm>
          <a:custGeom>
            <a:avLst/>
            <a:gdLst>
              <a:gd name="connsiteX0" fmla="*/ 0 w 6692900"/>
              <a:gd name="connsiteY0" fmla="*/ 2492828 h 2492828"/>
              <a:gd name="connsiteX1" fmla="*/ 1251857 w 6692900"/>
              <a:gd name="connsiteY1" fmla="*/ 1164771 h 2492828"/>
              <a:gd name="connsiteX2" fmla="*/ 2841171 w 6692900"/>
              <a:gd name="connsiteY2" fmla="*/ 250371 h 2492828"/>
              <a:gd name="connsiteX3" fmla="*/ 4648200 w 6692900"/>
              <a:gd name="connsiteY3" fmla="*/ 43543 h 2492828"/>
              <a:gd name="connsiteX4" fmla="*/ 6368143 w 6692900"/>
              <a:gd name="connsiteY4" fmla="*/ 511628 h 2492828"/>
              <a:gd name="connsiteX5" fmla="*/ 6596743 w 6692900"/>
              <a:gd name="connsiteY5" fmla="*/ 576943 h 2492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92900" h="2492828">
                <a:moveTo>
                  <a:pt x="0" y="2492828"/>
                </a:moveTo>
                <a:cubicBezTo>
                  <a:pt x="389164" y="2015671"/>
                  <a:pt x="778328" y="1538514"/>
                  <a:pt x="1251857" y="1164771"/>
                </a:cubicBezTo>
                <a:cubicBezTo>
                  <a:pt x="1725386" y="791028"/>
                  <a:pt x="2275114" y="437242"/>
                  <a:pt x="2841171" y="250371"/>
                </a:cubicBezTo>
                <a:cubicBezTo>
                  <a:pt x="3407228" y="63500"/>
                  <a:pt x="4060371" y="0"/>
                  <a:pt x="4648200" y="43543"/>
                </a:cubicBezTo>
                <a:cubicBezTo>
                  <a:pt x="5236029" y="87086"/>
                  <a:pt x="6043386" y="422728"/>
                  <a:pt x="6368143" y="511628"/>
                </a:cubicBezTo>
                <a:cubicBezTo>
                  <a:pt x="6692900" y="600528"/>
                  <a:pt x="6644821" y="588735"/>
                  <a:pt x="6596743" y="576943"/>
                </a:cubicBezTo>
              </a:path>
            </a:pathLst>
          </a:cu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0" name="Forme libre 9"/>
          <p:cNvSpPr/>
          <p:nvPr/>
        </p:nvSpPr>
        <p:spPr>
          <a:xfrm>
            <a:off x="6429375" y="857250"/>
            <a:ext cx="1785938" cy="142875"/>
          </a:xfrm>
          <a:custGeom>
            <a:avLst/>
            <a:gdLst>
              <a:gd name="connsiteX0" fmla="*/ 0 w 1611085"/>
              <a:gd name="connsiteY0" fmla="*/ 0 h 119743"/>
              <a:gd name="connsiteX1" fmla="*/ 751114 w 1611085"/>
              <a:gd name="connsiteY1" fmla="*/ 32657 h 119743"/>
              <a:gd name="connsiteX2" fmla="*/ 1611085 w 1611085"/>
              <a:gd name="connsiteY2" fmla="*/ 119743 h 119743"/>
              <a:gd name="connsiteX3" fmla="*/ 1611085 w 1611085"/>
              <a:gd name="connsiteY3" fmla="*/ 119743 h 11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1085" h="119743">
                <a:moveTo>
                  <a:pt x="0" y="0"/>
                </a:moveTo>
                <a:cubicBezTo>
                  <a:pt x="241300" y="6350"/>
                  <a:pt x="482600" y="12700"/>
                  <a:pt x="751114" y="32657"/>
                </a:cubicBezTo>
                <a:cubicBezTo>
                  <a:pt x="1019628" y="52614"/>
                  <a:pt x="1611085" y="119743"/>
                  <a:pt x="1611085" y="119743"/>
                </a:cubicBezTo>
                <a:lnTo>
                  <a:pt x="1611085" y="119743"/>
                </a:lnTo>
              </a:path>
            </a:pathLst>
          </a:custGeom>
          <a:ln w="28575">
            <a:solidFill>
              <a:srgbClr val="FFFF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1" name="Forme libre 10"/>
          <p:cNvSpPr/>
          <p:nvPr/>
        </p:nvSpPr>
        <p:spPr>
          <a:xfrm>
            <a:off x="838200" y="1792288"/>
            <a:ext cx="7086600" cy="1939925"/>
          </a:xfrm>
          <a:custGeom>
            <a:avLst/>
            <a:gdLst>
              <a:gd name="connsiteX0" fmla="*/ 0 w 7086600"/>
              <a:gd name="connsiteY0" fmla="*/ 1939471 h 1939471"/>
              <a:gd name="connsiteX1" fmla="*/ 1654629 w 7086600"/>
              <a:gd name="connsiteY1" fmla="*/ 1906814 h 1939471"/>
              <a:gd name="connsiteX2" fmla="*/ 3668486 w 7086600"/>
              <a:gd name="connsiteY2" fmla="*/ 1776186 h 1939471"/>
              <a:gd name="connsiteX3" fmla="*/ 5410200 w 7086600"/>
              <a:gd name="connsiteY3" fmla="*/ 1297214 h 1939471"/>
              <a:gd name="connsiteX4" fmla="*/ 6847114 w 7086600"/>
              <a:gd name="connsiteY4" fmla="*/ 186871 h 1939471"/>
              <a:gd name="connsiteX5" fmla="*/ 6847114 w 7086600"/>
              <a:gd name="connsiteY5" fmla="*/ 175986 h 1939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86600" h="1939471">
                <a:moveTo>
                  <a:pt x="0" y="1939471"/>
                </a:moveTo>
                <a:cubicBezTo>
                  <a:pt x="521607" y="1936749"/>
                  <a:pt x="1043215" y="1934028"/>
                  <a:pt x="1654629" y="1906814"/>
                </a:cubicBezTo>
                <a:cubicBezTo>
                  <a:pt x="2266043" y="1879600"/>
                  <a:pt x="3042558" y="1877786"/>
                  <a:pt x="3668486" y="1776186"/>
                </a:cubicBezTo>
                <a:cubicBezTo>
                  <a:pt x="4294414" y="1674586"/>
                  <a:pt x="4880429" y="1562100"/>
                  <a:pt x="5410200" y="1297214"/>
                </a:cubicBezTo>
                <a:cubicBezTo>
                  <a:pt x="5939971" y="1032328"/>
                  <a:pt x="6607628" y="373742"/>
                  <a:pt x="6847114" y="186871"/>
                </a:cubicBezTo>
                <a:cubicBezTo>
                  <a:pt x="7086600" y="0"/>
                  <a:pt x="6966857" y="87993"/>
                  <a:pt x="6847114" y="175986"/>
                </a:cubicBezTo>
              </a:path>
            </a:pathLst>
          </a:cu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fr-FR"/>
          </a:p>
        </p:txBody>
      </p:sp>
      <p:cxnSp>
        <p:nvCxnSpPr>
          <p:cNvPr id="14" name="Connecteur droit 13"/>
          <p:cNvCxnSpPr/>
          <p:nvPr/>
        </p:nvCxnSpPr>
        <p:spPr>
          <a:xfrm rot="5400000">
            <a:off x="999332" y="3428206"/>
            <a:ext cx="2286000" cy="1587"/>
          </a:xfrm>
          <a:prstGeom prst="line">
            <a:avLst/>
          </a:prstGeom>
          <a:ln w="1905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/>
          <p:cNvCxnSpPr/>
          <p:nvPr/>
        </p:nvCxnSpPr>
        <p:spPr>
          <a:xfrm rot="5400000">
            <a:off x="2322513" y="2892425"/>
            <a:ext cx="3357562" cy="1588"/>
          </a:xfrm>
          <a:prstGeom prst="line">
            <a:avLst/>
          </a:prstGeom>
          <a:ln w="1905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/>
          <p:cNvCxnSpPr/>
          <p:nvPr/>
        </p:nvCxnSpPr>
        <p:spPr>
          <a:xfrm rot="16200000" flipH="1">
            <a:off x="4250531" y="2678907"/>
            <a:ext cx="3643313" cy="0"/>
          </a:xfrm>
          <a:prstGeom prst="line">
            <a:avLst/>
          </a:prstGeom>
          <a:ln w="1905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23" name="ZoneTexte 19"/>
          <p:cNvSpPr txBox="1">
            <a:spLocks noChangeArrowheads="1"/>
          </p:cNvSpPr>
          <p:nvPr/>
        </p:nvSpPr>
        <p:spPr bwMode="auto">
          <a:xfrm>
            <a:off x="1143000" y="2786063"/>
            <a:ext cx="950913" cy="95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sz="1400">
                <a:solidFill>
                  <a:schemeClr val="bg1"/>
                </a:solidFill>
              </a:rPr>
              <a:t>Activité </a:t>
            </a:r>
          </a:p>
          <a:p>
            <a:r>
              <a:rPr lang="fr-FR" sz="1400">
                <a:solidFill>
                  <a:schemeClr val="bg1"/>
                </a:solidFill>
              </a:rPr>
              <a:t>physique </a:t>
            </a:r>
          </a:p>
          <a:p>
            <a:r>
              <a:rPr lang="fr-FR" sz="1400">
                <a:solidFill>
                  <a:schemeClr val="bg1"/>
                </a:solidFill>
              </a:rPr>
              <a:t>de la vie</a:t>
            </a:r>
          </a:p>
          <a:p>
            <a:r>
              <a:rPr lang="fr-FR" sz="1400">
                <a:solidFill>
                  <a:schemeClr val="bg1"/>
                </a:solidFill>
              </a:rPr>
              <a:t> courante</a:t>
            </a:r>
          </a:p>
        </p:txBody>
      </p:sp>
      <p:sp>
        <p:nvSpPr>
          <p:cNvPr id="13324" name="Rectangle 20"/>
          <p:cNvSpPr>
            <a:spLocks noChangeArrowheads="1"/>
          </p:cNvSpPr>
          <p:nvPr/>
        </p:nvSpPr>
        <p:spPr bwMode="auto">
          <a:xfrm>
            <a:off x="2500313" y="2500313"/>
            <a:ext cx="1214437" cy="738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sz="1400">
                <a:solidFill>
                  <a:schemeClr val="bg1"/>
                </a:solidFill>
              </a:rPr>
              <a:t>Activité </a:t>
            </a:r>
          </a:p>
          <a:p>
            <a:pPr algn="ctr"/>
            <a:r>
              <a:rPr lang="fr-FR" sz="1400">
                <a:solidFill>
                  <a:schemeClr val="bg1"/>
                </a:solidFill>
              </a:rPr>
              <a:t>physique</a:t>
            </a:r>
          </a:p>
          <a:p>
            <a:pPr algn="ctr"/>
            <a:r>
              <a:rPr lang="fr-FR" sz="1400">
                <a:solidFill>
                  <a:schemeClr val="bg1"/>
                </a:solidFill>
              </a:rPr>
              <a:t>pour la santé </a:t>
            </a:r>
          </a:p>
        </p:txBody>
      </p:sp>
      <p:sp>
        <p:nvSpPr>
          <p:cNvPr id="13325" name="Rectangle 21"/>
          <p:cNvSpPr>
            <a:spLocks noChangeArrowheads="1"/>
          </p:cNvSpPr>
          <p:nvPr/>
        </p:nvSpPr>
        <p:spPr bwMode="auto">
          <a:xfrm>
            <a:off x="4214813" y="2071688"/>
            <a:ext cx="1428750" cy="738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sz="1400">
                <a:solidFill>
                  <a:schemeClr val="bg1"/>
                </a:solidFill>
              </a:rPr>
              <a:t>Exercice pour </a:t>
            </a:r>
          </a:p>
          <a:p>
            <a:pPr algn="ctr"/>
            <a:r>
              <a:rPr lang="fr-FR" sz="1400">
                <a:solidFill>
                  <a:schemeClr val="bg1"/>
                </a:solidFill>
              </a:rPr>
              <a:t>la condition physique </a:t>
            </a:r>
          </a:p>
        </p:txBody>
      </p:sp>
      <p:sp>
        <p:nvSpPr>
          <p:cNvPr id="13326" name="ZoneTexte 22"/>
          <p:cNvSpPr txBox="1">
            <a:spLocks noChangeArrowheads="1"/>
          </p:cNvSpPr>
          <p:nvPr/>
        </p:nvSpPr>
        <p:spPr bwMode="auto">
          <a:xfrm>
            <a:off x="6215063" y="1643063"/>
            <a:ext cx="13081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sz="1400">
                <a:solidFill>
                  <a:schemeClr val="bg1"/>
                </a:solidFill>
              </a:rPr>
              <a:t>Entraînement </a:t>
            </a:r>
          </a:p>
          <a:p>
            <a:r>
              <a:rPr lang="fr-FR" sz="1400">
                <a:solidFill>
                  <a:schemeClr val="bg1"/>
                </a:solidFill>
              </a:rPr>
              <a:t>pour le sport</a:t>
            </a:r>
          </a:p>
        </p:txBody>
      </p:sp>
      <p:sp>
        <p:nvSpPr>
          <p:cNvPr id="24" name="Flèche vers le bas 23"/>
          <p:cNvSpPr/>
          <p:nvPr/>
        </p:nvSpPr>
        <p:spPr>
          <a:xfrm rot="10800000">
            <a:off x="1428750" y="4071938"/>
            <a:ext cx="214313" cy="7143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25" name="Flèche vers le bas 24"/>
          <p:cNvSpPr/>
          <p:nvPr/>
        </p:nvSpPr>
        <p:spPr>
          <a:xfrm rot="10800000">
            <a:off x="6929438" y="4143375"/>
            <a:ext cx="214312" cy="7143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26" name="Flèche vers le bas 25"/>
          <p:cNvSpPr/>
          <p:nvPr/>
        </p:nvSpPr>
        <p:spPr>
          <a:xfrm rot="10800000">
            <a:off x="4929188" y="4143375"/>
            <a:ext cx="214312" cy="7143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27" name="Flèche vers le bas 26"/>
          <p:cNvSpPr/>
          <p:nvPr/>
        </p:nvSpPr>
        <p:spPr>
          <a:xfrm rot="10800000">
            <a:off x="3000375" y="4143375"/>
            <a:ext cx="214313" cy="7143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3331" name="ZoneTexte 27"/>
          <p:cNvSpPr txBox="1">
            <a:spLocks noChangeArrowheads="1"/>
          </p:cNvSpPr>
          <p:nvPr/>
        </p:nvSpPr>
        <p:spPr bwMode="auto">
          <a:xfrm>
            <a:off x="785813" y="4857750"/>
            <a:ext cx="1398587" cy="73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sz="1400">
                <a:solidFill>
                  <a:schemeClr val="bg1"/>
                </a:solidFill>
              </a:rPr>
              <a:t>Quotidienne et </a:t>
            </a:r>
          </a:p>
          <a:p>
            <a:r>
              <a:rPr lang="fr-FR" sz="1400">
                <a:solidFill>
                  <a:schemeClr val="bg1"/>
                </a:solidFill>
              </a:rPr>
              <a:t>modérée : de </a:t>
            </a:r>
          </a:p>
          <a:p>
            <a:r>
              <a:rPr lang="fr-FR" sz="1400">
                <a:solidFill>
                  <a:schemeClr val="bg1"/>
                </a:solidFill>
              </a:rPr>
              <a:t>10 min à 1 h</a:t>
            </a:r>
          </a:p>
        </p:txBody>
      </p:sp>
      <p:sp>
        <p:nvSpPr>
          <p:cNvPr id="13332" name="ZoneTexte 30"/>
          <p:cNvSpPr txBox="1">
            <a:spLocks noChangeArrowheads="1"/>
          </p:cNvSpPr>
          <p:nvPr/>
        </p:nvSpPr>
        <p:spPr bwMode="auto">
          <a:xfrm>
            <a:off x="2286000" y="4857750"/>
            <a:ext cx="1714500" cy="73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sz="1400">
                <a:solidFill>
                  <a:schemeClr val="bg1"/>
                </a:solidFill>
              </a:rPr>
              <a:t>Quotidienne et </a:t>
            </a:r>
          </a:p>
          <a:p>
            <a:pPr algn="ctr"/>
            <a:r>
              <a:rPr lang="fr-FR" sz="1400">
                <a:solidFill>
                  <a:schemeClr val="bg1"/>
                </a:solidFill>
              </a:rPr>
              <a:t>modérée : pas en </a:t>
            </a:r>
          </a:p>
          <a:p>
            <a:pPr algn="ctr"/>
            <a:r>
              <a:rPr lang="fr-FR" sz="1400">
                <a:solidFill>
                  <a:schemeClr val="bg1"/>
                </a:solidFill>
              </a:rPr>
              <a:t>dessous de 30 min </a:t>
            </a:r>
          </a:p>
        </p:txBody>
      </p:sp>
      <p:sp>
        <p:nvSpPr>
          <p:cNvPr id="13333" name="ZoneTexte 31"/>
          <p:cNvSpPr txBox="1">
            <a:spLocks noChangeArrowheads="1"/>
          </p:cNvSpPr>
          <p:nvPr/>
        </p:nvSpPr>
        <p:spPr bwMode="auto">
          <a:xfrm>
            <a:off x="4214813" y="4857750"/>
            <a:ext cx="1655762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fr-FR" sz="1400">
                <a:solidFill>
                  <a:schemeClr val="bg1"/>
                </a:solidFill>
              </a:rPr>
              <a:t>De modérée à </a:t>
            </a:r>
          </a:p>
          <a:p>
            <a:pPr algn="ctr"/>
            <a:r>
              <a:rPr lang="fr-FR" sz="1400">
                <a:solidFill>
                  <a:schemeClr val="bg1"/>
                </a:solidFill>
              </a:rPr>
              <a:t>vigoureuse 3 fois </a:t>
            </a:r>
          </a:p>
          <a:p>
            <a:pPr algn="ctr"/>
            <a:r>
              <a:rPr lang="fr-FR" sz="1400">
                <a:solidFill>
                  <a:schemeClr val="bg1"/>
                </a:solidFill>
              </a:rPr>
              <a:t>par semaine : pas </a:t>
            </a:r>
          </a:p>
          <a:p>
            <a:pPr algn="ctr"/>
            <a:r>
              <a:rPr lang="fr-FR" sz="1400">
                <a:solidFill>
                  <a:schemeClr val="bg1"/>
                </a:solidFill>
              </a:rPr>
              <a:t>moins de 20 min</a:t>
            </a:r>
          </a:p>
        </p:txBody>
      </p:sp>
      <p:sp>
        <p:nvSpPr>
          <p:cNvPr id="13334" name="ZoneTexte 32"/>
          <p:cNvSpPr txBox="1">
            <a:spLocks noChangeArrowheads="1"/>
          </p:cNvSpPr>
          <p:nvPr/>
        </p:nvSpPr>
        <p:spPr bwMode="auto">
          <a:xfrm>
            <a:off x="6357938" y="4857750"/>
            <a:ext cx="1857375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sz="1400">
                <a:solidFill>
                  <a:schemeClr val="bg1"/>
                </a:solidFill>
              </a:rPr>
              <a:t>Fatigante, plusieurs </a:t>
            </a:r>
          </a:p>
          <a:p>
            <a:pPr algn="ctr"/>
            <a:r>
              <a:rPr lang="fr-FR" sz="1400">
                <a:solidFill>
                  <a:schemeClr val="bg1"/>
                </a:solidFill>
              </a:rPr>
              <a:t>fois par semaine</a:t>
            </a:r>
          </a:p>
          <a:p>
            <a:pPr algn="ctr"/>
            <a:r>
              <a:rPr lang="fr-FR" sz="1400">
                <a:solidFill>
                  <a:schemeClr val="bg1"/>
                </a:solidFill>
              </a:rPr>
              <a:t>variable selon le sport et le niveau</a:t>
            </a:r>
          </a:p>
        </p:txBody>
      </p:sp>
      <p:sp>
        <p:nvSpPr>
          <p:cNvPr id="13335" name="ZoneTexte 33"/>
          <p:cNvSpPr txBox="1">
            <a:spLocks noChangeArrowheads="1"/>
          </p:cNvSpPr>
          <p:nvPr/>
        </p:nvSpPr>
        <p:spPr bwMode="auto">
          <a:xfrm rot="-2385992">
            <a:off x="6199188" y="2409825"/>
            <a:ext cx="239077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>
                <a:solidFill>
                  <a:srgbClr val="FFFF00"/>
                </a:solidFill>
              </a:rPr>
              <a:t>Risques et préjudices</a:t>
            </a:r>
          </a:p>
        </p:txBody>
      </p:sp>
      <p:sp>
        <p:nvSpPr>
          <p:cNvPr id="13336" name="ZoneTexte 34"/>
          <p:cNvSpPr txBox="1">
            <a:spLocks noChangeArrowheads="1"/>
          </p:cNvSpPr>
          <p:nvPr/>
        </p:nvSpPr>
        <p:spPr bwMode="auto">
          <a:xfrm>
            <a:off x="5214938" y="428625"/>
            <a:ext cx="11969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>
                <a:solidFill>
                  <a:srgbClr val="FFFF00"/>
                </a:solidFill>
              </a:rPr>
              <a:t>Bénéfices</a:t>
            </a:r>
          </a:p>
        </p:txBody>
      </p:sp>
      <p:sp>
        <p:nvSpPr>
          <p:cNvPr id="13337" name="ZoneTexte 35"/>
          <p:cNvSpPr txBox="1">
            <a:spLocks noChangeArrowheads="1"/>
          </p:cNvSpPr>
          <p:nvPr/>
        </p:nvSpPr>
        <p:spPr bwMode="auto">
          <a:xfrm>
            <a:off x="714375" y="5929313"/>
            <a:ext cx="7942263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fr-FR">
                <a:solidFill>
                  <a:srgbClr val="FFFF00"/>
                </a:solidFill>
              </a:rPr>
              <a:t>Risques et bénéfices en relation avec les niveaux d’activité physique </a:t>
            </a:r>
          </a:p>
          <a:p>
            <a:pPr algn="ctr"/>
            <a:endParaRPr lang="fr-FR">
              <a:solidFill>
                <a:srgbClr val="FFFF00"/>
              </a:solidFill>
            </a:endParaRPr>
          </a:p>
          <a:p>
            <a:pPr algn="ctr"/>
            <a:r>
              <a:rPr lang="fr-FR" sz="1200" i="1">
                <a:solidFill>
                  <a:schemeClr val="bg1"/>
                </a:solidFill>
              </a:rPr>
              <a:t>Modifié, d’après Van Sluijs et al. (2003) in : Perspectives on health and exercise . Ed. McKenna and Riddoch (UK)</a:t>
            </a:r>
          </a:p>
        </p:txBody>
      </p:sp>
      <p:sp>
        <p:nvSpPr>
          <p:cNvPr id="28" name="Flèche vers le bas 27"/>
          <p:cNvSpPr/>
          <p:nvPr/>
        </p:nvSpPr>
        <p:spPr>
          <a:xfrm rot="18551063">
            <a:off x="4244975" y="3205163"/>
            <a:ext cx="125413" cy="357187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29" name="Flèche vers le bas 28"/>
          <p:cNvSpPr/>
          <p:nvPr/>
        </p:nvSpPr>
        <p:spPr>
          <a:xfrm rot="18551063">
            <a:off x="6259513" y="2625725"/>
            <a:ext cx="125412" cy="357188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 l="12500" t="18333" r="13541" b="14999"/>
          <a:stretch>
            <a:fillRect/>
          </a:stretch>
        </p:blipFill>
        <p:spPr bwMode="auto">
          <a:xfrm>
            <a:off x="0" y="1143000"/>
            <a:ext cx="9144000" cy="5151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39" name="ZoneTexte 2"/>
          <p:cNvSpPr txBox="1">
            <a:spLocks noChangeArrowheads="1"/>
          </p:cNvSpPr>
          <p:nvPr/>
        </p:nvSpPr>
        <p:spPr bwMode="auto">
          <a:xfrm>
            <a:off x="1643063" y="214313"/>
            <a:ext cx="607377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sz="3200" b="1">
                <a:solidFill>
                  <a:srgbClr val="FFFF00"/>
                </a:solidFill>
                <a:latin typeface="Bookman Old Style" pitchFamily="18" charset="0"/>
              </a:rPr>
              <a:t>LES ACCIDENTS DU SPORT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1714500" y="571500"/>
            <a:ext cx="5621338" cy="6461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3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LES EXCES DU SPORT</a:t>
            </a:r>
          </a:p>
        </p:txBody>
      </p:sp>
      <p:sp>
        <p:nvSpPr>
          <p:cNvPr id="15363" name="ZoneTexte 4"/>
          <p:cNvSpPr txBox="1">
            <a:spLocks noChangeArrowheads="1"/>
          </p:cNvSpPr>
          <p:nvPr/>
        </p:nvSpPr>
        <p:spPr bwMode="auto">
          <a:xfrm>
            <a:off x="2357438" y="2143125"/>
            <a:ext cx="2617787" cy="409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sz="2000">
                <a:solidFill>
                  <a:schemeClr val="bg1"/>
                </a:solidFill>
              </a:rPr>
              <a:t>- Fatigue chronique</a:t>
            </a:r>
          </a:p>
          <a:p>
            <a:endParaRPr lang="fr-FR" sz="2000">
              <a:solidFill>
                <a:schemeClr val="bg1"/>
              </a:solidFill>
            </a:endParaRPr>
          </a:p>
          <a:p>
            <a:r>
              <a:rPr lang="fr-FR" sz="2000">
                <a:solidFill>
                  <a:schemeClr val="bg1"/>
                </a:solidFill>
              </a:rPr>
              <a:t>- Fractures de fatigue</a:t>
            </a:r>
          </a:p>
          <a:p>
            <a:endParaRPr lang="fr-FR" sz="2000">
              <a:solidFill>
                <a:schemeClr val="bg1"/>
              </a:solidFill>
            </a:endParaRPr>
          </a:p>
          <a:p>
            <a:r>
              <a:rPr lang="fr-FR" sz="2000">
                <a:solidFill>
                  <a:schemeClr val="bg1"/>
                </a:solidFill>
              </a:rPr>
              <a:t>- Dopage</a:t>
            </a:r>
          </a:p>
          <a:p>
            <a:endParaRPr lang="fr-FR" sz="200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fr-FR" sz="2000">
                <a:solidFill>
                  <a:schemeClr val="bg1"/>
                </a:solidFill>
              </a:rPr>
              <a:t> Surentraînement</a:t>
            </a:r>
          </a:p>
          <a:p>
            <a:pPr>
              <a:buFontTx/>
              <a:buChar char="-"/>
            </a:pPr>
            <a:endParaRPr lang="fr-FR" sz="200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fr-FR" sz="2000">
                <a:solidFill>
                  <a:schemeClr val="bg1"/>
                </a:solidFill>
              </a:rPr>
              <a:t>…..</a:t>
            </a:r>
          </a:p>
          <a:p>
            <a:endParaRPr lang="fr-FR" sz="2000">
              <a:solidFill>
                <a:schemeClr val="bg1"/>
              </a:solidFill>
            </a:endParaRPr>
          </a:p>
          <a:p>
            <a:endParaRPr lang="fr-FR" sz="2000">
              <a:solidFill>
                <a:schemeClr val="bg1"/>
              </a:solidFill>
            </a:endParaRPr>
          </a:p>
          <a:p>
            <a:endParaRPr lang="fr-FR" sz="2000">
              <a:solidFill>
                <a:schemeClr val="bg1"/>
              </a:solidFill>
            </a:endParaRPr>
          </a:p>
          <a:p>
            <a:endParaRPr lang="fr-FR" sz="2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C:\Documents and Settings\douard\Bureau\z_rn_estes01.bmp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2938" y="642938"/>
            <a:ext cx="8072437" cy="605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87" name="ZoneTexte 2"/>
          <p:cNvSpPr txBox="1">
            <a:spLocks noChangeArrowheads="1"/>
          </p:cNvSpPr>
          <p:nvPr/>
        </p:nvSpPr>
        <p:spPr bwMode="auto">
          <a:xfrm>
            <a:off x="2071688" y="0"/>
            <a:ext cx="5421312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sz="3200" b="1">
                <a:latin typeface="Bookman Old Style" pitchFamily="18" charset="0"/>
              </a:rPr>
              <a:t>LES DRAMES DU SPORT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285750" y="1857375"/>
            <a:ext cx="8747125" cy="15700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fr-FR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Des constats actuels de l’augmentation </a:t>
            </a:r>
          </a:p>
          <a:p>
            <a:pPr algn="ctr">
              <a:lnSpc>
                <a:spcPct val="200000"/>
              </a:lnSpc>
              <a:defRPr/>
            </a:pPr>
            <a:r>
              <a:rPr lang="fr-FR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du niveau d’inactivité physique (NIP)…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457200" y="304800"/>
            <a:ext cx="8153400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/>
            <a:r>
              <a:rPr lang="fr-FR" sz="3600" b="1">
                <a:solidFill>
                  <a:schemeClr val="bg1"/>
                </a:solidFill>
              </a:rPr>
              <a:t>Des constats…plus sédentaires qu’avant</a:t>
            </a:r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1622425" y="3122613"/>
            <a:ext cx="630238" cy="2736850"/>
          </a:xfrm>
          <a:prstGeom prst="rect">
            <a:avLst/>
          </a:prstGeom>
          <a:gradFill rotWithShape="1">
            <a:gsLst>
              <a:gs pos="0">
                <a:srgbClr val="0092B6"/>
              </a:gs>
              <a:gs pos="50000">
                <a:srgbClr val="00CCFF"/>
              </a:gs>
              <a:gs pos="100000">
                <a:srgbClr val="0092B6"/>
              </a:gs>
            </a:gsLst>
            <a:lin ang="0" scaled="1"/>
          </a:gradFill>
          <a:ln w="9525">
            <a:solidFill>
              <a:srgbClr val="07000C"/>
            </a:solidFill>
            <a:miter lim="800000"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8436" name="Rectangle 4"/>
          <p:cNvSpPr>
            <a:spLocks noChangeArrowheads="1"/>
          </p:cNvSpPr>
          <p:nvPr/>
        </p:nvSpPr>
        <p:spPr bwMode="auto">
          <a:xfrm>
            <a:off x="3840163" y="3236913"/>
            <a:ext cx="630237" cy="2622550"/>
          </a:xfrm>
          <a:prstGeom prst="rect">
            <a:avLst/>
          </a:prstGeom>
          <a:gradFill rotWithShape="1">
            <a:gsLst>
              <a:gs pos="0">
                <a:srgbClr val="0092B6"/>
              </a:gs>
              <a:gs pos="50000">
                <a:srgbClr val="00CCFF"/>
              </a:gs>
              <a:gs pos="100000">
                <a:srgbClr val="0092B6"/>
              </a:gs>
            </a:gsLst>
            <a:lin ang="0" scaled="1"/>
          </a:gradFill>
          <a:ln w="9525">
            <a:solidFill>
              <a:srgbClr val="07000C"/>
            </a:solidFill>
            <a:miter lim="800000"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8437" name="Rectangle 5"/>
          <p:cNvSpPr>
            <a:spLocks noChangeArrowheads="1"/>
          </p:cNvSpPr>
          <p:nvPr/>
        </p:nvSpPr>
        <p:spPr bwMode="auto">
          <a:xfrm>
            <a:off x="6057900" y="3122613"/>
            <a:ext cx="630238" cy="2736850"/>
          </a:xfrm>
          <a:prstGeom prst="rect">
            <a:avLst/>
          </a:prstGeom>
          <a:gradFill rotWithShape="1">
            <a:gsLst>
              <a:gs pos="0">
                <a:srgbClr val="0092B6"/>
              </a:gs>
              <a:gs pos="50000">
                <a:srgbClr val="00CCFF"/>
              </a:gs>
              <a:gs pos="100000">
                <a:srgbClr val="0092B6"/>
              </a:gs>
            </a:gsLst>
            <a:lin ang="0" scaled="1"/>
          </a:gradFill>
          <a:ln w="9525">
            <a:solidFill>
              <a:srgbClr val="07000C"/>
            </a:solidFill>
            <a:miter lim="800000"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8438" name="Rectangle 6"/>
          <p:cNvSpPr>
            <a:spLocks noChangeArrowheads="1"/>
          </p:cNvSpPr>
          <p:nvPr/>
        </p:nvSpPr>
        <p:spPr bwMode="auto">
          <a:xfrm>
            <a:off x="2252663" y="1919288"/>
            <a:ext cx="639762" cy="3940175"/>
          </a:xfrm>
          <a:prstGeom prst="rect">
            <a:avLst/>
          </a:prstGeom>
          <a:gradFill rotWithShape="1">
            <a:gsLst>
              <a:gs pos="0">
                <a:srgbClr val="07000C"/>
              </a:gs>
              <a:gs pos="50000">
                <a:srgbClr val="EAE9EA"/>
              </a:gs>
              <a:gs pos="100000">
                <a:srgbClr val="07000C"/>
              </a:gs>
            </a:gsLst>
            <a:lin ang="0" scaled="1"/>
          </a:gra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8439" name="Rectangle 7"/>
          <p:cNvSpPr>
            <a:spLocks noChangeArrowheads="1"/>
          </p:cNvSpPr>
          <p:nvPr/>
        </p:nvSpPr>
        <p:spPr bwMode="auto">
          <a:xfrm>
            <a:off x="4470400" y="2476500"/>
            <a:ext cx="628650" cy="3382963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50000">
                <a:srgbClr val="E2E2E2"/>
              </a:gs>
              <a:gs pos="100000">
                <a:srgbClr val="000000"/>
              </a:gs>
            </a:gsLst>
            <a:lin ang="0" scaled="1"/>
          </a:gra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8440" name="Rectangle 8"/>
          <p:cNvSpPr>
            <a:spLocks noChangeArrowheads="1"/>
          </p:cNvSpPr>
          <p:nvPr/>
        </p:nvSpPr>
        <p:spPr bwMode="auto">
          <a:xfrm>
            <a:off x="6688138" y="2249488"/>
            <a:ext cx="628650" cy="3609975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50000">
                <a:srgbClr val="E9E9E9"/>
              </a:gs>
              <a:gs pos="100000">
                <a:srgbClr val="000000"/>
              </a:gs>
            </a:gsLst>
            <a:lin ang="0" scaled="1"/>
          </a:gra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8441" name="Line 9"/>
          <p:cNvSpPr>
            <a:spLocks noChangeShapeType="1"/>
          </p:cNvSpPr>
          <p:nvPr/>
        </p:nvSpPr>
        <p:spPr bwMode="auto">
          <a:xfrm>
            <a:off x="1149350" y="1487488"/>
            <a:ext cx="1588" cy="4371975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8442" name="Line 10"/>
          <p:cNvSpPr>
            <a:spLocks noChangeShapeType="1"/>
          </p:cNvSpPr>
          <p:nvPr/>
        </p:nvSpPr>
        <p:spPr bwMode="auto">
          <a:xfrm>
            <a:off x="1100138" y="5859463"/>
            <a:ext cx="49212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8443" name="Line 11"/>
          <p:cNvSpPr>
            <a:spLocks noChangeShapeType="1"/>
          </p:cNvSpPr>
          <p:nvPr/>
        </p:nvSpPr>
        <p:spPr bwMode="auto">
          <a:xfrm>
            <a:off x="1100138" y="5314950"/>
            <a:ext cx="49212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8444" name="Line 12"/>
          <p:cNvSpPr>
            <a:spLocks noChangeShapeType="1"/>
          </p:cNvSpPr>
          <p:nvPr/>
        </p:nvSpPr>
        <p:spPr bwMode="auto">
          <a:xfrm>
            <a:off x="1100138" y="4768850"/>
            <a:ext cx="49212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8445" name="Line 13"/>
          <p:cNvSpPr>
            <a:spLocks noChangeShapeType="1"/>
          </p:cNvSpPr>
          <p:nvPr/>
        </p:nvSpPr>
        <p:spPr bwMode="auto">
          <a:xfrm>
            <a:off x="1100138" y="4224338"/>
            <a:ext cx="49212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8446" name="Line 14"/>
          <p:cNvSpPr>
            <a:spLocks noChangeShapeType="1"/>
          </p:cNvSpPr>
          <p:nvPr/>
        </p:nvSpPr>
        <p:spPr bwMode="auto">
          <a:xfrm>
            <a:off x="1100138" y="3679825"/>
            <a:ext cx="49212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8447" name="Line 15"/>
          <p:cNvSpPr>
            <a:spLocks noChangeShapeType="1"/>
          </p:cNvSpPr>
          <p:nvPr/>
        </p:nvSpPr>
        <p:spPr bwMode="auto">
          <a:xfrm>
            <a:off x="1100138" y="3122613"/>
            <a:ext cx="49212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8448" name="Line 16"/>
          <p:cNvSpPr>
            <a:spLocks noChangeShapeType="1"/>
          </p:cNvSpPr>
          <p:nvPr/>
        </p:nvSpPr>
        <p:spPr bwMode="auto">
          <a:xfrm>
            <a:off x="1100138" y="2578100"/>
            <a:ext cx="49212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8449" name="Line 17"/>
          <p:cNvSpPr>
            <a:spLocks noChangeShapeType="1"/>
          </p:cNvSpPr>
          <p:nvPr/>
        </p:nvSpPr>
        <p:spPr bwMode="auto">
          <a:xfrm>
            <a:off x="1100138" y="2033588"/>
            <a:ext cx="49212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8450" name="Line 18"/>
          <p:cNvSpPr>
            <a:spLocks noChangeShapeType="1"/>
          </p:cNvSpPr>
          <p:nvPr/>
        </p:nvSpPr>
        <p:spPr bwMode="auto">
          <a:xfrm>
            <a:off x="1100138" y="1487488"/>
            <a:ext cx="49212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8451" name="Line 19"/>
          <p:cNvSpPr>
            <a:spLocks noChangeShapeType="1"/>
          </p:cNvSpPr>
          <p:nvPr/>
        </p:nvSpPr>
        <p:spPr bwMode="auto">
          <a:xfrm>
            <a:off x="1149350" y="5859463"/>
            <a:ext cx="6642100" cy="1587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8452" name="Line 20"/>
          <p:cNvSpPr>
            <a:spLocks noChangeShapeType="1"/>
          </p:cNvSpPr>
          <p:nvPr/>
        </p:nvSpPr>
        <p:spPr bwMode="auto">
          <a:xfrm flipV="1">
            <a:off x="1149350" y="5859463"/>
            <a:ext cx="1588" cy="571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8453" name="Line 21"/>
          <p:cNvSpPr>
            <a:spLocks noChangeShapeType="1"/>
          </p:cNvSpPr>
          <p:nvPr/>
        </p:nvSpPr>
        <p:spPr bwMode="auto">
          <a:xfrm flipV="1">
            <a:off x="3367088" y="5859463"/>
            <a:ext cx="1587" cy="571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8454" name="Line 22"/>
          <p:cNvSpPr>
            <a:spLocks noChangeShapeType="1"/>
          </p:cNvSpPr>
          <p:nvPr/>
        </p:nvSpPr>
        <p:spPr bwMode="auto">
          <a:xfrm flipV="1">
            <a:off x="5573713" y="5859463"/>
            <a:ext cx="1587" cy="571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8455" name="Line 23"/>
          <p:cNvSpPr>
            <a:spLocks noChangeShapeType="1"/>
          </p:cNvSpPr>
          <p:nvPr/>
        </p:nvSpPr>
        <p:spPr bwMode="auto">
          <a:xfrm flipV="1">
            <a:off x="7791450" y="5859463"/>
            <a:ext cx="1588" cy="571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8456" name="Rectangle 24"/>
          <p:cNvSpPr>
            <a:spLocks noChangeArrowheads="1"/>
          </p:cNvSpPr>
          <p:nvPr/>
        </p:nvSpPr>
        <p:spPr bwMode="auto">
          <a:xfrm>
            <a:off x="1778000" y="2840038"/>
            <a:ext cx="4064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CA" sz="1600">
                <a:solidFill>
                  <a:schemeClr val="bg1"/>
                </a:solidFill>
              </a:rPr>
              <a:t>25%</a:t>
            </a:r>
            <a:endParaRPr lang="fr-CA" sz="160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8457" name="Rectangle 25"/>
          <p:cNvSpPr>
            <a:spLocks noChangeArrowheads="1"/>
          </p:cNvSpPr>
          <p:nvPr/>
        </p:nvSpPr>
        <p:spPr bwMode="auto">
          <a:xfrm>
            <a:off x="3995738" y="2941638"/>
            <a:ext cx="4064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CA" sz="1600">
                <a:solidFill>
                  <a:schemeClr val="bg1"/>
                </a:solidFill>
              </a:rPr>
              <a:t>24%</a:t>
            </a:r>
            <a:endParaRPr lang="fr-CA" sz="160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8458" name="Rectangle 26"/>
          <p:cNvSpPr>
            <a:spLocks noChangeArrowheads="1"/>
          </p:cNvSpPr>
          <p:nvPr/>
        </p:nvSpPr>
        <p:spPr bwMode="auto">
          <a:xfrm>
            <a:off x="6213475" y="2840038"/>
            <a:ext cx="4064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CA" sz="1600">
                <a:solidFill>
                  <a:schemeClr val="bg1"/>
                </a:solidFill>
              </a:rPr>
              <a:t>25%</a:t>
            </a:r>
            <a:endParaRPr lang="fr-CA" sz="160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8459" name="Rectangle 27"/>
          <p:cNvSpPr>
            <a:spLocks noChangeArrowheads="1"/>
          </p:cNvSpPr>
          <p:nvPr/>
        </p:nvSpPr>
        <p:spPr bwMode="auto">
          <a:xfrm>
            <a:off x="2417763" y="1635125"/>
            <a:ext cx="4064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CA" sz="1600">
                <a:solidFill>
                  <a:schemeClr val="bg1"/>
                </a:solidFill>
              </a:rPr>
              <a:t>36%</a:t>
            </a:r>
            <a:endParaRPr lang="fr-CA" sz="160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8460" name="Rectangle 28"/>
          <p:cNvSpPr>
            <a:spLocks noChangeArrowheads="1"/>
          </p:cNvSpPr>
          <p:nvPr/>
        </p:nvSpPr>
        <p:spPr bwMode="auto">
          <a:xfrm>
            <a:off x="4635500" y="2181225"/>
            <a:ext cx="4064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CA" sz="1600">
                <a:solidFill>
                  <a:schemeClr val="bg1"/>
                </a:solidFill>
              </a:rPr>
              <a:t>31%</a:t>
            </a:r>
            <a:endParaRPr lang="fr-CA" sz="160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8461" name="Rectangle 29"/>
          <p:cNvSpPr>
            <a:spLocks noChangeArrowheads="1"/>
          </p:cNvSpPr>
          <p:nvPr/>
        </p:nvSpPr>
        <p:spPr bwMode="auto">
          <a:xfrm>
            <a:off x="6843713" y="1965325"/>
            <a:ext cx="4064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CA" sz="1600">
                <a:solidFill>
                  <a:schemeClr val="bg1"/>
                </a:solidFill>
              </a:rPr>
              <a:t>33%</a:t>
            </a:r>
            <a:endParaRPr lang="fr-CA" sz="160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8462" name="Rectangle 30"/>
          <p:cNvSpPr>
            <a:spLocks noChangeArrowheads="1"/>
          </p:cNvSpPr>
          <p:nvPr/>
        </p:nvSpPr>
        <p:spPr bwMode="auto">
          <a:xfrm>
            <a:off x="800100" y="5757863"/>
            <a:ext cx="25717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CA" sz="1400">
                <a:solidFill>
                  <a:schemeClr val="bg1"/>
                </a:solidFill>
              </a:rPr>
              <a:t>0%</a:t>
            </a:r>
            <a:endParaRPr lang="fr-CA" sz="240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8463" name="Rectangle 31"/>
          <p:cNvSpPr>
            <a:spLocks noChangeArrowheads="1"/>
          </p:cNvSpPr>
          <p:nvPr/>
        </p:nvSpPr>
        <p:spPr bwMode="auto">
          <a:xfrm>
            <a:off x="800100" y="5211763"/>
            <a:ext cx="25717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CA" sz="1400">
                <a:solidFill>
                  <a:schemeClr val="bg1"/>
                </a:solidFill>
              </a:rPr>
              <a:t>5%</a:t>
            </a:r>
            <a:endParaRPr lang="fr-CA" sz="240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8464" name="Rectangle 32"/>
          <p:cNvSpPr>
            <a:spLocks noChangeArrowheads="1"/>
          </p:cNvSpPr>
          <p:nvPr/>
        </p:nvSpPr>
        <p:spPr bwMode="auto">
          <a:xfrm>
            <a:off x="712788" y="4667250"/>
            <a:ext cx="3556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CA" sz="1400">
                <a:solidFill>
                  <a:schemeClr val="bg1"/>
                </a:solidFill>
              </a:rPr>
              <a:t>10%</a:t>
            </a:r>
            <a:endParaRPr lang="fr-CA" sz="240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8465" name="Rectangle 33"/>
          <p:cNvSpPr>
            <a:spLocks noChangeArrowheads="1"/>
          </p:cNvSpPr>
          <p:nvPr/>
        </p:nvSpPr>
        <p:spPr bwMode="auto">
          <a:xfrm>
            <a:off x="712788" y="4122738"/>
            <a:ext cx="3556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CA" sz="1400">
                <a:solidFill>
                  <a:schemeClr val="bg1"/>
                </a:solidFill>
              </a:rPr>
              <a:t>15%</a:t>
            </a:r>
            <a:endParaRPr lang="fr-CA" sz="240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8466" name="Rectangle 34"/>
          <p:cNvSpPr>
            <a:spLocks noChangeArrowheads="1"/>
          </p:cNvSpPr>
          <p:nvPr/>
        </p:nvSpPr>
        <p:spPr bwMode="auto">
          <a:xfrm>
            <a:off x="712788" y="3565525"/>
            <a:ext cx="3556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CA" sz="1400">
                <a:solidFill>
                  <a:schemeClr val="bg1"/>
                </a:solidFill>
              </a:rPr>
              <a:t>20%</a:t>
            </a:r>
            <a:endParaRPr lang="fr-CA" sz="240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8467" name="Rectangle 35"/>
          <p:cNvSpPr>
            <a:spLocks noChangeArrowheads="1"/>
          </p:cNvSpPr>
          <p:nvPr/>
        </p:nvSpPr>
        <p:spPr bwMode="auto">
          <a:xfrm>
            <a:off x="712788" y="3021013"/>
            <a:ext cx="3556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CA" sz="1400">
                <a:solidFill>
                  <a:schemeClr val="bg1"/>
                </a:solidFill>
              </a:rPr>
              <a:t>25%</a:t>
            </a:r>
            <a:endParaRPr lang="fr-CA" sz="240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8468" name="Rectangle 36"/>
          <p:cNvSpPr>
            <a:spLocks noChangeArrowheads="1"/>
          </p:cNvSpPr>
          <p:nvPr/>
        </p:nvSpPr>
        <p:spPr bwMode="auto">
          <a:xfrm>
            <a:off x="712788" y="2476500"/>
            <a:ext cx="3556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CA" sz="1400">
                <a:solidFill>
                  <a:schemeClr val="bg1"/>
                </a:solidFill>
              </a:rPr>
              <a:t>30%</a:t>
            </a:r>
            <a:endParaRPr lang="fr-CA" sz="240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8469" name="Rectangle 37"/>
          <p:cNvSpPr>
            <a:spLocks noChangeArrowheads="1"/>
          </p:cNvSpPr>
          <p:nvPr/>
        </p:nvSpPr>
        <p:spPr bwMode="auto">
          <a:xfrm>
            <a:off x="712788" y="1930400"/>
            <a:ext cx="3556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CA" sz="1400">
                <a:solidFill>
                  <a:schemeClr val="bg1"/>
                </a:solidFill>
              </a:rPr>
              <a:t>35%</a:t>
            </a:r>
            <a:endParaRPr lang="fr-CA" sz="240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8470" name="Rectangle 38"/>
          <p:cNvSpPr>
            <a:spLocks noChangeArrowheads="1"/>
          </p:cNvSpPr>
          <p:nvPr/>
        </p:nvSpPr>
        <p:spPr bwMode="auto">
          <a:xfrm>
            <a:off x="712788" y="1385888"/>
            <a:ext cx="3556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CA" sz="1400">
                <a:solidFill>
                  <a:schemeClr val="bg1"/>
                </a:solidFill>
              </a:rPr>
              <a:t>40%</a:t>
            </a:r>
            <a:endParaRPr lang="fr-CA" sz="240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8471" name="Rectangle 39"/>
          <p:cNvSpPr>
            <a:spLocks noChangeArrowheads="1"/>
          </p:cNvSpPr>
          <p:nvPr/>
        </p:nvSpPr>
        <p:spPr bwMode="auto">
          <a:xfrm>
            <a:off x="1952625" y="6029325"/>
            <a:ext cx="7096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CA" sz="1400">
                <a:solidFill>
                  <a:schemeClr val="bg1"/>
                </a:solidFill>
              </a:rPr>
              <a:t>Hommes</a:t>
            </a:r>
            <a:endParaRPr lang="fr-CA" sz="240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8472" name="Rectangle 40"/>
          <p:cNvSpPr>
            <a:spLocks noChangeArrowheads="1"/>
          </p:cNvSpPr>
          <p:nvPr/>
        </p:nvSpPr>
        <p:spPr bwMode="auto">
          <a:xfrm>
            <a:off x="4170363" y="6029325"/>
            <a:ext cx="68897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CA" sz="1400">
                <a:solidFill>
                  <a:schemeClr val="bg1"/>
                </a:solidFill>
              </a:rPr>
              <a:t>Femmes</a:t>
            </a:r>
            <a:endParaRPr lang="fr-CA" sz="240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8473" name="Rectangle 41"/>
          <p:cNvSpPr>
            <a:spLocks noChangeArrowheads="1"/>
          </p:cNvSpPr>
          <p:nvPr/>
        </p:nvSpPr>
        <p:spPr bwMode="auto">
          <a:xfrm>
            <a:off x="5970588" y="6029325"/>
            <a:ext cx="16446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CA" sz="1400">
                <a:solidFill>
                  <a:schemeClr val="bg1"/>
                </a:solidFill>
              </a:rPr>
              <a:t>Hommes et Femmes</a:t>
            </a:r>
            <a:endParaRPr lang="fr-CA" sz="240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8474" name="Rectangle 42"/>
          <p:cNvSpPr>
            <a:spLocks noChangeArrowheads="1"/>
          </p:cNvSpPr>
          <p:nvPr/>
        </p:nvSpPr>
        <p:spPr bwMode="auto">
          <a:xfrm rot="-5400000">
            <a:off x="-1040606" y="3352006"/>
            <a:ext cx="28575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CA" b="1">
                <a:solidFill>
                  <a:schemeClr val="bg1"/>
                </a:solidFill>
              </a:rPr>
              <a:t>% des adultes sédentaires</a:t>
            </a:r>
            <a:endParaRPr lang="fr-CA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8475" name="Rectangle 43"/>
          <p:cNvSpPr>
            <a:spLocks noChangeArrowheads="1"/>
          </p:cNvSpPr>
          <p:nvPr/>
        </p:nvSpPr>
        <p:spPr bwMode="auto">
          <a:xfrm>
            <a:off x="7667625" y="1196975"/>
            <a:ext cx="287338" cy="287338"/>
          </a:xfrm>
          <a:prstGeom prst="rect">
            <a:avLst/>
          </a:prstGeom>
          <a:gradFill rotWithShape="1">
            <a:gsLst>
              <a:gs pos="0">
                <a:srgbClr val="008CAF"/>
              </a:gs>
              <a:gs pos="50000">
                <a:srgbClr val="00CCFF"/>
              </a:gs>
              <a:gs pos="100000">
                <a:srgbClr val="008CAF"/>
              </a:gs>
            </a:gsLst>
            <a:lin ang="0" scaled="1"/>
          </a:gra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8476" name="Rectangle 44"/>
          <p:cNvSpPr>
            <a:spLocks noChangeArrowheads="1"/>
          </p:cNvSpPr>
          <p:nvPr/>
        </p:nvSpPr>
        <p:spPr bwMode="auto">
          <a:xfrm>
            <a:off x="8034338" y="1260475"/>
            <a:ext cx="8905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CA" sz="1900">
                <a:solidFill>
                  <a:schemeClr val="bg1"/>
                </a:solidFill>
              </a:rPr>
              <a:t>1992-93</a:t>
            </a:r>
            <a:endParaRPr lang="fr-CA" sz="240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8477" name="Rectangle 45"/>
          <p:cNvSpPr>
            <a:spLocks noChangeArrowheads="1"/>
          </p:cNvSpPr>
          <p:nvPr/>
        </p:nvSpPr>
        <p:spPr bwMode="auto">
          <a:xfrm>
            <a:off x="7667625" y="1647825"/>
            <a:ext cx="327025" cy="268288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50000">
                <a:srgbClr val="E9E9E9"/>
              </a:gs>
              <a:gs pos="100000">
                <a:srgbClr val="000000"/>
              </a:gs>
            </a:gsLst>
            <a:lin ang="0" scaled="1"/>
          </a:gra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8478" name="Rectangle 46"/>
          <p:cNvSpPr>
            <a:spLocks noChangeArrowheads="1"/>
          </p:cNvSpPr>
          <p:nvPr/>
        </p:nvSpPr>
        <p:spPr bwMode="auto">
          <a:xfrm>
            <a:off x="8034338" y="1590675"/>
            <a:ext cx="53975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CA" sz="1900">
                <a:solidFill>
                  <a:schemeClr val="bg1"/>
                </a:solidFill>
              </a:rPr>
              <a:t>1998</a:t>
            </a:r>
            <a:endParaRPr lang="fr-CA" sz="240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8479" name="ZoneTexte 46"/>
          <p:cNvSpPr txBox="1">
            <a:spLocks noChangeArrowheads="1"/>
          </p:cNvSpPr>
          <p:nvPr/>
        </p:nvSpPr>
        <p:spPr bwMode="auto">
          <a:xfrm>
            <a:off x="3786188" y="6429375"/>
            <a:ext cx="1019175" cy="277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sz="1200" i="1">
                <a:solidFill>
                  <a:schemeClr val="bg1"/>
                </a:solidFill>
              </a:rPr>
              <a:t>Référence ?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ChangeArrowheads="1"/>
          </p:cNvSpPr>
          <p:nvPr/>
        </p:nvSpPr>
        <p:spPr bwMode="auto">
          <a:xfrm>
            <a:off x="228600" y="228600"/>
            <a:ext cx="8686800" cy="1066800"/>
          </a:xfrm>
          <a:prstGeom prst="rect">
            <a:avLst/>
          </a:prstGeom>
          <a:noFill/>
          <a:ln w="19050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n-AU" sz="2000" b="1" i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  <a:cs typeface="Times New Roman" pitchFamily="18" charset="0"/>
              </a:rPr>
              <a:t>Evolution du niveau de la capacité aérobie des enfants </a:t>
            </a:r>
          </a:p>
          <a:p>
            <a:pPr algn="ctr" eaLnBrk="0" hangingPunct="0">
              <a:defRPr/>
            </a:pPr>
            <a:r>
              <a:rPr lang="en-AU" sz="2000" b="1" i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  <a:cs typeface="Times New Roman" pitchFamily="18" charset="0"/>
              </a:rPr>
              <a:t>et des adolescents entre 1981 et 2001, évalué par </a:t>
            </a:r>
          </a:p>
          <a:p>
            <a:pPr algn="ctr" eaLnBrk="0" hangingPunct="0">
              <a:defRPr/>
            </a:pPr>
            <a:r>
              <a:rPr lang="en-AU" sz="2000" b="1" i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  <a:cs typeface="Times New Roman" pitchFamily="18" charset="0"/>
              </a:rPr>
              <a:t>la course navette de 20 m. de Léger et al.”</a:t>
            </a:r>
            <a:endParaRPr lang="fr-CA" sz="2000" i="1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Bookman Old Style" pitchFamily="18" charset="0"/>
              <a:cs typeface="Times New Roman" pitchFamily="18" charset="0"/>
            </a:endParaRPr>
          </a:p>
        </p:txBody>
      </p:sp>
      <p:sp>
        <p:nvSpPr>
          <p:cNvPr id="82947" name="Text Box 3"/>
          <p:cNvSpPr txBox="1">
            <a:spLocks noChangeArrowheads="1"/>
          </p:cNvSpPr>
          <p:nvPr/>
        </p:nvSpPr>
        <p:spPr bwMode="auto">
          <a:xfrm>
            <a:off x="304800" y="1447800"/>
            <a:ext cx="8382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>
              <a:defRPr/>
            </a:pPr>
            <a:r>
              <a:rPr lang="fr-CA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</a:rPr>
              <a:t>Grant R. Tomkinson</a:t>
            </a:r>
            <a:r>
              <a:rPr lang="fr-CA" b="1" baseline="30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</a:rPr>
              <a:t>1</a:t>
            </a:r>
            <a:r>
              <a:rPr lang="fr-CA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</a:rPr>
              <a:t>, Tim S. Olds</a:t>
            </a:r>
            <a:r>
              <a:rPr lang="fr-CA" b="1" baseline="30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</a:rPr>
              <a:t>1</a:t>
            </a:r>
            <a:r>
              <a:rPr lang="fr-CA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</a:rPr>
              <a:t>, Luc A. Léger</a:t>
            </a:r>
            <a:r>
              <a:rPr lang="fr-CA" b="1" baseline="30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</a:rPr>
              <a:t>2</a:t>
            </a:r>
            <a:r>
              <a:rPr lang="fr-CA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</a:rPr>
              <a:t>, Georges Cazorla</a:t>
            </a:r>
            <a:r>
              <a:rPr lang="fr-CA" b="1" baseline="30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</a:rPr>
              <a:t>3   </a:t>
            </a:r>
          </a:p>
          <a:p>
            <a:pPr algn="ctr" eaLnBrk="0" hangingPunct="0">
              <a:defRPr/>
            </a:pPr>
            <a:r>
              <a:rPr lang="fr-CA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</a:rPr>
              <a:t>Sports Med</a:t>
            </a:r>
            <a:r>
              <a:rPr lang="fr-CA" b="1" baseline="30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</a:rPr>
              <a:t> </a:t>
            </a:r>
            <a:r>
              <a:rPr lang="fr-CA" b="1">
                <a:solidFill>
                  <a:schemeClr val="bg1"/>
                </a:solidFill>
                <a:latin typeface="Bookman Old Style" pitchFamily="18" charset="0"/>
              </a:rPr>
              <a:t>(2003)</a:t>
            </a:r>
            <a:endParaRPr lang="fr-FR">
              <a:solidFill>
                <a:schemeClr val="bg1"/>
              </a:solidFill>
              <a:latin typeface="Bookman Old Style" pitchFamily="18" charset="0"/>
            </a:endParaRPr>
          </a:p>
        </p:txBody>
      </p:sp>
      <p:sp>
        <p:nvSpPr>
          <p:cNvPr id="82948" name="Text Box 4"/>
          <p:cNvSpPr txBox="1">
            <a:spLocks noChangeArrowheads="1"/>
          </p:cNvSpPr>
          <p:nvPr/>
        </p:nvSpPr>
        <p:spPr bwMode="auto">
          <a:xfrm>
            <a:off x="1055688" y="4046538"/>
            <a:ext cx="7035800" cy="201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fr-FR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</a:rPr>
              <a:t>130 000 enfants et adolescents âgés </a:t>
            </a:r>
          </a:p>
          <a:p>
            <a:pPr algn="ctr">
              <a:lnSpc>
                <a:spcPct val="150000"/>
              </a:lnSpc>
              <a:defRPr/>
            </a:pPr>
            <a:r>
              <a:rPr lang="fr-FR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</a:rPr>
              <a:t>entre 6 et 19 ans </a:t>
            </a:r>
          </a:p>
          <a:p>
            <a:pPr algn="ctr">
              <a:lnSpc>
                <a:spcPct val="150000"/>
              </a:lnSpc>
              <a:defRPr/>
            </a:pPr>
            <a:r>
              <a:rPr lang="fr-FR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</a:rPr>
              <a:t>provenant de 11 pays</a:t>
            </a:r>
          </a:p>
        </p:txBody>
      </p:sp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2897188" y="2740025"/>
            <a:ext cx="35464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sz="2400" b="1">
                <a:solidFill>
                  <a:schemeClr val="bg1"/>
                </a:solidFill>
                <a:latin typeface="Bookman Old Style" pitchFamily="18" charset="0"/>
              </a:rPr>
              <a:t>Analyse de 55 études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88900" y="47625"/>
            <a:ext cx="8897938" cy="7112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fr-FR" sz="2000" b="1">
                <a:solidFill>
                  <a:schemeClr val="bg1"/>
                </a:solidFill>
              </a:rPr>
              <a:t>Taux de changement annuel (%)du niveau de condition physique (PMA) </a:t>
            </a:r>
          </a:p>
          <a:p>
            <a:pPr algn="ctr"/>
            <a:r>
              <a:rPr lang="fr-FR" sz="2000" b="1">
                <a:solidFill>
                  <a:schemeClr val="bg1"/>
                </a:solidFill>
              </a:rPr>
              <a:t>des enfants et des adolescents au cours des 20 dernières années</a:t>
            </a:r>
          </a:p>
        </p:txBody>
      </p:sp>
      <p:sp>
        <p:nvSpPr>
          <p:cNvPr id="20483" name="Line 3"/>
          <p:cNvSpPr>
            <a:spLocks noChangeShapeType="1"/>
          </p:cNvSpPr>
          <p:nvPr/>
        </p:nvSpPr>
        <p:spPr bwMode="auto">
          <a:xfrm>
            <a:off x="5838825" y="1560513"/>
            <a:ext cx="0" cy="50292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0484" name="Line 4"/>
          <p:cNvSpPr>
            <a:spLocks noChangeShapeType="1"/>
          </p:cNvSpPr>
          <p:nvPr/>
        </p:nvSpPr>
        <p:spPr bwMode="auto">
          <a:xfrm>
            <a:off x="504825" y="1560513"/>
            <a:ext cx="7848600" cy="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0485" name="Text Box 5"/>
          <p:cNvSpPr txBox="1">
            <a:spLocks noChangeArrowheads="1"/>
          </p:cNvSpPr>
          <p:nvPr/>
        </p:nvSpPr>
        <p:spPr bwMode="auto">
          <a:xfrm>
            <a:off x="457200" y="1027113"/>
            <a:ext cx="70119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sz="2400">
                <a:solidFill>
                  <a:schemeClr val="bg1"/>
                </a:solidFill>
              </a:rPr>
              <a:t>  - 2.0       - 1.5        - 1.0        - 0.5        0         + 0.5</a:t>
            </a:r>
          </a:p>
        </p:txBody>
      </p:sp>
      <p:sp>
        <p:nvSpPr>
          <p:cNvPr id="20486" name="Text Box 6"/>
          <p:cNvSpPr txBox="1">
            <a:spLocks noChangeArrowheads="1"/>
          </p:cNvSpPr>
          <p:nvPr/>
        </p:nvSpPr>
        <p:spPr bwMode="auto">
          <a:xfrm>
            <a:off x="6829425" y="1560513"/>
            <a:ext cx="1933575" cy="521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>
                <a:solidFill>
                  <a:schemeClr val="bg1"/>
                </a:solidFill>
              </a:rPr>
              <a:t>USA</a:t>
            </a:r>
          </a:p>
          <a:p>
            <a:pPr>
              <a:lnSpc>
                <a:spcPct val="150000"/>
              </a:lnSpc>
            </a:pPr>
            <a:r>
              <a:rPr lang="fr-FR" sz="2000">
                <a:solidFill>
                  <a:schemeClr val="bg1"/>
                </a:solidFill>
              </a:rPr>
              <a:t>Grèce</a:t>
            </a:r>
          </a:p>
          <a:p>
            <a:pPr>
              <a:lnSpc>
                <a:spcPct val="150000"/>
              </a:lnSpc>
            </a:pPr>
            <a:r>
              <a:rPr lang="fr-FR" sz="2000">
                <a:solidFill>
                  <a:schemeClr val="bg1"/>
                </a:solidFill>
              </a:rPr>
              <a:t>Pologne</a:t>
            </a:r>
          </a:p>
          <a:p>
            <a:pPr>
              <a:lnSpc>
                <a:spcPct val="150000"/>
              </a:lnSpc>
            </a:pPr>
            <a:r>
              <a:rPr lang="fr-FR" sz="2000">
                <a:solidFill>
                  <a:schemeClr val="bg1"/>
                </a:solidFill>
              </a:rPr>
              <a:t>Pays Bas</a:t>
            </a:r>
          </a:p>
          <a:p>
            <a:pPr>
              <a:lnSpc>
                <a:spcPct val="150000"/>
              </a:lnSpc>
            </a:pPr>
            <a:r>
              <a:rPr lang="fr-FR" sz="2000">
                <a:solidFill>
                  <a:schemeClr val="bg1"/>
                </a:solidFill>
              </a:rPr>
              <a:t>Canada</a:t>
            </a:r>
          </a:p>
          <a:p>
            <a:pPr>
              <a:lnSpc>
                <a:spcPct val="155000"/>
              </a:lnSpc>
            </a:pPr>
            <a:r>
              <a:rPr lang="fr-FR" sz="2000">
                <a:solidFill>
                  <a:schemeClr val="bg1"/>
                </a:solidFill>
              </a:rPr>
              <a:t>France</a:t>
            </a:r>
          </a:p>
          <a:p>
            <a:pPr>
              <a:lnSpc>
                <a:spcPct val="155000"/>
              </a:lnSpc>
            </a:pPr>
            <a:r>
              <a:rPr lang="fr-FR" sz="2000">
                <a:solidFill>
                  <a:schemeClr val="bg1"/>
                </a:solidFill>
              </a:rPr>
              <a:t>Irlande du Nord</a:t>
            </a:r>
          </a:p>
          <a:p>
            <a:pPr>
              <a:lnSpc>
                <a:spcPct val="155000"/>
              </a:lnSpc>
            </a:pPr>
            <a:r>
              <a:rPr lang="fr-FR" sz="2000">
                <a:solidFill>
                  <a:schemeClr val="bg1"/>
                </a:solidFill>
              </a:rPr>
              <a:t>Australie </a:t>
            </a:r>
          </a:p>
          <a:p>
            <a:pPr>
              <a:lnSpc>
                <a:spcPct val="155000"/>
              </a:lnSpc>
            </a:pPr>
            <a:r>
              <a:rPr lang="fr-FR" sz="2000">
                <a:solidFill>
                  <a:schemeClr val="bg1"/>
                </a:solidFill>
              </a:rPr>
              <a:t>Espagne</a:t>
            </a:r>
          </a:p>
          <a:p>
            <a:pPr>
              <a:lnSpc>
                <a:spcPct val="155000"/>
              </a:lnSpc>
            </a:pPr>
            <a:r>
              <a:rPr lang="fr-FR" sz="2000">
                <a:solidFill>
                  <a:schemeClr val="bg1"/>
                </a:solidFill>
              </a:rPr>
              <a:t>Italie</a:t>
            </a:r>
          </a:p>
          <a:p>
            <a:pPr>
              <a:lnSpc>
                <a:spcPct val="155000"/>
              </a:lnSpc>
            </a:pPr>
            <a:r>
              <a:rPr lang="fr-FR" sz="2000">
                <a:solidFill>
                  <a:schemeClr val="bg1"/>
                </a:solidFill>
              </a:rPr>
              <a:t>Belgique</a:t>
            </a:r>
          </a:p>
        </p:txBody>
      </p:sp>
      <p:sp>
        <p:nvSpPr>
          <p:cNvPr id="20487" name="Line 7"/>
          <p:cNvSpPr>
            <a:spLocks noChangeShapeType="1"/>
          </p:cNvSpPr>
          <p:nvPr/>
        </p:nvSpPr>
        <p:spPr bwMode="auto">
          <a:xfrm>
            <a:off x="4876800" y="1524000"/>
            <a:ext cx="0" cy="5029200"/>
          </a:xfrm>
          <a:prstGeom prst="line">
            <a:avLst/>
          </a:prstGeom>
          <a:noFill/>
          <a:ln w="38100">
            <a:solidFill>
              <a:srgbClr val="FFFF00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86024" name="Rectangle 8"/>
          <p:cNvSpPr>
            <a:spLocks noChangeArrowheads="1"/>
          </p:cNvSpPr>
          <p:nvPr/>
        </p:nvSpPr>
        <p:spPr bwMode="auto">
          <a:xfrm>
            <a:off x="3810000" y="3201988"/>
            <a:ext cx="1981200" cy="228600"/>
          </a:xfrm>
          <a:prstGeom prst="rect">
            <a:avLst/>
          </a:prstGeom>
          <a:gradFill rotWithShape="0">
            <a:gsLst>
              <a:gs pos="0">
                <a:schemeClr val="accent1">
                  <a:gamma/>
                  <a:shade val="27451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27451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fr-FR"/>
          </a:p>
        </p:txBody>
      </p:sp>
      <p:sp>
        <p:nvSpPr>
          <p:cNvPr id="86025" name="Rectangle 9"/>
          <p:cNvSpPr>
            <a:spLocks noChangeArrowheads="1"/>
          </p:cNvSpPr>
          <p:nvPr/>
        </p:nvSpPr>
        <p:spPr bwMode="auto">
          <a:xfrm>
            <a:off x="2590800" y="2287588"/>
            <a:ext cx="3200400" cy="228600"/>
          </a:xfrm>
          <a:prstGeom prst="rect">
            <a:avLst/>
          </a:prstGeom>
          <a:gradFill rotWithShape="0">
            <a:gsLst>
              <a:gs pos="0">
                <a:schemeClr val="accent1">
                  <a:gamma/>
                  <a:shade val="27451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27451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fr-FR"/>
          </a:p>
        </p:txBody>
      </p:sp>
      <p:sp>
        <p:nvSpPr>
          <p:cNvPr id="86026" name="Rectangle 10"/>
          <p:cNvSpPr>
            <a:spLocks noChangeArrowheads="1"/>
          </p:cNvSpPr>
          <p:nvPr/>
        </p:nvSpPr>
        <p:spPr bwMode="auto">
          <a:xfrm>
            <a:off x="1219200" y="1830388"/>
            <a:ext cx="4572000" cy="228600"/>
          </a:xfrm>
          <a:prstGeom prst="rect">
            <a:avLst/>
          </a:prstGeom>
          <a:gradFill rotWithShape="0">
            <a:gsLst>
              <a:gs pos="0">
                <a:schemeClr val="accent1">
                  <a:gamma/>
                  <a:shade val="27451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27451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fr-FR"/>
          </a:p>
        </p:txBody>
      </p:sp>
      <p:sp>
        <p:nvSpPr>
          <p:cNvPr id="86027" name="Rectangle 11"/>
          <p:cNvSpPr>
            <a:spLocks noChangeArrowheads="1"/>
          </p:cNvSpPr>
          <p:nvPr/>
        </p:nvSpPr>
        <p:spPr bwMode="auto">
          <a:xfrm>
            <a:off x="3429000" y="2744788"/>
            <a:ext cx="2362200" cy="228600"/>
          </a:xfrm>
          <a:prstGeom prst="rect">
            <a:avLst/>
          </a:prstGeom>
          <a:gradFill rotWithShape="0">
            <a:gsLst>
              <a:gs pos="0">
                <a:schemeClr val="accent1">
                  <a:gamma/>
                  <a:shade val="27451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27451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fr-FR"/>
          </a:p>
        </p:txBody>
      </p:sp>
      <p:sp>
        <p:nvSpPr>
          <p:cNvPr id="86028" name="Rectangle 12"/>
          <p:cNvSpPr>
            <a:spLocks noChangeArrowheads="1"/>
          </p:cNvSpPr>
          <p:nvPr/>
        </p:nvSpPr>
        <p:spPr bwMode="auto">
          <a:xfrm>
            <a:off x="4953000" y="4191000"/>
            <a:ext cx="838200" cy="228600"/>
          </a:xfrm>
          <a:prstGeom prst="rect">
            <a:avLst/>
          </a:prstGeom>
          <a:gradFill rotWithShape="1">
            <a:gsLst>
              <a:gs pos="0">
                <a:srgbClr val="2E2E00"/>
              </a:gs>
              <a:gs pos="50000">
                <a:srgbClr val="FFFF00"/>
              </a:gs>
              <a:gs pos="100000">
                <a:srgbClr val="2E2E00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86029" name="Rectangle 13"/>
          <p:cNvSpPr>
            <a:spLocks noChangeArrowheads="1"/>
          </p:cNvSpPr>
          <p:nvPr/>
        </p:nvSpPr>
        <p:spPr bwMode="auto">
          <a:xfrm>
            <a:off x="5105400" y="4649788"/>
            <a:ext cx="685800" cy="228600"/>
          </a:xfrm>
          <a:prstGeom prst="rect">
            <a:avLst/>
          </a:prstGeom>
          <a:gradFill rotWithShape="0">
            <a:gsLst>
              <a:gs pos="0">
                <a:schemeClr val="accent1">
                  <a:gamma/>
                  <a:shade val="27451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27451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fr-FR"/>
          </a:p>
        </p:txBody>
      </p:sp>
      <p:sp>
        <p:nvSpPr>
          <p:cNvPr id="86030" name="Rectangle 14"/>
          <p:cNvSpPr>
            <a:spLocks noChangeArrowheads="1"/>
          </p:cNvSpPr>
          <p:nvPr/>
        </p:nvSpPr>
        <p:spPr bwMode="auto">
          <a:xfrm>
            <a:off x="5181600" y="5106988"/>
            <a:ext cx="609600" cy="228600"/>
          </a:xfrm>
          <a:prstGeom prst="rect">
            <a:avLst/>
          </a:prstGeom>
          <a:gradFill rotWithShape="0">
            <a:gsLst>
              <a:gs pos="0">
                <a:schemeClr val="accent1">
                  <a:gamma/>
                  <a:shade val="27451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27451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fr-FR"/>
          </a:p>
        </p:txBody>
      </p:sp>
      <p:sp>
        <p:nvSpPr>
          <p:cNvPr id="86031" name="Rectangle 15"/>
          <p:cNvSpPr>
            <a:spLocks noChangeArrowheads="1"/>
          </p:cNvSpPr>
          <p:nvPr/>
        </p:nvSpPr>
        <p:spPr bwMode="auto">
          <a:xfrm>
            <a:off x="4114800" y="3735388"/>
            <a:ext cx="1676400" cy="228600"/>
          </a:xfrm>
          <a:prstGeom prst="rect">
            <a:avLst/>
          </a:prstGeom>
          <a:gradFill rotWithShape="0">
            <a:gsLst>
              <a:gs pos="0">
                <a:schemeClr val="accent1">
                  <a:gamma/>
                  <a:shade val="27451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27451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fr-FR"/>
          </a:p>
        </p:txBody>
      </p:sp>
      <p:sp>
        <p:nvSpPr>
          <p:cNvPr id="86032" name="Rectangle 16"/>
          <p:cNvSpPr>
            <a:spLocks noChangeArrowheads="1"/>
          </p:cNvSpPr>
          <p:nvPr/>
        </p:nvSpPr>
        <p:spPr bwMode="auto">
          <a:xfrm>
            <a:off x="5181600" y="5564188"/>
            <a:ext cx="609600" cy="228600"/>
          </a:xfrm>
          <a:prstGeom prst="rect">
            <a:avLst/>
          </a:prstGeom>
          <a:gradFill rotWithShape="0">
            <a:gsLst>
              <a:gs pos="0">
                <a:schemeClr val="accent1">
                  <a:gamma/>
                  <a:shade val="27451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27451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fr-FR"/>
          </a:p>
        </p:txBody>
      </p:sp>
      <p:sp>
        <p:nvSpPr>
          <p:cNvPr id="86033" name="Rectangle 17"/>
          <p:cNvSpPr>
            <a:spLocks noChangeArrowheads="1"/>
          </p:cNvSpPr>
          <p:nvPr/>
        </p:nvSpPr>
        <p:spPr bwMode="auto">
          <a:xfrm>
            <a:off x="5334000" y="5945188"/>
            <a:ext cx="457200" cy="228600"/>
          </a:xfrm>
          <a:prstGeom prst="rect">
            <a:avLst/>
          </a:prstGeom>
          <a:gradFill rotWithShape="0">
            <a:gsLst>
              <a:gs pos="0">
                <a:schemeClr val="accent1">
                  <a:gamma/>
                  <a:shade val="27451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27451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fr-FR"/>
          </a:p>
        </p:txBody>
      </p:sp>
      <p:sp>
        <p:nvSpPr>
          <p:cNvPr id="86034" name="Rectangle 18"/>
          <p:cNvSpPr>
            <a:spLocks noChangeArrowheads="1"/>
          </p:cNvSpPr>
          <p:nvPr/>
        </p:nvSpPr>
        <p:spPr bwMode="auto">
          <a:xfrm>
            <a:off x="5867400" y="6402388"/>
            <a:ext cx="381000" cy="228600"/>
          </a:xfrm>
          <a:prstGeom prst="rect">
            <a:avLst/>
          </a:prstGeom>
          <a:gradFill rotWithShape="0">
            <a:gsLst>
              <a:gs pos="0">
                <a:schemeClr val="accent1">
                  <a:gamma/>
                  <a:shade val="27451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27451"/>
                  <a:invGamma/>
                </a:schemeClr>
              </a:gs>
            </a:gsLst>
            <a:lin ang="5400000" scaled="1"/>
          </a:gradFill>
          <a:ln w="9525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fr-FR"/>
          </a:p>
        </p:txBody>
      </p:sp>
      <p:sp>
        <p:nvSpPr>
          <p:cNvPr id="20499" name="Line 19"/>
          <p:cNvSpPr>
            <a:spLocks noChangeShapeType="1"/>
          </p:cNvSpPr>
          <p:nvPr/>
        </p:nvSpPr>
        <p:spPr bwMode="auto">
          <a:xfrm>
            <a:off x="5867400" y="1981200"/>
            <a:ext cx="1066800" cy="0"/>
          </a:xfrm>
          <a:prstGeom prst="line">
            <a:avLst/>
          </a:prstGeom>
          <a:noFill/>
          <a:ln w="9525">
            <a:solidFill>
              <a:srgbClr val="FFFF00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0500" name="Line 20"/>
          <p:cNvSpPr>
            <a:spLocks noChangeShapeType="1"/>
          </p:cNvSpPr>
          <p:nvPr/>
        </p:nvSpPr>
        <p:spPr bwMode="auto">
          <a:xfrm>
            <a:off x="5867400" y="2438400"/>
            <a:ext cx="1066800" cy="0"/>
          </a:xfrm>
          <a:prstGeom prst="line">
            <a:avLst/>
          </a:prstGeom>
          <a:noFill/>
          <a:ln w="9525">
            <a:solidFill>
              <a:srgbClr val="FFFF00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0501" name="Line 21"/>
          <p:cNvSpPr>
            <a:spLocks noChangeShapeType="1"/>
          </p:cNvSpPr>
          <p:nvPr/>
        </p:nvSpPr>
        <p:spPr bwMode="auto">
          <a:xfrm>
            <a:off x="5867400" y="2895600"/>
            <a:ext cx="1066800" cy="0"/>
          </a:xfrm>
          <a:prstGeom prst="line">
            <a:avLst/>
          </a:prstGeom>
          <a:noFill/>
          <a:ln w="9525">
            <a:solidFill>
              <a:srgbClr val="FFFF00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0502" name="Line 22"/>
          <p:cNvSpPr>
            <a:spLocks noChangeShapeType="1"/>
          </p:cNvSpPr>
          <p:nvPr/>
        </p:nvSpPr>
        <p:spPr bwMode="auto">
          <a:xfrm>
            <a:off x="5867400" y="3352800"/>
            <a:ext cx="1066800" cy="0"/>
          </a:xfrm>
          <a:prstGeom prst="line">
            <a:avLst/>
          </a:prstGeom>
          <a:noFill/>
          <a:ln w="9525">
            <a:solidFill>
              <a:srgbClr val="FFFF00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0503" name="Line 23"/>
          <p:cNvSpPr>
            <a:spLocks noChangeShapeType="1"/>
          </p:cNvSpPr>
          <p:nvPr/>
        </p:nvSpPr>
        <p:spPr bwMode="auto">
          <a:xfrm>
            <a:off x="5867400" y="3810000"/>
            <a:ext cx="1066800" cy="0"/>
          </a:xfrm>
          <a:prstGeom prst="line">
            <a:avLst/>
          </a:prstGeom>
          <a:noFill/>
          <a:ln w="9525">
            <a:solidFill>
              <a:srgbClr val="FFFF00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0504" name="Line 24"/>
          <p:cNvSpPr>
            <a:spLocks noChangeShapeType="1"/>
          </p:cNvSpPr>
          <p:nvPr/>
        </p:nvSpPr>
        <p:spPr bwMode="auto">
          <a:xfrm>
            <a:off x="5867400" y="4267200"/>
            <a:ext cx="1066800" cy="0"/>
          </a:xfrm>
          <a:prstGeom prst="line">
            <a:avLst/>
          </a:prstGeom>
          <a:noFill/>
          <a:ln w="9525">
            <a:solidFill>
              <a:srgbClr val="FFFF00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0505" name="Line 25"/>
          <p:cNvSpPr>
            <a:spLocks noChangeShapeType="1"/>
          </p:cNvSpPr>
          <p:nvPr/>
        </p:nvSpPr>
        <p:spPr bwMode="auto">
          <a:xfrm>
            <a:off x="5867400" y="4724400"/>
            <a:ext cx="1066800" cy="0"/>
          </a:xfrm>
          <a:prstGeom prst="line">
            <a:avLst/>
          </a:prstGeom>
          <a:noFill/>
          <a:ln w="9525">
            <a:solidFill>
              <a:srgbClr val="FFFF00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0506" name="Line 26"/>
          <p:cNvSpPr>
            <a:spLocks noChangeShapeType="1"/>
          </p:cNvSpPr>
          <p:nvPr/>
        </p:nvSpPr>
        <p:spPr bwMode="auto">
          <a:xfrm>
            <a:off x="5867400" y="5257800"/>
            <a:ext cx="1066800" cy="0"/>
          </a:xfrm>
          <a:prstGeom prst="line">
            <a:avLst/>
          </a:prstGeom>
          <a:noFill/>
          <a:ln w="9525">
            <a:solidFill>
              <a:srgbClr val="FFFF00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0507" name="Line 27"/>
          <p:cNvSpPr>
            <a:spLocks noChangeShapeType="1"/>
          </p:cNvSpPr>
          <p:nvPr/>
        </p:nvSpPr>
        <p:spPr bwMode="auto">
          <a:xfrm>
            <a:off x="5867400" y="5715000"/>
            <a:ext cx="1066800" cy="0"/>
          </a:xfrm>
          <a:prstGeom prst="line">
            <a:avLst/>
          </a:prstGeom>
          <a:noFill/>
          <a:ln w="9525">
            <a:solidFill>
              <a:srgbClr val="FFFF00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0508" name="Line 28"/>
          <p:cNvSpPr>
            <a:spLocks noChangeShapeType="1"/>
          </p:cNvSpPr>
          <p:nvPr/>
        </p:nvSpPr>
        <p:spPr bwMode="auto">
          <a:xfrm>
            <a:off x="5867400" y="6172200"/>
            <a:ext cx="1066800" cy="0"/>
          </a:xfrm>
          <a:prstGeom prst="line">
            <a:avLst/>
          </a:prstGeom>
          <a:noFill/>
          <a:ln w="9525">
            <a:solidFill>
              <a:srgbClr val="FFFF00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0509" name="Line 29"/>
          <p:cNvSpPr>
            <a:spLocks noChangeShapeType="1"/>
          </p:cNvSpPr>
          <p:nvPr/>
        </p:nvSpPr>
        <p:spPr bwMode="auto">
          <a:xfrm>
            <a:off x="6248400" y="6629400"/>
            <a:ext cx="685800" cy="0"/>
          </a:xfrm>
          <a:prstGeom prst="line">
            <a:avLst/>
          </a:prstGeom>
          <a:noFill/>
          <a:ln w="9525">
            <a:solidFill>
              <a:srgbClr val="FFFF00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0510" name="Line 30"/>
          <p:cNvSpPr>
            <a:spLocks noChangeShapeType="1"/>
          </p:cNvSpPr>
          <p:nvPr/>
        </p:nvSpPr>
        <p:spPr bwMode="auto">
          <a:xfrm>
            <a:off x="3581400" y="1600200"/>
            <a:ext cx="0" cy="4876800"/>
          </a:xfrm>
          <a:prstGeom prst="line">
            <a:avLst/>
          </a:prstGeom>
          <a:noFill/>
          <a:ln w="9525">
            <a:solidFill>
              <a:schemeClr val="hlink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0511" name="Line 31"/>
          <p:cNvSpPr>
            <a:spLocks noChangeShapeType="1"/>
          </p:cNvSpPr>
          <p:nvPr/>
        </p:nvSpPr>
        <p:spPr bwMode="auto">
          <a:xfrm>
            <a:off x="2362200" y="1600200"/>
            <a:ext cx="0" cy="4876800"/>
          </a:xfrm>
          <a:prstGeom prst="line">
            <a:avLst/>
          </a:prstGeom>
          <a:noFill/>
          <a:ln w="9525">
            <a:solidFill>
              <a:schemeClr val="hlink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0512" name="Line 32"/>
          <p:cNvSpPr>
            <a:spLocks noChangeShapeType="1"/>
          </p:cNvSpPr>
          <p:nvPr/>
        </p:nvSpPr>
        <p:spPr bwMode="auto">
          <a:xfrm>
            <a:off x="1143000" y="1600200"/>
            <a:ext cx="0" cy="4876800"/>
          </a:xfrm>
          <a:prstGeom prst="line">
            <a:avLst/>
          </a:prstGeom>
          <a:noFill/>
          <a:ln w="9525">
            <a:solidFill>
              <a:schemeClr val="hlink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0513" name="Text Box 33"/>
          <p:cNvSpPr txBox="1">
            <a:spLocks noChangeArrowheads="1"/>
          </p:cNvSpPr>
          <p:nvPr/>
        </p:nvSpPr>
        <p:spPr bwMode="auto">
          <a:xfrm>
            <a:off x="1050925" y="6411913"/>
            <a:ext cx="3875088" cy="4064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sz="2000">
                <a:solidFill>
                  <a:schemeClr val="bg1"/>
                </a:solidFill>
              </a:rPr>
              <a:t>Taux de changement annuel (%)</a:t>
            </a:r>
          </a:p>
        </p:txBody>
      </p:sp>
      <p:sp>
        <p:nvSpPr>
          <p:cNvPr id="34" name="Rectangle 2"/>
          <p:cNvSpPr>
            <a:spLocks noChangeArrowheads="1"/>
          </p:cNvSpPr>
          <p:nvPr/>
        </p:nvSpPr>
        <p:spPr bwMode="auto">
          <a:xfrm>
            <a:off x="0" y="4572000"/>
            <a:ext cx="4857750" cy="1928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r>
              <a:rPr lang="fr-CA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</a:rPr>
              <a:t>    BAISSES MOYENNES POUR TOUTES LES 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fr-CA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</a:rPr>
              <a:t>    TRANCHES AGE/SEXE/PAYS EN 20 ANS:</a:t>
            </a:r>
          </a:p>
          <a:p>
            <a:pPr marL="1052513" lvl="1" indent="-287338">
              <a:spcBef>
                <a:spcPct val="20000"/>
              </a:spcBef>
              <a:buFontTx/>
              <a:buChar char="–"/>
              <a:defRPr/>
            </a:pPr>
            <a:r>
              <a:rPr lang="fr-CA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</a:rPr>
              <a:t> 0.43 % par an    </a:t>
            </a:r>
          </a:p>
          <a:p>
            <a:pPr marL="1052513" lvl="1" indent="-287338">
              <a:spcBef>
                <a:spcPct val="20000"/>
              </a:spcBef>
              <a:buFontTx/>
              <a:buChar char="–"/>
              <a:defRPr/>
            </a:pPr>
            <a:r>
              <a:rPr lang="fr-CA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</a:rPr>
              <a:t> 8.6 %  sur 20 ans</a:t>
            </a:r>
          </a:p>
          <a:p>
            <a:pPr marL="1052513" lvl="1" indent="-287338">
              <a:spcBef>
                <a:spcPct val="20000"/>
              </a:spcBef>
              <a:buFontTx/>
              <a:buChar char="–"/>
              <a:defRPr/>
            </a:pPr>
            <a:r>
              <a:rPr lang="fr-CA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</a:rPr>
              <a:t>~ 3.84 ml O</a:t>
            </a:r>
            <a:r>
              <a:rPr lang="fr-CA" sz="1400" b="1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</a:rPr>
              <a:t>2</a:t>
            </a:r>
            <a:r>
              <a:rPr lang="fr-CA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</a:rPr>
              <a:t> kg</a:t>
            </a:r>
            <a:r>
              <a:rPr lang="fr-CA" sz="1400" b="1" baseline="300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</a:rPr>
              <a:t>-1</a:t>
            </a:r>
            <a:r>
              <a:rPr lang="fr-CA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</a:rPr>
              <a:t> min</a:t>
            </a:r>
            <a:r>
              <a:rPr lang="fr-CA" sz="1400" b="1" baseline="300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</a:rPr>
              <a:t>-1</a:t>
            </a:r>
            <a:r>
              <a:rPr lang="fr-CA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</a:rPr>
              <a:t> sur 20 ans !</a:t>
            </a:r>
            <a:endParaRPr lang="fr-FR" sz="14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Bookman Old Style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6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6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6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6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60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60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60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60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7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6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6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60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60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7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60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60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60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60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0"/>
                            </p:stCondLst>
                            <p:childTnLst>
                              <p:par>
                                <p:cTn id="33" presetID="17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6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6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60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60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0"/>
                            </p:stCondLst>
                            <p:childTnLst>
                              <p:par>
                                <p:cTn id="40" presetID="17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6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6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60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60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8000"/>
                            </p:stCondLst>
                            <p:childTnLst>
                              <p:par>
                                <p:cTn id="47" presetID="17" presetClass="entr" presetSubtype="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6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6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860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860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500"/>
                            </p:stCondLst>
                            <p:childTnLst>
                              <p:par>
                                <p:cTn id="54" presetID="17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6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6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860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860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000"/>
                            </p:stCondLst>
                            <p:childTnLst>
                              <p:par>
                                <p:cTn id="61" presetID="17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86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86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860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860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3500"/>
                            </p:stCondLst>
                            <p:childTnLst>
                              <p:par>
                                <p:cTn id="68" presetID="17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860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860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860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860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000"/>
                            </p:stCondLst>
                            <p:childTnLst>
                              <p:par>
                                <p:cTn id="75" presetID="17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86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86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860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860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24" grpId="0" animBg="1"/>
      <p:bldP spid="86025" grpId="0" animBg="1"/>
      <p:bldP spid="86026" grpId="0" animBg="1"/>
      <p:bldP spid="86027" grpId="0" animBg="1"/>
      <p:bldP spid="86028" grpId="0" animBg="1"/>
      <p:bldP spid="86029" grpId="0" animBg="1"/>
      <p:bldP spid="86030" grpId="0" animBg="1"/>
      <p:bldP spid="86031" grpId="0" animBg="1"/>
      <p:bldP spid="86032" grpId="0" animBg="1"/>
      <p:bldP spid="86033" grpId="0" animBg="1"/>
      <p:bldP spid="86034" grpId="0" animBg="1"/>
      <p:bldP spid="34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941388" y="274638"/>
            <a:ext cx="6858000" cy="609600"/>
          </a:xfrm>
        </p:spPr>
        <p:txBody>
          <a:bodyPr/>
          <a:lstStyle/>
          <a:p>
            <a:pPr eaLnBrk="1" hangingPunct="1">
              <a:defRPr/>
            </a:pPr>
            <a:r>
              <a:rPr lang="fr-CA" sz="32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EXPLICATIONS POSSIBLES :</a:t>
            </a:r>
            <a:endParaRPr lang="fr-FR" sz="3200" b="1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itchFamily="18" charset="0"/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1981200"/>
            <a:ext cx="7772400" cy="3429000"/>
          </a:xfrm>
        </p:spPr>
        <p:txBody>
          <a:bodyPr/>
          <a:lstStyle/>
          <a:p>
            <a:pPr eaLnBrk="1" hangingPunct="1"/>
            <a:r>
              <a:rPr lang="fr-FR" sz="2400" b="1" smtClean="0">
                <a:solidFill>
                  <a:schemeClr val="bg1"/>
                </a:solidFill>
                <a:latin typeface="Bookman Old Style" pitchFamily="18" charset="0"/>
              </a:rPr>
              <a:t>Aptitude physique </a:t>
            </a:r>
            <a:r>
              <a:rPr lang="fr-FR" sz="2400" b="1" smtClean="0">
                <a:solidFill>
                  <a:schemeClr val="bg1"/>
                </a:solidFill>
                <a:latin typeface="Bookman Old Style" pitchFamily="18" charset="0"/>
                <a:sym typeface="Symbol" pitchFamily="18" charset="2"/>
              </a:rPr>
              <a:t></a:t>
            </a:r>
            <a:r>
              <a:rPr lang="fr-CA" sz="2400" b="1" smtClean="0">
                <a:solidFill>
                  <a:schemeClr val="bg1"/>
                </a:solidFill>
                <a:latin typeface="Bookman Old Style" pitchFamily="18" charset="0"/>
              </a:rPr>
              <a:t> (</a:t>
            </a:r>
            <a:r>
              <a:rPr lang="fr-FR" sz="2800" b="1" smtClean="0">
                <a:solidFill>
                  <a:schemeClr val="bg1"/>
                </a:solidFill>
                <a:latin typeface="Bookman Old Style" pitchFamily="18" charset="0"/>
              </a:rPr>
              <a:t>presque toutes les études convergent)</a:t>
            </a:r>
          </a:p>
          <a:p>
            <a:pPr lvl="1" eaLnBrk="1" hangingPunct="1">
              <a:buFontTx/>
              <a:buNone/>
            </a:pPr>
            <a:r>
              <a:rPr lang="fr-FR" sz="2400" b="1" smtClean="0">
                <a:solidFill>
                  <a:schemeClr val="bg1"/>
                </a:solidFill>
                <a:latin typeface="Bookman Old Style" pitchFamily="18" charset="0"/>
              </a:rPr>
              <a:t>	 - Activités physiques sportives </a:t>
            </a:r>
            <a:r>
              <a:rPr lang="fr-FR" sz="2400" b="1" smtClean="0">
                <a:solidFill>
                  <a:schemeClr val="bg1"/>
                </a:solidFill>
                <a:latin typeface="Bookman Old Style" pitchFamily="18" charset="0"/>
                <a:sym typeface="Symbol" pitchFamily="18" charset="2"/>
              </a:rPr>
              <a:t></a:t>
            </a:r>
          </a:p>
          <a:p>
            <a:pPr lvl="1" eaLnBrk="1" hangingPunct="1">
              <a:buFontTx/>
              <a:buNone/>
            </a:pPr>
            <a:r>
              <a:rPr lang="fr-FR" sz="2400" b="1" smtClean="0">
                <a:solidFill>
                  <a:schemeClr val="bg1"/>
                </a:solidFill>
                <a:latin typeface="Bookman Old Style" pitchFamily="18" charset="0"/>
                <a:sym typeface="Symbol" pitchFamily="18" charset="2"/>
              </a:rPr>
              <a:t>	 - </a:t>
            </a:r>
            <a:r>
              <a:rPr lang="fr-FR" sz="2400" b="1" smtClean="0">
                <a:solidFill>
                  <a:schemeClr val="bg1"/>
                </a:solidFill>
                <a:latin typeface="Bookman Old Style" pitchFamily="18" charset="0"/>
              </a:rPr>
              <a:t>Activités physiques domestiques </a:t>
            </a:r>
            <a:r>
              <a:rPr lang="fr-FR" sz="2400" b="1" smtClean="0">
                <a:solidFill>
                  <a:schemeClr val="bg1"/>
                </a:solidFill>
                <a:latin typeface="Bookman Old Style" pitchFamily="18" charset="0"/>
                <a:sym typeface="Symbol" pitchFamily="18" charset="2"/>
              </a:rPr>
              <a:t></a:t>
            </a:r>
          </a:p>
          <a:p>
            <a:pPr lvl="1" eaLnBrk="1" hangingPunct="1">
              <a:buFontTx/>
              <a:buNone/>
            </a:pPr>
            <a:endParaRPr lang="fr-FR" sz="2400" b="1" smtClean="0">
              <a:solidFill>
                <a:schemeClr val="bg1"/>
              </a:solidFill>
              <a:latin typeface="Bookman Old Style" pitchFamily="18" charset="0"/>
              <a:sym typeface="Symbol" pitchFamily="18" charset="2"/>
            </a:endParaRPr>
          </a:p>
          <a:p>
            <a:pPr lvl="1" eaLnBrk="1" hangingPunct="1">
              <a:buFontTx/>
              <a:buNone/>
            </a:pPr>
            <a:r>
              <a:rPr lang="fr-FR" sz="2400" b="1" smtClean="0">
                <a:solidFill>
                  <a:schemeClr val="bg1"/>
                </a:solidFill>
                <a:latin typeface="Bookman Old Style" pitchFamily="18" charset="0"/>
              </a:rPr>
              <a:t>	 - TV-jeux vidéo-internet </a:t>
            </a:r>
            <a:r>
              <a:rPr lang="fr-FR" sz="2400" b="1" smtClean="0">
                <a:solidFill>
                  <a:schemeClr val="bg1"/>
                </a:solidFill>
                <a:latin typeface="Bookman Old Style" pitchFamily="18" charset="0"/>
                <a:sym typeface="Symbol" pitchFamily="18" charset="2"/>
              </a:rPr>
              <a:t></a:t>
            </a:r>
          </a:p>
          <a:p>
            <a:pPr lvl="1" eaLnBrk="1" hangingPunct="1">
              <a:buFontTx/>
              <a:buNone/>
            </a:pPr>
            <a:r>
              <a:rPr lang="fr-FR" sz="2400" b="1" smtClean="0">
                <a:solidFill>
                  <a:schemeClr val="bg1"/>
                </a:solidFill>
                <a:latin typeface="Bookman Old Style" pitchFamily="18" charset="0"/>
                <a:sym typeface="Symbol" pitchFamily="18" charset="2"/>
              </a:rPr>
              <a:t>	 - </a:t>
            </a:r>
            <a:r>
              <a:rPr lang="fr-CA" sz="2400" b="1" smtClean="0">
                <a:solidFill>
                  <a:schemeClr val="bg1"/>
                </a:solidFill>
                <a:latin typeface="Bookman Old Style" pitchFamily="18" charset="0"/>
              </a:rPr>
              <a:t>Transport motorisé</a:t>
            </a:r>
            <a:r>
              <a:rPr lang="fr-FR" sz="2400" smtClean="0">
                <a:solidFill>
                  <a:schemeClr val="bg1"/>
                </a:solidFill>
                <a:latin typeface="Bookman Old Style" pitchFamily="18" charset="0"/>
              </a:rPr>
              <a:t> </a:t>
            </a:r>
            <a:r>
              <a:rPr lang="fr-FR" sz="2400" b="1" smtClean="0">
                <a:solidFill>
                  <a:schemeClr val="bg1"/>
                </a:solidFill>
                <a:latin typeface="Bookman Old Style" pitchFamily="18" charset="0"/>
                <a:sym typeface="Symbol" pitchFamily="18" charset="2"/>
              </a:rPr>
              <a:t></a:t>
            </a:r>
            <a:endParaRPr lang="fr-FR" sz="2400" smtClean="0">
              <a:solidFill>
                <a:schemeClr val="bg1"/>
              </a:solidFill>
              <a:latin typeface="Bookman Old Style" pitchFamily="18" charset="0"/>
            </a:endParaRPr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762000" y="5791200"/>
            <a:ext cx="6248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lvl="1">
              <a:spcBef>
                <a:spcPct val="20000"/>
              </a:spcBef>
              <a:buFontTx/>
              <a:buChar char="•"/>
            </a:pPr>
            <a:r>
              <a:rPr lang="fr-FR" sz="2400" b="1">
                <a:solidFill>
                  <a:schemeClr val="bg1"/>
                </a:solidFill>
                <a:latin typeface="Bookman Old Style" pitchFamily="18" charset="0"/>
                <a:sym typeface="Symbol" pitchFamily="18" charset="2"/>
              </a:rPr>
              <a:t>  Ingestion alimentaire</a:t>
            </a:r>
            <a:r>
              <a:rPr lang="fr-FR" sz="2400">
                <a:solidFill>
                  <a:schemeClr val="bg1"/>
                </a:solidFill>
                <a:latin typeface="Bookman Old Style" pitchFamily="18" charset="0"/>
              </a:rPr>
              <a:t> </a:t>
            </a:r>
            <a:r>
              <a:rPr lang="fr-FR" sz="2400" b="1">
                <a:solidFill>
                  <a:schemeClr val="bg1"/>
                </a:solidFill>
                <a:latin typeface="Bookman Old Style" pitchFamily="18" charset="0"/>
              </a:rPr>
              <a:t>&amp; IMC</a:t>
            </a:r>
            <a:r>
              <a:rPr lang="fr-FR" sz="2400">
                <a:solidFill>
                  <a:schemeClr val="bg1"/>
                </a:solidFill>
                <a:latin typeface="Bookman Old Style" pitchFamily="18" charset="0"/>
              </a:rPr>
              <a:t> </a:t>
            </a:r>
            <a:r>
              <a:rPr lang="fr-FR" sz="2400" b="1">
                <a:solidFill>
                  <a:schemeClr val="bg1"/>
                </a:solidFill>
                <a:latin typeface="Bookman Old Style" pitchFamily="18" charset="0"/>
                <a:sym typeface="Symbol" pitchFamily="18" charset="2"/>
              </a:rPr>
              <a:t></a:t>
            </a:r>
          </a:p>
        </p:txBody>
      </p:sp>
      <p:sp>
        <p:nvSpPr>
          <p:cNvPr id="21509" name="Text Box 5"/>
          <p:cNvSpPr txBox="1">
            <a:spLocks noChangeArrowheads="1"/>
          </p:cNvSpPr>
          <p:nvPr/>
        </p:nvSpPr>
        <p:spPr bwMode="auto">
          <a:xfrm>
            <a:off x="746125" y="3135313"/>
            <a:ext cx="876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sz="2000" b="1">
                <a:solidFill>
                  <a:schemeClr val="bg1"/>
                </a:solidFill>
                <a:latin typeface="Bookman Old Style" pitchFamily="18" charset="0"/>
              </a:rPr>
              <a:t>NAP</a:t>
            </a:r>
            <a:r>
              <a:rPr lang="fr-FR" sz="2000" b="1">
                <a:solidFill>
                  <a:schemeClr val="bg1"/>
                </a:solidFill>
                <a:latin typeface="Bookman Old Style" pitchFamily="18" charset="0"/>
                <a:sym typeface="Symbol" pitchFamily="18" charset="2"/>
              </a:rPr>
              <a:t></a:t>
            </a:r>
            <a:endParaRPr lang="fr-FR" sz="2000" b="1">
              <a:solidFill>
                <a:schemeClr val="bg1"/>
              </a:solidFill>
              <a:latin typeface="Bookman Old Style" pitchFamily="18" charset="0"/>
            </a:endParaRPr>
          </a:p>
        </p:txBody>
      </p:sp>
      <p:sp>
        <p:nvSpPr>
          <p:cNvPr id="21510" name="AutoShape 6"/>
          <p:cNvSpPr>
            <a:spLocks/>
          </p:cNvSpPr>
          <p:nvPr/>
        </p:nvSpPr>
        <p:spPr bwMode="auto">
          <a:xfrm>
            <a:off x="1676400" y="2971800"/>
            <a:ext cx="228600" cy="685800"/>
          </a:xfrm>
          <a:prstGeom prst="leftBrace">
            <a:avLst>
              <a:gd name="adj1" fmla="val 25000"/>
              <a:gd name="adj2" fmla="val 50000"/>
            </a:avLst>
          </a:prstGeom>
          <a:noFill/>
          <a:ln w="2857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1511" name="AutoShape 7"/>
          <p:cNvSpPr>
            <a:spLocks/>
          </p:cNvSpPr>
          <p:nvPr/>
        </p:nvSpPr>
        <p:spPr bwMode="auto">
          <a:xfrm>
            <a:off x="1676400" y="4343400"/>
            <a:ext cx="228600" cy="685800"/>
          </a:xfrm>
          <a:prstGeom prst="leftBrace">
            <a:avLst>
              <a:gd name="adj1" fmla="val 25000"/>
              <a:gd name="adj2" fmla="val 50000"/>
            </a:avLst>
          </a:prstGeom>
          <a:noFill/>
          <a:ln w="2857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1512" name="Text Box 8"/>
          <p:cNvSpPr txBox="1">
            <a:spLocks noChangeArrowheads="1"/>
          </p:cNvSpPr>
          <p:nvPr/>
        </p:nvSpPr>
        <p:spPr bwMode="auto">
          <a:xfrm>
            <a:off x="804863" y="4479925"/>
            <a:ext cx="7953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sz="2000" b="1">
                <a:solidFill>
                  <a:schemeClr val="bg1"/>
                </a:solidFill>
                <a:latin typeface="Bookman Old Style" pitchFamily="18" charset="0"/>
              </a:rPr>
              <a:t>NIP</a:t>
            </a:r>
            <a:r>
              <a:rPr lang="fr-FR" sz="2000" b="1">
                <a:solidFill>
                  <a:schemeClr val="bg1"/>
                </a:solidFill>
                <a:latin typeface="Bookman Old Style" pitchFamily="18" charset="0"/>
                <a:sym typeface="Symbol" pitchFamily="18" charset="2"/>
              </a:rPr>
              <a:t></a:t>
            </a:r>
            <a:endParaRPr lang="fr-FR" sz="2000" b="1">
              <a:solidFill>
                <a:schemeClr val="bg1"/>
              </a:solidFill>
              <a:latin typeface="Bookman Old Style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 eaLnBrk="1" hangingPunct="1">
              <a:buFontTx/>
              <a:buNone/>
              <a:defRPr/>
            </a:pPr>
            <a:r>
              <a:rPr lang="es-CL" sz="3600" i="1" dirty="0" smtClean="0">
                <a:solidFill>
                  <a:schemeClr val="bg1"/>
                </a:solidFill>
              </a:rPr>
              <a:t>  </a:t>
            </a:r>
          </a:p>
          <a:p>
            <a:pPr algn="ctr" eaLnBrk="1" hangingPunct="1">
              <a:buFontTx/>
              <a:buNone/>
              <a:defRPr/>
            </a:pPr>
            <a:r>
              <a:rPr lang="es-CL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…</a:t>
            </a:r>
            <a:r>
              <a:rPr lang="es-CL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aux</a:t>
            </a:r>
            <a:r>
              <a:rPr lang="es-CL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 </a:t>
            </a:r>
            <a:r>
              <a:rPr lang="es-CL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bénéfices</a:t>
            </a:r>
            <a:r>
              <a:rPr lang="es-CL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 </a:t>
            </a:r>
            <a:r>
              <a:rPr lang="es-CL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d’une</a:t>
            </a:r>
            <a:r>
              <a:rPr lang="es-CL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 </a:t>
            </a:r>
            <a:r>
              <a:rPr lang="es-CL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pratique</a:t>
            </a:r>
            <a:r>
              <a:rPr lang="es-CL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 </a:t>
            </a:r>
          </a:p>
          <a:p>
            <a:pPr algn="ctr" eaLnBrk="1" hangingPunct="1">
              <a:buFontTx/>
              <a:buNone/>
              <a:defRPr/>
            </a:pPr>
            <a:r>
              <a:rPr lang="es-CL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régulière</a:t>
            </a:r>
            <a:r>
              <a:rPr lang="es-CL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 </a:t>
            </a:r>
            <a:r>
              <a:rPr lang="es-CL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d’activités</a:t>
            </a:r>
            <a:r>
              <a:rPr lang="es-CL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 </a:t>
            </a:r>
            <a:r>
              <a:rPr lang="es-CL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physiques</a:t>
            </a:r>
            <a:endParaRPr lang="es-CL" b="1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Line 2"/>
          <p:cNvSpPr>
            <a:spLocks noChangeShapeType="1"/>
          </p:cNvSpPr>
          <p:nvPr/>
        </p:nvSpPr>
        <p:spPr bwMode="auto">
          <a:xfrm>
            <a:off x="1616075" y="493713"/>
            <a:ext cx="0" cy="41910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3555" name="Line 3"/>
          <p:cNvSpPr>
            <a:spLocks noChangeShapeType="1"/>
          </p:cNvSpPr>
          <p:nvPr/>
        </p:nvSpPr>
        <p:spPr bwMode="auto">
          <a:xfrm>
            <a:off x="1616075" y="4684713"/>
            <a:ext cx="6553200" cy="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3556" name="Text Box 4"/>
          <p:cNvSpPr txBox="1">
            <a:spLocks noChangeArrowheads="1"/>
          </p:cNvSpPr>
          <p:nvPr/>
        </p:nvSpPr>
        <p:spPr bwMode="auto">
          <a:xfrm>
            <a:off x="1082675" y="646113"/>
            <a:ext cx="577850" cy="40592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lang="fr-FR">
                <a:solidFill>
                  <a:schemeClr val="bg1"/>
                </a:solidFill>
              </a:rPr>
              <a:t>80 -</a:t>
            </a:r>
          </a:p>
          <a:p>
            <a:pPr eaLnBrk="0" hangingPunct="0">
              <a:lnSpc>
                <a:spcPct val="85000"/>
              </a:lnSpc>
            </a:pPr>
            <a:endParaRPr lang="fr-FR">
              <a:solidFill>
                <a:schemeClr val="bg1"/>
              </a:solidFill>
            </a:endParaRPr>
          </a:p>
          <a:p>
            <a:pPr eaLnBrk="0" hangingPunct="0">
              <a:lnSpc>
                <a:spcPct val="85000"/>
              </a:lnSpc>
            </a:pPr>
            <a:endParaRPr lang="fr-FR">
              <a:solidFill>
                <a:schemeClr val="bg1"/>
              </a:solidFill>
            </a:endParaRPr>
          </a:p>
          <a:p>
            <a:pPr eaLnBrk="0" hangingPunct="0">
              <a:lnSpc>
                <a:spcPct val="85000"/>
              </a:lnSpc>
            </a:pPr>
            <a:endParaRPr lang="fr-FR">
              <a:solidFill>
                <a:schemeClr val="bg1"/>
              </a:solidFill>
            </a:endParaRPr>
          </a:p>
          <a:p>
            <a:pPr eaLnBrk="0" hangingPunct="0">
              <a:lnSpc>
                <a:spcPct val="85000"/>
              </a:lnSpc>
            </a:pPr>
            <a:r>
              <a:rPr lang="fr-FR">
                <a:solidFill>
                  <a:schemeClr val="bg1"/>
                </a:solidFill>
              </a:rPr>
              <a:t>60 -</a:t>
            </a:r>
          </a:p>
          <a:p>
            <a:pPr eaLnBrk="0" hangingPunct="0">
              <a:lnSpc>
                <a:spcPct val="85000"/>
              </a:lnSpc>
            </a:pPr>
            <a:endParaRPr lang="fr-FR">
              <a:solidFill>
                <a:schemeClr val="bg1"/>
              </a:solidFill>
            </a:endParaRPr>
          </a:p>
          <a:p>
            <a:pPr eaLnBrk="0" hangingPunct="0">
              <a:lnSpc>
                <a:spcPct val="85000"/>
              </a:lnSpc>
            </a:pPr>
            <a:endParaRPr lang="fr-FR">
              <a:solidFill>
                <a:schemeClr val="bg1"/>
              </a:solidFill>
            </a:endParaRPr>
          </a:p>
          <a:p>
            <a:pPr eaLnBrk="0" hangingPunct="0">
              <a:lnSpc>
                <a:spcPct val="85000"/>
              </a:lnSpc>
            </a:pPr>
            <a:endParaRPr lang="fr-FR">
              <a:solidFill>
                <a:schemeClr val="bg1"/>
              </a:solidFill>
            </a:endParaRPr>
          </a:p>
          <a:p>
            <a:pPr eaLnBrk="0" hangingPunct="0">
              <a:lnSpc>
                <a:spcPct val="85000"/>
              </a:lnSpc>
            </a:pPr>
            <a:r>
              <a:rPr lang="fr-FR">
                <a:solidFill>
                  <a:schemeClr val="bg1"/>
                </a:solidFill>
              </a:rPr>
              <a:t>40 -</a:t>
            </a:r>
          </a:p>
          <a:p>
            <a:pPr eaLnBrk="0" hangingPunct="0">
              <a:lnSpc>
                <a:spcPct val="85000"/>
              </a:lnSpc>
            </a:pPr>
            <a:endParaRPr lang="fr-FR">
              <a:solidFill>
                <a:schemeClr val="bg1"/>
              </a:solidFill>
            </a:endParaRPr>
          </a:p>
          <a:p>
            <a:pPr eaLnBrk="0" hangingPunct="0">
              <a:lnSpc>
                <a:spcPct val="85000"/>
              </a:lnSpc>
            </a:pPr>
            <a:endParaRPr lang="fr-FR">
              <a:solidFill>
                <a:schemeClr val="bg1"/>
              </a:solidFill>
            </a:endParaRPr>
          </a:p>
          <a:p>
            <a:pPr eaLnBrk="0" hangingPunct="0">
              <a:lnSpc>
                <a:spcPct val="85000"/>
              </a:lnSpc>
            </a:pPr>
            <a:endParaRPr lang="fr-FR">
              <a:solidFill>
                <a:schemeClr val="bg1"/>
              </a:solidFill>
            </a:endParaRPr>
          </a:p>
          <a:p>
            <a:pPr eaLnBrk="0" hangingPunct="0">
              <a:lnSpc>
                <a:spcPct val="85000"/>
              </a:lnSpc>
            </a:pPr>
            <a:r>
              <a:rPr lang="fr-FR">
                <a:solidFill>
                  <a:schemeClr val="bg1"/>
                </a:solidFill>
              </a:rPr>
              <a:t>20 -</a:t>
            </a:r>
          </a:p>
          <a:p>
            <a:pPr eaLnBrk="0" hangingPunct="0">
              <a:lnSpc>
                <a:spcPct val="85000"/>
              </a:lnSpc>
            </a:pPr>
            <a:endParaRPr lang="fr-FR">
              <a:solidFill>
                <a:schemeClr val="bg1"/>
              </a:solidFill>
            </a:endParaRPr>
          </a:p>
          <a:p>
            <a:pPr eaLnBrk="0" hangingPunct="0">
              <a:lnSpc>
                <a:spcPct val="85000"/>
              </a:lnSpc>
            </a:pPr>
            <a:endParaRPr lang="fr-FR">
              <a:solidFill>
                <a:schemeClr val="bg1"/>
              </a:solidFill>
            </a:endParaRPr>
          </a:p>
          <a:p>
            <a:pPr eaLnBrk="0" hangingPunct="0">
              <a:lnSpc>
                <a:spcPct val="85000"/>
              </a:lnSpc>
            </a:pPr>
            <a:endParaRPr lang="fr-FR">
              <a:solidFill>
                <a:schemeClr val="bg1"/>
              </a:solidFill>
            </a:endParaRPr>
          </a:p>
          <a:p>
            <a:pPr eaLnBrk="0" hangingPunct="0">
              <a:lnSpc>
                <a:spcPct val="85000"/>
              </a:lnSpc>
            </a:pPr>
            <a:r>
              <a:rPr lang="fr-FR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23557" name="Rectangle 5" descr="Diagonales larges vers le haut"/>
          <p:cNvSpPr>
            <a:spLocks noChangeArrowheads="1"/>
          </p:cNvSpPr>
          <p:nvPr/>
        </p:nvSpPr>
        <p:spPr bwMode="auto">
          <a:xfrm>
            <a:off x="2073275" y="1636713"/>
            <a:ext cx="457200" cy="3048000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3558" name="Rectangle 6" descr="90 %"/>
          <p:cNvSpPr>
            <a:spLocks noChangeArrowheads="1"/>
          </p:cNvSpPr>
          <p:nvPr/>
        </p:nvSpPr>
        <p:spPr bwMode="auto">
          <a:xfrm>
            <a:off x="2530475" y="2627313"/>
            <a:ext cx="457200" cy="2057400"/>
          </a:xfrm>
          <a:prstGeom prst="rect">
            <a:avLst/>
          </a:prstGeom>
          <a:pattFill prst="pct90">
            <a:fgClr>
              <a:srgbClr val="090010"/>
            </a:fgClr>
            <a:bgClr>
              <a:srgbClr val="FFFFFF"/>
            </a:bgClr>
          </a:patt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3559" name="Rectangle 7" descr="Diagonales larges vers le haut"/>
          <p:cNvSpPr>
            <a:spLocks noChangeArrowheads="1"/>
          </p:cNvSpPr>
          <p:nvPr/>
        </p:nvSpPr>
        <p:spPr bwMode="auto">
          <a:xfrm>
            <a:off x="4206875" y="3236913"/>
            <a:ext cx="457200" cy="1447800"/>
          </a:xfrm>
          <a:prstGeom prst="rect">
            <a:avLst/>
          </a:prstGeom>
          <a:pattFill prst="wdUpDiag">
            <a:fgClr>
              <a:srgbClr val="090010"/>
            </a:fgClr>
            <a:bgClr>
              <a:srgbClr val="FFFFFF"/>
            </a:bgClr>
          </a:patt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3560" name="Rectangle 8" descr="90 %"/>
          <p:cNvSpPr>
            <a:spLocks noChangeArrowheads="1"/>
          </p:cNvSpPr>
          <p:nvPr/>
        </p:nvSpPr>
        <p:spPr bwMode="auto">
          <a:xfrm>
            <a:off x="4664075" y="3617913"/>
            <a:ext cx="457200" cy="1066800"/>
          </a:xfrm>
          <a:prstGeom prst="rect">
            <a:avLst/>
          </a:prstGeom>
          <a:pattFill prst="pct90">
            <a:fgClr>
              <a:srgbClr val="090010"/>
            </a:fgClr>
            <a:bgClr>
              <a:srgbClr val="FFFFFF"/>
            </a:bgClr>
          </a:patt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3561" name="Rectangle 9" descr="Diagonales larges vers le haut"/>
          <p:cNvSpPr>
            <a:spLocks noChangeArrowheads="1"/>
          </p:cNvSpPr>
          <p:nvPr/>
        </p:nvSpPr>
        <p:spPr bwMode="auto">
          <a:xfrm>
            <a:off x="6340475" y="3617913"/>
            <a:ext cx="457200" cy="1066800"/>
          </a:xfrm>
          <a:prstGeom prst="rect">
            <a:avLst/>
          </a:prstGeom>
          <a:pattFill prst="wdUpDiag">
            <a:fgClr>
              <a:srgbClr val="090010"/>
            </a:fgClr>
            <a:bgClr>
              <a:srgbClr val="FFFFFF"/>
            </a:bgClr>
          </a:patt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3562" name="Rectangle 10" descr="90 %"/>
          <p:cNvSpPr>
            <a:spLocks noChangeArrowheads="1"/>
          </p:cNvSpPr>
          <p:nvPr/>
        </p:nvSpPr>
        <p:spPr bwMode="auto">
          <a:xfrm>
            <a:off x="6797675" y="4379913"/>
            <a:ext cx="457200" cy="304800"/>
          </a:xfrm>
          <a:prstGeom prst="rect">
            <a:avLst/>
          </a:prstGeom>
          <a:pattFill prst="pct90">
            <a:fgClr>
              <a:srgbClr val="090010"/>
            </a:fgClr>
            <a:bgClr>
              <a:srgbClr val="FFFFFF"/>
            </a:bgClr>
          </a:patt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3563" name="Text Box 11"/>
          <p:cNvSpPr txBox="1">
            <a:spLocks noChangeArrowheads="1"/>
          </p:cNvSpPr>
          <p:nvPr/>
        </p:nvSpPr>
        <p:spPr bwMode="auto">
          <a:xfrm>
            <a:off x="2362200" y="228600"/>
            <a:ext cx="5824538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2400">
                <a:solidFill>
                  <a:schemeClr val="bg1"/>
                </a:solidFill>
              </a:rPr>
              <a:t>MORTALITE : Toutes causes confondues</a:t>
            </a:r>
          </a:p>
        </p:txBody>
      </p:sp>
      <p:sp>
        <p:nvSpPr>
          <p:cNvPr id="23564" name="Text Box 12"/>
          <p:cNvSpPr txBox="1">
            <a:spLocks noChangeArrowheads="1"/>
          </p:cNvSpPr>
          <p:nvPr/>
        </p:nvSpPr>
        <p:spPr bwMode="auto">
          <a:xfrm rot="-5385631">
            <a:off x="-1203325" y="2170113"/>
            <a:ext cx="3689350" cy="6413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fr-FR">
                <a:solidFill>
                  <a:schemeClr val="bg1"/>
                </a:solidFill>
              </a:rPr>
              <a:t>Taux de mortalité ajusté pour l’âge</a:t>
            </a:r>
          </a:p>
          <a:p>
            <a:pPr algn="ctr" eaLnBrk="0" hangingPunct="0"/>
            <a:r>
              <a:rPr lang="fr-FR">
                <a:solidFill>
                  <a:schemeClr val="bg1"/>
                </a:solidFill>
              </a:rPr>
              <a:t> par 10 000 P - A</a:t>
            </a:r>
          </a:p>
        </p:txBody>
      </p:sp>
      <p:sp>
        <p:nvSpPr>
          <p:cNvPr id="23565" name="Rectangle 13" descr="Diagonales larges vers le haut"/>
          <p:cNvSpPr>
            <a:spLocks noChangeArrowheads="1"/>
          </p:cNvSpPr>
          <p:nvPr/>
        </p:nvSpPr>
        <p:spPr bwMode="auto">
          <a:xfrm>
            <a:off x="5365750" y="1371600"/>
            <a:ext cx="685800" cy="304800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2542" name="Rectangle 14" descr="90 %"/>
          <p:cNvSpPr>
            <a:spLocks noChangeArrowheads="1"/>
          </p:cNvSpPr>
          <p:nvPr/>
        </p:nvSpPr>
        <p:spPr bwMode="auto">
          <a:xfrm>
            <a:off x="5365750" y="1828800"/>
            <a:ext cx="685800" cy="304800"/>
          </a:xfrm>
          <a:prstGeom prst="rect">
            <a:avLst/>
          </a:prstGeom>
          <a:pattFill prst="pct90">
            <a:fgClr>
              <a:schemeClr val="bg2"/>
            </a:fgClr>
            <a:bgClr>
              <a:srgbClr val="FFFFFF"/>
            </a:bgClr>
          </a:patt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defRPr/>
            </a:pPr>
            <a:endParaRPr lang="fr-FR">
              <a:ln>
                <a:solidFill>
                  <a:schemeClr val="tx2"/>
                </a:solidFill>
              </a:ln>
            </a:endParaRPr>
          </a:p>
        </p:txBody>
      </p:sp>
      <p:sp>
        <p:nvSpPr>
          <p:cNvPr id="23567" name="Text Box 15"/>
          <p:cNvSpPr txBox="1">
            <a:spLocks noChangeArrowheads="1"/>
          </p:cNvSpPr>
          <p:nvPr/>
        </p:nvSpPr>
        <p:spPr bwMode="auto">
          <a:xfrm>
            <a:off x="6340475" y="1331913"/>
            <a:ext cx="1098550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>
                <a:solidFill>
                  <a:schemeClr val="bg1"/>
                </a:solidFill>
              </a:rPr>
              <a:t>Hommes</a:t>
            </a:r>
          </a:p>
        </p:txBody>
      </p:sp>
      <p:sp>
        <p:nvSpPr>
          <p:cNvPr id="23568" name="Text Box 16"/>
          <p:cNvSpPr txBox="1">
            <a:spLocks noChangeArrowheads="1"/>
          </p:cNvSpPr>
          <p:nvPr/>
        </p:nvSpPr>
        <p:spPr bwMode="auto">
          <a:xfrm>
            <a:off x="6356350" y="1828800"/>
            <a:ext cx="10731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>
                <a:solidFill>
                  <a:schemeClr val="bg1"/>
                </a:solidFill>
              </a:rPr>
              <a:t>Femmes</a:t>
            </a:r>
          </a:p>
        </p:txBody>
      </p:sp>
      <p:sp>
        <p:nvSpPr>
          <p:cNvPr id="23569" name="Text Box 17"/>
          <p:cNvSpPr txBox="1">
            <a:spLocks noChangeArrowheads="1"/>
          </p:cNvSpPr>
          <p:nvPr/>
        </p:nvSpPr>
        <p:spPr bwMode="auto">
          <a:xfrm>
            <a:off x="1676400" y="4800600"/>
            <a:ext cx="6705600" cy="9159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0" hangingPunct="0"/>
            <a:r>
              <a:rPr lang="fr-FR">
                <a:solidFill>
                  <a:schemeClr val="bg1"/>
                </a:solidFill>
              </a:rPr>
              <a:t>                              NIVEAU D’ACTIVITE</a:t>
            </a:r>
          </a:p>
          <a:p>
            <a:pPr eaLnBrk="0" hangingPunct="0"/>
            <a:endParaRPr lang="fr-FR">
              <a:solidFill>
                <a:schemeClr val="bg1"/>
              </a:solidFill>
            </a:endParaRPr>
          </a:p>
          <a:p>
            <a:pPr eaLnBrk="0" hangingPunct="0"/>
            <a:r>
              <a:rPr lang="fr-FR">
                <a:solidFill>
                  <a:schemeClr val="bg1"/>
                </a:solidFill>
              </a:rPr>
              <a:t>      Faible                       Moyen                      Elevé</a:t>
            </a:r>
          </a:p>
        </p:txBody>
      </p:sp>
      <p:sp>
        <p:nvSpPr>
          <p:cNvPr id="23570" name="Text Box 18"/>
          <p:cNvSpPr txBox="1">
            <a:spLocks noChangeArrowheads="1"/>
          </p:cNvSpPr>
          <p:nvPr/>
        </p:nvSpPr>
        <p:spPr bwMode="auto">
          <a:xfrm>
            <a:off x="685800" y="5867400"/>
            <a:ext cx="7997825" cy="7016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fr-FR" sz="2000">
                <a:solidFill>
                  <a:schemeClr val="bg1"/>
                </a:solidFill>
              </a:rPr>
              <a:t>Relation inverse entre le niveau de pratique et le taux de mortalité sur</a:t>
            </a:r>
          </a:p>
          <a:p>
            <a:pPr algn="ctr" eaLnBrk="0" hangingPunct="0"/>
            <a:r>
              <a:rPr lang="fr-FR" sz="2000">
                <a:solidFill>
                  <a:schemeClr val="bg1"/>
                </a:solidFill>
              </a:rPr>
              <a:t>10 000 personnes-années (P – A). Adapté de Blair, 1990.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Line 2"/>
          <p:cNvSpPr>
            <a:spLocks noChangeShapeType="1"/>
          </p:cNvSpPr>
          <p:nvPr/>
        </p:nvSpPr>
        <p:spPr bwMode="auto">
          <a:xfrm>
            <a:off x="1539875" y="493713"/>
            <a:ext cx="0" cy="41910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4579" name="Line 3"/>
          <p:cNvSpPr>
            <a:spLocks noChangeShapeType="1"/>
          </p:cNvSpPr>
          <p:nvPr/>
        </p:nvSpPr>
        <p:spPr bwMode="auto">
          <a:xfrm>
            <a:off x="1539875" y="4684713"/>
            <a:ext cx="6553200" cy="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990600" y="990600"/>
            <a:ext cx="704850" cy="40592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marL="457200" indent="-457200" eaLnBrk="0" hangingPunct="0">
              <a:lnSpc>
                <a:spcPct val="85000"/>
              </a:lnSpc>
            </a:pPr>
            <a:r>
              <a:rPr lang="fr-FR">
                <a:solidFill>
                  <a:schemeClr val="bg1"/>
                </a:solidFill>
              </a:rPr>
              <a:t>25 -</a:t>
            </a:r>
          </a:p>
          <a:p>
            <a:pPr marL="457200" indent="-457200" eaLnBrk="0" hangingPunct="0">
              <a:lnSpc>
                <a:spcPct val="85000"/>
              </a:lnSpc>
            </a:pPr>
            <a:endParaRPr lang="fr-FR">
              <a:solidFill>
                <a:schemeClr val="bg1"/>
              </a:solidFill>
            </a:endParaRPr>
          </a:p>
          <a:p>
            <a:pPr marL="457200" indent="-457200" eaLnBrk="0" hangingPunct="0">
              <a:lnSpc>
                <a:spcPct val="85000"/>
              </a:lnSpc>
            </a:pPr>
            <a:endParaRPr lang="fr-FR">
              <a:solidFill>
                <a:schemeClr val="bg1"/>
              </a:solidFill>
            </a:endParaRPr>
          </a:p>
          <a:p>
            <a:pPr marL="457200" indent="-457200" eaLnBrk="0" hangingPunct="0">
              <a:lnSpc>
                <a:spcPct val="85000"/>
              </a:lnSpc>
            </a:pPr>
            <a:r>
              <a:rPr lang="fr-FR">
                <a:solidFill>
                  <a:schemeClr val="bg1"/>
                </a:solidFill>
              </a:rPr>
              <a:t>20 -</a:t>
            </a:r>
          </a:p>
          <a:p>
            <a:pPr marL="457200" indent="-457200" eaLnBrk="0" hangingPunct="0">
              <a:lnSpc>
                <a:spcPct val="85000"/>
              </a:lnSpc>
            </a:pPr>
            <a:endParaRPr lang="fr-FR">
              <a:solidFill>
                <a:schemeClr val="bg1"/>
              </a:solidFill>
            </a:endParaRPr>
          </a:p>
          <a:p>
            <a:pPr marL="457200" indent="-457200" eaLnBrk="0" hangingPunct="0">
              <a:lnSpc>
                <a:spcPct val="85000"/>
              </a:lnSpc>
            </a:pPr>
            <a:endParaRPr lang="fr-FR">
              <a:solidFill>
                <a:schemeClr val="bg1"/>
              </a:solidFill>
            </a:endParaRPr>
          </a:p>
          <a:p>
            <a:pPr marL="457200" indent="-457200" eaLnBrk="0" hangingPunct="0">
              <a:lnSpc>
                <a:spcPct val="85000"/>
              </a:lnSpc>
            </a:pPr>
            <a:r>
              <a:rPr lang="fr-FR">
                <a:solidFill>
                  <a:schemeClr val="bg1"/>
                </a:solidFill>
              </a:rPr>
              <a:t>15 -</a:t>
            </a:r>
          </a:p>
          <a:p>
            <a:pPr marL="457200" indent="-457200" eaLnBrk="0" hangingPunct="0">
              <a:lnSpc>
                <a:spcPct val="85000"/>
              </a:lnSpc>
            </a:pPr>
            <a:endParaRPr lang="fr-FR">
              <a:solidFill>
                <a:schemeClr val="bg1"/>
              </a:solidFill>
            </a:endParaRPr>
          </a:p>
          <a:p>
            <a:pPr marL="457200" indent="-457200" eaLnBrk="0" hangingPunct="0">
              <a:lnSpc>
                <a:spcPct val="85000"/>
              </a:lnSpc>
            </a:pPr>
            <a:endParaRPr lang="fr-FR">
              <a:solidFill>
                <a:schemeClr val="bg1"/>
              </a:solidFill>
            </a:endParaRPr>
          </a:p>
          <a:p>
            <a:pPr marL="457200" indent="-457200" eaLnBrk="0" hangingPunct="0">
              <a:lnSpc>
                <a:spcPct val="85000"/>
              </a:lnSpc>
            </a:pPr>
            <a:r>
              <a:rPr lang="fr-FR">
                <a:solidFill>
                  <a:schemeClr val="bg1"/>
                </a:solidFill>
              </a:rPr>
              <a:t>10 -</a:t>
            </a:r>
          </a:p>
          <a:p>
            <a:pPr marL="457200" indent="-457200" eaLnBrk="0" hangingPunct="0">
              <a:lnSpc>
                <a:spcPct val="85000"/>
              </a:lnSpc>
            </a:pPr>
            <a:endParaRPr lang="fr-FR">
              <a:solidFill>
                <a:schemeClr val="bg1"/>
              </a:solidFill>
            </a:endParaRPr>
          </a:p>
          <a:p>
            <a:pPr marL="457200" indent="-457200" eaLnBrk="0" hangingPunct="0">
              <a:lnSpc>
                <a:spcPct val="85000"/>
              </a:lnSpc>
            </a:pPr>
            <a:endParaRPr lang="fr-FR">
              <a:solidFill>
                <a:schemeClr val="bg1"/>
              </a:solidFill>
            </a:endParaRPr>
          </a:p>
          <a:p>
            <a:pPr marL="457200" indent="-457200" eaLnBrk="0" hangingPunct="0">
              <a:lnSpc>
                <a:spcPct val="85000"/>
              </a:lnSpc>
            </a:pPr>
            <a:r>
              <a:rPr lang="fr-FR">
                <a:solidFill>
                  <a:schemeClr val="bg1"/>
                </a:solidFill>
              </a:rPr>
              <a:t>5   -</a:t>
            </a:r>
          </a:p>
          <a:p>
            <a:pPr marL="457200" indent="-457200" eaLnBrk="0" hangingPunct="0">
              <a:lnSpc>
                <a:spcPct val="85000"/>
              </a:lnSpc>
            </a:pPr>
            <a:endParaRPr lang="fr-FR">
              <a:solidFill>
                <a:schemeClr val="bg1"/>
              </a:solidFill>
            </a:endParaRPr>
          </a:p>
          <a:p>
            <a:pPr marL="457200" indent="-457200" eaLnBrk="0" hangingPunct="0">
              <a:lnSpc>
                <a:spcPct val="85000"/>
              </a:lnSpc>
            </a:pPr>
            <a:endParaRPr lang="fr-FR">
              <a:solidFill>
                <a:schemeClr val="bg1"/>
              </a:solidFill>
            </a:endParaRPr>
          </a:p>
          <a:p>
            <a:pPr marL="457200" indent="-457200" eaLnBrk="0" hangingPunct="0">
              <a:lnSpc>
                <a:spcPct val="85000"/>
              </a:lnSpc>
            </a:pPr>
            <a:r>
              <a:rPr lang="fr-FR">
                <a:solidFill>
                  <a:schemeClr val="bg1"/>
                </a:solidFill>
              </a:rPr>
              <a:t>0   -  </a:t>
            </a:r>
          </a:p>
          <a:p>
            <a:pPr marL="457200" indent="-457200" eaLnBrk="0" hangingPunct="0">
              <a:lnSpc>
                <a:spcPct val="85000"/>
              </a:lnSpc>
              <a:buFontTx/>
              <a:buChar char="•"/>
            </a:pPr>
            <a:endParaRPr lang="fr-FR">
              <a:solidFill>
                <a:schemeClr val="bg1"/>
              </a:solidFill>
            </a:endParaRPr>
          </a:p>
        </p:txBody>
      </p:sp>
      <p:sp>
        <p:nvSpPr>
          <p:cNvPr id="24581" name="Rectangle 5" descr="Diagonales larges vers le haut"/>
          <p:cNvSpPr>
            <a:spLocks noChangeArrowheads="1"/>
          </p:cNvSpPr>
          <p:nvPr/>
        </p:nvSpPr>
        <p:spPr bwMode="auto">
          <a:xfrm>
            <a:off x="1997075" y="1143000"/>
            <a:ext cx="457200" cy="3541713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4582" name="Rectangle 6" descr="90 %"/>
          <p:cNvSpPr>
            <a:spLocks noChangeArrowheads="1"/>
          </p:cNvSpPr>
          <p:nvPr/>
        </p:nvSpPr>
        <p:spPr bwMode="auto">
          <a:xfrm>
            <a:off x="2454275" y="3810000"/>
            <a:ext cx="457200" cy="874713"/>
          </a:xfrm>
          <a:prstGeom prst="rect">
            <a:avLst/>
          </a:prstGeom>
          <a:solidFill>
            <a:srgbClr val="00206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4583" name="Rectangle 7" descr="Diagonales larges vers le haut"/>
          <p:cNvSpPr>
            <a:spLocks noChangeArrowheads="1"/>
          </p:cNvSpPr>
          <p:nvPr/>
        </p:nvSpPr>
        <p:spPr bwMode="auto">
          <a:xfrm>
            <a:off x="4130675" y="3581400"/>
            <a:ext cx="457200" cy="1103313"/>
          </a:xfrm>
          <a:prstGeom prst="rect">
            <a:avLst/>
          </a:prstGeom>
          <a:pattFill prst="wdUpDiag">
            <a:fgClr>
              <a:srgbClr val="090010"/>
            </a:fgClr>
            <a:bgClr>
              <a:srgbClr val="FFFFFF"/>
            </a:bgClr>
          </a:patt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4584" name="Rectangle 8" descr="90 %"/>
          <p:cNvSpPr>
            <a:spLocks noChangeArrowheads="1"/>
          </p:cNvSpPr>
          <p:nvPr/>
        </p:nvSpPr>
        <p:spPr bwMode="auto">
          <a:xfrm>
            <a:off x="4587875" y="4343400"/>
            <a:ext cx="457200" cy="341313"/>
          </a:xfrm>
          <a:prstGeom prst="rect">
            <a:avLst/>
          </a:prstGeom>
          <a:solidFill>
            <a:srgbClr val="00206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4585" name="Rectangle 9" descr="Diagonales larges vers le haut"/>
          <p:cNvSpPr>
            <a:spLocks noChangeArrowheads="1"/>
          </p:cNvSpPr>
          <p:nvPr/>
        </p:nvSpPr>
        <p:spPr bwMode="auto">
          <a:xfrm>
            <a:off x="6264275" y="4267200"/>
            <a:ext cx="457200" cy="417513"/>
          </a:xfrm>
          <a:prstGeom prst="rect">
            <a:avLst/>
          </a:prstGeom>
          <a:pattFill prst="wdUpDiag">
            <a:fgClr>
              <a:srgbClr val="090010"/>
            </a:fgClr>
            <a:bgClr>
              <a:srgbClr val="FFFFFF"/>
            </a:bgClr>
          </a:patt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4586" name="Rectangle 10" descr="90 %"/>
          <p:cNvSpPr>
            <a:spLocks noChangeArrowheads="1"/>
          </p:cNvSpPr>
          <p:nvPr/>
        </p:nvSpPr>
        <p:spPr bwMode="auto">
          <a:xfrm>
            <a:off x="6721475" y="4572000"/>
            <a:ext cx="457200" cy="112713"/>
          </a:xfrm>
          <a:prstGeom prst="rect">
            <a:avLst/>
          </a:prstGeom>
          <a:solidFill>
            <a:srgbClr val="00206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4587" name="Text Box 11"/>
          <p:cNvSpPr txBox="1">
            <a:spLocks noChangeArrowheads="1"/>
          </p:cNvSpPr>
          <p:nvPr/>
        </p:nvSpPr>
        <p:spPr bwMode="auto">
          <a:xfrm>
            <a:off x="2286000" y="228600"/>
            <a:ext cx="5845175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2400">
                <a:solidFill>
                  <a:schemeClr val="bg1"/>
                </a:solidFill>
              </a:rPr>
              <a:t>MORTALITE : Maladies cardiovasculaires</a:t>
            </a:r>
          </a:p>
        </p:txBody>
      </p:sp>
      <p:sp>
        <p:nvSpPr>
          <p:cNvPr id="24588" name="Text Box 12"/>
          <p:cNvSpPr txBox="1">
            <a:spLocks noChangeArrowheads="1"/>
          </p:cNvSpPr>
          <p:nvPr/>
        </p:nvSpPr>
        <p:spPr bwMode="auto">
          <a:xfrm rot="-5385631">
            <a:off x="-1279525" y="2170113"/>
            <a:ext cx="3689350" cy="6413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fr-FR">
                <a:solidFill>
                  <a:schemeClr val="bg1"/>
                </a:solidFill>
              </a:rPr>
              <a:t>Taux de mortalité ajusté pour l’âge</a:t>
            </a:r>
          </a:p>
          <a:p>
            <a:pPr algn="ctr" eaLnBrk="0" hangingPunct="0"/>
            <a:r>
              <a:rPr lang="fr-FR">
                <a:solidFill>
                  <a:schemeClr val="bg1"/>
                </a:solidFill>
              </a:rPr>
              <a:t> par 10 000 P - A</a:t>
            </a:r>
          </a:p>
        </p:txBody>
      </p:sp>
      <p:sp>
        <p:nvSpPr>
          <p:cNvPr id="24589" name="Rectangle 13" descr="Diagonales larges vers le haut"/>
          <p:cNvSpPr>
            <a:spLocks noChangeArrowheads="1"/>
          </p:cNvSpPr>
          <p:nvPr/>
        </p:nvSpPr>
        <p:spPr bwMode="auto">
          <a:xfrm>
            <a:off x="5289550" y="1371600"/>
            <a:ext cx="685800" cy="304800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4590" name="Rectangle 14" descr="90 %"/>
          <p:cNvSpPr>
            <a:spLocks noChangeArrowheads="1"/>
          </p:cNvSpPr>
          <p:nvPr/>
        </p:nvSpPr>
        <p:spPr bwMode="auto">
          <a:xfrm>
            <a:off x="5289550" y="1828800"/>
            <a:ext cx="685800" cy="304800"/>
          </a:xfrm>
          <a:prstGeom prst="rect">
            <a:avLst/>
          </a:prstGeom>
          <a:solidFill>
            <a:srgbClr val="00206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4591" name="Text Box 15"/>
          <p:cNvSpPr txBox="1">
            <a:spLocks noChangeArrowheads="1"/>
          </p:cNvSpPr>
          <p:nvPr/>
        </p:nvSpPr>
        <p:spPr bwMode="auto">
          <a:xfrm>
            <a:off x="6264275" y="1331913"/>
            <a:ext cx="1098550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>
                <a:solidFill>
                  <a:schemeClr val="bg1"/>
                </a:solidFill>
              </a:rPr>
              <a:t>Hommes</a:t>
            </a:r>
          </a:p>
        </p:txBody>
      </p:sp>
      <p:sp>
        <p:nvSpPr>
          <p:cNvPr id="24592" name="Text Box 16"/>
          <p:cNvSpPr txBox="1">
            <a:spLocks noChangeArrowheads="1"/>
          </p:cNvSpPr>
          <p:nvPr/>
        </p:nvSpPr>
        <p:spPr bwMode="auto">
          <a:xfrm>
            <a:off x="6280150" y="1828800"/>
            <a:ext cx="10731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>
                <a:solidFill>
                  <a:schemeClr val="bg1"/>
                </a:solidFill>
              </a:rPr>
              <a:t>Femmes</a:t>
            </a:r>
          </a:p>
        </p:txBody>
      </p:sp>
      <p:sp>
        <p:nvSpPr>
          <p:cNvPr id="24593" name="Text Box 17"/>
          <p:cNvSpPr txBox="1">
            <a:spLocks noChangeArrowheads="1"/>
          </p:cNvSpPr>
          <p:nvPr/>
        </p:nvSpPr>
        <p:spPr bwMode="auto">
          <a:xfrm>
            <a:off x="1524000" y="4800600"/>
            <a:ext cx="6705600" cy="9159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0" hangingPunct="0"/>
            <a:r>
              <a:rPr lang="fr-FR">
                <a:solidFill>
                  <a:schemeClr val="bg1"/>
                </a:solidFill>
              </a:rPr>
              <a:t>                              NIVEAU D’ACTIVITE</a:t>
            </a:r>
          </a:p>
          <a:p>
            <a:pPr eaLnBrk="0" hangingPunct="0"/>
            <a:endParaRPr lang="fr-FR">
              <a:solidFill>
                <a:schemeClr val="bg1"/>
              </a:solidFill>
            </a:endParaRPr>
          </a:p>
          <a:p>
            <a:pPr eaLnBrk="0" hangingPunct="0"/>
            <a:r>
              <a:rPr lang="fr-FR">
                <a:solidFill>
                  <a:schemeClr val="bg1"/>
                </a:solidFill>
              </a:rPr>
              <a:t>      Faible                       Moyen                      Elevé</a:t>
            </a:r>
          </a:p>
        </p:txBody>
      </p:sp>
      <p:sp>
        <p:nvSpPr>
          <p:cNvPr id="24594" name="Text Box 18"/>
          <p:cNvSpPr txBox="1">
            <a:spLocks noChangeArrowheads="1"/>
          </p:cNvSpPr>
          <p:nvPr/>
        </p:nvSpPr>
        <p:spPr bwMode="auto">
          <a:xfrm>
            <a:off x="685800" y="5867400"/>
            <a:ext cx="7997825" cy="7016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fr-FR" sz="2000">
                <a:solidFill>
                  <a:schemeClr val="bg1"/>
                </a:solidFill>
              </a:rPr>
              <a:t>Relation inverse entre le niveau de pratique et le taux de mortalité sur</a:t>
            </a:r>
          </a:p>
          <a:p>
            <a:pPr algn="ctr" eaLnBrk="0" hangingPunct="0"/>
            <a:r>
              <a:rPr lang="fr-FR" sz="2000">
                <a:solidFill>
                  <a:schemeClr val="bg1"/>
                </a:solidFill>
              </a:rPr>
              <a:t>10 000 personnes-années (P – A). Adapté de Blair, 1990.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Line 2"/>
          <p:cNvSpPr>
            <a:spLocks noChangeShapeType="1"/>
          </p:cNvSpPr>
          <p:nvPr/>
        </p:nvSpPr>
        <p:spPr bwMode="auto">
          <a:xfrm>
            <a:off x="1539875" y="493713"/>
            <a:ext cx="0" cy="41910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5603" name="Line 3"/>
          <p:cNvSpPr>
            <a:spLocks noChangeShapeType="1"/>
          </p:cNvSpPr>
          <p:nvPr/>
        </p:nvSpPr>
        <p:spPr bwMode="auto">
          <a:xfrm>
            <a:off x="1539875" y="4684713"/>
            <a:ext cx="6553200" cy="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5604" name="Text Box 4"/>
          <p:cNvSpPr txBox="1">
            <a:spLocks noChangeArrowheads="1"/>
          </p:cNvSpPr>
          <p:nvPr/>
        </p:nvSpPr>
        <p:spPr bwMode="auto">
          <a:xfrm>
            <a:off x="1066800" y="990600"/>
            <a:ext cx="704850" cy="40592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marL="457200" indent="-457200" eaLnBrk="0" hangingPunct="0">
              <a:lnSpc>
                <a:spcPct val="85000"/>
              </a:lnSpc>
            </a:pPr>
            <a:r>
              <a:rPr lang="fr-FR">
                <a:solidFill>
                  <a:schemeClr val="bg1"/>
                </a:solidFill>
              </a:rPr>
              <a:t>20 -</a:t>
            </a:r>
          </a:p>
          <a:p>
            <a:pPr marL="457200" indent="-457200" eaLnBrk="0" hangingPunct="0">
              <a:lnSpc>
                <a:spcPct val="85000"/>
              </a:lnSpc>
            </a:pPr>
            <a:endParaRPr lang="fr-FR">
              <a:solidFill>
                <a:schemeClr val="bg1"/>
              </a:solidFill>
            </a:endParaRPr>
          </a:p>
          <a:p>
            <a:pPr marL="457200" indent="-457200" eaLnBrk="0" hangingPunct="0">
              <a:lnSpc>
                <a:spcPct val="85000"/>
              </a:lnSpc>
            </a:pPr>
            <a:endParaRPr lang="fr-FR">
              <a:solidFill>
                <a:schemeClr val="bg1"/>
              </a:solidFill>
            </a:endParaRPr>
          </a:p>
          <a:p>
            <a:pPr marL="457200" indent="-457200" eaLnBrk="0" hangingPunct="0">
              <a:lnSpc>
                <a:spcPct val="85000"/>
              </a:lnSpc>
            </a:pPr>
            <a:r>
              <a:rPr lang="fr-FR">
                <a:solidFill>
                  <a:schemeClr val="bg1"/>
                </a:solidFill>
              </a:rPr>
              <a:t>16 -</a:t>
            </a:r>
          </a:p>
          <a:p>
            <a:pPr marL="457200" indent="-457200" eaLnBrk="0" hangingPunct="0">
              <a:lnSpc>
                <a:spcPct val="85000"/>
              </a:lnSpc>
            </a:pPr>
            <a:endParaRPr lang="fr-FR">
              <a:solidFill>
                <a:schemeClr val="bg1"/>
              </a:solidFill>
            </a:endParaRPr>
          </a:p>
          <a:p>
            <a:pPr marL="457200" indent="-457200" eaLnBrk="0" hangingPunct="0">
              <a:lnSpc>
                <a:spcPct val="85000"/>
              </a:lnSpc>
            </a:pPr>
            <a:endParaRPr lang="fr-FR">
              <a:solidFill>
                <a:schemeClr val="bg1"/>
              </a:solidFill>
            </a:endParaRPr>
          </a:p>
          <a:p>
            <a:pPr marL="457200" indent="-457200" eaLnBrk="0" hangingPunct="0">
              <a:lnSpc>
                <a:spcPct val="85000"/>
              </a:lnSpc>
            </a:pPr>
            <a:r>
              <a:rPr lang="fr-FR">
                <a:solidFill>
                  <a:schemeClr val="bg1"/>
                </a:solidFill>
              </a:rPr>
              <a:t>12 -</a:t>
            </a:r>
          </a:p>
          <a:p>
            <a:pPr marL="457200" indent="-457200" eaLnBrk="0" hangingPunct="0">
              <a:lnSpc>
                <a:spcPct val="85000"/>
              </a:lnSpc>
            </a:pPr>
            <a:endParaRPr lang="fr-FR">
              <a:solidFill>
                <a:schemeClr val="bg1"/>
              </a:solidFill>
            </a:endParaRPr>
          </a:p>
          <a:p>
            <a:pPr marL="457200" indent="-457200" eaLnBrk="0" hangingPunct="0">
              <a:lnSpc>
                <a:spcPct val="85000"/>
              </a:lnSpc>
            </a:pPr>
            <a:endParaRPr lang="fr-FR">
              <a:solidFill>
                <a:schemeClr val="bg1"/>
              </a:solidFill>
            </a:endParaRPr>
          </a:p>
          <a:p>
            <a:pPr marL="457200" indent="-457200" eaLnBrk="0" hangingPunct="0">
              <a:lnSpc>
                <a:spcPct val="85000"/>
              </a:lnSpc>
            </a:pPr>
            <a:r>
              <a:rPr lang="fr-FR">
                <a:solidFill>
                  <a:schemeClr val="bg1"/>
                </a:solidFill>
              </a:rPr>
              <a:t>8   -</a:t>
            </a:r>
          </a:p>
          <a:p>
            <a:pPr marL="457200" indent="-457200" eaLnBrk="0" hangingPunct="0">
              <a:lnSpc>
                <a:spcPct val="85000"/>
              </a:lnSpc>
            </a:pPr>
            <a:endParaRPr lang="fr-FR">
              <a:solidFill>
                <a:schemeClr val="bg1"/>
              </a:solidFill>
            </a:endParaRPr>
          </a:p>
          <a:p>
            <a:pPr marL="457200" indent="-457200" eaLnBrk="0" hangingPunct="0">
              <a:lnSpc>
                <a:spcPct val="85000"/>
              </a:lnSpc>
            </a:pPr>
            <a:endParaRPr lang="fr-FR">
              <a:solidFill>
                <a:schemeClr val="bg1"/>
              </a:solidFill>
            </a:endParaRPr>
          </a:p>
          <a:p>
            <a:pPr marL="457200" indent="-457200" eaLnBrk="0" hangingPunct="0">
              <a:lnSpc>
                <a:spcPct val="85000"/>
              </a:lnSpc>
            </a:pPr>
            <a:r>
              <a:rPr lang="fr-FR">
                <a:solidFill>
                  <a:schemeClr val="bg1"/>
                </a:solidFill>
              </a:rPr>
              <a:t>4   -</a:t>
            </a:r>
          </a:p>
          <a:p>
            <a:pPr marL="457200" indent="-457200" eaLnBrk="0" hangingPunct="0">
              <a:lnSpc>
                <a:spcPct val="85000"/>
              </a:lnSpc>
            </a:pPr>
            <a:endParaRPr lang="fr-FR">
              <a:solidFill>
                <a:schemeClr val="bg1"/>
              </a:solidFill>
            </a:endParaRPr>
          </a:p>
          <a:p>
            <a:pPr marL="457200" indent="-457200" eaLnBrk="0" hangingPunct="0">
              <a:lnSpc>
                <a:spcPct val="85000"/>
              </a:lnSpc>
            </a:pPr>
            <a:endParaRPr lang="fr-FR">
              <a:solidFill>
                <a:schemeClr val="bg1"/>
              </a:solidFill>
            </a:endParaRPr>
          </a:p>
          <a:p>
            <a:pPr marL="457200" indent="-457200" eaLnBrk="0" hangingPunct="0">
              <a:lnSpc>
                <a:spcPct val="85000"/>
              </a:lnSpc>
            </a:pPr>
            <a:r>
              <a:rPr lang="fr-FR">
                <a:solidFill>
                  <a:schemeClr val="bg1"/>
                </a:solidFill>
              </a:rPr>
              <a:t>0   -  </a:t>
            </a:r>
          </a:p>
          <a:p>
            <a:pPr marL="457200" indent="-457200" eaLnBrk="0" hangingPunct="0">
              <a:lnSpc>
                <a:spcPct val="85000"/>
              </a:lnSpc>
              <a:buFontTx/>
              <a:buChar char="•"/>
            </a:pPr>
            <a:endParaRPr lang="fr-FR">
              <a:solidFill>
                <a:schemeClr val="bg1"/>
              </a:solidFill>
            </a:endParaRPr>
          </a:p>
        </p:txBody>
      </p:sp>
      <p:sp>
        <p:nvSpPr>
          <p:cNvPr id="25605" name="Rectangle 5" descr="Diagonales larges vers le haut"/>
          <p:cNvSpPr>
            <a:spLocks noChangeArrowheads="1"/>
          </p:cNvSpPr>
          <p:nvPr/>
        </p:nvSpPr>
        <p:spPr bwMode="auto">
          <a:xfrm>
            <a:off x="1997075" y="1143000"/>
            <a:ext cx="457200" cy="3541713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5606" name="Rectangle 6" descr="90 %"/>
          <p:cNvSpPr>
            <a:spLocks noChangeArrowheads="1"/>
          </p:cNvSpPr>
          <p:nvPr/>
        </p:nvSpPr>
        <p:spPr bwMode="auto">
          <a:xfrm>
            <a:off x="2454275" y="1752600"/>
            <a:ext cx="457200" cy="2932113"/>
          </a:xfrm>
          <a:prstGeom prst="rect">
            <a:avLst/>
          </a:prstGeom>
          <a:solidFill>
            <a:srgbClr val="00206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5607" name="Rectangle 7" descr="Diagonales larges vers le haut"/>
          <p:cNvSpPr>
            <a:spLocks noChangeArrowheads="1"/>
          </p:cNvSpPr>
          <p:nvPr/>
        </p:nvSpPr>
        <p:spPr bwMode="auto">
          <a:xfrm>
            <a:off x="4130675" y="3810000"/>
            <a:ext cx="457200" cy="874713"/>
          </a:xfrm>
          <a:prstGeom prst="rect">
            <a:avLst/>
          </a:prstGeom>
          <a:pattFill prst="wdUpDiag">
            <a:fgClr>
              <a:srgbClr val="090010"/>
            </a:fgClr>
            <a:bgClr>
              <a:srgbClr val="FFFFFF"/>
            </a:bgClr>
          </a:patt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5608" name="Rectangle 8" descr="90 %"/>
          <p:cNvSpPr>
            <a:spLocks noChangeArrowheads="1"/>
          </p:cNvSpPr>
          <p:nvPr/>
        </p:nvSpPr>
        <p:spPr bwMode="auto">
          <a:xfrm>
            <a:off x="4587875" y="3200400"/>
            <a:ext cx="457200" cy="1484313"/>
          </a:xfrm>
          <a:prstGeom prst="rect">
            <a:avLst/>
          </a:prstGeom>
          <a:solidFill>
            <a:srgbClr val="00206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5609" name="Rectangle 9" descr="Diagonales larges vers le haut"/>
          <p:cNvSpPr>
            <a:spLocks noChangeArrowheads="1"/>
          </p:cNvSpPr>
          <p:nvPr/>
        </p:nvSpPr>
        <p:spPr bwMode="auto">
          <a:xfrm>
            <a:off x="6264275" y="3962400"/>
            <a:ext cx="457200" cy="722313"/>
          </a:xfrm>
          <a:prstGeom prst="rect">
            <a:avLst/>
          </a:prstGeom>
          <a:pattFill prst="wdUpDiag">
            <a:fgClr>
              <a:srgbClr val="090010"/>
            </a:fgClr>
            <a:bgClr>
              <a:srgbClr val="FFFFFF"/>
            </a:bgClr>
          </a:patt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5610" name="Rectangle 10" descr="90 %"/>
          <p:cNvSpPr>
            <a:spLocks noChangeArrowheads="1"/>
          </p:cNvSpPr>
          <p:nvPr/>
        </p:nvSpPr>
        <p:spPr bwMode="auto">
          <a:xfrm>
            <a:off x="6715125" y="4530725"/>
            <a:ext cx="457200" cy="112713"/>
          </a:xfrm>
          <a:prstGeom prst="rect">
            <a:avLst/>
          </a:prstGeom>
          <a:solidFill>
            <a:srgbClr val="00206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5611" name="Text Box 11"/>
          <p:cNvSpPr txBox="1">
            <a:spLocks noChangeArrowheads="1"/>
          </p:cNvSpPr>
          <p:nvPr/>
        </p:nvSpPr>
        <p:spPr bwMode="auto">
          <a:xfrm>
            <a:off x="3217863" y="228600"/>
            <a:ext cx="3328987" cy="469900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2400">
                <a:solidFill>
                  <a:schemeClr val="bg1"/>
                </a:solidFill>
              </a:rPr>
              <a:t>MORTALITE : Cancers</a:t>
            </a:r>
          </a:p>
        </p:txBody>
      </p:sp>
      <p:sp>
        <p:nvSpPr>
          <p:cNvPr id="25612" name="Text Box 12"/>
          <p:cNvSpPr txBox="1">
            <a:spLocks noChangeArrowheads="1"/>
          </p:cNvSpPr>
          <p:nvPr/>
        </p:nvSpPr>
        <p:spPr bwMode="auto">
          <a:xfrm rot="-5385631">
            <a:off x="-1279525" y="2170113"/>
            <a:ext cx="3689350" cy="6413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fr-FR">
                <a:solidFill>
                  <a:schemeClr val="bg1"/>
                </a:solidFill>
              </a:rPr>
              <a:t>Taux de mortalité ajusté pour l’âge</a:t>
            </a:r>
          </a:p>
          <a:p>
            <a:pPr algn="ctr" eaLnBrk="0" hangingPunct="0"/>
            <a:r>
              <a:rPr lang="fr-FR">
                <a:solidFill>
                  <a:schemeClr val="bg1"/>
                </a:solidFill>
              </a:rPr>
              <a:t> par 10 000 P - A</a:t>
            </a:r>
          </a:p>
        </p:txBody>
      </p:sp>
      <p:sp>
        <p:nvSpPr>
          <p:cNvPr id="25613" name="Rectangle 13" descr="Diagonales larges vers le haut"/>
          <p:cNvSpPr>
            <a:spLocks noChangeArrowheads="1"/>
          </p:cNvSpPr>
          <p:nvPr/>
        </p:nvSpPr>
        <p:spPr bwMode="auto">
          <a:xfrm>
            <a:off x="5289550" y="1371600"/>
            <a:ext cx="685800" cy="304800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5614" name="Rectangle 14" descr="90 %"/>
          <p:cNvSpPr>
            <a:spLocks noChangeArrowheads="1"/>
          </p:cNvSpPr>
          <p:nvPr/>
        </p:nvSpPr>
        <p:spPr bwMode="auto">
          <a:xfrm>
            <a:off x="5289550" y="1828800"/>
            <a:ext cx="685800" cy="304800"/>
          </a:xfrm>
          <a:prstGeom prst="rect">
            <a:avLst/>
          </a:prstGeom>
          <a:solidFill>
            <a:srgbClr val="00206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5615" name="Text Box 15"/>
          <p:cNvSpPr txBox="1">
            <a:spLocks noChangeArrowheads="1"/>
          </p:cNvSpPr>
          <p:nvPr/>
        </p:nvSpPr>
        <p:spPr bwMode="auto">
          <a:xfrm>
            <a:off x="6264275" y="1331913"/>
            <a:ext cx="1098550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>
                <a:solidFill>
                  <a:schemeClr val="bg1"/>
                </a:solidFill>
              </a:rPr>
              <a:t>Hommes</a:t>
            </a:r>
          </a:p>
        </p:txBody>
      </p:sp>
      <p:sp>
        <p:nvSpPr>
          <p:cNvPr id="25616" name="Text Box 16"/>
          <p:cNvSpPr txBox="1">
            <a:spLocks noChangeArrowheads="1"/>
          </p:cNvSpPr>
          <p:nvPr/>
        </p:nvSpPr>
        <p:spPr bwMode="auto">
          <a:xfrm>
            <a:off x="6280150" y="1828800"/>
            <a:ext cx="10731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>
                <a:solidFill>
                  <a:schemeClr val="bg1"/>
                </a:solidFill>
              </a:rPr>
              <a:t>Femmes</a:t>
            </a:r>
          </a:p>
        </p:txBody>
      </p:sp>
      <p:sp>
        <p:nvSpPr>
          <p:cNvPr id="25617" name="Text Box 17"/>
          <p:cNvSpPr txBox="1">
            <a:spLocks noChangeArrowheads="1"/>
          </p:cNvSpPr>
          <p:nvPr/>
        </p:nvSpPr>
        <p:spPr bwMode="auto">
          <a:xfrm>
            <a:off x="1676400" y="4800600"/>
            <a:ext cx="6705600" cy="9159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0" hangingPunct="0"/>
            <a:r>
              <a:rPr lang="fr-FR">
                <a:solidFill>
                  <a:schemeClr val="bg1"/>
                </a:solidFill>
              </a:rPr>
              <a:t>                              NIVEAU D’ACTIVITE</a:t>
            </a:r>
          </a:p>
          <a:p>
            <a:pPr eaLnBrk="0" hangingPunct="0"/>
            <a:endParaRPr lang="fr-FR">
              <a:solidFill>
                <a:schemeClr val="bg1"/>
              </a:solidFill>
            </a:endParaRPr>
          </a:p>
          <a:p>
            <a:pPr eaLnBrk="0" hangingPunct="0"/>
            <a:r>
              <a:rPr lang="fr-FR">
                <a:solidFill>
                  <a:schemeClr val="bg1"/>
                </a:solidFill>
              </a:rPr>
              <a:t>      Faible                       Moyen                      Elevé</a:t>
            </a:r>
          </a:p>
        </p:txBody>
      </p:sp>
      <p:sp>
        <p:nvSpPr>
          <p:cNvPr id="25618" name="Text Box 18"/>
          <p:cNvSpPr txBox="1">
            <a:spLocks noChangeArrowheads="1"/>
          </p:cNvSpPr>
          <p:nvPr/>
        </p:nvSpPr>
        <p:spPr bwMode="auto">
          <a:xfrm>
            <a:off x="685800" y="5867400"/>
            <a:ext cx="7997825" cy="7016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fr-FR" sz="2000">
                <a:solidFill>
                  <a:schemeClr val="bg1"/>
                </a:solidFill>
              </a:rPr>
              <a:t>Relation inverse entre le niveau de pratique et le taux de mortalité sur</a:t>
            </a:r>
          </a:p>
          <a:p>
            <a:pPr algn="ctr" eaLnBrk="0" hangingPunct="0"/>
            <a:r>
              <a:rPr lang="fr-FR" sz="2000">
                <a:solidFill>
                  <a:schemeClr val="bg1"/>
                </a:solidFill>
              </a:rPr>
              <a:t>10 000 personnes-années (P – A). Adapté de Blair, 1990.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Line 2"/>
          <p:cNvSpPr>
            <a:spLocks noChangeShapeType="1"/>
          </p:cNvSpPr>
          <p:nvPr/>
        </p:nvSpPr>
        <p:spPr bwMode="auto">
          <a:xfrm>
            <a:off x="1539875" y="493713"/>
            <a:ext cx="0" cy="41910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6627" name="Line 3"/>
          <p:cNvSpPr>
            <a:spLocks noChangeShapeType="1"/>
          </p:cNvSpPr>
          <p:nvPr/>
        </p:nvSpPr>
        <p:spPr bwMode="auto">
          <a:xfrm>
            <a:off x="1539875" y="4684713"/>
            <a:ext cx="6553200" cy="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914400" y="990600"/>
            <a:ext cx="768350" cy="40592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marL="457200" indent="-457200" eaLnBrk="0" hangingPunct="0">
              <a:lnSpc>
                <a:spcPct val="85000"/>
              </a:lnSpc>
            </a:pPr>
            <a:r>
              <a:rPr lang="fr-FR">
                <a:solidFill>
                  <a:schemeClr val="bg1"/>
                </a:solidFill>
              </a:rPr>
              <a:t>100 -</a:t>
            </a:r>
          </a:p>
          <a:p>
            <a:pPr marL="457200" indent="-457200" eaLnBrk="0" hangingPunct="0">
              <a:lnSpc>
                <a:spcPct val="85000"/>
              </a:lnSpc>
            </a:pPr>
            <a:endParaRPr lang="fr-FR">
              <a:solidFill>
                <a:schemeClr val="bg1"/>
              </a:solidFill>
            </a:endParaRPr>
          </a:p>
          <a:p>
            <a:pPr marL="457200" indent="-457200" eaLnBrk="0" hangingPunct="0">
              <a:lnSpc>
                <a:spcPct val="85000"/>
              </a:lnSpc>
            </a:pPr>
            <a:endParaRPr lang="fr-FR">
              <a:solidFill>
                <a:schemeClr val="bg1"/>
              </a:solidFill>
            </a:endParaRPr>
          </a:p>
          <a:p>
            <a:pPr marL="457200" indent="-457200" eaLnBrk="0" hangingPunct="0">
              <a:lnSpc>
                <a:spcPct val="85000"/>
              </a:lnSpc>
            </a:pPr>
            <a:r>
              <a:rPr lang="fr-FR">
                <a:solidFill>
                  <a:schemeClr val="bg1"/>
                </a:solidFill>
              </a:rPr>
              <a:t>  80 -</a:t>
            </a:r>
          </a:p>
          <a:p>
            <a:pPr marL="457200" indent="-457200" eaLnBrk="0" hangingPunct="0">
              <a:lnSpc>
                <a:spcPct val="85000"/>
              </a:lnSpc>
            </a:pPr>
            <a:endParaRPr lang="fr-FR">
              <a:solidFill>
                <a:schemeClr val="bg1"/>
              </a:solidFill>
            </a:endParaRPr>
          </a:p>
          <a:p>
            <a:pPr marL="457200" indent="-457200" eaLnBrk="0" hangingPunct="0">
              <a:lnSpc>
                <a:spcPct val="85000"/>
              </a:lnSpc>
            </a:pPr>
            <a:endParaRPr lang="fr-FR">
              <a:solidFill>
                <a:schemeClr val="bg1"/>
              </a:solidFill>
            </a:endParaRPr>
          </a:p>
          <a:p>
            <a:pPr marL="457200" indent="-457200" eaLnBrk="0" hangingPunct="0">
              <a:lnSpc>
                <a:spcPct val="85000"/>
              </a:lnSpc>
            </a:pPr>
            <a:r>
              <a:rPr lang="fr-FR">
                <a:solidFill>
                  <a:schemeClr val="bg1"/>
                </a:solidFill>
              </a:rPr>
              <a:t>  60 -</a:t>
            </a:r>
          </a:p>
          <a:p>
            <a:pPr marL="457200" indent="-457200" eaLnBrk="0" hangingPunct="0">
              <a:lnSpc>
                <a:spcPct val="85000"/>
              </a:lnSpc>
            </a:pPr>
            <a:endParaRPr lang="fr-FR">
              <a:solidFill>
                <a:schemeClr val="bg1"/>
              </a:solidFill>
            </a:endParaRPr>
          </a:p>
          <a:p>
            <a:pPr marL="457200" indent="-457200" eaLnBrk="0" hangingPunct="0">
              <a:lnSpc>
                <a:spcPct val="85000"/>
              </a:lnSpc>
            </a:pPr>
            <a:endParaRPr lang="fr-FR">
              <a:solidFill>
                <a:schemeClr val="bg1"/>
              </a:solidFill>
            </a:endParaRPr>
          </a:p>
          <a:p>
            <a:pPr marL="457200" indent="-457200" eaLnBrk="0" hangingPunct="0">
              <a:lnSpc>
                <a:spcPct val="85000"/>
              </a:lnSpc>
            </a:pPr>
            <a:r>
              <a:rPr lang="fr-FR">
                <a:solidFill>
                  <a:schemeClr val="bg1"/>
                </a:solidFill>
              </a:rPr>
              <a:t>  40 -</a:t>
            </a:r>
          </a:p>
          <a:p>
            <a:pPr marL="457200" indent="-457200" eaLnBrk="0" hangingPunct="0">
              <a:lnSpc>
                <a:spcPct val="85000"/>
              </a:lnSpc>
            </a:pPr>
            <a:endParaRPr lang="fr-FR">
              <a:solidFill>
                <a:schemeClr val="bg1"/>
              </a:solidFill>
            </a:endParaRPr>
          </a:p>
          <a:p>
            <a:pPr marL="457200" indent="-457200" eaLnBrk="0" hangingPunct="0">
              <a:lnSpc>
                <a:spcPct val="85000"/>
              </a:lnSpc>
            </a:pPr>
            <a:endParaRPr lang="fr-FR">
              <a:solidFill>
                <a:schemeClr val="bg1"/>
              </a:solidFill>
            </a:endParaRPr>
          </a:p>
          <a:p>
            <a:pPr marL="457200" indent="-457200" eaLnBrk="0" hangingPunct="0">
              <a:lnSpc>
                <a:spcPct val="85000"/>
              </a:lnSpc>
            </a:pPr>
            <a:r>
              <a:rPr lang="fr-FR">
                <a:solidFill>
                  <a:schemeClr val="bg1"/>
                </a:solidFill>
              </a:rPr>
              <a:t>  20 -</a:t>
            </a:r>
          </a:p>
          <a:p>
            <a:pPr marL="457200" indent="-457200" eaLnBrk="0" hangingPunct="0">
              <a:lnSpc>
                <a:spcPct val="85000"/>
              </a:lnSpc>
            </a:pPr>
            <a:endParaRPr lang="fr-FR">
              <a:solidFill>
                <a:schemeClr val="bg1"/>
              </a:solidFill>
            </a:endParaRPr>
          </a:p>
          <a:p>
            <a:pPr marL="457200" indent="-457200" eaLnBrk="0" hangingPunct="0">
              <a:lnSpc>
                <a:spcPct val="85000"/>
              </a:lnSpc>
            </a:pPr>
            <a:endParaRPr lang="fr-FR">
              <a:solidFill>
                <a:schemeClr val="bg1"/>
              </a:solidFill>
            </a:endParaRPr>
          </a:p>
          <a:p>
            <a:pPr marL="457200" indent="-457200" eaLnBrk="0" hangingPunct="0">
              <a:lnSpc>
                <a:spcPct val="85000"/>
              </a:lnSpc>
            </a:pPr>
            <a:r>
              <a:rPr lang="fr-FR">
                <a:solidFill>
                  <a:schemeClr val="bg1"/>
                </a:solidFill>
              </a:rPr>
              <a:t>  0  -  </a:t>
            </a:r>
          </a:p>
          <a:p>
            <a:pPr marL="457200" indent="-457200" eaLnBrk="0" hangingPunct="0">
              <a:lnSpc>
                <a:spcPct val="85000"/>
              </a:lnSpc>
              <a:buFontTx/>
              <a:buChar char="•"/>
            </a:pPr>
            <a:endParaRPr lang="fr-FR">
              <a:solidFill>
                <a:schemeClr val="bg1"/>
              </a:solidFill>
            </a:endParaRPr>
          </a:p>
        </p:txBody>
      </p:sp>
      <p:sp>
        <p:nvSpPr>
          <p:cNvPr id="26629" name="Rectangle 5" descr="10 %"/>
          <p:cNvSpPr>
            <a:spLocks noChangeArrowheads="1"/>
          </p:cNvSpPr>
          <p:nvPr/>
        </p:nvSpPr>
        <p:spPr bwMode="auto">
          <a:xfrm>
            <a:off x="1997075" y="2667000"/>
            <a:ext cx="457200" cy="2017713"/>
          </a:xfrm>
          <a:prstGeom prst="rect">
            <a:avLst/>
          </a:prstGeom>
          <a:pattFill prst="pct10">
            <a:fgClr>
              <a:schemeClr val="bg2"/>
            </a:fgClr>
            <a:bgClr>
              <a:srgbClr val="FFFFFF"/>
            </a:bgClr>
          </a:patt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6630" name="Rectangle 6" descr="90 %"/>
          <p:cNvSpPr>
            <a:spLocks noChangeArrowheads="1"/>
          </p:cNvSpPr>
          <p:nvPr/>
        </p:nvSpPr>
        <p:spPr bwMode="auto">
          <a:xfrm>
            <a:off x="2454275" y="3810000"/>
            <a:ext cx="457200" cy="874713"/>
          </a:xfrm>
          <a:prstGeom prst="rect">
            <a:avLst/>
          </a:prstGeom>
          <a:solidFill>
            <a:srgbClr val="00206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6631" name="Text Box 7"/>
          <p:cNvSpPr txBox="1">
            <a:spLocks noChangeArrowheads="1"/>
          </p:cNvSpPr>
          <p:nvPr/>
        </p:nvSpPr>
        <p:spPr bwMode="auto">
          <a:xfrm>
            <a:off x="2286000" y="228600"/>
            <a:ext cx="6337300" cy="8223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fr-FR" sz="2400">
                <a:solidFill>
                  <a:schemeClr val="bg1"/>
                </a:solidFill>
              </a:rPr>
              <a:t>Niveau d’activité et autres facteurs de risques</a:t>
            </a:r>
          </a:p>
          <a:p>
            <a:pPr algn="ctr" eaLnBrk="0" hangingPunct="0"/>
            <a:r>
              <a:rPr lang="fr-FR" sz="2400">
                <a:solidFill>
                  <a:schemeClr val="bg1"/>
                </a:solidFill>
              </a:rPr>
              <a:t>(hommes)</a:t>
            </a:r>
          </a:p>
        </p:txBody>
      </p:sp>
      <p:sp>
        <p:nvSpPr>
          <p:cNvPr id="26632" name="Text Box 8"/>
          <p:cNvSpPr txBox="1">
            <a:spLocks noChangeArrowheads="1"/>
          </p:cNvSpPr>
          <p:nvPr/>
        </p:nvSpPr>
        <p:spPr bwMode="auto">
          <a:xfrm rot="-5385631">
            <a:off x="-1279525" y="2170113"/>
            <a:ext cx="3689350" cy="6413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fr-FR">
                <a:solidFill>
                  <a:schemeClr val="bg1"/>
                </a:solidFill>
              </a:rPr>
              <a:t>Taux de mortalité ajusté pour l’âge</a:t>
            </a:r>
          </a:p>
          <a:p>
            <a:pPr algn="ctr" eaLnBrk="0" hangingPunct="0"/>
            <a:r>
              <a:rPr lang="fr-FR">
                <a:solidFill>
                  <a:schemeClr val="bg1"/>
                </a:solidFill>
              </a:rPr>
              <a:t> par 10 000 P - A</a:t>
            </a:r>
          </a:p>
        </p:txBody>
      </p:sp>
      <p:sp>
        <p:nvSpPr>
          <p:cNvPr id="26633" name="Rectangle 9" descr="10 %"/>
          <p:cNvSpPr>
            <a:spLocks noChangeArrowheads="1"/>
          </p:cNvSpPr>
          <p:nvPr/>
        </p:nvSpPr>
        <p:spPr bwMode="auto">
          <a:xfrm>
            <a:off x="1768475" y="877888"/>
            <a:ext cx="685800" cy="304800"/>
          </a:xfrm>
          <a:prstGeom prst="rect">
            <a:avLst/>
          </a:prstGeom>
          <a:pattFill prst="pct10">
            <a:fgClr>
              <a:schemeClr val="bg2"/>
            </a:fgClr>
            <a:bgClr>
              <a:srgbClr val="FFFFFF"/>
            </a:bgClr>
          </a:patt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6634" name="Rectangle 10" descr="90 %"/>
          <p:cNvSpPr>
            <a:spLocks noChangeArrowheads="1"/>
          </p:cNvSpPr>
          <p:nvPr/>
        </p:nvSpPr>
        <p:spPr bwMode="auto">
          <a:xfrm>
            <a:off x="1768475" y="1335088"/>
            <a:ext cx="685800" cy="304800"/>
          </a:xfrm>
          <a:prstGeom prst="rect">
            <a:avLst/>
          </a:prstGeom>
          <a:solidFill>
            <a:srgbClr val="00206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6635" name="Text Box 11"/>
          <p:cNvSpPr txBox="1">
            <a:spLocks noChangeArrowheads="1"/>
          </p:cNvSpPr>
          <p:nvPr/>
        </p:nvSpPr>
        <p:spPr bwMode="auto">
          <a:xfrm>
            <a:off x="2743200" y="838200"/>
            <a:ext cx="8064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>
                <a:solidFill>
                  <a:schemeClr val="bg1"/>
                </a:solidFill>
              </a:rPr>
              <a:t>Faible</a:t>
            </a:r>
          </a:p>
        </p:txBody>
      </p:sp>
      <p:sp>
        <p:nvSpPr>
          <p:cNvPr id="26636" name="Text Box 12"/>
          <p:cNvSpPr txBox="1">
            <a:spLocks noChangeArrowheads="1"/>
          </p:cNvSpPr>
          <p:nvPr/>
        </p:nvSpPr>
        <p:spPr bwMode="auto">
          <a:xfrm>
            <a:off x="2759075" y="1335088"/>
            <a:ext cx="869950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>
                <a:solidFill>
                  <a:schemeClr val="bg1"/>
                </a:solidFill>
              </a:rPr>
              <a:t>Moyen</a:t>
            </a:r>
          </a:p>
        </p:txBody>
      </p:sp>
      <p:sp>
        <p:nvSpPr>
          <p:cNvPr id="26637" name="Text Box 13"/>
          <p:cNvSpPr txBox="1">
            <a:spLocks noChangeArrowheads="1"/>
          </p:cNvSpPr>
          <p:nvPr/>
        </p:nvSpPr>
        <p:spPr bwMode="auto">
          <a:xfrm>
            <a:off x="685800" y="5867400"/>
            <a:ext cx="7997825" cy="7016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fr-FR" sz="2000">
                <a:solidFill>
                  <a:schemeClr val="bg1"/>
                </a:solidFill>
              </a:rPr>
              <a:t>Relation inverse entre le niveau de pratique et le taux de mortalité sur</a:t>
            </a:r>
          </a:p>
          <a:p>
            <a:pPr algn="ctr" eaLnBrk="0" hangingPunct="0"/>
            <a:r>
              <a:rPr lang="fr-FR" sz="2000">
                <a:solidFill>
                  <a:schemeClr val="bg1"/>
                </a:solidFill>
              </a:rPr>
              <a:t>10 000 personnes-années (P – A). Adapté de Blair, 1990.</a:t>
            </a:r>
          </a:p>
        </p:txBody>
      </p:sp>
      <p:sp>
        <p:nvSpPr>
          <p:cNvPr id="26638" name="Rectangle 14" descr="noir)"/>
          <p:cNvSpPr>
            <a:spLocks noChangeArrowheads="1"/>
          </p:cNvSpPr>
          <p:nvPr/>
        </p:nvSpPr>
        <p:spPr bwMode="auto">
          <a:xfrm>
            <a:off x="2928938" y="3929063"/>
            <a:ext cx="457200" cy="722312"/>
          </a:xfrm>
          <a:prstGeom prst="rect">
            <a:avLst/>
          </a:prstGeom>
          <a:pattFill prst="ltVert">
            <a:fgClr>
              <a:srgbClr val="FFFFFF"/>
            </a:fgClr>
            <a:bgClr>
              <a:srgbClr val="FF3300"/>
            </a:bgClr>
          </a:patt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6639" name="Rectangle 15" descr="10 %"/>
          <p:cNvSpPr>
            <a:spLocks noChangeArrowheads="1"/>
          </p:cNvSpPr>
          <p:nvPr/>
        </p:nvSpPr>
        <p:spPr bwMode="auto">
          <a:xfrm>
            <a:off x="4114800" y="1447800"/>
            <a:ext cx="457200" cy="3236913"/>
          </a:xfrm>
          <a:prstGeom prst="rect">
            <a:avLst/>
          </a:prstGeom>
          <a:pattFill prst="pct10">
            <a:fgClr>
              <a:schemeClr val="bg2"/>
            </a:fgClr>
            <a:bgClr>
              <a:srgbClr val="FFFFFF"/>
            </a:bgClr>
          </a:patt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6640" name="Rectangle 16" descr="90 %"/>
          <p:cNvSpPr>
            <a:spLocks noChangeArrowheads="1"/>
          </p:cNvSpPr>
          <p:nvPr/>
        </p:nvSpPr>
        <p:spPr bwMode="auto">
          <a:xfrm>
            <a:off x="4572000" y="2667000"/>
            <a:ext cx="457200" cy="2017713"/>
          </a:xfrm>
          <a:prstGeom prst="rect">
            <a:avLst/>
          </a:prstGeom>
          <a:solidFill>
            <a:srgbClr val="00206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6641" name="Rectangle 17" descr="noir)"/>
          <p:cNvSpPr>
            <a:spLocks noChangeArrowheads="1"/>
          </p:cNvSpPr>
          <p:nvPr/>
        </p:nvSpPr>
        <p:spPr bwMode="auto">
          <a:xfrm>
            <a:off x="5029200" y="3886200"/>
            <a:ext cx="457200" cy="798513"/>
          </a:xfrm>
          <a:prstGeom prst="rect">
            <a:avLst/>
          </a:prstGeom>
          <a:pattFill prst="ltVert">
            <a:fgClr>
              <a:srgbClr val="FFFFFF"/>
            </a:fgClr>
            <a:bgClr>
              <a:srgbClr val="FF3300"/>
            </a:bgClr>
          </a:patt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6642" name="Rectangle 18" descr="10 %"/>
          <p:cNvSpPr>
            <a:spLocks noChangeArrowheads="1"/>
          </p:cNvSpPr>
          <p:nvPr/>
        </p:nvSpPr>
        <p:spPr bwMode="auto">
          <a:xfrm>
            <a:off x="6248400" y="2667000"/>
            <a:ext cx="457200" cy="2017713"/>
          </a:xfrm>
          <a:prstGeom prst="rect">
            <a:avLst/>
          </a:prstGeom>
          <a:pattFill prst="pct10">
            <a:fgClr>
              <a:schemeClr val="bg2"/>
            </a:fgClr>
            <a:bgClr>
              <a:srgbClr val="FFFFFF"/>
            </a:bgClr>
          </a:patt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6643" name="Rectangle 19" descr="90 %"/>
          <p:cNvSpPr>
            <a:spLocks noChangeArrowheads="1"/>
          </p:cNvSpPr>
          <p:nvPr/>
        </p:nvSpPr>
        <p:spPr bwMode="auto">
          <a:xfrm>
            <a:off x="6705600" y="3810000"/>
            <a:ext cx="457200" cy="874713"/>
          </a:xfrm>
          <a:prstGeom prst="rect">
            <a:avLst/>
          </a:prstGeom>
          <a:solidFill>
            <a:srgbClr val="00206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6644" name="Rectangle 20" descr="noir)"/>
          <p:cNvSpPr>
            <a:spLocks noChangeArrowheads="1"/>
          </p:cNvSpPr>
          <p:nvPr/>
        </p:nvSpPr>
        <p:spPr bwMode="auto">
          <a:xfrm>
            <a:off x="7146925" y="3962400"/>
            <a:ext cx="457200" cy="722313"/>
          </a:xfrm>
          <a:prstGeom prst="rect">
            <a:avLst/>
          </a:prstGeom>
          <a:pattFill prst="ltVert">
            <a:fgClr>
              <a:srgbClr val="FFFFFF"/>
            </a:fgClr>
            <a:bgClr>
              <a:srgbClr val="FF3300"/>
            </a:bgClr>
          </a:patt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6645" name="Rectangle 21" descr="noir)"/>
          <p:cNvSpPr>
            <a:spLocks noChangeArrowheads="1"/>
          </p:cNvSpPr>
          <p:nvPr/>
        </p:nvSpPr>
        <p:spPr bwMode="auto">
          <a:xfrm>
            <a:off x="1752600" y="1828800"/>
            <a:ext cx="685800" cy="304800"/>
          </a:xfrm>
          <a:prstGeom prst="rect">
            <a:avLst/>
          </a:prstGeom>
          <a:pattFill prst="ltVert">
            <a:fgClr>
              <a:srgbClr val="FFFFFF"/>
            </a:fgClr>
            <a:bgClr>
              <a:srgbClr val="FF3300"/>
            </a:bgClr>
          </a:patt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6646" name="Text Box 22"/>
          <p:cNvSpPr txBox="1">
            <a:spLocks noChangeArrowheads="1"/>
          </p:cNvSpPr>
          <p:nvPr/>
        </p:nvSpPr>
        <p:spPr bwMode="auto">
          <a:xfrm>
            <a:off x="2743200" y="1828800"/>
            <a:ext cx="7556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>
                <a:solidFill>
                  <a:schemeClr val="bg1"/>
                </a:solidFill>
              </a:rPr>
              <a:t>Elevé</a:t>
            </a:r>
          </a:p>
        </p:txBody>
      </p:sp>
      <p:sp>
        <p:nvSpPr>
          <p:cNvPr id="26647" name="Text Box 23"/>
          <p:cNvSpPr txBox="1">
            <a:spLocks noChangeArrowheads="1"/>
          </p:cNvSpPr>
          <p:nvPr/>
        </p:nvSpPr>
        <p:spPr bwMode="auto">
          <a:xfrm>
            <a:off x="1600200" y="4800600"/>
            <a:ext cx="2190750" cy="6413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>
                <a:solidFill>
                  <a:schemeClr val="bg1"/>
                </a:solidFill>
              </a:rPr>
              <a:t>Pression Systolique</a:t>
            </a:r>
          </a:p>
          <a:p>
            <a:pPr eaLnBrk="0" hangingPunct="0"/>
            <a:r>
              <a:rPr lang="fr-FR">
                <a:solidFill>
                  <a:schemeClr val="bg1"/>
                </a:solidFill>
              </a:rPr>
              <a:t>&gt; 140 mm HG</a:t>
            </a:r>
          </a:p>
        </p:txBody>
      </p:sp>
      <p:sp>
        <p:nvSpPr>
          <p:cNvPr id="26648" name="Text Box 24"/>
          <p:cNvSpPr txBox="1">
            <a:spLocks noChangeArrowheads="1"/>
          </p:cNvSpPr>
          <p:nvPr/>
        </p:nvSpPr>
        <p:spPr bwMode="auto">
          <a:xfrm>
            <a:off x="4152900" y="4800600"/>
            <a:ext cx="1447800" cy="6413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>
                <a:solidFill>
                  <a:schemeClr val="bg1"/>
                </a:solidFill>
              </a:rPr>
              <a:t>Cholestérol</a:t>
            </a:r>
          </a:p>
          <a:p>
            <a:pPr eaLnBrk="0" hangingPunct="0"/>
            <a:r>
              <a:rPr lang="fr-FR">
                <a:solidFill>
                  <a:schemeClr val="bg1"/>
                </a:solidFill>
              </a:rPr>
              <a:t>&gt; 260 mg /dl</a:t>
            </a:r>
          </a:p>
        </p:txBody>
      </p:sp>
      <p:sp>
        <p:nvSpPr>
          <p:cNvPr id="26649" name="Text Box 25"/>
          <p:cNvSpPr txBox="1">
            <a:spLocks noChangeArrowheads="1"/>
          </p:cNvSpPr>
          <p:nvPr/>
        </p:nvSpPr>
        <p:spPr bwMode="auto">
          <a:xfrm>
            <a:off x="6461125" y="4837113"/>
            <a:ext cx="819150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>
                <a:solidFill>
                  <a:schemeClr val="bg1"/>
                </a:solidFill>
              </a:rPr>
              <a:t>Tabac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1194" name="Group 186"/>
          <p:cNvGraphicFramePr>
            <a:graphicFrameLocks noGrp="1"/>
          </p:cNvGraphicFramePr>
          <p:nvPr/>
        </p:nvGraphicFramePr>
        <p:xfrm>
          <a:off x="785813" y="762000"/>
          <a:ext cx="8229600" cy="4023360"/>
        </p:xfrm>
        <a:graphic>
          <a:graphicData uri="http://schemas.openxmlformats.org/drawingml/2006/table">
            <a:tbl>
              <a:tblPr/>
              <a:tblGrid>
                <a:gridCol w="749300"/>
                <a:gridCol w="746125"/>
                <a:gridCol w="749300"/>
                <a:gridCol w="747712"/>
                <a:gridCol w="747713"/>
                <a:gridCol w="750887"/>
                <a:gridCol w="747713"/>
                <a:gridCol w="749300"/>
                <a:gridCol w="746125"/>
                <a:gridCol w="747712"/>
                <a:gridCol w="747713"/>
              </a:tblGrid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s-CL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7796" name="Text Box 148"/>
          <p:cNvSpPr txBox="1">
            <a:spLocks noChangeArrowheads="1"/>
          </p:cNvSpPr>
          <p:nvPr/>
        </p:nvSpPr>
        <p:spPr bwMode="auto">
          <a:xfrm rot="-5400000">
            <a:off x="-855662" y="2935288"/>
            <a:ext cx="2570162" cy="6461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fr-FR" b="1">
                <a:solidFill>
                  <a:schemeClr val="bg1"/>
                </a:solidFill>
              </a:rPr>
              <a:t>Mortalité causée par </a:t>
            </a:r>
          </a:p>
          <a:p>
            <a:r>
              <a:rPr lang="fr-FR" b="1">
                <a:solidFill>
                  <a:schemeClr val="bg1"/>
                </a:solidFill>
              </a:rPr>
              <a:t>maladie coronarienne</a:t>
            </a:r>
            <a:endParaRPr lang="es-CL" b="1">
              <a:solidFill>
                <a:schemeClr val="bg1"/>
              </a:solidFill>
            </a:endParaRPr>
          </a:p>
        </p:txBody>
      </p:sp>
      <p:sp>
        <p:nvSpPr>
          <p:cNvPr id="27797" name="Text Box 149"/>
          <p:cNvSpPr txBox="1">
            <a:spLocks noChangeArrowheads="1"/>
          </p:cNvSpPr>
          <p:nvPr/>
        </p:nvSpPr>
        <p:spPr bwMode="auto">
          <a:xfrm>
            <a:off x="1295400" y="5429250"/>
            <a:ext cx="5942013" cy="3698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fr-FR" b="1">
                <a:solidFill>
                  <a:schemeClr val="bg1"/>
                </a:solidFill>
              </a:rPr>
              <a:t>Niveau d’activité physique ou de condition physique</a:t>
            </a:r>
            <a:endParaRPr lang="es-CL" b="1">
              <a:solidFill>
                <a:schemeClr val="bg1"/>
              </a:solidFill>
            </a:endParaRPr>
          </a:p>
        </p:txBody>
      </p:sp>
      <p:sp>
        <p:nvSpPr>
          <p:cNvPr id="27798" name="Text Box 150"/>
          <p:cNvSpPr txBox="1">
            <a:spLocks noChangeArrowheads="1"/>
          </p:cNvSpPr>
          <p:nvPr/>
        </p:nvSpPr>
        <p:spPr bwMode="auto">
          <a:xfrm>
            <a:off x="633413" y="4827588"/>
            <a:ext cx="7897812" cy="3381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fr-FR" sz="1600" b="1">
                <a:solidFill>
                  <a:schemeClr val="bg1"/>
                </a:solidFill>
              </a:rPr>
              <a:t>0           1           2           3           4           5           6           7           8           9           10</a:t>
            </a:r>
            <a:endParaRPr lang="es-CL" sz="1600" b="1">
              <a:solidFill>
                <a:schemeClr val="bg1"/>
              </a:solidFill>
            </a:endParaRPr>
          </a:p>
        </p:txBody>
      </p:sp>
      <p:sp>
        <p:nvSpPr>
          <p:cNvPr id="27799" name="Text Box 151"/>
          <p:cNvSpPr txBox="1">
            <a:spLocks noChangeArrowheads="1"/>
          </p:cNvSpPr>
          <p:nvPr/>
        </p:nvSpPr>
        <p:spPr bwMode="auto">
          <a:xfrm>
            <a:off x="709613" y="914400"/>
            <a:ext cx="650875" cy="29702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lnSpc>
                <a:spcPct val="75000"/>
              </a:lnSpc>
            </a:pPr>
            <a:r>
              <a:rPr lang="fr-FR" sz="1600" b="1"/>
              <a:t>100</a:t>
            </a:r>
          </a:p>
          <a:p>
            <a:pPr>
              <a:lnSpc>
                <a:spcPct val="75000"/>
              </a:lnSpc>
            </a:pPr>
            <a:endParaRPr lang="fr-FR" sz="1600" b="1"/>
          </a:p>
          <a:p>
            <a:pPr>
              <a:lnSpc>
                <a:spcPct val="75000"/>
              </a:lnSpc>
            </a:pPr>
            <a:r>
              <a:rPr lang="fr-FR" sz="1600" b="1"/>
              <a:t>90</a:t>
            </a:r>
          </a:p>
          <a:p>
            <a:pPr>
              <a:lnSpc>
                <a:spcPct val="75000"/>
              </a:lnSpc>
            </a:pPr>
            <a:endParaRPr lang="fr-FR" sz="1600" b="1"/>
          </a:p>
          <a:p>
            <a:pPr>
              <a:lnSpc>
                <a:spcPct val="75000"/>
              </a:lnSpc>
            </a:pPr>
            <a:r>
              <a:rPr lang="fr-FR" sz="1600" b="1"/>
              <a:t>80</a:t>
            </a:r>
          </a:p>
          <a:p>
            <a:pPr>
              <a:lnSpc>
                <a:spcPct val="75000"/>
              </a:lnSpc>
            </a:pPr>
            <a:endParaRPr lang="fr-FR" sz="1600" b="1"/>
          </a:p>
          <a:p>
            <a:pPr>
              <a:lnSpc>
                <a:spcPct val="75000"/>
              </a:lnSpc>
            </a:pPr>
            <a:r>
              <a:rPr lang="fr-FR" sz="1600" b="1"/>
              <a:t>70</a:t>
            </a:r>
          </a:p>
          <a:p>
            <a:pPr>
              <a:lnSpc>
                <a:spcPct val="75000"/>
              </a:lnSpc>
            </a:pPr>
            <a:endParaRPr lang="fr-FR" sz="1600" b="1"/>
          </a:p>
          <a:p>
            <a:pPr>
              <a:lnSpc>
                <a:spcPct val="75000"/>
              </a:lnSpc>
            </a:pPr>
            <a:r>
              <a:rPr lang="fr-FR" sz="1600" b="1"/>
              <a:t>60</a:t>
            </a:r>
          </a:p>
          <a:p>
            <a:pPr>
              <a:lnSpc>
                <a:spcPct val="75000"/>
              </a:lnSpc>
            </a:pPr>
            <a:endParaRPr lang="fr-FR" sz="1600" b="1"/>
          </a:p>
          <a:p>
            <a:pPr>
              <a:lnSpc>
                <a:spcPct val="75000"/>
              </a:lnSpc>
            </a:pPr>
            <a:r>
              <a:rPr lang="fr-FR" sz="1600" b="1"/>
              <a:t>50</a:t>
            </a:r>
          </a:p>
          <a:p>
            <a:pPr>
              <a:lnSpc>
                <a:spcPct val="75000"/>
              </a:lnSpc>
            </a:pPr>
            <a:endParaRPr lang="fr-FR" sz="1600" b="1"/>
          </a:p>
          <a:p>
            <a:pPr>
              <a:lnSpc>
                <a:spcPct val="75000"/>
              </a:lnSpc>
            </a:pPr>
            <a:r>
              <a:rPr lang="fr-FR" sz="1600" b="1"/>
              <a:t>40</a:t>
            </a:r>
          </a:p>
          <a:p>
            <a:pPr>
              <a:lnSpc>
                <a:spcPct val="75000"/>
              </a:lnSpc>
            </a:pPr>
            <a:endParaRPr lang="fr-FR" sz="1600" b="1"/>
          </a:p>
          <a:p>
            <a:pPr>
              <a:lnSpc>
                <a:spcPct val="75000"/>
              </a:lnSpc>
            </a:pPr>
            <a:r>
              <a:rPr lang="fr-FR" sz="1600" b="1"/>
              <a:t>30</a:t>
            </a:r>
          </a:p>
          <a:p>
            <a:pPr>
              <a:lnSpc>
                <a:spcPct val="75000"/>
              </a:lnSpc>
            </a:pPr>
            <a:endParaRPr lang="fr-FR" sz="1600" b="1"/>
          </a:p>
          <a:p>
            <a:pPr>
              <a:lnSpc>
                <a:spcPct val="75000"/>
              </a:lnSpc>
            </a:pPr>
            <a:r>
              <a:rPr lang="fr-FR" sz="1600" b="1"/>
              <a:t>20</a:t>
            </a:r>
          </a:p>
          <a:p>
            <a:pPr>
              <a:lnSpc>
                <a:spcPct val="75000"/>
              </a:lnSpc>
            </a:pPr>
            <a:endParaRPr lang="fr-FR" sz="1600" b="1"/>
          </a:p>
          <a:p>
            <a:pPr>
              <a:lnSpc>
                <a:spcPct val="75000"/>
              </a:lnSpc>
            </a:pPr>
            <a:r>
              <a:rPr lang="fr-FR" sz="1600" b="1"/>
              <a:t>10</a:t>
            </a:r>
          </a:p>
          <a:p>
            <a:pPr>
              <a:lnSpc>
                <a:spcPct val="75000"/>
              </a:lnSpc>
            </a:pPr>
            <a:endParaRPr lang="fr-FR" sz="1600" b="1"/>
          </a:p>
          <a:p>
            <a:pPr>
              <a:lnSpc>
                <a:spcPct val="75000"/>
              </a:lnSpc>
            </a:pPr>
            <a:r>
              <a:rPr lang="fr-FR" sz="1600" b="1"/>
              <a:t>0</a:t>
            </a:r>
            <a:endParaRPr lang="es-CL" sz="1600" b="1"/>
          </a:p>
        </p:txBody>
      </p:sp>
      <p:sp>
        <p:nvSpPr>
          <p:cNvPr id="27800" name="Line 152"/>
          <p:cNvSpPr>
            <a:spLocks noChangeShapeType="1"/>
          </p:cNvSpPr>
          <p:nvPr/>
        </p:nvSpPr>
        <p:spPr bwMode="auto">
          <a:xfrm>
            <a:off x="1547813" y="1093788"/>
            <a:ext cx="1447800" cy="6858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 type="oval" w="med" len="med"/>
            <a:tailEnd type="oval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27801" name="Line 153"/>
          <p:cNvSpPr>
            <a:spLocks noChangeShapeType="1"/>
          </p:cNvSpPr>
          <p:nvPr/>
        </p:nvSpPr>
        <p:spPr bwMode="auto">
          <a:xfrm>
            <a:off x="2995613" y="1779588"/>
            <a:ext cx="1524000" cy="3810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 type="oval" w="med" len="med"/>
            <a:tailEnd type="oval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27802" name="Line 154"/>
          <p:cNvSpPr>
            <a:spLocks noChangeShapeType="1"/>
          </p:cNvSpPr>
          <p:nvPr/>
        </p:nvSpPr>
        <p:spPr bwMode="auto">
          <a:xfrm>
            <a:off x="4519613" y="2160588"/>
            <a:ext cx="2209800" cy="13716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 type="oval" w="med" len="med"/>
            <a:tailEnd type="oval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27803" name="Line 155"/>
          <p:cNvSpPr>
            <a:spLocks noChangeShapeType="1"/>
          </p:cNvSpPr>
          <p:nvPr/>
        </p:nvSpPr>
        <p:spPr bwMode="auto">
          <a:xfrm>
            <a:off x="1547813" y="1093788"/>
            <a:ext cx="685800" cy="16764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diamond" w="med" len="med"/>
            <a:tailEnd type="diamond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27804" name="Line 156"/>
          <p:cNvSpPr>
            <a:spLocks noChangeShapeType="1"/>
          </p:cNvSpPr>
          <p:nvPr/>
        </p:nvSpPr>
        <p:spPr bwMode="auto">
          <a:xfrm>
            <a:off x="2233613" y="2770188"/>
            <a:ext cx="762000" cy="3048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diamond" w="med" len="med"/>
            <a:tailEnd type="diamond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27805" name="Line 157"/>
          <p:cNvSpPr>
            <a:spLocks noChangeShapeType="1"/>
          </p:cNvSpPr>
          <p:nvPr/>
        </p:nvSpPr>
        <p:spPr bwMode="auto">
          <a:xfrm>
            <a:off x="2995613" y="3074988"/>
            <a:ext cx="762000" cy="3810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diamond" w="med" len="med"/>
            <a:tailEnd type="diamond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27806" name="Line 158"/>
          <p:cNvSpPr>
            <a:spLocks noChangeShapeType="1"/>
          </p:cNvSpPr>
          <p:nvPr/>
        </p:nvSpPr>
        <p:spPr bwMode="auto">
          <a:xfrm>
            <a:off x="3757613" y="3455988"/>
            <a:ext cx="1447800" cy="3048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diamond" w="med" len="med"/>
            <a:tailEnd type="diamond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27807" name="Line 159"/>
          <p:cNvSpPr>
            <a:spLocks noChangeShapeType="1"/>
          </p:cNvSpPr>
          <p:nvPr/>
        </p:nvSpPr>
        <p:spPr bwMode="auto">
          <a:xfrm>
            <a:off x="5205413" y="3760788"/>
            <a:ext cx="762000" cy="1524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diamond" w="med" len="med"/>
            <a:tailEnd type="diamond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27808" name="Line 160"/>
          <p:cNvSpPr>
            <a:spLocks noChangeShapeType="1"/>
          </p:cNvSpPr>
          <p:nvPr/>
        </p:nvSpPr>
        <p:spPr bwMode="auto">
          <a:xfrm>
            <a:off x="5967413" y="3913188"/>
            <a:ext cx="7620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diamond" w="med" len="med"/>
            <a:tailEnd type="diamond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27809" name="Line 161"/>
          <p:cNvSpPr>
            <a:spLocks noChangeShapeType="1"/>
          </p:cNvSpPr>
          <p:nvPr/>
        </p:nvSpPr>
        <p:spPr bwMode="auto">
          <a:xfrm>
            <a:off x="1547813" y="1169988"/>
            <a:ext cx="1447800" cy="1600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 type="oval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27810" name="Line 162"/>
          <p:cNvSpPr>
            <a:spLocks noChangeShapeType="1"/>
          </p:cNvSpPr>
          <p:nvPr/>
        </p:nvSpPr>
        <p:spPr bwMode="auto">
          <a:xfrm>
            <a:off x="2995613" y="2770188"/>
            <a:ext cx="1524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 type="oval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27811" name="Line 163"/>
          <p:cNvSpPr>
            <a:spLocks noChangeShapeType="1"/>
          </p:cNvSpPr>
          <p:nvPr/>
        </p:nvSpPr>
        <p:spPr bwMode="auto">
          <a:xfrm>
            <a:off x="4519613" y="2770188"/>
            <a:ext cx="2209800" cy="1524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 type="oval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27812" name="Line 164"/>
          <p:cNvSpPr>
            <a:spLocks noChangeShapeType="1"/>
          </p:cNvSpPr>
          <p:nvPr/>
        </p:nvSpPr>
        <p:spPr bwMode="auto">
          <a:xfrm>
            <a:off x="1547813" y="1169988"/>
            <a:ext cx="1447800" cy="1066800"/>
          </a:xfrm>
          <a:prstGeom prst="line">
            <a:avLst/>
          </a:prstGeom>
          <a:noFill/>
          <a:ln w="28575">
            <a:solidFill>
              <a:srgbClr val="99CCFF"/>
            </a:solidFill>
            <a:round/>
            <a:headEnd type="diamond" w="med" len="med"/>
            <a:tailEnd type="diamond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27813" name="Line 165"/>
          <p:cNvSpPr>
            <a:spLocks noChangeShapeType="1"/>
          </p:cNvSpPr>
          <p:nvPr/>
        </p:nvSpPr>
        <p:spPr bwMode="auto">
          <a:xfrm>
            <a:off x="2995613" y="2236788"/>
            <a:ext cx="1524000" cy="685800"/>
          </a:xfrm>
          <a:prstGeom prst="line">
            <a:avLst/>
          </a:prstGeom>
          <a:noFill/>
          <a:ln w="28575">
            <a:solidFill>
              <a:srgbClr val="99CCFF"/>
            </a:solidFill>
            <a:round/>
            <a:headEnd type="diamond" w="med" len="med"/>
            <a:tailEnd type="diamond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27814" name="Line 166"/>
          <p:cNvSpPr>
            <a:spLocks noChangeShapeType="1"/>
          </p:cNvSpPr>
          <p:nvPr/>
        </p:nvSpPr>
        <p:spPr bwMode="auto">
          <a:xfrm>
            <a:off x="4519613" y="2922588"/>
            <a:ext cx="2209800" cy="762000"/>
          </a:xfrm>
          <a:prstGeom prst="line">
            <a:avLst/>
          </a:prstGeom>
          <a:noFill/>
          <a:ln w="28575">
            <a:solidFill>
              <a:srgbClr val="99CCFF"/>
            </a:solidFill>
            <a:round/>
            <a:headEnd type="diamond" w="med" len="med"/>
            <a:tailEnd type="diamond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27815" name="Line 167"/>
          <p:cNvSpPr>
            <a:spLocks noChangeShapeType="1"/>
          </p:cNvSpPr>
          <p:nvPr/>
        </p:nvSpPr>
        <p:spPr bwMode="auto">
          <a:xfrm>
            <a:off x="1547813" y="1093788"/>
            <a:ext cx="762000" cy="609600"/>
          </a:xfrm>
          <a:prstGeom prst="line">
            <a:avLst/>
          </a:prstGeom>
          <a:noFill/>
          <a:ln w="28575">
            <a:solidFill>
              <a:srgbClr val="CCCC00"/>
            </a:solidFill>
            <a:round/>
            <a:headEnd type="oval" w="med" len="med"/>
            <a:tailEnd type="oval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27816" name="Line 168"/>
          <p:cNvSpPr>
            <a:spLocks noChangeShapeType="1"/>
          </p:cNvSpPr>
          <p:nvPr/>
        </p:nvSpPr>
        <p:spPr bwMode="auto">
          <a:xfrm>
            <a:off x="2309813" y="1703388"/>
            <a:ext cx="685800" cy="304800"/>
          </a:xfrm>
          <a:prstGeom prst="line">
            <a:avLst/>
          </a:prstGeom>
          <a:noFill/>
          <a:ln w="28575">
            <a:solidFill>
              <a:srgbClr val="CCCC00"/>
            </a:solidFill>
            <a:round/>
            <a:headEnd type="oval" w="med" len="med"/>
            <a:tailEnd type="oval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27817" name="Line 169"/>
          <p:cNvSpPr>
            <a:spLocks noChangeShapeType="1"/>
          </p:cNvSpPr>
          <p:nvPr/>
        </p:nvSpPr>
        <p:spPr bwMode="auto">
          <a:xfrm>
            <a:off x="2995613" y="2008188"/>
            <a:ext cx="762000" cy="381000"/>
          </a:xfrm>
          <a:prstGeom prst="line">
            <a:avLst/>
          </a:prstGeom>
          <a:noFill/>
          <a:ln w="28575">
            <a:solidFill>
              <a:srgbClr val="CCCC00"/>
            </a:solidFill>
            <a:round/>
            <a:headEnd type="oval" w="med" len="med"/>
            <a:tailEnd type="oval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27818" name="Line 170"/>
          <p:cNvSpPr>
            <a:spLocks noChangeShapeType="1"/>
          </p:cNvSpPr>
          <p:nvPr/>
        </p:nvSpPr>
        <p:spPr bwMode="auto">
          <a:xfrm>
            <a:off x="3757613" y="2389188"/>
            <a:ext cx="2971800" cy="0"/>
          </a:xfrm>
          <a:prstGeom prst="line">
            <a:avLst/>
          </a:prstGeom>
          <a:noFill/>
          <a:ln w="28575">
            <a:solidFill>
              <a:srgbClr val="CCCC00"/>
            </a:solidFill>
            <a:round/>
            <a:headEnd type="oval" w="med" len="med"/>
            <a:tailEnd type="oval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27819" name="Line 171"/>
          <p:cNvSpPr>
            <a:spLocks noChangeShapeType="1"/>
          </p:cNvSpPr>
          <p:nvPr/>
        </p:nvSpPr>
        <p:spPr bwMode="auto">
          <a:xfrm>
            <a:off x="1547813" y="1169988"/>
            <a:ext cx="685800" cy="5334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diamond" w="med" len="med"/>
            <a:tailEnd type="diamond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27820" name="Line 172"/>
          <p:cNvSpPr>
            <a:spLocks noChangeShapeType="1"/>
          </p:cNvSpPr>
          <p:nvPr/>
        </p:nvSpPr>
        <p:spPr bwMode="auto">
          <a:xfrm>
            <a:off x="2233613" y="1703388"/>
            <a:ext cx="1524000" cy="6096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diamond" w="med" len="med"/>
            <a:tailEnd type="diamond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27821" name="Line 173"/>
          <p:cNvSpPr>
            <a:spLocks noChangeShapeType="1"/>
          </p:cNvSpPr>
          <p:nvPr/>
        </p:nvSpPr>
        <p:spPr bwMode="auto">
          <a:xfrm>
            <a:off x="3757613" y="2312988"/>
            <a:ext cx="762000" cy="762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diamond" w="med" len="med"/>
            <a:tailEnd type="diamond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27822" name="Line 174"/>
          <p:cNvSpPr>
            <a:spLocks noChangeShapeType="1"/>
          </p:cNvSpPr>
          <p:nvPr/>
        </p:nvSpPr>
        <p:spPr bwMode="auto">
          <a:xfrm>
            <a:off x="4519613" y="2389188"/>
            <a:ext cx="685800" cy="2286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diamond" w="med" len="med"/>
            <a:tailEnd type="diamond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27823" name="Line 175"/>
          <p:cNvSpPr>
            <a:spLocks noChangeShapeType="1"/>
          </p:cNvSpPr>
          <p:nvPr/>
        </p:nvSpPr>
        <p:spPr bwMode="auto">
          <a:xfrm>
            <a:off x="5205413" y="2617788"/>
            <a:ext cx="762000" cy="2286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diamond" w="med" len="med"/>
            <a:tailEnd type="diamond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27824" name="Line 176"/>
          <p:cNvSpPr>
            <a:spLocks noChangeShapeType="1"/>
          </p:cNvSpPr>
          <p:nvPr/>
        </p:nvSpPr>
        <p:spPr bwMode="auto">
          <a:xfrm flipV="1">
            <a:off x="5967413" y="2312988"/>
            <a:ext cx="762000" cy="5334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diamond" w="med" len="med"/>
            <a:tailEnd type="diamond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171185" name="Text Box 177"/>
          <p:cNvSpPr txBox="1">
            <a:spLocks noChangeArrowheads="1"/>
          </p:cNvSpPr>
          <p:nvPr/>
        </p:nvSpPr>
        <p:spPr bwMode="auto">
          <a:xfrm>
            <a:off x="6789738" y="1181100"/>
            <a:ext cx="2354262" cy="2886075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2">
                  <a:gamma/>
                  <a:shade val="94118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fr-FR" sz="1400">
                <a:solidFill>
                  <a:srgbClr val="000000"/>
                </a:solidFill>
              </a:rPr>
              <a:t>         </a:t>
            </a:r>
            <a:r>
              <a:rPr lang="fr-FR" sz="1400"/>
              <a:t>Leon et al. 1986</a:t>
            </a:r>
          </a:p>
          <a:p>
            <a:pPr>
              <a:defRPr/>
            </a:pPr>
            <a:endParaRPr lang="fr-FR" sz="1400"/>
          </a:p>
          <a:p>
            <a:pPr>
              <a:defRPr/>
            </a:pPr>
            <a:r>
              <a:rPr lang="fr-FR" sz="1400"/>
              <a:t>         Paffenbarger et al. 1986</a:t>
            </a:r>
          </a:p>
          <a:p>
            <a:pPr>
              <a:defRPr/>
            </a:pPr>
            <a:endParaRPr lang="fr-FR" sz="1400"/>
          </a:p>
          <a:p>
            <a:pPr>
              <a:defRPr/>
            </a:pPr>
            <a:r>
              <a:rPr lang="fr-FR" sz="1400"/>
              <a:t>         Morris et al. 1990</a:t>
            </a:r>
          </a:p>
          <a:p>
            <a:pPr>
              <a:defRPr/>
            </a:pPr>
            <a:endParaRPr lang="fr-FR" sz="1400"/>
          </a:p>
          <a:p>
            <a:pPr>
              <a:defRPr/>
            </a:pPr>
            <a:r>
              <a:rPr lang="fr-FR" sz="1400"/>
              <a:t>          Sandvick et al. 1993</a:t>
            </a:r>
          </a:p>
          <a:p>
            <a:pPr>
              <a:defRPr/>
            </a:pPr>
            <a:endParaRPr lang="fr-FR" sz="1400"/>
          </a:p>
          <a:p>
            <a:pPr>
              <a:defRPr/>
            </a:pPr>
            <a:r>
              <a:rPr lang="fr-FR" sz="1400"/>
              <a:t>          Ekelund et al 1988</a:t>
            </a:r>
          </a:p>
          <a:p>
            <a:pPr>
              <a:defRPr/>
            </a:pPr>
            <a:endParaRPr lang="fr-FR" sz="1400"/>
          </a:p>
          <a:p>
            <a:pPr>
              <a:defRPr/>
            </a:pPr>
            <a:r>
              <a:rPr lang="fr-FR" sz="1400"/>
              <a:t>          Blair et al. 1989</a:t>
            </a:r>
          </a:p>
          <a:p>
            <a:pPr>
              <a:defRPr/>
            </a:pPr>
            <a:endParaRPr lang="fr-FR" sz="1400"/>
          </a:p>
          <a:p>
            <a:pPr>
              <a:defRPr/>
            </a:pPr>
            <a:endParaRPr lang="es-CL" sz="1400">
              <a:solidFill>
                <a:srgbClr val="000000"/>
              </a:solidFill>
            </a:endParaRPr>
          </a:p>
        </p:txBody>
      </p:sp>
      <p:sp>
        <p:nvSpPr>
          <p:cNvPr id="27826" name="Line 178"/>
          <p:cNvSpPr>
            <a:spLocks noChangeShapeType="1"/>
          </p:cNvSpPr>
          <p:nvPr/>
        </p:nvSpPr>
        <p:spPr bwMode="auto">
          <a:xfrm>
            <a:off x="6881813" y="1322388"/>
            <a:ext cx="304800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7827" name="Line 179"/>
          <p:cNvSpPr>
            <a:spLocks noChangeShapeType="1"/>
          </p:cNvSpPr>
          <p:nvPr/>
        </p:nvSpPr>
        <p:spPr bwMode="auto">
          <a:xfrm>
            <a:off x="6881813" y="1779588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7828" name="Line 180"/>
          <p:cNvSpPr>
            <a:spLocks noChangeShapeType="1"/>
          </p:cNvSpPr>
          <p:nvPr/>
        </p:nvSpPr>
        <p:spPr bwMode="auto">
          <a:xfrm>
            <a:off x="6881813" y="2160588"/>
            <a:ext cx="304800" cy="0"/>
          </a:xfrm>
          <a:prstGeom prst="line">
            <a:avLst/>
          </a:prstGeom>
          <a:noFill/>
          <a:ln w="28575">
            <a:solidFill>
              <a:srgbClr val="CCCC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7829" name="Line 181"/>
          <p:cNvSpPr>
            <a:spLocks noChangeShapeType="1"/>
          </p:cNvSpPr>
          <p:nvPr/>
        </p:nvSpPr>
        <p:spPr bwMode="auto">
          <a:xfrm>
            <a:off x="6881813" y="2617788"/>
            <a:ext cx="304800" cy="0"/>
          </a:xfrm>
          <a:prstGeom prst="line">
            <a:avLst/>
          </a:prstGeom>
          <a:noFill/>
          <a:ln w="28575">
            <a:solidFill>
              <a:srgbClr val="99CCFF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7830" name="Line 182"/>
          <p:cNvSpPr>
            <a:spLocks noChangeShapeType="1"/>
          </p:cNvSpPr>
          <p:nvPr/>
        </p:nvSpPr>
        <p:spPr bwMode="auto">
          <a:xfrm>
            <a:off x="6881813" y="2998788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7831" name="Line 183"/>
          <p:cNvSpPr>
            <a:spLocks noChangeShapeType="1"/>
          </p:cNvSpPr>
          <p:nvPr/>
        </p:nvSpPr>
        <p:spPr bwMode="auto">
          <a:xfrm>
            <a:off x="6881813" y="3455988"/>
            <a:ext cx="3048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7832" name="Text Box 184"/>
          <p:cNvSpPr txBox="1">
            <a:spLocks noChangeArrowheads="1"/>
          </p:cNvSpPr>
          <p:nvPr/>
        </p:nvSpPr>
        <p:spPr bwMode="auto">
          <a:xfrm>
            <a:off x="0" y="5851525"/>
            <a:ext cx="9144000" cy="584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fr-FR" sz="1600">
                <a:solidFill>
                  <a:schemeClr val="bg1"/>
                </a:solidFill>
              </a:rPr>
              <a:t>Relation entre le niveau d’activité physique (Paffenbarger, Morris, Léon) ou de condition physique (Blair, Ekelund, Sandvick) et la mortalité par maladie coronarienne. (Adapté de Haskell, 1994)</a:t>
            </a:r>
            <a:endParaRPr lang="es-CL" sz="1600">
              <a:solidFill>
                <a:schemeClr val="bg1"/>
              </a:solidFill>
            </a:endParaRPr>
          </a:p>
        </p:txBody>
      </p:sp>
      <p:cxnSp>
        <p:nvCxnSpPr>
          <p:cNvPr id="27833" name="Connecteur droit avec flèche 185"/>
          <p:cNvCxnSpPr>
            <a:cxnSpLocks noChangeShapeType="1"/>
          </p:cNvCxnSpPr>
          <p:nvPr/>
        </p:nvCxnSpPr>
        <p:spPr bwMode="auto">
          <a:xfrm>
            <a:off x="1285875" y="5286375"/>
            <a:ext cx="6858000" cy="1588"/>
          </a:xfrm>
          <a:prstGeom prst="straightConnector1">
            <a:avLst/>
          </a:prstGeom>
          <a:noFill/>
          <a:ln w="28575" algn="ctr">
            <a:solidFill>
              <a:schemeClr val="bg1"/>
            </a:solidFill>
            <a:round/>
            <a:headEnd type="none" w="sm" len="sm"/>
            <a:tailEnd type="arrow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214438" y="142875"/>
            <a:ext cx="6353175" cy="6461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fr-F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AUTRES EFFETS UBIQUITAIRES DE LA PRATIQUE </a:t>
            </a:r>
          </a:p>
          <a:p>
            <a:pPr algn="ctr">
              <a:defRPr/>
            </a:pPr>
            <a:r>
              <a:rPr lang="fr-F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REGULIERE D’ACTIVITES PHYSIQUES</a:t>
            </a:r>
          </a:p>
        </p:txBody>
      </p:sp>
      <p:pic>
        <p:nvPicPr>
          <p:cNvPr id="31747" name="Picture 5" descr="course009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25625" y="2909888"/>
            <a:ext cx="785813" cy="9921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</p:pic>
      <p:pic>
        <p:nvPicPr>
          <p:cNvPr id="31748" name="Picture 2" descr="Cerveau1"/>
          <p:cNvPicPr>
            <a:picLocks noChangeAspect="1" noChangeArrowheads="1"/>
          </p:cNvPicPr>
          <p:nvPr/>
        </p:nvPicPr>
        <p:blipFill>
          <a:blip r:embed="rId3">
            <a:lum bright="-18000" contrast="18000"/>
          </a:blip>
          <a:srcRect/>
          <a:stretch>
            <a:fillRect/>
          </a:stretch>
        </p:blipFill>
        <p:spPr bwMode="auto">
          <a:xfrm>
            <a:off x="3968750" y="928688"/>
            <a:ext cx="1041400" cy="873125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31749" name="Picture 3" descr="Coeur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468938" y="1714500"/>
            <a:ext cx="676275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750" name="Picture 4" descr="Poumon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183063" y="2714625"/>
            <a:ext cx="674687" cy="977900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11" name="Picture 2" descr="Axes endocriniens"/>
          <p:cNvPicPr>
            <a:picLocks noChangeAspect="1" noChangeArrowheads="1"/>
          </p:cNvPicPr>
          <p:nvPr/>
        </p:nvPicPr>
        <p:blipFill>
          <a:blip r:embed="rId6">
            <a:lum bright="-48000" contrast="66000"/>
          </a:blip>
          <a:srcRect l="22554" t="44344" r="72890" b="39999"/>
          <a:stretch>
            <a:fillRect/>
          </a:stretch>
        </p:blipFill>
        <p:spPr bwMode="auto">
          <a:xfrm>
            <a:off x="5611813" y="3500438"/>
            <a:ext cx="388937" cy="1233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57" descr="Muscle coupe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4040188" y="4143375"/>
            <a:ext cx="925512" cy="942975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</p:spPr>
      </p:pic>
      <p:cxnSp>
        <p:nvCxnSpPr>
          <p:cNvPr id="15" name="Connecteur droit avec flèche 14"/>
          <p:cNvCxnSpPr/>
          <p:nvPr/>
        </p:nvCxnSpPr>
        <p:spPr>
          <a:xfrm rot="5400000" flipH="1" flipV="1">
            <a:off x="2504281" y="1607345"/>
            <a:ext cx="1571625" cy="1357312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/>
          <p:nvPr/>
        </p:nvCxnSpPr>
        <p:spPr>
          <a:xfrm flipV="1">
            <a:off x="2611438" y="2143125"/>
            <a:ext cx="2714625" cy="114300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/>
          <p:cNvCxnSpPr>
            <a:stCxn id="31747" idx="3"/>
          </p:cNvCxnSpPr>
          <p:nvPr/>
        </p:nvCxnSpPr>
        <p:spPr>
          <a:xfrm flipV="1">
            <a:off x="2611438" y="3143250"/>
            <a:ext cx="1428750" cy="263525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/>
          <p:cNvCxnSpPr>
            <a:endCxn id="11" idx="1"/>
          </p:cNvCxnSpPr>
          <p:nvPr/>
        </p:nvCxnSpPr>
        <p:spPr>
          <a:xfrm>
            <a:off x="2643188" y="3500438"/>
            <a:ext cx="2968625" cy="617537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2"/>
          <p:cNvCxnSpPr>
            <a:endCxn id="13" idx="1"/>
          </p:cNvCxnSpPr>
          <p:nvPr/>
        </p:nvCxnSpPr>
        <p:spPr>
          <a:xfrm>
            <a:off x="2643188" y="3714750"/>
            <a:ext cx="1397000" cy="900113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avec flèche 42"/>
          <p:cNvCxnSpPr/>
          <p:nvPr/>
        </p:nvCxnSpPr>
        <p:spPr>
          <a:xfrm>
            <a:off x="2611438" y="3929063"/>
            <a:ext cx="2643187" cy="228600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Picture 4" descr="pic-1"/>
          <p:cNvPicPr>
            <a:picLocks noChangeAspect="1" noChangeArrowheads="1"/>
          </p:cNvPicPr>
          <p:nvPr/>
        </p:nvPicPr>
        <p:blipFill>
          <a:blip r:embed="rId8"/>
          <a:srcRect l="33539" t="2165"/>
          <a:stretch>
            <a:fillRect/>
          </a:stretch>
        </p:blipFill>
        <p:spPr bwMode="auto">
          <a:xfrm>
            <a:off x="5321300" y="5286375"/>
            <a:ext cx="822325" cy="1376363"/>
          </a:xfrm>
          <a:prstGeom prst="rect">
            <a:avLst/>
          </a:prstGeom>
          <a:noFill/>
          <a:ln w="6350">
            <a:solidFill>
              <a:schemeClr val="bg1"/>
            </a:solidFill>
            <a:miter lim="800000"/>
            <a:headEnd/>
            <a:tailEnd/>
          </a:ln>
        </p:spPr>
      </p:pic>
      <p:cxnSp>
        <p:nvCxnSpPr>
          <p:cNvPr id="58" name="Connecteur droit avec flèche 57"/>
          <p:cNvCxnSpPr/>
          <p:nvPr/>
        </p:nvCxnSpPr>
        <p:spPr>
          <a:xfrm rot="5400000">
            <a:off x="1392238" y="4679950"/>
            <a:ext cx="1500188" cy="1587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ZoneTexte 58"/>
          <p:cNvSpPr txBox="1">
            <a:spLocks noChangeArrowheads="1"/>
          </p:cNvSpPr>
          <p:nvPr/>
        </p:nvSpPr>
        <p:spPr bwMode="auto">
          <a:xfrm>
            <a:off x="1000125" y="5500688"/>
            <a:ext cx="2338388" cy="1477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>
                <a:solidFill>
                  <a:srgbClr val="FFFF00"/>
                </a:solidFill>
              </a:rPr>
              <a:t>Cancers,</a:t>
            </a:r>
          </a:p>
          <a:p>
            <a:pPr algn="ctr"/>
            <a:r>
              <a:rPr lang="fr-FR">
                <a:solidFill>
                  <a:srgbClr val="FFFF00"/>
                </a:solidFill>
              </a:rPr>
              <a:t>Système hormonal</a:t>
            </a:r>
          </a:p>
          <a:p>
            <a:pPr algn="ctr"/>
            <a:r>
              <a:rPr lang="fr-FR">
                <a:solidFill>
                  <a:srgbClr val="FFFF00"/>
                </a:solidFill>
              </a:rPr>
              <a:t>Système immunitaire</a:t>
            </a:r>
          </a:p>
          <a:p>
            <a:pPr algn="ctr"/>
            <a:r>
              <a:rPr lang="fr-FR">
                <a:solidFill>
                  <a:srgbClr val="FFFF00"/>
                </a:solidFill>
              </a:rPr>
              <a:t>…..</a:t>
            </a:r>
          </a:p>
          <a:p>
            <a:pPr algn="ctr"/>
            <a:endParaRPr lang="fr-FR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7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7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17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17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17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17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17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17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500"/>
                            </p:stCondLst>
                            <p:childTnLst>
                              <p:par>
                                <p:cTn id="46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500"/>
                            </p:stCondLst>
                            <p:childTnLst>
                              <p:par>
                                <p:cTn id="56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500"/>
                            </p:stCondLst>
                            <p:childTnLst>
                              <p:par>
                                <p:cTn id="66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214438" y="142875"/>
            <a:ext cx="6353175" cy="6461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fr-F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AUTRES EFFETS UBIQUITAIRES DE LA PRATIQUE </a:t>
            </a:r>
          </a:p>
          <a:p>
            <a:pPr algn="ctr">
              <a:defRPr/>
            </a:pPr>
            <a:r>
              <a:rPr lang="fr-F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REGULIERE D’ACTIVITES PHYSIQUES</a:t>
            </a:r>
          </a:p>
        </p:txBody>
      </p:sp>
      <p:pic>
        <p:nvPicPr>
          <p:cNvPr id="31748" name="Picture 2" descr="Cerveau1"/>
          <p:cNvPicPr>
            <a:picLocks noChangeAspect="1" noChangeArrowheads="1"/>
          </p:cNvPicPr>
          <p:nvPr/>
        </p:nvPicPr>
        <p:blipFill>
          <a:blip r:embed="rId2">
            <a:lum bright="-18000" contrast="18000"/>
          </a:blip>
          <a:srcRect/>
          <a:stretch>
            <a:fillRect/>
          </a:stretch>
        </p:blipFill>
        <p:spPr bwMode="auto">
          <a:xfrm>
            <a:off x="2286000" y="1071563"/>
            <a:ext cx="871538" cy="73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749" name="Picture 3" descr="Coeur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4663" y="1785938"/>
            <a:ext cx="628650" cy="928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750" name="Picture 4" descr="Poumon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401888" y="2643188"/>
            <a:ext cx="598487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2" descr="Axes endocriniens"/>
          <p:cNvPicPr>
            <a:picLocks noChangeAspect="1" noChangeArrowheads="1"/>
          </p:cNvPicPr>
          <p:nvPr/>
        </p:nvPicPr>
        <p:blipFill>
          <a:blip r:embed="rId5">
            <a:lum bright="-48000" contrast="66000"/>
          </a:blip>
          <a:srcRect l="22554" t="44344" r="72890" b="39999"/>
          <a:stretch>
            <a:fillRect/>
          </a:stretch>
        </p:blipFill>
        <p:spPr bwMode="auto">
          <a:xfrm>
            <a:off x="500063" y="3346450"/>
            <a:ext cx="365125" cy="1154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57" descr="Muscle coupe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428875" y="4572000"/>
            <a:ext cx="714375" cy="728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3286125" y="1000125"/>
            <a:ext cx="5857875" cy="73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sz="1400" b="1">
                <a:solidFill>
                  <a:srgbClr val="FFFF00"/>
                </a:solidFill>
                <a:sym typeface="Symbol" pitchFamily="18" charset="2"/>
              </a:rPr>
              <a:t> BDNF, </a:t>
            </a:r>
            <a:r>
              <a:rPr lang="fr-FR" sz="1400" i="1">
                <a:solidFill>
                  <a:srgbClr val="FFFF00"/>
                </a:solidFill>
              </a:rPr>
              <a:t>(brain derived neurotrophic factor) + </a:t>
            </a:r>
            <a:r>
              <a:rPr lang="fr-FR" sz="1400" b="1">
                <a:solidFill>
                  <a:srgbClr val="FFFF00"/>
                </a:solidFill>
                <a:sym typeface="Symbol" pitchFamily="18" charset="2"/>
              </a:rPr>
              <a:t> NGF </a:t>
            </a:r>
            <a:r>
              <a:rPr lang="fr-FR" sz="1400" i="1">
                <a:solidFill>
                  <a:schemeClr val="bg1"/>
                </a:solidFill>
              </a:rPr>
              <a:t>(nerve growth factor) </a:t>
            </a:r>
            <a:r>
              <a:rPr lang="fr-FR" sz="1400">
                <a:solidFill>
                  <a:schemeClr val="bg1"/>
                </a:solidFill>
                <a:sym typeface="Symbol" pitchFamily="18" charset="2"/>
              </a:rPr>
              <a:t>  plasticité synaptique ( synaptogénèse) +  neurogénèse</a:t>
            </a:r>
          </a:p>
          <a:p>
            <a:r>
              <a:rPr lang="fr-FR" sz="1400">
                <a:solidFill>
                  <a:srgbClr val="FFFF00"/>
                </a:solidFill>
                <a:sym typeface="Symbol" pitchFamily="18" charset="2"/>
              </a:rPr>
              <a:t></a:t>
            </a:r>
            <a:r>
              <a:rPr lang="fr-FR" sz="1400" b="1">
                <a:solidFill>
                  <a:srgbClr val="FFFF00"/>
                </a:solidFill>
                <a:sym typeface="Symbol" pitchFamily="18" charset="2"/>
              </a:rPr>
              <a:t>IGF-1 </a:t>
            </a:r>
            <a:r>
              <a:rPr lang="fr-FR" sz="1400">
                <a:solidFill>
                  <a:schemeClr val="bg1"/>
                </a:solidFill>
                <a:sym typeface="Symbol" pitchFamily="18" charset="2"/>
              </a:rPr>
              <a:t> angiogénèse   O2,  glucose, </a:t>
            </a:r>
            <a:endParaRPr lang="fr-FR" sz="1400" b="1">
              <a:solidFill>
                <a:srgbClr val="FFFF00"/>
              </a:solidFill>
              <a:sym typeface="Symbol" pitchFamily="18" charset="2"/>
            </a:endParaRPr>
          </a:p>
        </p:txBody>
      </p:sp>
      <p:sp>
        <p:nvSpPr>
          <p:cNvPr id="35" name="ZoneTexte 34"/>
          <p:cNvSpPr txBox="1">
            <a:spLocks noChangeArrowheads="1"/>
          </p:cNvSpPr>
          <p:nvPr/>
        </p:nvSpPr>
        <p:spPr bwMode="auto">
          <a:xfrm>
            <a:off x="1143000" y="1857375"/>
            <a:ext cx="7786688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sz="1400">
                <a:solidFill>
                  <a:schemeClr val="bg1"/>
                </a:solidFill>
                <a:sym typeface="Symbol" pitchFamily="18" charset="2"/>
              </a:rPr>
              <a:t> Amélioration de la fonction endothéliale et de la régulation rhéologique,</a:t>
            </a:r>
            <a:r>
              <a:rPr lang="fr-FR" sz="1400" b="1">
                <a:solidFill>
                  <a:srgbClr val="FFFF00"/>
                </a:solidFill>
                <a:sym typeface="Symbol" pitchFamily="18" charset="2"/>
              </a:rPr>
              <a:t> NO </a:t>
            </a:r>
            <a:r>
              <a:rPr lang="fr-FR" sz="1400">
                <a:solidFill>
                  <a:schemeClr val="bg1"/>
                </a:solidFill>
                <a:sym typeface="Symbol" pitchFamily="18" charset="2"/>
              </a:rPr>
              <a:t>: vasodilatation; amélioration des </a:t>
            </a:r>
            <a:r>
              <a:rPr lang="fr-FR" sz="1400">
                <a:solidFill>
                  <a:schemeClr val="bg1"/>
                </a:solidFill>
              </a:rPr>
              <a:t>troubles hémorhéologiques et l’hypercoagulabilité, </a:t>
            </a:r>
            <a:r>
              <a:rPr lang="fr-FR" sz="1400" b="1">
                <a:solidFill>
                  <a:schemeClr val="bg1"/>
                </a:solidFill>
              </a:rPr>
              <a:t>↓ </a:t>
            </a:r>
            <a:r>
              <a:rPr lang="fr-FR" sz="1400">
                <a:solidFill>
                  <a:schemeClr val="bg1"/>
                </a:solidFill>
              </a:rPr>
              <a:t>hypertension, du diabète, de dyslipidémie, de l’hypercholestérolémie, </a:t>
            </a:r>
            <a:r>
              <a:rPr lang="fr-FR" sz="1400">
                <a:solidFill>
                  <a:schemeClr val="bg1"/>
                </a:solidFill>
                <a:sym typeface="Symbol" pitchFamily="18" charset="2"/>
              </a:rPr>
              <a:t> perfusion myocardique, </a:t>
            </a:r>
            <a:r>
              <a:rPr lang="fr-FR" sz="1400">
                <a:solidFill>
                  <a:srgbClr val="FFFF00"/>
                </a:solidFill>
                <a:sym typeface="Symbol" pitchFamily="18" charset="2"/>
              </a:rPr>
              <a:t> </a:t>
            </a:r>
            <a:r>
              <a:rPr lang="fr-FR" sz="1400">
                <a:solidFill>
                  <a:schemeClr val="bg1"/>
                </a:solidFill>
                <a:sym typeface="Symbol" pitchFamily="18" charset="2"/>
              </a:rPr>
              <a:t>débit cardiaque</a:t>
            </a:r>
            <a:endParaRPr lang="fr-FR" sz="1400">
              <a:solidFill>
                <a:schemeClr val="bg1"/>
              </a:solidFill>
            </a:endParaRPr>
          </a:p>
          <a:p>
            <a:endParaRPr lang="fr-FR" sz="1400">
              <a:solidFill>
                <a:schemeClr val="bg1"/>
              </a:solidFill>
            </a:endParaRPr>
          </a:p>
        </p:txBody>
      </p:sp>
      <p:sp>
        <p:nvSpPr>
          <p:cNvPr id="37" name="ZoneTexte 36"/>
          <p:cNvSpPr txBox="1">
            <a:spLocks noChangeArrowheads="1"/>
          </p:cNvSpPr>
          <p:nvPr/>
        </p:nvSpPr>
        <p:spPr bwMode="auto">
          <a:xfrm>
            <a:off x="3143250" y="2857500"/>
            <a:ext cx="6154738" cy="73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 typeface="Symbol" pitchFamily="18" charset="2"/>
              <a:buChar char="­"/>
            </a:pPr>
            <a:r>
              <a:rPr lang="es-CL" sz="1400">
                <a:solidFill>
                  <a:schemeClr val="bg1"/>
                </a:solidFill>
              </a:rPr>
              <a:t>Puissance des muscles respiratoires, </a:t>
            </a:r>
            <a:r>
              <a:rPr lang="fr-FR" sz="1400">
                <a:solidFill>
                  <a:schemeClr val="bg1"/>
                </a:solidFill>
                <a:sym typeface="Symbol" pitchFamily="18" charset="2"/>
              </a:rPr>
              <a:t></a:t>
            </a:r>
            <a:r>
              <a:rPr lang="es-CL" sz="1400">
                <a:solidFill>
                  <a:schemeClr val="bg1"/>
                </a:solidFill>
              </a:rPr>
              <a:t>nombre d’alvéoles fonctionnelles</a:t>
            </a:r>
            <a:r>
              <a:rPr lang="fr-FR" sz="1400">
                <a:solidFill>
                  <a:schemeClr val="bg1"/>
                </a:solidFill>
                <a:sym typeface="Symbol" pitchFamily="18" charset="2"/>
              </a:rPr>
              <a:t> </a:t>
            </a:r>
          </a:p>
          <a:p>
            <a:pPr>
              <a:buFont typeface="Symbol" pitchFamily="18" charset="2"/>
              <a:buChar char="­"/>
            </a:pPr>
            <a:r>
              <a:rPr lang="fr-FR" sz="1400">
                <a:solidFill>
                  <a:schemeClr val="bg1"/>
                </a:solidFill>
              </a:rPr>
              <a:t>rapport ventilation/perfusion, amélioration de la broncho-pneumopathie</a:t>
            </a:r>
          </a:p>
          <a:p>
            <a:r>
              <a:rPr lang="fr-FR" sz="1400">
                <a:solidFill>
                  <a:schemeClr val="bg1"/>
                </a:solidFill>
              </a:rPr>
              <a:t>chronique obstructive (BPCO), de l’asthme,</a:t>
            </a:r>
          </a:p>
        </p:txBody>
      </p:sp>
      <p:sp>
        <p:nvSpPr>
          <p:cNvPr id="38" name="ZoneTexte 37"/>
          <p:cNvSpPr txBox="1">
            <a:spLocks noChangeArrowheads="1"/>
          </p:cNvSpPr>
          <p:nvPr/>
        </p:nvSpPr>
        <p:spPr bwMode="auto">
          <a:xfrm>
            <a:off x="1214438" y="3714750"/>
            <a:ext cx="7643812" cy="73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sz="1400">
                <a:solidFill>
                  <a:schemeClr val="bg1"/>
                </a:solidFill>
              </a:rPr>
              <a:t>Effet ostéogénique (dépend de la qualité des contraintes mécaniques). Effet très important en période pré, pubertaire et post pubertaire : AP multiforme + musculation. </a:t>
            </a:r>
            <a:r>
              <a:rPr lang="fr-FR" sz="1400">
                <a:solidFill>
                  <a:schemeClr val="bg1"/>
                </a:solidFill>
                <a:sym typeface="Symbol" pitchFamily="18" charset="2"/>
              </a:rPr>
              <a:t>de la DMO, CMO, </a:t>
            </a:r>
          </a:p>
          <a:p>
            <a:r>
              <a:rPr lang="fr-FR" sz="1400">
                <a:solidFill>
                  <a:schemeClr val="bg1"/>
                </a:solidFill>
                <a:sym typeface="Symbol" pitchFamily="18" charset="2"/>
              </a:rPr>
              <a:t>lutte contre l’ostéoporose</a:t>
            </a:r>
            <a:endParaRPr lang="fr-FR" sz="1400">
              <a:solidFill>
                <a:schemeClr val="bg1"/>
              </a:solidFill>
            </a:endParaRPr>
          </a:p>
        </p:txBody>
      </p:sp>
      <p:sp>
        <p:nvSpPr>
          <p:cNvPr id="39" name="ZoneTexte 38"/>
          <p:cNvSpPr txBox="1">
            <a:spLocks noChangeArrowheads="1"/>
          </p:cNvSpPr>
          <p:nvPr/>
        </p:nvSpPr>
        <p:spPr bwMode="auto">
          <a:xfrm>
            <a:off x="3286125" y="4500563"/>
            <a:ext cx="5672138" cy="95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 typeface="Symbol" pitchFamily="18" charset="2"/>
              <a:buChar char="­"/>
            </a:pPr>
            <a:r>
              <a:rPr lang="fr-FR" sz="1400" b="1">
                <a:solidFill>
                  <a:srgbClr val="FFFF00"/>
                </a:solidFill>
                <a:sym typeface="Symbol" pitchFamily="18" charset="2"/>
              </a:rPr>
              <a:t>IGF-1 : </a:t>
            </a:r>
            <a:r>
              <a:rPr lang="fr-FR" sz="1400">
                <a:solidFill>
                  <a:schemeClr val="bg1"/>
                </a:solidFill>
                <a:sym typeface="Symbol" pitchFamily="18" charset="2"/>
              </a:rPr>
              <a:t>hypertrophie :  Force, puissance et endurance musculaire, </a:t>
            </a:r>
          </a:p>
          <a:p>
            <a:pPr>
              <a:buFont typeface="Symbol" pitchFamily="18" charset="2"/>
              <a:buChar char="­"/>
            </a:pPr>
            <a:r>
              <a:rPr lang="fr-FR" sz="1400">
                <a:solidFill>
                  <a:schemeClr val="bg1"/>
                </a:solidFill>
                <a:sym typeface="Symbol" pitchFamily="18" charset="2"/>
              </a:rPr>
              <a:t>coordination  neuromotrice,  pouvoir oxydatif,  des réserves en </a:t>
            </a:r>
          </a:p>
          <a:p>
            <a:pPr>
              <a:buFont typeface="Symbol" pitchFamily="18" charset="2"/>
              <a:buChar char="­"/>
            </a:pPr>
            <a:r>
              <a:rPr lang="fr-FR" sz="1400">
                <a:solidFill>
                  <a:schemeClr val="bg1"/>
                </a:solidFill>
                <a:sym typeface="Symbol" pitchFamily="18" charset="2"/>
              </a:rPr>
              <a:t>substrats (PCr, glycogène, AGL), amélioration de la qualité de leur </a:t>
            </a:r>
          </a:p>
          <a:p>
            <a:pPr>
              <a:buFont typeface="Symbol" pitchFamily="18" charset="2"/>
              <a:buChar char="­"/>
            </a:pPr>
            <a:r>
              <a:rPr lang="fr-FR" sz="1400">
                <a:solidFill>
                  <a:schemeClr val="bg1"/>
                </a:solidFill>
                <a:sym typeface="Symbol" pitchFamily="18" charset="2"/>
              </a:rPr>
              <a:t>utilisation ( [enzymes]), </a:t>
            </a:r>
            <a:endParaRPr lang="fr-FR" sz="1400"/>
          </a:p>
        </p:txBody>
      </p:sp>
      <p:pic>
        <p:nvPicPr>
          <p:cNvPr id="44" name="Picture 4" descr="pic-1"/>
          <p:cNvPicPr>
            <a:picLocks noChangeAspect="1" noChangeArrowheads="1"/>
          </p:cNvPicPr>
          <p:nvPr/>
        </p:nvPicPr>
        <p:blipFill>
          <a:blip r:embed="rId7" cstate="print"/>
          <a:srcRect l="33539" t="2165"/>
          <a:stretch>
            <a:fillRect/>
          </a:stretch>
        </p:blipFill>
        <p:spPr bwMode="auto">
          <a:xfrm>
            <a:off x="357188" y="5500688"/>
            <a:ext cx="639762" cy="1071562"/>
          </a:xfrm>
          <a:prstGeom prst="rect">
            <a:avLst/>
          </a:prstGeom>
          <a:noFill/>
          <a:ln w="6350">
            <a:solidFill>
              <a:schemeClr val="bg1"/>
            </a:solidFill>
            <a:miter lim="800000"/>
            <a:headEnd/>
            <a:tailEnd/>
          </a:ln>
        </p:spPr>
      </p:pic>
      <p:sp>
        <p:nvSpPr>
          <p:cNvPr id="46" name="ZoneTexte 45"/>
          <p:cNvSpPr txBox="1">
            <a:spLocks noChangeArrowheads="1"/>
          </p:cNvSpPr>
          <p:nvPr/>
        </p:nvSpPr>
        <p:spPr bwMode="auto">
          <a:xfrm>
            <a:off x="1214438" y="5572125"/>
            <a:ext cx="7991475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sz="1400">
                <a:solidFill>
                  <a:schemeClr val="bg1"/>
                </a:solidFill>
                <a:sym typeface="Symbol" pitchFamily="18" charset="2"/>
              </a:rPr>
              <a:t> Dépense d’énergie, amélioration diététique et des facteurs environnementaux,  diminution de la concentration en leptine, diminution de la taille des adipocytes, amélioration de l’utilisation des lipides ,  de la masse maigre. Amélioration  des comportements psychologique s : meilleure estime de soi, maîtrise de l’anxiété, voire de la dépression…</a:t>
            </a:r>
            <a:endParaRPr lang="fr-FR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7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7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17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17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17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17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5" grpId="0"/>
      <p:bldP spid="37" grpId="0"/>
      <p:bldP spid="38" grpId="0"/>
      <p:bldP spid="39" grpId="0"/>
      <p:bldP spid="4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571500" y="1643063"/>
            <a:ext cx="8250238" cy="9604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fr-FR" sz="2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EXEMPLE DES EFFETS DE L’ACTIVITE PHYSIQUE SUR LES </a:t>
            </a:r>
          </a:p>
          <a:p>
            <a:pPr>
              <a:lnSpc>
                <a:spcPct val="150000"/>
              </a:lnSpc>
              <a:defRPr/>
            </a:pPr>
            <a:r>
              <a:rPr lang="fr-FR" sz="2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FONCTIONS CEREBRALES ET SUR LE SYSTÈME NERVEUX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 descr="Cerveau1"/>
          <p:cNvPicPr>
            <a:picLocks noChangeAspect="1" noChangeArrowheads="1"/>
          </p:cNvPicPr>
          <p:nvPr/>
        </p:nvPicPr>
        <p:blipFill>
          <a:blip r:embed="rId3">
            <a:lum bright="-18000" contrast="18000"/>
          </a:blip>
          <a:srcRect/>
          <a:stretch>
            <a:fillRect/>
          </a:stretch>
        </p:blipFill>
        <p:spPr bwMode="auto">
          <a:xfrm>
            <a:off x="3203575" y="188913"/>
            <a:ext cx="2305050" cy="193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47" name="Text Box 3"/>
          <p:cNvSpPr txBox="1">
            <a:spLocks noChangeArrowheads="1"/>
          </p:cNvSpPr>
          <p:nvPr/>
        </p:nvSpPr>
        <p:spPr bwMode="auto">
          <a:xfrm>
            <a:off x="179388" y="2205038"/>
            <a:ext cx="8964612" cy="44402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0" hangingPunct="0"/>
            <a:r>
              <a:rPr lang="fr-FR" sz="2800">
                <a:solidFill>
                  <a:schemeClr val="bg1"/>
                </a:solidFill>
                <a:latin typeface="Times New Roman" pitchFamily="18" charset="0"/>
              </a:rPr>
              <a:t>Le système nerveux central présente une cinétique de régression de 0,5 % par an à partir de 30 ans :</a:t>
            </a:r>
          </a:p>
          <a:p>
            <a:pPr eaLnBrk="0" hangingPunct="0"/>
            <a:endParaRPr lang="fr-FR" sz="2800">
              <a:solidFill>
                <a:schemeClr val="bg1"/>
              </a:solidFill>
              <a:latin typeface="Times New Roman" pitchFamily="18" charset="0"/>
            </a:endParaRPr>
          </a:p>
          <a:p>
            <a:pPr eaLnBrk="0" hangingPunct="0">
              <a:lnSpc>
                <a:spcPct val="120000"/>
              </a:lnSpc>
              <a:buFontTx/>
              <a:buChar char="-"/>
            </a:pPr>
            <a:r>
              <a:rPr lang="fr-FR" sz="2400">
                <a:solidFill>
                  <a:schemeClr val="bg1"/>
                </a:solidFill>
                <a:latin typeface="Times New Roman" pitchFamily="18" charset="0"/>
              </a:rPr>
              <a:t> perte des neurones</a:t>
            </a:r>
          </a:p>
          <a:p>
            <a:pPr eaLnBrk="0" hangingPunct="0">
              <a:lnSpc>
                <a:spcPct val="120000"/>
              </a:lnSpc>
              <a:buFontTx/>
              <a:buChar char="-"/>
            </a:pPr>
            <a:r>
              <a:rPr lang="fr-FR" sz="2400">
                <a:solidFill>
                  <a:schemeClr val="bg1"/>
                </a:solidFill>
                <a:latin typeface="Times New Roman" pitchFamily="18" charset="0"/>
              </a:rPr>
              <a:t> diminution de la production de neurotransmetteurs,</a:t>
            </a:r>
          </a:p>
          <a:p>
            <a:pPr eaLnBrk="0" hangingPunct="0">
              <a:lnSpc>
                <a:spcPct val="120000"/>
              </a:lnSpc>
              <a:buFontTx/>
              <a:buChar char="-"/>
            </a:pPr>
            <a:r>
              <a:rPr lang="fr-FR" sz="2400">
                <a:solidFill>
                  <a:schemeClr val="bg1"/>
                </a:solidFill>
                <a:latin typeface="Times New Roman" pitchFamily="18" charset="0"/>
              </a:rPr>
              <a:t> diminution de 37 % des axones médullaires,</a:t>
            </a:r>
          </a:p>
          <a:p>
            <a:pPr eaLnBrk="0" hangingPunct="0">
              <a:lnSpc>
                <a:spcPct val="120000"/>
              </a:lnSpc>
              <a:buFontTx/>
              <a:buChar char="-"/>
            </a:pPr>
            <a:r>
              <a:rPr lang="fr-FR" sz="2400">
                <a:solidFill>
                  <a:schemeClr val="bg1"/>
                </a:solidFill>
                <a:latin typeface="Times New Roman" pitchFamily="18" charset="0"/>
              </a:rPr>
              <a:t> diminution de 10 % de la vitesse de conduction nerveuse,</a:t>
            </a:r>
          </a:p>
          <a:p>
            <a:pPr eaLnBrk="0" hangingPunct="0">
              <a:lnSpc>
                <a:spcPct val="120000"/>
              </a:lnSpc>
              <a:buFontTx/>
              <a:buChar char="-"/>
            </a:pPr>
            <a:r>
              <a:rPr lang="fr-FR" sz="2400">
                <a:solidFill>
                  <a:schemeClr val="bg1"/>
                </a:solidFill>
                <a:latin typeface="Times New Roman" pitchFamily="18" charset="0"/>
              </a:rPr>
              <a:t> perte significative de l’élasticité des tissus de soutien,</a:t>
            </a:r>
          </a:p>
          <a:p>
            <a:pPr eaLnBrk="0" hangingPunct="0">
              <a:lnSpc>
                <a:spcPct val="120000"/>
              </a:lnSpc>
              <a:buFontTx/>
              <a:buChar char="-"/>
            </a:pPr>
            <a:r>
              <a:rPr lang="fr-FR" sz="2400">
                <a:solidFill>
                  <a:schemeClr val="bg1"/>
                </a:solidFill>
                <a:latin typeface="Times New Roman" pitchFamily="18" charset="0"/>
              </a:rPr>
              <a:t> diminution de l’aptitude à détecter un stimulus,</a:t>
            </a:r>
          </a:p>
          <a:p>
            <a:pPr eaLnBrk="0" hangingPunct="0">
              <a:lnSpc>
                <a:spcPct val="120000"/>
              </a:lnSpc>
              <a:buFontTx/>
              <a:buChar char="-"/>
            </a:pPr>
            <a:r>
              <a:rPr lang="fr-FR" sz="2400">
                <a:solidFill>
                  <a:schemeClr val="bg1"/>
                </a:solidFill>
                <a:latin typeface="Times New Roman" pitchFamily="18" charset="0"/>
              </a:rPr>
              <a:t> diminution de l’aptitude à analyser l’information en vue de la réponse  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1547813" y="2190750"/>
            <a:ext cx="6553200" cy="2879725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1042988" y="1908175"/>
            <a:ext cx="692150" cy="34194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>
              <a:lnSpc>
                <a:spcPct val="170000"/>
              </a:lnSpc>
            </a:pPr>
            <a:r>
              <a:rPr lang="fr-FR" sz="1600">
                <a:solidFill>
                  <a:schemeClr val="bg1"/>
                </a:solidFill>
                <a:latin typeface="Times New Roman" pitchFamily="18" charset="0"/>
              </a:rPr>
              <a:t>250 -</a:t>
            </a:r>
          </a:p>
          <a:p>
            <a:pPr eaLnBrk="0" hangingPunct="0">
              <a:lnSpc>
                <a:spcPct val="170000"/>
              </a:lnSpc>
            </a:pPr>
            <a:r>
              <a:rPr lang="fr-FR" sz="1600">
                <a:solidFill>
                  <a:schemeClr val="bg1"/>
                </a:solidFill>
                <a:latin typeface="Times New Roman" pitchFamily="18" charset="0"/>
              </a:rPr>
              <a:t>230 –</a:t>
            </a:r>
          </a:p>
          <a:p>
            <a:pPr eaLnBrk="0" hangingPunct="0">
              <a:lnSpc>
                <a:spcPct val="170000"/>
              </a:lnSpc>
            </a:pPr>
            <a:r>
              <a:rPr lang="fr-FR" sz="1600">
                <a:solidFill>
                  <a:schemeClr val="bg1"/>
                </a:solidFill>
                <a:latin typeface="Times New Roman" pitchFamily="18" charset="0"/>
              </a:rPr>
              <a:t>210 – </a:t>
            </a:r>
          </a:p>
          <a:p>
            <a:pPr eaLnBrk="0" hangingPunct="0">
              <a:lnSpc>
                <a:spcPct val="170000"/>
              </a:lnSpc>
            </a:pPr>
            <a:r>
              <a:rPr lang="fr-FR" sz="1600">
                <a:solidFill>
                  <a:schemeClr val="bg1"/>
                </a:solidFill>
                <a:latin typeface="Times New Roman" pitchFamily="18" charset="0"/>
              </a:rPr>
              <a:t>190 –</a:t>
            </a:r>
          </a:p>
          <a:p>
            <a:pPr eaLnBrk="0" hangingPunct="0">
              <a:lnSpc>
                <a:spcPct val="170000"/>
              </a:lnSpc>
            </a:pPr>
            <a:r>
              <a:rPr lang="fr-FR" sz="1600">
                <a:solidFill>
                  <a:schemeClr val="bg1"/>
                </a:solidFill>
                <a:latin typeface="Times New Roman" pitchFamily="18" charset="0"/>
              </a:rPr>
              <a:t>170 –</a:t>
            </a:r>
          </a:p>
          <a:p>
            <a:pPr eaLnBrk="0" hangingPunct="0">
              <a:lnSpc>
                <a:spcPct val="170000"/>
              </a:lnSpc>
            </a:pPr>
            <a:r>
              <a:rPr lang="fr-FR" sz="1600">
                <a:solidFill>
                  <a:schemeClr val="bg1"/>
                </a:solidFill>
                <a:latin typeface="Times New Roman" pitchFamily="18" charset="0"/>
              </a:rPr>
              <a:t>150 –</a:t>
            </a:r>
          </a:p>
          <a:p>
            <a:pPr eaLnBrk="0" hangingPunct="0">
              <a:lnSpc>
                <a:spcPct val="170000"/>
              </a:lnSpc>
            </a:pPr>
            <a:r>
              <a:rPr lang="fr-FR" sz="1600">
                <a:solidFill>
                  <a:schemeClr val="bg1"/>
                </a:solidFill>
                <a:latin typeface="Times New Roman" pitchFamily="18" charset="0"/>
              </a:rPr>
              <a:t>130 –</a:t>
            </a:r>
          </a:p>
          <a:p>
            <a:pPr eaLnBrk="0" hangingPunct="0">
              <a:lnSpc>
                <a:spcPct val="170000"/>
              </a:lnSpc>
            </a:pPr>
            <a:endParaRPr lang="fr-FR" sz="160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32772" name="Text Box 4"/>
          <p:cNvSpPr txBox="1">
            <a:spLocks noChangeArrowheads="1"/>
          </p:cNvSpPr>
          <p:nvPr/>
        </p:nvSpPr>
        <p:spPr bwMode="auto">
          <a:xfrm>
            <a:off x="1476375" y="2262188"/>
            <a:ext cx="277813" cy="336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600">
                <a:solidFill>
                  <a:schemeClr val="bg1"/>
                </a:solidFill>
                <a:latin typeface="Matura MT Script Capitals" pitchFamily="66" charset="0"/>
              </a:rPr>
              <a:t>•</a:t>
            </a:r>
          </a:p>
        </p:txBody>
      </p:sp>
      <p:sp>
        <p:nvSpPr>
          <p:cNvPr id="32773" name="Text Box 5"/>
          <p:cNvSpPr txBox="1">
            <a:spLocks noChangeArrowheads="1"/>
          </p:cNvSpPr>
          <p:nvPr/>
        </p:nvSpPr>
        <p:spPr bwMode="auto">
          <a:xfrm>
            <a:off x="2051050" y="2335213"/>
            <a:ext cx="277813" cy="336550"/>
          </a:xfrm>
          <a:prstGeom prst="rect">
            <a:avLst/>
          </a:prstGeom>
          <a:noFill/>
          <a:ln w="1905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600">
                <a:solidFill>
                  <a:schemeClr val="bg1"/>
                </a:solidFill>
                <a:latin typeface="Matura MT Script Capitals" pitchFamily="66" charset="0"/>
              </a:rPr>
              <a:t>•</a:t>
            </a:r>
          </a:p>
        </p:txBody>
      </p:sp>
      <p:sp>
        <p:nvSpPr>
          <p:cNvPr id="32774" name="Text Box 6"/>
          <p:cNvSpPr txBox="1">
            <a:spLocks noChangeArrowheads="1"/>
          </p:cNvSpPr>
          <p:nvPr/>
        </p:nvSpPr>
        <p:spPr bwMode="auto">
          <a:xfrm>
            <a:off x="2627313" y="2262188"/>
            <a:ext cx="277812" cy="336550"/>
          </a:xfrm>
          <a:prstGeom prst="rect">
            <a:avLst/>
          </a:prstGeom>
          <a:noFill/>
          <a:ln w="1905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600">
                <a:solidFill>
                  <a:schemeClr val="bg1"/>
                </a:solidFill>
                <a:latin typeface="Matura MT Script Capitals" pitchFamily="66" charset="0"/>
              </a:rPr>
              <a:t>•</a:t>
            </a:r>
          </a:p>
        </p:txBody>
      </p:sp>
      <p:sp>
        <p:nvSpPr>
          <p:cNvPr id="32775" name="Text Box 7"/>
          <p:cNvSpPr txBox="1">
            <a:spLocks noChangeArrowheads="1"/>
          </p:cNvSpPr>
          <p:nvPr/>
        </p:nvSpPr>
        <p:spPr bwMode="auto">
          <a:xfrm>
            <a:off x="3276600" y="2335213"/>
            <a:ext cx="277813" cy="336550"/>
          </a:xfrm>
          <a:prstGeom prst="rect">
            <a:avLst/>
          </a:prstGeom>
          <a:noFill/>
          <a:ln w="1905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600">
                <a:solidFill>
                  <a:schemeClr val="bg1"/>
                </a:solidFill>
                <a:latin typeface="Matura MT Script Capitals" pitchFamily="66" charset="0"/>
              </a:rPr>
              <a:t>•</a:t>
            </a:r>
          </a:p>
        </p:txBody>
      </p:sp>
      <p:sp>
        <p:nvSpPr>
          <p:cNvPr id="32776" name="Text Box 8"/>
          <p:cNvSpPr txBox="1">
            <a:spLocks noChangeArrowheads="1"/>
          </p:cNvSpPr>
          <p:nvPr/>
        </p:nvSpPr>
        <p:spPr bwMode="auto">
          <a:xfrm>
            <a:off x="3924300" y="2243138"/>
            <a:ext cx="288925" cy="366712"/>
          </a:xfrm>
          <a:prstGeom prst="rect">
            <a:avLst/>
          </a:prstGeom>
          <a:noFill/>
          <a:ln w="1905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>
                <a:solidFill>
                  <a:schemeClr val="bg1"/>
                </a:solidFill>
                <a:latin typeface="Matura MT Script Capitals" pitchFamily="66" charset="0"/>
              </a:rPr>
              <a:t>•</a:t>
            </a:r>
          </a:p>
        </p:txBody>
      </p:sp>
      <p:sp>
        <p:nvSpPr>
          <p:cNvPr id="32777" name="Text Box 9"/>
          <p:cNvSpPr txBox="1">
            <a:spLocks noChangeArrowheads="1"/>
          </p:cNvSpPr>
          <p:nvPr/>
        </p:nvSpPr>
        <p:spPr bwMode="auto">
          <a:xfrm>
            <a:off x="4572000" y="2478088"/>
            <a:ext cx="277813" cy="336550"/>
          </a:xfrm>
          <a:prstGeom prst="rect">
            <a:avLst/>
          </a:prstGeom>
          <a:noFill/>
          <a:ln w="1905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0" hangingPunct="0"/>
            <a:r>
              <a:rPr lang="fr-FR" sz="1600">
                <a:solidFill>
                  <a:schemeClr val="bg1"/>
                </a:solidFill>
                <a:latin typeface="Matura MT Script Capitals" pitchFamily="66" charset="0"/>
              </a:rPr>
              <a:t>•</a:t>
            </a:r>
          </a:p>
        </p:txBody>
      </p:sp>
      <p:sp>
        <p:nvSpPr>
          <p:cNvPr id="32778" name="Text Box 10"/>
          <p:cNvSpPr txBox="1">
            <a:spLocks noChangeArrowheads="1"/>
          </p:cNvSpPr>
          <p:nvPr/>
        </p:nvSpPr>
        <p:spPr bwMode="auto">
          <a:xfrm>
            <a:off x="5292725" y="2335213"/>
            <a:ext cx="277813" cy="336550"/>
          </a:xfrm>
          <a:prstGeom prst="rect">
            <a:avLst/>
          </a:prstGeom>
          <a:noFill/>
          <a:ln w="1905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600">
                <a:solidFill>
                  <a:schemeClr val="bg1"/>
                </a:solidFill>
                <a:latin typeface="Matura MT Script Capitals" pitchFamily="66" charset="0"/>
              </a:rPr>
              <a:t>•</a:t>
            </a:r>
          </a:p>
        </p:txBody>
      </p:sp>
      <p:sp>
        <p:nvSpPr>
          <p:cNvPr id="32779" name="Text Box 11"/>
          <p:cNvSpPr txBox="1">
            <a:spLocks noChangeArrowheads="1"/>
          </p:cNvSpPr>
          <p:nvPr/>
        </p:nvSpPr>
        <p:spPr bwMode="auto">
          <a:xfrm>
            <a:off x="5940425" y="2190750"/>
            <a:ext cx="277813" cy="336550"/>
          </a:xfrm>
          <a:prstGeom prst="rect">
            <a:avLst/>
          </a:prstGeom>
          <a:noFill/>
          <a:ln w="1905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600">
                <a:solidFill>
                  <a:schemeClr val="bg1"/>
                </a:solidFill>
                <a:latin typeface="Matura MT Script Capitals" pitchFamily="66" charset="0"/>
              </a:rPr>
              <a:t>•</a:t>
            </a:r>
          </a:p>
        </p:txBody>
      </p:sp>
      <p:sp>
        <p:nvSpPr>
          <p:cNvPr id="32780" name="Text Box 12"/>
          <p:cNvSpPr txBox="1">
            <a:spLocks noChangeArrowheads="1"/>
          </p:cNvSpPr>
          <p:nvPr/>
        </p:nvSpPr>
        <p:spPr bwMode="auto">
          <a:xfrm>
            <a:off x="6588125" y="2478088"/>
            <a:ext cx="277813" cy="336550"/>
          </a:xfrm>
          <a:prstGeom prst="rect">
            <a:avLst/>
          </a:prstGeom>
          <a:noFill/>
          <a:ln w="1905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600">
                <a:solidFill>
                  <a:schemeClr val="bg1"/>
                </a:solidFill>
                <a:latin typeface="Matura MT Script Capitals" pitchFamily="66" charset="0"/>
              </a:rPr>
              <a:t>•</a:t>
            </a:r>
          </a:p>
        </p:txBody>
      </p:sp>
      <p:sp>
        <p:nvSpPr>
          <p:cNvPr id="32781" name="Text Box 13"/>
          <p:cNvSpPr txBox="1">
            <a:spLocks noChangeArrowheads="1"/>
          </p:cNvSpPr>
          <p:nvPr/>
        </p:nvSpPr>
        <p:spPr bwMode="auto">
          <a:xfrm>
            <a:off x="7235825" y="2262188"/>
            <a:ext cx="277813" cy="336550"/>
          </a:xfrm>
          <a:prstGeom prst="rect">
            <a:avLst/>
          </a:prstGeom>
          <a:noFill/>
          <a:ln w="1905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600">
                <a:solidFill>
                  <a:schemeClr val="bg1"/>
                </a:solidFill>
                <a:latin typeface="Matura MT Script Capitals" pitchFamily="66" charset="0"/>
              </a:rPr>
              <a:t>•</a:t>
            </a:r>
          </a:p>
        </p:txBody>
      </p:sp>
      <p:sp>
        <p:nvSpPr>
          <p:cNvPr id="32782" name="Text Box 14"/>
          <p:cNvSpPr txBox="1">
            <a:spLocks noChangeArrowheads="1"/>
          </p:cNvSpPr>
          <p:nvPr/>
        </p:nvSpPr>
        <p:spPr bwMode="auto">
          <a:xfrm>
            <a:off x="1476375" y="4999038"/>
            <a:ext cx="6089650" cy="5175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400">
                <a:solidFill>
                  <a:schemeClr val="bg1"/>
                </a:solidFill>
              </a:rPr>
              <a:t>I            I            I            I            I            I            I            I            I            I  </a:t>
            </a:r>
          </a:p>
          <a:p>
            <a:pPr eaLnBrk="0" hangingPunct="0"/>
            <a:r>
              <a:rPr lang="fr-FR" sz="1400">
                <a:solidFill>
                  <a:schemeClr val="bg1"/>
                </a:solidFill>
              </a:rPr>
              <a:t>1           2           3          4            5           6           7           8           9          10</a:t>
            </a:r>
          </a:p>
        </p:txBody>
      </p:sp>
      <p:sp>
        <p:nvSpPr>
          <p:cNvPr id="32783" name="Line 15"/>
          <p:cNvSpPr>
            <a:spLocks noChangeShapeType="1"/>
          </p:cNvSpPr>
          <p:nvPr/>
        </p:nvSpPr>
        <p:spPr bwMode="auto">
          <a:xfrm>
            <a:off x="1619250" y="2406650"/>
            <a:ext cx="576263" cy="71438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2784" name="Line 16"/>
          <p:cNvSpPr>
            <a:spLocks noChangeShapeType="1"/>
          </p:cNvSpPr>
          <p:nvPr/>
        </p:nvSpPr>
        <p:spPr bwMode="auto">
          <a:xfrm flipV="1">
            <a:off x="2268538" y="2406650"/>
            <a:ext cx="503237" cy="71438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2785" name="Line 17"/>
          <p:cNvSpPr>
            <a:spLocks noChangeShapeType="1"/>
          </p:cNvSpPr>
          <p:nvPr/>
        </p:nvSpPr>
        <p:spPr bwMode="auto">
          <a:xfrm>
            <a:off x="2771775" y="2406650"/>
            <a:ext cx="647700" cy="71438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2786" name="Line 18"/>
          <p:cNvSpPr>
            <a:spLocks noChangeShapeType="1"/>
          </p:cNvSpPr>
          <p:nvPr/>
        </p:nvSpPr>
        <p:spPr bwMode="auto">
          <a:xfrm flipV="1">
            <a:off x="3419475" y="2406650"/>
            <a:ext cx="647700" cy="71438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2787" name="Line 19"/>
          <p:cNvSpPr>
            <a:spLocks noChangeShapeType="1"/>
          </p:cNvSpPr>
          <p:nvPr/>
        </p:nvSpPr>
        <p:spPr bwMode="auto">
          <a:xfrm>
            <a:off x="4067175" y="2406650"/>
            <a:ext cx="649288" cy="21590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2788" name="Line 20"/>
          <p:cNvSpPr>
            <a:spLocks noChangeShapeType="1"/>
          </p:cNvSpPr>
          <p:nvPr/>
        </p:nvSpPr>
        <p:spPr bwMode="auto">
          <a:xfrm flipV="1">
            <a:off x="4716463" y="2478088"/>
            <a:ext cx="719137" cy="144462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2789" name="Line 21"/>
          <p:cNvSpPr>
            <a:spLocks noChangeShapeType="1"/>
          </p:cNvSpPr>
          <p:nvPr/>
        </p:nvSpPr>
        <p:spPr bwMode="auto">
          <a:xfrm flipV="1">
            <a:off x="5435600" y="2335213"/>
            <a:ext cx="649288" cy="142875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2790" name="Line 22"/>
          <p:cNvSpPr>
            <a:spLocks noChangeShapeType="1"/>
          </p:cNvSpPr>
          <p:nvPr/>
        </p:nvSpPr>
        <p:spPr bwMode="auto">
          <a:xfrm>
            <a:off x="6084888" y="2335213"/>
            <a:ext cx="647700" cy="287337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2791" name="Line 23"/>
          <p:cNvSpPr>
            <a:spLocks noChangeShapeType="1"/>
          </p:cNvSpPr>
          <p:nvPr/>
        </p:nvSpPr>
        <p:spPr bwMode="auto">
          <a:xfrm flipV="1">
            <a:off x="6732588" y="2406650"/>
            <a:ext cx="647700" cy="21590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2792" name="Text Box 24"/>
          <p:cNvSpPr txBox="1">
            <a:spLocks noChangeArrowheads="1"/>
          </p:cNvSpPr>
          <p:nvPr/>
        </p:nvSpPr>
        <p:spPr bwMode="auto">
          <a:xfrm>
            <a:off x="7451725" y="2262188"/>
            <a:ext cx="568325" cy="336550"/>
          </a:xfrm>
          <a:prstGeom prst="rect">
            <a:avLst/>
          </a:prstGeom>
          <a:noFill/>
          <a:ln w="1905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600" b="1">
                <a:solidFill>
                  <a:schemeClr val="bg1"/>
                </a:solidFill>
              </a:rPr>
              <a:t>V.S.</a:t>
            </a:r>
          </a:p>
        </p:txBody>
      </p:sp>
      <p:sp>
        <p:nvSpPr>
          <p:cNvPr id="32793" name="Text Box 25"/>
          <p:cNvSpPr txBox="1">
            <a:spLocks noChangeArrowheads="1"/>
          </p:cNvSpPr>
          <p:nvPr/>
        </p:nvSpPr>
        <p:spPr bwMode="auto">
          <a:xfrm>
            <a:off x="1476375" y="3775075"/>
            <a:ext cx="334963" cy="2746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200">
                <a:solidFill>
                  <a:schemeClr val="bg1"/>
                </a:solidFill>
                <a:latin typeface="Arial Narrow" pitchFamily="34" charset="0"/>
              </a:rPr>
              <a:t>▼</a:t>
            </a:r>
          </a:p>
        </p:txBody>
      </p:sp>
      <p:sp>
        <p:nvSpPr>
          <p:cNvPr id="32794" name="Text Box 26"/>
          <p:cNvSpPr txBox="1">
            <a:spLocks noChangeArrowheads="1"/>
          </p:cNvSpPr>
          <p:nvPr/>
        </p:nvSpPr>
        <p:spPr bwMode="auto">
          <a:xfrm>
            <a:off x="2076450" y="3990975"/>
            <a:ext cx="334963" cy="2746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200">
                <a:solidFill>
                  <a:schemeClr val="bg1"/>
                </a:solidFill>
                <a:latin typeface="Arial Narrow" pitchFamily="34" charset="0"/>
              </a:rPr>
              <a:t>▼</a:t>
            </a:r>
          </a:p>
        </p:txBody>
      </p:sp>
      <p:sp>
        <p:nvSpPr>
          <p:cNvPr id="32795" name="Text Box 27"/>
          <p:cNvSpPr txBox="1">
            <a:spLocks noChangeArrowheads="1"/>
          </p:cNvSpPr>
          <p:nvPr/>
        </p:nvSpPr>
        <p:spPr bwMode="auto">
          <a:xfrm>
            <a:off x="2581275" y="3702050"/>
            <a:ext cx="334963" cy="2746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200">
                <a:solidFill>
                  <a:schemeClr val="bg1"/>
                </a:solidFill>
                <a:latin typeface="Arial Narrow" pitchFamily="34" charset="0"/>
              </a:rPr>
              <a:t>▼</a:t>
            </a:r>
          </a:p>
        </p:txBody>
      </p:sp>
      <p:sp>
        <p:nvSpPr>
          <p:cNvPr id="32796" name="Text Box 28"/>
          <p:cNvSpPr txBox="1">
            <a:spLocks noChangeArrowheads="1"/>
          </p:cNvSpPr>
          <p:nvPr/>
        </p:nvSpPr>
        <p:spPr bwMode="auto">
          <a:xfrm>
            <a:off x="3348038" y="3919538"/>
            <a:ext cx="334962" cy="2746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200">
                <a:solidFill>
                  <a:schemeClr val="bg1"/>
                </a:solidFill>
                <a:latin typeface="Arial Narrow" pitchFamily="34" charset="0"/>
              </a:rPr>
              <a:t>▼</a:t>
            </a:r>
          </a:p>
        </p:txBody>
      </p:sp>
      <p:sp>
        <p:nvSpPr>
          <p:cNvPr id="32797" name="Text Box 29"/>
          <p:cNvSpPr txBox="1">
            <a:spLocks noChangeArrowheads="1"/>
          </p:cNvSpPr>
          <p:nvPr/>
        </p:nvSpPr>
        <p:spPr bwMode="auto">
          <a:xfrm>
            <a:off x="4021138" y="3990975"/>
            <a:ext cx="334962" cy="2746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200">
                <a:solidFill>
                  <a:schemeClr val="bg1"/>
                </a:solidFill>
                <a:latin typeface="Arial Narrow" pitchFamily="34" charset="0"/>
              </a:rPr>
              <a:t>▼</a:t>
            </a:r>
          </a:p>
        </p:txBody>
      </p:sp>
      <p:sp>
        <p:nvSpPr>
          <p:cNvPr id="32798" name="Text Box 30"/>
          <p:cNvSpPr txBox="1">
            <a:spLocks noChangeArrowheads="1"/>
          </p:cNvSpPr>
          <p:nvPr/>
        </p:nvSpPr>
        <p:spPr bwMode="auto">
          <a:xfrm>
            <a:off x="4643438" y="3919538"/>
            <a:ext cx="334962" cy="2746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200">
                <a:solidFill>
                  <a:schemeClr val="bg1"/>
                </a:solidFill>
                <a:latin typeface="Arial Narrow" pitchFamily="34" charset="0"/>
              </a:rPr>
              <a:t>▼</a:t>
            </a:r>
          </a:p>
        </p:txBody>
      </p:sp>
      <p:sp>
        <p:nvSpPr>
          <p:cNvPr id="32799" name="Text Box 31"/>
          <p:cNvSpPr txBox="1">
            <a:spLocks noChangeArrowheads="1"/>
          </p:cNvSpPr>
          <p:nvPr/>
        </p:nvSpPr>
        <p:spPr bwMode="auto">
          <a:xfrm>
            <a:off x="5245100" y="3846513"/>
            <a:ext cx="334963" cy="2746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200">
                <a:solidFill>
                  <a:schemeClr val="bg1"/>
                </a:solidFill>
                <a:latin typeface="Arial Narrow" pitchFamily="34" charset="0"/>
              </a:rPr>
              <a:t>▼</a:t>
            </a:r>
          </a:p>
        </p:txBody>
      </p:sp>
      <p:sp>
        <p:nvSpPr>
          <p:cNvPr id="32800" name="Text Box 32"/>
          <p:cNvSpPr txBox="1">
            <a:spLocks noChangeArrowheads="1"/>
          </p:cNvSpPr>
          <p:nvPr/>
        </p:nvSpPr>
        <p:spPr bwMode="auto">
          <a:xfrm>
            <a:off x="5867400" y="3846513"/>
            <a:ext cx="334963" cy="2746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0" hangingPunct="0"/>
            <a:r>
              <a:rPr lang="fr-FR" sz="1200">
                <a:solidFill>
                  <a:schemeClr val="bg1"/>
                </a:solidFill>
                <a:latin typeface="Arial Narrow" pitchFamily="34" charset="0"/>
              </a:rPr>
              <a:t>▼</a:t>
            </a:r>
          </a:p>
        </p:txBody>
      </p:sp>
      <p:sp>
        <p:nvSpPr>
          <p:cNvPr id="32801" name="Text Box 33"/>
          <p:cNvSpPr txBox="1">
            <a:spLocks noChangeArrowheads="1"/>
          </p:cNvSpPr>
          <p:nvPr/>
        </p:nvSpPr>
        <p:spPr bwMode="auto">
          <a:xfrm>
            <a:off x="6588125" y="3919538"/>
            <a:ext cx="334963" cy="2746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200">
                <a:solidFill>
                  <a:schemeClr val="bg1"/>
                </a:solidFill>
                <a:latin typeface="Arial Narrow" pitchFamily="34" charset="0"/>
              </a:rPr>
              <a:t>▼</a:t>
            </a:r>
          </a:p>
        </p:txBody>
      </p:sp>
      <p:sp>
        <p:nvSpPr>
          <p:cNvPr id="32802" name="Text Box 34"/>
          <p:cNvSpPr txBox="1">
            <a:spLocks noChangeArrowheads="1"/>
          </p:cNvSpPr>
          <p:nvPr/>
        </p:nvSpPr>
        <p:spPr bwMode="auto">
          <a:xfrm>
            <a:off x="7164388" y="3846513"/>
            <a:ext cx="334962" cy="2746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200">
                <a:solidFill>
                  <a:schemeClr val="bg1"/>
                </a:solidFill>
                <a:latin typeface="Arial Narrow" pitchFamily="34" charset="0"/>
              </a:rPr>
              <a:t>▼</a:t>
            </a:r>
          </a:p>
        </p:txBody>
      </p:sp>
      <p:sp>
        <p:nvSpPr>
          <p:cNvPr id="32803" name="Line 35"/>
          <p:cNvSpPr>
            <a:spLocks noChangeShapeType="1"/>
          </p:cNvSpPr>
          <p:nvPr/>
        </p:nvSpPr>
        <p:spPr bwMode="auto">
          <a:xfrm>
            <a:off x="1619250" y="3919538"/>
            <a:ext cx="576263" cy="21590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2804" name="Line 36"/>
          <p:cNvSpPr>
            <a:spLocks noChangeShapeType="1"/>
          </p:cNvSpPr>
          <p:nvPr/>
        </p:nvSpPr>
        <p:spPr bwMode="auto">
          <a:xfrm flipV="1">
            <a:off x="2268538" y="3846513"/>
            <a:ext cx="431800" cy="288925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2805" name="Line 37"/>
          <p:cNvSpPr>
            <a:spLocks noChangeShapeType="1"/>
          </p:cNvSpPr>
          <p:nvPr/>
        </p:nvSpPr>
        <p:spPr bwMode="auto">
          <a:xfrm>
            <a:off x="2771775" y="3846513"/>
            <a:ext cx="647700" cy="21590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2806" name="Line 38"/>
          <p:cNvSpPr>
            <a:spLocks noChangeShapeType="1"/>
          </p:cNvSpPr>
          <p:nvPr/>
        </p:nvSpPr>
        <p:spPr bwMode="auto">
          <a:xfrm>
            <a:off x="3419475" y="4062413"/>
            <a:ext cx="720725" cy="73025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2807" name="Line 39"/>
          <p:cNvSpPr>
            <a:spLocks noChangeShapeType="1"/>
          </p:cNvSpPr>
          <p:nvPr/>
        </p:nvSpPr>
        <p:spPr bwMode="auto">
          <a:xfrm flipV="1">
            <a:off x="4211638" y="4062413"/>
            <a:ext cx="576262" cy="73025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2808" name="Line 40"/>
          <p:cNvSpPr>
            <a:spLocks noChangeShapeType="1"/>
          </p:cNvSpPr>
          <p:nvPr/>
        </p:nvSpPr>
        <p:spPr bwMode="auto">
          <a:xfrm flipV="1">
            <a:off x="4787900" y="3990975"/>
            <a:ext cx="576263" cy="71438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2809" name="Line 41"/>
          <p:cNvSpPr>
            <a:spLocks noChangeShapeType="1"/>
          </p:cNvSpPr>
          <p:nvPr/>
        </p:nvSpPr>
        <p:spPr bwMode="auto">
          <a:xfrm>
            <a:off x="5364163" y="3990975"/>
            <a:ext cx="64770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2810" name="Line 42"/>
          <p:cNvSpPr>
            <a:spLocks noChangeShapeType="1"/>
          </p:cNvSpPr>
          <p:nvPr/>
        </p:nvSpPr>
        <p:spPr bwMode="auto">
          <a:xfrm>
            <a:off x="6011863" y="3990975"/>
            <a:ext cx="720725" cy="71438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2811" name="Line 43"/>
          <p:cNvSpPr>
            <a:spLocks noChangeShapeType="1"/>
          </p:cNvSpPr>
          <p:nvPr/>
        </p:nvSpPr>
        <p:spPr bwMode="auto">
          <a:xfrm flipV="1">
            <a:off x="6804025" y="3990975"/>
            <a:ext cx="504825" cy="71438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2812" name="Text Box 44"/>
          <p:cNvSpPr txBox="1">
            <a:spLocks noChangeArrowheads="1"/>
          </p:cNvSpPr>
          <p:nvPr/>
        </p:nvSpPr>
        <p:spPr bwMode="auto">
          <a:xfrm>
            <a:off x="7451725" y="3702050"/>
            <a:ext cx="546100" cy="336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600" b="1">
                <a:solidFill>
                  <a:schemeClr val="bg1"/>
                </a:solidFill>
              </a:rPr>
              <a:t>J.S.</a:t>
            </a:r>
          </a:p>
        </p:txBody>
      </p:sp>
      <p:sp>
        <p:nvSpPr>
          <p:cNvPr id="32813" name="Text Box 45"/>
          <p:cNvSpPr txBox="1">
            <a:spLocks noChangeArrowheads="1"/>
          </p:cNvSpPr>
          <p:nvPr/>
        </p:nvSpPr>
        <p:spPr bwMode="auto">
          <a:xfrm>
            <a:off x="1441450" y="4200525"/>
            <a:ext cx="322263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b="1">
                <a:solidFill>
                  <a:schemeClr val="bg1"/>
                </a:solidFill>
                <a:latin typeface="Arial Narrow" pitchFamily="34" charset="0"/>
              </a:rPr>
              <a:t>○</a:t>
            </a:r>
          </a:p>
        </p:txBody>
      </p:sp>
      <p:sp>
        <p:nvSpPr>
          <p:cNvPr id="32814" name="Text Box 46"/>
          <p:cNvSpPr txBox="1">
            <a:spLocks noChangeArrowheads="1"/>
          </p:cNvSpPr>
          <p:nvPr/>
        </p:nvSpPr>
        <p:spPr bwMode="auto">
          <a:xfrm>
            <a:off x="2051050" y="4062413"/>
            <a:ext cx="322263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b="1">
                <a:solidFill>
                  <a:schemeClr val="bg1"/>
                </a:solidFill>
                <a:latin typeface="Arial Narrow" pitchFamily="34" charset="0"/>
              </a:rPr>
              <a:t>○</a:t>
            </a:r>
          </a:p>
        </p:txBody>
      </p:sp>
      <p:sp>
        <p:nvSpPr>
          <p:cNvPr id="32815" name="Text Box 47"/>
          <p:cNvSpPr txBox="1">
            <a:spLocks noChangeArrowheads="1"/>
          </p:cNvSpPr>
          <p:nvPr/>
        </p:nvSpPr>
        <p:spPr bwMode="auto">
          <a:xfrm>
            <a:off x="2627313" y="4135438"/>
            <a:ext cx="322262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b="1">
                <a:solidFill>
                  <a:schemeClr val="bg1"/>
                </a:solidFill>
                <a:latin typeface="Arial Narrow" pitchFamily="34" charset="0"/>
              </a:rPr>
              <a:t>○</a:t>
            </a:r>
          </a:p>
        </p:txBody>
      </p:sp>
      <p:sp>
        <p:nvSpPr>
          <p:cNvPr id="32816" name="Text Box 48"/>
          <p:cNvSpPr txBox="1">
            <a:spLocks noChangeArrowheads="1"/>
          </p:cNvSpPr>
          <p:nvPr/>
        </p:nvSpPr>
        <p:spPr bwMode="auto">
          <a:xfrm>
            <a:off x="3348038" y="4135438"/>
            <a:ext cx="322262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b="1">
                <a:solidFill>
                  <a:schemeClr val="bg1"/>
                </a:solidFill>
                <a:latin typeface="Arial Narrow" pitchFamily="34" charset="0"/>
              </a:rPr>
              <a:t>○</a:t>
            </a:r>
          </a:p>
        </p:txBody>
      </p:sp>
      <p:sp>
        <p:nvSpPr>
          <p:cNvPr id="32817" name="Text Box 49"/>
          <p:cNvSpPr txBox="1">
            <a:spLocks noChangeArrowheads="1"/>
          </p:cNvSpPr>
          <p:nvPr/>
        </p:nvSpPr>
        <p:spPr bwMode="auto">
          <a:xfrm>
            <a:off x="3995738" y="4135438"/>
            <a:ext cx="322262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b="1">
                <a:solidFill>
                  <a:schemeClr val="bg1"/>
                </a:solidFill>
                <a:latin typeface="Arial Narrow" pitchFamily="34" charset="0"/>
              </a:rPr>
              <a:t>○</a:t>
            </a:r>
          </a:p>
        </p:txBody>
      </p:sp>
      <p:sp>
        <p:nvSpPr>
          <p:cNvPr id="32818" name="Text Box 50"/>
          <p:cNvSpPr txBox="1">
            <a:spLocks noChangeArrowheads="1"/>
          </p:cNvSpPr>
          <p:nvPr/>
        </p:nvSpPr>
        <p:spPr bwMode="auto">
          <a:xfrm>
            <a:off x="4643438" y="4278313"/>
            <a:ext cx="322262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b="1">
                <a:solidFill>
                  <a:schemeClr val="bg1"/>
                </a:solidFill>
                <a:latin typeface="Arial Narrow" pitchFamily="34" charset="0"/>
              </a:rPr>
              <a:t>○</a:t>
            </a:r>
          </a:p>
        </p:txBody>
      </p:sp>
      <p:sp>
        <p:nvSpPr>
          <p:cNvPr id="32819" name="Text Box 51"/>
          <p:cNvSpPr txBox="1">
            <a:spLocks noChangeArrowheads="1"/>
          </p:cNvSpPr>
          <p:nvPr/>
        </p:nvSpPr>
        <p:spPr bwMode="auto">
          <a:xfrm>
            <a:off x="5257800" y="4206875"/>
            <a:ext cx="322263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b="1">
                <a:solidFill>
                  <a:schemeClr val="bg1"/>
                </a:solidFill>
                <a:latin typeface="Arial Narrow" pitchFamily="34" charset="0"/>
              </a:rPr>
              <a:t>○</a:t>
            </a:r>
          </a:p>
        </p:txBody>
      </p:sp>
      <p:sp>
        <p:nvSpPr>
          <p:cNvPr id="32820" name="Text Box 52"/>
          <p:cNvSpPr txBox="1">
            <a:spLocks noChangeArrowheads="1"/>
          </p:cNvSpPr>
          <p:nvPr/>
        </p:nvSpPr>
        <p:spPr bwMode="auto">
          <a:xfrm>
            <a:off x="5867400" y="4206875"/>
            <a:ext cx="322263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b="1">
                <a:solidFill>
                  <a:schemeClr val="bg1"/>
                </a:solidFill>
                <a:latin typeface="Arial Narrow" pitchFamily="34" charset="0"/>
              </a:rPr>
              <a:t>○</a:t>
            </a:r>
          </a:p>
        </p:txBody>
      </p:sp>
      <p:sp>
        <p:nvSpPr>
          <p:cNvPr id="32821" name="Text Box 53"/>
          <p:cNvSpPr txBox="1">
            <a:spLocks noChangeArrowheads="1"/>
          </p:cNvSpPr>
          <p:nvPr/>
        </p:nvSpPr>
        <p:spPr bwMode="auto">
          <a:xfrm>
            <a:off x="6588125" y="4062413"/>
            <a:ext cx="322263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b="1">
                <a:solidFill>
                  <a:schemeClr val="bg1"/>
                </a:solidFill>
                <a:latin typeface="Arial Narrow" pitchFamily="34" charset="0"/>
              </a:rPr>
              <a:t>○</a:t>
            </a:r>
          </a:p>
        </p:txBody>
      </p:sp>
      <p:sp>
        <p:nvSpPr>
          <p:cNvPr id="32822" name="Text Box 54"/>
          <p:cNvSpPr txBox="1">
            <a:spLocks noChangeArrowheads="1"/>
          </p:cNvSpPr>
          <p:nvPr/>
        </p:nvSpPr>
        <p:spPr bwMode="auto">
          <a:xfrm>
            <a:off x="7202488" y="4135438"/>
            <a:ext cx="322262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0" hangingPunct="0"/>
            <a:r>
              <a:rPr lang="fr-FR" b="1">
                <a:solidFill>
                  <a:schemeClr val="bg1"/>
                </a:solidFill>
                <a:latin typeface="Arial Narrow" pitchFamily="34" charset="0"/>
              </a:rPr>
              <a:t>○</a:t>
            </a:r>
          </a:p>
        </p:txBody>
      </p:sp>
      <p:sp>
        <p:nvSpPr>
          <p:cNvPr id="32823" name="Line 55"/>
          <p:cNvSpPr>
            <a:spLocks noChangeShapeType="1"/>
          </p:cNvSpPr>
          <p:nvPr/>
        </p:nvSpPr>
        <p:spPr bwMode="auto">
          <a:xfrm flipV="1">
            <a:off x="1547813" y="4278313"/>
            <a:ext cx="647700" cy="144462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2824" name="Line 56"/>
          <p:cNvSpPr>
            <a:spLocks noChangeShapeType="1"/>
          </p:cNvSpPr>
          <p:nvPr/>
        </p:nvSpPr>
        <p:spPr bwMode="auto">
          <a:xfrm>
            <a:off x="2195513" y="4278313"/>
            <a:ext cx="504825" cy="73025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2825" name="Line 57"/>
          <p:cNvSpPr>
            <a:spLocks noChangeShapeType="1"/>
          </p:cNvSpPr>
          <p:nvPr/>
        </p:nvSpPr>
        <p:spPr bwMode="auto">
          <a:xfrm>
            <a:off x="2771775" y="4351338"/>
            <a:ext cx="647700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2826" name="Line 58"/>
          <p:cNvSpPr>
            <a:spLocks noChangeShapeType="1"/>
          </p:cNvSpPr>
          <p:nvPr/>
        </p:nvSpPr>
        <p:spPr bwMode="auto">
          <a:xfrm>
            <a:off x="3419475" y="4351338"/>
            <a:ext cx="647700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2827" name="Line 59"/>
          <p:cNvSpPr>
            <a:spLocks noChangeShapeType="1"/>
          </p:cNvSpPr>
          <p:nvPr/>
        </p:nvSpPr>
        <p:spPr bwMode="auto">
          <a:xfrm>
            <a:off x="4140200" y="4351338"/>
            <a:ext cx="576263" cy="142875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2828" name="Line 60"/>
          <p:cNvSpPr>
            <a:spLocks noChangeShapeType="1"/>
          </p:cNvSpPr>
          <p:nvPr/>
        </p:nvSpPr>
        <p:spPr bwMode="auto">
          <a:xfrm flipV="1">
            <a:off x="4787900" y="4422775"/>
            <a:ext cx="576263" cy="71438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2829" name="Line 61"/>
          <p:cNvSpPr>
            <a:spLocks noChangeShapeType="1"/>
          </p:cNvSpPr>
          <p:nvPr/>
        </p:nvSpPr>
        <p:spPr bwMode="auto">
          <a:xfrm>
            <a:off x="5364163" y="4422775"/>
            <a:ext cx="576262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2830" name="Line 62"/>
          <p:cNvSpPr>
            <a:spLocks noChangeShapeType="1"/>
          </p:cNvSpPr>
          <p:nvPr/>
        </p:nvSpPr>
        <p:spPr bwMode="auto">
          <a:xfrm flipV="1">
            <a:off x="6011863" y="4278313"/>
            <a:ext cx="720725" cy="144462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2831" name="Line 63"/>
          <p:cNvSpPr>
            <a:spLocks noChangeShapeType="1"/>
          </p:cNvSpPr>
          <p:nvPr/>
        </p:nvSpPr>
        <p:spPr bwMode="auto">
          <a:xfrm>
            <a:off x="6732588" y="4278313"/>
            <a:ext cx="576262" cy="73025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2832" name="Text Box 64"/>
          <p:cNvSpPr txBox="1">
            <a:spLocks noChangeArrowheads="1"/>
          </p:cNvSpPr>
          <p:nvPr/>
        </p:nvSpPr>
        <p:spPr bwMode="auto">
          <a:xfrm>
            <a:off x="7475538" y="4217988"/>
            <a:ext cx="696912" cy="336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0" hangingPunct="0"/>
            <a:r>
              <a:rPr lang="fr-FR" sz="1600" b="1">
                <a:solidFill>
                  <a:schemeClr val="bg1"/>
                </a:solidFill>
              </a:rPr>
              <a:t>V.A.</a:t>
            </a:r>
          </a:p>
        </p:txBody>
      </p:sp>
      <p:sp>
        <p:nvSpPr>
          <p:cNvPr id="32833" name="Text Box 65"/>
          <p:cNvSpPr txBox="1">
            <a:spLocks noChangeArrowheads="1"/>
          </p:cNvSpPr>
          <p:nvPr/>
        </p:nvSpPr>
        <p:spPr bwMode="auto">
          <a:xfrm>
            <a:off x="1476375" y="4567238"/>
            <a:ext cx="293688" cy="30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400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</a:t>
            </a:r>
          </a:p>
        </p:txBody>
      </p:sp>
      <p:sp>
        <p:nvSpPr>
          <p:cNvPr id="32834" name="Text Box 66"/>
          <p:cNvSpPr txBox="1">
            <a:spLocks noChangeArrowheads="1"/>
          </p:cNvSpPr>
          <p:nvPr/>
        </p:nvSpPr>
        <p:spPr bwMode="auto">
          <a:xfrm>
            <a:off x="2051050" y="4422775"/>
            <a:ext cx="293688" cy="30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400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</a:t>
            </a:r>
          </a:p>
        </p:txBody>
      </p:sp>
      <p:sp>
        <p:nvSpPr>
          <p:cNvPr id="32835" name="Text Box 67"/>
          <p:cNvSpPr txBox="1">
            <a:spLocks noChangeArrowheads="1"/>
          </p:cNvSpPr>
          <p:nvPr/>
        </p:nvSpPr>
        <p:spPr bwMode="auto">
          <a:xfrm>
            <a:off x="2700338" y="4783138"/>
            <a:ext cx="293687" cy="30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400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</a:t>
            </a:r>
          </a:p>
        </p:txBody>
      </p:sp>
      <p:sp>
        <p:nvSpPr>
          <p:cNvPr id="32836" name="Text Box 68"/>
          <p:cNvSpPr txBox="1">
            <a:spLocks noChangeArrowheads="1"/>
          </p:cNvSpPr>
          <p:nvPr/>
        </p:nvSpPr>
        <p:spPr bwMode="auto">
          <a:xfrm>
            <a:off x="3348038" y="4567238"/>
            <a:ext cx="293687" cy="30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400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</a:t>
            </a:r>
          </a:p>
        </p:txBody>
      </p:sp>
      <p:sp>
        <p:nvSpPr>
          <p:cNvPr id="32837" name="Text Box 69"/>
          <p:cNvSpPr txBox="1">
            <a:spLocks noChangeArrowheads="1"/>
          </p:cNvSpPr>
          <p:nvPr/>
        </p:nvSpPr>
        <p:spPr bwMode="auto">
          <a:xfrm>
            <a:off x="3995738" y="4494213"/>
            <a:ext cx="293687" cy="30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400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</a:t>
            </a:r>
          </a:p>
        </p:txBody>
      </p:sp>
      <p:sp>
        <p:nvSpPr>
          <p:cNvPr id="32838" name="Text Box 70"/>
          <p:cNvSpPr txBox="1">
            <a:spLocks noChangeArrowheads="1"/>
          </p:cNvSpPr>
          <p:nvPr/>
        </p:nvSpPr>
        <p:spPr bwMode="auto">
          <a:xfrm>
            <a:off x="4643438" y="4567238"/>
            <a:ext cx="293687" cy="30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400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</a:t>
            </a:r>
          </a:p>
        </p:txBody>
      </p:sp>
      <p:sp>
        <p:nvSpPr>
          <p:cNvPr id="32839" name="Text Box 71"/>
          <p:cNvSpPr txBox="1">
            <a:spLocks noChangeArrowheads="1"/>
          </p:cNvSpPr>
          <p:nvPr/>
        </p:nvSpPr>
        <p:spPr bwMode="auto">
          <a:xfrm>
            <a:off x="5286375" y="4494213"/>
            <a:ext cx="293688" cy="30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400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</a:t>
            </a:r>
          </a:p>
        </p:txBody>
      </p:sp>
      <p:sp>
        <p:nvSpPr>
          <p:cNvPr id="32840" name="Text Box 72"/>
          <p:cNvSpPr txBox="1">
            <a:spLocks noChangeArrowheads="1"/>
          </p:cNvSpPr>
          <p:nvPr/>
        </p:nvSpPr>
        <p:spPr bwMode="auto">
          <a:xfrm>
            <a:off x="5867400" y="4710113"/>
            <a:ext cx="293688" cy="30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400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</a:t>
            </a:r>
          </a:p>
        </p:txBody>
      </p:sp>
      <p:sp>
        <p:nvSpPr>
          <p:cNvPr id="32841" name="Text Box 73"/>
          <p:cNvSpPr txBox="1">
            <a:spLocks noChangeArrowheads="1"/>
          </p:cNvSpPr>
          <p:nvPr/>
        </p:nvSpPr>
        <p:spPr bwMode="auto">
          <a:xfrm>
            <a:off x="6516688" y="4638675"/>
            <a:ext cx="293687" cy="30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400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</a:t>
            </a:r>
          </a:p>
        </p:txBody>
      </p:sp>
      <p:sp>
        <p:nvSpPr>
          <p:cNvPr id="32842" name="Text Box 74"/>
          <p:cNvSpPr txBox="1">
            <a:spLocks noChangeArrowheads="1"/>
          </p:cNvSpPr>
          <p:nvPr/>
        </p:nvSpPr>
        <p:spPr bwMode="auto">
          <a:xfrm>
            <a:off x="7164388" y="4638675"/>
            <a:ext cx="293687" cy="30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400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</a:t>
            </a:r>
          </a:p>
        </p:txBody>
      </p:sp>
      <p:sp>
        <p:nvSpPr>
          <p:cNvPr id="32843" name="Line 75"/>
          <p:cNvSpPr>
            <a:spLocks noChangeShapeType="1"/>
          </p:cNvSpPr>
          <p:nvPr/>
        </p:nvSpPr>
        <p:spPr bwMode="auto">
          <a:xfrm flipV="1">
            <a:off x="1619250" y="4567238"/>
            <a:ext cx="576263" cy="142875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2844" name="Line 76"/>
          <p:cNvSpPr>
            <a:spLocks noChangeShapeType="1"/>
          </p:cNvSpPr>
          <p:nvPr/>
        </p:nvSpPr>
        <p:spPr bwMode="auto">
          <a:xfrm>
            <a:off x="2195513" y="4567238"/>
            <a:ext cx="647700" cy="360362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2845" name="Line 77"/>
          <p:cNvSpPr>
            <a:spLocks noChangeShapeType="1"/>
          </p:cNvSpPr>
          <p:nvPr/>
        </p:nvSpPr>
        <p:spPr bwMode="auto">
          <a:xfrm flipV="1">
            <a:off x="2843213" y="4710113"/>
            <a:ext cx="649287" cy="217487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2846" name="Line 78"/>
          <p:cNvSpPr>
            <a:spLocks noChangeShapeType="1"/>
          </p:cNvSpPr>
          <p:nvPr/>
        </p:nvSpPr>
        <p:spPr bwMode="auto">
          <a:xfrm flipV="1">
            <a:off x="3492500" y="4638675"/>
            <a:ext cx="647700" cy="71438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2847" name="Line 79"/>
          <p:cNvSpPr>
            <a:spLocks noChangeShapeType="1"/>
          </p:cNvSpPr>
          <p:nvPr/>
        </p:nvSpPr>
        <p:spPr bwMode="auto">
          <a:xfrm>
            <a:off x="4140200" y="4638675"/>
            <a:ext cx="647700" cy="71438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2848" name="Line 80"/>
          <p:cNvSpPr>
            <a:spLocks noChangeShapeType="1"/>
          </p:cNvSpPr>
          <p:nvPr/>
        </p:nvSpPr>
        <p:spPr bwMode="auto">
          <a:xfrm flipV="1">
            <a:off x="4787900" y="4638675"/>
            <a:ext cx="647700" cy="71438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2849" name="Line 81"/>
          <p:cNvSpPr>
            <a:spLocks noChangeShapeType="1"/>
          </p:cNvSpPr>
          <p:nvPr/>
        </p:nvSpPr>
        <p:spPr bwMode="auto">
          <a:xfrm>
            <a:off x="5435600" y="4638675"/>
            <a:ext cx="576263" cy="21590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2850" name="Line 82"/>
          <p:cNvSpPr>
            <a:spLocks noChangeShapeType="1"/>
          </p:cNvSpPr>
          <p:nvPr/>
        </p:nvSpPr>
        <p:spPr bwMode="auto">
          <a:xfrm>
            <a:off x="6084888" y="4854575"/>
            <a:ext cx="574675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2851" name="Line 83"/>
          <p:cNvSpPr>
            <a:spLocks noChangeShapeType="1"/>
          </p:cNvSpPr>
          <p:nvPr/>
        </p:nvSpPr>
        <p:spPr bwMode="auto">
          <a:xfrm flipV="1">
            <a:off x="6732588" y="4783138"/>
            <a:ext cx="576262" cy="71437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2852" name="Text Box 84"/>
          <p:cNvSpPr txBox="1">
            <a:spLocks noChangeArrowheads="1"/>
          </p:cNvSpPr>
          <p:nvPr/>
        </p:nvSpPr>
        <p:spPr bwMode="auto">
          <a:xfrm>
            <a:off x="7451725" y="4649788"/>
            <a:ext cx="557213" cy="336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600" b="1">
                <a:solidFill>
                  <a:schemeClr val="bg1"/>
                </a:solidFill>
              </a:rPr>
              <a:t>J.A.</a:t>
            </a:r>
          </a:p>
        </p:txBody>
      </p:sp>
      <p:sp>
        <p:nvSpPr>
          <p:cNvPr id="32853" name="Text Box 85"/>
          <p:cNvSpPr txBox="1">
            <a:spLocks noChangeArrowheads="1"/>
          </p:cNvSpPr>
          <p:nvPr/>
        </p:nvSpPr>
        <p:spPr bwMode="auto">
          <a:xfrm>
            <a:off x="755650" y="1125538"/>
            <a:ext cx="7885113" cy="469900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2400" b="1">
                <a:solidFill>
                  <a:schemeClr val="bg1"/>
                </a:solidFill>
                <a:latin typeface="Bookman Old Style" pitchFamily="18" charset="0"/>
              </a:rPr>
              <a:t>Temps de la réponse motrice à une tâche simple</a:t>
            </a:r>
          </a:p>
        </p:txBody>
      </p:sp>
      <p:sp>
        <p:nvSpPr>
          <p:cNvPr id="32854" name="Text Box 86"/>
          <p:cNvSpPr txBox="1">
            <a:spLocks noChangeArrowheads="1"/>
          </p:cNvSpPr>
          <p:nvPr/>
        </p:nvSpPr>
        <p:spPr bwMode="auto">
          <a:xfrm>
            <a:off x="1979613" y="5919788"/>
            <a:ext cx="5921375" cy="8223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2400">
                <a:solidFill>
                  <a:schemeClr val="bg1"/>
                </a:solidFill>
                <a:latin typeface="Times New Roman" pitchFamily="18" charset="0"/>
              </a:rPr>
              <a:t>V.S. : Vieux sédentaires ;   V.A. : Vieux actifs</a:t>
            </a:r>
          </a:p>
          <a:p>
            <a:pPr eaLnBrk="0" hangingPunct="0"/>
            <a:r>
              <a:rPr lang="fr-FR" sz="2400">
                <a:solidFill>
                  <a:schemeClr val="bg1"/>
                </a:solidFill>
                <a:latin typeface="Times New Roman" pitchFamily="18" charset="0"/>
              </a:rPr>
              <a:t>J.S. : Jeunes sédentaires ;    J.A.  : Jeunes actifs</a:t>
            </a:r>
          </a:p>
        </p:txBody>
      </p:sp>
      <p:sp>
        <p:nvSpPr>
          <p:cNvPr id="32855" name="Text Box 87"/>
          <p:cNvSpPr txBox="1">
            <a:spLocks noChangeArrowheads="1"/>
          </p:cNvSpPr>
          <p:nvPr/>
        </p:nvSpPr>
        <p:spPr bwMode="auto">
          <a:xfrm>
            <a:off x="3549650" y="5510213"/>
            <a:ext cx="1885950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>
                <a:solidFill>
                  <a:schemeClr val="bg1"/>
                </a:solidFill>
              </a:rPr>
              <a:t>Nombre d’essais</a:t>
            </a:r>
          </a:p>
        </p:txBody>
      </p:sp>
      <p:sp>
        <p:nvSpPr>
          <p:cNvPr id="32856" name="Text Box 88"/>
          <p:cNvSpPr txBox="1">
            <a:spLocks noChangeArrowheads="1"/>
          </p:cNvSpPr>
          <p:nvPr/>
        </p:nvSpPr>
        <p:spPr bwMode="auto">
          <a:xfrm rot="-5400000">
            <a:off x="-686594" y="3377407"/>
            <a:ext cx="2646363" cy="336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600">
                <a:solidFill>
                  <a:schemeClr val="bg1"/>
                </a:solidFill>
              </a:rPr>
              <a:t>Temps de la réponse (mils)</a:t>
            </a:r>
          </a:p>
        </p:txBody>
      </p:sp>
      <p:sp>
        <p:nvSpPr>
          <p:cNvPr id="32857" name="Text Box 89"/>
          <p:cNvSpPr txBox="1">
            <a:spLocks noChangeArrowheads="1"/>
          </p:cNvSpPr>
          <p:nvPr/>
        </p:nvSpPr>
        <p:spPr bwMode="auto">
          <a:xfrm>
            <a:off x="2339975" y="260350"/>
            <a:ext cx="4264025" cy="336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600" i="1">
                <a:solidFill>
                  <a:schemeClr val="bg1"/>
                </a:solidFill>
              </a:rPr>
              <a:t>D’après Spirduso : J. Gerontol, 30: 435, 1975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ChangeArrowheads="1"/>
          </p:cNvSpPr>
          <p:nvPr/>
        </p:nvSpPr>
        <p:spPr bwMode="auto">
          <a:xfrm>
            <a:off x="1547813" y="2133600"/>
            <a:ext cx="6553200" cy="2879725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1042988" y="1935163"/>
            <a:ext cx="676275" cy="31527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>
              <a:lnSpc>
                <a:spcPct val="180000"/>
              </a:lnSpc>
            </a:pPr>
            <a:r>
              <a:rPr lang="fr-FR" sz="1400">
                <a:solidFill>
                  <a:schemeClr val="bg1"/>
                </a:solidFill>
              </a:rPr>
              <a:t>300 -</a:t>
            </a:r>
          </a:p>
          <a:p>
            <a:pPr eaLnBrk="0" hangingPunct="0">
              <a:lnSpc>
                <a:spcPct val="180000"/>
              </a:lnSpc>
            </a:pPr>
            <a:r>
              <a:rPr lang="fr-FR" sz="1400">
                <a:solidFill>
                  <a:schemeClr val="bg1"/>
                </a:solidFill>
              </a:rPr>
              <a:t>280 –</a:t>
            </a:r>
          </a:p>
          <a:p>
            <a:pPr eaLnBrk="0" hangingPunct="0">
              <a:lnSpc>
                <a:spcPct val="180000"/>
              </a:lnSpc>
            </a:pPr>
            <a:r>
              <a:rPr lang="fr-FR" sz="1400">
                <a:solidFill>
                  <a:schemeClr val="bg1"/>
                </a:solidFill>
              </a:rPr>
              <a:t>260 – </a:t>
            </a:r>
          </a:p>
          <a:p>
            <a:pPr eaLnBrk="0" hangingPunct="0">
              <a:lnSpc>
                <a:spcPct val="180000"/>
              </a:lnSpc>
            </a:pPr>
            <a:r>
              <a:rPr lang="fr-FR" sz="1400">
                <a:solidFill>
                  <a:schemeClr val="bg1"/>
                </a:solidFill>
              </a:rPr>
              <a:t>240 –</a:t>
            </a:r>
          </a:p>
          <a:p>
            <a:pPr eaLnBrk="0" hangingPunct="0">
              <a:lnSpc>
                <a:spcPct val="180000"/>
              </a:lnSpc>
            </a:pPr>
            <a:r>
              <a:rPr lang="fr-FR" sz="1400">
                <a:solidFill>
                  <a:schemeClr val="bg1"/>
                </a:solidFill>
              </a:rPr>
              <a:t>220 –</a:t>
            </a:r>
          </a:p>
          <a:p>
            <a:pPr eaLnBrk="0" hangingPunct="0">
              <a:lnSpc>
                <a:spcPct val="180000"/>
              </a:lnSpc>
            </a:pPr>
            <a:r>
              <a:rPr lang="fr-FR" sz="1400">
                <a:solidFill>
                  <a:schemeClr val="bg1"/>
                </a:solidFill>
              </a:rPr>
              <a:t>200 –</a:t>
            </a:r>
          </a:p>
          <a:p>
            <a:pPr eaLnBrk="0" hangingPunct="0">
              <a:lnSpc>
                <a:spcPct val="180000"/>
              </a:lnSpc>
            </a:pPr>
            <a:r>
              <a:rPr lang="fr-FR" sz="1400">
                <a:solidFill>
                  <a:schemeClr val="bg1"/>
                </a:solidFill>
              </a:rPr>
              <a:t>180 –</a:t>
            </a:r>
          </a:p>
          <a:p>
            <a:pPr eaLnBrk="0" hangingPunct="0">
              <a:lnSpc>
                <a:spcPct val="180000"/>
              </a:lnSpc>
            </a:pPr>
            <a:endParaRPr lang="fr-FR" sz="1400">
              <a:solidFill>
                <a:schemeClr val="bg1"/>
              </a:solidFill>
            </a:endParaRPr>
          </a:p>
        </p:txBody>
      </p:sp>
      <p:sp>
        <p:nvSpPr>
          <p:cNvPr id="33796" name="Text Box 4"/>
          <p:cNvSpPr txBox="1">
            <a:spLocks noChangeArrowheads="1"/>
          </p:cNvSpPr>
          <p:nvPr/>
        </p:nvSpPr>
        <p:spPr bwMode="auto">
          <a:xfrm>
            <a:off x="1476375" y="3381375"/>
            <a:ext cx="277813" cy="336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600">
                <a:solidFill>
                  <a:schemeClr val="bg1"/>
                </a:solidFill>
                <a:latin typeface="Matura MT Script Capitals" pitchFamily="66" charset="0"/>
              </a:rPr>
              <a:t>•</a:t>
            </a:r>
          </a:p>
        </p:txBody>
      </p:sp>
      <p:sp>
        <p:nvSpPr>
          <p:cNvPr id="33797" name="Text Box 5"/>
          <p:cNvSpPr txBox="1">
            <a:spLocks noChangeArrowheads="1"/>
          </p:cNvSpPr>
          <p:nvPr/>
        </p:nvSpPr>
        <p:spPr bwMode="auto">
          <a:xfrm>
            <a:off x="2051050" y="3454400"/>
            <a:ext cx="277813" cy="336550"/>
          </a:xfrm>
          <a:prstGeom prst="rect">
            <a:avLst/>
          </a:prstGeom>
          <a:noFill/>
          <a:ln w="1905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600">
                <a:solidFill>
                  <a:schemeClr val="bg1"/>
                </a:solidFill>
                <a:latin typeface="Matura MT Script Capitals" pitchFamily="66" charset="0"/>
              </a:rPr>
              <a:t>•</a:t>
            </a:r>
          </a:p>
        </p:txBody>
      </p:sp>
      <p:sp>
        <p:nvSpPr>
          <p:cNvPr id="33798" name="Text Box 6"/>
          <p:cNvSpPr txBox="1">
            <a:spLocks noChangeArrowheads="1"/>
          </p:cNvSpPr>
          <p:nvPr/>
        </p:nvSpPr>
        <p:spPr bwMode="auto">
          <a:xfrm>
            <a:off x="2709863" y="2997200"/>
            <a:ext cx="277812" cy="336550"/>
          </a:xfrm>
          <a:prstGeom prst="rect">
            <a:avLst/>
          </a:prstGeom>
          <a:noFill/>
          <a:ln w="1905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600">
                <a:solidFill>
                  <a:schemeClr val="bg1"/>
                </a:solidFill>
                <a:latin typeface="Matura MT Script Capitals" pitchFamily="66" charset="0"/>
              </a:rPr>
              <a:t>•</a:t>
            </a:r>
          </a:p>
        </p:txBody>
      </p:sp>
      <p:sp>
        <p:nvSpPr>
          <p:cNvPr id="33799" name="Text Box 7"/>
          <p:cNvSpPr txBox="1">
            <a:spLocks noChangeArrowheads="1"/>
          </p:cNvSpPr>
          <p:nvPr/>
        </p:nvSpPr>
        <p:spPr bwMode="auto">
          <a:xfrm>
            <a:off x="3430588" y="2924175"/>
            <a:ext cx="277812" cy="336550"/>
          </a:xfrm>
          <a:prstGeom prst="rect">
            <a:avLst/>
          </a:prstGeom>
          <a:noFill/>
          <a:ln w="1905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600">
                <a:solidFill>
                  <a:schemeClr val="bg1"/>
                </a:solidFill>
                <a:latin typeface="Matura MT Script Capitals" pitchFamily="66" charset="0"/>
              </a:rPr>
              <a:t>•</a:t>
            </a:r>
          </a:p>
        </p:txBody>
      </p:sp>
      <p:sp>
        <p:nvSpPr>
          <p:cNvPr id="33800" name="Text Box 8"/>
          <p:cNvSpPr txBox="1">
            <a:spLocks noChangeArrowheads="1"/>
          </p:cNvSpPr>
          <p:nvPr/>
        </p:nvSpPr>
        <p:spPr bwMode="auto">
          <a:xfrm>
            <a:off x="3924300" y="3362325"/>
            <a:ext cx="288925" cy="366713"/>
          </a:xfrm>
          <a:prstGeom prst="rect">
            <a:avLst/>
          </a:prstGeom>
          <a:noFill/>
          <a:ln w="1905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>
                <a:solidFill>
                  <a:schemeClr val="bg1"/>
                </a:solidFill>
                <a:latin typeface="Matura MT Script Capitals" pitchFamily="66" charset="0"/>
              </a:rPr>
              <a:t>•</a:t>
            </a:r>
          </a:p>
        </p:txBody>
      </p:sp>
      <p:sp>
        <p:nvSpPr>
          <p:cNvPr id="33801" name="Text Box 9"/>
          <p:cNvSpPr txBox="1">
            <a:spLocks noChangeArrowheads="1"/>
          </p:cNvSpPr>
          <p:nvPr/>
        </p:nvSpPr>
        <p:spPr bwMode="auto">
          <a:xfrm>
            <a:off x="4572000" y="3429000"/>
            <a:ext cx="277813" cy="336550"/>
          </a:xfrm>
          <a:prstGeom prst="rect">
            <a:avLst/>
          </a:prstGeom>
          <a:noFill/>
          <a:ln w="1905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0" hangingPunct="0"/>
            <a:r>
              <a:rPr lang="fr-FR" sz="1600">
                <a:solidFill>
                  <a:schemeClr val="bg1"/>
                </a:solidFill>
                <a:latin typeface="Matura MT Script Capitals" pitchFamily="66" charset="0"/>
              </a:rPr>
              <a:t>•</a:t>
            </a:r>
          </a:p>
        </p:txBody>
      </p:sp>
      <p:sp>
        <p:nvSpPr>
          <p:cNvPr id="33802" name="Text Box 10"/>
          <p:cNvSpPr txBox="1">
            <a:spLocks noChangeArrowheads="1"/>
          </p:cNvSpPr>
          <p:nvPr/>
        </p:nvSpPr>
        <p:spPr bwMode="auto">
          <a:xfrm>
            <a:off x="5292725" y="3454400"/>
            <a:ext cx="277813" cy="336550"/>
          </a:xfrm>
          <a:prstGeom prst="rect">
            <a:avLst/>
          </a:prstGeom>
          <a:noFill/>
          <a:ln w="1905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600">
                <a:solidFill>
                  <a:schemeClr val="bg1"/>
                </a:solidFill>
                <a:latin typeface="Matura MT Script Capitals" pitchFamily="66" charset="0"/>
              </a:rPr>
              <a:t>•</a:t>
            </a:r>
          </a:p>
        </p:txBody>
      </p:sp>
      <p:sp>
        <p:nvSpPr>
          <p:cNvPr id="33803" name="Text Box 11"/>
          <p:cNvSpPr txBox="1">
            <a:spLocks noChangeArrowheads="1"/>
          </p:cNvSpPr>
          <p:nvPr/>
        </p:nvSpPr>
        <p:spPr bwMode="auto">
          <a:xfrm>
            <a:off x="5940425" y="3068638"/>
            <a:ext cx="277813" cy="336550"/>
          </a:xfrm>
          <a:prstGeom prst="rect">
            <a:avLst/>
          </a:prstGeom>
          <a:noFill/>
          <a:ln w="1905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600">
                <a:solidFill>
                  <a:schemeClr val="bg1"/>
                </a:solidFill>
                <a:latin typeface="Matura MT Script Capitals" pitchFamily="66" charset="0"/>
              </a:rPr>
              <a:t>•</a:t>
            </a:r>
          </a:p>
        </p:txBody>
      </p:sp>
      <p:sp>
        <p:nvSpPr>
          <p:cNvPr id="33804" name="Text Box 12"/>
          <p:cNvSpPr txBox="1">
            <a:spLocks noChangeArrowheads="1"/>
          </p:cNvSpPr>
          <p:nvPr/>
        </p:nvSpPr>
        <p:spPr bwMode="auto">
          <a:xfrm>
            <a:off x="6588125" y="3357563"/>
            <a:ext cx="277813" cy="336550"/>
          </a:xfrm>
          <a:prstGeom prst="rect">
            <a:avLst/>
          </a:prstGeom>
          <a:noFill/>
          <a:ln w="1905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600">
                <a:solidFill>
                  <a:schemeClr val="bg1"/>
                </a:solidFill>
                <a:latin typeface="Matura MT Script Capitals" pitchFamily="66" charset="0"/>
              </a:rPr>
              <a:t>•</a:t>
            </a:r>
          </a:p>
        </p:txBody>
      </p:sp>
      <p:sp>
        <p:nvSpPr>
          <p:cNvPr id="33805" name="Text Box 13"/>
          <p:cNvSpPr txBox="1">
            <a:spLocks noChangeArrowheads="1"/>
          </p:cNvSpPr>
          <p:nvPr/>
        </p:nvSpPr>
        <p:spPr bwMode="auto">
          <a:xfrm>
            <a:off x="7235825" y="2997200"/>
            <a:ext cx="277813" cy="336550"/>
          </a:xfrm>
          <a:prstGeom prst="rect">
            <a:avLst/>
          </a:prstGeom>
          <a:noFill/>
          <a:ln w="1905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600">
                <a:solidFill>
                  <a:schemeClr val="bg1"/>
                </a:solidFill>
                <a:latin typeface="Matura MT Script Capitals" pitchFamily="66" charset="0"/>
              </a:rPr>
              <a:t>•</a:t>
            </a:r>
          </a:p>
        </p:txBody>
      </p:sp>
      <p:sp>
        <p:nvSpPr>
          <p:cNvPr id="33806" name="Text Box 14"/>
          <p:cNvSpPr txBox="1">
            <a:spLocks noChangeArrowheads="1"/>
          </p:cNvSpPr>
          <p:nvPr/>
        </p:nvSpPr>
        <p:spPr bwMode="auto">
          <a:xfrm>
            <a:off x="1547813" y="4927600"/>
            <a:ext cx="6089650" cy="5175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400">
                <a:solidFill>
                  <a:schemeClr val="bg1"/>
                </a:solidFill>
              </a:rPr>
              <a:t>I            I            I            I            I            I            I            I            I            I  </a:t>
            </a:r>
          </a:p>
          <a:p>
            <a:pPr eaLnBrk="0" hangingPunct="0"/>
            <a:r>
              <a:rPr lang="fr-FR" sz="1400">
                <a:solidFill>
                  <a:schemeClr val="bg1"/>
                </a:solidFill>
              </a:rPr>
              <a:t>1           2           3          4            5           6           7           8           9          10</a:t>
            </a:r>
          </a:p>
        </p:txBody>
      </p:sp>
      <p:sp>
        <p:nvSpPr>
          <p:cNvPr id="33807" name="Line 15"/>
          <p:cNvSpPr>
            <a:spLocks noChangeShapeType="1"/>
          </p:cNvSpPr>
          <p:nvPr/>
        </p:nvSpPr>
        <p:spPr bwMode="auto">
          <a:xfrm>
            <a:off x="1619250" y="3525838"/>
            <a:ext cx="576263" cy="71437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08" name="Line 16"/>
          <p:cNvSpPr>
            <a:spLocks noChangeShapeType="1"/>
          </p:cNvSpPr>
          <p:nvPr/>
        </p:nvSpPr>
        <p:spPr bwMode="auto">
          <a:xfrm flipV="1">
            <a:off x="2195513" y="3141663"/>
            <a:ext cx="647700" cy="43180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09" name="Line 17"/>
          <p:cNvSpPr>
            <a:spLocks noChangeShapeType="1"/>
          </p:cNvSpPr>
          <p:nvPr/>
        </p:nvSpPr>
        <p:spPr bwMode="auto">
          <a:xfrm flipV="1">
            <a:off x="2844800" y="3068638"/>
            <a:ext cx="719138" cy="73025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10" name="Line 18"/>
          <p:cNvSpPr>
            <a:spLocks noChangeShapeType="1"/>
          </p:cNvSpPr>
          <p:nvPr/>
        </p:nvSpPr>
        <p:spPr bwMode="auto">
          <a:xfrm>
            <a:off x="3563938" y="3068638"/>
            <a:ext cx="503237" cy="45720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11" name="Line 19"/>
          <p:cNvSpPr>
            <a:spLocks noChangeShapeType="1"/>
          </p:cNvSpPr>
          <p:nvPr/>
        </p:nvSpPr>
        <p:spPr bwMode="auto">
          <a:xfrm>
            <a:off x="4067175" y="3525838"/>
            <a:ext cx="649288" cy="47625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12" name="Line 20"/>
          <p:cNvSpPr>
            <a:spLocks noChangeShapeType="1"/>
          </p:cNvSpPr>
          <p:nvPr/>
        </p:nvSpPr>
        <p:spPr bwMode="auto">
          <a:xfrm>
            <a:off x="4716463" y="3573463"/>
            <a:ext cx="719137" cy="23812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13" name="Line 21"/>
          <p:cNvSpPr>
            <a:spLocks noChangeShapeType="1"/>
          </p:cNvSpPr>
          <p:nvPr/>
        </p:nvSpPr>
        <p:spPr bwMode="auto">
          <a:xfrm flipV="1">
            <a:off x="5435600" y="3213100"/>
            <a:ext cx="649288" cy="384175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14" name="Line 22"/>
          <p:cNvSpPr>
            <a:spLocks noChangeShapeType="1"/>
          </p:cNvSpPr>
          <p:nvPr/>
        </p:nvSpPr>
        <p:spPr bwMode="auto">
          <a:xfrm>
            <a:off x="6084888" y="3213100"/>
            <a:ext cx="647700" cy="287338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15" name="Line 23"/>
          <p:cNvSpPr>
            <a:spLocks noChangeShapeType="1"/>
          </p:cNvSpPr>
          <p:nvPr/>
        </p:nvSpPr>
        <p:spPr bwMode="auto">
          <a:xfrm flipV="1">
            <a:off x="6732588" y="3141663"/>
            <a:ext cx="647700" cy="358775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16" name="Text Box 24"/>
          <p:cNvSpPr txBox="1">
            <a:spLocks noChangeArrowheads="1"/>
          </p:cNvSpPr>
          <p:nvPr/>
        </p:nvSpPr>
        <p:spPr bwMode="auto">
          <a:xfrm>
            <a:off x="7451725" y="2852738"/>
            <a:ext cx="568325" cy="336550"/>
          </a:xfrm>
          <a:prstGeom prst="rect">
            <a:avLst/>
          </a:prstGeom>
          <a:noFill/>
          <a:ln w="1905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600" b="1">
                <a:solidFill>
                  <a:schemeClr val="bg1"/>
                </a:solidFill>
              </a:rPr>
              <a:t>V.S.</a:t>
            </a:r>
          </a:p>
        </p:txBody>
      </p:sp>
      <p:sp>
        <p:nvSpPr>
          <p:cNvPr id="33817" name="Text Box 25"/>
          <p:cNvSpPr txBox="1">
            <a:spLocks noChangeArrowheads="1"/>
          </p:cNvSpPr>
          <p:nvPr/>
        </p:nvSpPr>
        <p:spPr bwMode="auto">
          <a:xfrm>
            <a:off x="1476375" y="4292600"/>
            <a:ext cx="334963" cy="2746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200">
                <a:solidFill>
                  <a:schemeClr val="bg1"/>
                </a:solidFill>
                <a:latin typeface="Arial Narrow" pitchFamily="34" charset="0"/>
              </a:rPr>
              <a:t>▼</a:t>
            </a:r>
          </a:p>
        </p:txBody>
      </p:sp>
      <p:sp>
        <p:nvSpPr>
          <p:cNvPr id="33818" name="Text Box 26"/>
          <p:cNvSpPr txBox="1">
            <a:spLocks noChangeArrowheads="1"/>
          </p:cNvSpPr>
          <p:nvPr/>
        </p:nvSpPr>
        <p:spPr bwMode="auto">
          <a:xfrm>
            <a:off x="2076450" y="4306888"/>
            <a:ext cx="334963" cy="2746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200">
                <a:solidFill>
                  <a:schemeClr val="bg1"/>
                </a:solidFill>
                <a:latin typeface="Arial Narrow" pitchFamily="34" charset="0"/>
              </a:rPr>
              <a:t>▼</a:t>
            </a:r>
          </a:p>
        </p:txBody>
      </p:sp>
      <p:sp>
        <p:nvSpPr>
          <p:cNvPr id="33819" name="Text Box 27"/>
          <p:cNvSpPr txBox="1">
            <a:spLocks noChangeArrowheads="1"/>
          </p:cNvSpPr>
          <p:nvPr/>
        </p:nvSpPr>
        <p:spPr bwMode="auto">
          <a:xfrm>
            <a:off x="2797175" y="3871913"/>
            <a:ext cx="334963" cy="2746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200">
                <a:solidFill>
                  <a:schemeClr val="bg1"/>
                </a:solidFill>
                <a:latin typeface="Arial Narrow" pitchFamily="34" charset="0"/>
              </a:rPr>
              <a:t>▼</a:t>
            </a:r>
          </a:p>
        </p:txBody>
      </p:sp>
      <p:sp>
        <p:nvSpPr>
          <p:cNvPr id="33820" name="Text Box 28"/>
          <p:cNvSpPr txBox="1">
            <a:spLocks noChangeArrowheads="1"/>
          </p:cNvSpPr>
          <p:nvPr/>
        </p:nvSpPr>
        <p:spPr bwMode="auto">
          <a:xfrm>
            <a:off x="3444875" y="3644900"/>
            <a:ext cx="334963" cy="2746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200">
                <a:solidFill>
                  <a:schemeClr val="bg1"/>
                </a:solidFill>
                <a:latin typeface="Arial Narrow" pitchFamily="34" charset="0"/>
              </a:rPr>
              <a:t>▼</a:t>
            </a:r>
          </a:p>
        </p:txBody>
      </p:sp>
      <p:sp>
        <p:nvSpPr>
          <p:cNvPr id="33821" name="Text Box 29"/>
          <p:cNvSpPr txBox="1">
            <a:spLocks noChangeArrowheads="1"/>
          </p:cNvSpPr>
          <p:nvPr/>
        </p:nvSpPr>
        <p:spPr bwMode="auto">
          <a:xfrm>
            <a:off x="4021138" y="4162425"/>
            <a:ext cx="334962" cy="2746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200">
                <a:solidFill>
                  <a:schemeClr val="bg1"/>
                </a:solidFill>
                <a:latin typeface="Arial Narrow" pitchFamily="34" charset="0"/>
              </a:rPr>
              <a:t>▼</a:t>
            </a:r>
          </a:p>
        </p:txBody>
      </p:sp>
      <p:sp>
        <p:nvSpPr>
          <p:cNvPr id="33822" name="Text Box 30"/>
          <p:cNvSpPr txBox="1">
            <a:spLocks noChangeArrowheads="1"/>
          </p:cNvSpPr>
          <p:nvPr/>
        </p:nvSpPr>
        <p:spPr bwMode="auto">
          <a:xfrm>
            <a:off x="4643438" y="4162425"/>
            <a:ext cx="334962" cy="2746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200">
                <a:solidFill>
                  <a:schemeClr val="bg1"/>
                </a:solidFill>
                <a:latin typeface="Arial Narrow" pitchFamily="34" charset="0"/>
              </a:rPr>
              <a:t>▼</a:t>
            </a:r>
          </a:p>
        </p:txBody>
      </p:sp>
      <p:sp>
        <p:nvSpPr>
          <p:cNvPr id="33823" name="Text Box 31"/>
          <p:cNvSpPr txBox="1">
            <a:spLocks noChangeArrowheads="1"/>
          </p:cNvSpPr>
          <p:nvPr/>
        </p:nvSpPr>
        <p:spPr bwMode="auto">
          <a:xfrm>
            <a:off x="5316538" y="4160838"/>
            <a:ext cx="334962" cy="2746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200">
                <a:solidFill>
                  <a:schemeClr val="bg1"/>
                </a:solidFill>
                <a:latin typeface="Arial Narrow" pitchFamily="34" charset="0"/>
              </a:rPr>
              <a:t>▼</a:t>
            </a:r>
          </a:p>
        </p:txBody>
      </p:sp>
      <p:sp>
        <p:nvSpPr>
          <p:cNvPr id="33824" name="Text Box 32"/>
          <p:cNvSpPr txBox="1">
            <a:spLocks noChangeArrowheads="1"/>
          </p:cNvSpPr>
          <p:nvPr/>
        </p:nvSpPr>
        <p:spPr bwMode="auto">
          <a:xfrm>
            <a:off x="5965825" y="3860800"/>
            <a:ext cx="334963" cy="2746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0" hangingPunct="0"/>
            <a:r>
              <a:rPr lang="fr-FR" sz="1200">
                <a:solidFill>
                  <a:schemeClr val="bg1"/>
                </a:solidFill>
                <a:latin typeface="Arial Narrow" pitchFamily="34" charset="0"/>
              </a:rPr>
              <a:t>▼</a:t>
            </a:r>
          </a:p>
        </p:txBody>
      </p:sp>
      <p:sp>
        <p:nvSpPr>
          <p:cNvPr id="33825" name="Text Box 33"/>
          <p:cNvSpPr txBox="1">
            <a:spLocks noChangeArrowheads="1"/>
          </p:cNvSpPr>
          <p:nvPr/>
        </p:nvSpPr>
        <p:spPr bwMode="auto">
          <a:xfrm>
            <a:off x="6588125" y="4233863"/>
            <a:ext cx="334963" cy="2746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200">
                <a:solidFill>
                  <a:schemeClr val="bg1"/>
                </a:solidFill>
                <a:latin typeface="Arial Narrow" pitchFamily="34" charset="0"/>
              </a:rPr>
              <a:t>▼</a:t>
            </a:r>
          </a:p>
        </p:txBody>
      </p:sp>
      <p:sp>
        <p:nvSpPr>
          <p:cNvPr id="33826" name="Text Box 34"/>
          <p:cNvSpPr txBox="1">
            <a:spLocks noChangeArrowheads="1"/>
          </p:cNvSpPr>
          <p:nvPr/>
        </p:nvSpPr>
        <p:spPr bwMode="auto">
          <a:xfrm>
            <a:off x="7164388" y="3933825"/>
            <a:ext cx="334962" cy="2746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200">
                <a:solidFill>
                  <a:schemeClr val="bg1"/>
                </a:solidFill>
                <a:latin typeface="Arial Narrow" pitchFamily="34" charset="0"/>
              </a:rPr>
              <a:t>▼</a:t>
            </a:r>
          </a:p>
        </p:txBody>
      </p:sp>
      <p:sp>
        <p:nvSpPr>
          <p:cNvPr id="33827" name="Line 35"/>
          <p:cNvSpPr>
            <a:spLocks noChangeShapeType="1"/>
          </p:cNvSpPr>
          <p:nvPr/>
        </p:nvSpPr>
        <p:spPr bwMode="auto">
          <a:xfrm>
            <a:off x="1619250" y="4437063"/>
            <a:ext cx="576263" cy="14287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28" name="Line 36"/>
          <p:cNvSpPr>
            <a:spLocks noChangeShapeType="1"/>
          </p:cNvSpPr>
          <p:nvPr/>
        </p:nvSpPr>
        <p:spPr bwMode="auto">
          <a:xfrm flipV="1">
            <a:off x="2268538" y="4005263"/>
            <a:ext cx="647700" cy="43180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29" name="Line 37"/>
          <p:cNvSpPr>
            <a:spLocks noChangeShapeType="1"/>
          </p:cNvSpPr>
          <p:nvPr/>
        </p:nvSpPr>
        <p:spPr bwMode="auto">
          <a:xfrm flipV="1">
            <a:off x="2916238" y="3789363"/>
            <a:ext cx="647700" cy="21590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30" name="Line 38"/>
          <p:cNvSpPr>
            <a:spLocks noChangeShapeType="1"/>
          </p:cNvSpPr>
          <p:nvPr/>
        </p:nvSpPr>
        <p:spPr bwMode="auto">
          <a:xfrm>
            <a:off x="3563938" y="3789363"/>
            <a:ext cx="576262" cy="503237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31" name="Line 39"/>
          <p:cNvSpPr>
            <a:spLocks noChangeShapeType="1"/>
          </p:cNvSpPr>
          <p:nvPr/>
        </p:nvSpPr>
        <p:spPr bwMode="auto">
          <a:xfrm flipV="1">
            <a:off x="4140200" y="4292600"/>
            <a:ext cx="64770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32" name="Line 40"/>
          <p:cNvSpPr>
            <a:spLocks noChangeShapeType="1"/>
          </p:cNvSpPr>
          <p:nvPr/>
        </p:nvSpPr>
        <p:spPr bwMode="auto">
          <a:xfrm>
            <a:off x="4859338" y="4292600"/>
            <a:ext cx="504825" cy="1270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33" name="Line 41"/>
          <p:cNvSpPr>
            <a:spLocks noChangeShapeType="1"/>
          </p:cNvSpPr>
          <p:nvPr/>
        </p:nvSpPr>
        <p:spPr bwMode="auto">
          <a:xfrm flipV="1">
            <a:off x="5364163" y="4005263"/>
            <a:ext cx="720725" cy="300037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34" name="Line 42"/>
          <p:cNvSpPr>
            <a:spLocks noChangeShapeType="1"/>
          </p:cNvSpPr>
          <p:nvPr/>
        </p:nvSpPr>
        <p:spPr bwMode="auto">
          <a:xfrm>
            <a:off x="6084888" y="4005263"/>
            <a:ext cx="647700" cy="37147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35" name="Line 43"/>
          <p:cNvSpPr>
            <a:spLocks noChangeShapeType="1"/>
          </p:cNvSpPr>
          <p:nvPr/>
        </p:nvSpPr>
        <p:spPr bwMode="auto">
          <a:xfrm flipV="1">
            <a:off x="6732588" y="4076700"/>
            <a:ext cx="576262" cy="28892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36" name="Text Box 44"/>
          <p:cNvSpPr txBox="1">
            <a:spLocks noChangeArrowheads="1"/>
          </p:cNvSpPr>
          <p:nvPr/>
        </p:nvSpPr>
        <p:spPr bwMode="auto">
          <a:xfrm>
            <a:off x="7451725" y="3789363"/>
            <a:ext cx="546100" cy="336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600" b="1">
                <a:solidFill>
                  <a:schemeClr val="bg1"/>
                </a:solidFill>
              </a:rPr>
              <a:t>J.S.</a:t>
            </a:r>
          </a:p>
        </p:txBody>
      </p:sp>
      <p:sp>
        <p:nvSpPr>
          <p:cNvPr id="33837" name="Text Box 45"/>
          <p:cNvSpPr txBox="1">
            <a:spLocks noChangeArrowheads="1"/>
          </p:cNvSpPr>
          <p:nvPr/>
        </p:nvSpPr>
        <p:spPr bwMode="auto">
          <a:xfrm>
            <a:off x="1512888" y="4357688"/>
            <a:ext cx="322262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b="1">
                <a:solidFill>
                  <a:schemeClr val="bg1"/>
                </a:solidFill>
                <a:latin typeface="Arial Narrow" pitchFamily="34" charset="0"/>
              </a:rPr>
              <a:t>○</a:t>
            </a:r>
          </a:p>
        </p:txBody>
      </p:sp>
      <p:sp>
        <p:nvSpPr>
          <p:cNvPr id="33838" name="Text Box 46"/>
          <p:cNvSpPr txBox="1">
            <a:spLocks noChangeArrowheads="1"/>
          </p:cNvSpPr>
          <p:nvPr/>
        </p:nvSpPr>
        <p:spPr bwMode="auto">
          <a:xfrm>
            <a:off x="2124075" y="4365625"/>
            <a:ext cx="322263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b="1">
                <a:solidFill>
                  <a:schemeClr val="bg1"/>
                </a:solidFill>
                <a:latin typeface="Arial Narrow" pitchFamily="34" charset="0"/>
              </a:rPr>
              <a:t>○</a:t>
            </a:r>
          </a:p>
        </p:txBody>
      </p:sp>
      <p:sp>
        <p:nvSpPr>
          <p:cNvPr id="33839" name="Text Box 47"/>
          <p:cNvSpPr txBox="1">
            <a:spLocks noChangeArrowheads="1"/>
          </p:cNvSpPr>
          <p:nvPr/>
        </p:nvSpPr>
        <p:spPr bwMode="auto">
          <a:xfrm>
            <a:off x="2736850" y="4149725"/>
            <a:ext cx="322263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b="1">
                <a:solidFill>
                  <a:schemeClr val="bg1"/>
                </a:solidFill>
                <a:latin typeface="Arial Narrow" pitchFamily="34" charset="0"/>
              </a:rPr>
              <a:t>○</a:t>
            </a:r>
          </a:p>
        </p:txBody>
      </p:sp>
      <p:sp>
        <p:nvSpPr>
          <p:cNvPr id="33840" name="Text Box 48"/>
          <p:cNvSpPr txBox="1">
            <a:spLocks noChangeArrowheads="1"/>
          </p:cNvSpPr>
          <p:nvPr/>
        </p:nvSpPr>
        <p:spPr bwMode="auto">
          <a:xfrm>
            <a:off x="3386138" y="4076700"/>
            <a:ext cx="322262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b="1">
                <a:solidFill>
                  <a:schemeClr val="bg1"/>
                </a:solidFill>
                <a:latin typeface="Arial Narrow" pitchFamily="34" charset="0"/>
              </a:rPr>
              <a:t>○</a:t>
            </a:r>
          </a:p>
        </p:txBody>
      </p:sp>
      <p:sp>
        <p:nvSpPr>
          <p:cNvPr id="33841" name="Text Box 49"/>
          <p:cNvSpPr txBox="1">
            <a:spLocks noChangeArrowheads="1"/>
          </p:cNvSpPr>
          <p:nvPr/>
        </p:nvSpPr>
        <p:spPr bwMode="auto">
          <a:xfrm>
            <a:off x="4033838" y="4292600"/>
            <a:ext cx="322262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b="1">
                <a:solidFill>
                  <a:schemeClr val="bg1"/>
                </a:solidFill>
                <a:latin typeface="Arial Narrow" pitchFamily="34" charset="0"/>
              </a:rPr>
              <a:t>○</a:t>
            </a:r>
          </a:p>
        </p:txBody>
      </p:sp>
      <p:sp>
        <p:nvSpPr>
          <p:cNvPr id="33842" name="Text Box 50"/>
          <p:cNvSpPr txBox="1">
            <a:spLocks noChangeArrowheads="1"/>
          </p:cNvSpPr>
          <p:nvPr/>
        </p:nvSpPr>
        <p:spPr bwMode="auto">
          <a:xfrm>
            <a:off x="4681538" y="4292600"/>
            <a:ext cx="322262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b="1">
                <a:solidFill>
                  <a:schemeClr val="bg1"/>
                </a:solidFill>
                <a:latin typeface="Arial Narrow" pitchFamily="34" charset="0"/>
              </a:rPr>
              <a:t>○</a:t>
            </a:r>
          </a:p>
        </p:txBody>
      </p:sp>
      <p:sp>
        <p:nvSpPr>
          <p:cNvPr id="33843" name="Text Box 51"/>
          <p:cNvSpPr txBox="1">
            <a:spLocks noChangeArrowheads="1"/>
          </p:cNvSpPr>
          <p:nvPr/>
        </p:nvSpPr>
        <p:spPr bwMode="auto">
          <a:xfrm>
            <a:off x="5329238" y="4221163"/>
            <a:ext cx="322262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b="1">
                <a:solidFill>
                  <a:schemeClr val="bg1"/>
                </a:solidFill>
                <a:latin typeface="Arial Narrow" pitchFamily="34" charset="0"/>
              </a:rPr>
              <a:t>○</a:t>
            </a:r>
          </a:p>
        </p:txBody>
      </p:sp>
      <p:sp>
        <p:nvSpPr>
          <p:cNvPr id="33844" name="Text Box 52"/>
          <p:cNvSpPr txBox="1">
            <a:spLocks noChangeArrowheads="1"/>
          </p:cNvSpPr>
          <p:nvPr/>
        </p:nvSpPr>
        <p:spPr bwMode="auto">
          <a:xfrm>
            <a:off x="5940425" y="4076700"/>
            <a:ext cx="322263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b="1">
                <a:solidFill>
                  <a:schemeClr val="bg1"/>
                </a:solidFill>
                <a:latin typeface="Arial Narrow" pitchFamily="34" charset="0"/>
              </a:rPr>
              <a:t>○</a:t>
            </a:r>
          </a:p>
        </p:txBody>
      </p:sp>
      <p:sp>
        <p:nvSpPr>
          <p:cNvPr id="33845" name="Text Box 53"/>
          <p:cNvSpPr txBox="1">
            <a:spLocks noChangeArrowheads="1"/>
          </p:cNvSpPr>
          <p:nvPr/>
        </p:nvSpPr>
        <p:spPr bwMode="auto">
          <a:xfrm>
            <a:off x="6659563" y="4286250"/>
            <a:ext cx="322262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b="1">
                <a:solidFill>
                  <a:schemeClr val="bg1"/>
                </a:solidFill>
                <a:latin typeface="Arial Narrow" pitchFamily="34" charset="0"/>
              </a:rPr>
              <a:t>○</a:t>
            </a:r>
          </a:p>
        </p:txBody>
      </p:sp>
      <p:sp>
        <p:nvSpPr>
          <p:cNvPr id="33846" name="Text Box 54"/>
          <p:cNvSpPr txBox="1">
            <a:spLocks noChangeArrowheads="1"/>
          </p:cNvSpPr>
          <p:nvPr/>
        </p:nvSpPr>
        <p:spPr bwMode="auto">
          <a:xfrm>
            <a:off x="7235825" y="4076700"/>
            <a:ext cx="322263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0" hangingPunct="0"/>
            <a:r>
              <a:rPr lang="fr-FR" b="1">
                <a:solidFill>
                  <a:schemeClr val="bg1"/>
                </a:solidFill>
                <a:latin typeface="Arial Narrow" pitchFamily="34" charset="0"/>
              </a:rPr>
              <a:t>○</a:t>
            </a:r>
          </a:p>
        </p:txBody>
      </p:sp>
      <p:sp>
        <p:nvSpPr>
          <p:cNvPr id="33847" name="Line 55"/>
          <p:cNvSpPr>
            <a:spLocks noChangeShapeType="1"/>
          </p:cNvSpPr>
          <p:nvPr/>
        </p:nvSpPr>
        <p:spPr bwMode="auto">
          <a:xfrm flipV="1">
            <a:off x="1619250" y="4581525"/>
            <a:ext cx="649288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48" name="Line 56"/>
          <p:cNvSpPr>
            <a:spLocks noChangeShapeType="1"/>
          </p:cNvSpPr>
          <p:nvPr/>
        </p:nvSpPr>
        <p:spPr bwMode="auto">
          <a:xfrm flipV="1">
            <a:off x="2195513" y="4365625"/>
            <a:ext cx="576262" cy="21590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49" name="Line 57"/>
          <p:cNvSpPr>
            <a:spLocks noChangeShapeType="1"/>
          </p:cNvSpPr>
          <p:nvPr/>
        </p:nvSpPr>
        <p:spPr bwMode="auto">
          <a:xfrm flipV="1">
            <a:off x="2771775" y="4292600"/>
            <a:ext cx="792163" cy="73025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50" name="Line 58"/>
          <p:cNvSpPr>
            <a:spLocks noChangeShapeType="1"/>
          </p:cNvSpPr>
          <p:nvPr/>
        </p:nvSpPr>
        <p:spPr bwMode="auto">
          <a:xfrm>
            <a:off x="3563938" y="4292600"/>
            <a:ext cx="574675" cy="21590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51" name="Line 59"/>
          <p:cNvSpPr>
            <a:spLocks noChangeShapeType="1"/>
          </p:cNvSpPr>
          <p:nvPr/>
        </p:nvSpPr>
        <p:spPr bwMode="auto">
          <a:xfrm>
            <a:off x="4067175" y="4508500"/>
            <a:ext cx="720725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52" name="Line 60"/>
          <p:cNvSpPr>
            <a:spLocks noChangeShapeType="1"/>
          </p:cNvSpPr>
          <p:nvPr/>
        </p:nvSpPr>
        <p:spPr bwMode="auto">
          <a:xfrm flipV="1">
            <a:off x="4859338" y="4437063"/>
            <a:ext cx="504825" cy="71437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53" name="Line 61"/>
          <p:cNvSpPr>
            <a:spLocks noChangeShapeType="1"/>
          </p:cNvSpPr>
          <p:nvPr/>
        </p:nvSpPr>
        <p:spPr bwMode="auto">
          <a:xfrm flipV="1">
            <a:off x="5364163" y="4292600"/>
            <a:ext cx="647700" cy="144463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54" name="Line 62"/>
          <p:cNvSpPr>
            <a:spLocks noChangeShapeType="1"/>
          </p:cNvSpPr>
          <p:nvPr/>
        </p:nvSpPr>
        <p:spPr bwMode="auto">
          <a:xfrm>
            <a:off x="6084888" y="4292600"/>
            <a:ext cx="719137" cy="21590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55" name="Line 63"/>
          <p:cNvSpPr>
            <a:spLocks noChangeShapeType="1"/>
          </p:cNvSpPr>
          <p:nvPr/>
        </p:nvSpPr>
        <p:spPr bwMode="auto">
          <a:xfrm flipV="1">
            <a:off x="6804025" y="4292600"/>
            <a:ext cx="576263" cy="21590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56" name="Text Box 64"/>
          <p:cNvSpPr txBox="1">
            <a:spLocks noChangeArrowheads="1"/>
          </p:cNvSpPr>
          <p:nvPr/>
        </p:nvSpPr>
        <p:spPr bwMode="auto">
          <a:xfrm>
            <a:off x="7451725" y="4076700"/>
            <a:ext cx="696913" cy="336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0" hangingPunct="0"/>
            <a:r>
              <a:rPr lang="fr-FR" sz="1600" b="1">
                <a:solidFill>
                  <a:schemeClr val="bg1"/>
                </a:solidFill>
              </a:rPr>
              <a:t>V.A.</a:t>
            </a:r>
          </a:p>
        </p:txBody>
      </p:sp>
      <p:sp>
        <p:nvSpPr>
          <p:cNvPr id="33857" name="Text Box 65"/>
          <p:cNvSpPr txBox="1">
            <a:spLocks noChangeArrowheads="1"/>
          </p:cNvSpPr>
          <p:nvPr/>
        </p:nvSpPr>
        <p:spPr bwMode="auto">
          <a:xfrm>
            <a:off x="1476375" y="4508500"/>
            <a:ext cx="293688" cy="30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400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</a:t>
            </a:r>
          </a:p>
        </p:txBody>
      </p:sp>
      <p:sp>
        <p:nvSpPr>
          <p:cNvPr id="33858" name="Text Box 66"/>
          <p:cNvSpPr txBox="1">
            <a:spLocks noChangeArrowheads="1"/>
          </p:cNvSpPr>
          <p:nvPr/>
        </p:nvSpPr>
        <p:spPr bwMode="auto">
          <a:xfrm>
            <a:off x="2122488" y="4579938"/>
            <a:ext cx="293687" cy="30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400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</a:t>
            </a:r>
          </a:p>
        </p:txBody>
      </p:sp>
      <p:sp>
        <p:nvSpPr>
          <p:cNvPr id="33859" name="Text Box 67"/>
          <p:cNvSpPr txBox="1">
            <a:spLocks noChangeArrowheads="1"/>
          </p:cNvSpPr>
          <p:nvPr/>
        </p:nvSpPr>
        <p:spPr bwMode="auto">
          <a:xfrm>
            <a:off x="2771775" y="4437063"/>
            <a:ext cx="293688" cy="30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400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</a:t>
            </a:r>
          </a:p>
        </p:txBody>
      </p:sp>
      <p:sp>
        <p:nvSpPr>
          <p:cNvPr id="33860" name="Text Box 68"/>
          <p:cNvSpPr txBox="1">
            <a:spLocks noChangeArrowheads="1"/>
          </p:cNvSpPr>
          <p:nvPr/>
        </p:nvSpPr>
        <p:spPr bwMode="auto">
          <a:xfrm>
            <a:off x="3414713" y="4292600"/>
            <a:ext cx="293687" cy="30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400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</a:t>
            </a:r>
          </a:p>
        </p:txBody>
      </p:sp>
      <p:sp>
        <p:nvSpPr>
          <p:cNvPr id="33861" name="Text Box 69"/>
          <p:cNvSpPr txBox="1">
            <a:spLocks noChangeArrowheads="1"/>
          </p:cNvSpPr>
          <p:nvPr/>
        </p:nvSpPr>
        <p:spPr bwMode="auto">
          <a:xfrm>
            <a:off x="4067175" y="4508500"/>
            <a:ext cx="293688" cy="30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400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</a:t>
            </a:r>
          </a:p>
        </p:txBody>
      </p:sp>
      <p:sp>
        <p:nvSpPr>
          <p:cNvPr id="33862" name="Text Box 70"/>
          <p:cNvSpPr txBox="1">
            <a:spLocks noChangeArrowheads="1"/>
          </p:cNvSpPr>
          <p:nvPr/>
        </p:nvSpPr>
        <p:spPr bwMode="auto">
          <a:xfrm>
            <a:off x="4714875" y="4581525"/>
            <a:ext cx="293688" cy="30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400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</a:t>
            </a:r>
          </a:p>
        </p:txBody>
      </p:sp>
      <p:sp>
        <p:nvSpPr>
          <p:cNvPr id="33863" name="Text Box 71"/>
          <p:cNvSpPr txBox="1">
            <a:spLocks noChangeArrowheads="1"/>
          </p:cNvSpPr>
          <p:nvPr/>
        </p:nvSpPr>
        <p:spPr bwMode="auto">
          <a:xfrm>
            <a:off x="5357813" y="4581525"/>
            <a:ext cx="293687" cy="30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400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</a:t>
            </a:r>
          </a:p>
        </p:txBody>
      </p:sp>
      <p:sp>
        <p:nvSpPr>
          <p:cNvPr id="33864" name="Text Box 72"/>
          <p:cNvSpPr txBox="1">
            <a:spLocks noChangeArrowheads="1"/>
          </p:cNvSpPr>
          <p:nvPr/>
        </p:nvSpPr>
        <p:spPr bwMode="auto">
          <a:xfrm>
            <a:off x="5938838" y="4365625"/>
            <a:ext cx="293687" cy="30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400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</a:t>
            </a:r>
          </a:p>
        </p:txBody>
      </p:sp>
      <p:sp>
        <p:nvSpPr>
          <p:cNvPr id="33865" name="Text Box 73"/>
          <p:cNvSpPr txBox="1">
            <a:spLocks noChangeArrowheads="1"/>
          </p:cNvSpPr>
          <p:nvPr/>
        </p:nvSpPr>
        <p:spPr bwMode="auto">
          <a:xfrm>
            <a:off x="6654800" y="4508500"/>
            <a:ext cx="293688" cy="30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400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</a:t>
            </a:r>
          </a:p>
        </p:txBody>
      </p:sp>
      <p:sp>
        <p:nvSpPr>
          <p:cNvPr id="33866" name="Text Box 74"/>
          <p:cNvSpPr txBox="1">
            <a:spLocks noChangeArrowheads="1"/>
          </p:cNvSpPr>
          <p:nvPr/>
        </p:nvSpPr>
        <p:spPr bwMode="auto">
          <a:xfrm>
            <a:off x="7235825" y="4365625"/>
            <a:ext cx="293688" cy="30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400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</a:t>
            </a:r>
          </a:p>
        </p:txBody>
      </p:sp>
      <p:sp>
        <p:nvSpPr>
          <p:cNvPr id="33867" name="Line 75"/>
          <p:cNvSpPr>
            <a:spLocks noChangeShapeType="1"/>
          </p:cNvSpPr>
          <p:nvPr/>
        </p:nvSpPr>
        <p:spPr bwMode="auto">
          <a:xfrm>
            <a:off x="1619250" y="4652963"/>
            <a:ext cx="647700" cy="71437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68" name="Line 76"/>
          <p:cNvSpPr>
            <a:spLocks noChangeShapeType="1"/>
          </p:cNvSpPr>
          <p:nvPr/>
        </p:nvSpPr>
        <p:spPr bwMode="auto">
          <a:xfrm flipV="1">
            <a:off x="2266950" y="4581525"/>
            <a:ext cx="649288" cy="14287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69" name="Line 77"/>
          <p:cNvSpPr>
            <a:spLocks noChangeShapeType="1"/>
          </p:cNvSpPr>
          <p:nvPr/>
        </p:nvSpPr>
        <p:spPr bwMode="auto">
          <a:xfrm flipV="1">
            <a:off x="2916238" y="4437063"/>
            <a:ext cx="647700" cy="14605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70" name="Line 78"/>
          <p:cNvSpPr>
            <a:spLocks noChangeShapeType="1"/>
          </p:cNvSpPr>
          <p:nvPr/>
        </p:nvSpPr>
        <p:spPr bwMode="auto">
          <a:xfrm>
            <a:off x="3563938" y="4508500"/>
            <a:ext cx="647700" cy="21590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71" name="Line 79"/>
          <p:cNvSpPr>
            <a:spLocks noChangeShapeType="1"/>
          </p:cNvSpPr>
          <p:nvPr/>
        </p:nvSpPr>
        <p:spPr bwMode="auto">
          <a:xfrm>
            <a:off x="4211638" y="4724400"/>
            <a:ext cx="647700" cy="71438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72" name="Line 80"/>
          <p:cNvSpPr>
            <a:spLocks noChangeShapeType="1"/>
          </p:cNvSpPr>
          <p:nvPr/>
        </p:nvSpPr>
        <p:spPr bwMode="auto">
          <a:xfrm flipV="1">
            <a:off x="4859338" y="4797425"/>
            <a:ext cx="649287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73" name="Line 81"/>
          <p:cNvSpPr>
            <a:spLocks noChangeShapeType="1"/>
          </p:cNvSpPr>
          <p:nvPr/>
        </p:nvSpPr>
        <p:spPr bwMode="auto">
          <a:xfrm flipV="1">
            <a:off x="5507038" y="4581525"/>
            <a:ext cx="577850" cy="214313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74" name="Line 82"/>
          <p:cNvSpPr>
            <a:spLocks noChangeShapeType="1"/>
          </p:cNvSpPr>
          <p:nvPr/>
        </p:nvSpPr>
        <p:spPr bwMode="auto">
          <a:xfrm>
            <a:off x="6084888" y="4581525"/>
            <a:ext cx="719137" cy="71438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75" name="Line 83"/>
          <p:cNvSpPr>
            <a:spLocks noChangeShapeType="1"/>
          </p:cNvSpPr>
          <p:nvPr/>
        </p:nvSpPr>
        <p:spPr bwMode="auto">
          <a:xfrm flipV="1">
            <a:off x="6804025" y="4581525"/>
            <a:ext cx="576263" cy="71438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76" name="Text Box 84"/>
          <p:cNvSpPr txBox="1">
            <a:spLocks noChangeArrowheads="1"/>
          </p:cNvSpPr>
          <p:nvPr/>
        </p:nvSpPr>
        <p:spPr bwMode="auto">
          <a:xfrm>
            <a:off x="7421563" y="4365625"/>
            <a:ext cx="557212" cy="336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600" b="1">
                <a:solidFill>
                  <a:schemeClr val="bg1"/>
                </a:solidFill>
              </a:rPr>
              <a:t>J.A.</a:t>
            </a:r>
          </a:p>
        </p:txBody>
      </p:sp>
      <p:sp>
        <p:nvSpPr>
          <p:cNvPr id="33877" name="Text Box 85"/>
          <p:cNvSpPr txBox="1">
            <a:spLocks noChangeArrowheads="1"/>
          </p:cNvSpPr>
          <p:nvPr/>
        </p:nvSpPr>
        <p:spPr bwMode="auto">
          <a:xfrm>
            <a:off x="468313" y="1125538"/>
            <a:ext cx="8340725" cy="469900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2400" b="1">
                <a:solidFill>
                  <a:schemeClr val="bg1"/>
                </a:solidFill>
                <a:latin typeface="Bookman Old Style" pitchFamily="18" charset="0"/>
              </a:rPr>
              <a:t>Temps de la réponse motrice à une tâche complexe</a:t>
            </a:r>
          </a:p>
        </p:txBody>
      </p:sp>
      <p:sp>
        <p:nvSpPr>
          <p:cNvPr id="33878" name="Text Box 86"/>
          <p:cNvSpPr txBox="1">
            <a:spLocks noChangeArrowheads="1"/>
          </p:cNvSpPr>
          <p:nvPr/>
        </p:nvSpPr>
        <p:spPr bwMode="auto">
          <a:xfrm>
            <a:off x="1979613" y="5919788"/>
            <a:ext cx="5921375" cy="8223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2400">
                <a:solidFill>
                  <a:schemeClr val="bg1"/>
                </a:solidFill>
                <a:latin typeface="Times New Roman" pitchFamily="18" charset="0"/>
              </a:rPr>
              <a:t>V.S. : Vieux sédentaires ;   V.A. : Vieux actifs</a:t>
            </a:r>
          </a:p>
          <a:p>
            <a:pPr eaLnBrk="0" hangingPunct="0"/>
            <a:r>
              <a:rPr lang="fr-FR" sz="2400">
                <a:solidFill>
                  <a:schemeClr val="bg1"/>
                </a:solidFill>
                <a:latin typeface="Times New Roman" pitchFamily="18" charset="0"/>
              </a:rPr>
              <a:t>J.S. : Jeunes sédentaires ;    J.A.  : Jeunes actifs</a:t>
            </a:r>
          </a:p>
        </p:txBody>
      </p:sp>
      <p:sp>
        <p:nvSpPr>
          <p:cNvPr id="33879" name="Text Box 87"/>
          <p:cNvSpPr txBox="1">
            <a:spLocks noChangeArrowheads="1"/>
          </p:cNvSpPr>
          <p:nvPr/>
        </p:nvSpPr>
        <p:spPr bwMode="auto">
          <a:xfrm rot="-5400000">
            <a:off x="-686594" y="3377407"/>
            <a:ext cx="2646363" cy="336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600">
                <a:solidFill>
                  <a:schemeClr val="bg1"/>
                </a:solidFill>
              </a:rPr>
              <a:t>Temps de la réponse (mils)</a:t>
            </a:r>
          </a:p>
        </p:txBody>
      </p:sp>
      <p:sp>
        <p:nvSpPr>
          <p:cNvPr id="33880" name="Text Box 88"/>
          <p:cNvSpPr txBox="1">
            <a:spLocks noChangeArrowheads="1"/>
          </p:cNvSpPr>
          <p:nvPr/>
        </p:nvSpPr>
        <p:spPr bwMode="auto">
          <a:xfrm>
            <a:off x="3327400" y="5367338"/>
            <a:ext cx="1885950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>
                <a:solidFill>
                  <a:schemeClr val="bg1"/>
                </a:solidFill>
              </a:rPr>
              <a:t>Nombre d’essais</a:t>
            </a:r>
          </a:p>
        </p:txBody>
      </p:sp>
      <p:sp>
        <p:nvSpPr>
          <p:cNvPr id="33881" name="Text Box 89"/>
          <p:cNvSpPr txBox="1">
            <a:spLocks noChangeArrowheads="1"/>
          </p:cNvSpPr>
          <p:nvPr/>
        </p:nvSpPr>
        <p:spPr bwMode="auto">
          <a:xfrm>
            <a:off x="2339975" y="260350"/>
            <a:ext cx="4264025" cy="336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600" i="1">
                <a:solidFill>
                  <a:schemeClr val="bg1"/>
                </a:solidFill>
              </a:rPr>
              <a:t>D’après Spirduso : J. Gerontol, 30: 435, 1975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611188" y="476250"/>
            <a:ext cx="7812087" cy="17351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just" eaLnBrk="0" hangingPunct="0">
              <a:lnSpc>
                <a:spcPct val="150000"/>
              </a:lnSpc>
            </a:pPr>
            <a:r>
              <a:rPr lang="fr-FR" sz="2400" b="1">
                <a:solidFill>
                  <a:schemeClr val="bg1"/>
                </a:solidFill>
                <a:latin typeface="Bookman Old Style" pitchFamily="18" charset="0"/>
              </a:rPr>
              <a:t>Dans tous les cas, les individus physiquement </a:t>
            </a:r>
          </a:p>
          <a:p>
            <a:pPr algn="just" eaLnBrk="0" hangingPunct="0">
              <a:lnSpc>
                <a:spcPct val="150000"/>
              </a:lnSpc>
            </a:pPr>
            <a:r>
              <a:rPr lang="fr-FR" sz="2400" b="1">
                <a:solidFill>
                  <a:schemeClr val="bg1"/>
                </a:solidFill>
                <a:latin typeface="Bookman Old Style" pitchFamily="18" charset="0"/>
              </a:rPr>
              <a:t>actifs, jeunes ou vieux, réagissent plus vite que </a:t>
            </a:r>
          </a:p>
          <a:p>
            <a:pPr algn="just" eaLnBrk="0" hangingPunct="0">
              <a:lnSpc>
                <a:spcPct val="150000"/>
              </a:lnSpc>
            </a:pPr>
            <a:r>
              <a:rPr lang="fr-FR" sz="2400" b="1">
                <a:solidFill>
                  <a:schemeClr val="bg1"/>
                </a:solidFill>
                <a:latin typeface="Bookman Old Style" pitchFamily="18" charset="0"/>
              </a:rPr>
              <a:t>leurs congénères sédentaires.</a:t>
            </a: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735013" y="2636838"/>
            <a:ext cx="7478712" cy="39258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fr-FR" sz="2400" b="1">
                <a:solidFill>
                  <a:schemeClr val="bg1"/>
                </a:solidFill>
                <a:latin typeface="Times New Roman" pitchFamily="18" charset="0"/>
              </a:rPr>
              <a:t>Conclusions :</a:t>
            </a:r>
          </a:p>
          <a:p>
            <a:pPr eaLnBrk="0" hangingPunct="0">
              <a:lnSpc>
                <a:spcPct val="150000"/>
              </a:lnSpc>
            </a:pPr>
            <a:r>
              <a:rPr lang="fr-FR" sz="2400">
                <a:solidFill>
                  <a:schemeClr val="bg1"/>
                </a:solidFill>
                <a:latin typeface="Times New Roman" pitchFamily="18" charset="0"/>
              </a:rPr>
              <a:t>1) Un mode de vie actif peut modifier significativement et</a:t>
            </a:r>
          </a:p>
          <a:p>
            <a:pPr eaLnBrk="0" hangingPunct="0">
              <a:lnSpc>
                <a:spcPct val="150000"/>
              </a:lnSpc>
            </a:pPr>
            <a:r>
              <a:rPr lang="fr-FR" sz="2400">
                <a:solidFill>
                  <a:schemeClr val="bg1"/>
                </a:solidFill>
                <a:latin typeface="Times New Roman" pitchFamily="18" charset="0"/>
              </a:rPr>
              <a:t>positivement la fonction neuro-motrice </a:t>
            </a:r>
            <a:r>
              <a:rPr lang="fr-FR" sz="2400" b="1">
                <a:solidFill>
                  <a:srgbClr val="FFFF00"/>
                </a:solidFill>
                <a:latin typeface="Times New Roman" pitchFamily="18" charset="0"/>
              </a:rPr>
              <a:t>A TOUS ÂGES</a:t>
            </a:r>
            <a:r>
              <a:rPr lang="fr-FR" sz="2400">
                <a:solidFill>
                  <a:schemeClr val="bg1"/>
                </a:solidFill>
                <a:latin typeface="Times New Roman" pitchFamily="18" charset="0"/>
              </a:rPr>
              <a:t>.</a:t>
            </a:r>
          </a:p>
          <a:p>
            <a:pPr eaLnBrk="0" hangingPunct="0">
              <a:lnSpc>
                <a:spcPct val="150000"/>
              </a:lnSpc>
            </a:pPr>
            <a:endParaRPr lang="fr-FR" sz="2400">
              <a:solidFill>
                <a:schemeClr val="bg1"/>
              </a:solidFill>
              <a:latin typeface="Times New Roman" pitchFamily="18" charset="0"/>
            </a:endParaRPr>
          </a:p>
          <a:p>
            <a:pPr eaLnBrk="0" hangingPunct="0">
              <a:lnSpc>
                <a:spcPct val="150000"/>
              </a:lnSpc>
            </a:pPr>
            <a:r>
              <a:rPr lang="fr-FR" sz="2400">
                <a:solidFill>
                  <a:schemeClr val="bg1"/>
                </a:solidFill>
                <a:latin typeface="Times New Roman" pitchFamily="18" charset="0"/>
              </a:rPr>
              <a:t>2) Le vieillissement biologique de certaines fonctions neuro</a:t>
            </a:r>
          </a:p>
          <a:p>
            <a:pPr eaLnBrk="0" hangingPunct="0">
              <a:lnSpc>
                <a:spcPct val="150000"/>
              </a:lnSpc>
            </a:pPr>
            <a:r>
              <a:rPr lang="fr-FR" sz="2400">
                <a:solidFill>
                  <a:schemeClr val="bg1"/>
                </a:solidFill>
                <a:latin typeface="Times New Roman" pitchFamily="18" charset="0"/>
              </a:rPr>
              <a:t>musculaires est probablement retardé par une participation</a:t>
            </a:r>
          </a:p>
          <a:p>
            <a:pPr eaLnBrk="0" hangingPunct="0">
              <a:lnSpc>
                <a:spcPct val="150000"/>
              </a:lnSpc>
            </a:pPr>
            <a:r>
              <a:rPr lang="fr-FR" sz="2400">
                <a:solidFill>
                  <a:schemeClr val="bg1"/>
                </a:solidFill>
                <a:latin typeface="Times New Roman" pitchFamily="18" charset="0"/>
              </a:rPr>
              <a:t>régulière à des exercices physiques.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4"/>
          <p:cNvSpPr txBox="1">
            <a:spLocks noChangeArrowheads="1"/>
          </p:cNvSpPr>
          <p:nvPr/>
        </p:nvSpPr>
        <p:spPr bwMode="auto">
          <a:xfrm>
            <a:off x="214313" y="357188"/>
            <a:ext cx="8848725" cy="461962"/>
          </a:xfrm>
          <a:prstGeom prst="rect">
            <a:avLst/>
          </a:prstGeom>
          <a:noFill/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sz="2400">
                <a:solidFill>
                  <a:srgbClr val="FFFF00"/>
                </a:solidFill>
              </a:rPr>
              <a:t>Effets des AP sur les fonctions cérébrales et le système nerveux</a:t>
            </a:r>
          </a:p>
        </p:txBody>
      </p:sp>
      <p:sp>
        <p:nvSpPr>
          <p:cNvPr id="37891" name="Text Box 5"/>
          <p:cNvSpPr txBox="1">
            <a:spLocks noChangeArrowheads="1"/>
          </p:cNvSpPr>
          <p:nvPr/>
        </p:nvSpPr>
        <p:spPr bwMode="auto">
          <a:xfrm>
            <a:off x="395288" y="4357688"/>
            <a:ext cx="8189912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>
                <a:solidFill>
                  <a:schemeClr val="bg1"/>
                </a:solidFill>
                <a:sym typeface="Symbol" pitchFamily="18" charset="2"/>
              </a:rPr>
              <a:t>             - </a:t>
            </a:r>
            <a:r>
              <a:rPr lang="fr-FR" b="1">
                <a:solidFill>
                  <a:srgbClr val="FFFF00"/>
                </a:solidFill>
                <a:sym typeface="Symbol" pitchFamily="18" charset="2"/>
              </a:rPr>
              <a:t> du BDNF +  NGF </a:t>
            </a:r>
            <a:r>
              <a:rPr lang="fr-FR">
                <a:solidFill>
                  <a:schemeClr val="bg1"/>
                </a:solidFill>
                <a:sym typeface="Symbol" pitchFamily="18" charset="2"/>
              </a:rPr>
              <a:t>  plasticité synaptique ( synaptogénèse) + </a:t>
            </a:r>
          </a:p>
          <a:p>
            <a:r>
              <a:rPr lang="fr-FR">
                <a:solidFill>
                  <a:schemeClr val="bg1"/>
                </a:solidFill>
                <a:sym typeface="Symbol" pitchFamily="18" charset="2"/>
              </a:rPr>
              <a:t>                neurogénèse</a:t>
            </a:r>
          </a:p>
        </p:txBody>
      </p:sp>
      <p:sp>
        <p:nvSpPr>
          <p:cNvPr id="37892" name="Text Box 6"/>
          <p:cNvSpPr txBox="1">
            <a:spLocks noChangeArrowheads="1"/>
          </p:cNvSpPr>
          <p:nvPr/>
        </p:nvSpPr>
        <p:spPr bwMode="auto">
          <a:xfrm>
            <a:off x="1595438" y="1912938"/>
            <a:ext cx="1762125" cy="3698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>
                <a:solidFill>
                  <a:schemeClr val="bg1"/>
                </a:solidFill>
              </a:rPr>
              <a:t>Neurotrophines</a:t>
            </a:r>
          </a:p>
        </p:txBody>
      </p:sp>
      <p:sp>
        <p:nvSpPr>
          <p:cNvPr id="37893" name="Line 7"/>
          <p:cNvSpPr>
            <a:spLocks noChangeShapeType="1"/>
          </p:cNvSpPr>
          <p:nvPr/>
        </p:nvSpPr>
        <p:spPr bwMode="auto">
          <a:xfrm flipV="1">
            <a:off x="3367088" y="1339850"/>
            <a:ext cx="576262" cy="576263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37894" name="Text Box 8"/>
          <p:cNvSpPr txBox="1">
            <a:spLocks noChangeArrowheads="1"/>
          </p:cNvSpPr>
          <p:nvPr/>
        </p:nvSpPr>
        <p:spPr bwMode="auto">
          <a:xfrm>
            <a:off x="3995738" y="1143000"/>
            <a:ext cx="3546475" cy="376238"/>
          </a:xfrm>
          <a:prstGeom prst="rect">
            <a:avLst/>
          </a:prstGeom>
          <a:noFill/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>
                <a:solidFill>
                  <a:srgbClr val="FFFF00"/>
                </a:solidFill>
              </a:rPr>
              <a:t>BDNF </a:t>
            </a:r>
            <a:r>
              <a:rPr lang="fr-FR" sz="1400" i="1">
                <a:solidFill>
                  <a:srgbClr val="FFFF00"/>
                </a:solidFill>
              </a:rPr>
              <a:t>(brain derived neurotrophic factor)</a:t>
            </a:r>
          </a:p>
        </p:txBody>
      </p:sp>
      <p:sp>
        <p:nvSpPr>
          <p:cNvPr id="37895" name="Text Box 9"/>
          <p:cNvSpPr txBox="1">
            <a:spLocks noChangeArrowheads="1"/>
          </p:cNvSpPr>
          <p:nvPr/>
        </p:nvSpPr>
        <p:spPr bwMode="auto">
          <a:xfrm>
            <a:off x="4016375" y="1627188"/>
            <a:ext cx="2373313" cy="37623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>
                <a:solidFill>
                  <a:schemeClr val="bg1"/>
                </a:solidFill>
              </a:rPr>
              <a:t>NGF</a:t>
            </a:r>
            <a:r>
              <a:rPr lang="fr-FR"/>
              <a:t> </a:t>
            </a:r>
            <a:r>
              <a:rPr lang="fr-FR" sz="1400" i="1">
                <a:solidFill>
                  <a:schemeClr val="bg1"/>
                </a:solidFill>
              </a:rPr>
              <a:t>(nerve growth factor)</a:t>
            </a:r>
          </a:p>
        </p:txBody>
      </p:sp>
      <p:sp>
        <p:nvSpPr>
          <p:cNvPr id="37896" name="Line 10"/>
          <p:cNvSpPr>
            <a:spLocks noChangeShapeType="1"/>
          </p:cNvSpPr>
          <p:nvPr/>
        </p:nvSpPr>
        <p:spPr bwMode="auto">
          <a:xfrm flipV="1">
            <a:off x="3367088" y="1843088"/>
            <a:ext cx="576262" cy="2159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37897" name="Text Box 11"/>
          <p:cNvSpPr txBox="1">
            <a:spLocks noChangeArrowheads="1"/>
          </p:cNvSpPr>
          <p:nvPr/>
        </p:nvSpPr>
        <p:spPr bwMode="auto">
          <a:xfrm>
            <a:off x="3995738" y="2132013"/>
            <a:ext cx="2122487" cy="37623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>
                <a:solidFill>
                  <a:schemeClr val="bg1"/>
                </a:solidFill>
              </a:rPr>
              <a:t>NT-3 </a:t>
            </a:r>
            <a:r>
              <a:rPr lang="fr-FR" sz="1400" i="1">
                <a:solidFill>
                  <a:schemeClr val="bg1"/>
                </a:solidFill>
              </a:rPr>
              <a:t>(neurotrophine 3)</a:t>
            </a:r>
          </a:p>
        </p:txBody>
      </p:sp>
      <p:sp>
        <p:nvSpPr>
          <p:cNvPr id="37898" name="Text Box 12"/>
          <p:cNvSpPr txBox="1">
            <a:spLocks noChangeArrowheads="1"/>
          </p:cNvSpPr>
          <p:nvPr/>
        </p:nvSpPr>
        <p:spPr bwMode="auto">
          <a:xfrm>
            <a:off x="4016375" y="2619375"/>
            <a:ext cx="2460625" cy="37623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>
                <a:solidFill>
                  <a:schemeClr val="bg1"/>
                </a:solidFill>
              </a:rPr>
              <a:t>NT-4/5 </a:t>
            </a:r>
            <a:r>
              <a:rPr lang="fr-FR" sz="1400" i="1">
                <a:solidFill>
                  <a:schemeClr val="bg1"/>
                </a:solidFill>
              </a:rPr>
              <a:t>(neurotrophine 4/5)</a:t>
            </a:r>
          </a:p>
        </p:txBody>
      </p:sp>
      <p:sp>
        <p:nvSpPr>
          <p:cNvPr id="37899" name="Line 13"/>
          <p:cNvSpPr>
            <a:spLocks noChangeShapeType="1"/>
          </p:cNvSpPr>
          <p:nvPr/>
        </p:nvSpPr>
        <p:spPr bwMode="auto">
          <a:xfrm>
            <a:off x="3367088" y="2203450"/>
            <a:ext cx="576262" cy="144463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37900" name="Line 14"/>
          <p:cNvSpPr>
            <a:spLocks noChangeShapeType="1"/>
          </p:cNvSpPr>
          <p:nvPr/>
        </p:nvSpPr>
        <p:spPr bwMode="auto">
          <a:xfrm>
            <a:off x="3367088" y="2274888"/>
            <a:ext cx="576262" cy="504825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158875" y="5005388"/>
            <a:ext cx="8099425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>
                <a:solidFill>
                  <a:srgbClr val="FFFF00"/>
                </a:solidFill>
                <a:sym typeface="Symbol" pitchFamily="18" charset="2"/>
              </a:rPr>
              <a:t> -  </a:t>
            </a:r>
            <a:r>
              <a:rPr lang="fr-FR" b="1">
                <a:solidFill>
                  <a:srgbClr val="FFFF00"/>
                </a:solidFill>
                <a:sym typeface="Symbol" pitchFamily="18" charset="2"/>
              </a:rPr>
              <a:t>IGF-1 </a:t>
            </a:r>
            <a:r>
              <a:rPr lang="fr-FR">
                <a:solidFill>
                  <a:schemeClr val="bg1"/>
                </a:solidFill>
                <a:sym typeface="Symbol" pitchFamily="18" charset="2"/>
              </a:rPr>
              <a:t> Effets médiateurs :  l’entrée du calcium, du glucose au cours de</a:t>
            </a:r>
          </a:p>
          <a:p>
            <a:r>
              <a:rPr lang="fr-FR">
                <a:solidFill>
                  <a:schemeClr val="bg1"/>
                </a:solidFill>
                <a:sym typeface="Symbol" pitchFamily="18" charset="2"/>
              </a:rPr>
              <a:t>    l’exercice musculaire , angiogénèse  ++ O2;</a:t>
            </a:r>
          </a:p>
          <a:p>
            <a:r>
              <a:rPr lang="fr-FR">
                <a:solidFill>
                  <a:schemeClr val="bg1"/>
                </a:solidFill>
                <a:sym typeface="Symbol" pitchFamily="18" charset="2"/>
              </a:rPr>
              <a:t> -  Abaisse le seuil d’induction de </a:t>
            </a:r>
            <a:r>
              <a:rPr lang="fr-FR">
                <a:solidFill>
                  <a:srgbClr val="FFFF00"/>
                </a:solidFill>
                <a:sym typeface="Symbol" pitchFamily="18" charset="2"/>
              </a:rPr>
              <a:t>la LPT</a:t>
            </a:r>
          </a:p>
        </p:txBody>
      </p:sp>
      <p:sp>
        <p:nvSpPr>
          <p:cNvPr id="15" name="ZoneTexte 14"/>
          <p:cNvSpPr txBox="1">
            <a:spLocks noChangeArrowheads="1"/>
          </p:cNvSpPr>
          <p:nvPr/>
        </p:nvSpPr>
        <p:spPr bwMode="auto">
          <a:xfrm>
            <a:off x="214313" y="4786313"/>
            <a:ext cx="995362" cy="461962"/>
          </a:xfrm>
          <a:prstGeom prst="rect">
            <a:avLst/>
          </a:prstGeom>
          <a:noFill/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sz="2400" b="1">
                <a:solidFill>
                  <a:srgbClr val="FFFF00"/>
                </a:solidFill>
              </a:rPr>
              <a:t>AP </a:t>
            </a:r>
            <a:r>
              <a:rPr lang="fr-FR" sz="2400">
                <a:solidFill>
                  <a:schemeClr val="bg1"/>
                </a:solidFill>
                <a:sym typeface="Symbol" pitchFamily="18" charset="2"/>
              </a:rPr>
              <a:t></a:t>
            </a:r>
            <a:endParaRPr lang="fr-FR" sz="2400" b="1">
              <a:solidFill>
                <a:srgbClr val="FFFF00"/>
              </a:solidFill>
            </a:endParaRPr>
          </a:p>
        </p:txBody>
      </p:sp>
      <p:sp>
        <p:nvSpPr>
          <p:cNvPr id="35855" name="ZoneTexte 15"/>
          <p:cNvSpPr txBox="1">
            <a:spLocks noChangeArrowheads="1"/>
          </p:cNvSpPr>
          <p:nvPr/>
        </p:nvSpPr>
        <p:spPr bwMode="auto">
          <a:xfrm>
            <a:off x="142875" y="5905500"/>
            <a:ext cx="8469313" cy="73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sz="1400" i="1">
                <a:solidFill>
                  <a:schemeClr val="bg1"/>
                </a:solidFill>
              </a:rPr>
              <a:t>Références :</a:t>
            </a:r>
          </a:p>
          <a:p>
            <a:r>
              <a:rPr lang="fr-FR" sz="1400" i="1">
                <a:solidFill>
                  <a:schemeClr val="bg1"/>
                </a:solidFill>
              </a:rPr>
              <a:t>Marty, 2003; Vaynman, 2004, 2006; Van Praag et al. 1999; Carro et al., 2000; 2001; Farmer et al., 2004; </a:t>
            </a:r>
          </a:p>
          <a:p>
            <a:r>
              <a:rPr lang="fr-FR" sz="1400" i="1">
                <a:solidFill>
                  <a:schemeClr val="bg1"/>
                </a:solidFill>
              </a:rPr>
              <a:t>Gomez-Pinilla et al., 2001; Ploughman et al. 2007.</a:t>
            </a: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1643063" y="3143250"/>
            <a:ext cx="2935287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>
                <a:solidFill>
                  <a:schemeClr val="bg1"/>
                </a:solidFill>
                <a:sym typeface="Symbol" pitchFamily="18" charset="2"/>
              </a:rPr>
              <a:t>IGF-1 : </a:t>
            </a:r>
            <a:r>
              <a:rPr lang="fr-FR" sz="1400" i="1">
                <a:solidFill>
                  <a:schemeClr val="bg1"/>
                </a:solidFill>
                <a:sym typeface="Symbol" pitchFamily="18" charset="2"/>
              </a:rPr>
              <a:t>(Insuline growth factor 1)</a:t>
            </a:r>
            <a:endParaRPr lang="fr-FR" sz="1400" i="1">
              <a:solidFill>
                <a:schemeClr val="bg1"/>
              </a:solidFill>
            </a:endParaRPr>
          </a:p>
        </p:txBody>
      </p:sp>
      <p:sp>
        <p:nvSpPr>
          <p:cNvPr id="18" name="ZoneTexte 17"/>
          <p:cNvSpPr txBox="1">
            <a:spLocks noChangeArrowheads="1"/>
          </p:cNvSpPr>
          <p:nvPr/>
        </p:nvSpPr>
        <p:spPr bwMode="auto">
          <a:xfrm>
            <a:off x="1643063" y="3714750"/>
            <a:ext cx="2635250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>
                <a:solidFill>
                  <a:schemeClr val="bg1"/>
                </a:solidFill>
              </a:rPr>
              <a:t>LPT : </a:t>
            </a:r>
            <a:r>
              <a:rPr lang="fr-FR" sz="1400" i="1">
                <a:solidFill>
                  <a:schemeClr val="bg1"/>
                </a:solidFill>
              </a:rPr>
              <a:t>(long term potentiation)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7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78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78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7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78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78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7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78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78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7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78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78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7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78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78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7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78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78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7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79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79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7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10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/>
      <p:bldP spid="37892" grpId="0" animBg="1"/>
      <p:bldP spid="37893" grpId="0" animBg="1"/>
      <p:bldP spid="37894" grpId="0" animBg="1"/>
      <p:bldP spid="37895" grpId="0" animBg="1"/>
      <p:bldP spid="37896" grpId="0" animBg="1"/>
      <p:bldP spid="37897" grpId="0" animBg="1"/>
      <p:bldP spid="37898" grpId="0" animBg="1"/>
      <p:bldP spid="37899" grpId="0" animBg="1"/>
      <p:bldP spid="37900" grpId="0" animBg="1"/>
      <p:bldP spid="14" grpId="0"/>
      <p:bldP spid="15" grpId="0" animBg="1"/>
      <p:bldP spid="17" grpId="0" animBg="1"/>
      <p:bldP spid="1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4"/>
          <p:cNvSpPr txBox="1">
            <a:spLocks noChangeArrowheads="1"/>
          </p:cNvSpPr>
          <p:nvPr/>
        </p:nvSpPr>
        <p:spPr bwMode="auto">
          <a:xfrm>
            <a:off x="5867400" y="2949575"/>
            <a:ext cx="2725738" cy="476250"/>
          </a:xfrm>
          <a:prstGeom prst="rect">
            <a:avLst/>
          </a:prstGeom>
          <a:noFill/>
          <a:ln w="19050">
            <a:solidFill>
              <a:srgbClr val="FFFF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2400" b="1">
                <a:solidFill>
                  <a:srgbClr val="FFFF00"/>
                </a:solidFill>
              </a:rPr>
              <a:t>Activité physique</a:t>
            </a:r>
          </a:p>
        </p:txBody>
      </p:sp>
      <p:sp>
        <p:nvSpPr>
          <p:cNvPr id="36867" name="Arc 7"/>
          <p:cNvSpPr>
            <a:spLocks/>
          </p:cNvSpPr>
          <p:nvPr/>
        </p:nvSpPr>
        <p:spPr bwMode="auto">
          <a:xfrm>
            <a:off x="1935163" y="2844800"/>
            <a:ext cx="1139825" cy="541338"/>
          </a:xfrm>
          <a:custGeom>
            <a:avLst/>
            <a:gdLst>
              <a:gd name="T0" fmla="*/ 2147483647 w 43200"/>
              <a:gd name="T1" fmla="*/ 2147483647 h 43195"/>
              <a:gd name="T2" fmla="*/ 2147483647 w 43200"/>
              <a:gd name="T3" fmla="*/ 2147483647 h 43195"/>
              <a:gd name="T4" fmla="*/ 2147483647 w 43200"/>
              <a:gd name="T5" fmla="*/ 2147483647 h 43195"/>
              <a:gd name="T6" fmla="*/ 0 60000 65536"/>
              <a:gd name="T7" fmla="*/ 0 60000 65536"/>
              <a:gd name="T8" fmla="*/ 0 60000 65536"/>
              <a:gd name="T9" fmla="*/ 0 w 43200"/>
              <a:gd name="T10" fmla="*/ 0 h 43195"/>
              <a:gd name="T11" fmla="*/ 43200 w 43200"/>
              <a:gd name="T12" fmla="*/ 43195 h 4319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43195" fill="none" extrusionOk="0">
                <a:moveTo>
                  <a:pt x="15380" y="42285"/>
                </a:moveTo>
                <a:cubicBezTo>
                  <a:pt x="6250" y="39540"/>
                  <a:pt x="0" y="31133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343"/>
                  <a:pt x="33817" y="42935"/>
                  <a:pt x="22075" y="43194"/>
                </a:cubicBezTo>
              </a:path>
              <a:path w="43200" h="43195" stroke="0" extrusionOk="0">
                <a:moveTo>
                  <a:pt x="15380" y="42285"/>
                </a:moveTo>
                <a:cubicBezTo>
                  <a:pt x="6250" y="39540"/>
                  <a:pt x="0" y="31133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343"/>
                  <a:pt x="33817" y="42935"/>
                  <a:pt x="22075" y="43194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808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6868" name="Freeform 8"/>
          <p:cNvSpPr>
            <a:spLocks/>
          </p:cNvSpPr>
          <p:nvPr/>
        </p:nvSpPr>
        <p:spPr bwMode="auto">
          <a:xfrm>
            <a:off x="2381250" y="3225800"/>
            <a:ext cx="153988" cy="203200"/>
          </a:xfrm>
          <a:custGeom>
            <a:avLst/>
            <a:gdLst>
              <a:gd name="T0" fmla="*/ 2147483647 w 96"/>
              <a:gd name="T1" fmla="*/ 2147483647 h 144"/>
              <a:gd name="T2" fmla="*/ 2147483647 w 96"/>
              <a:gd name="T3" fmla="*/ 0 h 144"/>
              <a:gd name="T4" fmla="*/ 0 w 96"/>
              <a:gd name="T5" fmla="*/ 2147483647 h 144"/>
              <a:gd name="T6" fmla="*/ 0 60000 65536"/>
              <a:gd name="T7" fmla="*/ 0 60000 65536"/>
              <a:gd name="T8" fmla="*/ 0 60000 65536"/>
              <a:gd name="T9" fmla="*/ 0 w 96"/>
              <a:gd name="T10" fmla="*/ 0 h 144"/>
              <a:gd name="T11" fmla="*/ 96 w 96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" h="144">
                <a:moveTo>
                  <a:pt x="96" y="144"/>
                </a:moveTo>
                <a:cubicBezTo>
                  <a:pt x="80" y="72"/>
                  <a:pt x="64" y="0"/>
                  <a:pt x="48" y="0"/>
                </a:cubicBezTo>
                <a:cubicBezTo>
                  <a:pt x="32" y="0"/>
                  <a:pt x="8" y="120"/>
                  <a:pt x="0" y="144"/>
                </a:cubicBezTo>
              </a:path>
            </a:pathLst>
          </a:custGeom>
          <a:noFill/>
          <a:ln w="9525">
            <a:solidFill>
              <a:srgbClr val="FFFF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36869" name="Freeform 9"/>
          <p:cNvSpPr>
            <a:spLocks/>
          </p:cNvSpPr>
          <p:nvPr/>
        </p:nvSpPr>
        <p:spPr bwMode="auto">
          <a:xfrm>
            <a:off x="2076450" y="2921000"/>
            <a:ext cx="766763" cy="361950"/>
          </a:xfrm>
          <a:custGeom>
            <a:avLst/>
            <a:gdLst>
              <a:gd name="T0" fmla="*/ 2147483647 w 624"/>
              <a:gd name="T1" fmla="*/ 2147483647 h 416"/>
              <a:gd name="T2" fmla="*/ 2147483647 w 624"/>
              <a:gd name="T3" fmla="*/ 2147483647 h 416"/>
              <a:gd name="T4" fmla="*/ 2147483647 w 624"/>
              <a:gd name="T5" fmla="*/ 2147483647 h 416"/>
              <a:gd name="T6" fmla="*/ 2147483647 w 624"/>
              <a:gd name="T7" fmla="*/ 2147483647 h 416"/>
              <a:gd name="T8" fmla="*/ 2147483647 w 624"/>
              <a:gd name="T9" fmla="*/ 2147483647 h 416"/>
              <a:gd name="T10" fmla="*/ 2147483647 w 624"/>
              <a:gd name="T11" fmla="*/ 2147483647 h 416"/>
              <a:gd name="T12" fmla="*/ 2147483647 w 624"/>
              <a:gd name="T13" fmla="*/ 2147483647 h 416"/>
              <a:gd name="T14" fmla="*/ 2147483647 w 624"/>
              <a:gd name="T15" fmla="*/ 2147483647 h 416"/>
              <a:gd name="T16" fmla="*/ 2147483647 w 624"/>
              <a:gd name="T17" fmla="*/ 2147483647 h 416"/>
              <a:gd name="T18" fmla="*/ 2147483647 w 624"/>
              <a:gd name="T19" fmla="*/ 2147483647 h 416"/>
              <a:gd name="T20" fmla="*/ 2147483647 w 624"/>
              <a:gd name="T21" fmla="*/ 2147483647 h 416"/>
              <a:gd name="T22" fmla="*/ 2147483647 w 624"/>
              <a:gd name="T23" fmla="*/ 2147483647 h 416"/>
              <a:gd name="T24" fmla="*/ 2147483647 w 624"/>
              <a:gd name="T25" fmla="*/ 2147483647 h 416"/>
              <a:gd name="T26" fmla="*/ 2147483647 w 624"/>
              <a:gd name="T27" fmla="*/ 2147483647 h 416"/>
              <a:gd name="T28" fmla="*/ 2147483647 w 624"/>
              <a:gd name="T29" fmla="*/ 2147483647 h 416"/>
              <a:gd name="T30" fmla="*/ 2147483647 w 624"/>
              <a:gd name="T31" fmla="*/ 2147483647 h 416"/>
              <a:gd name="T32" fmla="*/ 2147483647 w 624"/>
              <a:gd name="T33" fmla="*/ 2147483647 h 416"/>
              <a:gd name="T34" fmla="*/ 2147483647 w 624"/>
              <a:gd name="T35" fmla="*/ 2147483647 h 41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624"/>
              <a:gd name="T55" fmla="*/ 0 h 416"/>
              <a:gd name="T56" fmla="*/ 624 w 624"/>
              <a:gd name="T57" fmla="*/ 416 h 41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624" h="416">
                <a:moveTo>
                  <a:pt x="24" y="64"/>
                </a:moveTo>
                <a:cubicBezTo>
                  <a:pt x="24" y="80"/>
                  <a:pt x="104" y="128"/>
                  <a:pt x="120" y="160"/>
                </a:cubicBezTo>
                <a:cubicBezTo>
                  <a:pt x="136" y="192"/>
                  <a:pt x="136" y="232"/>
                  <a:pt x="120" y="256"/>
                </a:cubicBezTo>
                <a:cubicBezTo>
                  <a:pt x="104" y="280"/>
                  <a:pt x="40" y="280"/>
                  <a:pt x="24" y="304"/>
                </a:cubicBezTo>
                <a:cubicBezTo>
                  <a:pt x="8" y="328"/>
                  <a:pt x="0" y="384"/>
                  <a:pt x="24" y="400"/>
                </a:cubicBezTo>
                <a:cubicBezTo>
                  <a:pt x="48" y="416"/>
                  <a:pt x="136" y="416"/>
                  <a:pt x="168" y="400"/>
                </a:cubicBezTo>
                <a:cubicBezTo>
                  <a:pt x="200" y="384"/>
                  <a:pt x="192" y="328"/>
                  <a:pt x="216" y="304"/>
                </a:cubicBezTo>
                <a:cubicBezTo>
                  <a:pt x="240" y="280"/>
                  <a:pt x="280" y="248"/>
                  <a:pt x="312" y="256"/>
                </a:cubicBezTo>
                <a:cubicBezTo>
                  <a:pt x="344" y="264"/>
                  <a:pt x="384" y="328"/>
                  <a:pt x="408" y="352"/>
                </a:cubicBezTo>
                <a:cubicBezTo>
                  <a:pt x="432" y="376"/>
                  <a:pt x="432" y="392"/>
                  <a:pt x="456" y="400"/>
                </a:cubicBezTo>
                <a:cubicBezTo>
                  <a:pt x="480" y="408"/>
                  <a:pt x="528" y="416"/>
                  <a:pt x="552" y="400"/>
                </a:cubicBezTo>
                <a:cubicBezTo>
                  <a:pt x="576" y="384"/>
                  <a:pt x="624" y="336"/>
                  <a:pt x="600" y="304"/>
                </a:cubicBezTo>
                <a:cubicBezTo>
                  <a:pt x="576" y="272"/>
                  <a:pt x="416" y="256"/>
                  <a:pt x="408" y="208"/>
                </a:cubicBezTo>
                <a:cubicBezTo>
                  <a:pt x="400" y="160"/>
                  <a:pt x="560" y="32"/>
                  <a:pt x="552" y="16"/>
                </a:cubicBezTo>
                <a:cubicBezTo>
                  <a:pt x="544" y="0"/>
                  <a:pt x="408" y="88"/>
                  <a:pt x="360" y="112"/>
                </a:cubicBezTo>
                <a:cubicBezTo>
                  <a:pt x="312" y="136"/>
                  <a:pt x="304" y="168"/>
                  <a:pt x="264" y="160"/>
                </a:cubicBezTo>
                <a:cubicBezTo>
                  <a:pt x="224" y="152"/>
                  <a:pt x="160" y="88"/>
                  <a:pt x="120" y="64"/>
                </a:cubicBezTo>
                <a:cubicBezTo>
                  <a:pt x="80" y="40"/>
                  <a:pt x="24" y="48"/>
                  <a:pt x="24" y="64"/>
                </a:cubicBezTo>
                <a:close/>
              </a:path>
            </a:pathLst>
          </a:custGeom>
          <a:solidFill>
            <a:srgbClr val="0000FF"/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36870" name="Arc 10"/>
          <p:cNvSpPr>
            <a:spLocks/>
          </p:cNvSpPr>
          <p:nvPr/>
        </p:nvSpPr>
        <p:spPr bwMode="auto">
          <a:xfrm>
            <a:off x="1935163" y="2844800"/>
            <a:ext cx="1143000" cy="609600"/>
          </a:xfrm>
          <a:custGeom>
            <a:avLst/>
            <a:gdLst>
              <a:gd name="T0" fmla="*/ 2147483647 w 43200"/>
              <a:gd name="T1" fmla="*/ 2147483647 h 43181"/>
              <a:gd name="T2" fmla="*/ 2147483647 w 43200"/>
              <a:gd name="T3" fmla="*/ 2147483647 h 43181"/>
              <a:gd name="T4" fmla="*/ 2147483647 w 43200"/>
              <a:gd name="T5" fmla="*/ 2147483647 h 43181"/>
              <a:gd name="T6" fmla="*/ 0 60000 65536"/>
              <a:gd name="T7" fmla="*/ 0 60000 65536"/>
              <a:gd name="T8" fmla="*/ 0 60000 65536"/>
              <a:gd name="T9" fmla="*/ 0 w 43200"/>
              <a:gd name="T10" fmla="*/ 0 h 43181"/>
              <a:gd name="T11" fmla="*/ 43200 w 43200"/>
              <a:gd name="T12" fmla="*/ 43181 h 4318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43181" fill="none" extrusionOk="0">
                <a:moveTo>
                  <a:pt x="15380" y="42285"/>
                </a:moveTo>
                <a:cubicBezTo>
                  <a:pt x="6250" y="39540"/>
                  <a:pt x="0" y="31133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176"/>
                  <a:pt x="34073" y="42694"/>
                  <a:pt x="22506" y="43180"/>
                </a:cubicBezTo>
              </a:path>
              <a:path w="43200" h="43181" stroke="0" extrusionOk="0">
                <a:moveTo>
                  <a:pt x="15380" y="42285"/>
                </a:moveTo>
                <a:cubicBezTo>
                  <a:pt x="6250" y="39540"/>
                  <a:pt x="0" y="31133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176"/>
                  <a:pt x="34073" y="42694"/>
                  <a:pt x="22506" y="43180"/>
                </a:cubicBezTo>
                <a:lnTo>
                  <a:pt x="21600" y="2160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6871" name="Line 11"/>
          <p:cNvSpPr>
            <a:spLocks noChangeShapeType="1"/>
          </p:cNvSpPr>
          <p:nvPr/>
        </p:nvSpPr>
        <p:spPr bwMode="auto">
          <a:xfrm>
            <a:off x="2468563" y="2844800"/>
            <a:ext cx="0" cy="1524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36872" name="Line 12"/>
          <p:cNvSpPr>
            <a:spLocks noChangeShapeType="1"/>
          </p:cNvSpPr>
          <p:nvPr/>
        </p:nvSpPr>
        <p:spPr bwMode="auto">
          <a:xfrm>
            <a:off x="2609850" y="1930400"/>
            <a:ext cx="0" cy="12954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36873" name="Line 13"/>
          <p:cNvSpPr>
            <a:spLocks noChangeShapeType="1"/>
          </p:cNvSpPr>
          <p:nvPr/>
        </p:nvSpPr>
        <p:spPr bwMode="auto">
          <a:xfrm flipH="1">
            <a:off x="2595563" y="3302000"/>
            <a:ext cx="14287" cy="1520825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36874" name="Line 14"/>
          <p:cNvSpPr>
            <a:spLocks noChangeShapeType="1"/>
          </p:cNvSpPr>
          <p:nvPr/>
        </p:nvSpPr>
        <p:spPr bwMode="auto">
          <a:xfrm flipH="1">
            <a:off x="2457450" y="4827588"/>
            <a:ext cx="152400" cy="228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36875" name="Line 15"/>
          <p:cNvSpPr>
            <a:spLocks noChangeShapeType="1"/>
          </p:cNvSpPr>
          <p:nvPr/>
        </p:nvSpPr>
        <p:spPr bwMode="auto">
          <a:xfrm flipH="1">
            <a:off x="2533650" y="4827588"/>
            <a:ext cx="76200" cy="228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36876" name="Line 16"/>
          <p:cNvSpPr>
            <a:spLocks noChangeShapeType="1"/>
          </p:cNvSpPr>
          <p:nvPr/>
        </p:nvSpPr>
        <p:spPr bwMode="auto">
          <a:xfrm>
            <a:off x="2609850" y="4827588"/>
            <a:ext cx="0" cy="228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36877" name="Line 17"/>
          <p:cNvSpPr>
            <a:spLocks noChangeShapeType="1"/>
          </p:cNvSpPr>
          <p:nvPr/>
        </p:nvSpPr>
        <p:spPr bwMode="auto">
          <a:xfrm>
            <a:off x="2609850" y="4903788"/>
            <a:ext cx="76200" cy="1524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36878" name="Line 18"/>
          <p:cNvSpPr>
            <a:spLocks noChangeShapeType="1"/>
          </p:cNvSpPr>
          <p:nvPr/>
        </p:nvSpPr>
        <p:spPr bwMode="auto">
          <a:xfrm>
            <a:off x="2609850" y="4903788"/>
            <a:ext cx="228600" cy="1524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36879" name="Line 19"/>
          <p:cNvSpPr>
            <a:spLocks noChangeShapeType="1"/>
          </p:cNvSpPr>
          <p:nvPr/>
        </p:nvSpPr>
        <p:spPr bwMode="auto">
          <a:xfrm>
            <a:off x="2686050" y="3225800"/>
            <a:ext cx="0" cy="609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36880" name="Line 20"/>
          <p:cNvSpPr>
            <a:spLocks noChangeShapeType="1"/>
          </p:cNvSpPr>
          <p:nvPr/>
        </p:nvSpPr>
        <p:spPr bwMode="auto">
          <a:xfrm flipH="1">
            <a:off x="2740025" y="3225800"/>
            <a:ext cx="22225" cy="1020763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36881" name="Line 21"/>
          <p:cNvSpPr>
            <a:spLocks noChangeShapeType="1"/>
          </p:cNvSpPr>
          <p:nvPr/>
        </p:nvSpPr>
        <p:spPr bwMode="auto">
          <a:xfrm>
            <a:off x="2533650" y="3149600"/>
            <a:ext cx="0" cy="6858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36882" name="Freeform 22"/>
          <p:cNvSpPr>
            <a:spLocks/>
          </p:cNvSpPr>
          <p:nvPr/>
        </p:nvSpPr>
        <p:spPr bwMode="auto">
          <a:xfrm>
            <a:off x="1619250" y="4979988"/>
            <a:ext cx="2019300" cy="304800"/>
          </a:xfrm>
          <a:custGeom>
            <a:avLst/>
            <a:gdLst>
              <a:gd name="T0" fmla="*/ 2147483647 w 2142"/>
              <a:gd name="T1" fmla="*/ 2147483647 h 312"/>
              <a:gd name="T2" fmla="*/ 2147483647 w 2142"/>
              <a:gd name="T3" fmla="*/ 2147483647 h 312"/>
              <a:gd name="T4" fmla="*/ 2147483647 w 2142"/>
              <a:gd name="T5" fmla="*/ 2147483647 h 312"/>
              <a:gd name="T6" fmla="*/ 2147483647 w 2142"/>
              <a:gd name="T7" fmla="*/ 2147483647 h 312"/>
              <a:gd name="T8" fmla="*/ 2147483647 w 2142"/>
              <a:gd name="T9" fmla="*/ 2147483647 h 312"/>
              <a:gd name="T10" fmla="*/ 0 w 2142"/>
              <a:gd name="T11" fmla="*/ 2147483647 h 3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142"/>
              <a:gd name="T19" fmla="*/ 0 h 312"/>
              <a:gd name="T20" fmla="*/ 2142 w 2142"/>
              <a:gd name="T21" fmla="*/ 312 h 31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42" h="312">
                <a:moveTo>
                  <a:pt x="2142" y="312"/>
                </a:moveTo>
                <a:cubicBezTo>
                  <a:pt x="2086" y="301"/>
                  <a:pt x="1939" y="296"/>
                  <a:pt x="1804" y="249"/>
                </a:cubicBezTo>
                <a:cubicBezTo>
                  <a:pt x="1669" y="202"/>
                  <a:pt x="1492" y="60"/>
                  <a:pt x="1334" y="30"/>
                </a:cubicBezTo>
                <a:cubicBezTo>
                  <a:pt x="1176" y="0"/>
                  <a:pt x="1004" y="32"/>
                  <a:pt x="855" y="71"/>
                </a:cubicBezTo>
                <a:cubicBezTo>
                  <a:pt x="706" y="110"/>
                  <a:pt x="584" y="226"/>
                  <a:pt x="442" y="265"/>
                </a:cubicBezTo>
                <a:cubicBezTo>
                  <a:pt x="300" y="304"/>
                  <a:pt x="92" y="298"/>
                  <a:pt x="0" y="306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36883" name="Freeform 23"/>
          <p:cNvSpPr>
            <a:spLocks/>
          </p:cNvSpPr>
          <p:nvPr/>
        </p:nvSpPr>
        <p:spPr bwMode="auto">
          <a:xfrm>
            <a:off x="1657350" y="5360988"/>
            <a:ext cx="2019300" cy="254000"/>
          </a:xfrm>
          <a:custGeom>
            <a:avLst/>
            <a:gdLst>
              <a:gd name="T0" fmla="*/ 2147483647 w 2122"/>
              <a:gd name="T1" fmla="*/ 2147483647 h 249"/>
              <a:gd name="T2" fmla="*/ 2147483647 w 2122"/>
              <a:gd name="T3" fmla="*/ 2147483647 h 249"/>
              <a:gd name="T4" fmla="*/ 2147483647 w 2122"/>
              <a:gd name="T5" fmla="*/ 2147483647 h 249"/>
              <a:gd name="T6" fmla="*/ 2147483647 w 2122"/>
              <a:gd name="T7" fmla="*/ 2147483647 h 249"/>
              <a:gd name="T8" fmla="*/ 2147483647 w 2122"/>
              <a:gd name="T9" fmla="*/ 2147483647 h 249"/>
              <a:gd name="T10" fmla="*/ 0 w 2122"/>
              <a:gd name="T11" fmla="*/ 0 h 24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122"/>
              <a:gd name="T19" fmla="*/ 0 h 249"/>
              <a:gd name="T20" fmla="*/ 2122 w 2122"/>
              <a:gd name="T21" fmla="*/ 249 h 24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22" h="249">
                <a:moveTo>
                  <a:pt x="2122" y="31"/>
                </a:moveTo>
                <a:cubicBezTo>
                  <a:pt x="2062" y="34"/>
                  <a:pt x="1892" y="23"/>
                  <a:pt x="1759" y="52"/>
                </a:cubicBezTo>
                <a:cubicBezTo>
                  <a:pt x="1626" y="81"/>
                  <a:pt x="1468" y="178"/>
                  <a:pt x="1321" y="206"/>
                </a:cubicBezTo>
                <a:cubicBezTo>
                  <a:pt x="1174" y="234"/>
                  <a:pt x="1026" y="249"/>
                  <a:pt x="875" y="222"/>
                </a:cubicBezTo>
                <a:cubicBezTo>
                  <a:pt x="724" y="195"/>
                  <a:pt x="559" y="81"/>
                  <a:pt x="413" y="44"/>
                </a:cubicBezTo>
                <a:cubicBezTo>
                  <a:pt x="267" y="7"/>
                  <a:pt x="86" y="9"/>
                  <a:pt x="0" y="0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pic>
        <p:nvPicPr>
          <p:cNvPr id="36884" name="Picture 57" descr="Cerveau1"/>
          <p:cNvPicPr>
            <a:picLocks noChangeAspect="1" noChangeArrowheads="1"/>
          </p:cNvPicPr>
          <p:nvPr/>
        </p:nvPicPr>
        <p:blipFill>
          <a:blip r:embed="rId2">
            <a:lum bright="-18000" contrast="18000"/>
          </a:blip>
          <a:srcRect/>
          <a:stretch>
            <a:fillRect/>
          </a:stretch>
        </p:blipFill>
        <p:spPr bwMode="auto">
          <a:xfrm>
            <a:off x="1803400" y="214313"/>
            <a:ext cx="2305050" cy="193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885" name="Line 59"/>
          <p:cNvSpPr>
            <a:spLocks noChangeShapeType="1"/>
          </p:cNvSpPr>
          <p:nvPr/>
        </p:nvSpPr>
        <p:spPr bwMode="auto">
          <a:xfrm flipH="1">
            <a:off x="2700338" y="3454400"/>
            <a:ext cx="3095625" cy="1439863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36886" name="Line 60"/>
          <p:cNvSpPr>
            <a:spLocks noChangeShapeType="1"/>
          </p:cNvSpPr>
          <p:nvPr/>
        </p:nvSpPr>
        <p:spPr bwMode="auto">
          <a:xfrm flipH="1">
            <a:off x="3132138" y="3167063"/>
            <a:ext cx="2735262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36887" name="Line 61"/>
          <p:cNvSpPr>
            <a:spLocks noChangeShapeType="1"/>
          </p:cNvSpPr>
          <p:nvPr/>
        </p:nvSpPr>
        <p:spPr bwMode="auto">
          <a:xfrm flipH="1" flipV="1">
            <a:off x="4140200" y="1725613"/>
            <a:ext cx="1727200" cy="1296987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36888" name="Rectangle 62"/>
          <p:cNvSpPr>
            <a:spLocks noChangeArrowheads="1"/>
          </p:cNvSpPr>
          <p:nvPr/>
        </p:nvSpPr>
        <p:spPr bwMode="auto">
          <a:xfrm>
            <a:off x="4284663" y="1150938"/>
            <a:ext cx="45434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>
                <a:solidFill>
                  <a:schemeClr val="bg1"/>
                </a:solidFill>
                <a:sym typeface="Symbol" pitchFamily="18" charset="2"/>
              </a:rPr>
              <a:t> du BDNF + </a:t>
            </a:r>
            <a:r>
              <a:rPr lang="fr-FR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  <a:sym typeface="Symbol" pitchFamily="18" charset="2"/>
              </a:rPr>
              <a:t>⇘ </a:t>
            </a:r>
            <a:r>
              <a:rPr lang="fr-FR" i="1">
                <a:solidFill>
                  <a:schemeClr val="bg1"/>
                </a:solidFill>
              </a:rPr>
              <a:t>seuil d’induction de la LTP</a:t>
            </a:r>
            <a:r>
              <a:rPr lang="fr-FR">
                <a:solidFill>
                  <a:schemeClr val="bg1"/>
                </a:solidFill>
                <a:sym typeface="Symbol" pitchFamily="18" charset="2"/>
              </a:rPr>
              <a:t> </a:t>
            </a:r>
          </a:p>
        </p:txBody>
      </p:sp>
      <p:sp>
        <p:nvSpPr>
          <p:cNvPr id="36889" name="Rectangle 63"/>
          <p:cNvSpPr>
            <a:spLocks noChangeArrowheads="1"/>
          </p:cNvSpPr>
          <p:nvPr/>
        </p:nvSpPr>
        <p:spPr bwMode="auto">
          <a:xfrm>
            <a:off x="5143500" y="1738313"/>
            <a:ext cx="35718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sz="1400">
                <a:solidFill>
                  <a:schemeClr val="bg1"/>
                </a:solidFill>
              </a:rPr>
              <a:t>[ BDNF </a:t>
            </a:r>
            <a:r>
              <a:rPr lang="fr-FR" sz="1400" i="1">
                <a:solidFill>
                  <a:schemeClr val="bg1"/>
                </a:solidFill>
              </a:rPr>
              <a:t>(brain derived neurotrophic factor)</a:t>
            </a:r>
          </a:p>
          <a:p>
            <a:r>
              <a:rPr lang="fr-FR" sz="1400">
                <a:solidFill>
                  <a:schemeClr val="bg1"/>
                </a:solidFill>
              </a:rPr>
              <a:t>LTP :  </a:t>
            </a:r>
            <a:r>
              <a:rPr lang="fr-FR" sz="1400" i="1">
                <a:solidFill>
                  <a:schemeClr val="bg1"/>
                </a:solidFill>
              </a:rPr>
              <a:t>(long term potentiation)</a:t>
            </a:r>
            <a:r>
              <a:rPr lang="fr-FR" sz="1400">
                <a:solidFill>
                  <a:schemeClr val="bg1"/>
                </a:solidFill>
              </a:rPr>
              <a:t> ]</a:t>
            </a:r>
          </a:p>
        </p:txBody>
      </p:sp>
      <p:sp>
        <p:nvSpPr>
          <p:cNvPr id="36890" name="Rectangle 64"/>
          <p:cNvSpPr>
            <a:spLocks noChangeArrowheads="1"/>
          </p:cNvSpPr>
          <p:nvPr/>
        </p:nvSpPr>
        <p:spPr bwMode="auto">
          <a:xfrm>
            <a:off x="3203575" y="2662238"/>
            <a:ext cx="13255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>
                <a:solidFill>
                  <a:schemeClr val="bg1"/>
                </a:solidFill>
                <a:sym typeface="Symbol" pitchFamily="18" charset="2"/>
              </a:rPr>
              <a:t> du BDNF</a:t>
            </a:r>
          </a:p>
        </p:txBody>
      </p:sp>
      <p:sp>
        <p:nvSpPr>
          <p:cNvPr id="36891" name="Rectangle 65"/>
          <p:cNvSpPr>
            <a:spLocks noChangeArrowheads="1"/>
          </p:cNvSpPr>
          <p:nvPr/>
        </p:nvSpPr>
        <p:spPr bwMode="auto">
          <a:xfrm>
            <a:off x="1187450" y="4391025"/>
            <a:ext cx="13255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>
                <a:solidFill>
                  <a:schemeClr val="bg1"/>
                </a:solidFill>
                <a:sym typeface="Symbol" pitchFamily="18" charset="2"/>
              </a:rPr>
              <a:t> du BDNF</a:t>
            </a:r>
          </a:p>
        </p:txBody>
      </p:sp>
      <p:sp>
        <p:nvSpPr>
          <p:cNvPr id="36892" name="ZoneTexte 27"/>
          <p:cNvSpPr txBox="1">
            <a:spLocks noChangeArrowheads="1"/>
          </p:cNvSpPr>
          <p:nvPr/>
        </p:nvSpPr>
        <p:spPr bwMode="auto">
          <a:xfrm>
            <a:off x="79375" y="5643563"/>
            <a:ext cx="9147175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sz="2400" b="1">
                <a:solidFill>
                  <a:srgbClr val="FFFF00"/>
                </a:solidFill>
              </a:rPr>
              <a:t>Au total </a:t>
            </a:r>
            <a:r>
              <a:rPr lang="fr-FR">
                <a:solidFill>
                  <a:schemeClr val="bg1"/>
                </a:solidFill>
              </a:rPr>
              <a:t>= Amélioration des capacités cognitives, de la capacité d’apprentissage et </a:t>
            </a:r>
          </a:p>
          <a:p>
            <a:r>
              <a:rPr lang="fr-FR">
                <a:solidFill>
                  <a:schemeClr val="bg1"/>
                </a:solidFill>
              </a:rPr>
              <a:t>de mémoire, des commandes neuro-motrices. Préventions primaire et secondaire de la </a:t>
            </a:r>
          </a:p>
          <a:p>
            <a:r>
              <a:rPr lang="fr-FR">
                <a:solidFill>
                  <a:schemeClr val="bg1"/>
                </a:solidFill>
              </a:rPr>
              <a:t>maladie d’Alzheimer</a:t>
            </a:r>
          </a:p>
        </p:txBody>
      </p:sp>
      <p:sp>
        <p:nvSpPr>
          <p:cNvPr id="36893" name="Rectangle 28"/>
          <p:cNvSpPr>
            <a:spLocks noChangeArrowheads="1"/>
          </p:cNvSpPr>
          <p:nvPr/>
        </p:nvSpPr>
        <p:spPr bwMode="auto">
          <a:xfrm>
            <a:off x="4308475" y="1428750"/>
            <a:ext cx="9779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>
                <a:solidFill>
                  <a:schemeClr val="bg1"/>
                </a:solidFill>
                <a:sym typeface="Symbol" pitchFamily="18" charset="2"/>
              </a:rPr>
              <a:t>IGF-1 </a:t>
            </a:r>
            <a:endParaRPr lang="fr-FR">
              <a:solidFill>
                <a:schemeClr val="bg1"/>
              </a:solidFill>
            </a:endParaRPr>
          </a:p>
        </p:txBody>
      </p:sp>
      <p:sp>
        <p:nvSpPr>
          <p:cNvPr id="36894" name="Rectangle 29"/>
          <p:cNvSpPr>
            <a:spLocks noChangeArrowheads="1"/>
          </p:cNvSpPr>
          <p:nvPr/>
        </p:nvSpPr>
        <p:spPr bwMode="auto">
          <a:xfrm>
            <a:off x="1214438" y="4702175"/>
            <a:ext cx="9779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>
                <a:solidFill>
                  <a:schemeClr val="bg1"/>
                </a:solidFill>
                <a:sym typeface="Symbol" pitchFamily="18" charset="2"/>
              </a:rPr>
              <a:t>IGF-1 </a:t>
            </a:r>
            <a:endParaRPr lang="fr-FR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ChangeArrowheads="1"/>
          </p:cNvSpPr>
          <p:nvPr/>
        </p:nvSpPr>
        <p:spPr bwMode="auto">
          <a:xfrm>
            <a:off x="928662" y="2500306"/>
            <a:ext cx="7000875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endParaRPr lang="fr-FR" sz="2800" b="1" dirty="0">
              <a:solidFill>
                <a:schemeClr val="bg1"/>
              </a:solidFill>
              <a:latin typeface="Bookman Old Style" pitchFamily="18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endParaRPr lang="fr-FR" sz="2800" b="1" dirty="0">
              <a:solidFill>
                <a:schemeClr val="bg1"/>
              </a:solidFill>
              <a:latin typeface="Bookman Old Style" pitchFamily="18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spcAft>
                <a:spcPct val="75000"/>
              </a:spcAft>
            </a:pPr>
            <a:r>
              <a:rPr lang="fr-FR" sz="2800" b="1" dirty="0">
                <a:solidFill>
                  <a:schemeClr val="bg1"/>
                </a:solidFill>
                <a:latin typeface="Bookman Old Style" pitchFamily="18" charset="0"/>
              </a:rPr>
              <a:t>		Le concept du ... F.A.I.T.P.A.S.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spcAft>
                <a:spcPct val="75000"/>
              </a:spcAft>
            </a:pPr>
            <a:endParaRPr lang="fr-FR" sz="2800" b="1" dirty="0">
              <a:solidFill>
                <a:schemeClr val="bg1"/>
              </a:solidFill>
              <a:latin typeface="Bookman Old Style" pitchFamily="18" charset="0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1500188" y="1143000"/>
            <a:ext cx="6008687" cy="58420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COMMENT S’ENTRAÎNER ?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0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b="1" smtClean="0">
                <a:solidFill>
                  <a:schemeClr val="bg1"/>
                </a:solidFill>
                <a:latin typeface="Bookman Old Style" pitchFamily="18" charset="0"/>
              </a:rPr>
              <a:t>LE F.A.I.T.P.A.S. PERMET DE MIEUX GERER L’ENTRAÎNEMENT</a:t>
            </a:r>
            <a:endParaRPr lang="fr-FR" sz="2400" b="1" smtClean="0">
              <a:solidFill>
                <a:schemeClr val="bg1"/>
              </a:solidFill>
              <a:latin typeface="Bookman Old Style" pitchFamily="18" charset="0"/>
            </a:endParaRPr>
          </a:p>
        </p:txBody>
      </p:sp>
      <p:sp>
        <p:nvSpPr>
          <p:cNvPr id="280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1500" y="1428750"/>
            <a:ext cx="7815263" cy="4572000"/>
          </a:xfrm>
        </p:spPr>
        <p:txBody>
          <a:bodyPr/>
          <a:lstStyle/>
          <a:p>
            <a:pPr marL="187325" indent="-187325" algn="just" defTabSz="225425">
              <a:spcAft>
                <a:spcPct val="45000"/>
              </a:spcAft>
              <a:buFontTx/>
              <a:buNone/>
              <a:defRPr/>
            </a:pPr>
            <a:endParaRPr lang="fr-FR" sz="28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0" indent="-187325" algn="just" defTabSz="22542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</a:rPr>
              <a:t>F de fréquence</a:t>
            </a:r>
            <a:r>
              <a:rPr lang="fr-FR" sz="2400" b="1" dirty="0">
                <a:solidFill>
                  <a:srgbClr val="FFFF00"/>
                </a:solidFill>
                <a:latin typeface="Bookman Old Style" pitchFamily="18" charset="0"/>
              </a:rPr>
              <a:t> </a:t>
            </a:r>
            <a:r>
              <a:rPr lang="fr-FR" sz="2400" b="1" dirty="0">
                <a:solidFill>
                  <a:schemeClr val="bg1"/>
                </a:solidFill>
                <a:latin typeface="Bookman Old Style" pitchFamily="18" charset="0"/>
              </a:rPr>
              <a:t>: combien de fois s’entraîner par semaine ?  Minimum 2 fois (entretien et développement modeste), optimum pour </a:t>
            </a:r>
            <a:r>
              <a:rPr lang="fr-FR" sz="2400" b="1" dirty="0" smtClean="0">
                <a:solidFill>
                  <a:schemeClr val="bg1"/>
                </a:solidFill>
                <a:latin typeface="Bookman Old Style" pitchFamily="18" charset="0"/>
              </a:rPr>
              <a:t>les adultes non compétiteurs et personnes </a:t>
            </a:r>
            <a:r>
              <a:rPr lang="fr-FR" sz="2400" b="1" dirty="0">
                <a:solidFill>
                  <a:schemeClr val="bg1"/>
                </a:solidFill>
                <a:latin typeface="Bookman Old Style" pitchFamily="18" charset="0"/>
              </a:rPr>
              <a:t>âgées : </a:t>
            </a:r>
            <a:r>
              <a:rPr lang="fr-FR" sz="2400" b="1" dirty="0" smtClean="0">
                <a:solidFill>
                  <a:schemeClr val="bg1"/>
                </a:solidFill>
                <a:latin typeface="Bookman Old Style" pitchFamily="18" charset="0"/>
              </a:rPr>
              <a:t>3 à 4 </a:t>
            </a:r>
            <a:r>
              <a:rPr lang="fr-FR" sz="2400" b="1" dirty="0">
                <a:solidFill>
                  <a:schemeClr val="bg1"/>
                </a:solidFill>
                <a:latin typeface="Bookman Old Style" pitchFamily="18" charset="0"/>
              </a:rPr>
              <a:t>fois par semaine, </a:t>
            </a:r>
            <a:endParaRPr lang="fr-FR" sz="2400" b="1" dirty="0" smtClean="0">
              <a:solidFill>
                <a:schemeClr val="bg1"/>
              </a:solidFill>
              <a:latin typeface="Bookman Old Style" pitchFamily="18" charset="0"/>
            </a:endParaRPr>
          </a:p>
          <a:p>
            <a:pPr marL="0" indent="-187325" algn="just" defTabSz="22542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fr-FR" sz="2400" b="1" dirty="0" smtClean="0">
                <a:solidFill>
                  <a:schemeClr val="bg1"/>
                </a:solidFill>
                <a:latin typeface="Bookman Old Style" pitchFamily="18" charset="0"/>
              </a:rPr>
              <a:t>  pour les sportifs maximum </a:t>
            </a:r>
            <a:r>
              <a:rPr lang="fr-FR" sz="2400" b="1" dirty="0">
                <a:solidFill>
                  <a:schemeClr val="bg1"/>
                </a:solidFill>
                <a:latin typeface="Bookman Old Style" pitchFamily="18" charset="0"/>
              </a:rPr>
              <a:t>inconnu à ce </a:t>
            </a:r>
            <a:r>
              <a:rPr lang="fr-FR" sz="2400" b="1" dirty="0" smtClean="0">
                <a:solidFill>
                  <a:schemeClr val="bg1"/>
                </a:solidFill>
                <a:latin typeface="Bookman Old Style" pitchFamily="18" charset="0"/>
              </a:rPr>
              <a:t>jour.</a:t>
            </a:r>
            <a:r>
              <a:rPr lang="fr-FR" dirty="0" smtClean="0">
                <a:solidFill>
                  <a:schemeClr val="bg1"/>
                </a:solidFill>
              </a:rPr>
              <a:t> </a:t>
            </a:r>
            <a:endParaRPr lang="fr-FR" sz="2800" dirty="0">
              <a:solidFill>
                <a:schemeClr val="bg1"/>
              </a:solidFill>
            </a:endParaRPr>
          </a:p>
          <a:p>
            <a:pPr marL="187325" indent="-187325" algn="just" defTabSz="225425">
              <a:buFont typeface="Monotype Sorts" pitchFamily="2" charset="2"/>
              <a:buNone/>
              <a:defRPr/>
            </a:pPr>
            <a:endParaRPr lang="fr-FR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0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0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0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0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579" grpId="0" build="p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14282" y="1142984"/>
            <a:ext cx="8558213" cy="3429000"/>
          </a:xfrm>
        </p:spPr>
        <p:txBody>
          <a:bodyPr/>
          <a:lstStyle/>
          <a:p>
            <a:pPr marL="0" indent="0" algn="just" defTabSz="225425">
              <a:lnSpc>
                <a:spcPct val="150000"/>
              </a:lnSpc>
              <a:spcBef>
                <a:spcPct val="0"/>
              </a:spcBef>
              <a:buFont typeface="Monotype Sorts" pitchFamily="2" charset="2"/>
              <a:buNone/>
              <a:tabLst>
                <a:tab pos="0" algn="l"/>
              </a:tabLst>
              <a:defRPr/>
            </a:pPr>
            <a:r>
              <a:rPr lang="fr-FR" sz="2800" b="1" dirty="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</a:rPr>
              <a:t>« A » d’assiduité </a:t>
            </a:r>
            <a:r>
              <a:rPr lang="fr-FR" sz="2800" dirty="0">
                <a:solidFill>
                  <a:srgbClr val="FFFF00"/>
                </a:solidFill>
                <a:latin typeface="Bookman Old Style" pitchFamily="18" charset="0"/>
              </a:rPr>
              <a:t>:</a:t>
            </a:r>
            <a:r>
              <a:rPr lang="fr-FR" sz="2800" dirty="0">
                <a:latin typeface="Bookman Old Style" pitchFamily="18" charset="0"/>
              </a:rPr>
              <a:t> </a:t>
            </a:r>
            <a:endParaRPr lang="fr-FR" sz="2800" dirty="0" smtClean="0">
              <a:latin typeface="Bookman Old Style" pitchFamily="18" charset="0"/>
            </a:endParaRPr>
          </a:p>
          <a:p>
            <a:pPr marL="0" indent="0" algn="just" defTabSz="225425">
              <a:lnSpc>
                <a:spcPct val="150000"/>
              </a:lnSpc>
              <a:spcBef>
                <a:spcPct val="0"/>
              </a:spcBef>
              <a:buFont typeface="Monotype Sorts" pitchFamily="2" charset="2"/>
              <a:buNone/>
              <a:tabLst>
                <a:tab pos="0" algn="l"/>
              </a:tabLst>
              <a:defRPr/>
            </a:pPr>
            <a:r>
              <a:rPr lang="fr-FR" sz="2400" b="1" dirty="0" smtClean="0">
                <a:solidFill>
                  <a:schemeClr val="bg1"/>
                </a:solidFill>
                <a:latin typeface="Bookman Old Style" pitchFamily="18" charset="0"/>
              </a:rPr>
              <a:t>la </a:t>
            </a:r>
            <a:r>
              <a:rPr lang="fr-FR" sz="2400" b="1" dirty="0">
                <a:solidFill>
                  <a:schemeClr val="bg1"/>
                </a:solidFill>
                <a:latin typeface="Bookman Old Style" pitchFamily="18" charset="0"/>
              </a:rPr>
              <a:t>condition physique optimale s’acquiert lentement (8 à 10 semaines </a:t>
            </a:r>
            <a:r>
              <a:rPr lang="fr-FR" sz="2400" b="1" dirty="0" smtClean="0">
                <a:solidFill>
                  <a:schemeClr val="bg1"/>
                </a:solidFill>
                <a:latin typeface="Bookman Old Style" pitchFamily="18" charset="0"/>
              </a:rPr>
              <a:t>avec une pratique d’activités physiques de 4 </a:t>
            </a:r>
            <a:r>
              <a:rPr lang="fr-FR" sz="2400" b="1" dirty="0">
                <a:solidFill>
                  <a:schemeClr val="bg1"/>
                </a:solidFill>
                <a:latin typeface="Bookman Old Style" pitchFamily="18" charset="0"/>
              </a:rPr>
              <a:t>à 6 fois par semaine, 12 à 14 semaines en </a:t>
            </a:r>
            <a:r>
              <a:rPr lang="fr-FR" sz="2400" b="1" dirty="0" smtClean="0">
                <a:solidFill>
                  <a:schemeClr val="bg1"/>
                </a:solidFill>
                <a:latin typeface="Bookman Old Style" pitchFamily="18" charset="0"/>
              </a:rPr>
              <a:t>pratiquant </a:t>
            </a:r>
            <a:r>
              <a:rPr lang="fr-FR" sz="2400" b="1" dirty="0">
                <a:solidFill>
                  <a:schemeClr val="bg1"/>
                </a:solidFill>
                <a:latin typeface="Bookman Old Style" pitchFamily="18" charset="0"/>
              </a:rPr>
              <a:t>2 à 3 fois</a:t>
            </a:r>
            <a:r>
              <a:rPr lang="fr-FR" sz="2400" b="1" dirty="0" smtClean="0">
                <a:solidFill>
                  <a:schemeClr val="bg1"/>
                </a:solidFill>
                <a:latin typeface="Bookman Old Style" pitchFamily="18" charset="0"/>
              </a:rPr>
              <a:t>), </a:t>
            </a:r>
            <a:r>
              <a:rPr lang="fr-FR" sz="2400" b="1" dirty="0">
                <a:solidFill>
                  <a:schemeClr val="bg1"/>
                </a:solidFill>
                <a:latin typeface="Bookman Old Style" pitchFamily="18" charset="0"/>
              </a:rPr>
              <a:t>s’entretient </a:t>
            </a:r>
            <a:r>
              <a:rPr lang="fr-FR" sz="2400" b="1" dirty="0" smtClean="0">
                <a:solidFill>
                  <a:schemeClr val="bg1"/>
                </a:solidFill>
                <a:latin typeface="Bookman Old Style" pitchFamily="18" charset="0"/>
              </a:rPr>
              <a:t>ensuite aisément </a:t>
            </a:r>
            <a:r>
              <a:rPr lang="fr-FR" sz="2400" b="1" dirty="0">
                <a:solidFill>
                  <a:schemeClr val="bg1"/>
                </a:solidFill>
                <a:latin typeface="Bookman Old Style" pitchFamily="18" charset="0"/>
              </a:rPr>
              <a:t>(1 à 2 fois par semaine</a:t>
            </a:r>
            <a:r>
              <a:rPr lang="fr-FR" sz="2400" b="1" dirty="0" smtClean="0">
                <a:solidFill>
                  <a:schemeClr val="bg1"/>
                </a:solidFill>
                <a:latin typeface="Bookman Old Style" pitchFamily="18" charset="0"/>
              </a:rPr>
              <a:t>)…mais </a:t>
            </a:r>
            <a:r>
              <a:rPr lang="fr-FR" sz="2400" b="1" dirty="0">
                <a:solidFill>
                  <a:schemeClr val="bg1"/>
                </a:solidFill>
                <a:latin typeface="Bookman Old Style" pitchFamily="18" charset="0"/>
              </a:rPr>
              <a:t>se perd très rapidement  (en 2 à 3 semaines). </a:t>
            </a:r>
            <a:r>
              <a:rPr lang="fr-FR" sz="2400" dirty="0">
                <a:solidFill>
                  <a:schemeClr val="bg1"/>
                </a:solidFill>
              </a:rPr>
              <a:t>	</a:t>
            </a:r>
            <a:endParaRPr lang="es-CL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3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83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3650" grpId="0" build="p" autoUpdateAnimBg="0" advAuto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42844" y="285728"/>
            <a:ext cx="9001156" cy="6786563"/>
          </a:xfrm>
        </p:spPr>
        <p:txBody>
          <a:bodyPr/>
          <a:lstStyle/>
          <a:p>
            <a:pPr marL="0" indent="0">
              <a:lnSpc>
                <a:spcPct val="150000"/>
              </a:lnSpc>
              <a:spcAft>
                <a:spcPct val="45000"/>
              </a:spcAft>
              <a:buFont typeface="Monotype Sorts" pitchFamily="2" charset="2"/>
              <a:buNone/>
              <a:tabLst>
                <a:tab pos="100013" algn="l"/>
              </a:tabLst>
              <a:defRPr/>
            </a:pPr>
            <a:r>
              <a:rPr lang="fr-FR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</a:rPr>
              <a:t>« I » d’intensité</a:t>
            </a:r>
            <a:r>
              <a:rPr lang="fr-FR" sz="2800" b="1" dirty="0">
                <a:solidFill>
                  <a:srgbClr val="FFFF00"/>
                </a:solidFill>
                <a:latin typeface="Bookman Old Style" pitchFamily="18" charset="0"/>
              </a:rPr>
              <a:t> : </a:t>
            </a:r>
            <a:endParaRPr lang="fr-FR" sz="2800" b="1" dirty="0" smtClean="0">
              <a:solidFill>
                <a:srgbClr val="FFFF00"/>
              </a:solidFill>
              <a:latin typeface="Bookman Old Style" pitchFamily="18" charset="0"/>
            </a:endParaRPr>
          </a:p>
          <a:p>
            <a:pPr marL="0" indent="0">
              <a:lnSpc>
                <a:spcPct val="150000"/>
              </a:lnSpc>
              <a:spcAft>
                <a:spcPct val="45000"/>
              </a:spcAft>
              <a:buFont typeface="Monotype Sorts" pitchFamily="2" charset="2"/>
              <a:buNone/>
              <a:tabLst>
                <a:tab pos="100013" algn="l"/>
              </a:tabLst>
              <a:defRPr/>
            </a:pPr>
            <a:r>
              <a:rPr lang="fr-FR" sz="2200" b="1" dirty="0" smtClean="0">
                <a:solidFill>
                  <a:schemeClr val="bg1"/>
                </a:solidFill>
                <a:latin typeface="Bookman Old Style" pitchFamily="18" charset="0"/>
              </a:rPr>
              <a:t>la </a:t>
            </a:r>
            <a:r>
              <a:rPr lang="fr-FR" sz="2200" b="1" dirty="0">
                <a:solidFill>
                  <a:schemeClr val="bg1"/>
                </a:solidFill>
                <a:latin typeface="Bookman Old Style" pitchFamily="18" charset="0"/>
              </a:rPr>
              <a:t>gestion individuelle de l’intensité est aujourd’hui très accessible grâce à l’</a:t>
            </a:r>
            <a:r>
              <a:rPr lang="fr-FR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</a:rPr>
              <a:t>évaluation</a:t>
            </a:r>
            <a:r>
              <a:rPr lang="fr-FR" sz="2200" b="1" dirty="0">
                <a:solidFill>
                  <a:schemeClr val="bg1"/>
                </a:solidFill>
                <a:latin typeface="Bookman Old Style" pitchFamily="18" charset="0"/>
              </a:rPr>
              <a:t> et aux </a:t>
            </a:r>
            <a:r>
              <a:rPr lang="fr-FR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</a:rPr>
              <a:t>références</a:t>
            </a:r>
            <a:r>
              <a:rPr lang="fr-FR" sz="2200" b="1" dirty="0">
                <a:solidFill>
                  <a:schemeClr val="bg1"/>
                </a:solidFill>
                <a:latin typeface="Bookman Old Style" pitchFamily="18" charset="0"/>
              </a:rPr>
              <a:t> qui en résultent : maxima estimés, %  du maximum de la force, de la </a:t>
            </a:r>
            <a:r>
              <a:rPr lang="fr-FR" sz="2200" b="1" dirty="0" smtClean="0">
                <a:solidFill>
                  <a:schemeClr val="bg1"/>
                </a:solidFill>
                <a:latin typeface="Bookman Old Style" pitchFamily="18" charset="0"/>
              </a:rPr>
              <a:t>P.A.M., </a:t>
            </a:r>
            <a:r>
              <a:rPr lang="fr-FR" sz="2200" b="1" dirty="0">
                <a:solidFill>
                  <a:schemeClr val="bg1"/>
                </a:solidFill>
                <a:latin typeface="Bookman Old Style" pitchFamily="18" charset="0"/>
              </a:rPr>
              <a:t>de la V.A.M. et des fréquences cardiaques qui les accompagnent</a:t>
            </a:r>
            <a:r>
              <a:rPr lang="fr-FR" sz="2200" b="1" dirty="0" smtClean="0">
                <a:solidFill>
                  <a:schemeClr val="bg1"/>
                </a:solidFill>
                <a:latin typeface="Bookman Old Style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spcAft>
                <a:spcPct val="45000"/>
              </a:spcAft>
              <a:buFont typeface="Monotype Sorts" pitchFamily="2" charset="2"/>
              <a:buNone/>
              <a:tabLst>
                <a:tab pos="100013" algn="l"/>
              </a:tabLst>
              <a:defRPr/>
            </a:pPr>
            <a:r>
              <a:rPr lang="fr-FR" sz="22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Intensités modérées </a:t>
            </a:r>
            <a:r>
              <a:rPr lang="fr-FR" sz="2200" b="1" dirty="0" smtClean="0">
                <a:solidFill>
                  <a:schemeClr val="bg1"/>
                </a:solidFill>
                <a:latin typeface="Bookman Old Style" pitchFamily="18" charset="0"/>
              </a:rPr>
              <a:t>: </a:t>
            </a:r>
            <a:r>
              <a:rPr lang="fr-FR" sz="2000" b="1" dirty="0" smtClean="0">
                <a:solidFill>
                  <a:schemeClr val="bg1"/>
                </a:solidFill>
                <a:latin typeface="Bookman Old Style" pitchFamily="18" charset="0"/>
              </a:rPr>
              <a:t>- 50-60% VO2max, PAM, VAM, Force max,                                                                  - 60-70% </a:t>
            </a:r>
            <a:r>
              <a:rPr lang="fr-FR" sz="2000" b="1" dirty="0" err="1" smtClean="0">
                <a:solidFill>
                  <a:schemeClr val="bg1"/>
                </a:solidFill>
                <a:latin typeface="Bookman Old Style" pitchFamily="18" charset="0"/>
              </a:rPr>
              <a:t>FCmax</a:t>
            </a:r>
            <a:endParaRPr lang="fr-FR" sz="2000" b="1" dirty="0" smtClean="0">
              <a:solidFill>
                <a:schemeClr val="bg1"/>
              </a:solidFill>
              <a:latin typeface="Bookman Old Style" pitchFamily="18" charset="0"/>
            </a:endParaRPr>
          </a:p>
          <a:p>
            <a:pPr marL="0" indent="0">
              <a:spcAft>
                <a:spcPct val="45000"/>
              </a:spcAft>
              <a:buFont typeface="Monotype Sorts" pitchFamily="2" charset="2"/>
              <a:buNone/>
              <a:tabLst>
                <a:tab pos="100013" algn="l"/>
              </a:tabLst>
              <a:defRPr/>
            </a:pPr>
            <a:r>
              <a:rPr lang="fr-FR" sz="20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Intensités élevées : </a:t>
            </a:r>
            <a:r>
              <a:rPr lang="fr-FR" sz="2000" b="1" dirty="0" smtClean="0">
                <a:solidFill>
                  <a:schemeClr val="bg1"/>
                </a:solidFill>
                <a:latin typeface="Bookman Old Style" pitchFamily="18" charset="0"/>
              </a:rPr>
              <a:t>- 70-80% VO2max, PAM, VAM, Force max,</a:t>
            </a:r>
          </a:p>
          <a:p>
            <a:pPr marL="0" indent="0">
              <a:spcAft>
                <a:spcPct val="45000"/>
              </a:spcAft>
              <a:buFont typeface="Monotype Sorts" pitchFamily="2" charset="2"/>
              <a:buNone/>
              <a:tabLst>
                <a:tab pos="100013" algn="l"/>
              </a:tabLst>
              <a:defRPr/>
            </a:pPr>
            <a:r>
              <a:rPr lang="fr-FR" sz="2000" b="1" dirty="0" smtClean="0">
                <a:solidFill>
                  <a:schemeClr val="bg1"/>
                </a:solidFill>
                <a:latin typeface="Bookman Old Style" pitchFamily="18" charset="0"/>
              </a:rPr>
              <a:t>                               - 60-70% </a:t>
            </a:r>
            <a:r>
              <a:rPr lang="fr-FR" sz="2000" b="1" dirty="0" err="1" smtClean="0">
                <a:solidFill>
                  <a:schemeClr val="bg1"/>
                </a:solidFill>
                <a:latin typeface="Bookman Old Style" pitchFamily="18" charset="0"/>
              </a:rPr>
              <a:t>FCmax</a:t>
            </a:r>
            <a:r>
              <a:rPr lang="fr-FR" sz="2000" b="1" dirty="0" smtClean="0">
                <a:solidFill>
                  <a:schemeClr val="bg1"/>
                </a:solidFill>
                <a:latin typeface="Bookman Old Style" pitchFamily="18" charset="0"/>
              </a:rPr>
              <a:t> </a:t>
            </a:r>
            <a:endParaRPr lang="fr-FR" sz="2000" b="1" dirty="0">
              <a:solidFill>
                <a:schemeClr val="bg1"/>
              </a:solidFill>
              <a:latin typeface="Bookman Old Style" pitchFamily="18" charset="0"/>
            </a:endParaRPr>
          </a:p>
          <a:p>
            <a:pPr marL="0" indent="0">
              <a:lnSpc>
                <a:spcPct val="150000"/>
              </a:lnSpc>
              <a:buFontTx/>
              <a:buNone/>
              <a:tabLst>
                <a:tab pos="100013" algn="l"/>
              </a:tabLst>
              <a:defRPr/>
            </a:pPr>
            <a:endParaRPr lang="fr-FR" sz="2200" b="1" dirty="0">
              <a:solidFill>
                <a:schemeClr val="bg1"/>
              </a:solidFill>
              <a:latin typeface="Bookman Old Style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5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5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85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85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85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698" grpId="0" build="p" autoUpdateAnimBg="0" advAuto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562" name="Group 2"/>
          <p:cNvGraphicFramePr>
            <a:graphicFrameLocks noGrp="1"/>
          </p:cNvGraphicFramePr>
          <p:nvPr/>
        </p:nvGraphicFramePr>
        <p:xfrm>
          <a:off x="990600" y="1466850"/>
          <a:ext cx="7467600" cy="4191000"/>
        </p:xfrm>
        <a:graphic>
          <a:graphicData uri="http://schemas.openxmlformats.org/drawingml/2006/table">
            <a:tbl>
              <a:tblPr/>
              <a:tblGrid>
                <a:gridCol w="1143000"/>
                <a:gridCol w="908050"/>
                <a:gridCol w="920750"/>
                <a:gridCol w="914400"/>
                <a:gridCol w="914400"/>
                <a:gridCol w="914400"/>
                <a:gridCol w="914400"/>
                <a:gridCol w="838200"/>
              </a:tblGrid>
              <a:tr h="419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CL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rgbClr val="FF0000">
                            <a:tint val="66000"/>
                            <a:satMod val="160000"/>
                          </a:srgbClr>
                        </a:gs>
                        <a:gs pos="50000">
                          <a:srgbClr val="FF0000">
                            <a:tint val="44500"/>
                            <a:satMod val="160000"/>
                          </a:srgbClr>
                        </a:gs>
                        <a:gs pos="100000">
                          <a:srgbClr val="FF0000">
                            <a:tint val="23500"/>
                            <a:satMod val="160000"/>
                          </a:srgb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CL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rgbClr val="FF0000">
                            <a:tint val="66000"/>
                            <a:satMod val="160000"/>
                          </a:srgbClr>
                        </a:gs>
                        <a:gs pos="50000">
                          <a:srgbClr val="FF0000">
                            <a:tint val="44500"/>
                            <a:satMod val="160000"/>
                          </a:srgbClr>
                        </a:gs>
                        <a:gs pos="100000">
                          <a:srgbClr val="FF0000">
                            <a:tint val="23500"/>
                            <a:satMod val="160000"/>
                          </a:srgb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CL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rgbClr val="FF0000">
                            <a:tint val="66000"/>
                            <a:satMod val="160000"/>
                          </a:srgbClr>
                        </a:gs>
                        <a:gs pos="50000">
                          <a:srgbClr val="FF0000">
                            <a:tint val="44500"/>
                            <a:satMod val="160000"/>
                          </a:srgbClr>
                        </a:gs>
                        <a:gs pos="100000">
                          <a:srgbClr val="FF0000">
                            <a:tint val="23500"/>
                            <a:satMod val="160000"/>
                          </a:srgb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CL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rgbClr val="FF0000">
                            <a:tint val="66000"/>
                            <a:satMod val="160000"/>
                          </a:srgbClr>
                        </a:gs>
                        <a:gs pos="50000">
                          <a:srgbClr val="FF0000">
                            <a:tint val="44500"/>
                            <a:satMod val="160000"/>
                          </a:srgbClr>
                        </a:gs>
                        <a:gs pos="100000">
                          <a:srgbClr val="FF0000">
                            <a:tint val="23500"/>
                            <a:satMod val="160000"/>
                          </a:srgb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CL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CL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CL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rgbClr val="FF0000">
                            <a:tint val="66000"/>
                            <a:satMod val="160000"/>
                          </a:srgbClr>
                        </a:gs>
                        <a:gs pos="50000">
                          <a:srgbClr val="FF0000">
                            <a:tint val="44500"/>
                            <a:satMod val="160000"/>
                          </a:srgbClr>
                        </a:gs>
                        <a:gs pos="100000">
                          <a:srgbClr val="FF0000">
                            <a:tint val="23500"/>
                            <a:satMod val="160000"/>
                          </a:srgb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CL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rgbClr val="FF0000">
                            <a:tint val="66000"/>
                            <a:satMod val="160000"/>
                          </a:srgbClr>
                        </a:gs>
                        <a:gs pos="50000">
                          <a:srgbClr val="FF0000">
                            <a:tint val="44500"/>
                            <a:satMod val="160000"/>
                          </a:srgbClr>
                        </a:gs>
                        <a:gs pos="100000">
                          <a:srgbClr val="FF0000">
                            <a:tint val="23500"/>
                            <a:satMod val="160000"/>
                          </a:srgb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</a:tr>
            </a:tbl>
          </a:graphicData>
        </a:graphic>
      </p:graphicFrame>
      <p:sp>
        <p:nvSpPr>
          <p:cNvPr id="42008" name="Arc 24"/>
          <p:cNvSpPr>
            <a:spLocks/>
          </p:cNvSpPr>
          <p:nvPr/>
        </p:nvSpPr>
        <p:spPr bwMode="auto">
          <a:xfrm rot="-5125088">
            <a:off x="3439319" y="781844"/>
            <a:ext cx="3833813" cy="5521325"/>
          </a:xfrm>
          <a:custGeom>
            <a:avLst/>
            <a:gdLst>
              <a:gd name="T0" fmla="*/ 0 w 21600"/>
              <a:gd name="T1" fmla="*/ 0 h 22076"/>
              <a:gd name="T2" fmla="*/ 2147483647 w 21600"/>
              <a:gd name="T3" fmla="*/ 2147483647 h 22076"/>
              <a:gd name="T4" fmla="*/ 0 w 21600"/>
              <a:gd name="T5" fmla="*/ 2147483647 h 22076"/>
              <a:gd name="T6" fmla="*/ 0 60000 65536"/>
              <a:gd name="T7" fmla="*/ 0 60000 65536"/>
              <a:gd name="T8" fmla="*/ 0 60000 65536"/>
              <a:gd name="T9" fmla="*/ 0 w 21600"/>
              <a:gd name="T10" fmla="*/ 0 h 22076"/>
              <a:gd name="T11" fmla="*/ 21600 w 21600"/>
              <a:gd name="T12" fmla="*/ 22076 h 220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2076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1758"/>
                  <a:pt x="21598" y="21917"/>
                  <a:pt x="21594" y="22075"/>
                </a:cubicBezTo>
              </a:path>
              <a:path w="21600" h="22076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1758"/>
                  <a:pt x="21598" y="21917"/>
                  <a:pt x="21594" y="22075"/>
                </a:cubicBezTo>
                <a:lnTo>
                  <a:pt x="0" y="21600"/>
                </a:lnTo>
                <a:close/>
              </a:path>
            </a:pathLst>
          </a:custGeom>
          <a:noFill/>
          <a:ln w="38100">
            <a:solidFill>
              <a:schemeClr val="hlink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42009" name="Arc 25"/>
          <p:cNvSpPr>
            <a:spLocks/>
          </p:cNvSpPr>
          <p:nvPr/>
        </p:nvSpPr>
        <p:spPr bwMode="auto">
          <a:xfrm rot="-5125088">
            <a:off x="3500437" y="938213"/>
            <a:ext cx="3660775" cy="5480050"/>
          </a:xfrm>
          <a:custGeom>
            <a:avLst/>
            <a:gdLst>
              <a:gd name="T0" fmla="*/ 2147483647 w 21600"/>
              <a:gd name="T1" fmla="*/ 0 h 21597"/>
              <a:gd name="T2" fmla="*/ 2147483647 w 21600"/>
              <a:gd name="T3" fmla="*/ 2147483647 h 21597"/>
              <a:gd name="T4" fmla="*/ 0 w 21600"/>
              <a:gd name="T5" fmla="*/ 2147483647 h 21597"/>
              <a:gd name="T6" fmla="*/ 0 60000 65536"/>
              <a:gd name="T7" fmla="*/ 0 60000 65536"/>
              <a:gd name="T8" fmla="*/ 0 60000 65536"/>
              <a:gd name="T9" fmla="*/ 0 w 21600"/>
              <a:gd name="T10" fmla="*/ 0 h 21597"/>
              <a:gd name="T11" fmla="*/ 21600 w 21600"/>
              <a:gd name="T12" fmla="*/ 21597 h 2159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597" fill="none" extrusionOk="0">
                <a:moveTo>
                  <a:pt x="367" y="0"/>
                </a:moveTo>
                <a:cubicBezTo>
                  <a:pt x="12152" y="200"/>
                  <a:pt x="21600" y="9811"/>
                  <a:pt x="21600" y="21597"/>
                </a:cubicBezTo>
              </a:path>
              <a:path w="21600" h="21597" stroke="0" extrusionOk="0">
                <a:moveTo>
                  <a:pt x="367" y="0"/>
                </a:moveTo>
                <a:cubicBezTo>
                  <a:pt x="12152" y="200"/>
                  <a:pt x="21600" y="9811"/>
                  <a:pt x="21600" y="21597"/>
                </a:cubicBezTo>
                <a:lnTo>
                  <a:pt x="0" y="21597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  <a:prstDash val="sysDot"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42010" name="Arc 26"/>
          <p:cNvSpPr>
            <a:spLocks/>
          </p:cNvSpPr>
          <p:nvPr/>
        </p:nvSpPr>
        <p:spPr bwMode="auto">
          <a:xfrm rot="-5125088">
            <a:off x="3402013" y="593725"/>
            <a:ext cx="3887787" cy="5510213"/>
          </a:xfrm>
          <a:custGeom>
            <a:avLst/>
            <a:gdLst>
              <a:gd name="T0" fmla="*/ 2147483647 w 21600"/>
              <a:gd name="T1" fmla="*/ 0 h 21683"/>
              <a:gd name="T2" fmla="*/ 2147483647 w 21600"/>
              <a:gd name="T3" fmla="*/ 2147483647 h 21683"/>
              <a:gd name="T4" fmla="*/ 0 w 21600"/>
              <a:gd name="T5" fmla="*/ 2147483647 h 21683"/>
              <a:gd name="T6" fmla="*/ 0 60000 65536"/>
              <a:gd name="T7" fmla="*/ 0 60000 65536"/>
              <a:gd name="T8" fmla="*/ 0 60000 65536"/>
              <a:gd name="T9" fmla="*/ 0 w 21600"/>
              <a:gd name="T10" fmla="*/ 0 h 21683"/>
              <a:gd name="T11" fmla="*/ 21600 w 21600"/>
              <a:gd name="T12" fmla="*/ 21683 h 2168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83" fill="none" extrusionOk="0">
                <a:moveTo>
                  <a:pt x="342" y="-1"/>
                </a:moveTo>
                <a:cubicBezTo>
                  <a:pt x="12136" y="186"/>
                  <a:pt x="21600" y="9800"/>
                  <a:pt x="21600" y="21597"/>
                </a:cubicBezTo>
                <a:cubicBezTo>
                  <a:pt x="21600" y="21625"/>
                  <a:pt x="21599" y="21654"/>
                  <a:pt x="21599" y="21682"/>
                </a:cubicBezTo>
              </a:path>
              <a:path w="21600" h="21683" stroke="0" extrusionOk="0">
                <a:moveTo>
                  <a:pt x="342" y="-1"/>
                </a:moveTo>
                <a:cubicBezTo>
                  <a:pt x="12136" y="186"/>
                  <a:pt x="21600" y="9800"/>
                  <a:pt x="21600" y="21597"/>
                </a:cubicBezTo>
                <a:cubicBezTo>
                  <a:pt x="21600" y="21625"/>
                  <a:pt x="21599" y="21654"/>
                  <a:pt x="21599" y="21682"/>
                </a:cubicBezTo>
                <a:lnTo>
                  <a:pt x="0" y="21597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  <a:prstDash val="sysDot"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42011" name="Text Box 27"/>
          <p:cNvSpPr txBox="1">
            <a:spLocks noChangeArrowheads="1"/>
          </p:cNvSpPr>
          <p:nvPr/>
        </p:nvSpPr>
        <p:spPr bwMode="auto">
          <a:xfrm>
            <a:off x="976313" y="5718175"/>
            <a:ext cx="7221537" cy="9794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>
              <a:lnSpc>
                <a:spcPct val="80000"/>
              </a:lnSpc>
            </a:pPr>
            <a:r>
              <a:rPr lang="fr-FR" sz="2000" b="1">
                <a:solidFill>
                  <a:schemeClr val="bg1"/>
                </a:solidFill>
              </a:rPr>
              <a:t>Sédentaire       500      1000     1500     2000     2500     3000</a:t>
            </a:r>
          </a:p>
          <a:p>
            <a:pPr eaLnBrk="0" hangingPunct="0">
              <a:lnSpc>
                <a:spcPct val="80000"/>
              </a:lnSpc>
            </a:pPr>
            <a:endParaRPr lang="fr-FR" sz="2400">
              <a:solidFill>
                <a:schemeClr val="bg1"/>
              </a:solidFill>
              <a:latin typeface="Times New Roman" pitchFamily="18" charset="0"/>
            </a:endParaRPr>
          </a:p>
          <a:p>
            <a:pPr eaLnBrk="0" hangingPunct="0">
              <a:lnSpc>
                <a:spcPct val="80000"/>
              </a:lnSpc>
            </a:pPr>
            <a:r>
              <a:rPr lang="fr-FR" sz="2800">
                <a:solidFill>
                  <a:schemeClr val="bg1"/>
                </a:solidFill>
              </a:rPr>
              <a:t>Quantité d’activité physique (kcal / semaine)</a:t>
            </a:r>
            <a:endParaRPr lang="es-CL" sz="2800">
              <a:solidFill>
                <a:schemeClr val="bg1"/>
              </a:solidFill>
            </a:endParaRPr>
          </a:p>
        </p:txBody>
      </p:sp>
      <p:sp>
        <p:nvSpPr>
          <p:cNvPr id="42012" name="Text Box 28"/>
          <p:cNvSpPr txBox="1">
            <a:spLocks noChangeArrowheads="1"/>
          </p:cNvSpPr>
          <p:nvPr/>
        </p:nvSpPr>
        <p:spPr bwMode="auto">
          <a:xfrm rot="-5430503">
            <a:off x="-1385887" y="3949700"/>
            <a:ext cx="3943350" cy="523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2800">
                <a:solidFill>
                  <a:schemeClr val="bg1"/>
                </a:solidFill>
              </a:rPr>
              <a:t>Bénéfices pour la santé</a:t>
            </a:r>
            <a:endParaRPr lang="es-CL" sz="2800">
              <a:solidFill>
                <a:schemeClr val="bg1"/>
              </a:solidFill>
            </a:endParaRPr>
          </a:p>
        </p:txBody>
      </p:sp>
      <p:sp>
        <p:nvSpPr>
          <p:cNvPr id="42013" name="Text Box 29"/>
          <p:cNvSpPr txBox="1">
            <a:spLocks noChangeArrowheads="1"/>
          </p:cNvSpPr>
          <p:nvPr/>
        </p:nvSpPr>
        <p:spPr bwMode="auto">
          <a:xfrm>
            <a:off x="381000" y="228600"/>
            <a:ext cx="8610600" cy="1006475"/>
          </a:xfrm>
          <a:prstGeom prst="rect">
            <a:avLst/>
          </a:prstGeom>
          <a:gradFill rotWithShape="0">
            <a:gsLst>
              <a:gs pos="0">
                <a:srgbClr val="99CCFF"/>
              </a:gs>
              <a:gs pos="50000">
                <a:srgbClr val="C1E0FF"/>
              </a:gs>
              <a:gs pos="100000">
                <a:srgbClr val="99CCFF"/>
              </a:gs>
            </a:gsLst>
            <a:lin ang="5400000" scaled="1"/>
          </a:gradFill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eaLnBrk="0" hangingPunct="0"/>
            <a:r>
              <a:rPr lang="fr-FR" sz="2000" b="1"/>
              <a:t>Relation « quantité-bénéfices » illustrant le lien entre la dépense</a:t>
            </a:r>
          </a:p>
          <a:p>
            <a:pPr algn="ctr" eaLnBrk="0" hangingPunct="0"/>
            <a:r>
              <a:rPr lang="fr-FR" sz="2000" b="1"/>
              <a:t>hebdomadaire d’énergie et les bénéfices attendus pour la santé </a:t>
            </a:r>
          </a:p>
          <a:p>
            <a:pPr algn="ctr" eaLnBrk="0" hangingPunct="0"/>
            <a:r>
              <a:rPr lang="fr-FR" sz="2000" b="1"/>
              <a:t>chez les personnes sédentaires (D’après Kino-Québec 1999)</a:t>
            </a:r>
            <a:endParaRPr lang="es-CL" sz="2000" b="1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42844" y="1714500"/>
            <a:ext cx="9001155" cy="32766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fr-FR" b="1" dirty="0" smtClean="0">
                <a:solidFill>
                  <a:srgbClr val="99FF33"/>
                </a:solidFill>
                <a:latin typeface="Bookman Old Style" pitchFamily="18" charset="0"/>
              </a:rPr>
              <a:t>« T » de temps </a:t>
            </a:r>
            <a:r>
              <a:rPr lang="fr-FR" sz="2800" b="1" dirty="0" smtClean="0">
                <a:solidFill>
                  <a:schemeClr val="bg1"/>
                </a:solidFill>
                <a:latin typeface="Bookman Old Style" pitchFamily="18" charset="0"/>
              </a:rPr>
              <a:t>: </a:t>
            </a:r>
          </a:p>
          <a:p>
            <a:pPr>
              <a:lnSpc>
                <a:spcPct val="120000"/>
              </a:lnSpc>
            </a:pPr>
            <a:r>
              <a:rPr lang="fr-FR" sz="2200" b="1" dirty="0" smtClean="0">
                <a:solidFill>
                  <a:schemeClr val="bg1"/>
                </a:solidFill>
                <a:latin typeface="Bookman Old Style" pitchFamily="18" charset="0"/>
              </a:rPr>
              <a:t>Durée d ’un exercice nécessaire pour mobiliser la source énergétique aérobie (minimum 15 min) et durée de la récupération pour reconstituer les réserves  énergétiques sollicitées.       </a:t>
            </a:r>
            <a:r>
              <a:rPr lang="fr-FR" dirty="0" smtClean="0"/>
              <a:t>	</a:t>
            </a:r>
            <a:endParaRPr lang="es-CL" sz="2800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86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86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22" grpId="0" build="p" autoUpdateAnimBg="0" advAuto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610" name="Group 2"/>
          <p:cNvGraphicFramePr>
            <a:graphicFrameLocks noGrp="1"/>
          </p:cNvGraphicFramePr>
          <p:nvPr/>
        </p:nvGraphicFramePr>
        <p:xfrm>
          <a:off x="990600" y="1466850"/>
          <a:ext cx="7467600" cy="4191000"/>
        </p:xfrm>
        <a:graphic>
          <a:graphicData uri="http://schemas.openxmlformats.org/drawingml/2006/table">
            <a:tbl>
              <a:tblPr/>
              <a:tblGrid>
                <a:gridCol w="1143000"/>
                <a:gridCol w="908050"/>
                <a:gridCol w="920750"/>
                <a:gridCol w="914400"/>
                <a:gridCol w="914400"/>
                <a:gridCol w="914400"/>
                <a:gridCol w="914400"/>
                <a:gridCol w="838200"/>
              </a:tblGrid>
              <a:tr h="419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CL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rgbClr val="FF0000">
                            <a:tint val="66000"/>
                            <a:satMod val="160000"/>
                          </a:srgbClr>
                        </a:gs>
                        <a:gs pos="50000">
                          <a:srgbClr val="FF0000">
                            <a:tint val="44500"/>
                            <a:satMod val="160000"/>
                          </a:srgbClr>
                        </a:gs>
                        <a:gs pos="100000">
                          <a:srgbClr val="FF0000">
                            <a:tint val="23500"/>
                            <a:satMod val="160000"/>
                          </a:srgb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CL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rgbClr val="FF0000">
                            <a:tint val="66000"/>
                            <a:satMod val="160000"/>
                          </a:srgbClr>
                        </a:gs>
                        <a:gs pos="50000">
                          <a:srgbClr val="FF0000">
                            <a:tint val="44500"/>
                            <a:satMod val="160000"/>
                          </a:srgbClr>
                        </a:gs>
                        <a:gs pos="100000">
                          <a:srgbClr val="FF0000">
                            <a:tint val="23500"/>
                            <a:satMod val="160000"/>
                          </a:srgb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CL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rgbClr val="FF0000">
                            <a:tint val="66000"/>
                            <a:satMod val="160000"/>
                          </a:srgbClr>
                        </a:gs>
                        <a:gs pos="50000">
                          <a:srgbClr val="FF0000">
                            <a:tint val="44500"/>
                            <a:satMod val="160000"/>
                          </a:srgbClr>
                        </a:gs>
                        <a:gs pos="100000">
                          <a:srgbClr val="FF0000">
                            <a:tint val="23500"/>
                            <a:satMod val="160000"/>
                          </a:srgb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CL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rgbClr val="FF0000">
                            <a:tint val="66000"/>
                            <a:satMod val="160000"/>
                          </a:srgbClr>
                        </a:gs>
                        <a:gs pos="50000">
                          <a:srgbClr val="FF0000">
                            <a:tint val="44500"/>
                            <a:satMod val="160000"/>
                          </a:srgbClr>
                        </a:gs>
                        <a:gs pos="100000">
                          <a:srgbClr val="FF0000">
                            <a:tint val="23500"/>
                            <a:satMod val="160000"/>
                          </a:srgb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CL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CL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CL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rgbClr val="FF0000">
                            <a:tint val="66000"/>
                            <a:satMod val="160000"/>
                          </a:srgbClr>
                        </a:gs>
                        <a:gs pos="50000">
                          <a:srgbClr val="FF0000">
                            <a:tint val="44500"/>
                            <a:satMod val="160000"/>
                          </a:srgbClr>
                        </a:gs>
                        <a:gs pos="100000">
                          <a:srgbClr val="FF0000">
                            <a:tint val="23500"/>
                            <a:satMod val="160000"/>
                          </a:srgb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CL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rgbClr val="FF0000">
                            <a:tint val="66000"/>
                            <a:satMod val="160000"/>
                          </a:srgbClr>
                        </a:gs>
                        <a:gs pos="50000">
                          <a:srgbClr val="FF0000">
                            <a:tint val="44500"/>
                            <a:satMod val="160000"/>
                          </a:srgbClr>
                        </a:gs>
                        <a:gs pos="100000">
                          <a:srgbClr val="FF0000">
                            <a:tint val="23500"/>
                            <a:satMod val="160000"/>
                          </a:srgb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</a:tr>
            </a:tbl>
          </a:graphicData>
        </a:graphic>
      </p:graphicFrame>
      <p:sp>
        <p:nvSpPr>
          <p:cNvPr id="44056" name="Arc 24"/>
          <p:cNvSpPr>
            <a:spLocks/>
          </p:cNvSpPr>
          <p:nvPr/>
        </p:nvSpPr>
        <p:spPr bwMode="auto">
          <a:xfrm rot="-5125088">
            <a:off x="3439319" y="781844"/>
            <a:ext cx="3833813" cy="5521325"/>
          </a:xfrm>
          <a:custGeom>
            <a:avLst/>
            <a:gdLst>
              <a:gd name="T0" fmla="*/ 0 w 21600"/>
              <a:gd name="T1" fmla="*/ 0 h 22076"/>
              <a:gd name="T2" fmla="*/ 2147483647 w 21600"/>
              <a:gd name="T3" fmla="*/ 2147483647 h 22076"/>
              <a:gd name="T4" fmla="*/ 0 w 21600"/>
              <a:gd name="T5" fmla="*/ 2147483647 h 22076"/>
              <a:gd name="T6" fmla="*/ 0 60000 65536"/>
              <a:gd name="T7" fmla="*/ 0 60000 65536"/>
              <a:gd name="T8" fmla="*/ 0 60000 65536"/>
              <a:gd name="T9" fmla="*/ 0 w 21600"/>
              <a:gd name="T10" fmla="*/ 0 h 22076"/>
              <a:gd name="T11" fmla="*/ 21600 w 21600"/>
              <a:gd name="T12" fmla="*/ 22076 h 220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2076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1758"/>
                  <a:pt x="21598" y="21917"/>
                  <a:pt x="21594" y="22075"/>
                </a:cubicBezTo>
              </a:path>
              <a:path w="21600" h="22076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1758"/>
                  <a:pt x="21598" y="21917"/>
                  <a:pt x="21594" y="22075"/>
                </a:cubicBezTo>
                <a:lnTo>
                  <a:pt x="0" y="21600"/>
                </a:lnTo>
                <a:close/>
              </a:path>
            </a:pathLst>
          </a:custGeom>
          <a:noFill/>
          <a:ln w="38100">
            <a:solidFill>
              <a:schemeClr val="hlink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44057" name="Arc 25"/>
          <p:cNvSpPr>
            <a:spLocks/>
          </p:cNvSpPr>
          <p:nvPr/>
        </p:nvSpPr>
        <p:spPr bwMode="auto">
          <a:xfrm rot="-5125088">
            <a:off x="3500437" y="938213"/>
            <a:ext cx="3660775" cy="5480050"/>
          </a:xfrm>
          <a:custGeom>
            <a:avLst/>
            <a:gdLst>
              <a:gd name="T0" fmla="*/ 2147483647 w 21600"/>
              <a:gd name="T1" fmla="*/ 0 h 21597"/>
              <a:gd name="T2" fmla="*/ 2147483647 w 21600"/>
              <a:gd name="T3" fmla="*/ 2147483647 h 21597"/>
              <a:gd name="T4" fmla="*/ 0 w 21600"/>
              <a:gd name="T5" fmla="*/ 2147483647 h 21597"/>
              <a:gd name="T6" fmla="*/ 0 60000 65536"/>
              <a:gd name="T7" fmla="*/ 0 60000 65536"/>
              <a:gd name="T8" fmla="*/ 0 60000 65536"/>
              <a:gd name="T9" fmla="*/ 0 w 21600"/>
              <a:gd name="T10" fmla="*/ 0 h 21597"/>
              <a:gd name="T11" fmla="*/ 21600 w 21600"/>
              <a:gd name="T12" fmla="*/ 21597 h 2159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597" fill="none" extrusionOk="0">
                <a:moveTo>
                  <a:pt x="367" y="0"/>
                </a:moveTo>
                <a:cubicBezTo>
                  <a:pt x="12152" y="200"/>
                  <a:pt x="21600" y="9811"/>
                  <a:pt x="21600" y="21597"/>
                </a:cubicBezTo>
              </a:path>
              <a:path w="21600" h="21597" stroke="0" extrusionOk="0">
                <a:moveTo>
                  <a:pt x="367" y="0"/>
                </a:moveTo>
                <a:cubicBezTo>
                  <a:pt x="12152" y="200"/>
                  <a:pt x="21600" y="9811"/>
                  <a:pt x="21600" y="21597"/>
                </a:cubicBezTo>
                <a:lnTo>
                  <a:pt x="0" y="21597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  <a:prstDash val="sysDot"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44058" name="Arc 26"/>
          <p:cNvSpPr>
            <a:spLocks/>
          </p:cNvSpPr>
          <p:nvPr/>
        </p:nvSpPr>
        <p:spPr bwMode="auto">
          <a:xfrm rot="-5125088">
            <a:off x="3402013" y="593725"/>
            <a:ext cx="3887787" cy="5510213"/>
          </a:xfrm>
          <a:custGeom>
            <a:avLst/>
            <a:gdLst>
              <a:gd name="T0" fmla="*/ 2147483647 w 21600"/>
              <a:gd name="T1" fmla="*/ 0 h 21683"/>
              <a:gd name="T2" fmla="*/ 2147483647 w 21600"/>
              <a:gd name="T3" fmla="*/ 2147483647 h 21683"/>
              <a:gd name="T4" fmla="*/ 0 w 21600"/>
              <a:gd name="T5" fmla="*/ 2147483647 h 21683"/>
              <a:gd name="T6" fmla="*/ 0 60000 65536"/>
              <a:gd name="T7" fmla="*/ 0 60000 65536"/>
              <a:gd name="T8" fmla="*/ 0 60000 65536"/>
              <a:gd name="T9" fmla="*/ 0 w 21600"/>
              <a:gd name="T10" fmla="*/ 0 h 21683"/>
              <a:gd name="T11" fmla="*/ 21600 w 21600"/>
              <a:gd name="T12" fmla="*/ 21683 h 2168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83" fill="none" extrusionOk="0">
                <a:moveTo>
                  <a:pt x="342" y="-1"/>
                </a:moveTo>
                <a:cubicBezTo>
                  <a:pt x="12136" y="186"/>
                  <a:pt x="21600" y="9800"/>
                  <a:pt x="21600" y="21597"/>
                </a:cubicBezTo>
                <a:cubicBezTo>
                  <a:pt x="21600" y="21625"/>
                  <a:pt x="21599" y="21654"/>
                  <a:pt x="21599" y="21682"/>
                </a:cubicBezTo>
              </a:path>
              <a:path w="21600" h="21683" stroke="0" extrusionOk="0">
                <a:moveTo>
                  <a:pt x="342" y="-1"/>
                </a:moveTo>
                <a:cubicBezTo>
                  <a:pt x="12136" y="186"/>
                  <a:pt x="21600" y="9800"/>
                  <a:pt x="21600" y="21597"/>
                </a:cubicBezTo>
                <a:cubicBezTo>
                  <a:pt x="21600" y="21625"/>
                  <a:pt x="21599" y="21654"/>
                  <a:pt x="21599" y="21682"/>
                </a:cubicBezTo>
                <a:lnTo>
                  <a:pt x="0" y="21597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  <a:prstDash val="sysDot"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44059" name="Text Box 27"/>
          <p:cNvSpPr txBox="1">
            <a:spLocks noChangeArrowheads="1"/>
          </p:cNvSpPr>
          <p:nvPr/>
        </p:nvSpPr>
        <p:spPr bwMode="auto">
          <a:xfrm>
            <a:off x="-184150" y="5718175"/>
            <a:ext cx="8083550" cy="9794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ctr" eaLnBrk="0" hangingPunct="0">
              <a:lnSpc>
                <a:spcPct val="80000"/>
              </a:lnSpc>
            </a:pPr>
            <a:r>
              <a:rPr lang="fr-FR" sz="2000" b="1">
                <a:solidFill>
                  <a:schemeClr val="bg1"/>
                </a:solidFill>
              </a:rPr>
              <a:t>                Sédentaire       100       200       300       400       500       600</a:t>
            </a:r>
          </a:p>
          <a:p>
            <a:pPr algn="ctr" eaLnBrk="0" hangingPunct="0">
              <a:lnSpc>
                <a:spcPct val="80000"/>
              </a:lnSpc>
            </a:pPr>
            <a:endParaRPr lang="fr-FR" sz="2400">
              <a:solidFill>
                <a:schemeClr val="bg1"/>
              </a:solidFill>
              <a:latin typeface="Times New Roman" pitchFamily="18" charset="0"/>
            </a:endParaRPr>
          </a:p>
          <a:p>
            <a:pPr algn="ctr" eaLnBrk="0" hangingPunct="0">
              <a:lnSpc>
                <a:spcPct val="80000"/>
              </a:lnSpc>
            </a:pPr>
            <a:r>
              <a:rPr lang="fr-FR" sz="2800">
                <a:solidFill>
                  <a:schemeClr val="bg1"/>
                </a:solidFill>
              </a:rPr>
              <a:t>Durée hebdomadaire (en minutes)</a:t>
            </a:r>
            <a:endParaRPr lang="es-CL" sz="2800">
              <a:solidFill>
                <a:schemeClr val="bg1"/>
              </a:solidFill>
            </a:endParaRPr>
          </a:p>
        </p:txBody>
      </p:sp>
      <p:sp>
        <p:nvSpPr>
          <p:cNvPr id="44060" name="Text Box 28"/>
          <p:cNvSpPr txBox="1">
            <a:spLocks noChangeArrowheads="1"/>
          </p:cNvSpPr>
          <p:nvPr/>
        </p:nvSpPr>
        <p:spPr bwMode="auto">
          <a:xfrm rot="-5430503">
            <a:off x="-1386681" y="3212306"/>
            <a:ext cx="3944938" cy="523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2800">
                <a:solidFill>
                  <a:schemeClr val="bg1"/>
                </a:solidFill>
              </a:rPr>
              <a:t>Bénéfices pour la santé</a:t>
            </a:r>
            <a:endParaRPr lang="es-CL" sz="2800">
              <a:solidFill>
                <a:schemeClr val="bg1"/>
              </a:solidFill>
            </a:endParaRPr>
          </a:p>
        </p:txBody>
      </p:sp>
      <p:sp>
        <p:nvSpPr>
          <p:cNvPr id="44061" name="Text Box 29"/>
          <p:cNvSpPr txBox="1">
            <a:spLocks noChangeArrowheads="1"/>
          </p:cNvSpPr>
          <p:nvPr/>
        </p:nvSpPr>
        <p:spPr bwMode="auto">
          <a:xfrm>
            <a:off x="304800" y="228600"/>
            <a:ext cx="8534400" cy="1006475"/>
          </a:xfrm>
          <a:prstGeom prst="rect">
            <a:avLst/>
          </a:prstGeom>
          <a:gradFill rotWithShape="0">
            <a:gsLst>
              <a:gs pos="0">
                <a:srgbClr val="99CCFF"/>
              </a:gs>
              <a:gs pos="50000">
                <a:srgbClr val="C1E0FF"/>
              </a:gs>
              <a:gs pos="100000">
                <a:srgbClr val="99CCFF"/>
              </a:gs>
            </a:gsLst>
            <a:lin ang="5400000" scaled="1"/>
          </a:gradFill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eaLnBrk="0" hangingPunct="0"/>
            <a:r>
              <a:rPr lang="fr-FR" sz="2000" b="1">
                <a:solidFill>
                  <a:srgbClr val="000000"/>
                </a:solidFill>
              </a:rPr>
              <a:t>Relation entre la durée hebdomadaire de participation à des </a:t>
            </a:r>
          </a:p>
          <a:p>
            <a:pPr algn="ctr" eaLnBrk="0" hangingPunct="0"/>
            <a:r>
              <a:rPr lang="fr-FR" sz="2000" b="1">
                <a:solidFill>
                  <a:srgbClr val="000000"/>
                </a:solidFill>
              </a:rPr>
              <a:t>activités physiques et les bénéfices attendus pour la santé </a:t>
            </a:r>
          </a:p>
          <a:p>
            <a:pPr algn="ctr" eaLnBrk="0" hangingPunct="0"/>
            <a:r>
              <a:rPr lang="fr-FR" sz="2000" b="1">
                <a:solidFill>
                  <a:srgbClr val="000000"/>
                </a:solidFill>
              </a:rPr>
              <a:t>chez les personnes sédentaires (d’après Kino-Québec 1999)</a:t>
            </a:r>
            <a:endParaRPr lang="es-CL" sz="2000" b="1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4375" y="71438"/>
            <a:ext cx="8153400" cy="6786562"/>
          </a:xfrm>
        </p:spPr>
        <p:txBody>
          <a:bodyPr/>
          <a:lstStyle/>
          <a:p>
            <a:pPr marL="0" indent="0">
              <a:spcAft>
                <a:spcPct val="45000"/>
              </a:spcAft>
              <a:buFont typeface="Monotype Sorts" pitchFamily="2" charset="2"/>
              <a:buNone/>
              <a:defRPr/>
            </a:pPr>
            <a:r>
              <a:rPr lang="fr-FR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</a:rPr>
              <a:t>« P » de progressivité</a:t>
            </a:r>
            <a:r>
              <a:rPr lang="fr-FR" b="1" dirty="0">
                <a:solidFill>
                  <a:srgbClr val="FFFF00"/>
                </a:solidFill>
                <a:latin typeface="Bookman Old Style" pitchFamily="18" charset="0"/>
              </a:rPr>
              <a:t> : </a:t>
            </a:r>
          </a:p>
          <a:p>
            <a:pPr marL="0" indent="0">
              <a:spcAft>
                <a:spcPct val="45000"/>
              </a:spcAft>
              <a:buFont typeface="Monotype Sorts" pitchFamily="2" charset="2"/>
              <a:buNone/>
              <a:defRPr/>
            </a:pPr>
            <a:r>
              <a:rPr lang="fr-FR" sz="2000" b="1" dirty="0">
                <a:solidFill>
                  <a:schemeClr val="bg1"/>
                </a:solidFill>
                <a:latin typeface="Bookman Old Style" pitchFamily="18" charset="0"/>
              </a:rPr>
              <a:t>Une augmentation progressive, du volume et de l’intensité sont indispensables aux réactions </a:t>
            </a:r>
            <a:r>
              <a:rPr lang="fr-FR" sz="2000" b="1" dirty="0" smtClean="0">
                <a:solidFill>
                  <a:schemeClr val="bg1"/>
                </a:solidFill>
                <a:latin typeface="Bookman Old Style" pitchFamily="18" charset="0"/>
              </a:rPr>
              <a:t>d’adaptations </a:t>
            </a:r>
            <a:r>
              <a:rPr lang="fr-FR" sz="2000" b="1" dirty="0">
                <a:solidFill>
                  <a:schemeClr val="bg1"/>
                </a:solidFill>
                <a:latin typeface="Bookman Old Style" pitchFamily="18" charset="0"/>
              </a:rPr>
              <a:t>physiologiques recherchées. </a:t>
            </a:r>
            <a:endParaRPr lang="fr-FR" sz="2000" b="1" dirty="0" smtClean="0">
              <a:solidFill>
                <a:schemeClr val="bg1"/>
              </a:solidFill>
              <a:latin typeface="Bookman Old Style" pitchFamily="18" charset="0"/>
            </a:endParaRPr>
          </a:p>
          <a:p>
            <a:pPr>
              <a:lnSpc>
                <a:spcPct val="120000"/>
              </a:lnSpc>
              <a:buFontTx/>
              <a:buNone/>
              <a:defRPr/>
            </a:pPr>
            <a:r>
              <a:rPr lang="es-CL" sz="2000" b="1" dirty="0" err="1" smtClean="0">
                <a:solidFill>
                  <a:schemeClr val="bg1"/>
                </a:solidFill>
                <a:latin typeface="Bookman Old Style" pitchFamily="18" charset="0"/>
              </a:rPr>
              <a:t>Entamer</a:t>
            </a:r>
            <a:r>
              <a:rPr lang="es-CL" sz="2000" b="1" dirty="0" smtClean="0">
                <a:solidFill>
                  <a:schemeClr val="bg1"/>
                </a:solidFill>
                <a:latin typeface="Bookman Old Style" pitchFamily="18" charset="0"/>
              </a:rPr>
              <a:t> un </a:t>
            </a:r>
            <a:r>
              <a:rPr lang="es-CL" sz="2000" b="1" dirty="0" err="1" smtClean="0">
                <a:solidFill>
                  <a:schemeClr val="bg1"/>
                </a:solidFill>
                <a:latin typeface="Bookman Old Style" pitchFamily="18" charset="0"/>
              </a:rPr>
              <a:t>programme</a:t>
            </a:r>
            <a:r>
              <a:rPr lang="es-CL" sz="2000" b="1" dirty="0" smtClean="0">
                <a:solidFill>
                  <a:schemeClr val="bg1"/>
                </a:solidFill>
                <a:latin typeface="Bookman Old Style" pitchFamily="18" charset="0"/>
              </a:rPr>
              <a:t> de </a:t>
            </a:r>
            <a:r>
              <a:rPr lang="es-CL" sz="2000" b="1" dirty="0" err="1" smtClean="0">
                <a:solidFill>
                  <a:schemeClr val="bg1"/>
                </a:solidFill>
                <a:latin typeface="Bookman Old Style" pitchFamily="18" charset="0"/>
              </a:rPr>
              <a:t>remise</a:t>
            </a:r>
            <a:r>
              <a:rPr lang="es-CL" sz="2000" b="1" dirty="0" smtClean="0">
                <a:solidFill>
                  <a:schemeClr val="bg1"/>
                </a:solidFill>
                <a:latin typeface="Bookman Old Style" pitchFamily="18" charset="0"/>
              </a:rPr>
              <a:t> en </a:t>
            </a:r>
            <a:r>
              <a:rPr lang="es-CL" sz="2000" b="1" dirty="0" err="1" smtClean="0">
                <a:solidFill>
                  <a:schemeClr val="bg1"/>
                </a:solidFill>
                <a:latin typeface="Bookman Old Style" pitchFamily="18" charset="0"/>
              </a:rPr>
              <a:t>condition</a:t>
            </a:r>
            <a:r>
              <a:rPr lang="es-CL" sz="2000" b="1" dirty="0" smtClean="0">
                <a:solidFill>
                  <a:schemeClr val="bg1"/>
                </a:solidFill>
                <a:latin typeface="Bookman Old Style" pitchFamily="18" charset="0"/>
              </a:rPr>
              <a:t> </a:t>
            </a:r>
            <a:r>
              <a:rPr lang="es-CL" sz="2000" b="1" dirty="0" err="1" smtClean="0">
                <a:solidFill>
                  <a:schemeClr val="bg1"/>
                </a:solidFill>
                <a:latin typeface="Bookman Old Style" pitchFamily="18" charset="0"/>
              </a:rPr>
              <a:t>physique</a:t>
            </a:r>
            <a:r>
              <a:rPr lang="es-CL" sz="2000" b="1" dirty="0" smtClean="0">
                <a:solidFill>
                  <a:schemeClr val="bg1"/>
                </a:solidFill>
                <a:latin typeface="Bookman Old Style" pitchFamily="18" charset="0"/>
              </a:rPr>
              <a:t> en </a:t>
            </a:r>
            <a:r>
              <a:rPr lang="es-CL" sz="2000" b="1" dirty="0" err="1" smtClean="0">
                <a:solidFill>
                  <a:schemeClr val="bg1"/>
                </a:solidFill>
                <a:latin typeface="Bookman Old Style" pitchFamily="18" charset="0"/>
              </a:rPr>
              <a:t>prenant</a:t>
            </a:r>
            <a:r>
              <a:rPr lang="es-CL" sz="2000" b="1" dirty="0" smtClean="0">
                <a:solidFill>
                  <a:schemeClr val="bg1"/>
                </a:solidFill>
                <a:latin typeface="Bookman Old Style" pitchFamily="18" charset="0"/>
              </a:rPr>
              <a:t> la </a:t>
            </a:r>
            <a:r>
              <a:rPr lang="es-CL" sz="2000" b="1" dirty="0" err="1" smtClean="0">
                <a:solidFill>
                  <a:schemeClr val="bg1"/>
                </a:solidFill>
                <a:latin typeface="Bookman Old Style" pitchFamily="18" charset="0"/>
              </a:rPr>
              <a:t>sage</a:t>
            </a:r>
            <a:r>
              <a:rPr lang="es-CL" sz="2000" b="1" dirty="0" smtClean="0">
                <a:solidFill>
                  <a:schemeClr val="bg1"/>
                </a:solidFill>
                <a:latin typeface="Bookman Old Style" pitchFamily="18" charset="0"/>
              </a:rPr>
              <a:t> </a:t>
            </a:r>
            <a:r>
              <a:rPr lang="es-CL" sz="2000" b="1" dirty="0" err="1" smtClean="0">
                <a:solidFill>
                  <a:schemeClr val="bg1"/>
                </a:solidFill>
                <a:latin typeface="Bookman Old Style" pitchFamily="18" charset="0"/>
              </a:rPr>
              <a:t>précaution</a:t>
            </a:r>
            <a:r>
              <a:rPr lang="es-CL" sz="2000" b="1" dirty="0" smtClean="0">
                <a:solidFill>
                  <a:schemeClr val="bg1"/>
                </a:solidFill>
                <a:latin typeface="Bookman Old Style" pitchFamily="18" charset="0"/>
              </a:rPr>
              <a:t> de faire </a:t>
            </a:r>
            <a:r>
              <a:rPr lang="es-CL" sz="2000" b="1" dirty="0" err="1" smtClean="0">
                <a:solidFill>
                  <a:schemeClr val="bg1"/>
                </a:solidFill>
                <a:latin typeface="Bookman Old Style" pitchFamily="18" charset="0"/>
              </a:rPr>
              <a:t>commencer</a:t>
            </a:r>
            <a:r>
              <a:rPr lang="es-CL" sz="2000" b="1" dirty="0" smtClean="0">
                <a:solidFill>
                  <a:schemeClr val="bg1"/>
                </a:solidFill>
                <a:latin typeface="Bookman Old Style" pitchFamily="18" charset="0"/>
              </a:rPr>
              <a:t> les </a:t>
            </a:r>
            <a:r>
              <a:rPr lang="es-CL" sz="2000" b="1" dirty="0" err="1" smtClean="0">
                <a:solidFill>
                  <a:schemeClr val="bg1"/>
                </a:solidFill>
                <a:latin typeface="Bookman Old Style" pitchFamily="18" charset="0"/>
              </a:rPr>
              <a:t>exercices</a:t>
            </a:r>
            <a:r>
              <a:rPr lang="es-CL" sz="2000" b="1" dirty="0" smtClean="0">
                <a:solidFill>
                  <a:schemeClr val="bg1"/>
                </a:solidFill>
                <a:latin typeface="Bookman Old Style" pitchFamily="18" charset="0"/>
              </a:rPr>
              <a:t> à </a:t>
            </a:r>
            <a:r>
              <a:rPr lang="es-CL" sz="2000" b="1" dirty="0" err="1" smtClean="0">
                <a:solidFill>
                  <a:schemeClr val="bg1"/>
                </a:solidFill>
                <a:latin typeface="Bookman Old Style" pitchFamily="18" charset="0"/>
              </a:rPr>
              <a:t>faible</a:t>
            </a:r>
            <a:r>
              <a:rPr lang="es-CL" sz="2000" b="1" dirty="0" smtClean="0">
                <a:solidFill>
                  <a:schemeClr val="bg1"/>
                </a:solidFill>
                <a:latin typeface="Bookman Old Style" pitchFamily="18" charset="0"/>
              </a:rPr>
              <a:t> </a:t>
            </a:r>
            <a:r>
              <a:rPr lang="es-CL" sz="2000" b="1" dirty="0" err="1" smtClean="0">
                <a:solidFill>
                  <a:schemeClr val="bg1"/>
                </a:solidFill>
                <a:latin typeface="Bookman Old Style" pitchFamily="18" charset="0"/>
              </a:rPr>
              <a:t>intensité</a:t>
            </a:r>
            <a:r>
              <a:rPr lang="es-CL" sz="2000" b="1" dirty="0" smtClean="0">
                <a:solidFill>
                  <a:schemeClr val="bg1"/>
                </a:solidFill>
                <a:latin typeface="Bookman Old Style" pitchFamily="18" charset="0"/>
              </a:rPr>
              <a:t> et </a:t>
            </a:r>
            <a:r>
              <a:rPr lang="es-CL" sz="2000" b="1" dirty="0" err="1" smtClean="0">
                <a:solidFill>
                  <a:schemeClr val="bg1"/>
                </a:solidFill>
                <a:latin typeface="Bookman Old Style" pitchFamily="18" charset="0"/>
              </a:rPr>
              <a:t>n’augmenter</a:t>
            </a:r>
            <a:r>
              <a:rPr lang="es-CL" sz="2000" b="1" dirty="0" smtClean="0">
                <a:solidFill>
                  <a:schemeClr val="bg1"/>
                </a:solidFill>
                <a:latin typeface="Bookman Old Style" pitchFamily="18" charset="0"/>
              </a:rPr>
              <a:t> </a:t>
            </a:r>
            <a:r>
              <a:rPr lang="es-CL" sz="2000" b="1" dirty="0" err="1" smtClean="0">
                <a:solidFill>
                  <a:schemeClr val="bg1"/>
                </a:solidFill>
                <a:latin typeface="Bookman Old Style" pitchFamily="18" charset="0"/>
              </a:rPr>
              <a:t>cette</a:t>
            </a:r>
            <a:r>
              <a:rPr lang="es-CL" sz="2000" b="1" dirty="0" smtClean="0">
                <a:solidFill>
                  <a:schemeClr val="bg1"/>
                </a:solidFill>
                <a:latin typeface="Bookman Old Style" pitchFamily="18" charset="0"/>
              </a:rPr>
              <a:t> </a:t>
            </a:r>
            <a:r>
              <a:rPr lang="es-CL" sz="2000" b="1" dirty="0" err="1" smtClean="0">
                <a:solidFill>
                  <a:schemeClr val="bg1"/>
                </a:solidFill>
                <a:latin typeface="Bookman Old Style" pitchFamily="18" charset="0"/>
              </a:rPr>
              <a:t>dernière</a:t>
            </a:r>
            <a:r>
              <a:rPr lang="es-CL" sz="2000" b="1" dirty="0" smtClean="0">
                <a:solidFill>
                  <a:schemeClr val="bg1"/>
                </a:solidFill>
                <a:latin typeface="Bookman Old Style" pitchFamily="18" charset="0"/>
              </a:rPr>
              <a:t> que  </a:t>
            </a:r>
            <a:r>
              <a:rPr lang="es-CL" sz="2000" b="1" dirty="0" err="1" smtClean="0">
                <a:solidFill>
                  <a:schemeClr val="bg1"/>
                </a:solidFill>
                <a:latin typeface="Bookman Old Style" pitchFamily="18" charset="0"/>
              </a:rPr>
              <a:t>très</a:t>
            </a:r>
            <a:r>
              <a:rPr lang="es-CL" sz="2000" b="1" dirty="0" smtClean="0">
                <a:solidFill>
                  <a:schemeClr val="bg1"/>
                </a:solidFill>
                <a:latin typeface="Bookman Old Style" pitchFamily="18" charset="0"/>
              </a:rPr>
              <a:t> </a:t>
            </a:r>
            <a:r>
              <a:rPr lang="es-CL" sz="2000" b="1" dirty="0" err="1" smtClean="0">
                <a:solidFill>
                  <a:schemeClr val="bg1"/>
                </a:solidFill>
                <a:latin typeface="Bookman Old Style" pitchFamily="18" charset="0"/>
              </a:rPr>
              <a:t>progressivement</a:t>
            </a:r>
            <a:r>
              <a:rPr lang="es-CL" sz="2000" b="1" dirty="0" smtClean="0">
                <a:solidFill>
                  <a:schemeClr val="bg1"/>
                </a:solidFill>
                <a:latin typeface="Bookman Old Style" pitchFamily="18" charset="0"/>
              </a:rPr>
              <a:t>.</a:t>
            </a:r>
          </a:p>
          <a:p>
            <a:pPr>
              <a:buFont typeface="Monotype Sorts" charset="2"/>
              <a:buNone/>
              <a:defRPr/>
            </a:pPr>
            <a:endParaRPr lang="es-CL" sz="2000" b="1" dirty="0" smtClean="0">
              <a:solidFill>
                <a:schemeClr val="bg1"/>
              </a:solidFill>
              <a:latin typeface="Bookman Old Style" pitchFamily="18" charset="0"/>
            </a:endParaRPr>
          </a:p>
          <a:p>
            <a:pPr>
              <a:buFontTx/>
              <a:buNone/>
              <a:defRPr/>
            </a:pPr>
            <a:r>
              <a:rPr lang="es-CL" sz="2000" b="1" dirty="0" err="1" smtClean="0">
                <a:solidFill>
                  <a:schemeClr val="bg1"/>
                </a:solidFill>
                <a:latin typeface="Bookman Old Style" pitchFamily="18" charset="0"/>
              </a:rPr>
              <a:t>Exemple</a:t>
            </a:r>
            <a:r>
              <a:rPr lang="es-CL" sz="2000" b="1" dirty="0" smtClean="0">
                <a:solidFill>
                  <a:schemeClr val="bg1"/>
                </a:solidFill>
                <a:latin typeface="Bookman Old Style" pitchFamily="18" charset="0"/>
              </a:rPr>
              <a:t> des </a:t>
            </a:r>
            <a:r>
              <a:rPr lang="es-CL" sz="2000" b="1" dirty="0" err="1" smtClean="0">
                <a:solidFill>
                  <a:schemeClr val="bg1"/>
                </a:solidFill>
                <a:latin typeface="Bookman Old Style" pitchFamily="18" charset="0"/>
              </a:rPr>
              <a:t>premières</a:t>
            </a:r>
            <a:r>
              <a:rPr lang="es-CL" sz="2000" b="1" dirty="0" smtClean="0">
                <a:solidFill>
                  <a:schemeClr val="bg1"/>
                </a:solidFill>
                <a:latin typeface="Bookman Old Style" pitchFamily="18" charset="0"/>
              </a:rPr>
              <a:t> </a:t>
            </a:r>
            <a:r>
              <a:rPr lang="es-CL" sz="2000" b="1" dirty="0" err="1" smtClean="0">
                <a:solidFill>
                  <a:schemeClr val="bg1"/>
                </a:solidFill>
                <a:latin typeface="Bookman Old Style" pitchFamily="18" charset="0"/>
              </a:rPr>
              <a:t>séances</a:t>
            </a:r>
            <a:r>
              <a:rPr lang="es-CL" sz="2000" b="1" dirty="0" smtClean="0">
                <a:solidFill>
                  <a:schemeClr val="bg1"/>
                </a:solidFill>
                <a:latin typeface="Bookman Old Style" pitchFamily="18" charset="0"/>
              </a:rPr>
              <a:t> </a:t>
            </a:r>
            <a:r>
              <a:rPr lang="es-CL" sz="2000" b="1" dirty="0" err="1" smtClean="0">
                <a:solidFill>
                  <a:schemeClr val="bg1"/>
                </a:solidFill>
                <a:latin typeface="Bookman Old Style" pitchFamily="18" charset="0"/>
              </a:rPr>
              <a:t>pour</a:t>
            </a:r>
            <a:r>
              <a:rPr lang="es-CL" sz="2000" b="1" dirty="0" smtClean="0">
                <a:solidFill>
                  <a:schemeClr val="bg1"/>
                </a:solidFill>
                <a:latin typeface="Bookman Old Style" pitchFamily="18" charset="0"/>
              </a:rPr>
              <a:t> une </a:t>
            </a:r>
            <a:r>
              <a:rPr lang="es-CL" sz="2000" b="1" dirty="0" err="1" smtClean="0">
                <a:solidFill>
                  <a:schemeClr val="bg1"/>
                </a:solidFill>
                <a:latin typeface="Bookman Old Style" pitchFamily="18" charset="0"/>
              </a:rPr>
              <a:t>personne</a:t>
            </a:r>
            <a:r>
              <a:rPr lang="es-CL" sz="2000" b="1" dirty="0" smtClean="0">
                <a:solidFill>
                  <a:schemeClr val="bg1"/>
                </a:solidFill>
                <a:latin typeface="Bookman Old Style" pitchFamily="18" charset="0"/>
              </a:rPr>
              <a:t> </a:t>
            </a:r>
            <a:r>
              <a:rPr lang="es-CL" sz="2000" b="1" dirty="0" err="1" smtClean="0">
                <a:solidFill>
                  <a:schemeClr val="bg1"/>
                </a:solidFill>
                <a:latin typeface="Bookman Old Style" pitchFamily="18" charset="0"/>
              </a:rPr>
              <a:t>adulte</a:t>
            </a:r>
            <a:r>
              <a:rPr lang="es-CL" sz="2000" b="1" dirty="0" smtClean="0">
                <a:solidFill>
                  <a:schemeClr val="bg1"/>
                </a:solidFill>
                <a:latin typeface="Bookman Old Style" pitchFamily="18" charset="0"/>
              </a:rPr>
              <a:t> </a:t>
            </a:r>
            <a:r>
              <a:rPr lang="es-CL" sz="2000" b="1" dirty="0" err="1" smtClean="0">
                <a:solidFill>
                  <a:schemeClr val="bg1"/>
                </a:solidFill>
                <a:latin typeface="Bookman Old Style" pitchFamily="18" charset="0"/>
              </a:rPr>
              <a:t>sédentaire</a:t>
            </a:r>
            <a:r>
              <a:rPr lang="es-CL" sz="2000" b="1" dirty="0" smtClean="0">
                <a:solidFill>
                  <a:schemeClr val="bg1"/>
                </a:solidFill>
                <a:latin typeface="Bookman Old Style" pitchFamily="18" charset="0"/>
              </a:rPr>
              <a:t>: </a:t>
            </a:r>
            <a:r>
              <a:rPr lang="es-CL" sz="2000" b="1" dirty="0" err="1" smtClean="0">
                <a:solidFill>
                  <a:schemeClr val="bg1"/>
                </a:solidFill>
                <a:latin typeface="Bookman Old Style" pitchFamily="18" charset="0"/>
              </a:rPr>
              <a:t>règle</a:t>
            </a:r>
            <a:r>
              <a:rPr lang="es-CL" sz="2000" b="1" dirty="0" smtClean="0">
                <a:solidFill>
                  <a:schemeClr val="bg1"/>
                </a:solidFill>
                <a:latin typeface="Bookman Old Style" pitchFamily="18" charset="0"/>
              </a:rPr>
              <a:t> des 4-4-4 </a:t>
            </a:r>
            <a:r>
              <a:rPr lang="es-CL" sz="2000" b="1" dirty="0" err="1" smtClean="0">
                <a:solidFill>
                  <a:schemeClr val="bg1"/>
                </a:solidFill>
                <a:latin typeface="Bookman Old Style" pitchFamily="18" charset="0"/>
              </a:rPr>
              <a:t>marcher</a:t>
            </a:r>
            <a:r>
              <a:rPr lang="es-CL" sz="2000" b="1" dirty="0" smtClean="0">
                <a:solidFill>
                  <a:schemeClr val="bg1"/>
                </a:solidFill>
                <a:latin typeface="Bookman Old Style" pitchFamily="18" charset="0"/>
              </a:rPr>
              <a:t> 4 km à 4 km/h 4 </a:t>
            </a:r>
            <a:r>
              <a:rPr lang="es-CL" sz="2000" b="1" dirty="0" err="1" smtClean="0">
                <a:solidFill>
                  <a:schemeClr val="bg1"/>
                </a:solidFill>
                <a:latin typeface="Bookman Old Style" pitchFamily="18" charset="0"/>
              </a:rPr>
              <a:t>fois</a:t>
            </a:r>
            <a:r>
              <a:rPr lang="es-CL" sz="2000" b="1" dirty="0" smtClean="0">
                <a:solidFill>
                  <a:schemeClr val="bg1"/>
                </a:solidFill>
                <a:latin typeface="Bookman Old Style" pitchFamily="18" charset="0"/>
              </a:rPr>
              <a:t> par </a:t>
            </a:r>
            <a:r>
              <a:rPr lang="es-CL" sz="2000" b="1" dirty="0" err="1" smtClean="0">
                <a:solidFill>
                  <a:schemeClr val="bg1"/>
                </a:solidFill>
                <a:latin typeface="Bookman Old Style" pitchFamily="18" charset="0"/>
              </a:rPr>
              <a:t>semaine</a:t>
            </a:r>
            <a:r>
              <a:rPr lang="es-CL" sz="2000" b="1" dirty="0" smtClean="0">
                <a:solidFill>
                  <a:schemeClr val="bg1"/>
                </a:solidFill>
                <a:latin typeface="Bookman Old Style" pitchFamily="18" charset="0"/>
              </a:rPr>
              <a:t> et </a:t>
            </a:r>
            <a:r>
              <a:rPr lang="es-CL" sz="2000" b="1" dirty="0" err="1" smtClean="0">
                <a:solidFill>
                  <a:schemeClr val="bg1"/>
                </a:solidFill>
                <a:latin typeface="Bookman Old Style" pitchFamily="18" charset="0"/>
              </a:rPr>
              <a:t>augmenter</a:t>
            </a:r>
            <a:r>
              <a:rPr lang="es-CL" sz="2000" b="1" dirty="0" smtClean="0">
                <a:solidFill>
                  <a:schemeClr val="bg1"/>
                </a:solidFill>
                <a:latin typeface="Bookman Old Style" pitchFamily="18" charset="0"/>
              </a:rPr>
              <a:t> d’1 km/h par </a:t>
            </a:r>
            <a:r>
              <a:rPr lang="es-CL" sz="2000" b="1" dirty="0" err="1" smtClean="0">
                <a:solidFill>
                  <a:schemeClr val="bg1"/>
                </a:solidFill>
                <a:latin typeface="Bookman Old Style" pitchFamily="18" charset="0"/>
              </a:rPr>
              <a:t>semaine</a:t>
            </a:r>
            <a:r>
              <a:rPr lang="es-CL" sz="2000" b="1" dirty="0" smtClean="0">
                <a:solidFill>
                  <a:schemeClr val="bg1"/>
                </a:solidFill>
                <a:latin typeface="Bookman Old Style" pitchFamily="18" charset="0"/>
              </a:rPr>
              <a:t> </a:t>
            </a:r>
            <a:r>
              <a:rPr lang="es-CL" sz="2000" b="1" dirty="0" err="1" smtClean="0">
                <a:solidFill>
                  <a:schemeClr val="bg1"/>
                </a:solidFill>
                <a:latin typeface="Bookman Old Style" pitchFamily="18" charset="0"/>
              </a:rPr>
              <a:t>pour</a:t>
            </a:r>
            <a:r>
              <a:rPr lang="es-CL" sz="2000" b="1" dirty="0" smtClean="0">
                <a:solidFill>
                  <a:schemeClr val="bg1"/>
                </a:solidFill>
                <a:latin typeface="Bookman Old Style" pitchFamily="18" charset="0"/>
              </a:rPr>
              <a:t> </a:t>
            </a:r>
            <a:r>
              <a:rPr lang="es-CL" sz="2000" b="1" dirty="0" err="1" smtClean="0">
                <a:solidFill>
                  <a:schemeClr val="bg1"/>
                </a:solidFill>
                <a:latin typeface="Bookman Old Style" pitchFamily="18" charset="0"/>
              </a:rPr>
              <a:t>atteindre</a:t>
            </a:r>
            <a:r>
              <a:rPr lang="es-CL" sz="2000" b="1" dirty="0" smtClean="0">
                <a:solidFill>
                  <a:schemeClr val="bg1"/>
                </a:solidFill>
                <a:latin typeface="Bookman Old Style" pitchFamily="18" charset="0"/>
              </a:rPr>
              <a:t> 70 % de </a:t>
            </a:r>
            <a:r>
              <a:rPr lang="es-CL" sz="2000" b="1" dirty="0" err="1" smtClean="0">
                <a:solidFill>
                  <a:schemeClr val="bg1"/>
                </a:solidFill>
                <a:latin typeface="Bookman Old Style" pitchFamily="18" charset="0"/>
              </a:rPr>
              <a:t>votre</a:t>
            </a:r>
            <a:r>
              <a:rPr lang="es-CL" sz="2000" b="1" dirty="0" smtClean="0">
                <a:solidFill>
                  <a:schemeClr val="bg1"/>
                </a:solidFill>
                <a:latin typeface="Bookman Old Style" pitchFamily="18" charset="0"/>
              </a:rPr>
              <a:t> </a:t>
            </a:r>
            <a:r>
              <a:rPr lang="es-CL" sz="2000" b="1" dirty="0" err="1" smtClean="0">
                <a:solidFill>
                  <a:schemeClr val="bg1"/>
                </a:solidFill>
                <a:latin typeface="Bookman Old Style" pitchFamily="18" charset="0"/>
              </a:rPr>
              <a:t>vitesse</a:t>
            </a:r>
            <a:r>
              <a:rPr lang="es-CL" sz="2000" b="1" dirty="0" smtClean="0">
                <a:solidFill>
                  <a:schemeClr val="bg1"/>
                </a:solidFill>
                <a:latin typeface="Bookman Old Style" pitchFamily="18" charset="0"/>
              </a:rPr>
              <a:t> </a:t>
            </a:r>
            <a:r>
              <a:rPr lang="es-CL" sz="2000" b="1" dirty="0" err="1" smtClean="0">
                <a:solidFill>
                  <a:schemeClr val="bg1"/>
                </a:solidFill>
                <a:latin typeface="Bookman Old Style" pitchFamily="18" charset="0"/>
              </a:rPr>
              <a:t>aérobie</a:t>
            </a:r>
            <a:r>
              <a:rPr lang="es-CL" sz="2000" b="1" dirty="0" smtClean="0">
                <a:solidFill>
                  <a:schemeClr val="bg1"/>
                </a:solidFill>
                <a:latin typeface="Bookman Old Style" pitchFamily="18" charset="0"/>
              </a:rPr>
              <a:t> </a:t>
            </a:r>
            <a:r>
              <a:rPr lang="es-CL" sz="2000" b="1" dirty="0" err="1" smtClean="0">
                <a:solidFill>
                  <a:schemeClr val="bg1"/>
                </a:solidFill>
                <a:latin typeface="Bookman Old Style" pitchFamily="18" charset="0"/>
              </a:rPr>
              <a:t>maximale</a:t>
            </a:r>
            <a:r>
              <a:rPr lang="es-CL" sz="2000" b="1" dirty="0" smtClean="0">
                <a:solidFill>
                  <a:schemeClr val="bg1"/>
                </a:solidFill>
                <a:latin typeface="Bookman Old Style" pitchFamily="18" charset="0"/>
              </a:rPr>
              <a:t> </a:t>
            </a:r>
            <a:r>
              <a:rPr lang="es-CL" sz="2000" b="1" dirty="0" err="1" smtClean="0">
                <a:solidFill>
                  <a:schemeClr val="bg1"/>
                </a:solidFill>
                <a:latin typeface="Bookman Old Style" pitchFamily="18" charset="0"/>
              </a:rPr>
              <a:t>pendant</a:t>
            </a:r>
            <a:r>
              <a:rPr lang="es-CL" sz="2000" b="1" dirty="0" smtClean="0">
                <a:solidFill>
                  <a:schemeClr val="bg1"/>
                </a:solidFill>
                <a:latin typeface="Bookman Old Style" pitchFamily="18" charset="0"/>
              </a:rPr>
              <a:t> </a:t>
            </a:r>
            <a:r>
              <a:rPr lang="es-CL" sz="2000" b="1" dirty="0" err="1" smtClean="0">
                <a:solidFill>
                  <a:schemeClr val="bg1"/>
                </a:solidFill>
                <a:latin typeface="Bookman Old Style" pitchFamily="18" charset="0"/>
              </a:rPr>
              <a:t>au</a:t>
            </a:r>
            <a:r>
              <a:rPr lang="es-CL" sz="2000" b="1" dirty="0" smtClean="0">
                <a:solidFill>
                  <a:schemeClr val="bg1"/>
                </a:solidFill>
                <a:latin typeface="Bookman Old Style" pitchFamily="18" charset="0"/>
              </a:rPr>
              <a:t> </a:t>
            </a:r>
            <a:r>
              <a:rPr lang="es-CL" sz="2000" b="1" dirty="0" err="1" smtClean="0">
                <a:solidFill>
                  <a:schemeClr val="bg1"/>
                </a:solidFill>
                <a:latin typeface="Bookman Old Style" pitchFamily="18" charset="0"/>
              </a:rPr>
              <a:t>moins</a:t>
            </a:r>
            <a:r>
              <a:rPr lang="es-CL" sz="2000" b="1" dirty="0" smtClean="0">
                <a:solidFill>
                  <a:schemeClr val="bg1"/>
                </a:solidFill>
                <a:latin typeface="Bookman Old Style" pitchFamily="18" charset="0"/>
              </a:rPr>
              <a:t> 15 minutes. </a:t>
            </a:r>
          </a:p>
          <a:p>
            <a:pPr>
              <a:buFontTx/>
              <a:buNone/>
              <a:defRPr/>
            </a:pPr>
            <a:endParaRPr lang="es-CL" sz="2000" b="1" dirty="0" smtClean="0">
              <a:solidFill>
                <a:schemeClr val="bg1"/>
              </a:solidFill>
              <a:latin typeface="Bookman Old Style" pitchFamily="18" charset="0"/>
            </a:endParaRPr>
          </a:p>
          <a:p>
            <a:pPr>
              <a:buFontTx/>
              <a:buNone/>
              <a:defRPr/>
            </a:pPr>
            <a:r>
              <a:rPr lang="es-CL" sz="2000" b="1" dirty="0" err="1" smtClean="0">
                <a:solidFill>
                  <a:schemeClr val="bg1"/>
                </a:solidFill>
                <a:latin typeface="Bookman Old Style" pitchFamily="18" charset="0"/>
              </a:rPr>
              <a:t>Pour</a:t>
            </a:r>
            <a:r>
              <a:rPr lang="es-CL" sz="2000" b="1" dirty="0" smtClean="0">
                <a:solidFill>
                  <a:schemeClr val="bg1"/>
                </a:solidFill>
                <a:latin typeface="Bookman Old Style" pitchFamily="18" charset="0"/>
              </a:rPr>
              <a:t> </a:t>
            </a:r>
            <a:r>
              <a:rPr lang="es-CL" sz="2000" b="1" dirty="0" err="1" smtClean="0">
                <a:solidFill>
                  <a:schemeClr val="bg1"/>
                </a:solidFill>
                <a:latin typeface="Bookman Old Style" pitchFamily="18" charset="0"/>
              </a:rPr>
              <a:t>obtenir</a:t>
            </a:r>
            <a:r>
              <a:rPr lang="es-CL" sz="2000" b="1" dirty="0" smtClean="0">
                <a:solidFill>
                  <a:schemeClr val="bg1"/>
                </a:solidFill>
                <a:latin typeface="Bookman Old Style" pitchFamily="18" charset="0"/>
              </a:rPr>
              <a:t> un </a:t>
            </a:r>
            <a:r>
              <a:rPr lang="es-CL" sz="2000" b="1" dirty="0" err="1" smtClean="0">
                <a:solidFill>
                  <a:schemeClr val="bg1"/>
                </a:solidFill>
                <a:latin typeface="Bookman Old Style" pitchFamily="18" charset="0"/>
              </a:rPr>
              <a:t>progrès</a:t>
            </a:r>
            <a:r>
              <a:rPr lang="es-CL" sz="2000" b="1" dirty="0" smtClean="0">
                <a:solidFill>
                  <a:schemeClr val="bg1"/>
                </a:solidFill>
                <a:latin typeface="Bookman Old Style" pitchFamily="18" charset="0"/>
              </a:rPr>
              <a:t>,  </a:t>
            </a:r>
            <a:r>
              <a:rPr lang="es-CL" sz="2000" b="1" dirty="0" err="1" smtClean="0">
                <a:solidFill>
                  <a:schemeClr val="bg1"/>
                </a:solidFill>
                <a:latin typeface="Bookman Old Style" pitchFamily="18" charset="0"/>
              </a:rPr>
              <a:t>ne</a:t>
            </a:r>
            <a:r>
              <a:rPr lang="es-CL" sz="2000" b="1" dirty="0" smtClean="0">
                <a:solidFill>
                  <a:schemeClr val="bg1"/>
                </a:solidFill>
                <a:latin typeface="Bookman Old Style" pitchFamily="18" charset="0"/>
              </a:rPr>
              <a:t> </a:t>
            </a:r>
            <a:r>
              <a:rPr lang="es-CL" sz="2000" b="1" dirty="0" err="1" smtClean="0">
                <a:solidFill>
                  <a:schemeClr val="bg1"/>
                </a:solidFill>
                <a:latin typeface="Bookman Old Style" pitchFamily="18" charset="0"/>
              </a:rPr>
              <a:t>pas</a:t>
            </a:r>
            <a:r>
              <a:rPr lang="es-CL" sz="2000" b="1" dirty="0" smtClean="0">
                <a:solidFill>
                  <a:schemeClr val="bg1"/>
                </a:solidFill>
                <a:latin typeface="Bookman Old Style" pitchFamily="18" charset="0"/>
              </a:rPr>
              <a:t> </a:t>
            </a:r>
            <a:r>
              <a:rPr lang="es-CL" sz="2000" b="1" dirty="0" err="1" smtClean="0">
                <a:solidFill>
                  <a:schemeClr val="bg1"/>
                </a:solidFill>
                <a:latin typeface="Bookman Old Style" pitchFamily="18" charset="0"/>
              </a:rPr>
              <a:t>rester</a:t>
            </a:r>
            <a:r>
              <a:rPr lang="es-CL" sz="2000" b="1" dirty="0" smtClean="0">
                <a:solidFill>
                  <a:schemeClr val="bg1"/>
                </a:solidFill>
                <a:latin typeface="Bookman Old Style" pitchFamily="18" charset="0"/>
              </a:rPr>
              <a:t> ni à la </a:t>
            </a:r>
            <a:r>
              <a:rPr lang="es-CL" sz="2000" b="1" dirty="0" err="1" smtClean="0">
                <a:solidFill>
                  <a:schemeClr val="bg1"/>
                </a:solidFill>
                <a:latin typeface="Bookman Old Style" pitchFamily="18" charset="0"/>
              </a:rPr>
              <a:t>même</a:t>
            </a:r>
            <a:r>
              <a:rPr lang="es-CL" sz="2000" b="1" dirty="0" smtClean="0">
                <a:solidFill>
                  <a:schemeClr val="bg1"/>
                </a:solidFill>
                <a:latin typeface="Bookman Old Style" pitchFamily="18" charset="0"/>
              </a:rPr>
              <a:t> </a:t>
            </a:r>
            <a:r>
              <a:rPr lang="es-CL" sz="2000" b="1" dirty="0" err="1" smtClean="0">
                <a:solidFill>
                  <a:schemeClr val="bg1"/>
                </a:solidFill>
                <a:latin typeface="Bookman Old Style" pitchFamily="18" charset="0"/>
              </a:rPr>
              <a:t>durée</a:t>
            </a:r>
            <a:r>
              <a:rPr lang="es-CL" sz="2000" b="1" dirty="0" smtClean="0">
                <a:solidFill>
                  <a:schemeClr val="bg1"/>
                </a:solidFill>
                <a:latin typeface="Bookman Old Style" pitchFamily="18" charset="0"/>
              </a:rPr>
              <a:t>, (par </a:t>
            </a:r>
            <a:r>
              <a:rPr lang="es-CL" sz="2000" b="1" dirty="0" err="1" smtClean="0">
                <a:solidFill>
                  <a:schemeClr val="bg1"/>
                </a:solidFill>
                <a:latin typeface="Bookman Old Style" pitchFamily="18" charset="0"/>
              </a:rPr>
              <a:t>exemple</a:t>
            </a:r>
            <a:r>
              <a:rPr lang="es-CL" sz="2000" b="1" dirty="0" smtClean="0">
                <a:solidFill>
                  <a:schemeClr val="bg1"/>
                </a:solidFill>
                <a:latin typeface="Bookman Old Style" pitchFamily="18" charset="0"/>
              </a:rPr>
              <a:t> les 30 min du PNNS) ni à la </a:t>
            </a:r>
            <a:r>
              <a:rPr lang="es-CL" sz="2000" b="1" dirty="0" err="1" smtClean="0">
                <a:solidFill>
                  <a:schemeClr val="bg1"/>
                </a:solidFill>
                <a:latin typeface="Bookman Old Style" pitchFamily="18" charset="0"/>
              </a:rPr>
              <a:t>même</a:t>
            </a:r>
            <a:r>
              <a:rPr lang="es-CL" sz="2000" b="1" dirty="0" smtClean="0">
                <a:solidFill>
                  <a:schemeClr val="bg1"/>
                </a:solidFill>
                <a:latin typeface="Bookman Old Style" pitchFamily="18" charset="0"/>
              </a:rPr>
              <a:t> </a:t>
            </a:r>
            <a:r>
              <a:rPr lang="es-CL" sz="2000" b="1" dirty="0" err="1" smtClean="0">
                <a:solidFill>
                  <a:schemeClr val="bg1"/>
                </a:solidFill>
                <a:latin typeface="Bookman Old Style" pitchFamily="18" charset="0"/>
              </a:rPr>
              <a:t>intensité</a:t>
            </a:r>
            <a:endParaRPr lang="es-CL" sz="2000" b="1" dirty="0" smtClean="0">
              <a:solidFill>
                <a:schemeClr val="bg1"/>
              </a:solidFill>
              <a:latin typeface="Bookman Old Style" pitchFamily="18" charset="0"/>
            </a:endParaRPr>
          </a:p>
          <a:p>
            <a:pPr marL="0" indent="0">
              <a:spcAft>
                <a:spcPct val="45000"/>
              </a:spcAft>
              <a:buFont typeface="Monotype Sorts" pitchFamily="2" charset="2"/>
              <a:buNone/>
              <a:defRPr/>
            </a:pPr>
            <a:endParaRPr lang="fr-FR" sz="2000" b="1" dirty="0">
              <a:solidFill>
                <a:schemeClr val="bg1"/>
              </a:solidFill>
              <a:latin typeface="Bookman Old Style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8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88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88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88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887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8770" grpId="0" build="p" autoUpdateAnimBg="0" advAuto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14282" y="857232"/>
            <a:ext cx="8558241" cy="3810000"/>
          </a:xfrm>
        </p:spPr>
        <p:txBody>
          <a:bodyPr/>
          <a:lstStyle/>
          <a:p>
            <a:pPr marL="187325" indent="-187325" algn="just" defTabSz="225425">
              <a:lnSpc>
                <a:spcPct val="140000"/>
              </a:lnSpc>
              <a:buFont typeface="Monotype Sorts" pitchFamily="2" charset="2"/>
              <a:buNone/>
              <a:defRPr/>
            </a:pPr>
            <a:r>
              <a:rPr lang="fr-FR" sz="2800" b="1" dirty="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</a:rPr>
              <a:t>« A » </a:t>
            </a:r>
            <a:r>
              <a:rPr lang="fr-FR" sz="2800" b="1" dirty="0" smtClean="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</a:rPr>
              <a:t>d’alternance… </a:t>
            </a:r>
            <a:r>
              <a:rPr lang="fr-FR" sz="2200" b="1" dirty="0">
                <a:solidFill>
                  <a:schemeClr val="bg1"/>
                </a:solidFill>
                <a:latin typeface="Bookman Old Style" pitchFamily="18" charset="0"/>
              </a:rPr>
              <a:t>des exercices, des </a:t>
            </a:r>
            <a:r>
              <a:rPr lang="fr-FR" sz="2200" b="1" dirty="0" smtClean="0">
                <a:solidFill>
                  <a:schemeClr val="bg1"/>
                </a:solidFill>
                <a:latin typeface="Bookman Old Style" pitchFamily="18" charset="0"/>
              </a:rPr>
              <a:t>séances</a:t>
            </a:r>
          </a:p>
          <a:p>
            <a:pPr marL="187325" indent="-187325" algn="just" defTabSz="225425">
              <a:lnSpc>
                <a:spcPct val="140000"/>
              </a:lnSpc>
              <a:buFont typeface="Monotype Sorts" pitchFamily="2" charset="2"/>
              <a:buNone/>
              <a:defRPr/>
            </a:pPr>
            <a:r>
              <a:rPr lang="fr-FR" sz="2200" b="1" dirty="0" smtClean="0">
                <a:solidFill>
                  <a:schemeClr val="bg1"/>
                </a:solidFill>
                <a:latin typeface="Bookman Old Style" pitchFamily="18" charset="0"/>
              </a:rPr>
              <a:t> </a:t>
            </a:r>
            <a:r>
              <a:rPr lang="fr-FR" sz="2200" b="1" dirty="0">
                <a:solidFill>
                  <a:schemeClr val="bg1"/>
                </a:solidFill>
                <a:latin typeface="Bookman Old Style" pitchFamily="18" charset="0"/>
              </a:rPr>
              <a:t>		</a:t>
            </a:r>
            <a:r>
              <a:rPr lang="fr-FR" sz="2200" b="1" dirty="0" smtClean="0">
                <a:solidFill>
                  <a:schemeClr val="bg1"/>
                </a:solidFill>
                <a:latin typeface="Bookman Old Style" pitchFamily="18" charset="0"/>
              </a:rPr>
              <a:t>d’entraînement </a:t>
            </a:r>
            <a:r>
              <a:rPr lang="fr-FR" sz="2200" b="1" dirty="0">
                <a:solidFill>
                  <a:schemeClr val="bg1"/>
                </a:solidFill>
                <a:latin typeface="Bookman Old Style" pitchFamily="18" charset="0"/>
              </a:rPr>
              <a:t>et de la récupération. La récupération fait partie intégrante de l’entraînement : ce qui est mobilisé au cours de l’exercice se régénère et s’améliore au cours de la récupération (effets réparateurs, épurateurs et de surcompensation</a:t>
            </a:r>
            <a:r>
              <a:rPr lang="fr-FR" sz="2200" b="1" dirty="0" smtClean="0">
                <a:solidFill>
                  <a:schemeClr val="bg1"/>
                </a:solidFill>
                <a:latin typeface="Bookman Old Style" pitchFamily="18" charset="0"/>
              </a:rPr>
              <a:t>).</a:t>
            </a:r>
          </a:p>
          <a:p>
            <a:pPr marL="187325" indent="-187325" algn="just" defTabSz="225425">
              <a:lnSpc>
                <a:spcPct val="140000"/>
              </a:lnSpc>
              <a:buFont typeface="Monotype Sorts" pitchFamily="2" charset="2"/>
              <a:buNone/>
              <a:defRPr/>
            </a:pPr>
            <a:endParaRPr lang="fr-FR" sz="2200" b="1" dirty="0" smtClean="0">
              <a:solidFill>
                <a:schemeClr val="bg1"/>
              </a:solidFill>
              <a:latin typeface="Bookman Old Style" pitchFamily="18" charset="0"/>
            </a:endParaRPr>
          </a:p>
          <a:p>
            <a:pPr marL="187325" indent="-187325" algn="just" defTabSz="225425">
              <a:lnSpc>
                <a:spcPct val="140000"/>
              </a:lnSpc>
              <a:buFont typeface="Monotype Sorts" pitchFamily="2" charset="2"/>
              <a:buNone/>
              <a:defRPr/>
            </a:pPr>
            <a:r>
              <a:rPr lang="fr-FR" sz="2200" b="1" dirty="0" smtClean="0">
                <a:solidFill>
                  <a:schemeClr val="bg1"/>
                </a:solidFill>
                <a:latin typeface="Bookman Old Style" pitchFamily="18" charset="0"/>
              </a:rPr>
              <a:t>Les exercices par intervalles comprenant des intensités supérieures s’avèrent plus efficaces même pour le développement de la condition physique liée à la santé.</a:t>
            </a:r>
            <a:endParaRPr lang="es-CL" sz="2200" b="1" dirty="0">
              <a:solidFill>
                <a:schemeClr val="bg1"/>
              </a:solidFill>
              <a:latin typeface="Bookman Old Style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897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2897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2897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794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04800" y="381000"/>
            <a:ext cx="8610600" cy="6019800"/>
          </a:xfrm>
        </p:spPr>
        <p:txBody>
          <a:bodyPr/>
          <a:lstStyle/>
          <a:p>
            <a:pPr defTabSz="376238">
              <a:lnSpc>
                <a:spcPct val="130000"/>
              </a:lnSpc>
              <a:spcAft>
                <a:spcPct val="45000"/>
              </a:spcAft>
              <a:buFont typeface="Monotype Sorts" pitchFamily="2" charset="2"/>
              <a:buNone/>
              <a:tabLst>
                <a:tab pos="100013" algn="l"/>
              </a:tabLst>
              <a:defRPr/>
            </a:pPr>
            <a:r>
              <a:rPr lang="fr-FR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</a:rPr>
              <a:t>« S «</a:t>
            </a:r>
            <a:r>
              <a:rPr lang="fr-FR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</a:rPr>
              <a:t> </a:t>
            </a:r>
            <a:r>
              <a:rPr lang="fr-FR" sz="2800" b="1" dirty="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</a:rPr>
              <a:t> de spécificité</a:t>
            </a:r>
            <a:r>
              <a:rPr lang="fr-FR" sz="2800" b="1" dirty="0">
                <a:latin typeface="Bookman Old Style" pitchFamily="18" charset="0"/>
              </a:rPr>
              <a:t>. </a:t>
            </a:r>
            <a:endParaRPr lang="fr-FR" sz="2800" b="1" dirty="0" smtClean="0">
              <a:latin typeface="Bookman Old Style" pitchFamily="18" charset="0"/>
            </a:endParaRPr>
          </a:p>
          <a:p>
            <a:pPr defTabSz="376238">
              <a:lnSpc>
                <a:spcPct val="130000"/>
              </a:lnSpc>
              <a:spcAft>
                <a:spcPct val="45000"/>
              </a:spcAft>
              <a:buFont typeface="Monotype Sorts" pitchFamily="2" charset="2"/>
              <a:buNone/>
              <a:tabLst>
                <a:tab pos="100013" algn="l"/>
              </a:tabLst>
              <a:defRPr/>
            </a:pPr>
            <a:r>
              <a:rPr lang="fr-FR" sz="2200" b="1" dirty="0" smtClean="0">
                <a:solidFill>
                  <a:schemeClr val="bg1"/>
                </a:solidFill>
                <a:latin typeface="Bookman Old Style" pitchFamily="18" charset="0"/>
              </a:rPr>
              <a:t>Les </a:t>
            </a:r>
            <a:r>
              <a:rPr lang="fr-FR" sz="2200" b="1" dirty="0">
                <a:solidFill>
                  <a:schemeClr val="bg1"/>
                </a:solidFill>
                <a:latin typeface="Bookman Old Style" pitchFamily="18" charset="0"/>
              </a:rPr>
              <a:t>intensités des entraînements doivent être spécifiquement adaptées aux 	capacités propres de la personne qui s’entraîne.  			</a:t>
            </a:r>
          </a:p>
          <a:p>
            <a:pPr defTabSz="376238">
              <a:lnSpc>
                <a:spcPct val="130000"/>
              </a:lnSpc>
              <a:spcAft>
                <a:spcPct val="45000"/>
              </a:spcAft>
              <a:buFont typeface="Monotype Sorts" pitchFamily="2" charset="2"/>
              <a:buNone/>
              <a:tabLst>
                <a:tab pos="100013" algn="l"/>
              </a:tabLst>
              <a:defRPr/>
            </a:pPr>
            <a:r>
              <a:rPr lang="fr-FR" sz="2200" b="1" dirty="0">
                <a:solidFill>
                  <a:schemeClr val="bg1"/>
                </a:solidFill>
                <a:latin typeface="Bookman Old Style" pitchFamily="18" charset="0"/>
              </a:rPr>
              <a:t>	</a:t>
            </a:r>
            <a:r>
              <a:rPr lang="fr-FR" sz="2200" b="1" dirty="0" smtClean="0">
                <a:solidFill>
                  <a:schemeClr val="bg1"/>
                </a:solidFill>
                <a:latin typeface="Bookman Old Style" pitchFamily="18" charset="0"/>
              </a:rPr>
              <a:t>Encore </a:t>
            </a:r>
            <a:r>
              <a:rPr lang="fr-FR" sz="2200" b="1" dirty="0">
                <a:solidFill>
                  <a:schemeClr val="bg1"/>
                </a:solidFill>
                <a:latin typeface="Bookman Old Style" pitchFamily="18" charset="0"/>
              </a:rPr>
              <a:t>une fois, avant d’entreprendre un 	programme de développement de la condition physique, l’évaluation des capacités physiques et physiologiques s’avère indispensable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90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90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290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85750"/>
            <a:ext cx="8991600" cy="1276350"/>
          </a:xfrm>
        </p:spPr>
        <p:txBody>
          <a:bodyPr/>
          <a:lstStyle/>
          <a:p>
            <a:pPr>
              <a:defRPr/>
            </a:pPr>
            <a:r>
              <a:rPr lang="es-CL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À QUEL ÂGE COMMENCER UN PROGRAMME DE REMISE EN CONDITION PHYSIQUE ?</a:t>
            </a:r>
          </a:p>
        </p:txBody>
      </p:sp>
      <p:pic>
        <p:nvPicPr>
          <p:cNvPr id="48131" name="Picture 5" descr="1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/>
          <a:srcRect l="2271" t="5194" r="3758"/>
          <a:stretch>
            <a:fillRect/>
          </a:stretch>
        </p:blipFill>
        <p:spPr>
          <a:xfrm>
            <a:off x="2971800" y="1676400"/>
            <a:ext cx="3548063" cy="5181600"/>
          </a:xfr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300"/>
                                        <p:tgtEl>
                                          <p:spTgt spid="56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2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404813"/>
            <a:ext cx="8991600" cy="318135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s-CL" sz="2000" b="1" smtClean="0">
                <a:solidFill>
                  <a:schemeClr val="bg1"/>
                </a:solidFill>
                <a:latin typeface="Bookman Old Style" pitchFamily="18" charset="0"/>
              </a:rPr>
              <a:t>IL N’Y A PAS D’ÂGE POUR COMMENCER …L’ESSENTIEL EST DE VOULOIR DÉBUTER UN PROGRAMME, DE CHANGER SES HABITUDES SI CELLES-CI SONT TROP PROCHES DE LA SÉDENTARITÉ ET DE CONSERVER LE PLUS LONGTEMPS POSSIBLE SA MOTIVATION POUR LA PRATIQUE RÉGULIÈRE D’UNE OU DE PLUSIEURS ACTIVITÉS PHYSIQUES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4038600"/>
            <a:ext cx="8763000" cy="2819400"/>
          </a:xfrm>
        </p:spPr>
        <p:txBody>
          <a:bodyPr/>
          <a:lstStyle/>
          <a:p>
            <a:pPr algn="ctr">
              <a:buFont typeface="Monotype Sorts" charset="2"/>
              <a:buNone/>
              <a:defRPr/>
            </a:pPr>
            <a:r>
              <a:rPr lang="es-CL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“</a:t>
            </a:r>
            <a:r>
              <a:rPr lang="es-CL" sz="28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Pense</a:t>
            </a:r>
            <a:r>
              <a:rPr lang="es-CL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 une </a:t>
            </a:r>
            <a:r>
              <a:rPr lang="es-CL" sz="28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idée</a:t>
            </a:r>
            <a:r>
              <a:rPr lang="es-CL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, </a:t>
            </a:r>
            <a:r>
              <a:rPr lang="es-CL" sz="28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récolte</a:t>
            </a:r>
            <a:r>
              <a:rPr lang="es-CL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 une </a:t>
            </a:r>
            <a:r>
              <a:rPr lang="es-CL" sz="28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action</a:t>
            </a:r>
            <a:r>
              <a:rPr lang="es-CL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…</a:t>
            </a:r>
          </a:p>
          <a:p>
            <a:pPr algn="ctr">
              <a:buFont typeface="Monotype Sorts" charset="2"/>
              <a:buNone/>
              <a:defRPr/>
            </a:pPr>
            <a:r>
              <a:rPr lang="es-CL" sz="28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Répète</a:t>
            </a:r>
            <a:r>
              <a:rPr lang="es-CL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 une </a:t>
            </a:r>
            <a:r>
              <a:rPr lang="es-CL" sz="28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action</a:t>
            </a:r>
            <a:r>
              <a:rPr lang="es-CL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, </a:t>
            </a:r>
            <a:r>
              <a:rPr lang="es-CL" sz="28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récolte</a:t>
            </a:r>
            <a:r>
              <a:rPr lang="es-CL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 une </a:t>
            </a:r>
            <a:r>
              <a:rPr lang="es-CL" sz="28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habitude</a:t>
            </a:r>
            <a:r>
              <a:rPr lang="es-CL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…</a:t>
            </a:r>
          </a:p>
          <a:p>
            <a:pPr algn="ctr">
              <a:buFont typeface="Monotype Sorts" charset="2"/>
              <a:buNone/>
              <a:defRPr/>
            </a:pPr>
            <a:r>
              <a:rPr lang="es-CL" sz="28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Poursuis</a:t>
            </a:r>
            <a:r>
              <a:rPr lang="es-CL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 une </a:t>
            </a:r>
            <a:r>
              <a:rPr lang="es-CL" sz="28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habitude</a:t>
            </a:r>
            <a:r>
              <a:rPr lang="es-CL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, </a:t>
            </a:r>
            <a:r>
              <a:rPr lang="es-CL" sz="28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récolte</a:t>
            </a:r>
            <a:r>
              <a:rPr lang="es-CL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 un </a:t>
            </a:r>
            <a:r>
              <a:rPr lang="es-CL" sz="28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trait</a:t>
            </a:r>
            <a:r>
              <a:rPr lang="es-CL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 de </a:t>
            </a:r>
            <a:r>
              <a:rPr lang="es-CL" sz="28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caractère</a:t>
            </a:r>
            <a:r>
              <a:rPr lang="es-CL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”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000"/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2000"/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2000"/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9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7" name="Group 2"/>
          <p:cNvGrpSpPr>
            <a:grpSpLocks/>
          </p:cNvGrpSpPr>
          <p:nvPr/>
        </p:nvGrpSpPr>
        <p:grpSpPr bwMode="auto">
          <a:xfrm>
            <a:off x="0" y="304800"/>
            <a:ext cx="9144000" cy="6553200"/>
            <a:chOff x="0" y="192"/>
            <a:chExt cx="5760" cy="4128"/>
          </a:xfrm>
        </p:grpSpPr>
        <p:graphicFrame>
          <p:nvGraphicFramePr>
            <p:cNvPr id="1026" name="Object 2"/>
            <p:cNvGraphicFramePr>
              <a:graphicFrameLocks noChangeAspect="1"/>
            </p:cNvGraphicFramePr>
            <p:nvPr/>
          </p:nvGraphicFramePr>
          <p:xfrm>
            <a:off x="2352" y="1778"/>
            <a:ext cx="3408" cy="25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8" name="Diapositive" r:id="rId4" imgW="4549874" imgH="3394541" progId="PowerPoint.Slide.8">
                    <p:embed/>
                  </p:oleObj>
                </mc:Choice>
                <mc:Fallback>
                  <p:oleObj name="Diapositive" r:id="rId4" imgW="4549874" imgH="3394541" progId="PowerPoint.Slide.8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2" y="1778"/>
                          <a:ext cx="3408" cy="25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029" name="Picture 4" descr="GOLF2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0" y="192"/>
              <a:ext cx="3552" cy="2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028" name="Text Box 5"/>
          <p:cNvSpPr txBox="1">
            <a:spLocks noChangeArrowheads="1"/>
          </p:cNvSpPr>
          <p:nvPr/>
        </p:nvSpPr>
        <p:spPr bwMode="auto">
          <a:xfrm>
            <a:off x="0" y="3098800"/>
            <a:ext cx="6056313" cy="155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CA" sz="3200" b="1">
                <a:solidFill>
                  <a:srgbClr val="000000"/>
                </a:solidFill>
                <a:latin typeface="Comic Sans MS" pitchFamily="66" charset="0"/>
              </a:rPr>
              <a:t>« Je ne veux pas vivre vieux,</a:t>
            </a:r>
          </a:p>
          <a:p>
            <a:pPr algn="ctr"/>
            <a:r>
              <a:rPr lang="en-CA" sz="3200" b="1">
                <a:solidFill>
                  <a:srgbClr val="000000"/>
                </a:solidFill>
                <a:latin typeface="Comic Sans MS" pitchFamily="66" charset="0"/>
              </a:rPr>
              <a:t>je veux vivre mieux</a:t>
            </a:r>
          </a:p>
          <a:p>
            <a:pPr algn="ctr"/>
            <a:r>
              <a:rPr lang="en-CA" sz="3200" b="1">
                <a:solidFill>
                  <a:srgbClr val="000000"/>
                </a:solidFill>
                <a:latin typeface="Comic Sans MS" pitchFamily="66" charset="0"/>
              </a:rPr>
              <a:t>        Je veux vivre jeune! »</a:t>
            </a:r>
            <a:endParaRPr lang="en-CA" sz="2800">
              <a:solidFill>
                <a:srgbClr val="000000"/>
              </a:solidFill>
              <a:latin typeface="Comic Sans MS" pitchFamily="66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285720" y="6500834"/>
            <a:ext cx="27190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b="1" dirty="0" smtClean="0">
                <a:solidFill>
                  <a:schemeClr val="bg1"/>
                </a:solidFill>
              </a:rPr>
              <a:t>Photos d’après Thibault et al. 2004</a:t>
            </a:r>
            <a:endParaRPr lang="fr-FR" sz="1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 descr="MUSCULATION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71775" y="1658938"/>
            <a:ext cx="6372225" cy="5199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179" name="Picture 3" descr="TENNIS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7950" y="44450"/>
            <a:ext cx="3941763" cy="3960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0180" name="Text Box 4"/>
          <p:cNvSpPr txBox="1">
            <a:spLocks noChangeArrowheads="1"/>
          </p:cNvSpPr>
          <p:nvPr/>
        </p:nvSpPr>
        <p:spPr bwMode="auto">
          <a:xfrm>
            <a:off x="1519238" y="2492375"/>
            <a:ext cx="7516812" cy="6413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fr-FR" sz="3600" b="1">
                <a:latin typeface="Bookman Old Style" pitchFamily="18" charset="0"/>
              </a:rPr>
              <a:t>MERCI DE VOTRE ATTENTION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0" y="6357958"/>
            <a:ext cx="27190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b="1" dirty="0" smtClean="0">
                <a:solidFill>
                  <a:schemeClr val="bg1"/>
                </a:solidFill>
              </a:rPr>
              <a:t>Photos d’après Thibault et al. 2004</a:t>
            </a:r>
            <a:endParaRPr lang="fr-FR" sz="1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dèle par défaut">
  <a:themeElements>
    <a:clrScheme name="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odèle par défaut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Rideau">
  <a:themeElements>
    <a:clrScheme name="Rideau 1">
      <a:dk1>
        <a:srgbClr val="602000"/>
      </a:dk1>
      <a:lt1>
        <a:srgbClr val="FFFFFF"/>
      </a:lt1>
      <a:dk2>
        <a:srgbClr val="800000"/>
      </a:dk2>
      <a:lt2>
        <a:srgbClr val="FFFFCC"/>
      </a:lt2>
      <a:accent1>
        <a:srgbClr val="FF3300"/>
      </a:accent1>
      <a:accent2>
        <a:srgbClr val="000000"/>
      </a:accent2>
      <a:accent3>
        <a:srgbClr val="C0AAAA"/>
      </a:accent3>
      <a:accent4>
        <a:srgbClr val="DADADA"/>
      </a:accent4>
      <a:accent5>
        <a:srgbClr val="FFADAA"/>
      </a:accent5>
      <a:accent6>
        <a:srgbClr val="000000"/>
      </a:accent6>
      <a:hlink>
        <a:srgbClr val="EBF25A"/>
      </a:hlink>
      <a:folHlink>
        <a:srgbClr val="F2AA68"/>
      </a:folHlink>
    </a:clrScheme>
    <a:fontScheme name="Rideau">
      <a:majorFont>
        <a:latin typeface="Tahoma"/>
        <a:ea typeface=""/>
        <a:cs typeface="Arial"/>
      </a:majorFont>
      <a:minorFont>
        <a:latin typeface="Tahom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Rideau 1">
        <a:dk1>
          <a:srgbClr val="602000"/>
        </a:dk1>
        <a:lt1>
          <a:srgbClr val="FFFFFF"/>
        </a:lt1>
        <a:dk2>
          <a:srgbClr val="800000"/>
        </a:dk2>
        <a:lt2>
          <a:srgbClr val="FFFFCC"/>
        </a:lt2>
        <a:accent1>
          <a:srgbClr val="FF3300"/>
        </a:accent1>
        <a:accent2>
          <a:srgbClr val="000000"/>
        </a:accent2>
        <a:accent3>
          <a:srgbClr val="C0AAAA"/>
        </a:accent3>
        <a:accent4>
          <a:srgbClr val="DADADA"/>
        </a:accent4>
        <a:accent5>
          <a:srgbClr val="FFADAA"/>
        </a:accent5>
        <a:accent6>
          <a:srgbClr val="000000"/>
        </a:accent6>
        <a:hlink>
          <a:srgbClr val="EBF25A"/>
        </a:hlink>
        <a:folHlink>
          <a:srgbClr val="F2AA6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deau 2">
        <a:dk1>
          <a:srgbClr val="000066"/>
        </a:dk1>
        <a:lt1>
          <a:srgbClr val="FFFFFF"/>
        </a:lt1>
        <a:dk2>
          <a:srgbClr val="000099"/>
        </a:dk2>
        <a:lt2>
          <a:srgbClr val="D8F6F8"/>
        </a:lt2>
        <a:accent1>
          <a:srgbClr val="0099FF"/>
        </a:accent1>
        <a:accent2>
          <a:srgbClr val="00003A"/>
        </a:accent2>
        <a:accent3>
          <a:srgbClr val="AAAACA"/>
        </a:accent3>
        <a:accent4>
          <a:srgbClr val="DADADA"/>
        </a:accent4>
        <a:accent5>
          <a:srgbClr val="AACAFF"/>
        </a:accent5>
        <a:accent6>
          <a:srgbClr val="000034"/>
        </a:accent6>
        <a:hlink>
          <a:srgbClr val="DDD925"/>
        </a:hlink>
        <a:folHlink>
          <a:srgbClr val="72C67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deau 3">
        <a:dk1>
          <a:srgbClr val="4C3D57"/>
        </a:dk1>
        <a:lt1>
          <a:srgbClr val="FFFFFF"/>
        </a:lt1>
        <a:dk2>
          <a:srgbClr val="660066"/>
        </a:dk2>
        <a:lt2>
          <a:srgbClr val="FDFBE3"/>
        </a:lt2>
        <a:accent1>
          <a:srgbClr val="976C9E"/>
        </a:accent1>
        <a:accent2>
          <a:srgbClr val="1E1822"/>
        </a:accent2>
        <a:accent3>
          <a:srgbClr val="B8AAB8"/>
        </a:accent3>
        <a:accent4>
          <a:srgbClr val="DADADA"/>
        </a:accent4>
        <a:accent5>
          <a:srgbClr val="C9BACC"/>
        </a:accent5>
        <a:accent6>
          <a:srgbClr val="1A151E"/>
        </a:accent6>
        <a:hlink>
          <a:srgbClr val="D8C460"/>
        </a:hlink>
        <a:folHlink>
          <a:srgbClr val="C3C2B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deau 4">
        <a:dk1>
          <a:srgbClr val="334D3F"/>
        </a:dk1>
        <a:lt1>
          <a:srgbClr val="FFFFFF"/>
        </a:lt1>
        <a:dk2>
          <a:srgbClr val="008000"/>
        </a:dk2>
        <a:lt2>
          <a:srgbClr val="D3F1DB"/>
        </a:lt2>
        <a:accent1>
          <a:srgbClr val="4A6D84"/>
        </a:accent1>
        <a:accent2>
          <a:srgbClr val="213329"/>
        </a:accent2>
        <a:accent3>
          <a:srgbClr val="AAC0AA"/>
        </a:accent3>
        <a:accent4>
          <a:srgbClr val="DADADA"/>
        </a:accent4>
        <a:accent5>
          <a:srgbClr val="B1BAC2"/>
        </a:accent5>
        <a:accent6>
          <a:srgbClr val="1D2D24"/>
        </a:accent6>
        <a:hlink>
          <a:srgbClr val="F0B100"/>
        </a:hlink>
        <a:folHlink>
          <a:srgbClr val="C3710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deau 5">
        <a:dk1>
          <a:srgbClr val="566858"/>
        </a:dk1>
        <a:lt1>
          <a:srgbClr val="FFFFFF"/>
        </a:lt1>
        <a:dk2>
          <a:srgbClr val="6D8771"/>
        </a:dk2>
        <a:lt2>
          <a:srgbClr val="ECECB2"/>
        </a:lt2>
        <a:accent1>
          <a:srgbClr val="76A571"/>
        </a:accent1>
        <a:accent2>
          <a:srgbClr val="465648"/>
        </a:accent2>
        <a:accent3>
          <a:srgbClr val="BAC3BB"/>
        </a:accent3>
        <a:accent4>
          <a:srgbClr val="DADADA"/>
        </a:accent4>
        <a:accent5>
          <a:srgbClr val="BDCFBB"/>
        </a:accent5>
        <a:accent6>
          <a:srgbClr val="3F4D40"/>
        </a:accent6>
        <a:hlink>
          <a:srgbClr val="FFDC0B"/>
        </a:hlink>
        <a:folHlink>
          <a:srgbClr val="FC991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deau 6">
        <a:dk1>
          <a:srgbClr val="0A6866"/>
        </a:dk1>
        <a:lt1>
          <a:srgbClr val="FFFFFF"/>
        </a:lt1>
        <a:dk2>
          <a:srgbClr val="0D8784"/>
        </a:dk2>
        <a:lt2>
          <a:srgbClr val="B8DEC6"/>
        </a:lt2>
        <a:accent1>
          <a:srgbClr val="3C7652"/>
        </a:accent1>
        <a:accent2>
          <a:srgbClr val="005250"/>
        </a:accent2>
        <a:accent3>
          <a:srgbClr val="AAC3C2"/>
        </a:accent3>
        <a:accent4>
          <a:srgbClr val="DADADA"/>
        </a:accent4>
        <a:accent5>
          <a:srgbClr val="AFBDB3"/>
        </a:accent5>
        <a:accent6>
          <a:srgbClr val="004948"/>
        </a:accent6>
        <a:hlink>
          <a:srgbClr val="00E0A5"/>
        </a:hlink>
        <a:folHlink>
          <a:srgbClr val="00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deau 7">
        <a:dk1>
          <a:srgbClr val="50688C"/>
        </a:dk1>
        <a:lt1>
          <a:srgbClr val="FFFFFF"/>
        </a:lt1>
        <a:dk2>
          <a:srgbClr val="6E87AC"/>
        </a:dk2>
        <a:lt2>
          <a:srgbClr val="FFFFFF"/>
        </a:lt2>
        <a:accent1>
          <a:srgbClr val="376EA5"/>
        </a:accent1>
        <a:accent2>
          <a:srgbClr val="445876"/>
        </a:accent2>
        <a:accent3>
          <a:srgbClr val="BAC3D2"/>
        </a:accent3>
        <a:accent4>
          <a:srgbClr val="DADADA"/>
        </a:accent4>
        <a:accent5>
          <a:srgbClr val="AEBACF"/>
        </a:accent5>
        <a:accent6>
          <a:srgbClr val="3D4F6A"/>
        </a:accent6>
        <a:hlink>
          <a:srgbClr val="66C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deau 8">
        <a:dk1>
          <a:srgbClr val="000000"/>
        </a:dk1>
        <a:lt1>
          <a:srgbClr val="DDDCC5"/>
        </a:lt1>
        <a:dk2>
          <a:srgbClr val="000000"/>
        </a:dk2>
        <a:lt2>
          <a:srgbClr val="C9C6A5"/>
        </a:lt2>
        <a:accent1>
          <a:srgbClr val="C0C0C0"/>
        </a:accent1>
        <a:accent2>
          <a:srgbClr val="B0AC90"/>
        </a:accent2>
        <a:accent3>
          <a:srgbClr val="EBEBDF"/>
        </a:accent3>
        <a:accent4>
          <a:srgbClr val="000000"/>
        </a:accent4>
        <a:accent5>
          <a:srgbClr val="DCDCDC"/>
        </a:accent5>
        <a:accent6>
          <a:srgbClr val="9F9B82"/>
        </a:accent6>
        <a:hlink>
          <a:srgbClr val="666699"/>
        </a:hlink>
        <a:folHlink>
          <a:srgbClr val="905C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deau 9">
        <a:dk1>
          <a:srgbClr val="000000"/>
        </a:dk1>
        <a:lt1>
          <a:srgbClr val="FFFFFF"/>
        </a:lt1>
        <a:dk2>
          <a:srgbClr val="000099"/>
        </a:dk2>
        <a:lt2>
          <a:srgbClr val="DDDDDD"/>
        </a:lt2>
        <a:accent1>
          <a:srgbClr val="C6D4D4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DFE6E6"/>
        </a:accent5>
        <a:accent6>
          <a:srgbClr val="AEAEAE"/>
        </a:accent6>
        <a:hlink>
          <a:srgbClr val="6600FF"/>
        </a:hlink>
        <a:folHlink>
          <a:srgbClr val="9900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Modèle par défaut 9">
    <a:dk1>
      <a:srgbClr val="336699"/>
    </a:dk1>
    <a:lt1>
      <a:srgbClr val="FFFFFF"/>
    </a:lt1>
    <a:dk2>
      <a:srgbClr val="000000"/>
    </a:dk2>
    <a:lt2>
      <a:srgbClr val="E3EBF1"/>
    </a:lt2>
    <a:accent1>
      <a:srgbClr val="003399"/>
    </a:accent1>
    <a:accent2>
      <a:srgbClr val="468A4B"/>
    </a:accent2>
    <a:accent3>
      <a:srgbClr val="AAAAAA"/>
    </a:accent3>
    <a:accent4>
      <a:srgbClr val="DADADA"/>
    </a:accent4>
    <a:accent5>
      <a:srgbClr val="AAADCA"/>
    </a:accent5>
    <a:accent6>
      <a:srgbClr val="3F7D43"/>
    </a:accent6>
    <a:hlink>
      <a:srgbClr val="66CCFF"/>
    </a:hlink>
    <a:folHlink>
      <a:srgbClr val="F0E500"/>
    </a:folHlink>
  </a:clrScheme>
</a:themeOverride>
</file>

<file path=ppt/theme/themeOverride2.xml><?xml version="1.0" encoding="utf-8"?>
<a:themeOverride xmlns:a="http://schemas.openxmlformats.org/drawingml/2006/main">
  <a:clrScheme name="Modèle par défaut 9">
    <a:dk1>
      <a:srgbClr val="336699"/>
    </a:dk1>
    <a:lt1>
      <a:srgbClr val="FFFFFF"/>
    </a:lt1>
    <a:dk2>
      <a:srgbClr val="000000"/>
    </a:dk2>
    <a:lt2>
      <a:srgbClr val="E3EBF1"/>
    </a:lt2>
    <a:accent1>
      <a:srgbClr val="003399"/>
    </a:accent1>
    <a:accent2>
      <a:srgbClr val="468A4B"/>
    </a:accent2>
    <a:accent3>
      <a:srgbClr val="AAAAAA"/>
    </a:accent3>
    <a:accent4>
      <a:srgbClr val="DADADA"/>
    </a:accent4>
    <a:accent5>
      <a:srgbClr val="AAADCA"/>
    </a:accent5>
    <a:accent6>
      <a:srgbClr val="3F7D43"/>
    </a:accent6>
    <a:hlink>
      <a:srgbClr val="66CCFF"/>
    </a:hlink>
    <a:folHlink>
      <a:srgbClr val="F0E500"/>
    </a:folHlink>
  </a:clrScheme>
</a:themeOverride>
</file>

<file path=ppt/theme/themeOverride3.xml><?xml version="1.0" encoding="utf-8"?>
<a:themeOverride xmlns:a="http://schemas.openxmlformats.org/drawingml/2006/main">
  <a:clrScheme name="Modèle par défaut 9">
    <a:dk1>
      <a:srgbClr val="336699"/>
    </a:dk1>
    <a:lt1>
      <a:srgbClr val="FFFFFF"/>
    </a:lt1>
    <a:dk2>
      <a:srgbClr val="000000"/>
    </a:dk2>
    <a:lt2>
      <a:srgbClr val="E3EBF1"/>
    </a:lt2>
    <a:accent1>
      <a:srgbClr val="003399"/>
    </a:accent1>
    <a:accent2>
      <a:srgbClr val="468A4B"/>
    </a:accent2>
    <a:accent3>
      <a:srgbClr val="AAAAAA"/>
    </a:accent3>
    <a:accent4>
      <a:srgbClr val="DADADA"/>
    </a:accent4>
    <a:accent5>
      <a:srgbClr val="AAADCA"/>
    </a:accent5>
    <a:accent6>
      <a:srgbClr val="3F7D43"/>
    </a:accent6>
    <a:hlink>
      <a:srgbClr val="66CCFF"/>
    </a:hlink>
    <a:folHlink>
      <a:srgbClr val="F0E5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1767</TotalTime>
  <Words>2504</Words>
  <Application>Microsoft Office PowerPoint</Application>
  <PresentationFormat>Affichage à l'écran (4:3)</PresentationFormat>
  <Paragraphs>619</Paragraphs>
  <Slides>47</Slides>
  <Notes>20</Notes>
  <HiddenSlides>0</HiddenSlides>
  <MMClips>0</MMClips>
  <ScaleCrop>false</ScaleCrop>
  <HeadingPairs>
    <vt:vector size="6" baseType="variant">
      <vt:variant>
        <vt:lpstr>Thème</vt:lpstr>
      </vt:variant>
      <vt:variant>
        <vt:i4>2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47</vt:i4>
      </vt:variant>
    </vt:vector>
  </HeadingPairs>
  <TitlesOfParts>
    <vt:vector size="50" baseType="lpstr">
      <vt:lpstr>Modèle par défaut</vt:lpstr>
      <vt:lpstr>Rideau</vt:lpstr>
      <vt:lpstr>Diapositive</vt:lpstr>
      <vt:lpstr>Présentation PowerPoint</vt:lpstr>
      <vt:lpstr>LA SANTE</vt:lpstr>
      <vt:lpstr>Présentation PowerPoint</vt:lpstr>
      <vt:lpstr>Présentation PowerPoint</vt:lpstr>
      <vt:lpstr>Présentation PowerPoint</vt:lpstr>
      <vt:lpstr>QU’EST-CE QUE “ ÊTRE EN BONNE CONDITION PHYSIQUE” ?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EXPLICATIONS POSSIBLES :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LE F.A.I.T.P.A.S. PERMET DE MIEUX GERER L’ENTRAÎNEMENT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À QUEL ÂGE COMMENCER UN PROGRAMME DE REMISE EN CONDITION PHYSIQUE ?</vt:lpstr>
      <vt:lpstr>IL N’Y A PAS D’ÂGE POUR COMMENCER …L’ESSENTIEL EST DE VOULOIR DÉBUTER UN PROGRAMME, DE CHANGER SES HABITUDES SI CELLES-CI SONT TROP PROCHES DE LA SÉDENTARITÉ ET DE CONSERVER LE PLUS LONGTEMPS POSSIBLE SA MOTIVATION POUR LA PRATIQUE RÉGULIÈRE D’UNE OU DE PLUSIEURS ACTIVITÉS PHYSIQUES</vt:lpstr>
      <vt:lpstr>Présentation PowerPoint</vt:lpstr>
      <vt:lpstr>Présentation PowerPoint</vt:lpstr>
      <vt:lpstr>Présentation PowerPoint</vt:lpstr>
    </vt:vector>
  </TitlesOfParts>
  <Company>***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Qu’est-ce qu’«être en bonne santé» ?</dc:title>
  <dc:creator>Georges cazorla</dc:creator>
  <cp:lastModifiedBy>Georges Caz</cp:lastModifiedBy>
  <cp:revision>118</cp:revision>
  <dcterms:created xsi:type="dcterms:W3CDTF">2009-10-21T05:59:02Z</dcterms:created>
  <dcterms:modified xsi:type="dcterms:W3CDTF">2017-08-19T12:14:09Z</dcterms:modified>
</cp:coreProperties>
</file>