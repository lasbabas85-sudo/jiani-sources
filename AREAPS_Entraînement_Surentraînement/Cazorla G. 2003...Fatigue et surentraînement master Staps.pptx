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9.jpeg" ContentType="image/jpeg"/>
  <Override PartName="/ppt/media/image12.png" ContentType="image/png"/>
  <Override PartName="/ppt/media/image8.png" ContentType="image/png"/>
  <Override PartName="/ppt/media/image11.png" ContentType="image/png"/>
  <Override PartName="/ppt/media/image22.jpeg" ContentType="image/jpeg"/>
  <Override PartName="/ppt/media/image7.png" ContentType="image/png"/>
  <Override PartName="/ppt/media/image16.png" ContentType="image/png"/>
  <Override PartName="/ppt/media/image13.png" ContentType="image/png"/>
  <Override PartName="/ppt/media/image6.jpeg" ContentType="image/jpeg"/>
  <Override PartName="/ppt/media/image10.png" ContentType="image/png"/>
  <Override PartName="/ppt/media/image1.png" ContentType="image/png"/>
  <Override PartName="/ppt/media/image28.wmf" ContentType="image/x-wmf"/>
  <Override PartName="/ppt/media/image5.wmf" ContentType="image/x-wmf"/>
  <Override PartName="/ppt/media/image24.jpeg" ContentType="image/jpeg"/>
  <Override PartName="/ppt/media/image4.wmf" ContentType="image/x-wmf"/>
  <Override PartName="/ppt/media/image27.wmf" ContentType="image/x-wmf"/>
  <Override PartName="/ppt/media/image15.wmf" ContentType="image/x-wmf"/>
  <Override PartName="/ppt/media/image26.wmf" ContentType="image/x-wmf"/>
  <Override PartName="/ppt/media/image20.jpeg" ContentType="image/jpeg"/>
  <Override PartName="/ppt/media/image3.jpeg" ContentType="image/jpeg"/>
  <Override PartName="/ppt/media/image21.wmf" ContentType="image/x-wmf"/>
  <Override PartName="/ppt/media/image19.wmf" ContentType="image/x-wmf"/>
  <Override PartName="/ppt/media/image18.png" ContentType="image/png"/>
  <Override PartName="/ppt/media/image17.wmf" ContentType="image/x-wmf"/>
  <Override PartName="/ppt/media/image14.jpeg" ContentType="image/jpeg"/>
  <Override PartName="/ppt/media/image23.png" ContentType="image/png"/>
  <Override PartName="/ppt/media/image25.wmf" ContentType="image/x-wmf"/>
  <Override PartName="/ppt/media/image2.jpeg" ContentType="image/jpeg"/>
  <Override PartName="/ppt/embeddings/oleObject1.xlsx" ContentType="application/vnd.openxmlformats-officedocument.spreadsheetml.sheet"/>
  <Override PartName="/ppt/embeddings/oleObject1.bin" ContentType="application/vnd.openxmlformats-officedocument.oleObject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9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59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84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92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slides/slide29.xml" ContentType="application/vnd.openxmlformats-officedocument.presentationml.slide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83.xml.rels" ContentType="application/vnd.openxmlformats-package.relationships+xml"/>
  <Override PartName="/ppt/slides/_rels/slide18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82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6.xml.rels" ContentType="application/vnd.openxmlformats-package.relationships+xml"/>
  <Override PartName="/ppt/slides/_rels/slide81.xml.rels" ContentType="application/vnd.openxmlformats-package.relationships+xml"/>
  <Override PartName="/ppt/slides/_rels/slide46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80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91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72.xml.rels" ContentType="application/vnd.openxmlformats-package.relationships+xml"/>
  <Override PartName="/ppt/slides/_rels/slide78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0.xml.rels" ContentType="application/vnd.openxmlformats-package.relationships+xml"/>
  <Override PartName="/ppt/slides/_rels/slide67.xml.rels" ContentType="application/vnd.openxmlformats-package.relationships+xml"/>
  <Override PartName="/ppt/slides/_rels/slide31.xml.rels" ContentType="application/vnd.openxmlformats-package.relationships+xml"/>
  <Override PartName="/ppt/slides/_rels/slide68.xml.rels" ContentType="application/vnd.openxmlformats-package.relationships+xml"/>
  <Override PartName="/ppt/slides/_rels/slide32.xml.rels" ContentType="application/vnd.openxmlformats-package.relationships+xml"/>
  <Override PartName="/ppt/slides/_rels/slide6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79.xml.rels" ContentType="application/vnd.openxmlformats-package.relationships+xml"/>
  <Override PartName="/ppt/slides/_rels/slide25.xml.rels" ContentType="application/vnd.openxmlformats-package.relationships+xml"/>
  <Override PartName="/ppt/slides/_rels/slide90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2.xml.rels" ContentType="application/vnd.openxmlformats-package.relationships+xml"/>
  <Override PartName="/ppt/slides/_rels/slide89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77.xml.rels" ContentType="application/vnd.openxmlformats-package.relationships+xml"/>
  <Override PartName="/ppt/slides/_rels/slide51.xml.rels" ContentType="application/vnd.openxmlformats-package.relationships+xml"/>
  <Override PartName="/ppt/slides/_rels/slide88.xml.rels" ContentType="application/vnd.openxmlformats-package.relationships+xml"/>
  <Override PartName="/ppt/slides/_rels/slide50.xml.rels" ContentType="application/vnd.openxmlformats-package.relationships+xml"/>
  <Override PartName="/ppt/slides/_rels/slide87.xml.rels" ContentType="application/vnd.openxmlformats-package.relationships+xml"/>
  <Override PartName="/ppt/slides/_rels/slide45.xml.rels" ContentType="application/vnd.openxmlformats-package.relationships+xml"/>
  <Override PartName="/ppt/slides/_rels/slide13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84.xml.rels" ContentType="application/vnd.openxmlformats-package.relationships+xml"/>
  <Override PartName="/ppt/slides/_rels/slide60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92.xml.rels" ContentType="application/vnd.openxmlformats-package.relationships+xml"/>
  <Override PartName="/ppt/slides/_rels/slide27.xml.rels" ContentType="application/vnd.openxmlformats-package.relationships+xml"/>
  <Override PartName="/ppt/slides/_rels/slide64.xml.rels" ContentType="application/vnd.openxmlformats-package.relationships+xml"/>
  <Override PartName="/ppt/slides/_rels/slide28.xml.rels" ContentType="application/vnd.openxmlformats-package.relationships+xml"/>
  <Override PartName="/ppt/slides/_rels/slide70.xml.rels" ContentType="application/vnd.openxmlformats-package.relationships+xml"/>
  <Override PartName="/ppt/slides/_rels/slide65.xml.rels" ContentType="application/vnd.openxmlformats-package.relationships+xml"/>
  <Override PartName="/ppt/slides/_rels/slide71.xml.rels" ContentType="application/vnd.openxmlformats-package.relationships+xml"/>
  <Override PartName="/ppt/slides/_rels/slide66.xml.rels" ContentType="application/vnd.openxmlformats-package.relationships+xml"/>
  <Override PartName="/ppt/slides/_rels/slide76.xml.rels" ContentType="application/vnd.openxmlformats-package.relationships+xml"/>
  <Override PartName="/ppt/slides/_rels/slide75.xml.rels" ContentType="application/vnd.openxmlformats-package.relationships+xml"/>
  <Override PartName="/ppt/slides/_rels/slide86.xml.rels" ContentType="application/vnd.openxmlformats-package.relationships+xml"/>
  <Override PartName="/ppt/slides/_rels/slide74.xml.rels" ContentType="application/vnd.openxmlformats-package.relationships+xml"/>
  <Override PartName="/ppt/slides/_rels/slide85.xml.rels" ContentType="application/vnd.openxmlformats-package.relationships+xml"/>
  <Override PartName="/ppt/slides/_rels/slide73.xml.rels" ContentType="application/vnd.openxmlformats-package.relationships+xml"/>
  <Override PartName="/ppt/slides/slide71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8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76.xml" ContentType="application/vnd.openxmlformats-officedocument.presentationml.slide+xml"/>
  <Override PartName="/ppt/slides/slide8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74.xml" ContentType="application/vnd.openxmlformats-officedocument.presentationml.slide+xml"/>
  <Override PartName="/ppt/slides/slide85.xml" ContentType="application/vnd.openxmlformats-officedocument.presentationml.slide+xml"/>
  <Override PartName="/ppt/slides/slide73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72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91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80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8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82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8.xml" ContentType="application/vnd.openxmlformats-officedocument.presentationml.slide+xml"/>
  <Override PartName="/ppt/slides/slide83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notesSlides/notesSlide84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_rels/notesSlide73.xml.rels" ContentType="application/vnd.openxmlformats-package.relationships+xml"/>
  <Override PartName="/ppt/notesSlides/_rels/notesSlide83.xml.rels" ContentType="application/vnd.openxmlformats-package.relationships+xml"/>
  <Override PartName="/ppt/notesSlides/_rels/notesSlide71.xml.rels" ContentType="application/vnd.openxmlformats-package.relationships+xml"/>
  <Override PartName="/ppt/notesSlides/_rels/notesSlide67.xml.rels" ContentType="application/vnd.openxmlformats-package.relationships+xml"/>
  <Override PartName="/ppt/notesSlides/_rels/notesSlide75.xml.rels" ContentType="application/vnd.openxmlformats-package.relationships+xml"/>
  <Override PartName="/ppt/notesSlides/_rels/notesSlide84.xml.rels" ContentType="application/vnd.openxmlformats-package.relationships+xml"/>
  <Override PartName="/ppt/notesSlides/_rels/notesSlide82.xml.rels" ContentType="application/vnd.openxmlformats-package.relationships+xml"/>
  <Override PartName="/ppt/notesSlides/_rels/notesSlide81.xml.rels" ContentType="application/vnd.openxmlformats-package.relationships+xml"/>
  <Override PartName="/ppt/notesSlides/_rels/notesSlide74.xml.rels" ContentType="application/vnd.openxmlformats-package.relationships+xml"/>
  <Override PartName="/ppt/notesSlides/_rels/notesSlide85.xml.rels" ContentType="application/vnd.openxmlformats-package.relationships+xml"/>
  <Override PartName="/ppt/notesSlides/_rels/notesSlide92.xml.rels" ContentType="application/vnd.openxmlformats-package.relationships+xml"/>
  <Override PartName="/ppt/notesSlides/_rels/notesSlide91.xml.rels" ContentType="application/vnd.openxmlformats-package.relationships+xml"/>
  <Override PartName="/ppt/notesSlides/_rels/notesSlide89.xml.rels" ContentType="application/vnd.openxmlformats-package.relationships+xml"/>
  <Override PartName="/ppt/notesSlides/_rels/notesSlide88.xml.rels" ContentType="application/vnd.openxmlformats-package.relationships+xml"/>
  <Override PartName="/ppt/notesSlides/_rels/notesSlide64.xml.rels" ContentType="application/vnd.openxmlformats-package.relationships+xml"/>
  <Override PartName="/ppt/notesSlides/_rels/notesSlide76.xml.rels" ContentType="application/vnd.openxmlformats-package.relationships+xml"/>
  <Override PartName="/ppt/notesSlides/_rels/notesSlide87.xml.rels" ContentType="application/vnd.openxmlformats-package.relationships+xml"/>
  <Override PartName="/ppt/notesSlides/_rels/notesSlide63.xml.rels" ContentType="application/vnd.openxmlformats-package.relationships+xml"/>
  <Override PartName="/ppt/notesSlides/notesSlide85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7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3562B0-8992-47BA-99F2-945A3CE16B78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_rels/notesSlide87.xml.rels><?xml version="1.0" encoding="UTF-8"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
</Relationships>
</file>

<file path=ppt/notesSlides/_rels/notesSlide88.xml.rels><?xml version="1.0" encoding="UTF-8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
</Relationships>
</file>

<file path=ppt/notesSlides/_rels/notesSlide89.xml.rels><?xml version="1.0" encoding="UTF-8"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
</Relationships>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
</Relationships>
</file>

<file path=ppt/notesSlides/_rels/notesSlide92.xml.rels><?xml version="1.0" encoding="UTF-8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
</Relationship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CBF269-81BF-4359-82B1-0F422BB40584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C8633D-DB49-45BE-AE12-AE8A5C081D2D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EEEA39-58BF-427B-B0BA-8CD578B0EDFA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CF4F2B-495E-4D0F-9BE5-7E49FC25A608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B4C7F9-5BFA-4A07-8AD8-75DB9AFA93EE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AADA4C-0261-41E4-9CBA-B0F4548D83E5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A3D28B-02AD-4F8D-B1B6-4941B218E2FC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BA8937-8D93-436E-9215-1EA3D033B580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60D200-9764-4964-8703-2A9CB9EF2669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534E02-5F77-4580-BCD9-B4E1410CFCFB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BB2B55-04D1-4F5D-9F31-386183BF0AB5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078A40-8E0A-4FC5-B078-9E8DA66B257E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DA53C0-BB40-4E11-AC99-ECCB8E530B7A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29F955-242D-49F5-A99D-69599E99A64D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3DF0C9-3E12-4724-A528-9E1467CC347C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98214D-A684-4346-AE83-689052F5B4D3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952D5E1-A72E-4416-A4F2-DAC40B57844D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83BDA0-84E8-4605-AE06-68C00CA674D9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1292400" y="797040"/>
            <a:ext cx="4275000" cy="320652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443A14-0E9D-47CD-A7C7-3E5E135DB6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333399"/>
            </a:gs>
            <a:gs pos="100000">
              <a:srgbClr val="000000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6633AC-DA25-4250-98EE-7431F4588EDE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mailto:areaps33@gmail.com" TargetMode="External"/><Relationship Id="rId3" Type="http://schemas.openxmlformats.org/officeDocument/2006/relationships/hyperlink" Target="http://www.areaps.org/" TargetMode="External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4.wmf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wmf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5.wmf"/><Relationship Id="rId3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7.wmf"/><Relationship Id="rId3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9.wmf"/><Relationship Id="rId3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1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1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5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6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7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8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"/>
          <p:cNvSpPr/>
          <p:nvPr/>
        </p:nvSpPr>
        <p:spPr>
          <a:xfrm>
            <a:off x="1266840" y="1916280"/>
            <a:ext cx="6764400" cy="43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FATIGUE ET 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SURENTRAÎNEMENT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Georges CAZORLA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Cours Master 2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Année 2005-2006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30720" descr=""/>
          <p:cNvPicPr/>
          <p:nvPr/>
        </p:nvPicPr>
        <p:blipFill>
          <a:blip r:embed="rId1"/>
          <a:srcRect l="0" t="19565" r="74963" b="63428"/>
          <a:stretch/>
        </p:blipFill>
        <p:spPr>
          <a:xfrm>
            <a:off x="3570120" y="189000"/>
            <a:ext cx="2157480" cy="82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Rectangle 3"/>
          <p:cNvSpPr/>
          <p:nvPr/>
        </p:nvSpPr>
        <p:spPr>
          <a:xfrm>
            <a:off x="267120" y="1148760"/>
            <a:ext cx="920844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Times New Roman"/>
              </a:rPr>
              <a:t>Association pour la Recherche et l’Évaluation en Activité Physique et en Sport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sng">
                <a:solidFill>
                  <a:srgbClr val="009999"/>
                </a:solidFill>
                <a:effectLst/>
                <a:uFillTx/>
                <a:latin typeface="Calibri"/>
                <a:ea typeface="Times New Roman"/>
                <a:hlinkClick r:id="rId2"/>
              </a:rPr>
              <a:t>areaps33@gmail.com</a:t>
            </a:r>
            <a:r>
              <a:rPr b="1" i="1" lang="fr-FR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Times New Roman"/>
              </a:rPr>
              <a:t>    Web : </a:t>
            </a:r>
            <a:r>
              <a:rPr b="0" lang="fr-FR" sz="1600" strike="noStrike" u="sng">
                <a:solidFill>
                  <a:srgbClr val="009999"/>
                </a:solidFill>
                <a:effectLst/>
                <a:uFillTx/>
                <a:latin typeface="Calibri"/>
                <a:ea typeface="Times New Roman"/>
                <a:hlinkClick r:id="rId3"/>
              </a:rPr>
              <a:t>www.areaps.org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"/>
          <p:cNvSpPr/>
          <p:nvPr/>
        </p:nvSpPr>
        <p:spPr>
          <a:xfrm>
            <a:off x="0" y="125280"/>
            <a:ext cx="9144000" cy="70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Fatigue périphérique, fatigue centrale et surentraînement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Plan du cours</a:t>
            </a:r>
            <a:r>
              <a:rPr b="1" lang="fr-CA" sz="2400" strike="noStrike" u="none">
                <a:solidFill>
                  <a:srgbClr val="ff9999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Définitions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Première partie : La fatigue périphérique</a:t>
            </a:r>
            <a:r>
              <a:rPr b="0" lang="fr-CA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40000"/>
              </a:lnSpc>
              <a:buClr>
                <a:srgbClr val="ffff00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Les effets de la fatigue musculaire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40000"/>
              </a:lnSpc>
              <a:buClr>
                <a:srgbClr val="ffff00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Les sites possibles de la fatigue périphérique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40000"/>
              </a:lnSpc>
              <a:buClr>
                <a:srgbClr val="ffff00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Les facteurs de la fatigue périphérique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Deuxième partie : La fatigue centrale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40000"/>
              </a:lnSpc>
              <a:buClr>
                <a:srgbClr val="ffff00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Définitions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40000"/>
              </a:lnSpc>
              <a:buClr>
                <a:srgbClr val="ffff00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Etiologie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40000"/>
              </a:lnSpc>
              <a:buClr>
                <a:srgbClr val="ffff00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Conséquences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Troisième  : Le surentraînement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140000"/>
              </a:lnSpc>
              <a:buClr>
                <a:srgbClr val="ffff00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De la fatigue cumulée vers le surentraînement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"/>
          <p:cNvSpPr/>
          <p:nvPr/>
        </p:nvSpPr>
        <p:spPr>
          <a:xfrm>
            <a:off x="0" y="1219320"/>
            <a:ext cx="914400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 algn="ctr">
              <a:lnSpc>
                <a:spcPct val="150000"/>
              </a:lnSpc>
              <a:spcBef>
                <a:spcPts val="50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CA" sz="80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1. Définitions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/>
          <p:nvPr/>
        </p:nvSpPr>
        <p:spPr>
          <a:xfrm>
            <a:off x="28440" y="600120"/>
            <a:ext cx="9001440" cy="25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Fatigue :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10000"/>
              </a:lnSpc>
              <a:buClr>
                <a:srgbClr val="ffff00"/>
              </a:buClr>
              <a:buFont typeface="Bookman Old Style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«  Sensation désagréable de difficulté à effectuer des </a:t>
            </a: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efforts physiques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ou </a:t>
            </a: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intellectuels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, provoquée par </a:t>
            </a: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un effort intense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, par une maladie, ou sans cause apparente »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Box 6"/>
          <p:cNvSpPr/>
          <p:nvPr/>
        </p:nvSpPr>
        <p:spPr>
          <a:xfrm>
            <a:off x="114480" y="3357720"/>
            <a:ext cx="8923320" cy="13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63520" indent="-263520"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2) « </a:t>
            </a: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diminution objective des performances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d’un    organe tel que le muscle, après un </a:t>
            </a: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fonctionnement intense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 »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Rectangle 8"/>
          <p:cNvSpPr/>
          <p:nvPr/>
        </p:nvSpPr>
        <p:spPr>
          <a:xfrm>
            <a:off x="2272680" y="109440"/>
            <a:ext cx="487476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bbe0e3"/>
                </a:solidFill>
                <a:effectLst/>
                <a:uFillTx/>
                <a:latin typeface="Bookman Old Style"/>
              </a:rPr>
              <a:t>Selon Le Petit Larousse 1998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Box 2"/>
          <p:cNvSpPr/>
          <p:nvPr/>
        </p:nvSpPr>
        <p:spPr>
          <a:xfrm>
            <a:off x="262080" y="5084640"/>
            <a:ext cx="849600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Selon Edwards (1983)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La fatigue est « l’incapacité à maintenir une force et une puissance requises ou espérées »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2"/>
          <p:cNvSpPr/>
          <p:nvPr/>
        </p:nvSpPr>
        <p:spPr>
          <a:xfrm>
            <a:off x="609480" y="955800"/>
            <a:ext cx="80010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 symptômes de fatigue aiguë disparaissent après récupération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Box 3"/>
          <p:cNvSpPr/>
          <p:nvPr/>
        </p:nvSpPr>
        <p:spPr>
          <a:xfrm>
            <a:off x="533520" y="1413000"/>
            <a:ext cx="80769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Augmentation du niveau de fatigue alternée avec périodes de récupération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Box 4"/>
          <p:cNvSpPr/>
          <p:nvPr/>
        </p:nvSpPr>
        <p:spPr>
          <a:xfrm>
            <a:off x="533520" y="1870200"/>
            <a:ext cx="80769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Maintien ou augmentation des charges d’entraînement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Box 5"/>
          <p:cNvSpPr/>
          <p:nvPr/>
        </p:nvSpPr>
        <p:spPr>
          <a:xfrm>
            <a:off x="533520" y="2403360"/>
            <a:ext cx="81532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Augmentation de la complexité et de la sévérité des symptômes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Box 6"/>
          <p:cNvSpPr/>
          <p:nvPr/>
        </p:nvSpPr>
        <p:spPr>
          <a:xfrm>
            <a:off x="457200" y="3165480"/>
            <a:ext cx="1676520" cy="1739880"/>
          </a:xfrm>
          <a:prstGeom prst="rect">
            <a:avLst/>
          </a:prstGeom>
          <a:noFill/>
          <a:ln w="936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Fatigue normalement induite par une séance d’entraîne-ment isolée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Box 7"/>
          <p:cNvSpPr/>
          <p:nvPr/>
        </p:nvSpPr>
        <p:spPr>
          <a:xfrm>
            <a:off x="2438280" y="3165480"/>
            <a:ext cx="1676520" cy="2014200"/>
          </a:xfrm>
          <a:prstGeom prst="rect">
            <a:avLst/>
          </a:prstGeom>
          <a:noFill/>
          <a:ln w="936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Stimulus isolé de sur-sollicitation induit par deux à trois microcycles intenses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Box 8"/>
          <p:cNvSpPr/>
          <p:nvPr/>
        </p:nvSpPr>
        <p:spPr>
          <a:xfrm>
            <a:off x="4648320" y="3165480"/>
            <a:ext cx="1676160" cy="2837160"/>
          </a:xfrm>
          <a:prstGeom prst="rect">
            <a:avLst/>
          </a:prstGeom>
          <a:noFill/>
          <a:ln w="936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Sur-sollicitation induite par plusieurs microcycles intenses et des périodes de récupération trop faibles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Box 9"/>
          <p:cNvSpPr/>
          <p:nvPr/>
        </p:nvSpPr>
        <p:spPr>
          <a:xfrm>
            <a:off x="6705720" y="3165480"/>
            <a:ext cx="2057400" cy="2837160"/>
          </a:xfrm>
          <a:prstGeom prst="rect">
            <a:avLst/>
          </a:prstGeom>
          <a:noFill/>
          <a:ln w="936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Syndrome de surentraînement résultant du  maintien de stimulations intenses après accumulation de fatigue sans récupération adéquate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Line 10"/>
          <p:cNvSpPr/>
          <p:nvPr/>
        </p:nvSpPr>
        <p:spPr>
          <a:xfrm>
            <a:off x="533520" y="1793880"/>
            <a:ext cx="8153280" cy="0"/>
          </a:xfrm>
          <a:prstGeom prst="line">
            <a:avLst/>
          </a:prstGeom>
          <a:ln w="50760">
            <a:solidFill>
              <a:srgbClr val="ff99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Line 11"/>
          <p:cNvSpPr/>
          <p:nvPr/>
        </p:nvSpPr>
        <p:spPr>
          <a:xfrm>
            <a:off x="533520" y="2784600"/>
            <a:ext cx="8153280" cy="0"/>
          </a:xfrm>
          <a:prstGeom prst="line">
            <a:avLst/>
          </a:prstGeom>
          <a:ln w="1908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Line 12"/>
          <p:cNvSpPr/>
          <p:nvPr/>
        </p:nvSpPr>
        <p:spPr>
          <a:xfrm>
            <a:off x="533520" y="2327400"/>
            <a:ext cx="8153280" cy="0"/>
          </a:xfrm>
          <a:prstGeom prst="line">
            <a:avLst/>
          </a:prstGeom>
          <a:ln w="1908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Line 13"/>
          <p:cNvSpPr/>
          <p:nvPr/>
        </p:nvSpPr>
        <p:spPr>
          <a:xfrm>
            <a:off x="533520" y="879480"/>
            <a:ext cx="8153280" cy="0"/>
          </a:xfrm>
          <a:prstGeom prst="line">
            <a:avLst/>
          </a:prstGeom>
          <a:ln w="1908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Line 14"/>
          <p:cNvSpPr/>
          <p:nvPr/>
        </p:nvSpPr>
        <p:spPr>
          <a:xfrm>
            <a:off x="533520" y="1336680"/>
            <a:ext cx="8153280" cy="0"/>
          </a:xfrm>
          <a:prstGeom prst="line">
            <a:avLst/>
          </a:prstGeom>
          <a:ln w="1908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Line 15"/>
          <p:cNvSpPr/>
          <p:nvPr/>
        </p:nvSpPr>
        <p:spPr>
          <a:xfrm flipV="1">
            <a:off x="1295280" y="1295280"/>
            <a:ext cx="0" cy="1851120"/>
          </a:xfrm>
          <a:prstGeom prst="line">
            <a:avLst/>
          </a:prstGeom>
          <a:ln w="25560">
            <a:solidFill>
              <a:srgbClr val="66ff33"/>
            </a:solidFill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Line 16"/>
          <p:cNvSpPr/>
          <p:nvPr/>
        </p:nvSpPr>
        <p:spPr>
          <a:xfrm flipV="1">
            <a:off x="3276720" y="1699920"/>
            <a:ext cx="0" cy="1446120"/>
          </a:xfrm>
          <a:prstGeom prst="line">
            <a:avLst/>
          </a:prstGeom>
          <a:ln w="25560">
            <a:solidFill>
              <a:srgbClr val="66ff33"/>
            </a:solidFill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Line 17"/>
          <p:cNvSpPr/>
          <p:nvPr/>
        </p:nvSpPr>
        <p:spPr>
          <a:xfrm flipV="1">
            <a:off x="5486400" y="2286000"/>
            <a:ext cx="0" cy="860400"/>
          </a:xfrm>
          <a:prstGeom prst="line">
            <a:avLst/>
          </a:prstGeom>
          <a:ln w="25560">
            <a:solidFill>
              <a:srgbClr val="66ff33"/>
            </a:solidFill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Line 18"/>
          <p:cNvSpPr/>
          <p:nvPr/>
        </p:nvSpPr>
        <p:spPr>
          <a:xfrm flipV="1">
            <a:off x="7696080" y="2743200"/>
            <a:ext cx="0" cy="403200"/>
          </a:xfrm>
          <a:prstGeom prst="line">
            <a:avLst/>
          </a:prstGeom>
          <a:ln w="25560">
            <a:solidFill>
              <a:srgbClr val="66ff33"/>
            </a:solidFill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Box 19"/>
          <p:cNvSpPr/>
          <p:nvPr/>
        </p:nvSpPr>
        <p:spPr>
          <a:xfrm>
            <a:off x="380880" y="5791320"/>
            <a:ext cx="3657600" cy="3376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D’après Fry </a:t>
            </a:r>
            <a:r>
              <a:rPr b="1" i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et al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1991 (modifié)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Box 20"/>
          <p:cNvSpPr/>
          <p:nvPr/>
        </p:nvSpPr>
        <p:spPr>
          <a:xfrm>
            <a:off x="228600" y="228600"/>
            <a:ext cx="8686800" cy="398880"/>
          </a:xfrm>
          <a:prstGeom prst="rect">
            <a:avLst/>
          </a:prstGeom>
          <a:noFill/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Evolution générale …de la fatigue vers le surentraînement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nodeType="clickEffect" fill="hold">
                      <p:stCondLst>
                        <p:cond delay="0"/>
                      </p:stCondLst>
                      <p:childTnLst>
                        <p:par>
                          <p:cTn id="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nodeType="clickEffect" fill="hold">
                      <p:stCondLst>
                        <p:cond delay="indefinite"/>
                      </p:stCondLst>
                      <p:childTnLst>
                        <p:par>
                          <p:cTn id="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nodeType="clickEffect" fill="hold">
                      <p:stCondLst>
                        <p:cond delay="indefinite"/>
                      </p:stCondLst>
                      <p:childTnLst>
                        <p:par>
                          <p:cTn id="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nodeType="clickEffect" fill="hold">
                      <p:stCondLst>
                        <p:cond delay="indefinite"/>
                      </p:stCondLst>
                      <p:childTnLst>
                        <p:par>
                          <p:cTn id="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nodeType="clickEffect" fill="hold">
                      <p:stCondLst>
                        <p:cond delay="indefinite"/>
                      </p:stCondLst>
                      <p:childTnLst>
                        <p:par>
                          <p:cTn id="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nodeType="clickEffect" fill="hold">
                      <p:stCondLst>
                        <p:cond delay="indefinite"/>
                      </p:stCondLst>
                      <p:childTnLst>
                        <p:par>
                          <p:cTn id="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nodeType="clickEffect" fill="hold">
                      <p:stCondLst>
                        <p:cond delay="indefinite"/>
                      </p:stCondLst>
                      <p:childTnLst>
                        <p:par>
                          <p:cTn id="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nodeType="clickEffect" fill="hold">
                      <p:stCondLst>
                        <p:cond delay="indefinite"/>
                      </p:stCondLst>
                      <p:childTnLst>
                        <p:par>
                          <p:cTn id="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nodeType="clickEffect" fill="hold">
                      <p:stCondLst>
                        <p:cond delay="indefinite"/>
                      </p:stCondLst>
                      <p:childTnLst>
                        <p:par>
                          <p:cTn id="1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58560" y="189000"/>
            <a:ext cx="6908760" cy="121896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Fatigue musculaire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95280" y="1628640"/>
            <a:ext cx="8748720" cy="411480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 fontScale="92500" lnSpcReduction="9999"/>
          </a:bodyPr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ffff00"/>
              </a:buClr>
              <a:buFont typeface="Bookman Old Styl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Deux types de fatigue 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    •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fatigue à fréquence basse (LFF)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perte de force qui persiste pendant des heures, récupération lente</a:t>
            </a:r>
            <a:br>
              <a:rPr sz="2000"/>
            </a:b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pas de perturbations visibles </a:t>
            </a:r>
            <a:r>
              <a:rPr b="1" i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(RS, métabolique, mitochondriale?)</a:t>
            </a:r>
            <a:br>
              <a:rPr sz="2000"/>
            </a:b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   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• fatigue à fréquence élevée (HFF)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perte rapide de force, récupération rapide : </a:t>
            </a:r>
            <a:r>
              <a:rPr b="1" i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déséquilibre ionique?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Box 2"/>
          <p:cNvSpPr/>
          <p:nvPr/>
        </p:nvSpPr>
        <p:spPr>
          <a:xfrm>
            <a:off x="3498840" y="549360"/>
            <a:ext cx="1625400" cy="4597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FATIGUE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3" descr="Stress, cerveau, cortisol"/>
          <p:cNvPicPr/>
          <p:nvPr/>
        </p:nvPicPr>
        <p:blipFill>
          <a:blip r:embed="rId1"/>
          <a:srcRect l="8916" t="4231" r="4408" b="38104"/>
          <a:stretch/>
        </p:blipFill>
        <p:spPr>
          <a:xfrm>
            <a:off x="539640" y="3355920"/>
            <a:ext cx="2808360" cy="194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Picture 4" descr=""/>
          <p:cNvPicPr/>
          <p:nvPr/>
        </p:nvPicPr>
        <p:blipFill>
          <a:blip r:embed="rId2"/>
          <a:srcRect l="6632" t="0" r="18696" b="62035"/>
          <a:stretch/>
        </p:blipFill>
        <p:spPr>
          <a:xfrm>
            <a:off x="5292720" y="3500280"/>
            <a:ext cx="3240000" cy="14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Line 5"/>
          <p:cNvSpPr/>
          <p:nvPr/>
        </p:nvSpPr>
        <p:spPr>
          <a:xfrm flipH="1">
            <a:off x="2124000" y="1052640"/>
            <a:ext cx="1943280" cy="208728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Line 6"/>
          <p:cNvSpPr/>
          <p:nvPr/>
        </p:nvSpPr>
        <p:spPr>
          <a:xfrm>
            <a:off x="4427640" y="1052640"/>
            <a:ext cx="2016000" cy="230328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Arc 7"/>
          <p:cNvSpPr/>
          <p:nvPr/>
        </p:nvSpPr>
        <p:spPr>
          <a:xfrm rot="17508000">
            <a:off x="3873960" y="1956240"/>
            <a:ext cx="933480" cy="3186360"/>
          </a:xfrm>
          <a:custGeom>
            <a:avLst/>
            <a:gdLst>
              <a:gd name="GluePoint1X" fmla="*/ 0 w 25500"/>
              <a:gd name="GluePoint1Y" fmla="*/ 2147483647 h 42000"/>
              <a:gd name="GluePoint2X" fmla="*/ 2147483647 w 25500"/>
              <a:gd name="GluePoint2Y" fmla="*/ 2147483647 h 42000"/>
              <a:gd name="GluePoint3X" fmla="*/ 2147483647 w 25500"/>
              <a:gd name="GluePoint3Y" fmla="*/ 2147483647 h 42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5500" h="42000">
                <a:moveTo>
                  <a:pt x="0" y="355"/>
                </a:moveTo>
                <a:cubicBezTo>
                  <a:pt x="1286" y="118"/>
                  <a:pt x="2591" y="-1"/>
                  <a:pt x="3900" y="0"/>
                </a:cubicBezTo>
                <a:cubicBezTo>
                  <a:pt x="15829" y="0"/>
                  <a:pt x="25500" y="9670"/>
                  <a:pt x="25500" y="21600"/>
                </a:cubicBezTo>
                <a:cubicBezTo>
                  <a:pt x="25500" y="30793"/>
                  <a:pt x="19680" y="38979"/>
                  <a:pt x="10998" y="42000"/>
                </a:cubicBezTo>
              </a:path>
              <a:path stroke="0" w="25500" h="42000">
                <a:moveTo>
                  <a:pt x="0" y="355"/>
                </a:moveTo>
                <a:cubicBezTo>
                  <a:pt x="1286" y="118"/>
                  <a:pt x="2591" y="-1"/>
                  <a:pt x="3900" y="0"/>
                </a:cubicBezTo>
                <a:cubicBezTo>
                  <a:pt x="15829" y="0"/>
                  <a:pt x="25500" y="9670"/>
                  <a:pt x="25500" y="21600"/>
                </a:cubicBezTo>
                <a:cubicBezTo>
                  <a:pt x="25500" y="30793"/>
                  <a:pt x="19680" y="38979"/>
                  <a:pt x="10998" y="42000"/>
                </a:cubicBezTo>
                <a:lnTo>
                  <a:pt x="3900" y="21600"/>
                </a:lnTo>
                <a:lnTo>
                  <a:pt x="0" y="355"/>
                </a:lnTo>
                <a:close/>
              </a:path>
            </a:pathLst>
          </a:custGeom>
          <a:noFill/>
          <a:ln w="57240">
            <a:solidFill>
              <a:srgbClr val="ffff00"/>
            </a:solidFill>
            <a:prstDash val="sysDot"/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Box 8"/>
          <p:cNvSpPr/>
          <p:nvPr/>
        </p:nvSpPr>
        <p:spPr>
          <a:xfrm>
            <a:off x="560160" y="1916280"/>
            <a:ext cx="1933920" cy="12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Fatigue centrale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Exercices de longue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durée et moins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intenses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Box 9"/>
          <p:cNvSpPr/>
          <p:nvPr/>
        </p:nvSpPr>
        <p:spPr>
          <a:xfrm>
            <a:off x="6165720" y="1987560"/>
            <a:ext cx="2441520" cy="12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Fatigue périphérique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Exercices courts, intenses,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répétés et récupérations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insuffisantes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Arc 10"/>
          <p:cNvSpPr/>
          <p:nvPr/>
        </p:nvSpPr>
        <p:spPr>
          <a:xfrm rot="7477800">
            <a:off x="2856960" y="3998520"/>
            <a:ext cx="2259000" cy="2414880"/>
          </a:xfrm>
          <a:custGeom>
            <a:avLst/>
            <a:gdLst>
              <a:gd name="GluePoint1X" fmla="*/ 0 w 24896"/>
              <a:gd name="GluePoint1Y" fmla="*/ 2147483647 h 29109"/>
              <a:gd name="GluePoint2X" fmla="*/ 2147483647 w 24896"/>
              <a:gd name="GluePoint2Y" fmla="*/ 2147483647 h 29109"/>
              <a:gd name="GluePoint3X" fmla="*/ 2147483647 w 24896"/>
              <a:gd name="GluePoint3Y" fmla="*/ 2147483647 h 2910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4896" h="29109">
                <a:moveTo>
                  <a:pt x="-1" y="252"/>
                </a:moveTo>
                <a:cubicBezTo>
                  <a:pt x="1090" y="84"/>
                  <a:pt x="2192" y="-1"/>
                  <a:pt x="3296" y="0"/>
                </a:cubicBezTo>
                <a:cubicBezTo>
                  <a:pt x="15225" y="0"/>
                  <a:pt x="24896" y="9670"/>
                  <a:pt x="24896" y="21600"/>
                </a:cubicBezTo>
                <a:cubicBezTo>
                  <a:pt x="24896" y="24163"/>
                  <a:pt x="24439" y="26705"/>
                  <a:pt x="23548" y="29108"/>
                </a:cubicBezTo>
              </a:path>
              <a:path stroke="0" w="24896" h="29109">
                <a:moveTo>
                  <a:pt x="-1" y="252"/>
                </a:moveTo>
                <a:cubicBezTo>
                  <a:pt x="1090" y="84"/>
                  <a:pt x="2192" y="-1"/>
                  <a:pt x="3296" y="0"/>
                </a:cubicBezTo>
                <a:cubicBezTo>
                  <a:pt x="15225" y="0"/>
                  <a:pt x="24896" y="9670"/>
                  <a:pt x="24896" y="21600"/>
                </a:cubicBezTo>
                <a:cubicBezTo>
                  <a:pt x="24896" y="24163"/>
                  <a:pt x="24439" y="26705"/>
                  <a:pt x="23548" y="29108"/>
                </a:cubicBezTo>
                <a:lnTo>
                  <a:pt x="3296" y="21600"/>
                </a:lnTo>
                <a:lnTo>
                  <a:pt x="-1" y="252"/>
                </a:lnTo>
                <a:close/>
              </a:path>
            </a:pathLst>
          </a:custGeom>
          <a:noFill/>
          <a:ln w="57240">
            <a:solidFill>
              <a:srgbClr val="ffff00"/>
            </a:solidFill>
            <a:prstDash val="sysDot"/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Box 11"/>
          <p:cNvSpPr/>
          <p:nvPr/>
        </p:nvSpPr>
        <p:spPr>
          <a:xfrm rot="712800">
            <a:off x="3781080" y="2637000"/>
            <a:ext cx="1260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rétroaction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Box 12"/>
          <p:cNvSpPr/>
          <p:nvPr/>
        </p:nvSpPr>
        <p:spPr>
          <a:xfrm rot="20764800">
            <a:off x="3781440" y="5589360"/>
            <a:ext cx="790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0" dur="indefinite" restart="never" nodeType="tmRoot">
          <p:childTnLst>
            <p:seq>
              <p:cTn id="111" dur="indefinite" nodeType="mainSeq">
                <p:childTnLst>
                  <p:par>
                    <p:cTn id="112" nodeType="clickEffect" fill="hold">
                      <p:stCondLst>
                        <p:cond delay="indefinite"/>
                      </p:stCondLst>
                      <p:childTnLst>
                        <p:par>
                          <p:cTn id="1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2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nodeType="clickEffect" fill="hold">
                      <p:stCondLst>
                        <p:cond delay="indefinite"/>
                      </p:stCondLst>
                      <p:childTnLst>
                        <p:par>
                          <p:cTn id="1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2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3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nodeType="clickEffect" fill="hold">
                      <p:stCondLst>
                        <p:cond delay="indefinite"/>
                      </p:stCondLst>
                      <p:childTnLst>
                        <p:par>
                          <p:cTn id="1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4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nodeType="clickEffect" fill="hold">
                      <p:stCondLst>
                        <p:cond delay="indefinite"/>
                      </p:stCondLst>
                      <p:childTnLst>
                        <p:par>
                          <p:cTn id="1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5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Object 2"/>
          <p:cNvGraphicFramePr/>
          <p:nvPr/>
        </p:nvGraphicFramePr>
        <p:xfrm>
          <a:off x="609480" y="-27000"/>
          <a:ext cx="7275600" cy="345456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54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609480" y="-27000"/>
                    <a:ext cx="7275600" cy="34545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5" name="Text Box 3"/>
          <p:cNvSpPr/>
          <p:nvPr/>
        </p:nvSpPr>
        <p:spPr>
          <a:xfrm>
            <a:off x="0" y="3429000"/>
            <a:ext cx="9144000" cy="41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Fatigue</a:t>
            </a:r>
            <a:r>
              <a:rPr b="1" lang="fr-CA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:</a:t>
            </a:r>
            <a:r>
              <a:rPr b="1" lang="fr-CA" sz="28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b="1" lang="fr-CA" sz="26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diminution de la force maximale volontaire (FMV) induite par la contraction musculaire (Bigland – Ritchie, 1983)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Epuisement </a:t>
            </a:r>
            <a:r>
              <a:rPr b="1" lang="fr-CA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:</a:t>
            </a:r>
            <a:r>
              <a:rPr b="1" lang="fr-CA" sz="26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 Incapacité de maintenir la puissance requise (Bigland – Ritchie, 1983)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FMV</a:t>
            </a:r>
            <a:r>
              <a:rPr b="1" lang="fr-CA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:</a:t>
            </a:r>
            <a:r>
              <a:rPr b="1" lang="fr-CA" sz="26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 force développée par un individu lors d’un exercice qu’il estime maximal (Gandevia, 2001)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387440" y="549360"/>
            <a:ext cx="5556240" cy="121896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Fatigue et typologie </a:t>
            </a:r>
            <a:br>
              <a:rPr sz="3600"/>
            </a:b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des fibres musculaires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3682800" y="2276280"/>
            <a:ext cx="4197240" cy="343836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 fontScale="85000" lnSpcReduction="9999"/>
          </a:bodyPr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Fibres du type IIb</a:t>
            </a:r>
            <a:br>
              <a:rPr sz="2800"/>
            </a:b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• fatigue précoce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Fibres du type IIa</a:t>
            </a:r>
            <a:br>
              <a:rPr sz="2800"/>
            </a:b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• fatigue modérée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Fibres du type I</a:t>
            </a:r>
            <a:br>
              <a:rPr sz="2800"/>
            </a:b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• fatigue retardée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" name="Object 4"/>
          <p:cNvGraphicFramePr/>
          <p:nvPr/>
        </p:nvGraphicFramePr>
        <p:xfrm>
          <a:off x="1235160" y="2801880"/>
          <a:ext cx="2187360" cy="26002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59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235160" y="2801880"/>
                    <a:ext cx="2187360" cy="2600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4"/>
          <p:cNvSpPr/>
          <p:nvPr/>
        </p:nvSpPr>
        <p:spPr>
          <a:xfrm>
            <a:off x="0" y="1268280"/>
            <a:ext cx="9144000" cy="28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 algn="ctr">
              <a:lnSpc>
                <a:spcPct val="150000"/>
              </a:lnSpc>
              <a:spcBef>
                <a:spcPts val="3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CA" sz="60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2. Effets de la fatigue musculaire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14040" y="259920"/>
            <a:ext cx="6908760" cy="12193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Fatigue et </a:t>
            </a:r>
            <a:br>
              <a:rPr sz="4000"/>
            </a:br>
            <a:r>
              <a:rPr b="1" lang="fr-FR" sz="4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contraction isométrique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68000" y="2313000"/>
            <a:ext cx="8280360" cy="32767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réduction de force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réduction de la tension développée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réduction du déclin de la tension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prolongation du transit Ca </a:t>
            </a:r>
            <a:r>
              <a:rPr b="1" lang="fr-FR" sz="2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2+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prolongation du temps de contraction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prolongation du demi-temps de relâchement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87280" y="475920"/>
            <a:ext cx="6909120" cy="12193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Fatigue et</a:t>
            </a:r>
            <a:br>
              <a:rPr sz="3600"/>
            </a:b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tétanos isométrique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84360" y="2349000"/>
            <a:ext cx="7689600" cy="205740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réduction du pic de force maximale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réduction de la tension développée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réduction du déclin de la tension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042560" y="764640"/>
            <a:ext cx="7489800" cy="121788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Fatigue et </a:t>
            </a:r>
            <a:br>
              <a:rPr sz="3600"/>
            </a:b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contraction anisométrique</a:t>
            </a:r>
            <a:br>
              <a:rPr sz="3600"/>
            </a:b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concentrique ou excentrique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1344600" y="3446280"/>
            <a:ext cx="7259760" cy="142236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réduction de la vitesse maximale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réduction de la force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Box 2"/>
          <p:cNvSpPr/>
          <p:nvPr/>
        </p:nvSpPr>
        <p:spPr>
          <a:xfrm>
            <a:off x="0" y="838080"/>
            <a:ext cx="9144000" cy="42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 algn="ctr">
              <a:lnSpc>
                <a:spcPct val="150000"/>
              </a:lnSpc>
              <a:spcBef>
                <a:spcPts val="3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CA" sz="60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3. Les sites possibles de la fatigue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 descr=""/>
          <p:cNvPicPr/>
          <p:nvPr/>
        </p:nvPicPr>
        <p:blipFill>
          <a:blip r:embed="rId1">
            <a:lum contrast="36000"/>
          </a:blip>
          <a:stretch/>
        </p:blipFill>
        <p:spPr>
          <a:xfrm>
            <a:off x="0" y="231840"/>
            <a:ext cx="9144000" cy="615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Rectangle 3"/>
          <p:cNvSpPr/>
          <p:nvPr/>
        </p:nvSpPr>
        <p:spPr>
          <a:xfrm>
            <a:off x="108000" y="981000"/>
            <a:ext cx="8712000" cy="2160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 descr="Poortmans01"/>
          <p:cNvPicPr/>
          <p:nvPr/>
        </p:nvPicPr>
        <p:blipFill>
          <a:blip r:embed="rId1"/>
          <a:stretch/>
        </p:blipFill>
        <p:spPr>
          <a:xfrm>
            <a:off x="228600" y="1752480"/>
            <a:ext cx="4141800" cy="48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Box 3"/>
          <p:cNvSpPr/>
          <p:nvPr/>
        </p:nvSpPr>
        <p:spPr>
          <a:xfrm>
            <a:off x="533520" y="0"/>
            <a:ext cx="807696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40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Les sites potentiels de la fatigue (Bigland-Ritchie, 1983)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Box 4"/>
          <p:cNvSpPr/>
          <p:nvPr/>
        </p:nvSpPr>
        <p:spPr>
          <a:xfrm>
            <a:off x="4419720" y="1981080"/>
            <a:ext cx="4724280" cy="60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 : Centres moteurs &gt;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 : Afférences vers centres moteurs &lt;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 : Excitabilité des motoneurones de la corne antérieure médullaire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 : Transmission neuro – musculaire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 : Excitabilité du sarcolemme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 : Couplage excitation – contraction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 : Contraction musculaire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 : Production d’énergie et métabolites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 descr=""/>
          <p:cNvPicPr/>
          <p:nvPr/>
        </p:nvPicPr>
        <p:blipFill>
          <a:blip r:embed="rId1"/>
          <a:stretch/>
        </p:blipFill>
        <p:spPr>
          <a:xfrm>
            <a:off x="0" y="-69840"/>
            <a:ext cx="9144000" cy="692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42920" y="404280"/>
            <a:ext cx="6910560" cy="12193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Sites potentiels de la </a:t>
            </a:r>
            <a:br>
              <a:rPr sz="3600"/>
            </a:br>
            <a:r>
              <a:rPr b="1" lang="fr-FR" sz="36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fatigue périphérique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99640" y="2216160"/>
            <a:ext cx="7559640" cy="37339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transmission neuromusculaire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l’excitabilité du sarcolemme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couple excitation-contraction (Ca </a:t>
            </a:r>
            <a:r>
              <a:rPr b="1" lang="fr-FR" sz="2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2+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cycle actine-myosine-ATP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les apports énergétiques</a:t>
            </a:r>
            <a:br>
              <a:rPr sz="2800"/>
            </a:br>
            <a:r>
              <a:rPr b="1" lang="fr-FR" sz="28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•</a:t>
            </a: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l’ATP, la PC</a:t>
            </a:r>
            <a:br>
              <a:rPr sz="2800"/>
            </a:b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• Glycogène et glucose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 descr="4"/>
          <p:cNvPicPr/>
          <p:nvPr/>
        </p:nvPicPr>
        <p:blipFill>
          <a:blip r:embed="rId1"/>
          <a:stretch/>
        </p:blipFill>
        <p:spPr>
          <a:xfrm>
            <a:off x="0" y="0"/>
            <a:ext cx="9144000" cy="678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Box 3"/>
          <p:cNvSpPr/>
          <p:nvPr/>
        </p:nvSpPr>
        <p:spPr>
          <a:xfrm>
            <a:off x="4497120" y="3276720"/>
            <a:ext cx="366840" cy="45972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Box 4"/>
          <p:cNvSpPr/>
          <p:nvPr/>
        </p:nvSpPr>
        <p:spPr>
          <a:xfrm>
            <a:off x="5792760" y="2209680"/>
            <a:ext cx="366840" cy="45972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Box 5"/>
          <p:cNvSpPr/>
          <p:nvPr/>
        </p:nvSpPr>
        <p:spPr>
          <a:xfrm>
            <a:off x="8002440" y="4191120"/>
            <a:ext cx="366840" cy="45972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Box 6"/>
          <p:cNvSpPr/>
          <p:nvPr/>
        </p:nvSpPr>
        <p:spPr>
          <a:xfrm>
            <a:off x="3049560" y="2133720"/>
            <a:ext cx="366840" cy="45972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Line 7"/>
          <p:cNvSpPr/>
          <p:nvPr/>
        </p:nvSpPr>
        <p:spPr>
          <a:xfrm>
            <a:off x="7738920" y="5043600"/>
            <a:ext cx="1857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Line 8"/>
          <p:cNvSpPr/>
          <p:nvPr/>
        </p:nvSpPr>
        <p:spPr>
          <a:xfrm>
            <a:off x="7891560" y="5043600"/>
            <a:ext cx="1857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Line 9"/>
          <p:cNvSpPr/>
          <p:nvPr/>
        </p:nvSpPr>
        <p:spPr>
          <a:xfrm>
            <a:off x="8043840" y="5043600"/>
            <a:ext cx="1857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Line 10"/>
          <p:cNvSpPr/>
          <p:nvPr/>
        </p:nvSpPr>
        <p:spPr>
          <a:xfrm>
            <a:off x="8196120" y="5043600"/>
            <a:ext cx="1857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Line 11"/>
          <p:cNvSpPr/>
          <p:nvPr/>
        </p:nvSpPr>
        <p:spPr>
          <a:xfrm>
            <a:off x="8348760" y="5043600"/>
            <a:ext cx="1857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Line 12"/>
          <p:cNvSpPr/>
          <p:nvPr/>
        </p:nvSpPr>
        <p:spPr>
          <a:xfrm flipH="1">
            <a:off x="6324480" y="5043600"/>
            <a:ext cx="15264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Line 13"/>
          <p:cNvSpPr/>
          <p:nvPr/>
        </p:nvSpPr>
        <p:spPr>
          <a:xfrm flipH="1">
            <a:off x="6476760" y="5043600"/>
            <a:ext cx="15228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Line 14"/>
          <p:cNvSpPr/>
          <p:nvPr/>
        </p:nvSpPr>
        <p:spPr>
          <a:xfrm flipH="1">
            <a:off x="6629040" y="5043600"/>
            <a:ext cx="15228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Line 15"/>
          <p:cNvSpPr/>
          <p:nvPr/>
        </p:nvSpPr>
        <p:spPr>
          <a:xfrm flipH="1">
            <a:off x="6781680" y="5043600"/>
            <a:ext cx="15264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6"/>
          <p:cNvSpPr/>
          <p:nvPr/>
        </p:nvSpPr>
        <p:spPr>
          <a:xfrm flipH="1">
            <a:off x="6933960" y="5043600"/>
            <a:ext cx="15228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Arc 17"/>
          <p:cNvSpPr/>
          <p:nvPr/>
        </p:nvSpPr>
        <p:spPr>
          <a:xfrm flipH="1">
            <a:off x="7162920" y="5410080"/>
            <a:ext cx="457200" cy="212760"/>
          </a:xfrm>
          <a:custGeom>
            <a:avLst/>
            <a:gdLst>
              <a:gd name="GluePoint1X" fmla="*/ 2546255 w 43200"/>
              <a:gd name="GluePoint1Y" fmla="*/ 138276430 h 24557"/>
              <a:gd name="GluePoint2X" fmla="*/ 541968002 w 43200"/>
              <a:gd name="GluePoint2Y" fmla="*/ 121626049 h 24557"/>
              <a:gd name="GluePoint3X" fmla="*/ 270984006 w 43200"/>
              <a:gd name="GluePoint3Y" fmla="*/ 121626049 h 2455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24557">
                <a:moveTo>
                  <a:pt x="203" y="24556"/>
                </a:moveTo>
                <a:cubicBezTo>
                  <a:pt x="67" y="23577"/>
                  <a:pt x="0" y="2258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stroke="0" w="43200" h="24557">
                <a:moveTo>
                  <a:pt x="203" y="24556"/>
                </a:moveTo>
                <a:cubicBezTo>
                  <a:pt x="67" y="23577"/>
                  <a:pt x="0" y="2258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203" y="24556"/>
                </a:lnTo>
                <a:close/>
              </a:path>
            </a:pathLst>
          </a:custGeom>
          <a:noFill/>
          <a:ln w="38160">
            <a:solidFill>
              <a:srgbClr val="000000"/>
            </a:solidFill>
            <a:round/>
            <a:headEnd len="med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Arc 18"/>
          <p:cNvSpPr/>
          <p:nvPr/>
        </p:nvSpPr>
        <p:spPr>
          <a:xfrm flipH="1" rot="10820400">
            <a:off x="7162560" y="5638320"/>
            <a:ext cx="458640" cy="243000"/>
          </a:xfrm>
          <a:custGeom>
            <a:avLst/>
            <a:gdLst>
              <a:gd name="GluePoint1X" fmla="*/ 17783812 w 43200"/>
              <a:gd name="GluePoint1Y" fmla="*/ 139145589 h 29245"/>
              <a:gd name="GluePoint2X" fmla="*/ 549537020 w 43200"/>
              <a:gd name="GluePoint2Y" fmla="*/ 102771158 h 29245"/>
              <a:gd name="GluePoint3X" fmla="*/ 274768569 w 43200"/>
              <a:gd name="GluePoint3Y" fmla="*/ 102771158 h 2924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29245">
                <a:moveTo>
                  <a:pt x="1398" y="29244"/>
                </a:moveTo>
                <a:cubicBezTo>
                  <a:pt x="473" y="26802"/>
                  <a:pt x="0" y="2421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stroke="0" w="43200" h="29245">
                <a:moveTo>
                  <a:pt x="1398" y="29244"/>
                </a:moveTo>
                <a:cubicBezTo>
                  <a:pt x="473" y="26802"/>
                  <a:pt x="0" y="2421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1398" y="29244"/>
                </a:lnTo>
                <a:close/>
              </a:path>
            </a:pathLst>
          </a:custGeom>
          <a:noFill/>
          <a:ln w="38160">
            <a:solidFill>
              <a:srgbClr val="000000"/>
            </a:solidFill>
            <a:round/>
            <a:headEnd len="med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Box 19"/>
          <p:cNvSpPr/>
          <p:nvPr/>
        </p:nvSpPr>
        <p:spPr>
          <a:xfrm>
            <a:off x="6477120" y="5486400"/>
            <a:ext cx="761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Box 20"/>
          <p:cNvSpPr/>
          <p:nvPr/>
        </p:nvSpPr>
        <p:spPr>
          <a:xfrm>
            <a:off x="7543800" y="5410080"/>
            <a:ext cx="7621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Arc 21"/>
          <p:cNvSpPr/>
          <p:nvPr/>
        </p:nvSpPr>
        <p:spPr>
          <a:xfrm flipV="1" rot="1093800">
            <a:off x="5867280" y="5562360"/>
            <a:ext cx="762120" cy="304560"/>
          </a:xfrm>
          <a:custGeom>
            <a:avLst/>
            <a:gdLst>
              <a:gd name="GluePoint1X" fmla="*/ 0 w 21600"/>
              <a:gd name="GluePoint1Y" fmla="*/ 0 h 21600"/>
              <a:gd name="GluePoint2X" fmla="*/ 2147483647 w 21600"/>
              <a:gd name="GluePoint2Y" fmla="*/ 856443324 h 21600"/>
              <a:gd name="GluePoint3X" fmla="*/ 0 w 21600"/>
              <a:gd name="GluePoint3Y" fmla="*/ 856443324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440">
            <a:solidFill>
              <a:srgbClr val="00000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Box 22"/>
          <p:cNvSpPr/>
          <p:nvPr/>
        </p:nvSpPr>
        <p:spPr>
          <a:xfrm>
            <a:off x="4495680" y="5486400"/>
            <a:ext cx="1905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PCr, Glyc, AGL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23"/>
          <p:cNvSpPr/>
          <p:nvPr/>
        </p:nvSpPr>
        <p:spPr>
          <a:xfrm>
            <a:off x="0" y="5410080"/>
            <a:ext cx="4572000" cy="1447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Différentes hypothèses explicatives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la baisse de la capacité d’excitation et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la tension des fibres musculaires liée (?)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à la fatigue musculaire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24"/>
          <p:cNvSpPr/>
          <p:nvPr/>
        </p:nvSpPr>
        <p:spPr>
          <a:xfrm>
            <a:off x="0" y="5181480"/>
            <a:ext cx="1371600" cy="304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Box 25"/>
          <p:cNvSpPr/>
          <p:nvPr/>
        </p:nvSpPr>
        <p:spPr>
          <a:xfrm>
            <a:off x="7164360" y="4724280"/>
            <a:ext cx="366840" cy="45972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Box 26"/>
          <p:cNvSpPr/>
          <p:nvPr/>
        </p:nvSpPr>
        <p:spPr>
          <a:xfrm>
            <a:off x="6021360" y="5867280"/>
            <a:ext cx="366840" cy="45972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Box 27"/>
          <p:cNvSpPr/>
          <p:nvPr/>
        </p:nvSpPr>
        <p:spPr>
          <a:xfrm>
            <a:off x="6878520" y="3284640"/>
            <a:ext cx="366840" cy="45972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Box 28"/>
          <p:cNvSpPr/>
          <p:nvPr/>
        </p:nvSpPr>
        <p:spPr>
          <a:xfrm>
            <a:off x="4717800" y="333360"/>
            <a:ext cx="366840" cy="45972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6" dur="indefinite" restart="never" nodeType="tmRoot">
          <p:childTnLst>
            <p:seq>
              <p:cTn id="157" dur="indefinite" nodeType="mainSeq">
                <p:childTnLst>
                  <p:par>
                    <p:cTn id="158" nodeType="clickEffect" fill="hold">
                      <p:stCondLst>
                        <p:cond delay="0"/>
                      </p:stCondLst>
                      <p:childTnLst>
                        <p:par>
                          <p:cTn id="1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62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nodeType="clickEffect" fill="hold">
                      <p:stCondLst>
                        <p:cond delay="indefinite"/>
                      </p:stCondLst>
                      <p:childTnLst>
                        <p:par>
                          <p:cTn id="1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nodeType="clickEffect" fill="hold">
                      <p:stCondLst>
                        <p:cond delay="indefinite"/>
                      </p:stCondLst>
                      <p:childTnLst>
                        <p:par>
                          <p:cTn id="1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nodeType="clickEffect" fill="hold">
                      <p:stCondLst>
                        <p:cond delay="indefinite"/>
                      </p:stCondLst>
                      <p:childTnLst>
                        <p:par>
                          <p:cTn id="1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nodeType="clickEffect" fill="hold">
                      <p:stCondLst>
                        <p:cond delay="indefinite"/>
                      </p:stCondLst>
                      <p:childTnLst>
                        <p:par>
                          <p:cTn id="1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nodeType="clickEffect" fill="hold">
                      <p:stCondLst>
                        <p:cond delay="indefinite"/>
                      </p:stCondLst>
                      <p:childTnLst>
                        <p:par>
                          <p:cTn id="1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nodeType="clickEffect" fill="hold">
                      <p:stCondLst>
                        <p:cond delay="indefinite"/>
                      </p:stCondLst>
                      <p:childTnLst>
                        <p:par>
                          <p:cTn id="1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nodeType="clickEffect" fill="hold">
                      <p:stCondLst>
                        <p:cond delay="indefinite"/>
                      </p:stCondLst>
                      <p:childTnLst>
                        <p:par>
                          <p:cTn id="2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nodeType="clickEffect" fill="hold">
                      <p:stCondLst>
                        <p:cond delay="indefinite"/>
                      </p:stCondLst>
                      <p:childTnLst>
                        <p:par>
                          <p:cTn id="2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4"/>
          <p:cNvSpPr/>
          <p:nvPr/>
        </p:nvSpPr>
        <p:spPr>
          <a:xfrm>
            <a:off x="626400" y="2011320"/>
            <a:ext cx="760104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60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3.1 transmission 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60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neuromusculaire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2" descr="Axone"/>
          <p:cNvPicPr/>
          <p:nvPr/>
        </p:nvPicPr>
        <p:blipFill>
          <a:blip r:embed="rId1"/>
          <a:stretch/>
        </p:blipFill>
        <p:spPr>
          <a:xfrm>
            <a:off x="539640" y="55440"/>
            <a:ext cx="8604360" cy="312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3" descr="Dépolarisation"/>
          <p:cNvPicPr/>
          <p:nvPr/>
        </p:nvPicPr>
        <p:blipFill>
          <a:blip r:embed="rId2"/>
          <a:srcRect l="59416" t="0" r="0" b="0"/>
          <a:stretch/>
        </p:blipFill>
        <p:spPr>
          <a:xfrm>
            <a:off x="5435640" y="3297240"/>
            <a:ext cx="3708360" cy="349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Box 4"/>
          <p:cNvSpPr/>
          <p:nvPr/>
        </p:nvSpPr>
        <p:spPr>
          <a:xfrm>
            <a:off x="2340000" y="2735280"/>
            <a:ext cx="16495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Marieb (1993)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Box 5"/>
          <p:cNvSpPr/>
          <p:nvPr/>
        </p:nvSpPr>
        <p:spPr>
          <a:xfrm>
            <a:off x="8403840" y="3832200"/>
            <a:ext cx="667440" cy="1068840"/>
          </a:xfrm>
          <a:prstGeom prst="rect">
            <a:avLst/>
          </a:prstGeom>
          <a:solidFill>
            <a:srgbClr val="3366ff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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↑ 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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pH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Line 6"/>
          <p:cNvSpPr/>
          <p:nvPr/>
        </p:nvSpPr>
        <p:spPr>
          <a:xfrm flipH="1">
            <a:off x="7740360" y="4437000"/>
            <a:ext cx="576360" cy="79236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7" descr=""/>
          <p:cNvPicPr/>
          <p:nvPr/>
        </p:nvPicPr>
        <p:blipFill>
          <a:blip r:embed="rId3"/>
          <a:srcRect l="0" t="14831" r="65383" b="59833"/>
          <a:stretch/>
        </p:blipFill>
        <p:spPr>
          <a:xfrm>
            <a:off x="2268360" y="3300480"/>
            <a:ext cx="3095640" cy="167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8" descr=""/>
          <p:cNvPicPr/>
          <p:nvPr/>
        </p:nvPicPr>
        <p:blipFill>
          <a:blip r:embed="rId4"/>
          <a:srcRect l="0" t="66585" r="65383" b="8099"/>
          <a:stretch/>
        </p:blipFill>
        <p:spPr>
          <a:xfrm>
            <a:off x="2268360" y="5145120"/>
            <a:ext cx="3095640" cy="166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Box 9"/>
          <p:cNvSpPr/>
          <p:nvPr/>
        </p:nvSpPr>
        <p:spPr>
          <a:xfrm>
            <a:off x="109080" y="3860640"/>
            <a:ext cx="19216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Potentiel d’action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membranaire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sujet non fatigué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Box 10"/>
          <p:cNvSpPr/>
          <p:nvPr/>
        </p:nvSpPr>
        <p:spPr>
          <a:xfrm>
            <a:off x="159840" y="5681520"/>
            <a:ext cx="1451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Sujet fatigué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1" dur="indefinite" restart="never" nodeType="tmRoot">
          <p:childTnLst>
            <p:seq>
              <p:cTn id="212" dur="indefinite" nodeType="mainSeq">
                <p:childTnLst>
                  <p:par>
                    <p:cTn id="213" nodeType="clickEffect" fill="hold">
                      <p:stCondLst>
                        <p:cond delay="indefinite"/>
                      </p:stCondLst>
                      <p:childTnLst>
                        <p:par>
                          <p:cTn id="2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2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2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nodeType="clickEffect" fill="hold">
                      <p:stCondLst>
                        <p:cond delay="indefinite"/>
                      </p:stCondLst>
                      <p:childTnLst>
                        <p:par>
                          <p:cTn id="2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Box 2"/>
          <p:cNvSpPr/>
          <p:nvPr/>
        </p:nvSpPr>
        <p:spPr>
          <a:xfrm>
            <a:off x="380880" y="1828800"/>
            <a:ext cx="853452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3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60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3.2  Jonction neuromusculaire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2" descr="Jonction"/>
          <p:cNvPicPr/>
          <p:nvPr/>
        </p:nvPicPr>
        <p:blipFill>
          <a:blip r:embed="rId1"/>
          <a:stretch/>
        </p:blipFill>
        <p:spPr>
          <a:xfrm>
            <a:off x="380880" y="990720"/>
            <a:ext cx="8534520" cy="41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Box 3"/>
          <p:cNvSpPr/>
          <p:nvPr/>
        </p:nvSpPr>
        <p:spPr>
          <a:xfrm>
            <a:off x="228600" y="5486400"/>
            <a:ext cx="89154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Transmission du potentiel d’action au niveau de la jonction neuromusculaire (Marieb, 1993)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Oval 4"/>
          <p:cNvSpPr/>
          <p:nvPr/>
        </p:nvSpPr>
        <p:spPr>
          <a:xfrm>
            <a:off x="2987640" y="1484280"/>
            <a:ext cx="432000" cy="504720"/>
          </a:xfrm>
          <a:prstGeom prst="ellipse">
            <a:avLst/>
          </a:prstGeom>
          <a:solidFill>
            <a:srgbClr val="3366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Line 5"/>
          <p:cNvSpPr/>
          <p:nvPr/>
        </p:nvSpPr>
        <p:spPr>
          <a:xfrm flipH="1">
            <a:off x="2700360" y="1844640"/>
            <a:ext cx="287280" cy="71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4840" bIns="248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Oval 6"/>
          <p:cNvSpPr/>
          <p:nvPr/>
        </p:nvSpPr>
        <p:spPr>
          <a:xfrm>
            <a:off x="4211640" y="2492280"/>
            <a:ext cx="431640" cy="505080"/>
          </a:xfrm>
          <a:prstGeom prst="ellipse">
            <a:avLst/>
          </a:prstGeom>
          <a:solidFill>
            <a:srgbClr val="3366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Line 7"/>
          <p:cNvSpPr/>
          <p:nvPr/>
        </p:nvSpPr>
        <p:spPr>
          <a:xfrm flipH="1">
            <a:off x="3924360" y="2852640"/>
            <a:ext cx="287280" cy="71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4840" bIns="248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8" dur="indefinite" restart="never" nodeType="tmRoot">
          <p:childTnLst>
            <p:seq>
              <p:cTn id="239" dur="indefinite" nodeType="mainSeq">
                <p:childTnLst>
                  <p:par>
                    <p:cTn id="240" nodeType="clickEffect" fill="hold">
                      <p:stCondLst>
                        <p:cond delay="indefinite"/>
                      </p:stCondLst>
                      <p:childTnLst>
                        <p:par>
                          <p:cTn id="2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44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nodeType="clickEffect" fill="hold">
                      <p:stCondLst>
                        <p:cond delay="indefinite"/>
                      </p:stCondLst>
                      <p:childTnLst>
                        <p:par>
                          <p:cTn id="2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49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2" descr="(5)"/>
          <p:cNvPicPr/>
          <p:nvPr/>
        </p:nvPicPr>
        <p:blipFill>
          <a:blip r:embed="rId1"/>
          <a:stretch/>
        </p:blipFill>
        <p:spPr>
          <a:xfrm>
            <a:off x="990720" y="127080"/>
            <a:ext cx="7391160" cy="653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Box 2"/>
          <p:cNvSpPr/>
          <p:nvPr/>
        </p:nvSpPr>
        <p:spPr>
          <a:xfrm>
            <a:off x="0" y="1828800"/>
            <a:ext cx="914400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3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60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3.3 Excitabilité du sarcolemme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2" descr=""/>
          <p:cNvPicPr/>
          <p:nvPr/>
        </p:nvPicPr>
        <p:blipFill>
          <a:blip r:embed="rId1"/>
          <a:stretch/>
        </p:blipFill>
        <p:spPr>
          <a:xfrm>
            <a:off x="0" y="41400"/>
            <a:ext cx="9252000" cy="681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50560" y="189000"/>
            <a:ext cx="8569080" cy="182880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Couplage excitation-contraction </a:t>
            </a:r>
            <a:br>
              <a:rPr sz="3600"/>
            </a:b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et fatigue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394920" y="2742840"/>
            <a:ext cx="8209080" cy="342900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jonction neuromusculaire génère et propage le potentiel d’action</a:t>
            </a: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 repos : -80 mV et dépolarisation à + 20 mV</a:t>
            </a: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fatigue : réduction à + 10 mV</a:t>
            </a:r>
            <a:br>
              <a:rPr sz="2400"/>
            </a:b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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induction de la fatigue ???</a:t>
            </a: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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potentiel au niveau des tubules ???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79280" y="333000"/>
            <a:ext cx="8640720" cy="12193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Dépolarisation du sarcolemme</a:t>
            </a:r>
            <a:br>
              <a:rPr sz="3600"/>
            </a:br>
            <a:r>
              <a:rPr b="1" lang="fr-FR" sz="36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et fatigue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0" y="2060280"/>
            <a:ext cx="8928000" cy="327636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 lnSpcReduction="9999"/>
          </a:bodyPr>
          <a:p>
            <a:pPr marL="343080" indent="-343080">
              <a:lnSpc>
                <a:spcPct val="140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fatigue = réduction de l’activation membranaire ?</a:t>
            </a:r>
            <a:br>
              <a:rPr sz="2800"/>
            </a:b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• [K</a:t>
            </a:r>
            <a:r>
              <a:rPr b="1" lang="fr-FR" sz="2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]ex et [Na</a:t>
            </a:r>
            <a:r>
              <a:rPr b="1" lang="fr-FR" sz="2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]int  s’élèvent</a:t>
            </a:r>
            <a:br>
              <a:rPr sz="2800"/>
            </a:b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•</a:t>
            </a:r>
            <a:r>
              <a:rPr b="1" lang="fr-FR" sz="2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inhibition de la pompe Na</a:t>
            </a:r>
            <a:r>
              <a:rPr b="1" lang="fr-FR" sz="2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/K</a:t>
            </a:r>
            <a:r>
              <a:rPr b="1" lang="fr-FR" sz="2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br>
              <a:rPr sz="2800"/>
            </a:br>
            <a:br>
              <a:rPr sz="2800"/>
            </a:b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b="1" lang="fr-FR" sz="28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fr-FR" sz="28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protection</a:t>
            </a: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contre une baisse d’ATP et une accumulation de Ca </a:t>
            </a:r>
            <a:r>
              <a:rPr b="1" lang="fr-FR" sz="2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2+ </a:t>
            </a: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 (Edwards 1978)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2" descr=""/>
          <p:cNvPicPr/>
          <p:nvPr/>
        </p:nvPicPr>
        <p:blipFill>
          <a:blip r:embed="rId1"/>
          <a:stretch/>
        </p:blipFill>
        <p:spPr>
          <a:xfrm>
            <a:off x="0" y="52560"/>
            <a:ext cx="9144000" cy="679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Oval 3"/>
          <p:cNvSpPr/>
          <p:nvPr/>
        </p:nvSpPr>
        <p:spPr>
          <a:xfrm>
            <a:off x="3635280" y="5157720"/>
            <a:ext cx="914400" cy="91440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0" dur="indefinite" restart="never" nodeType="tmRoot">
          <p:childTnLst>
            <p:seq>
              <p:cTn id="251" dur="indefinite" nodeType="mainSeq">
                <p:childTnLst>
                  <p:par>
                    <p:cTn id="252" nodeType="clickEffect" fill="hold">
                      <p:stCondLst>
                        <p:cond delay="indefinite"/>
                      </p:stCondLst>
                      <p:childTnLst>
                        <p:par>
                          <p:cTn id="2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4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56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2" descr=""/>
          <p:cNvPicPr/>
          <p:nvPr/>
        </p:nvPicPr>
        <p:blipFill>
          <a:blip r:embed="rId1"/>
          <a:stretch/>
        </p:blipFill>
        <p:spPr>
          <a:xfrm>
            <a:off x="676440" y="0"/>
            <a:ext cx="7926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Box 3"/>
          <p:cNvSpPr/>
          <p:nvPr/>
        </p:nvSpPr>
        <p:spPr>
          <a:xfrm>
            <a:off x="5797080" y="1046160"/>
            <a:ext cx="1959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(déhydropyridine)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Box 4"/>
          <p:cNvSpPr/>
          <p:nvPr/>
        </p:nvSpPr>
        <p:spPr>
          <a:xfrm>
            <a:off x="5202000" y="6446880"/>
            <a:ext cx="1337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(ryanodine)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Box 5"/>
          <p:cNvSpPr/>
          <p:nvPr/>
        </p:nvSpPr>
        <p:spPr>
          <a:xfrm>
            <a:off x="3976200" y="2944800"/>
            <a:ext cx="1807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(calséquestrine)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74200" y="259920"/>
            <a:ext cx="7450200" cy="12193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Tubules T, réticulum sarcoplasmique, Ca </a:t>
            </a:r>
            <a:r>
              <a:rPr b="1" lang="fr-FR" sz="36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2+ </a:t>
            </a: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et fatigue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179280" y="1905120"/>
            <a:ext cx="8785440" cy="411480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/>
          </a:bodyPr>
          <a:p>
            <a:pPr marL="343080" indent="-343080"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transfert calcique dans le RS implique un récepteur protéique spécifique (dihydropyridine receptor)</a:t>
            </a: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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chute de dépolarisation peut limiter ce transfert 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passage dans la lumière du RS nécessite la calséquestrine et la high-binding Ca </a:t>
            </a:r>
            <a:r>
              <a:rPr b="1" lang="fr-FR" sz="2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2+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protein</a:t>
            </a: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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manque d’affinité pour le récepteur 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importance de la pompe Ca </a:t>
            </a:r>
            <a:r>
              <a:rPr b="1" lang="fr-FR" sz="2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2+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-ATPase</a:t>
            </a: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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inhibition par un excès de H</a:t>
            </a:r>
            <a:r>
              <a:rPr b="1" lang="fr-FR" sz="2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???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4"/>
          <p:cNvSpPr/>
          <p:nvPr/>
        </p:nvSpPr>
        <p:spPr>
          <a:xfrm>
            <a:off x="703440" y="1690560"/>
            <a:ext cx="7866000" cy="19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3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5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Cycle 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3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5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actine-myosine-ATP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042920" y="259920"/>
            <a:ext cx="6910560" cy="12193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Myosine ATPase </a:t>
            </a:r>
            <a:br>
              <a:rPr sz="3600"/>
            </a:br>
            <a:r>
              <a:rPr b="1" lang="fr-FR" sz="36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et vitesse de contraction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250920" y="2046240"/>
            <a:ext cx="8353440" cy="41911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vitesse de contraction est en relation étroite avec la vitesse d’hydrolyse de l’ATP par la myosine ATPase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•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b="1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MAIS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: une réduction de force de 80% n’est pas en relation avec une baisse de l’ATP (animal, Homme)</a:t>
            </a:r>
            <a:br>
              <a:rPr sz="2400"/>
            </a:br>
            <a:br>
              <a:rPr sz="2400"/>
            </a:b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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l’ATP n’est pas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directement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impliquée dans la fatigue périphérique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84000" y="333000"/>
            <a:ext cx="7745400" cy="12193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Fatigue et </a:t>
            </a:r>
            <a:br>
              <a:rPr sz="3600"/>
            </a:br>
            <a:r>
              <a:rPr b="1" lang="fr-FR" sz="36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hydrolyse de l’ATP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250560" y="2133360"/>
            <a:ext cx="8569080" cy="426708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/>
          </a:bodyPr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[ADP] et en [Pi] s’accroissent fortement lors de la fatigue entraînant une:</a:t>
            </a:r>
            <a:br>
              <a:rPr sz="2400"/>
            </a:b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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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baisse de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l’ATP libre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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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prolongation du temps de relâchement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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</a:t>
            </a:r>
            <a:r>
              <a:rPr b="1" lang="fr-FR" sz="2400" strike="noStrike" u="none">
                <a:solidFill>
                  <a:srgbClr val="00ff00"/>
                </a:solidFill>
                <a:effectLst/>
                <a:uFillTx/>
                <a:latin typeface="Arial"/>
              </a:rPr>
              <a:t>insuffisant pour expliquer la baisse de P</a:t>
            </a:r>
            <a:r>
              <a:rPr b="1" lang="fr-FR" sz="2400" strike="noStrike" u="none" baseline="-25000">
                <a:solidFill>
                  <a:srgbClr val="00ff00"/>
                </a:solidFill>
                <a:effectLst/>
                <a:uFillTx/>
                <a:latin typeface="Arial"/>
              </a:rPr>
              <a:t>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982440" y="620280"/>
            <a:ext cx="7405560" cy="12193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Mécanismes potentiels de la </a:t>
            </a:r>
            <a:br>
              <a:rPr sz="3600"/>
            </a:b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fatigue périphérique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3682800" y="3025800"/>
            <a:ext cx="4763880" cy="209376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les ions phosphates (Pi)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lactate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les ions H</a:t>
            </a:r>
            <a:r>
              <a:rPr b="1" lang="fr-FR" sz="2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2" name="Object 4"/>
          <p:cNvGraphicFramePr/>
          <p:nvPr/>
        </p:nvGraphicFramePr>
        <p:xfrm>
          <a:off x="1550880" y="2705040"/>
          <a:ext cx="2079720" cy="28544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43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550880" y="2705040"/>
                    <a:ext cx="2079720" cy="2854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4"/>
          <p:cNvSpPr/>
          <p:nvPr/>
        </p:nvSpPr>
        <p:spPr>
          <a:xfrm>
            <a:off x="-286560" y="2492280"/>
            <a:ext cx="96760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3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5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Les ions phosphates (Pi)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Box 4"/>
          <p:cNvSpPr/>
          <p:nvPr/>
        </p:nvSpPr>
        <p:spPr>
          <a:xfrm>
            <a:off x="391680" y="176040"/>
            <a:ext cx="8619480" cy="68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343080" indent="-343080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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[Pi] proportionnelle à 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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[PCr] (corrélation négative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proportionnelle à l’apparition progressive de la fatigue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(Weiner et al; 1990; Baker et al. 1994)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buClr>
                <a:srgbClr val="ffffff"/>
              </a:buClr>
              <a:buFont typeface="Symbol" charset="2"/>
              <a:buChar char="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buClr>
                <a:srgbClr val="ffffff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Fibres glycérinées isolées plongées dans bain à concentrations 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buClr>
                <a:srgbClr val="ffff00"/>
              </a:buClr>
              <a:buFont typeface="Arial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croissantes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en Pi : inhibition de la contraction.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(Cooke et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Pate, 1989; Martyn et Gordon, 1992; Millar et Homsher, 1990)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2) </a:t>
            </a: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décroissante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en Pi : augmentation de la force tétanique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</a:t>
            </a: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(Balog et al. 2000)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buClr>
                <a:srgbClr val="ffffff"/>
              </a:buClr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Technique RMN au </a:t>
            </a:r>
            <a:r>
              <a:rPr b="0" lang="fr-FR" sz="20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31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 : Relation entre l’apparition de la fatigue et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l’augmentation des [Pi] </a:t>
            </a: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(Miller et al. 1988)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Mécanisme d’intervention inconnu à ce jour 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7" dur="indefinite" restart="never" nodeType="tmRoot">
          <p:childTnLst>
            <p:seq>
              <p:cTn id="258" dur="indefinite" nodeType="mainSeq">
                <p:childTnLst>
                  <p:par>
                    <p:cTn id="259" nodeType="clickEffect" fill="hold">
                      <p:stCondLst>
                        <p:cond delay="indefinite"/>
                      </p:stCondLst>
                      <p:childTnLst>
                        <p:par>
                          <p:cTn id="2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63" dur="20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66" dur="2000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69" dur="2000"/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nodeType="clickEffect" fill="hold">
                      <p:stCondLst>
                        <p:cond delay="indefinite"/>
                      </p:stCondLst>
                      <p:childTnLst>
                        <p:par>
                          <p:cTn id="2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2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74" dur="2000"/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77" dur="2000"/>
                                        <p:tgtEl>
                                          <p:spTgt spid="1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nodeType="clickEffect" fill="hold">
                      <p:stCondLst>
                        <p:cond delay="indefinite"/>
                      </p:stCondLst>
                      <p:childTnLst>
                        <p:par>
                          <p:cTn id="2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82" dur="2000"/>
                                        <p:tgtEl>
                                          <p:spTgt spid="1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85" dur="2000"/>
                                        <p:tgtEl>
                                          <p:spTgt spid="1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nodeType="clickEffect" fill="hold">
                      <p:stCondLst>
                        <p:cond delay="indefinite"/>
                      </p:stCondLst>
                      <p:childTnLst>
                        <p:par>
                          <p:cTn id="2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0" dur="2000"/>
                                        <p:tgtEl>
                                          <p:spTgt spid="1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Box 4"/>
          <p:cNvSpPr/>
          <p:nvPr/>
        </p:nvSpPr>
        <p:spPr>
          <a:xfrm>
            <a:off x="1637640" y="2781360"/>
            <a:ext cx="62593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5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Les ions lactate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Box 2"/>
          <p:cNvSpPr/>
          <p:nvPr/>
        </p:nvSpPr>
        <p:spPr>
          <a:xfrm>
            <a:off x="228600" y="457200"/>
            <a:ext cx="853452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33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5400" strike="noStrike" u="none">
                <a:solidFill>
                  <a:srgbClr val="ffcc00"/>
                </a:solidFill>
                <a:effectLst/>
                <a:uFillTx/>
                <a:latin typeface="Calibri"/>
                <a:ea typeface="Calibri"/>
              </a:rPr>
              <a:t>Rôle du lactate dans la fatigue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Box 3"/>
          <p:cNvSpPr/>
          <p:nvPr/>
        </p:nvSpPr>
        <p:spPr>
          <a:xfrm>
            <a:off x="0" y="3375000"/>
            <a:ext cx="9144000" cy="51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20000"/>
              </a:lnSpc>
              <a:spcBef>
                <a:spcPts val="2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Il s’agit uniquement d’un témoin innocent !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0000"/>
              </a:lnSpc>
              <a:spcBef>
                <a:spcPts val="2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8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000" strike="noStrike" u="none">
                <a:solidFill>
                  <a:srgbClr val="00ffff"/>
                </a:solidFill>
                <a:effectLst/>
                <a:uFillTx/>
                <a:latin typeface="Calibri"/>
                <a:ea typeface="Calibri"/>
              </a:rPr>
              <a:t>Il sert de substrat à la contraction musculaire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8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000" strike="noStrike" u="none">
                <a:solidFill>
                  <a:srgbClr val="00ffff"/>
                </a:solidFill>
                <a:effectLst/>
                <a:uFillTx/>
                <a:latin typeface="Calibri"/>
                <a:ea typeface="Calibri"/>
              </a:rPr>
              <a:t>Il permet d’économiser les réserves de glycogène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8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Box 4"/>
          <p:cNvSpPr/>
          <p:nvPr/>
        </p:nvSpPr>
        <p:spPr>
          <a:xfrm>
            <a:off x="34920" y="108000"/>
            <a:ext cx="91090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Il est généralement admis que ce sont les ions H</a:t>
            </a:r>
            <a:r>
              <a:rPr b="0" lang="fr-FR" sz="2000" strike="noStrike" u="none" baseline="30000">
                <a:solidFill>
                  <a:srgbClr val="bbe0e3"/>
                </a:solidFill>
                <a:effectLst/>
                <a:uFillTx/>
                <a:latin typeface="Arial"/>
              </a:rPr>
              <a:t>+</a:t>
            </a:r>
            <a:r>
              <a:rPr b="0" lang="fr-FR" sz="20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 et non le lactate qui sont impliqués dans la fatigue musculaire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Box 5"/>
          <p:cNvSpPr/>
          <p:nvPr/>
        </p:nvSpPr>
        <p:spPr>
          <a:xfrm>
            <a:off x="5040" y="1413000"/>
            <a:ext cx="9277200" cy="16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Toutefois  </a:t>
            </a: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Hogan et al. (1995)</a:t>
            </a:r>
            <a:r>
              <a:rPr b="0" lang="fr-FR" sz="20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 ont montré qu’une perfusion artérielle de lactate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augmentant la concentration musculaire de lactate musculaire sans modification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du pH artériel ou musculaire </a:t>
            </a:r>
            <a:r>
              <a:rPr b="1" i="1" lang="fr-FR" sz="20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entraînant une diminution progressive de la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force développée lors de contractions musculaires répétées.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Box 6"/>
          <p:cNvSpPr/>
          <p:nvPr/>
        </p:nvSpPr>
        <p:spPr>
          <a:xfrm>
            <a:off x="36000" y="3573360"/>
            <a:ext cx="86263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l’inverse cette force est rétablie après élimination du lactate excédentaire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Box 7"/>
          <p:cNvSpPr/>
          <p:nvPr/>
        </p:nvSpPr>
        <p:spPr>
          <a:xfrm>
            <a:off x="33480" y="4362480"/>
            <a:ext cx="90784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Une perfusion de concentration élevée de lactate inhiberait le transfert de Ca</a:t>
            </a:r>
            <a:r>
              <a:rPr b="0" lang="fr-FR" sz="20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2+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 RS vers le sarcoplasme </a:t>
            </a: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(Favero 1999)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Box 8"/>
          <p:cNvSpPr/>
          <p:nvPr/>
        </p:nvSpPr>
        <p:spPr>
          <a:xfrm>
            <a:off x="-104400" y="5586480"/>
            <a:ext cx="913716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L’intervention du lactate dans les phénomènes de fatigue ne doit donc pas être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catégoriquement écarté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1" dur="indefinite" restart="never" nodeType="tmRoot">
          <p:childTnLst>
            <p:seq>
              <p:cTn id="292" dur="indefinite" nodeType="mainSeq">
                <p:childTnLst>
                  <p:par>
                    <p:cTn id="293" nodeType="clickEffect" fill="hold">
                      <p:stCondLst>
                        <p:cond delay="0"/>
                      </p:stCondLst>
                      <p:childTnLst>
                        <p:par>
                          <p:cTn id="2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9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nodeType="clickEffect" fill="hold">
                      <p:stCondLst>
                        <p:cond delay="indefinite"/>
                      </p:stCondLst>
                      <p:childTnLst>
                        <p:par>
                          <p:cTn id="2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0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02" dur="3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nodeType="clickEffect" fill="hold">
                      <p:stCondLst>
                        <p:cond delay="indefinite"/>
                      </p:stCondLst>
                      <p:childTnLst>
                        <p:par>
                          <p:cTn id="3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07"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nodeType="clickEffect" fill="hold">
                      <p:stCondLst>
                        <p:cond delay="indefinite"/>
                      </p:stCondLst>
                      <p:childTnLst>
                        <p:par>
                          <p:cTn id="3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0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12"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nodeType="clickEffect" fill="hold">
                      <p:stCondLst>
                        <p:cond delay="indefinite"/>
                      </p:stCondLst>
                      <p:childTnLst>
                        <p:par>
                          <p:cTn id="3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17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Box 4"/>
          <p:cNvSpPr/>
          <p:nvPr/>
        </p:nvSpPr>
        <p:spPr>
          <a:xfrm>
            <a:off x="1072440" y="2495520"/>
            <a:ext cx="67132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5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Les ions H</a:t>
            </a:r>
            <a:r>
              <a:rPr b="1" i="1" lang="fr-FR" sz="5400" strike="noStrike" u="none" baseline="3000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b="1" i="1" lang="fr-FR" sz="5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 pH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Box 2"/>
          <p:cNvSpPr/>
          <p:nvPr/>
        </p:nvSpPr>
        <p:spPr>
          <a:xfrm>
            <a:off x="304920" y="0"/>
            <a:ext cx="8534160" cy="10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3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60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pH = - log [H</a:t>
            </a:r>
            <a:r>
              <a:rPr b="1" lang="fr-FR" sz="6000" strike="noStrike" u="none" baseline="30000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+</a:t>
            </a:r>
            <a:r>
              <a:rPr b="1" lang="fr-FR" sz="60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]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Box 3"/>
          <p:cNvSpPr/>
          <p:nvPr/>
        </p:nvSpPr>
        <p:spPr>
          <a:xfrm>
            <a:off x="304920" y="1523880"/>
            <a:ext cx="8458200" cy="18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50000"/>
              </a:lnSpc>
              <a:spcBef>
                <a:spcPts val="2750"/>
              </a:spcBef>
              <a:buClr>
                <a:srgbClr val="ffffff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pH musculaire au repos :</a:t>
            </a:r>
            <a:r>
              <a:rPr b="0" lang="fr-FR" sz="4400" strike="noStrike" u="none">
                <a:solidFill>
                  <a:srgbClr val="ff33cc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0000"/>
              </a:lnSpc>
              <a:spcBef>
                <a:spcPts val="2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6.9 à 7.33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Box 4"/>
          <p:cNvSpPr/>
          <p:nvPr/>
        </p:nvSpPr>
        <p:spPr>
          <a:xfrm>
            <a:off x="228600" y="4114800"/>
            <a:ext cx="8686800" cy="38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20000"/>
              </a:lnSpc>
              <a:spcBef>
                <a:spcPts val="3750"/>
              </a:spcBef>
              <a:buClr>
                <a:srgbClr val="ff33cc"/>
              </a:buClr>
              <a:buFont typeface="Calibri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5000" strike="noStrike" u="none">
                <a:solidFill>
                  <a:srgbClr val="ff33c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b="0" lang="fr-FR" sz="5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 musculaire effort max </a:t>
            </a:r>
            <a:r>
              <a:rPr b="0" lang="fr-FR" sz="6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: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0000"/>
              </a:lnSpc>
              <a:spcBef>
                <a:spcPts val="2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- 0.4 à - 0.8 unités (6.17)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8" dur="indefinite" restart="never" nodeType="tmRoot">
          <p:childTnLst>
            <p:seq>
              <p:cTn id="319" dur="indefinite" nodeType="mainSeq">
                <p:childTnLst>
                  <p:par>
                    <p:cTn id="320" nodeType="clickEffect" fill="hold">
                      <p:stCondLst>
                        <p:cond delay="0"/>
                      </p:stCondLst>
                      <p:childTnLst>
                        <p:par>
                          <p:cTn id="3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2" nodeType="afterEffect" fill="hold" presetClass="entr" presetID="1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325" nodeType="afterEffect" fill="hold" presetClass="entr" presetID="1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Box 2"/>
          <p:cNvSpPr/>
          <p:nvPr/>
        </p:nvSpPr>
        <p:spPr>
          <a:xfrm>
            <a:off x="641160" y="681120"/>
            <a:ext cx="800136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MECANISMES REGULATEURS DU pH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Box 3"/>
          <p:cNvSpPr/>
          <p:nvPr/>
        </p:nvSpPr>
        <p:spPr>
          <a:xfrm>
            <a:off x="995400" y="2535120"/>
            <a:ext cx="780408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5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Tampons chimiques cellulaires et sanguins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Mécanismes rénaux par excrétion d’acides et de bases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Mécanismes pulmonaires par excrétion du CO</a:t>
            </a:r>
            <a:r>
              <a:rPr b="0" lang="fr-FR" sz="2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Box 2"/>
          <p:cNvSpPr/>
          <p:nvPr/>
        </p:nvSpPr>
        <p:spPr>
          <a:xfrm>
            <a:off x="1067760" y="682560"/>
            <a:ext cx="6892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RAPPELS SUR LES ACIDES ET LES BASES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Box 3"/>
          <p:cNvSpPr/>
          <p:nvPr/>
        </p:nvSpPr>
        <p:spPr>
          <a:xfrm>
            <a:off x="723960" y="1676520"/>
            <a:ext cx="8115120" cy="51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Placé dans une solution, un acide libère des ions hydrogène (H</a:t>
            </a:r>
            <a:r>
              <a:rPr b="0" lang="fr-FR" sz="20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Exemples :     HCl = </a:t>
            </a:r>
            <a:r>
              <a:rPr b="0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H</a:t>
            </a:r>
            <a:r>
              <a:rPr b="0" lang="fr-FR" sz="2400" strike="noStrike" u="sng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 Cl </a:t>
            </a:r>
            <a:r>
              <a:rPr b="0" lang="fr-FR" sz="2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         </a:t>
            </a: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</a:t>
            </a:r>
            <a:r>
              <a:rPr b="0" lang="fr-FR" sz="2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</a:t>
            </a:r>
            <a:r>
              <a:rPr b="0" lang="fr-FR" sz="2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r>
              <a:rPr b="0" lang="fr-FR" sz="2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= </a:t>
            </a:r>
            <a:r>
              <a:rPr b="0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H</a:t>
            </a:r>
            <a:r>
              <a:rPr b="0" lang="fr-FR" sz="2400" strike="noStrike" u="sng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r>
              <a:rPr b="0" lang="fr-FR" sz="2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  HSO</a:t>
            </a:r>
            <a:r>
              <a:rPr b="0" lang="fr-FR" sz="2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r>
              <a:rPr b="0" lang="fr-FR" sz="2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                     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(acide chlorhydrique)                (acide sulfurique)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Dans une solution, une base libère des ions hydroxyle (OH</a:t>
            </a:r>
            <a:r>
              <a:rPr b="0" lang="fr-FR" sz="20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Exemples :   NaOH  =  Na</a:t>
            </a:r>
            <a:r>
              <a:rPr b="0" lang="fr-FR" sz="2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 </a:t>
            </a:r>
            <a:r>
              <a:rPr b="0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OH</a:t>
            </a:r>
            <a:r>
              <a:rPr b="0" lang="fr-FR" sz="2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KOH = K</a:t>
            </a:r>
            <a:r>
              <a:rPr b="0" lang="fr-FR" sz="2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+ </a:t>
            </a:r>
            <a:r>
              <a:rPr b="0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OH</a:t>
            </a:r>
            <a:r>
              <a:rPr b="0" lang="fr-FR" sz="2400" strike="noStrike" u="sng" baseline="30000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(hydroxyde de sodium)                   (hydroxyde de potassium)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Les acides forts libèrent plus d’ions H</a:t>
            </a:r>
            <a:r>
              <a:rPr b="0" lang="fr-FR" sz="20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que les acides faibles.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Les bases fortes libèrent plus d’ions OH</a:t>
            </a:r>
            <a:r>
              <a:rPr b="0" lang="fr-FR" sz="20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que les bases faibles.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Box 2"/>
          <p:cNvSpPr/>
          <p:nvPr/>
        </p:nvSpPr>
        <p:spPr>
          <a:xfrm>
            <a:off x="2291760" y="304920"/>
            <a:ext cx="5038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LES SYSTEMES TAMPONS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Box 3"/>
          <p:cNvSpPr/>
          <p:nvPr/>
        </p:nvSpPr>
        <p:spPr>
          <a:xfrm>
            <a:off x="217440" y="1676520"/>
            <a:ext cx="8798040" cy="46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système tampon se compose de deux éléments :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un acide faible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et un sel de cet acide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Exemple : l’acide carbonique (acide faible) et le bicarbonate de sodium (sel)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acide fort ajouté à un système tampon réagit avec le sel, formant ainsi un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sel plus fort et un acide plus faible.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Exemple : l’acide lactique (AL) et le bicarbonate de sodium (NaHCO</a:t>
            </a:r>
            <a:r>
              <a:rPr b="0" lang="fr-FR" sz="2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 forme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 lactate de sodium NaAL) et de l’acide carbonique (H</a:t>
            </a:r>
            <a:r>
              <a:rPr b="0" lang="fr-FR" sz="2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</a:t>
            </a:r>
            <a:r>
              <a:rPr b="0" lang="fr-FR" sz="2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 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AL+ NaHCO</a:t>
            </a:r>
            <a:r>
              <a:rPr b="0" lang="fr-FR" sz="2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             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NaAL</a:t>
            </a:r>
            <a:r>
              <a:rPr b="0" lang="fr-FR" sz="2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 H</a:t>
            </a:r>
            <a:r>
              <a:rPr b="0" lang="fr-FR" sz="2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</a:t>
            </a:r>
            <a:r>
              <a:rPr b="0" lang="fr-FR" sz="2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 puis 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</a:t>
            </a:r>
            <a:r>
              <a:rPr b="0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+ CO</a:t>
            </a:r>
            <a:r>
              <a:rPr b="0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Line 4"/>
          <p:cNvSpPr/>
          <p:nvPr/>
        </p:nvSpPr>
        <p:spPr>
          <a:xfrm>
            <a:off x="1981080" y="5562720"/>
            <a:ext cx="533520" cy="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Box 2"/>
          <p:cNvSpPr/>
          <p:nvPr/>
        </p:nvSpPr>
        <p:spPr>
          <a:xfrm>
            <a:off x="228600" y="457200"/>
            <a:ext cx="8534520" cy="25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33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5400" strike="noStrike" u="none">
                <a:solidFill>
                  <a:srgbClr val="ffcc00"/>
                </a:solidFill>
                <a:effectLst/>
                <a:uFillTx/>
                <a:latin typeface="Calibri"/>
                <a:ea typeface="Calibri"/>
              </a:rPr>
              <a:t>Effet de la diminution du pH sur la force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Box 3"/>
          <p:cNvSpPr/>
          <p:nvPr/>
        </p:nvSpPr>
        <p:spPr>
          <a:xfrm>
            <a:off x="0" y="2743200"/>
            <a:ext cx="9144000" cy="47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2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Technique de la fibre pelée </a:t>
            </a:r>
            <a:r>
              <a:rPr b="1" lang="fr-FR" sz="22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(Metzger et Moss, 1987)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8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Diminution du pH : 0.6 à 0.8 unités (environ 10%)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8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Diminution de la force maximale : 33%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687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7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Hypothèse : diminution du nombre de ponts d’actomyosine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2" descr="Troponine"/>
          <p:cNvPicPr/>
          <p:nvPr/>
        </p:nvPicPr>
        <p:blipFill>
          <a:blip r:embed="rId1"/>
          <a:stretch/>
        </p:blipFill>
        <p:spPr>
          <a:xfrm>
            <a:off x="0" y="106200"/>
            <a:ext cx="9144000" cy="600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Box 3"/>
          <p:cNvSpPr/>
          <p:nvPr/>
        </p:nvSpPr>
        <p:spPr>
          <a:xfrm>
            <a:off x="108000" y="6237360"/>
            <a:ext cx="90360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Rôle du calcium dans le mécanisme de la contraction (Marieb, 1993)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Box 2"/>
          <p:cNvSpPr/>
          <p:nvPr/>
        </p:nvSpPr>
        <p:spPr>
          <a:xfrm>
            <a:off x="228600" y="457200"/>
            <a:ext cx="8534520" cy="25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33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5400" strike="noStrike" u="none">
                <a:solidFill>
                  <a:srgbClr val="ffcc00"/>
                </a:solidFill>
                <a:effectLst/>
                <a:uFillTx/>
                <a:latin typeface="Calibri"/>
                <a:ea typeface="Calibri"/>
              </a:rPr>
              <a:t>Effet de la diminution du pH sur la force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Box 3"/>
          <p:cNvSpPr/>
          <p:nvPr/>
        </p:nvSpPr>
        <p:spPr>
          <a:xfrm>
            <a:off x="0" y="3076560"/>
            <a:ext cx="9144000" cy="46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2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Technique de la fibre pelée </a:t>
            </a:r>
            <a:r>
              <a:rPr b="1" lang="fr-FR" sz="22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(Metzger et Moss, 1987)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8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000" strike="noStrike" u="none">
                <a:solidFill>
                  <a:srgbClr val="00ffff"/>
                </a:solidFill>
                <a:effectLst/>
                <a:uFillTx/>
                <a:latin typeface="Calibri"/>
                <a:ea typeface="Calibri"/>
              </a:rPr>
              <a:t>Metzger et Moss (1987) : température de 15° C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8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000" strike="noStrike" u="none">
                <a:solidFill>
                  <a:srgbClr val="00ffff"/>
                </a:solidFill>
                <a:effectLst/>
                <a:uFillTx/>
                <a:latin typeface="Calibri"/>
                <a:ea typeface="Calibri"/>
              </a:rPr>
              <a:t>Pate et coll. (1995) : température de 30° C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8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Object 2"/>
          <p:cNvGraphicFramePr/>
          <p:nvPr/>
        </p:nvGraphicFramePr>
        <p:xfrm>
          <a:off x="536400" y="2590920"/>
          <a:ext cx="8302680" cy="365760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72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36400" y="2590920"/>
                    <a:ext cx="8302680" cy="36576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73" name="Text Box 3"/>
          <p:cNvSpPr/>
          <p:nvPr/>
        </p:nvSpPr>
        <p:spPr>
          <a:xfrm>
            <a:off x="0" y="380880"/>
            <a:ext cx="914400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06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Acide lactique et fatigue : la force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AutoShape 4"/>
          <p:cNvSpPr/>
          <p:nvPr/>
        </p:nvSpPr>
        <p:spPr>
          <a:xfrm>
            <a:off x="838080" y="1523880"/>
            <a:ext cx="7696440" cy="762120"/>
          </a:xfrm>
          <a:prstGeom prst="roundRect">
            <a:avLst>
              <a:gd name="adj" fmla="val 27083"/>
            </a:avLst>
          </a:prstGeom>
          <a:noFill/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Box 5"/>
          <p:cNvSpPr/>
          <p:nvPr/>
        </p:nvSpPr>
        <p:spPr>
          <a:xfrm>
            <a:off x="990720" y="1600200"/>
            <a:ext cx="76197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30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Wiseman et al. </a:t>
            </a:r>
            <a:r>
              <a:rPr b="0" i="1" lang="fr-CA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Am J Physiol 1996 ; 271 : C878-C886.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6"/>
          <p:cNvSpPr/>
          <p:nvPr/>
        </p:nvSpPr>
        <p:spPr>
          <a:xfrm>
            <a:off x="685800" y="6248520"/>
            <a:ext cx="457200" cy="380880"/>
          </a:xfrm>
          <a:prstGeom prst="rect">
            <a:avLst/>
          </a:prstGeom>
          <a:gradFill rotWithShape="0">
            <a:gsLst>
              <a:gs pos="0">
                <a:srgbClr val="a94400"/>
              </a:gs>
              <a:gs pos="50000">
                <a:srgbClr val="ff6600"/>
              </a:gs>
              <a:gs pos="100000">
                <a:srgbClr val="a94400"/>
              </a:gs>
            </a:gsLst>
            <a:lin ang="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Box 7"/>
          <p:cNvSpPr/>
          <p:nvPr/>
        </p:nvSpPr>
        <p:spPr>
          <a:xfrm>
            <a:off x="1219320" y="6248520"/>
            <a:ext cx="51814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 7, température 25°C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Box 8"/>
          <p:cNvSpPr/>
          <p:nvPr/>
        </p:nvSpPr>
        <p:spPr>
          <a:xfrm>
            <a:off x="5257800" y="3733920"/>
            <a:ext cx="7621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pH 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 15°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Box 9"/>
          <p:cNvSpPr/>
          <p:nvPr/>
        </p:nvSpPr>
        <p:spPr>
          <a:xfrm>
            <a:off x="3048120" y="4419720"/>
            <a:ext cx="91440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pH 6.8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 15°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Box 10"/>
          <p:cNvSpPr/>
          <p:nvPr/>
        </p:nvSpPr>
        <p:spPr>
          <a:xfrm>
            <a:off x="7467480" y="3733920"/>
            <a:ext cx="91440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pH 6.8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 25°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AutoShape 11"/>
          <p:cNvSpPr/>
          <p:nvPr/>
        </p:nvSpPr>
        <p:spPr>
          <a:xfrm>
            <a:off x="3429000" y="3581280"/>
            <a:ext cx="819000" cy="400320"/>
          </a:xfrm>
          <a:custGeom>
            <a:avLst/>
            <a:gdLst/>
            <a:ahLst/>
            <a:rect l="l" t="t" r="r" b="b"/>
            <a:pathLst>
              <a:path stroke="0"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  <a:path w="21600" h="21600">
                <a:moveTo>
                  <a:pt x="-8037" y="33943"/>
                </a:moveTo>
                <a:lnTo>
                  <a:pt x="-2009" y="6171"/>
                </a:lnTo>
              </a:path>
              <a:path w="21600" h="21600">
                <a:moveTo>
                  <a:pt x="-2009" y="0"/>
                </a:moveTo>
                <a:lnTo>
                  <a:pt x="-2009" y="21600"/>
                </a:lnTo>
              </a:path>
            </a:pathLst>
          </a:custGeom>
          <a:solidFill>
            <a:srgbClr val="ff9900">
              <a:alpha val="50000"/>
            </a:srgbClr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50%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AutoShape 12"/>
          <p:cNvSpPr/>
          <p:nvPr/>
        </p:nvSpPr>
        <p:spPr>
          <a:xfrm>
            <a:off x="5638680" y="2971800"/>
            <a:ext cx="838440" cy="438120"/>
          </a:xfrm>
          <a:custGeom>
            <a:avLst/>
            <a:gdLst/>
            <a:ahLst/>
            <a:rect l="l" t="t" r="r" b="b"/>
            <a:pathLst>
              <a:path stroke="0"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  <a:path w="21600" h="21600">
                <a:moveTo>
                  <a:pt x="-7364" y="26296"/>
                </a:moveTo>
                <a:lnTo>
                  <a:pt x="-1964" y="5635"/>
                </a:lnTo>
              </a:path>
              <a:path w="21600" h="21600">
                <a:moveTo>
                  <a:pt x="-1964" y="0"/>
                </a:moveTo>
                <a:lnTo>
                  <a:pt x="-1964" y="21600"/>
                </a:lnTo>
              </a:path>
            </a:pathLst>
          </a:custGeom>
          <a:solidFill>
            <a:srgbClr val="ff9900">
              <a:alpha val="50000"/>
            </a:srgbClr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25%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AutoShape 13"/>
          <p:cNvSpPr/>
          <p:nvPr/>
        </p:nvSpPr>
        <p:spPr>
          <a:xfrm>
            <a:off x="7848720" y="2990880"/>
            <a:ext cx="838080" cy="438120"/>
          </a:xfrm>
          <a:custGeom>
            <a:avLst/>
            <a:gdLst/>
            <a:ahLst/>
            <a:rect l="l" t="t" r="r" b="b"/>
            <a:pathLst>
              <a:path stroke="0"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  <a:path w="21600" h="21600">
                <a:moveTo>
                  <a:pt x="-7855" y="27235"/>
                </a:moveTo>
                <a:lnTo>
                  <a:pt x="-1964" y="5635"/>
                </a:lnTo>
              </a:path>
              <a:path w="21600" h="21600">
                <a:moveTo>
                  <a:pt x="-1964" y="0"/>
                </a:moveTo>
                <a:lnTo>
                  <a:pt x="-1964" y="21600"/>
                </a:lnTo>
              </a:path>
            </a:pathLst>
          </a:custGeom>
          <a:solidFill>
            <a:srgbClr val="ff9900">
              <a:alpha val="50000"/>
            </a:srgbClr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25%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27" dur="indefinite" restart="never" nodeType="tmRoot">
          <p:childTnLst>
            <p:seq>
              <p:cTn id="328" dur="indefinite" nodeType="mainSeq">
                <p:childTnLst>
                  <p:par>
                    <p:cTn id="329" nodeType="clickEffect" fill="hold">
                      <p:stCondLst>
                        <p:cond delay="indefinite"/>
                      </p:stCondLst>
                      <p:childTnLst>
                        <p:par>
                          <p:cTn id="3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3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35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33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339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343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34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5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nodeType="clickEffect" fill="hold">
                      <p:stCondLst>
                        <p:cond delay="indefinite"/>
                      </p:stCondLst>
                      <p:childTnLst>
                        <p:par>
                          <p:cTn id="3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5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5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nodeType="clickEffect" fill="hold">
                      <p:stCondLst>
                        <p:cond delay="indefinite"/>
                      </p:stCondLst>
                      <p:childTnLst>
                        <p:par>
                          <p:cTn id="3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6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6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nodeType="clickEffect" fill="hold">
                      <p:stCondLst>
                        <p:cond delay="indefinite"/>
                      </p:stCondLst>
                      <p:childTnLst>
                        <p:par>
                          <p:cTn id="3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7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7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Box 2"/>
          <p:cNvSpPr/>
          <p:nvPr/>
        </p:nvSpPr>
        <p:spPr>
          <a:xfrm>
            <a:off x="0" y="457200"/>
            <a:ext cx="9144000" cy="25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33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5400" strike="noStrike" u="none">
                <a:solidFill>
                  <a:srgbClr val="ffcc00"/>
                </a:solidFill>
                <a:effectLst/>
                <a:uFillTx/>
                <a:latin typeface="Calibri"/>
                <a:ea typeface="Calibri"/>
              </a:rPr>
              <a:t>Effet de la diminution du pH sur le temps de relaxation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Box 3"/>
          <p:cNvSpPr/>
          <p:nvPr/>
        </p:nvSpPr>
        <p:spPr>
          <a:xfrm>
            <a:off x="179280" y="2847960"/>
            <a:ext cx="9144000" cy="33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20000"/>
              </a:lnSpc>
              <a:spcBef>
                <a:spcPts val="2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4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Durée nécessaire pour repomper le calcium à l’intérieur du réticulum sarcoplasmique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Picture 2" descr="CouplageEC"/>
          <p:cNvPicPr/>
          <p:nvPr/>
        </p:nvPicPr>
        <p:blipFill>
          <a:blip r:embed="rId1"/>
          <a:stretch/>
        </p:blipFill>
        <p:spPr>
          <a:xfrm>
            <a:off x="990720" y="304920"/>
            <a:ext cx="7162560" cy="548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Box 3"/>
          <p:cNvSpPr/>
          <p:nvPr/>
        </p:nvSpPr>
        <p:spPr>
          <a:xfrm>
            <a:off x="250920" y="5943600"/>
            <a:ext cx="84978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Couplage excitation – contraction (Marieb, 1993)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Box 2"/>
          <p:cNvSpPr/>
          <p:nvPr/>
        </p:nvSpPr>
        <p:spPr>
          <a:xfrm>
            <a:off x="179280" y="2133720"/>
            <a:ext cx="8534520" cy="25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33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5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Effet de la diminution du pH sur la glycolyse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Box 2"/>
          <p:cNvSpPr/>
          <p:nvPr/>
        </p:nvSpPr>
        <p:spPr>
          <a:xfrm>
            <a:off x="108000" y="503280"/>
            <a:ext cx="8534520" cy="25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33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5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Effet de la diminution du pH sur la glycolyse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Box 3"/>
          <p:cNvSpPr/>
          <p:nvPr/>
        </p:nvSpPr>
        <p:spPr>
          <a:xfrm>
            <a:off x="324000" y="3505320"/>
            <a:ext cx="9144000" cy="25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2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Hermansen (1977)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Dobson et coll. (1988)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6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2"/>
          <p:cNvSpPr/>
          <p:nvPr/>
        </p:nvSpPr>
        <p:spPr>
          <a:xfrm>
            <a:off x="2956320" y="746280"/>
            <a:ext cx="385992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EXERCICE MUSCULAIRE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3"/>
          <p:cNvSpPr/>
          <p:nvPr/>
        </p:nvSpPr>
        <p:spPr>
          <a:xfrm>
            <a:off x="60480" y="1447920"/>
            <a:ext cx="451152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AUGMENTATION DE LA GLYCOLYSE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4"/>
          <p:cNvSpPr/>
          <p:nvPr/>
        </p:nvSpPr>
        <p:spPr>
          <a:xfrm>
            <a:off x="61920" y="2133720"/>
            <a:ext cx="908208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AUGMENTATION DE LA PRODUCTION D’ACIDE LACTIQUE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5"/>
          <p:cNvSpPr/>
          <p:nvPr/>
        </p:nvSpPr>
        <p:spPr>
          <a:xfrm>
            <a:off x="0" y="2743200"/>
            <a:ext cx="908208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AUGMENTATION DE LA</a:t>
            </a:r>
            <a:r>
              <a:rPr b="1" lang="fr-FR" sz="17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CONCENTRATION</a:t>
            </a:r>
            <a:r>
              <a:rPr b="1" lang="fr-FR" sz="17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DES PROTONS H</a:t>
            </a:r>
            <a:r>
              <a:rPr b="1" lang="fr-FR" sz="1700" strike="noStrike" u="none" baseline="30000">
                <a:solidFill>
                  <a:srgbClr val="ffffff"/>
                </a:solidFill>
                <a:effectLst/>
                <a:uFillTx/>
                <a:latin typeface="Times New Roman"/>
              </a:rPr>
              <a:t>+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6"/>
          <p:cNvSpPr/>
          <p:nvPr/>
        </p:nvSpPr>
        <p:spPr>
          <a:xfrm>
            <a:off x="2522520" y="3352680"/>
            <a:ext cx="473508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BAISSE DU pH CELLULAIRE  ( 7          6.1 - 6.3 )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7"/>
          <p:cNvSpPr/>
          <p:nvPr/>
        </p:nvSpPr>
        <p:spPr>
          <a:xfrm>
            <a:off x="457200" y="3809880"/>
            <a:ext cx="3581280" cy="10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Diminution de l’activité de la phosphorylase et de la P.F.K.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8"/>
          <p:cNvSpPr/>
          <p:nvPr/>
        </p:nvSpPr>
        <p:spPr>
          <a:xfrm>
            <a:off x="4876920" y="3809880"/>
            <a:ext cx="4265640" cy="10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Réduction de l’interaction actine - myosine activée par Ca²</a:t>
            </a:r>
            <a:r>
              <a:rPr b="1" lang="fr-FR" sz="1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9"/>
          <p:cNvSpPr/>
          <p:nvPr/>
        </p:nvSpPr>
        <p:spPr>
          <a:xfrm>
            <a:off x="0" y="4572000"/>
            <a:ext cx="419112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Diminution de la production d’ATP</a:t>
            </a:r>
            <a:r>
              <a:rPr b="0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10"/>
          <p:cNvSpPr/>
          <p:nvPr/>
        </p:nvSpPr>
        <p:spPr>
          <a:xfrm>
            <a:off x="4873680" y="4572000"/>
            <a:ext cx="411804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Réduction de la tension mécanique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11"/>
          <p:cNvSpPr/>
          <p:nvPr/>
        </p:nvSpPr>
        <p:spPr>
          <a:xfrm>
            <a:off x="2574720" y="5288040"/>
            <a:ext cx="358848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INCAPACITE FONCTIONNELLE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Line 12"/>
          <p:cNvSpPr/>
          <p:nvPr/>
        </p:nvSpPr>
        <p:spPr>
          <a:xfrm flipH="1">
            <a:off x="3429000" y="1447920"/>
            <a:ext cx="533520" cy="304560"/>
          </a:xfrm>
          <a:prstGeom prst="line">
            <a:avLst/>
          </a:prstGeom>
          <a:ln w="50760">
            <a:solidFill>
              <a:srgbClr val="ffff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Line 13"/>
          <p:cNvSpPr/>
          <p:nvPr/>
        </p:nvSpPr>
        <p:spPr>
          <a:xfrm>
            <a:off x="5105520" y="1523880"/>
            <a:ext cx="533160" cy="304920"/>
          </a:xfrm>
          <a:prstGeom prst="line">
            <a:avLst/>
          </a:prstGeom>
          <a:ln w="50760">
            <a:solidFill>
              <a:srgbClr val="0af4c5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Line 14"/>
          <p:cNvSpPr/>
          <p:nvPr/>
        </p:nvSpPr>
        <p:spPr>
          <a:xfrm>
            <a:off x="4648320" y="2743200"/>
            <a:ext cx="3200400" cy="0"/>
          </a:xfrm>
          <a:prstGeom prst="line">
            <a:avLst/>
          </a:prstGeom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Line 15"/>
          <p:cNvSpPr/>
          <p:nvPr/>
        </p:nvSpPr>
        <p:spPr>
          <a:xfrm flipV="1">
            <a:off x="7848720" y="1980720"/>
            <a:ext cx="0" cy="762120"/>
          </a:xfrm>
          <a:prstGeom prst="line">
            <a:avLst/>
          </a:prstGeom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Line 16"/>
          <p:cNvSpPr/>
          <p:nvPr/>
        </p:nvSpPr>
        <p:spPr>
          <a:xfrm>
            <a:off x="4648320" y="274320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Line 17"/>
          <p:cNvSpPr/>
          <p:nvPr/>
        </p:nvSpPr>
        <p:spPr>
          <a:xfrm>
            <a:off x="3352680" y="1981080"/>
            <a:ext cx="0" cy="152640"/>
          </a:xfrm>
          <a:prstGeom prst="line">
            <a:avLst/>
          </a:prstGeom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Line 18"/>
          <p:cNvSpPr/>
          <p:nvPr/>
        </p:nvSpPr>
        <p:spPr>
          <a:xfrm>
            <a:off x="3352680" y="2133720"/>
            <a:ext cx="533520" cy="0"/>
          </a:xfrm>
          <a:prstGeom prst="line">
            <a:avLst/>
          </a:prstGeom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Line 19"/>
          <p:cNvSpPr/>
          <p:nvPr/>
        </p:nvSpPr>
        <p:spPr>
          <a:xfrm>
            <a:off x="3886200" y="2133720"/>
            <a:ext cx="0" cy="304560"/>
          </a:xfrm>
          <a:prstGeom prst="line">
            <a:avLst/>
          </a:prstGeom>
          <a:ln w="255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Line 20"/>
          <p:cNvSpPr/>
          <p:nvPr/>
        </p:nvSpPr>
        <p:spPr>
          <a:xfrm>
            <a:off x="4419720" y="274320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Line 21"/>
          <p:cNvSpPr/>
          <p:nvPr/>
        </p:nvSpPr>
        <p:spPr>
          <a:xfrm>
            <a:off x="4572000" y="3352680"/>
            <a:ext cx="0" cy="304920"/>
          </a:xfrm>
          <a:prstGeom prst="line">
            <a:avLst/>
          </a:prstGeom>
          <a:ln w="38160">
            <a:solidFill>
              <a:srgbClr val="333399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Line 22"/>
          <p:cNvSpPr/>
          <p:nvPr/>
        </p:nvSpPr>
        <p:spPr>
          <a:xfrm>
            <a:off x="4724280" y="3809880"/>
            <a:ext cx="0" cy="152640"/>
          </a:xfrm>
          <a:prstGeom prst="line">
            <a:avLst/>
          </a:prstGeom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Line 23"/>
          <p:cNvSpPr/>
          <p:nvPr/>
        </p:nvSpPr>
        <p:spPr>
          <a:xfrm>
            <a:off x="4724280" y="3962520"/>
            <a:ext cx="1524240" cy="0"/>
          </a:xfrm>
          <a:prstGeom prst="line">
            <a:avLst/>
          </a:prstGeom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Line 24"/>
          <p:cNvSpPr/>
          <p:nvPr/>
        </p:nvSpPr>
        <p:spPr>
          <a:xfrm>
            <a:off x="6248520" y="3962520"/>
            <a:ext cx="0" cy="228600"/>
          </a:xfrm>
          <a:prstGeom prst="line">
            <a:avLst/>
          </a:prstGeom>
          <a:ln w="255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Line 25"/>
          <p:cNvSpPr/>
          <p:nvPr/>
        </p:nvSpPr>
        <p:spPr>
          <a:xfrm>
            <a:off x="6324480" y="4800600"/>
            <a:ext cx="0" cy="304920"/>
          </a:xfrm>
          <a:prstGeom prst="line">
            <a:avLst/>
          </a:prstGeom>
          <a:ln w="25560">
            <a:solidFill>
              <a:srgbClr val="ffff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Line 26"/>
          <p:cNvSpPr/>
          <p:nvPr/>
        </p:nvSpPr>
        <p:spPr>
          <a:xfrm>
            <a:off x="4495680" y="3809880"/>
            <a:ext cx="0" cy="152640"/>
          </a:xfrm>
          <a:prstGeom prst="line">
            <a:avLst/>
          </a:prstGeom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Line 27"/>
          <p:cNvSpPr/>
          <p:nvPr/>
        </p:nvSpPr>
        <p:spPr>
          <a:xfrm flipH="1">
            <a:off x="2437920" y="3962520"/>
            <a:ext cx="2057400" cy="0"/>
          </a:xfrm>
          <a:prstGeom prst="line">
            <a:avLst/>
          </a:prstGeom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Line 28"/>
          <p:cNvSpPr/>
          <p:nvPr/>
        </p:nvSpPr>
        <p:spPr>
          <a:xfrm>
            <a:off x="2438280" y="3962520"/>
            <a:ext cx="0" cy="228600"/>
          </a:xfrm>
          <a:prstGeom prst="line">
            <a:avLst/>
          </a:prstGeom>
          <a:ln w="25560">
            <a:solidFill>
              <a:srgbClr val="ffff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Line 29"/>
          <p:cNvSpPr/>
          <p:nvPr/>
        </p:nvSpPr>
        <p:spPr>
          <a:xfrm>
            <a:off x="2438280" y="4800600"/>
            <a:ext cx="0" cy="228600"/>
          </a:xfrm>
          <a:prstGeom prst="line">
            <a:avLst/>
          </a:prstGeom>
          <a:ln w="25560">
            <a:solidFill>
              <a:srgbClr val="ffff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Line 30"/>
          <p:cNvSpPr/>
          <p:nvPr/>
        </p:nvSpPr>
        <p:spPr>
          <a:xfrm>
            <a:off x="2666880" y="5257800"/>
            <a:ext cx="1371600" cy="304920"/>
          </a:xfrm>
          <a:prstGeom prst="line">
            <a:avLst/>
          </a:prstGeom>
          <a:ln w="25560">
            <a:solidFill>
              <a:srgbClr val="ffff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Line 31"/>
          <p:cNvSpPr/>
          <p:nvPr/>
        </p:nvSpPr>
        <p:spPr>
          <a:xfrm flipV="1">
            <a:off x="5105520" y="5257440"/>
            <a:ext cx="990360" cy="304920"/>
          </a:xfrm>
          <a:prstGeom prst="line">
            <a:avLst/>
          </a:prstGeom>
          <a:ln w="25560">
            <a:solidFill>
              <a:srgbClr val="ffffff"/>
            </a:solidFill>
            <a:miter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Line 32"/>
          <p:cNvSpPr/>
          <p:nvPr/>
        </p:nvSpPr>
        <p:spPr>
          <a:xfrm>
            <a:off x="5943600" y="3733920"/>
            <a:ext cx="304920" cy="152280"/>
          </a:xfrm>
          <a:prstGeom prst="line">
            <a:avLst/>
          </a:prstGeom>
          <a:ln w="12600">
            <a:solidFill>
              <a:srgbClr val="ffff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33"/>
          <p:cNvSpPr/>
          <p:nvPr/>
        </p:nvSpPr>
        <p:spPr>
          <a:xfrm>
            <a:off x="-76320" y="0"/>
            <a:ext cx="92203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Mécanismes susceptibles d’intervenir pour expliquer la diminution de la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capacité de prestation à la fin d’un exercice supramaximal (400 - 800 m)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Box 34"/>
          <p:cNvSpPr/>
          <p:nvPr/>
        </p:nvSpPr>
        <p:spPr>
          <a:xfrm>
            <a:off x="4264200" y="1660680"/>
            <a:ext cx="4606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...ET DE L ’HYDROLYSE DE L ’ATP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35"/>
          <p:cNvSpPr/>
          <p:nvPr/>
        </p:nvSpPr>
        <p:spPr>
          <a:xfrm>
            <a:off x="1757880" y="6183360"/>
            <a:ext cx="5099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400" strike="noStrike" u="none">
                <a:solidFill>
                  <a:srgbClr val="a3f25f"/>
                </a:solidFill>
                <a:effectLst/>
                <a:uFillTx/>
                <a:latin typeface="Times New Roman"/>
              </a:rPr>
              <a:t>D’après Hermansen 1977, modifié 1996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dissolve/>
  </p:transition>
  <p:timing>
    <p:tnLst>
      <p:par>
        <p:cTn id="378" dur="indefinite" restart="never" nodeType="tmRoot">
          <p:childTnLst>
            <p:seq>
              <p:cTn id="379" dur="indefinite" nodeType="mainSeq">
                <p:childTnLst>
                  <p:par>
                    <p:cTn id="380" nodeType="clickEffect" fill="hold">
                      <p:stCondLst>
                        <p:cond delay="0"/>
                      </p:stCondLst>
                      <p:childTnLst>
                        <p:par>
                          <p:cTn id="3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2" nodeType="afterEffect" fill="hold" presetClass="entr" presetID="2" presetSubtype="1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4" dur="3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5" dur="3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nodeType="afterEffect" fill="hold">
                            <p:stCondLst>
                              <p:cond delay="8500"/>
                            </p:stCondLst>
                            <p:childTnLst>
                              <p:par>
                                <p:cTn id="387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9" dur="3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0" dur="3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nodeType="afterEffect" fill="hold">
                            <p:stCondLst>
                              <p:cond delay="10400"/>
                            </p:stCondLst>
                            <p:childTnLst>
                              <p:par>
                                <p:cTn id="392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9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nodeType="afterEffect" fill="hold">
                            <p:stCondLst>
                              <p:cond delay="11900"/>
                            </p:stCondLst>
                            <p:childTnLst>
                              <p:par>
                                <p:cTn id="396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75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75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nodeType="afterEffect" fill="hold">
                            <p:stCondLst>
                              <p:cond delay="15775"/>
                            </p:stCondLst>
                            <p:childTnLst>
                              <p:par>
                                <p:cTn id="40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0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nodeType="afterEffect" fill="hold">
                            <p:stCondLst>
                              <p:cond delay="16274"/>
                            </p:stCondLst>
                            <p:childTnLst>
                              <p:par>
                                <p:cTn id="40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0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nodeType="afterEffect" fill="hold">
                            <p:stCondLst>
                              <p:cond delay="16775"/>
                            </p:stCondLst>
                            <p:childTnLst>
                              <p:par>
                                <p:cTn id="40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1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nodeType="afterEffect" fill="hold">
                            <p:stCondLst>
                              <p:cond delay="17275"/>
                            </p:stCondLst>
                            <p:childTnLst>
                              <p:par>
                                <p:cTn id="413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5" dur="75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75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nodeType="afterEffect" fill="hold">
                            <p:stCondLst>
                              <p:cond delay="22350"/>
                            </p:stCondLst>
                            <p:childTnLst>
                              <p:par>
                                <p:cTn id="41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nodeType="afterEffect" fill="hold">
                            <p:stCondLst>
                              <p:cond delay="23850"/>
                            </p:stCondLst>
                            <p:childTnLst>
                              <p:par>
                                <p:cTn id="422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4" dur="75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5" dur="75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nodeType="afterEffect" fill="hold">
                            <p:stCondLst>
                              <p:cond delay="28925"/>
                            </p:stCondLst>
                            <p:childTnLst>
                              <p:par>
                                <p:cTn id="427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nodeType="afterEffect" fill="hold">
                            <p:stCondLst>
                              <p:cond delay="30425"/>
                            </p:stCondLst>
                            <p:childTnLst>
                              <p:par>
                                <p:cTn id="431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75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75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nodeType="afterEffect" fill="hold">
                            <p:stCondLst>
                              <p:cond delay="34675"/>
                            </p:stCondLst>
                            <p:childTnLst>
                              <p:par>
                                <p:cTn id="43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3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nodeType="afterEffect" fill="hold">
                            <p:stCondLst>
                              <p:cond delay="35175"/>
                            </p:stCondLst>
                            <p:childTnLst>
                              <p:par>
                                <p:cTn id="44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nodeType="afterEffect" fill="hold">
                            <p:stCondLst>
                              <p:cond delay="36675"/>
                            </p:stCondLst>
                            <p:childTnLst>
                              <p:par>
                                <p:cTn id="44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7" nodeType="afterEffect" fill="hold">
                            <p:stCondLst>
                              <p:cond delay="37175"/>
                            </p:stCondLst>
                            <p:childTnLst>
                              <p:par>
                                <p:cTn id="44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1" nodeType="afterEffect" fill="hold">
                            <p:stCondLst>
                              <p:cond delay="37675"/>
                            </p:stCondLst>
                            <p:childTnLst>
                              <p:par>
                                <p:cTn id="452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4" dur="3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5" dur="3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nodeType="afterEffect" fill="hold">
                            <p:stCondLst>
                              <p:cond delay="43275"/>
                            </p:stCondLst>
                            <p:childTnLst>
                              <p:par>
                                <p:cTn id="457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nodeType="afterEffect" fill="hold">
                            <p:stCondLst>
                              <p:cond delay="44775"/>
                            </p:stCondLst>
                            <p:childTnLst>
                              <p:par>
                                <p:cTn id="461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75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75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nodeType="afterEffect" fill="hold">
                            <p:stCondLst>
                              <p:cond delay="49025"/>
                            </p:stCondLst>
                            <p:childTnLst>
                              <p:par>
                                <p:cTn id="466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nodeType="afterEffect" fill="hold">
                            <p:stCondLst>
                              <p:cond delay="50525"/>
                            </p:stCondLst>
                            <p:childTnLst>
                              <p:par>
                                <p:cTn id="470" nodeType="afterEffect" fill="hold" presetClass="entr" presetID="2" presetSubtype="1">
                                  <p:stCondLst>
                                    <p:cond delay="2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2" dur="75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3" dur="75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4" nodeType="afterEffect" fill="hold">
                            <p:stCondLst>
                              <p:cond delay="54250"/>
                            </p:stCondLst>
                            <p:childTnLst>
                              <p:par>
                                <p:cTn id="475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nodeType="afterEffect" fill="hold">
                            <p:stCondLst>
                              <p:cond delay="55750"/>
                            </p:stCondLst>
                            <p:childTnLst>
                              <p:par>
                                <p:cTn id="479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2" nodeType="afterEffect" fill="hold">
                            <p:stCondLst>
                              <p:cond delay="57250"/>
                            </p:stCondLst>
                            <p:childTnLst>
                              <p:par>
                                <p:cTn id="48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5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6" nodeType="afterEffect" fill="hold">
                            <p:stCondLst>
                              <p:cond delay="58750"/>
                            </p:stCondLst>
                            <p:childTnLst>
                              <p:par>
                                <p:cTn id="487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9" dur="75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0" dur="75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1" nodeType="afterEffect" fill="hold">
                            <p:stCondLst>
                              <p:cond delay="63650"/>
                            </p:stCondLst>
                            <p:childTnLst>
                              <p:par>
                                <p:cTn id="492" nodeType="afterEffect" fill="hold" presetClass="entr" presetID="9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nodeType="afterEffect" fill="hold">
                            <p:stCondLst>
                              <p:cond delay="68150"/>
                            </p:stCondLst>
                            <p:childTnLst>
                              <p:par>
                                <p:cTn id="496" nodeType="afterEffect" fill="hold" presetClass="entr" presetID="2" presetSubtype="8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8" dur="75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75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nodeType="afterEffect" fill="hold">
                            <p:stCondLst>
                              <p:cond delay="71325"/>
                            </p:stCondLst>
                            <p:childTnLst>
                              <p:par>
                                <p:cTn id="501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3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nodeType="afterEffect" fill="hold">
                            <p:stCondLst>
                              <p:cond delay="72825"/>
                            </p:stCondLst>
                            <p:childTnLst>
                              <p:par>
                                <p:cTn id="505" nodeType="afterEffect" fill="hold" presetClass="entr" presetID="9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8" nodeType="afterEffect" fill="hold">
                            <p:stCondLst>
                              <p:cond delay="77325"/>
                            </p:stCondLst>
                            <p:childTnLst>
                              <p:par>
                                <p:cTn id="509" nodeType="afterEffect" fill="hold" presetClass="entr" presetID="2" presetSubtype="1">
                                  <p:stCondLst>
                                    <p:cond delay="3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75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75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nodeType="afterEffect" fill="hold">
                            <p:stCondLst>
                              <p:cond delay="82200"/>
                            </p:stCondLst>
                            <p:childTnLst>
                              <p:par>
                                <p:cTn id="514" nodeType="afterEffect" fill="hold" presetClass="entr" presetID="9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6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nodeType="afterEffect" fill="hold">
                            <p:stCondLst>
                              <p:cond delay="86700"/>
                            </p:stCondLst>
                            <p:childTnLst>
                              <p:par>
                                <p:cTn id="51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1" nodeType="afterEffect" fill="hold">
                            <p:stCondLst>
                              <p:cond delay="87200"/>
                            </p:stCondLst>
                            <p:childTnLst>
                              <p:par>
                                <p:cTn id="52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Object 2"/>
          <p:cNvGraphicFramePr/>
          <p:nvPr/>
        </p:nvGraphicFramePr>
        <p:xfrm>
          <a:off x="533520" y="2438280"/>
          <a:ext cx="8305560" cy="394488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226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33520" y="2438280"/>
                    <a:ext cx="8305560" cy="3944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27" name="Text Box 3"/>
          <p:cNvSpPr/>
          <p:nvPr/>
        </p:nvSpPr>
        <p:spPr>
          <a:xfrm>
            <a:off x="0" y="380880"/>
            <a:ext cx="914400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06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A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Effet du pH sur la glycolyse : la PFK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AutoShape 4"/>
          <p:cNvSpPr/>
          <p:nvPr/>
        </p:nvSpPr>
        <p:spPr>
          <a:xfrm>
            <a:off x="838080" y="1523880"/>
            <a:ext cx="7696440" cy="762120"/>
          </a:xfrm>
          <a:prstGeom prst="roundRect">
            <a:avLst>
              <a:gd name="adj" fmla="val 27083"/>
            </a:avLst>
          </a:prstGeom>
          <a:noFill/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Box 5"/>
          <p:cNvSpPr/>
          <p:nvPr/>
        </p:nvSpPr>
        <p:spPr>
          <a:xfrm>
            <a:off x="990720" y="1600200"/>
            <a:ext cx="76197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A" sz="30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Dobson et al. </a:t>
            </a:r>
            <a:r>
              <a:rPr b="0" i="1" lang="fr-CA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Am J Physiol 1986 ; 250 : R71-R76.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0" name="Group 6"/>
          <p:cNvGrpSpPr/>
          <p:nvPr/>
        </p:nvGrpSpPr>
        <p:grpSpPr>
          <a:xfrm>
            <a:off x="2438280" y="2819520"/>
            <a:ext cx="5943600" cy="3218040"/>
            <a:chOff x="2438280" y="2819520"/>
            <a:chExt cx="5943600" cy="3218040"/>
          </a:xfrm>
        </p:grpSpPr>
        <p:sp>
          <p:nvSpPr>
            <p:cNvPr id="231" name="Line 7"/>
            <p:cNvSpPr/>
            <p:nvPr/>
          </p:nvSpPr>
          <p:spPr>
            <a:xfrm flipV="1">
              <a:off x="3657600" y="2819520"/>
              <a:ext cx="0" cy="3124080"/>
            </a:xfrm>
            <a:prstGeom prst="line">
              <a:avLst/>
            </a:prstGeom>
            <a:ln cap="rnd" w="9360">
              <a:solidFill>
                <a:srgbClr val="000000"/>
              </a:solidFill>
              <a:custDash>
                <a:ds d="100000" sp="1000"/>
              </a:custDash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Text Box 8"/>
            <p:cNvSpPr/>
            <p:nvPr/>
          </p:nvSpPr>
          <p:spPr>
            <a:xfrm>
              <a:off x="5334120" y="5638680"/>
              <a:ext cx="144756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25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CA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pH = 6.63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Line 9"/>
            <p:cNvSpPr/>
            <p:nvPr/>
          </p:nvSpPr>
          <p:spPr>
            <a:xfrm>
              <a:off x="6781680" y="5867280"/>
              <a:ext cx="1600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Line 10"/>
            <p:cNvSpPr/>
            <p:nvPr/>
          </p:nvSpPr>
          <p:spPr>
            <a:xfrm flipH="1">
              <a:off x="3657240" y="5867280"/>
              <a:ext cx="1676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Text Box 11"/>
            <p:cNvSpPr/>
            <p:nvPr/>
          </p:nvSpPr>
          <p:spPr>
            <a:xfrm>
              <a:off x="2438280" y="5638680"/>
              <a:ext cx="121932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25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CA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pH = 7.03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Text Box 12"/>
            <p:cNvSpPr/>
            <p:nvPr/>
          </p:nvSpPr>
          <p:spPr>
            <a:xfrm>
              <a:off x="5029200" y="4648320"/>
              <a:ext cx="838080" cy="58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CA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20 mM Pi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Text Box 13"/>
            <p:cNvSpPr/>
            <p:nvPr/>
          </p:nvSpPr>
          <p:spPr>
            <a:xfrm>
              <a:off x="6248520" y="4267080"/>
              <a:ext cx="838080" cy="58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CA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0.5 mM ADP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Text Box 14"/>
            <p:cNvSpPr/>
            <p:nvPr/>
          </p:nvSpPr>
          <p:spPr>
            <a:xfrm>
              <a:off x="7467480" y="3809880"/>
              <a:ext cx="838440" cy="58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CA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10 </a:t>
              </a:r>
              <a:r>
                <a:rPr b="0" lang="fr-CA" sz="1600" strike="noStrike" u="non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</a:t>
              </a:r>
              <a:r>
                <a:rPr b="0" lang="fr-CA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 M F16P2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525" dur="indefinite" restart="never" nodeType="tmRoot">
          <p:childTnLst>
            <p:seq>
              <p:cTn id="526" dur="indefinite" nodeType="mainSeq">
                <p:childTnLst>
                  <p:par>
                    <p:cTn id="527" nodeType="clickEffect" fill="hold">
                      <p:stCondLst>
                        <p:cond delay="indefinite"/>
                      </p:stCondLst>
                      <p:childTnLst>
                        <p:par>
                          <p:cTn id="5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3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33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535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6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537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nodeType="withEffect" fill="hold" presetClass="entr" presetID="1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4"/>
          <p:cNvSpPr/>
          <p:nvPr/>
        </p:nvSpPr>
        <p:spPr>
          <a:xfrm>
            <a:off x="335880" y="2492280"/>
            <a:ext cx="846144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5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Glucides 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5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 fatigue musculaire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79280" y="333000"/>
            <a:ext cx="8569440" cy="121932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Glucides et fatigue musculaire : (1)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108000" y="2057040"/>
            <a:ext cx="9036000" cy="3809880"/>
          </a:xfrm>
          <a:prstGeom prst="rect">
            <a:avLst/>
          </a:prstGeom>
          <a:noFill/>
          <a:ln w="0">
            <a:noFill/>
          </a:ln>
        </p:spPr>
        <p:txBody>
          <a:bodyPr lIns="89280" rIns="89280" tIns="43920" bIns="43920" anchor="t">
            <a:normAutofit fontScale="92500" lnSpcReduction="19999"/>
          </a:bodyPr>
          <a:p>
            <a:pPr marL="343080" indent="-343080">
              <a:lnSpc>
                <a:spcPct val="120000"/>
              </a:lnSpc>
              <a:spcBef>
                <a:spcPts val="6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hypoglycémie et performance (Levine et al.1924)</a:t>
            </a:r>
            <a:br>
              <a:rPr sz="2400"/>
            </a:b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exercice prolongé (2-3h) à haute intensité (65-90% VO</a:t>
            </a:r>
            <a:r>
              <a:rPr b="1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max)</a:t>
            </a: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- avant : 4 à 5 mmol.l</a:t>
            </a:r>
            <a:r>
              <a:rPr b="1" lang="fr-FR" sz="2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- épuisement : 2,5 - 3,0 mmol.l</a:t>
            </a:r>
            <a:r>
              <a:rPr b="1" lang="fr-FR" sz="2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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importance de la supplémentation :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Gordon et al. 1925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spcBef>
                <a:spcPts val="601"/>
              </a:spcBef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l’ingestion de glucose pendant l’exercice n’a pas d’effet sur le glycogène musculaire!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Line 4"/>
          <p:cNvSpPr/>
          <p:nvPr/>
        </p:nvSpPr>
        <p:spPr>
          <a:xfrm>
            <a:off x="2076480" y="1333440"/>
            <a:ext cx="1440" cy="366876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Box 5"/>
          <p:cNvSpPr/>
          <p:nvPr/>
        </p:nvSpPr>
        <p:spPr>
          <a:xfrm>
            <a:off x="1695600" y="1747800"/>
            <a:ext cx="825480" cy="39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   -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20 –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40 –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60 –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80 –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Line 6"/>
          <p:cNvSpPr/>
          <p:nvPr/>
        </p:nvSpPr>
        <p:spPr>
          <a:xfrm>
            <a:off x="2050920" y="5002200"/>
            <a:ext cx="5067360" cy="144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Box 7"/>
          <p:cNvSpPr/>
          <p:nvPr/>
        </p:nvSpPr>
        <p:spPr>
          <a:xfrm>
            <a:off x="2343240" y="5041800"/>
            <a:ext cx="542124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                       30                       60                      90                      120 min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Box 8"/>
          <p:cNvSpPr/>
          <p:nvPr/>
        </p:nvSpPr>
        <p:spPr>
          <a:xfrm>
            <a:off x="2343240" y="4791240"/>
            <a:ext cx="49496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1199"/>
              </a:spcBef>
              <a:spcAft>
                <a:spcPts val="30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                           I                            I                            I                            I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Line 9"/>
          <p:cNvSpPr/>
          <p:nvPr/>
        </p:nvSpPr>
        <p:spPr>
          <a:xfrm>
            <a:off x="2411280" y="1844640"/>
            <a:ext cx="1068480" cy="18576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Box 10"/>
          <p:cNvSpPr/>
          <p:nvPr/>
        </p:nvSpPr>
        <p:spPr>
          <a:xfrm>
            <a:off x="3333600" y="1900080"/>
            <a:ext cx="3542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Box 11"/>
          <p:cNvSpPr/>
          <p:nvPr/>
        </p:nvSpPr>
        <p:spPr>
          <a:xfrm>
            <a:off x="4362480" y="2006640"/>
            <a:ext cx="3538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Box 12"/>
          <p:cNvSpPr/>
          <p:nvPr/>
        </p:nvSpPr>
        <p:spPr>
          <a:xfrm>
            <a:off x="5505480" y="2128680"/>
            <a:ext cx="35388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Line 13"/>
          <p:cNvSpPr/>
          <p:nvPr/>
        </p:nvSpPr>
        <p:spPr>
          <a:xfrm>
            <a:off x="3448080" y="2022480"/>
            <a:ext cx="1060560" cy="1224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Line 14"/>
          <p:cNvSpPr/>
          <p:nvPr/>
        </p:nvSpPr>
        <p:spPr>
          <a:xfrm>
            <a:off x="4476600" y="2136600"/>
            <a:ext cx="1177920" cy="1224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Box 15"/>
          <p:cNvSpPr/>
          <p:nvPr/>
        </p:nvSpPr>
        <p:spPr>
          <a:xfrm>
            <a:off x="6534000" y="2243160"/>
            <a:ext cx="3542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Line 16"/>
          <p:cNvSpPr/>
          <p:nvPr/>
        </p:nvSpPr>
        <p:spPr>
          <a:xfrm>
            <a:off x="5619600" y="2251080"/>
            <a:ext cx="1060560" cy="1224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Box 17"/>
          <p:cNvSpPr/>
          <p:nvPr/>
        </p:nvSpPr>
        <p:spPr>
          <a:xfrm>
            <a:off x="6877080" y="2243160"/>
            <a:ext cx="588960" cy="244440"/>
          </a:xfrm>
          <a:prstGeom prst="rect">
            <a:avLst/>
          </a:prstGeom>
          <a:solidFill>
            <a:srgbClr val="bbe0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30 %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Line 18"/>
          <p:cNvSpPr/>
          <p:nvPr/>
        </p:nvSpPr>
        <p:spPr>
          <a:xfrm>
            <a:off x="3492360" y="2276640"/>
            <a:ext cx="3167280" cy="10080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Box 19"/>
          <p:cNvSpPr/>
          <p:nvPr/>
        </p:nvSpPr>
        <p:spPr>
          <a:xfrm>
            <a:off x="3333600" y="2128680"/>
            <a:ext cx="3542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Box 20"/>
          <p:cNvSpPr/>
          <p:nvPr/>
        </p:nvSpPr>
        <p:spPr>
          <a:xfrm>
            <a:off x="4362480" y="2471760"/>
            <a:ext cx="3538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Box 21"/>
          <p:cNvSpPr/>
          <p:nvPr/>
        </p:nvSpPr>
        <p:spPr>
          <a:xfrm>
            <a:off x="5505480" y="2814480"/>
            <a:ext cx="35388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Box 22"/>
          <p:cNvSpPr/>
          <p:nvPr/>
        </p:nvSpPr>
        <p:spPr>
          <a:xfrm>
            <a:off x="6534000" y="3157560"/>
            <a:ext cx="3542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Box 23"/>
          <p:cNvSpPr/>
          <p:nvPr/>
        </p:nvSpPr>
        <p:spPr>
          <a:xfrm>
            <a:off x="6877080" y="3157560"/>
            <a:ext cx="588960" cy="244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60 %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Line 24"/>
          <p:cNvSpPr/>
          <p:nvPr/>
        </p:nvSpPr>
        <p:spPr>
          <a:xfrm>
            <a:off x="2419200" y="1876320"/>
            <a:ext cx="235080" cy="61128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Box 25"/>
          <p:cNvSpPr/>
          <p:nvPr/>
        </p:nvSpPr>
        <p:spPr>
          <a:xfrm>
            <a:off x="2830680" y="2887560"/>
            <a:ext cx="3538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Box 26"/>
          <p:cNvSpPr/>
          <p:nvPr/>
        </p:nvSpPr>
        <p:spPr>
          <a:xfrm>
            <a:off x="2533680" y="2357280"/>
            <a:ext cx="35388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Line 27"/>
          <p:cNvSpPr/>
          <p:nvPr/>
        </p:nvSpPr>
        <p:spPr>
          <a:xfrm>
            <a:off x="2647800" y="2448000"/>
            <a:ext cx="354240" cy="61128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Box 28"/>
          <p:cNvSpPr/>
          <p:nvPr/>
        </p:nvSpPr>
        <p:spPr>
          <a:xfrm>
            <a:off x="3333600" y="3157560"/>
            <a:ext cx="3542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Line 29"/>
          <p:cNvSpPr/>
          <p:nvPr/>
        </p:nvSpPr>
        <p:spPr>
          <a:xfrm>
            <a:off x="2990880" y="3043080"/>
            <a:ext cx="471600" cy="2448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Box 30"/>
          <p:cNvSpPr/>
          <p:nvPr/>
        </p:nvSpPr>
        <p:spPr>
          <a:xfrm>
            <a:off x="3219480" y="3538440"/>
            <a:ext cx="588960" cy="244440"/>
          </a:xfrm>
          <a:prstGeom prst="rect">
            <a:avLst/>
          </a:prstGeom>
          <a:solidFill>
            <a:srgbClr val="bbe0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90 %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Box 31"/>
          <p:cNvSpPr/>
          <p:nvPr/>
        </p:nvSpPr>
        <p:spPr>
          <a:xfrm>
            <a:off x="3333600" y="2814480"/>
            <a:ext cx="3542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Line 32"/>
          <p:cNvSpPr/>
          <p:nvPr/>
        </p:nvSpPr>
        <p:spPr>
          <a:xfrm>
            <a:off x="2419200" y="1844640"/>
            <a:ext cx="1060560" cy="110016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Box 33"/>
          <p:cNvSpPr/>
          <p:nvPr/>
        </p:nvSpPr>
        <p:spPr>
          <a:xfrm>
            <a:off x="4362480" y="3728880"/>
            <a:ext cx="35388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Line 34"/>
          <p:cNvSpPr/>
          <p:nvPr/>
        </p:nvSpPr>
        <p:spPr>
          <a:xfrm>
            <a:off x="3448080" y="2881440"/>
            <a:ext cx="1060560" cy="97776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Box 35"/>
          <p:cNvSpPr/>
          <p:nvPr/>
        </p:nvSpPr>
        <p:spPr>
          <a:xfrm>
            <a:off x="5391000" y="4414680"/>
            <a:ext cx="3542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Box 36"/>
          <p:cNvSpPr/>
          <p:nvPr/>
        </p:nvSpPr>
        <p:spPr>
          <a:xfrm>
            <a:off x="5048280" y="4300560"/>
            <a:ext cx="3538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Line 37"/>
          <p:cNvSpPr/>
          <p:nvPr/>
        </p:nvSpPr>
        <p:spPr>
          <a:xfrm>
            <a:off x="4476600" y="3819600"/>
            <a:ext cx="706680" cy="61128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Line 38"/>
          <p:cNvSpPr/>
          <p:nvPr/>
        </p:nvSpPr>
        <p:spPr>
          <a:xfrm>
            <a:off x="5162400" y="4422600"/>
            <a:ext cx="471600" cy="1224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Line 39"/>
          <p:cNvSpPr/>
          <p:nvPr/>
        </p:nvSpPr>
        <p:spPr>
          <a:xfrm>
            <a:off x="2419200" y="1836720"/>
            <a:ext cx="117720" cy="122256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Box 40"/>
          <p:cNvSpPr/>
          <p:nvPr/>
        </p:nvSpPr>
        <p:spPr>
          <a:xfrm>
            <a:off x="2305080" y="2928960"/>
            <a:ext cx="4716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  <a:r>
              <a:rPr b="0" lang="fr-FR" sz="1100" strike="noStrike" u="none">
                <a:solidFill>
                  <a:srgbClr val="ffffff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Box 41"/>
          <p:cNvSpPr/>
          <p:nvPr/>
        </p:nvSpPr>
        <p:spPr>
          <a:xfrm>
            <a:off x="2190600" y="3424320"/>
            <a:ext cx="706680" cy="24444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120 %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Box 42"/>
          <p:cNvSpPr/>
          <p:nvPr/>
        </p:nvSpPr>
        <p:spPr>
          <a:xfrm>
            <a:off x="5962680" y="4452840"/>
            <a:ext cx="588960" cy="244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75 %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Box 43"/>
          <p:cNvSpPr/>
          <p:nvPr/>
        </p:nvSpPr>
        <p:spPr>
          <a:xfrm>
            <a:off x="3105000" y="1236600"/>
            <a:ext cx="436104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Déplétion en glycogène du quadriceps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(mmoles d’unité glucosyles.kg</a:t>
            </a:r>
            <a:r>
              <a:rPr b="1" lang="fr-FR" sz="11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-1</a:t>
            </a:r>
            <a:r>
              <a:rPr b="1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 muscle frais).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44"/>
          <p:cNvSpPr/>
          <p:nvPr/>
        </p:nvSpPr>
        <p:spPr>
          <a:xfrm>
            <a:off x="1619280" y="981000"/>
            <a:ext cx="6481800" cy="4402080"/>
          </a:xfrm>
          <a:prstGeom prst="rect">
            <a:avLst/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Box 45"/>
          <p:cNvSpPr/>
          <p:nvPr/>
        </p:nvSpPr>
        <p:spPr>
          <a:xfrm>
            <a:off x="2309760" y="3174840"/>
            <a:ext cx="47160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▲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Box 46"/>
          <p:cNvSpPr/>
          <p:nvPr/>
        </p:nvSpPr>
        <p:spPr>
          <a:xfrm>
            <a:off x="3333600" y="3309840"/>
            <a:ext cx="3542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▲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Box 47"/>
          <p:cNvSpPr/>
          <p:nvPr/>
        </p:nvSpPr>
        <p:spPr>
          <a:xfrm>
            <a:off x="5619600" y="4452840"/>
            <a:ext cx="3542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◄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Box 48"/>
          <p:cNvSpPr/>
          <p:nvPr/>
        </p:nvSpPr>
        <p:spPr>
          <a:xfrm>
            <a:off x="3105000" y="4110120"/>
            <a:ext cx="10605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% VO2max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Box 49"/>
          <p:cNvSpPr/>
          <p:nvPr/>
        </p:nvSpPr>
        <p:spPr>
          <a:xfrm>
            <a:off x="2305080" y="4110120"/>
            <a:ext cx="588960" cy="244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%    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Box 50"/>
          <p:cNvSpPr/>
          <p:nvPr/>
        </p:nvSpPr>
        <p:spPr>
          <a:xfrm>
            <a:off x="2876400" y="4110120"/>
            <a:ext cx="3542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=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Box 51"/>
          <p:cNvSpPr/>
          <p:nvPr/>
        </p:nvSpPr>
        <p:spPr>
          <a:xfrm>
            <a:off x="2419200" y="4452840"/>
            <a:ext cx="3542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1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▲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Box 52"/>
          <p:cNvSpPr/>
          <p:nvPr/>
        </p:nvSpPr>
        <p:spPr>
          <a:xfrm>
            <a:off x="2876400" y="4452840"/>
            <a:ext cx="3542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=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Box 53"/>
          <p:cNvSpPr/>
          <p:nvPr/>
        </p:nvSpPr>
        <p:spPr>
          <a:xfrm>
            <a:off x="3105000" y="4444920"/>
            <a:ext cx="11779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1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Epuisement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Line 54"/>
          <p:cNvSpPr/>
          <p:nvPr/>
        </p:nvSpPr>
        <p:spPr>
          <a:xfrm>
            <a:off x="2411280" y="1844640"/>
            <a:ext cx="1081080" cy="4320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Oval 55"/>
          <p:cNvSpPr/>
          <p:nvPr/>
        </p:nvSpPr>
        <p:spPr>
          <a:xfrm>
            <a:off x="5796000" y="4098960"/>
            <a:ext cx="914400" cy="914400"/>
          </a:xfrm>
          <a:prstGeom prst="ellipse">
            <a:avLst/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2" dur="indefinite" restart="never" nodeType="tmRoot">
          <p:childTnLst>
            <p:seq>
              <p:cTn id="543" dur="indefinite" nodeType="mainSeq">
                <p:childTnLst>
                  <p:par>
                    <p:cTn id="544" nodeType="clickEffect" fill="hold">
                      <p:stCondLst>
                        <p:cond delay="indefinite"/>
                      </p:stCondLst>
                      <p:childTnLst>
                        <p:par>
                          <p:cTn id="5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48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Box 2"/>
          <p:cNvSpPr/>
          <p:nvPr/>
        </p:nvSpPr>
        <p:spPr>
          <a:xfrm>
            <a:off x="2702160" y="942840"/>
            <a:ext cx="29408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Exercice supramaximal unique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Line 3"/>
          <p:cNvSpPr/>
          <p:nvPr/>
        </p:nvSpPr>
        <p:spPr>
          <a:xfrm flipH="1">
            <a:off x="2280960" y="1125360"/>
            <a:ext cx="36036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Line 4"/>
          <p:cNvSpPr/>
          <p:nvPr/>
        </p:nvSpPr>
        <p:spPr>
          <a:xfrm flipH="1">
            <a:off x="2268360" y="1125360"/>
            <a:ext cx="12960" cy="4320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Box 5"/>
          <p:cNvSpPr/>
          <p:nvPr/>
        </p:nvSpPr>
        <p:spPr>
          <a:xfrm>
            <a:off x="1265760" y="1577880"/>
            <a:ext cx="19040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Hydrolyse de l’ATP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Box 6"/>
          <p:cNvSpPr/>
          <p:nvPr/>
        </p:nvSpPr>
        <p:spPr>
          <a:xfrm>
            <a:off x="5150160" y="2087640"/>
            <a:ext cx="19022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Réserves de PCr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Box 7"/>
          <p:cNvSpPr/>
          <p:nvPr/>
        </p:nvSpPr>
        <p:spPr>
          <a:xfrm>
            <a:off x="3874680" y="1585800"/>
            <a:ext cx="17690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Hydrolyse de PCr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Line 8"/>
          <p:cNvSpPr/>
          <p:nvPr/>
        </p:nvSpPr>
        <p:spPr>
          <a:xfrm>
            <a:off x="5651640" y="1773360"/>
            <a:ext cx="361800" cy="287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Line 9"/>
          <p:cNvSpPr/>
          <p:nvPr/>
        </p:nvSpPr>
        <p:spPr>
          <a:xfrm>
            <a:off x="1849320" y="1973160"/>
            <a:ext cx="0" cy="4334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Box 10"/>
          <p:cNvSpPr/>
          <p:nvPr/>
        </p:nvSpPr>
        <p:spPr>
          <a:xfrm>
            <a:off x="1498680" y="2425680"/>
            <a:ext cx="77580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ADP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Line 11"/>
          <p:cNvSpPr/>
          <p:nvPr/>
        </p:nvSpPr>
        <p:spPr>
          <a:xfrm>
            <a:off x="2786040" y="1974960"/>
            <a:ext cx="0" cy="4334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Box 12"/>
          <p:cNvSpPr/>
          <p:nvPr/>
        </p:nvSpPr>
        <p:spPr>
          <a:xfrm>
            <a:off x="2425680" y="2452680"/>
            <a:ext cx="79236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Line 13"/>
          <p:cNvSpPr/>
          <p:nvPr/>
        </p:nvSpPr>
        <p:spPr>
          <a:xfrm flipH="1">
            <a:off x="2857680" y="1844640"/>
            <a:ext cx="993600" cy="56196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Box 14"/>
          <p:cNvSpPr/>
          <p:nvPr/>
        </p:nvSpPr>
        <p:spPr>
          <a:xfrm>
            <a:off x="3835800" y="2451240"/>
            <a:ext cx="5738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</a:t>
            </a:r>
            <a:r>
              <a:rPr b="1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Line 15"/>
          <p:cNvSpPr/>
          <p:nvPr/>
        </p:nvSpPr>
        <p:spPr>
          <a:xfrm>
            <a:off x="4081320" y="1973160"/>
            <a:ext cx="0" cy="5050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Line 16"/>
          <p:cNvSpPr/>
          <p:nvPr/>
        </p:nvSpPr>
        <p:spPr>
          <a:xfrm>
            <a:off x="3218040" y="1830240"/>
            <a:ext cx="647640" cy="57636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Line 17"/>
          <p:cNvSpPr/>
          <p:nvPr/>
        </p:nvSpPr>
        <p:spPr>
          <a:xfrm>
            <a:off x="4081320" y="2852640"/>
            <a:ext cx="0" cy="72072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Box 18"/>
          <p:cNvSpPr/>
          <p:nvPr/>
        </p:nvSpPr>
        <p:spPr>
          <a:xfrm>
            <a:off x="2482200" y="3016080"/>
            <a:ext cx="967680" cy="3711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4</a:t>
            </a:r>
            <a:r>
              <a:rPr b="1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Line 19"/>
          <p:cNvSpPr/>
          <p:nvPr/>
        </p:nvSpPr>
        <p:spPr>
          <a:xfrm>
            <a:off x="2786040" y="2781360"/>
            <a:ext cx="0" cy="2160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Line 20"/>
          <p:cNvSpPr/>
          <p:nvPr/>
        </p:nvSpPr>
        <p:spPr>
          <a:xfrm flipH="1">
            <a:off x="2786040" y="3573360"/>
            <a:ext cx="129528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Line 21"/>
          <p:cNvSpPr/>
          <p:nvPr/>
        </p:nvSpPr>
        <p:spPr>
          <a:xfrm>
            <a:off x="2786040" y="3357720"/>
            <a:ext cx="0" cy="215640"/>
          </a:xfrm>
          <a:prstGeom prst="line">
            <a:avLst/>
          </a:prstGeom>
          <a:ln w="9360">
            <a:solidFill>
              <a:srgbClr val="ffffff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Line 22"/>
          <p:cNvSpPr/>
          <p:nvPr/>
        </p:nvSpPr>
        <p:spPr>
          <a:xfrm>
            <a:off x="3360600" y="3573360"/>
            <a:ext cx="0" cy="10080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Box 23"/>
          <p:cNvSpPr/>
          <p:nvPr/>
        </p:nvSpPr>
        <p:spPr>
          <a:xfrm>
            <a:off x="5010840" y="3814920"/>
            <a:ext cx="265752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Phosphorylation de l’ADP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Line 24"/>
          <p:cNvSpPr/>
          <p:nvPr/>
        </p:nvSpPr>
        <p:spPr>
          <a:xfrm>
            <a:off x="6227640" y="2478240"/>
            <a:ext cx="0" cy="129672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Line 25"/>
          <p:cNvSpPr/>
          <p:nvPr/>
        </p:nvSpPr>
        <p:spPr>
          <a:xfrm>
            <a:off x="1849320" y="2766960"/>
            <a:ext cx="0" cy="10080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Box 26"/>
          <p:cNvSpPr/>
          <p:nvPr/>
        </p:nvSpPr>
        <p:spPr>
          <a:xfrm>
            <a:off x="332280" y="3817800"/>
            <a:ext cx="26816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Activation cycle des purines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Box 27"/>
          <p:cNvSpPr/>
          <p:nvPr/>
        </p:nvSpPr>
        <p:spPr>
          <a:xfrm>
            <a:off x="1568520" y="4589640"/>
            <a:ext cx="3512880" cy="5814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Libération de Ca</a:t>
            </a:r>
            <a:r>
              <a:rPr b="0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2+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Sensibilité de la troponine aux Ca</a:t>
            </a:r>
            <a:r>
              <a:rPr b="0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2+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Line 28"/>
          <p:cNvSpPr/>
          <p:nvPr/>
        </p:nvSpPr>
        <p:spPr>
          <a:xfrm>
            <a:off x="6227640" y="4206960"/>
            <a:ext cx="0" cy="12380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Box 29"/>
          <p:cNvSpPr/>
          <p:nvPr/>
        </p:nvSpPr>
        <p:spPr>
          <a:xfrm>
            <a:off x="1559160" y="5546880"/>
            <a:ext cx="329976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formation ponts acto-myosine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Line 30"/>
          <p:cNvSpPr/>
          <p:nvPr/>
        </p:nvSpPr>
        <p:spPr>
          <a:xfrm>
            <a:off x="3360600" y="5230800"/>
            <a:ext cx="0" cy="287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Box 31"/>
          <p:cNvSpPr/>
          <p:nvPr/>
        </p:nvSpPr>
        <p:spPr>
          <a:xfrm>
            <a:off x="5300640" y="5546880"/>
            <a:ext cx="20714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Fatigue musculaire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Line 32"/>
          <p:cNvSpPr/>
          <p:nvPr/>
        </p:nvSpPr>
        <p:spPr>
          <a:xfrm>
            <a:off x="4859280" y="5734080"/>
            <a:ext cx="360360" cy="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Box 33"/>
          <p:cNvSpPr/>
          <p:nvPr/>
        </p:nvSpPr>
        <p:spPr>
          <a:xfrm>
            <a:off x="3135240" y="6323040"/>
            <a:ext cx="25556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Performance musculaire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Line 34"/>
          <p:cNvSpPr/>
          <p:nvPr/>
        </p:nvSpPr>
        <p:spPr>
          <a:xfrm>
            <a:off x="3360600" y="5878440"/>
            <a:ext cx="563760" cy="4320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Line 35"/>
          <p:cNvSpPr/>
          <p:nvPr/>
        </p:nvSpPr>
        <p:spPr>
          <a:xfrm flipH="1">
            <a:off x="5076360" y="5878440"/>
            <a:ext cx="660600" cy="4320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Box 36"/>
          <p:cNvSpPr/>
          <p:nvPr/>
        </p:nvSpPr>
        <p:spPr>
          <a:xfrm>
            <a:off x="339480" y="39600"/>
            <a:ext cx="8568000" cy="7038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Facteurs métaboliques limitant la performance d’un exercice musculaire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court ( 3 à 6s) et supramaximal. </a:t>
            </a: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D’après Bongbele Science &amp; sport 1990 modifié Yquel 2002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Line 37"/>
          <p:cNvSpPr/>
          <p:nvPr/>
        </p:nvSpPr>
        <p:spPr>
          <a:xfrm>
            <a:off x="3203640" y="1773360"/>
            <a:ext cx="647640" cy="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Line 38"/>
          <p:cNvSpPr/>
          <p:nvPr/>
        </p:nvSpPr>
        <p:spPr>
          <a:xfrm>
            <a:off x="3059280" y="4005360"/>
            <a:ext cx="115236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Line 39"/>
          <p:cNvSpPr/>
          <p:nvPr/>
        </p:nvSpPr>
        <p:spPr>
          <a:xfrm flipV="1">
            <a:off x="4211640" y="2781360"/>
            <a:ext cx="0" cy="12240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Box 40"/>
          <p:cNvSpPr/>
          <p:nvPr/>
        </p:nvSpPr>
        <p:spPr>
          <a:xfrm>
            <a:off x="6015960" y="6541920"/>
            <a:ext cx="264888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0" i="1" lang="fr-FR" sz="1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i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</a:t>
            </a:r>
            <a:r>
              <a:rPr b="0" i="1" lang="fr-FR" sz="1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4</a:t>
            </a:r>
            <a:r>
              <a:rPr b="0" i="1" lang="fr-FR" sz="1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 </a:t>
            </a:r>
            <a:r>
              <a:rPr b="0" i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 forme diprotonée du Pi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9" dur="indefinite" restart="never" nodeType="tmRoot">
          <p:childTnLst>
            <p:seq>
              <p:cTn id="550" dur="indefinite" nodeType="mainSeq">
                <p:childTnLst>
                  <p:par>
                    <p:cTn id="551" nodeType="clickEffect" fill="hold">
                      <p:stCondLst>
                        <p:cond delay="indefinite"/>
                      </p:stCondLst>
                      <p:childTnLst>
                        <p:par>
                          <p:cTn id="5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55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57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559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0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561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63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565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567"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8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569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71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2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573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575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nodeType="clickEffect" fill="hold">
                      <p:stCondLst>
                        <p:cond delay="indefinite"/>
                      </p:stCondLst>
                      <p:childTnLst>
                        <p:par>
                          <p:cTn id="5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80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82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584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nodeType="clickEffect" fill="hold">
                      <p:stCondLst>
                        <p:cond delay="indefinite"/>
                      </p:stCondLst>
                      <p:childTnLst>
                        <p:par>
                          <p:cTn id="5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7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89"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0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591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93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595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97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599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601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2" nodeType="clickEffect" fill="hold">
                      <p:stCondLst>
                        <p:cond delay="indefinite"/>
                      </p:stCondLst>
                      <p:childTnLst>
                        <p:par>
                          <p:cTn id="6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06"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608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610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1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612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1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5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616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618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nodeType="clickEffect" fill="hold">
                      <p:stCondLst>
                        <p:cond delay="indefinite"/>
                      </p:stCondLst>
                      <p:childTnLst>
                        <p:par>
                          <p:cTn id="6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23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4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625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27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nodeType="clickEffect" fill="hold">
                      <p:stCondLst>
                        <p:cond delay="indefinite"/>
                      </p:stCondLst>
                      <p:childTnLst>
                        <p:par>
                          <p:cTn id="6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0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32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634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636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638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40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1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642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44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5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646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648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650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5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nodeType="clickEffect" fill="hold">
                      <p:stCondLst>
                        <p:cond delay="indefinite"/>
                      </p:stCondLst>
                      <p:childTnLst>
                        <p:par>
                          <p:cTn id="6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5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57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659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661"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nodeType="clickEffect" fill="hold">
                      <p:stCondLst>
                        <p:cond delay="indefinite"/>
                      </p:stCondLst>
                      <p:childTnLst>
                        <p:par>
                          <p:cTn id="6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66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668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670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1" nodeType="clickEffect" fill="hold">
                      <p:stCondLst>
                        <p:cond delay="indefinite"/>
                      </p:stCondLst>
                      <p:childTnLst>
                        <p:par>
                          <p:cTn id="6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75"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6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677" nodeType="afterEffect" fill="hold" presetClass="entr" presetID="8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out)" transition="in">
                                      <p:cBhvr additive="repl">
                                        <p:cTn id="679"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68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83"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4" nodeType="clickEffect" fill="hold">
                      <p:stCondLst>
                        <p:cond delay="indefinite"/>
                      </p:stCondLst>
                      <p:childTnLst>
                        <p:par>
                          <p:cTn id="6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86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88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9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91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2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693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695" dur="2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Box 2"/>
          <p:cNvSpPr/>
          <p:nvPr/>
        </p:nvSpPr>
        <p:spPr>
          <a:xfrm>
            <a:off x="2702160" y="942840"/>
            <a:ext cx="29408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Exercice supramaximal unique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Line 3"/>
          <p:cNvSpPr/>
          <p:nvPr/>
        </p:nvSpPr>
        <p:spPr>
          <a:xfrm flipH="1">
            <a:off x="2280960" y="1125360"/>
            <a:ext cx="36036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Line 4"/>
          <p:cNvSpPr/>
          <p:nvPr/>
        </p:nvSpPr>
        <p:spPr>
          <a:xfrm flipH="1">
            <a:off x="2268360" y="1125360"/>
            <a:ext cx="12960" cy="4320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Box 5"/>
          <p:cNvSpPr/>
          <p:nvPr/>
        </p:nvSpPr>
        <p:spPr>
          <a:xfrm>
            <a:off x="1265760" y="1577880"/>
            <a:ext cx="19040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Hydrolyse de l’ATP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Box 6"/>
          <p:cNvSpPr/>
          <p:nvPr/>
        </p:nvSpPr>
        <p:spPr>
          <a:xfrm>
            <a:off x="5685480" y="2087640"/>
            <a:ext cx="19022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Réserves de PCr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Box 7"/>
          <p:cNvSpPr/>
          <p:nvPr/>
        </p:nvSpPr>
        <p:spPr>
          <a:xfrm>
            <a:off x="3874680" y="1585800"/>
            <a:ext cx="17690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Hydrolyse de PCr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Line 8"/>
          <p:cNvSpPr/>
          <p:nvPr/>
        </p:nvSpPr>
        <p:spPr>
          <a:xfrm>
            <a:off x="5651640" y="1773360"/>
            <a:ext cx="361800" cy="287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Line 9"/>
          <p:cNvSpPr/>
          <p:nvPr/>
        </p:nvSpPr>
        <p:spPr>
          <a:xfrm>
            <a:off x="1849320" y="1973160"/>
            <a:ext cx="0" cy="4334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Box 10"/>
          <p:cNvSpPr/>
          <p:nvPr/>
        </p:nvSpPr>
        <p:spPr>
          <a:xfrm>
            <a:off x="1498680" y="2425680"/>
            <a:ext cx="77580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ADP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Line 11"/>
          <p:cNvSpPr/>
          <p:nvPr/>
        </p:nvSpPr>
        <p:spPr>
          <a:xfrm>
            <a:off x="2786040" y="1974960"/>
            <a:ext cx="0" cy="4334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Box 12"/>
          <p:cNvSpPr/>
          <p:nvPr/>
        </p:nvSpPr>
        <p:spPr>
          <a:xfrm>
            <a:off x="2425680" y="2452680"/>
            <a:ext cx="79236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Line 13"/>
          <p:cNvSpPr/>
          <p:nvPr/>
        </p:nvSpPr>
        <p:spPr>
          <a:xfrm flipH="1">
            <a:off x="2857680" y="1844640"/>
            <a:ext cx="993600" cy="56196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Box 14"/>
          <p:cNvSpPr/>
          <p:nvPr/>
        </p:nvSpPr>
        <p:spPr>
          <a:xfrm>
            <a:off x="3835800" y="2451240"/>
            <a:ext cx="5738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</a:t>
            </a:r>
            <a:r>
              <a:rPr b="1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Line 15"/>
          <p:cNvSpPr/>
          <p:nvPr/>
        </p:nvSpPr>
        <p:spPr>
          <a:xfrm>
            <a:off x="4081320" y="1973160"/>
            <a:ext cx="0" cy="5050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Line 16"/>
          <p:cNvSpPr/>
          <p:nvPr/>
        </p:nvSpPr>
        <p:spPr>
          <a:xfrm>
            <a:off x="3218040" y="1830240"/>
            <a:ext cx="647640" cy="57636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Line 17"/>
          <p:cNvSpPr/>
          <p:nvPr/>
        </p:nvSpPr>
        <p:spPr>
          <a:xfrm>
            <a:off x="4081320" y="2852640"/>
            <a:ext cx="0" cy="72072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Box 18"/>
          <p:cNvSpPr/>
          <p:nvPr/>
        </p:nvSpPr>
        <p:spPr>
          <a:xfrm>
            <a:off x="2482200" y="3016080"/>
            <a:ext cx="967680" cy="3711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4</a:t>
            </a:r>
            <a:r>
              <a:rPr b="1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Line 19"/>
          <p:cNvSpPr/>
          <p:nvPr/>
        </p:nvSpPr>
        <p:spPr>
          <a:xfrm>
            <a:off x="2786040" y="2781360"/>
            <a:ext cx="0" cy="2160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Line 20"/>
          <p:cNvSpPr/>
          <p:nvPr/>
        </p:nvSpPr>
        <p:spPr>
          <a:xfrm flipH="1">
            <a:off x="2786040" y="3573360"/>
            <a:ext cx="129528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Line 21"/>
          <p:cNvSpPr/>
          <p:nvPr/>
        </p:nvSpPr>
        <p:spPr>
          <a:xfrm>
            <a:off x="2786040" y="3357720"/>
            <a:ext cx="0" cy="215640"/>
          </a:xfrm>
          <a:prstGeom prst="line">
            <a:avLst/>
          </a:prstGeom>
          <a:ln w="28440">
            <a:solidFill>
              <a:srgbClr val="ffffff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Line 22"/>
          <p:cNvSpPr/>
          <p:nvPr/>
        </p:nvSpPr>
        <p:spPr>
          <a:xfrm>
            <a:off x="3492360" y="3645000"/>
            <a:ext cx="792360" cy="936360"/>
          </a:xfrm>
          <a:prstGeom prst="line">
            <a:avLst/>
          </a:prstGeom>
          <a:ln w="1908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Box 23"/>
          <p:cNvSpPr/>
          <p:nvPr/>
        </p:nvSpPr>
        <p:spPr>
          <a:xfrm>
            <a:off x="5333040" y="3814920"/>
            <a:ext cx="25448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Phosporylation de l’ADP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Line 24"/>
          <p:cNvSpPr/>
          <p:nvPr/>
        </p:nvSpPr>
        <p:spPr>
          <a:xfrm>
            <a:off x="6588000" y="2478240"/>
            <a:ext cx="0" cy="129672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Line 25"/>
          <p:cNvSpPr/>
          <p:nvPr/>
        </p:nvSpPr>
        <p:spPr>
          <a:xfrm>
            <a:off x="1849320" y="2766960"/>
            <a:ext cx="0" cy="10080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Box 26"/>
          <p:cNvSpPr/>
          <p:nvPr/>
        </p:nvSpPr>
        <p:spPr>
          <a:xfrm>
            <a:off x="10080" y="3817800"/>
            <a:ext cx="26816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Activation cycle des purines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Line 27"/>
          <p:cNvSpPr/>
          <p:nvPr/>
        </p:nvSpPr>
        <p:spPr>
          <a:xfrm>
            <a:off x="2700360" y="4005360"/>
            <a:ext cx="2592360" cy="0"/>
          </a:xfrm>
          <a:prstGeom prst="line">
            <a:avLst/>
          </a:prstGeom>
          <a:ln w="28440">
            <a:solidFill>
              <a:srgbClr val="ffffff"/>
            </a:solidFill>
            <a:prstDash val="sysDot"/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Box 28"/>
          <p:cNvSpPr/>
          <p:nvPr/>
        </p:nvSpPr>
        <p:spPr>
          <a:xfrm>
            <a:off x="2982960" y="4589640"/>
            <a:ext cx="3512880" cy="5814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Libération de Ca</a:t>
            </a:r>
            <a:r>
              <a:rPr b="0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2+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Sensibilité de la troponine aux Ca</a:t>
            </a:r>
            <a:r>
              <a:rPr b="0" lang="fr-FR" sz="16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2+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Line 29"/>
          <p:cNvSpPr/>
          <p:nvPr/>
        </p:nvSpPr>
        <p:spPr>
          <a:xfrm>
            <a:off x="6588000" y="4206960"/>
            <a:ext cx="0" cy="12380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Box 30"/>
          <p:cNvSpPr/>
          <p:nvPr/>
        </p:nvSpPr>
        <p:spPr>
          <a:xfrm>
            <a:off x="2135520" y="5546880"/>
            <a:ext cx="329976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formation ponts acto-myosine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Line 31"/>
          <p:cNvSpPr/>
          <p:nvPr/>
        </p:nvSpPr>
        <p:spPr>
          <a:xfrm>
            <a:off x="3360600" y="5230800"/>
            <a:ext cx="0" cy="287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Box 32"/>
          <p:cNvSpPr/>
          <p:nvPr/>
        </p:nvSpPr>
        <p:spPr>
          <a:xfrm>
            <a:off x="5805360" y="5546880"/>
            <a:ext cx="20714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Fatigue musculaire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Line 33"/>
          <p:cNvSpPr/>
          <p:nvPr/>
        </p:nvSpPr>
        <p:spPr>
          <a:xfrm>
            <a:off x="5435640" y="5734080"/>
            <a:ext cx="360360" cy="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Box 34"/>
          <p:cNvSpPr/>
          <p:nvPr/>
        </p:nvSpPr>
        <p:spPr>
          <a:xfrm>
            <a:off x="2349720" y="6323040"/>
            <a:ext cx="255564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Performance musculaire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Line 35"/>
          <p:cNvSpPr/>
          <p:nvPr/>
        </p:nvSpPr>
        <p:spPr>
          <a:xfrm flipH="1">
            <a:off x="3347640" y="5878440"/>
            <a:ext cx="12600" cy="35892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Line 36"/>
          <p:cNvSpPr/>
          <p:nvPr/>
        </p:nvSpPr>
        <p:spPr>
          <a:xfrm flipH="1">
            <a:off x="4858920" y="5878440"/>
            <a:ext cx="878040" cy="35892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Box 37"/>
          <p:cNvSpPr/>
          <p:nvPr/>
        </p:nvSpPr>
        <p:spPr>
          <a:xfrm>
            <a:off x="453240" y="39600"/>
            <a:ext cx="8342640" cy="7038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Facteurs métaboliques limitant la performance d’un exercice musculaire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court </a:t>
            </a: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(30s à 2min)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et supramaximal. </a:t>
            </a: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D’après Bongbele Science &amp; sport 1990 modifié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Line 38"/>
          <p:cNvSpPr/>
          <p:nvPr/>
        </p:nvSpPr>
        <p:spPr>
          <a:xfrm>
            <a:off x="3203640" y="1773360"/>
            <a:ext cx="647640" cy="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Line 39"/>
          <p:cNvSpPr/>
          <p:nvPr/>
        </p:nvSpPr>
        <p:spPr>
          <a:xfrm>
            <a:off x="2771640" y="3860640"/>
            <a:ext cx="1440000" cy="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Line 40"/>
          <p:cNvSpPr/>
          <p:nvPr/>
        </p:nvSpPr>
        <p:spPr>
          <a:xfrm flipV="1">
            <a:off x="4211640" y="2781360"/>
            <a:ext cx="0" cy="1079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Box 41"/>
          <p:cNvSpPr/>
          <p:nvPr/>
        </p:nvSpPr>
        <p:spPr>
          <a:xfrm>
            <a:off x="6015960" y="6541920"/>
            <a:ext cx="264888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0" i="1" lang="fr-FR" sz="1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i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</a:t>
            </a:r>
            <a:r>
              <a:rPr b="0" i="1" lang="fr-FR" sz="1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4</a:t>
            </a:r>
            <a:r>
              <a:rPr b="0" i="1" lang="fr-FR" sz="14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 </a:t>
            </a:r>
            <a:r>
              <a:rPr b="0" i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 forme diprotonée du Pi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Box 42"/>
          <p:cNvSpPr/>
          <p:nvPr/>
        </p:nvSpPr>
        <p:spPr>
          <a:xfrm>
            <a:off x="6428880" y="1557360"/>
            <a:ext cx="138312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Glycolyse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Line 43"/>
          <p:cNvSpPr/>
          <p:nvPr/>
        </p:nvSpPr>
        <p:spPr>
          <a:xfrm flipH="1">
            <a:off x="4427640" y="1773360"/>
            <a:ext cx="1944720" cy="64764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Line 44"/>
          <p:cNvSpPr/>
          <p:nvPr/>
        </p:nvSpPr>
        <p:spPr>
          <a:xfrm flipH="1">
            <a:off x="2413080" y="3645000"/>
            <a:ext cx="790560" cy="86364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Box 45"/>
          <p:cNvSpPr/>
          <p:nvPr/>
        </p:nvSpPr>
        <p:spPr>
          <a:xfrm>
            <a:off x="252360" y="4581360"/>
            <a:ext cx="2511360" cy="5814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Inhibition ou 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l’activité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la G.P et de la PFK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Line 46"/>
          <p:cNvSpPr/>
          <p:nvPr/>
        </p:nvSpPr>
        <p:spPr>
          <a:xfrm>
            <a:off x="1116000" y="5157720"/>
            <a:ext cx="0" cy="3589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Box 47"/>
          <p:cNvSpPr/>
          <p:nvPr/>
        </p:nvSpPr>
        <p:spPr>
          <a:xfrm>
            <a:off x="23400" y="5557680"/>
            <a:ext cx="191376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production d’ATP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Line 48"/>
          <p:cNvSpPr/>
          <p:nvPr/>
        </p:nvSpPr>
        <p:spPr>
          <a:xfrm>
            <a:off x="1116000" y="5950080"/>
            <a:ext cx="1295280" cy="28728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6" dur="indefinite" restart="never" nodeType="tmRoot">
          <p:childTnLst>
            <p:seq>
              <p:cTn id="697" dur="indefinite" nodeType="mainSeq">
                <p:childTnLst>
                  <p:par>
                    <p:cTn id="698" nodeType="clickEffect" fill="hold">
                      <p:stCondLst>
                        <p:cond delay="indefinite"/>
                      </p:stCondLst>
                      <p:childTnLst>
                        <p:par>
                          <p:cTn id="6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0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702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704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06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7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708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10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1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712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714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5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716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18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9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720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22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3" nodeType="clickEffect" fill="hold">
                      <p:stCondLst>
                        <p:cond delay="indefinite"/>
                      </p:stCondLst>
                      <p:childTnLst>
                        <p:par>
                          <p:cTn id="7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5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27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29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731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2" nodeType="clickEffect" fill="hold">
                      <p:stCondLst>
                        <p:cond delay="indefinite"/>
                      </p:stCondLst>
                      <p:childTnLst>
                        <p:par>
                          <p:cTn id="7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36"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738" nodeType="after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740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1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742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44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Picture 2" descr=""/>
          <p:cNvPicPr/>
          <p:nvPr/>
        </p:nvPicPr>
        <p:blipFill>
          <a:blip r:embed="rId1"/>
          <a:srcRect l="0" t="22630" r="0" b="6845"/>
          <a:stretch/>
        </p:blipFill>
        <p:spPr>
          <a:xfrm>
            <a:off x="587520" y="176040"/>
            <a:ext cx="8361360" cy="65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Box 3"/>
          <p:cNvSpPr/>
          <p:nvPr/>
        </p:nvSpPr>
        <p:spPr>
          <a:xfrm>
            <a:off x="1531800" y="5129280"/>
            <a:ext cx="27716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Vitesse de raccourcissement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Box 4"/>
          <p:cNvSpPr/>
          <p:nvPr/>
        </p:nvSpPr>
        <p:spPr>
          <a:xfrm>
            <a:off x="5366520" y="5157720"/>
            <a:ext cx="20062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Puissance tétanique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Line 5"/>
          <p:cNvSpPr/>
          <p:nvPr/>
        </p:nvSpPr>
        <p:spPr>
          <a:xfrm flipH="1" flipV="1">
            <a:off x="5364000" y="4868640"/>
            <a:ext cx="144720" cy="360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Box 6"/>
          <p:cNvSpPr/>
          <p:nvPr/>
        </p:nvSpPr>
        <p:spPr>
          <a:xfrm>
            <a:off x="7908480" y="1989000"/>
            <a:ext cx="967680" cy="37116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H</a:t>
            </a:r>
            <a:r>
              <a:rPr b="1" lang="fr-FR" sz="16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</a:t>
            </a:r>
            <a:r>
              <a:rPr b="1" lang="fr-FR" sz="16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1" lang="fr-FR" sz="16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Line 7"/>
          <p:cNvSpPr/>
          <p:nvPr/>
        </p:nvSpPr>
        <p:spPr>
          <a:xfrm flipH="1">
            <a:off x="4571640" y="2205000"/>
            <a:ext cx="3313080" cy="647640"/>
          </a:xfrm>
          <a:prstGeom prst="line">
            <a:avLst/>
          </a:prstGeom>
          <a:ln w="572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Oval 8"/>
          <p:cNvSpPr/>
          <p:nvPr/>
        </p:nvSpPr>
        <p:spPr>
          <a:xfrm>
            <a:off x="3780000" y="2781360"/>
            <a:ext cx="1079280" cy="57636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45" dur="indefinite" restart="never" nodeType="tmRoot">
          <p:childTnLst>
            <p:seq>
              <p:cTn id="746" dur="indefinite" nodeType="mainSeq">
                <p:childTnLst>
                  <p:par>
                    <p:cTn id="747" nodeType="clickEffect" fill="hold">
                      <p:stCondLst>
                        <p:cond delay="indefinite"/>
                      </p:stCondLst>
                      <p:childTnLst>
                        <p:par>
                          <p:cTn id="7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49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51" dur="10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2" dur="10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53"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4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755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757"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8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759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61"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 Box 4"/>
          <p:cNvSpPr/>
          <p:nvPr/>
        </p:nvSpPr>
        <p:spPr>
          <a:xfrm>
            <a:off x="-71280" y="826920"/>
            <a:ext cx="9616680" cy="29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4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Deuxième partie: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8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Fatigue centrale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 2"/>
          <p:cNvSpPr/>
          <p:nvPr/>
        </p:nvSpPr>
        <p:spPr>
          <a:xfrm>
            <a:off x="1758960" y="4121280"/>
            <a:ext cx="5168880" cy="749160"/>
          </a:xfrm>
          <a:prstGeom prst="rect">
            <a:avLst/>
          </a:prstGeom>
          <a:solidFill>
            <a:srgbClr val="bbe0e3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3"/>
          <p:cNvSpPr/>
          <p:nvPr/>
        </p:nvSpPr>
        <p:spPr>
          <a:xfrm>
            <a:off x="685800" y="1219320"/>
            <a:ext cx="777240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4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Fatigue centrale =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ectangle 4"/>
          <p:cNvSpPr/>
          <p:nvPr/>
        </p:nvSpPr>
        <p:spPr>
          <a:xfrm>
            <a:off x="-125280" y="2759040"/>
            <a:ext cx="8763120" cy="19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déclin de la force induit par une réduction </a:t>
            </a:r>
            <a:br>
              <a:rPr sz="2800"/>
            </a:b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de l’activité motrice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</a:t>
            </a: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le SNC est un facteur de fatigue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Rectangle 2"/>
          <p:cNvSpPr/>
          <p:nvPr/>
        </p:nvSpPr>
        <p:spPr>
          <a:xfrm>
            <a:off x="762120" y="476280"/>
            <a:ext cx="77724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4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 concept de la fatigue centrale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Rectangle 3"/>
          <p:cNvSpPr/>
          <p:nvPr/>
        </p:nvSpPr>
        <p:spPr>
          <a:xfrm>
            <a:off x="755640" y="2050920"/>
            <a:ext cx="80010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Mosso 1915, Reid 1928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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force et endurance en réponse à une stimulation psychologique inusuelle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Ikai et al 1967</a:t>
            </a:r>
            <a:br>
              <a:rPr sz="3200"/>
            </a:b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élever la voix peut augmenter la force  de contraction   maximale</a:t>
            </a: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Bigland-Ritchie et al. 1978</a:t>
            </a:r>
            <a:br>
              <a:rPr sz="3200"/>
            </a:b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un effort de concentration peut surmonter la perte de force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 Box 4"/>
          <p:cNvSpPr/>
          <p:nvPr/>
        </p:nvSpPr>
        <p:spPr>
          <a:xfrm>
            <a:off x="2157840" y="482760"/>
            <a:ext cx="481104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66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Définition</a:t>
            </a:r>
            <a:endParaRPr b="0" lang="en-U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Box 5"/>
          <p:cNvSpPr/>
          <p:nvPr/>
        </p:nvSpPr>
        <p:spPr>
          <a:xfrm>
            <a:off x="808200" y="2370240"/>
            <a:ext cx="8227800" cy="45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 fatigue centrale est définie « comme une défaillance de la conduite nerveuse centrale liée à l’apparition de différents médiateurs neuro-chimiques »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Bigland-Richie et Woods 1984; …Guézennec 2000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Picture 2" descr=""/>
          <p:cNvPicPr/>
          <p:nvPr/>
        </p:nvPicPr>
        <p:blipFill>
          <a:blip r:embed="rId1">
            <a:lum contrast="36000"/>
          </a:blip>
          <a:stretch/>
        </p:blipFill>
        <p:spPr>
          <a:xfrm>
            <a:off x="0" y="231840"/>
            <a:ext cx="9144000" cy="615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2"/>
          <p:cNvSpPr/>
          <p:nvPr/>
        </p:nvSpPr>
        <p:spPr>
          <a:xfrm>
            <a:off x="685800" y="404640"/>
            <a:ext cx="77724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Médiateurs neuro-chimiques</a:t>
            </a: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 : 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2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Les </a:t>
            </a:r>
            <a:r>
              <a:rPr b="1" i="1" lang="fr-FR" sz="32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monoamines cérébrales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3"/>
          <p:cNvSpPr/>
          <p:nvPr/>
        </p:nvSpPr>
        <p:spPr>
          <a:xfrm>
            <a:off x="1905120" y="2133720"/>
            <a:ext cx="609588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la noradrénaline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la dopamine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la 5-hydroxytryptamine (5HT) </a:t>
            </a:r>
            <a:br>
              <a:rPr sz="3200"/>
            </a:b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ou sérotonine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l’acide</a:t>
            </a: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</a:t>
            </a: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-aminobutyric (GABA)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le glutamate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angle 5"/>
          <p:cNvSpPr/>
          <p:nvPr/>
        </p:nvSpPr>
        <p:spPr>
          <a:xfrm>
            <a:off x="503280" y="760320"/>
            <a:ext cx="8642160" cy="64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44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    1. Hypothèse noradrénergique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Présente dans de nombreuses régions cérébrales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 noradrénaline (NA) est un neurotransmetteur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synthétisé par les neurones à partir de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l’acide aminé phénylalanine.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Après exercice résultats très divergents :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" name=""/>
          <p:cNvGraphicFramePr/>
          <p:nvPr/>
        </p:nvGraphicFramePr>
        <p:xfrm>
          <a:off x="179280" y="471600"/>
          <a:ext cx="8785440" cy="6035400"/>
        </p:xfrm>
        <a:graphic>
          <a:graphicData uri="http://schemas.openxmlformats.org/drawingml/2006/table">
            <a:tbl>
              <a:tblPr/>
              <a:tblGrid>
                <a:gridCol w="8785440"/>
              </a:tblGrid>
              <a:tr h="36612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 d’exercice       Région du cerveau    Résultats         Références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505332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Nage épuisante          Ensemble                     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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Barchas et Freedman 1963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Course                        Ensemble                     </a:t>
                      </a: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</a:t>
                      </a: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           Brown et al. 1979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Course                        </a:t>
                      </a: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Ensemble                     </a:t>
                      </a: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</a:t>
                      </a: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           Acworth et al. 1986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Nage épuisante          Ensemble                     </a:t>
                      </a: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</a:t>
                      </a: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            Östman et Nybäck 1976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Nage épuisante          Ensemble                     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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 Cicardo et al. 1986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Course                        Hypothalamus              ns          Blomstrand et al. 1989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Course                        Hypothalamus               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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Stone 1973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Course                        Hypothalamus               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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Heyes et al. 1988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Course                        Hypothalamus               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</a:t>
                      </a: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           Lukaszyk et al. 1983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40440">
                <a:tc>
                  <a:txBody>
                    <a:bodyPr lIns="90000" rIns="90000" anchor="t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Concentration de noradrénaline dans différentes régions cérébrales chez le rat soumis à des exercices d’intensité élevée (Poortmans et Boisseau 2004)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62" dur="indefinite" restart="never" nodeType="tmRoot">
          <p:childTnLst>
            <p:seq>
              <p:cTn id="763" dur="indefinite" nodeType="mainSeq">
                <p:childTnLst>
                  <p:par>
                    <p:cTn id="764" nodeType="clickEffect" fill="hold">
                      <p:stCondLst>
                        <p:cond delay="indefinite"/>
                      </p:stCondLst>
                      <p:childTnLst>
                        <p:par>
                          <p:cTn id="7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6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68" dur="5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 Box 4"/>
          <p:cNvSpPr/>
          <p:nvPr/>
        </p:nvSpPr>
        <p:spPr>
          <a:xfrm>
            <a:off x="1834560" y="189000"/>
            <a:ext cx="650376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4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Hypothèse dopaminergique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Box 5"/>
          <p:cNvSpPr/>
          <p:nvPr/>
        </p:nvSpPr>
        <p:spPr>
          <a:xfrm>
            <a:off x="297720" y="1268280"/>
            <a:ext cx="8821800" cy="546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dopamine est un neurotransmetteur provenant de la transformation de la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phénylalanine en noradrénaline.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Les [dopamines] augmentent lors d’exercices aigus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Les neurones à dopamine participent à la transmission de l’influx nerveux conduisant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aux actes moteurs.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L’importance des neurones dopaminergiques à l’exercice peut être évaluée par des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manipulations pharmacologiques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 avec un agoniste dopaminergique (amphétamines)  augmente la capacité de travail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retarde le seuil de la fatigue.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 avec un antagoniste ( la 5-hydroxydopamine) réduit le temps de course chez le rat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69" dur="indefinite" restart="never" nodeType="tmRoot">
          <p:childTnLst>
            <p:seq>
              <p:cTn id="770" dur="indefinite" nodeType="mainSeq">
                <p:childTnLst>
                  <p:par>
                    <p:cTn id="771" nodeType="clickEffect" fill="hold">
                      <p:stCondLst>
                        <p:cond delay="indefinite"/>
                      </p:stCondLst>
                      <p:childTnLst>
                        <p:par>
                          <p:cTn id="7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75" dur="2000"/>
                                        <p:tgtEl>
                                          <p:spTgt spid="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78" dur="2000"/>
                                        <p:tgtEl>
                                          <p:spTgt spid="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9" nodeType="clickEffect" fill="hold">
                      <p:stCondLst>
                        <p:cond delay="indefinite"/>
                      </p:stCondLst>
                      <p:childTnLst>
                        <p:par>
                          <p:cTn id="7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8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83" dur="1000"/>
                                        <p:tgtEl>
                                          <p:spTgt spid="4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4" nodeType="clickEffect" fill="hold">
                      <p:stCondLst>
                        <p:cond delay="indefinite"/>
                      </p:stCondLst>
                      <p:childTnLst>
                        <p:par>
                          <p:cTn id="7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86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88" dur="1000"/>
                                        <p:tgtEl>
                                          <p:spTgt spid="4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9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91" dur="1000"/>
                                        <p:tgtEl>
                                          <p:spTgt spid="4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2" nodeType="clickEffect" fill="hold">
                      <p:stCondLst>
                        <p:cond delay="indefinite"/>
                      </p:stCondLst>
                      <p:childTnLst>
                        <p:par>
                          <p:cTn id="7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96" dur="2000"/>
                                        <p:tgtEl>
                                          <p:spTgt spid="4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7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99" dur="2000"/>
                                        <p:tgtEl>
                                          <p:spTgt spid="4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0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802" dur="2000"/>
                                        <p:tgtEl>
                                          <p:spTgt spid="4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805" dur="2000"/>
                                        <p:tgtEl>
                                          <p:spTgt spid="4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808" dur="2000"/>
                                        <p:tgtEl>
                                          <p:spTgt spid="40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2"/>
          <p:cNvSpPr/>
          <p:nvPr/>
        </p:nvSpPr>
        <p:spPr>
          <a:xfrm>
            <a:off x="685800" y="333360"/>
            <a:ext cx="77724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Effets de l’exercice sur la  dopamine (rat)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3"/>
          <p:cNvSpPr/>
          <p:nvPr/>
        </p:nvSpPr>
        <p:spPr>
          <a:xfrm>
            <a:off x="1371600" y="1989000"/>
            <a:ext cx="6934320" cy="34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Auteurs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Exercice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région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Résultats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Freed 1985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course 20 min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triatum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Speciale 1986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roue 1h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striatum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Acworth 1986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course 90 min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ensemble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Chaouloff 1986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course 1h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cerveau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Heyes 1988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course 16 min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striatum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Blomstrand 1989course épuis.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hypothalamus 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Bailey 1992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course 1h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hippocampe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Bailey 1993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course épuis.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ensemble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Box 4"/>
          <p:cNvSpPr/>
          <p:nvPr/>
        </p:nvSpPr>
        <p:spPr>
          <a:xfrm>
            <a:off x="303480" y="5681520"/>
            <a:ext cx="89593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Tout laisse à penser que la dopamine intervient dans le mécanisme de la fatigue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centrale mais…quel est ce mécanisme ???... le modèle animal peut-il être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appliqué à l’humain ??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809" dur="indefinite" restart="never" nodeType="tmRoot">
          <p:childTnLst>
            <p:seq>
              <p:cTn id="810" dur="indefinite" nodeType="mainSeq">
                <p:childTnLst>
                  <p:par>
                    <p:cTn id="811" nodeType="clickEffect" fill="hold">
                      <p:stCondLst>
                        <p:cond delay="indefinite"/>
                      </p:stCondLst>
                      <p:childTnLst>
                        <p:par>
                          <p:cTn id="8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815"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 Box 4"/>
          <p:cNvSpPr/>
          <p:nvPr/>
        </p:nvSpPr>
        <p:spPr>
          <a:xfrm>
            <a:off x="250920" y="1916280"/>
            <a:ext cx="8353440" cy="1850040"/>
          </a:xfrm>
          <a:prstGeom prst="rect">
            <a:avLst/>
          </a:prstGeom>
          <a:noFill/>
          <a:ln w="25560">
            <a:solidFill>
              <a:srgbClr val="ffff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66"/>
                </a:solidFill>
                <a:effectLst/>
                <a:uFillTx/>
                <a:latin typeface="Bookman Old Style"/>
              </a:rPr>
              <a:t>L’hypothèse des acides aminés ramifiés (AAR) et du tryptophane (Trp)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6" dur="indefinite" restart="never" nodeType="tmRoot">
          <p:childTnLst>
            <p:seq>
              <p:cTn id="817" dur="indefinite" nodeType="mainSeq">
                <p:childTnLst>
                  <p:par>
                    <p:cTn id="818" nodeType="clickEffect" fill="hold">
                      <p:stCondLst>
                        <p:cond delay="0"/>
                      </p:stCondLst>
                      <p:childTnLst>
                        <p:par>
                          <p:cTn id="8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0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2" dur="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3" dur="5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609480" y="33300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Acides aminés plasmatiques (mmol.l</a:t>
            </a:r>
            <a:r>
              <a:rPr b="1" i="1" lang="fr-FR" sz="3600" strike="noStrike" u="none" baseline="30000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-1</a:t>
            </a: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7" name="Object 3"/>
          <p:cNvGraphicFramePr/>
          <p:nvPr/>
        </p:nvGraphicFramePr>
        <p:xfrm>
          <a:off x="1258920" y="1341360"/>
          <a:ext cx="7561080" cy="55166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408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258920" y="1341360"/>
                    <a:ext cx="7561080" cy="55166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09" name="Rectangle 4"/>
          <p:cNvSpPr/>
          <p:nvPr/>
        </p:nvSpPr>
        <p:spPr>
          <a:xfrm>
            <a:off x="4932360" y="3933720"/>
            <a:ext cx="3337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*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5"/>
          <p:cNvSpPr/>
          <p:nvPr/>
        </p:nvSpPr>
        <p:spPr>
          <a:xfrm>
            <a:off x="4572000" y="4292640"/>
            <a:ext cx="3337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*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6"/>
          <p:cNvSpPr/>
          <p:nvPr/>
        </p:nvSpPr>
        <p:spPr>
          <a:xfrm>
            <a:off x="5246640" y="3933720"/>
            <a:ext cx="3337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afd00"/>
                </a:solidFill>
                <a:effectLst/>
                <a:uFillTx/>
                <a:latin typeface="Times New Roman"/>
              </a:rPr>
              <a:t>*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ectangle 2"/>
          <p:cNvSpPr/>
          <p:nvPr/>
        </p:nvSpPr>
        <p:spPr>
          <a:xfrm>
            <a:off x="457200" y="1295280"/>
            <a:ext cx="77724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4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Microdialyse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3"/>
          <p:cNvSpPr/>
          <p:nvPr/>
        </p:nvSpPr>
        <p:spPr>
          <a:xfrm>
            <a:off x="1800360" y="3552840"/>
            <a:ext cx="522252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étude in vivo de la libération </a:t>
            </a:r>
            <a:br>
              <a:rPr sz="3200"/>
            </a:b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de neurotransmetteurs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Picture 2" descr=""/>
          <p:cNvPicPr/>
          <p:nvPr/>
        </p:nvPicPr>
        <p:blipFill>
          <a:blip r:embed="rId1">
            <a:lum contrast="42000"/>
          </a:blip>
          <a:stretch/>
        </p:blipFill>
        <p:spPr>
          <a:xfrm>
            <a:off x="914400" y="1190520"/>
            <a:ext cx="8229600" cy="483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Rectangle 2"/>
          <p:cNvSpPr/>
          <p:nvPr/>
        </p:nvSpPr>
        <p:spPr>
          <a:xfrm>
            <a:off x="826920" y="260280"/>
            <a:ext cx="77724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4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Microdialyse et 5HT (rats)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3"/>
          <p:cNvSpPr/>
          <p:nvPr/>
        </p:nvSpPr>
        <p:spPr>
          <a:xfrm>
            <a:off x="179280" y="1557360"/>
            <a:ext cx="8614080" cy="33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Auteurs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exercice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région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résultats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Kurosawa 1993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course 5 min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cortex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Wilson 1994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course 60 min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hippocampe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Gerin 1994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course 60 min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racine ventr.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ns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Meeusen 1995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course 20 min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striatum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 Box 2"/>
          <p:cNvSpPr/>
          <p:nvPr/>
        </p:nvSpPr>
        <p:spPr>
          <a:xfrm>
            <a:off x="228600" y="838080"/>
            <a:ext cx="861048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1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Trp est converti en un neurotransmetteur, la 5-Hydroxytryptamine (5-HT ou sérotonine).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Nous savons que la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sérotonine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 une hormone régulatrice du sommeil… mais pas seulement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Box 3"/>
          <p:cNvSpPr/>
          <p:nvPr/>
        </p:nvSpPr>
        <p:spPr>
          <a:xfrm>
            <a:off x="304920" y="2362320"/>
            <a:ext cx="861048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Dans des aires spécifiques du cerveau, la 5-HT exerce un rôle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d’induction du sommeil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d’inhibition des réflexes des motoneurones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post-synaptiques          ( baisse d’excitabilité ). Elle inhibe aussi certaines sécrétions endocrines dans l’hypothalamus.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Box 4"/>
          <p:cNvSpPr/>
          <p:nvPr/>
        </p:nvSpPr>
        <p:spPr>
          <a:xfrm>
            <a:off x="533520" y="3962520"/>
            <a:ext cx="861048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fatigue latente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( sensation de besoin de sommeil ) associée à une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hypo-réactivité tendineuse et musculaire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peut causer une incapacité du sportif à juger de son état réel de fatigue et des traumatismes effectifs au plan musculaire.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Line 5"/>
          <p:cNvSpPr/>
          <p:nvPr/>
        </p:nvSpPr>
        <p:spPr>
          <a:xfrm>
            <a:off x="2819520" y="3733920"/>
            <a:ext cx="335268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Box 6"/>
          <p:cNvSpPr/>
          <p:nvPr/>
        </p:nvSpPr>
        <p:spPr>
          <a:xfrm>
            <a:off x="533520" y="5392800"/>
            <a:ext cx="861048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Le sportif perd ainsi un certains nombre de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signaux d’alarme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qui doivent normalement limiter les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stress mécaniques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c’est-à-dire les contraintes imposées à la structure musculaire. La fatigue latente étant généralement confondue avec un simple besoin de sommeil, le sportif persiste et le surentraînement apparaît.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Line 7"/>
          <p:cNvSpPr/>
          <p:nvPr/>
        </p:nvSpPr>
        <p:spPr>
          <a:xfrm>
            <a:off x="2895480" y="5257800"/>
            <a:ext cx="335304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Box 8"/>
          <p:cNvSpPr/>
          <p:nvPr/>
        </p:nvSpPr>
        <p:spPr>
          <a:xfrm>
            <a:off x="228600" y="228600"/>
            <a:ext cx="8686800" cy="398880"/>
          </a:xfrm>
          <a:prstGeom prst="rect">
            <a:avLst/>
          </a:prstGeom>
          <a:noFill/>
          <a:ln w="25560">
            <a:solidFill>
              <a:srgbClr val="ffff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L’hypothèse des acides aminés ramifiés (AAR) et tryptophane (Trp)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824" dur="indefinite" restart="never" nodeType="tmRoot">
          <p:childTnLst>
            <p:seq>
              <p:cTn id="825" dur="indefinite" nodeType="mainSeq">
                <p:childTnLst>
                  <p:par>
                    <p:cTn id="826" nodeType="clickEffect" fill="hold">
                      <p:stCondLst>
                        <p:cond delay="0"/>
                      </p:stCondLst>
                      <p:childTnLst>
                        <p:par>
                          <p:cTn id="8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8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0" dur="5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1" dur="5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2" nodeType="clickEffect" fill="hold">
                      <p:stCondLst>
                        <p:cond delay="indefinite"/>
                      </p:stCondLst>
                      <p:childTnLst>
                        <p:par>
                          <p:cTn id="8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3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36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38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40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1" nodeType="clickEffect" fill="hold">
                      <p:stCondLst>
                        <p:cond delay="indefinite"/>
                      </p:stCondLst>
                      <p:childTnLst>
                        <p:par>
                          <p:cTn id="8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3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45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6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8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99cc00"/>
                                </p:to>
                              </p:animClr>
                            </p:childTnLst>
                          </p:cTn>
                        </p:par>
                        <p:par>
                          <p:cTn id="84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49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51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2" nodeType="clickEffect" fill="hold">
                      <p:stCondLst>
                        <p:cond delay="indefinite"/>
                      </p:stCondLst>
                      <p:childTnLst>
                        <p:par>
                          <p:cTn id="8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54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56" dur="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7" dur="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8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99cc00"/>
                                </p:to>
                              </p:animClr>
                            </p:childTnLst>
                          </p:cTn>
                        </p:par>
                        <p:par>
                          <p:cTn id="85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60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62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3" fill="hold">
                      <p:stCondLst>
                        <p:cond delay="indefinite"/>
                      </p:stCondLst>
                      <p:childTnLst>
                        <p:par>
                          <p:cTn id="864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865" dur="1" fill="hold"/>
                                  <p:tgtEl>
                                    <p:spTgt spid="42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99cc00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Freeform 2"/>
          <p:cNvSpPr/>
          <p:nvPr/>
        </p:nvSpPr>
        <p:spPr>
          <a:xfrm>
            <a:off x="76320" y="5029200"/>
            <a:ext cx="4952880" cy="736560"/>
          </a:xfrm>
          <a:custGeom>
            <a:avLst/>
            <a:gdLst>
              <a:gd name="GluePoint1X" fmla="*/ 2147483647 w 2142"/>
              <a:gd name="GluePoint1Y" fmla="*/ 2147483647 h 312"/>
              <a:gd name="GluePoint2X" fmla="*/ 2147483647 w 2142"/>
              <a:gd name="GluePoint2Y" fmla="*/ 2147483647 h 312"/>
              <a:gd name="GluePoint3X" fmla="*/ 2147483647 w 2142"/>
              <a:gd name="GluePoint3Y" fmla="*/ 2147483647 h 312"/>
              <a:gd name="GluePoint4X" fmla="*/ 2147483647 w 2142"/>
              <a:gd name="GluePoint4Y" fmla="*/ 2147483647 h 312"/>
              <a:gd name="GluePoint5X" fmla="*/ 2147483647 w 2142"/>
              <a:gd name="GluePoint5Y" fmla="*/ 2147483647 h 312"/>
              <a:gd name="GluePoint6X" fmla="*/ 0 w 2142"/>
              <a:gd name="GluePoint6Y" fmla="*/ 2147483647 h 31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2142" h="312">
                <a:moveTo>
                  <a:pt x="2142" y="312"/>
                </a:moveTo>
                <a:cubicBezTo>
                  <a:pt x="2086" y="301"/>
                  <a:pt x="1939" y="296"/>
                  <a:pt x="1804" y="249"/>
                </a:cubicBezTo>
                <a:cubicBezTo>
                  <a:pt x="1669" y="202"/>
                  <a:pt x="1492" y="60"/>
                  <a:pt x="1334" y="30"/>
                </a:cubicBezTo>
                <a:cubicBezTo>
                  <a:pt x="1176" y="0"/>
                  <a:pt x="1004" y="32"/>
                  <a:pt x="855" y="71"/>
                </a:cubicBezTo>
                <a:cubicBezTo>
                  <a:pt x="706" y="110"/>
                  <a:pt x="584" y="226"/>
                  <a:pt x="442" y="265"/>
                </a:cubicBezTo>
                <a:cubicBezTo>
                  <a:pt x="300" y="304"/>
                  <a:pt x="92" y="298"/>
                  <a:pt x="0" y="306"/>
                </a:cubicBezTo>
              </a:path>
            </a:pathLst>
          </a:custGeom>
          <a:noFill/>
          <a:ln w="38160">
            <a:solidFill>
              <a:srgbClr val="ff6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Freeform 3"/>
          <p:cNvSpPr/>
          <p:nvPr/>
        </p:nvSpPr>
        <p:spPr>
          <a:xfrm>
            <a:off x="0" y="6008760"/>
            <a:ext cx="5029200" cy="544320"/>
          </a:xfrm>
          <a:custGeom>
            <a:avLst/>
            <a:gdLst>
              <a:gd name="GluePoint1X" fmla="*/ 2147483647 w 2122"/>
              <a:gd name="GluePoint1Y" fmla="*/ 2147483647 h 249"/>
              <a:gd name="GluePoint2X" fmla="*/ 2147483647 w 2122"/>
              <a:gd name="GluePoint2Y" fmla="*/ 2147483647 h 249"/>
              <a:gd name="GluePoint3X" fmla="*/ 2147483647 w 2122"/>
              <a:gd name="GluePoint3Y" fmla="*/ 2147483647 h 249"/>
              <a:gd name="GluePoint4X" fmla="*/ 2147483647 w 2122"/>
              <a:gd name="GluePoint4Y" fmla="*/ 2147483647 h 249"/>
              <a:gd name="GluePoint5X" fmla="*/ 2147483647 w 2122"/>
              <a:gd name="GluePoint5Y" fmla="*/ 2147483647 h 249"/>
              <a:gd name="GluePoint6X" fmla="*/ 0 w 2122"/>
              <a:gd name="GluePoint6Y" fmla="*/ 0 h 24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2122" h="249">
                <a:moveTo>
                  <a:pt x="2122" y="31"/>
                </a:moveTo>
                <a:cubicBezTo>
                  <a:pt x="2062" y="34"/>
                  <a:pt x="1892" y="23"/>
                  <a:pt x="1759" y="52"/>
                </a:cubicBezTo>
                <a:cubicBezTo>
                  <a:pt x="1626" y="81"/>
                  <a:pt x="1468" y="178"/>
                  <a:pt x="1321" y="206"/>
                </a:cubicBezTo>
                <a:cubicBezTo>
                  <a:pt x="1174" y="234"/>
                  <a:pt x="1026" y="249"/>
                  <a:pt x="875" y="222"/>
                </a:cubicBezTo>
                <a:cubicBezTo>
                  <a:pt x="724" y="195"/>
                  <a:pt x="559" y="81"/>
                  <a:pt x="413" y="44"/>
                </a:cubicBezTo>
                <a:cubicBezTo>
                  <a:pt x="267" y="7"/>
                  <a:pt x="86" y="9"/>
                  <a:pt x="0" y="0"/>
                </a:cubicBezTo>
              </a:path>
            </a:pathLst>
          </a:custGeom>
          <a:noFill/>
          <a:ln w="38160">
            <a:solidFill>
              <a:srgbClr val="ff6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Box 4"/>
          <p:cNvSpPr/>
          <p:nvPr/>
        </p:nvSpPr>
        <p:spPr>
          <a:xfrm>
            <a:off x="1523880" y="5715000"/>
            <a:ext cx="2514600" cy="371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énergie = CO</a:t>
            </a:r>
            <a:r>
              <a:rPr b="1" lang="en-US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+ H</a:t>
            </a:r>
            <a:r>
              <a:rPr b="1" lang="en-US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Picture 5" descr="Cerveau"/>
          <p:cNvPicPr/>
          <p:nvPr/>
        </p:nvPicPr>
        <p:blipFill>
          <a:blip r:embed="rId1"/>
          <a:srcRect l="3780" t="5144" r="5669" b="10236"/>
          <a:stretch/>
        </p:blipFill>
        <p:spPr>
          <a:xfrm>
            <a:off x="4038480" y="2057400"/>
            <a:ext cx="4496040" cy="309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Text Box 6"/>
          <p:cNvSpPr/>
          <p:nvPr/>
        </p:nvSpPr>
        <p:spPr>
          <a:xfrm>
            <a:off x="1219320" y="1066680"/>
            <a:ext cx="3276360" cy="368280"/>
          </a:xfrm>
          <a:prstGeom prst="rect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ACIDES AMINES RAMIFIES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Box 7"/>
          <p:cNvSpPr/>
          <p:nvPr/>
        </p:nvSpPr>
        <p:spPr>
          <a:xfrm>
            <a:off x="5411880" y="1066680"/>
            <a:ext cx="3152520" cy="36828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TRIPTOPHANE (Trp) LIBRE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Line 8"/>
          <p:cNvSpPr/>
          <p:nvPr/>
        </p:nvSpPr>
        <p:spPr>
          <a:xfrm>
            <a:off x="2438280" y="1447920"/>
            <a:ext cx="0" cy="4190760"/>
          </a:xfrm>
          <a:prstGeom prst="line">
            <a:avLst/>
          </a:prstGeom>
          <a:ln w="57240">
            <a:solidFill>
              <a:srgbClr val="ffffff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Oval 9"/>
          <p:cNvSpPr/>
          <p:nvPr/>
        </p:nvSpPr>
        <p:spPr>
          <a:xfrm>
            <a:off x="4800600" y="2438280"/>
            <a:ext cx="609480" cy="609840"/>
          </a:xfrm>
          <a:prstGeom prst="ellipse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Box 10"/>
          <p:cNvSpPr/>
          <p:nvPr/>
        </p:nvSpPr>
        <p:spPr>
          <a:xfrm>
            <a:off x="4648320" y="4038480"/>
            <a:ext cx="1666800" cy="405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</a:t>
            </a:r>
            <a:r>
              <a:rPr b="1" lang="en-US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+ H</a:t>
            </a:r>
            <a:r>
              <a:rPr b="1" lang="en-US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3" name="AutoShape 11"/>
          <p:cNvCxnSpPr>
            <a:stCxn id="428" idx="2"/>
            <a:endCxn id="431" idx="0"/>
          </p:cNvCxnSpPr>
          <p:nvPr/>
        </p:nvCxnSpPr>
        <p:spPr>
          <a:xfrm flipH="1" rot="16200000">
            <a:off x="3490920" y="809280"/>
            <a:ext cx="982080" cy="2248560"/>
          </a:xfrm>
          <a:prstGeom prst="curvedConnector5">
            <a:avLst>
              <a:gd name="adj1" fmla="val 50641"/>
              <a:gd name="adj2" fmla="val 49991"/>
              <a:gd name="adj3" fmla="val 50641"/>
            </a:avLst>
          </a:prstGeom>
          <a:ln w="28440">
            <a:solidFill>
              <a:srgbClr val="ffffff"/>
            </a:solidFill>
            <a:miter/>
            <a:tailEnd len="med" type="triangle" w="med"/>
          </a:ln>
        </p:spPr>
      </p:cxnSp>
      <p:sp>
        <p:nvSpPr>
          <p:cNvPr id="434" name="Line 12"/>
          <p:cNvSpPr/>
          <p:nvPr/>
        </p:nvSpPr>
        <p:spPr>
          <a:xfrm>
            <a:off x="5105520" y="2438280"/>
            <a:ext cx="0" cy="60984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5" name="AutoShape 13"/>
          <p:cNvCxnSpPr>
            <a:stCxn id="434" idx="0"/>
            <a:endCxn id="432" idx="1"/>
          </p:cNvCxnSpPr>
          <p:nvPr/>
        </p:nvCxnSpPr>
        <p:spPr>
          <a:xfrm rot="5400000">
            <a:off x="4311720" y="3398040"/>
            <a:ext cx="1129680" cy="457920"/>
          </a:xfrm>
          <a:prstGeom prst="curvedConnector5">
            <a:avLst>
              <a:gd name="adj1" fmla="val 42588"/>
              <a:gd name="adj2" fmla="val 74980"/>
              <a:gd name="adj3" fmla="val 42588"/>
            </a:avLst>
          </a:prstGeom>
          <a:ln w="28440">
            <a:solidFill>
              <a:srgbClr val="ffffff"/>
            </a:solidFill>
            <a:miter/>
            <a:tailEnd len="med" type="triangle" w="med"/>
          </a:ln>
        </p:spPr>
      </p:cxnSp>
      <p:cxnSp>
        <p:nvCxnSpPr>
          <p:cNvPr id="436" name="AutoShape 14"/>
          <p:cNvCxnSpPr>
            <a:stCxn id="429" idx="2"/>
            <a:endCxn id="434" idx="0"/>
          </p:cNvCxnSpPr>
          <p:nvPr/>
        </p:nvCxnSpPr>
        <p:spPr>
          <a:xfrm rot="5400000">
            <a:off x="5550840" y="987480"/>
            <a:ext cx="991440" cy="1883520"/>
          </a:xfrm>
          <a:prstGeom prst="curvedConnector5">
            <a:avLst>
              <a:gd name="adj1" fmla="val 50635"/>
              <a:gd name="adj2" fmla="val 49990"/>
              <a:gd name="adj3" fmla="val 50635"/>
            </a:avLst>
          </a:prstGeom>
          <a:ln w="38160">
            <a:solidFill>
              <a:srgbClr val="ffffff"/>
            </a:solidFill>
            <a:prstDash val="sysDot"/>
            <a:miter/>
            <a:tailEnd len="med" type="triangle" w="med"/>
          </a:ln>
        </p:spPr>
      </p:cxnSp>
      <p:sp>
        <p:nvSpPr>
          <p:cNvPr id="437" name="Text Box 15"/>
          <p:cNvSpPr/>
          <p:nvPr/>
        </p:nvSpPr>
        <p:spPr>
          <a:xfrm>
            <a:off x="5716080" y="3276720"/>
            <a:ext cx="2251800" cy="612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5-hydroxytryptamine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(sérotonine)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8" name="AutoShape 16"/>
          <p:cNvCxnSpPr/>
          <p:nvPr/>
        </p:nvCxnSpPr>
        <p:spPr>
          <a:xfrm flipH="1" rot="16200000">
            <a:off x="4830480" y="2697840"/>
            <a:ext cx="1159560" cy="610200"/>
          </a:xfrm>
          <a:prstGeom prst="curvedConnector5">
            <a:avLst>
              <a:gd name="adj1" fmla="val -8633"/>
              <a:gd name="adj2" fmla="val 1652"/>
              <a:gd name="adj3" fmla="val -8633"/>
            </a:avLst>
          </a:prstGeom>
          <a:ln w="38160">
            <a:solidFill>
              <a:srgbClr val="ffffff"/>
            </a:solidFill>
            <a:prstDash val="sysDot"/>
            <a:miter/>
            <a:tailEnd len="med" type="triangle" w="med"/>
          </a:ln>
        </p:spPr>
      </p:cxnSp>
      <p:sp>
        <p:nvSpPr>
          <p:cNvPr id="439" name="Text Box 17"/>
          <p:cNvSpPr/>
          <p:nvPr/>
        </p:nvSpPr>
        <p:spPr>
          <a:xfrm>
            <a:off x="5258160" y="5181480"/>
            <a:ext cx="362484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Compétition entre les AAR et le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triptophane pour leur entrée dans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cerveau. Plus les AAR sont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utilisés par le muscle, plus de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triptophane entre dans le cerveau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Oval 18"/>
          <p:cNvSpPr/>
          <p:nvPr/>
        </p:nvSpPr>
        <p:spPr>
          <a:xfrm>
            <a:off x="2514600" y="3200400"/>
            <a:ext cx="304920" cy="30492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Line 19"/>
          <p:cNvSpPr/>
          <p:nvPr/>
        </p:nvSpPr>
        <p:spPr>
          <a:xfrm flipV="1">
            <a:off x="2895480" y="3123720"/>
            <a:ext cx="228600" cy="3049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Box 20"/>
          <p:cNvSpPr/>
          <p:nvPr/>
        </p:nvSpPr>
        <p:spPr>
          <a:xfrm>
            <a:off x="2853720" y="3124080"/>
            <a:ext cx="135216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AAR 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(muscle)</a:t>
            </a: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Oval 21"/>
          <p:cNvSpPr/>
          <p:nvPr/>
        </p:nvSpPr>
        <p:spPr>
          <a:xfrm>
            <a:off x="2590920" y="4114800"/>
            <a:ext cx="304560" cy="30492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Line 22"/>
          <p:cNvSpPr/>
          <p:nvPr/>
        </p:nvSpPr>
        <p:spPr>
          <a:xfrm>
            <a:off x="2971800" y="4191120"/>
            <a:ext cx="152280" cy="30456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Box 23"/>
          <p:cNvSpPr/>
          <p:nvPr/>
        </p:nvSpPr>
        <p:spPr>
          <a:xfrm>
            <a:off x="2974680" y="4114800"/>
            <a:ext cx="10368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AAR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(cerveau)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Oval 24"/>
          <p:cNvSpPr/>
          <p:nvPr/>
        </p:nvSpPr>
        <p:spPr>
          <a:xfrm>
            <a:off x="5410080" y="2133720"/>
            <a:ext cx="304920" cy="30456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Box 25"/>
          <p:cNvSpPr/>
          <p:nvPr/>
        </p:nvSpPr>
        <p:spPr>
          <a:xfrm>
            <a:off x="5795640" y="2057400"/>
            <a:ext cx="146448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triptophane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</a:t>
            </a: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(cerveau)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Line 26"/>
          <p:cNvSpPr/>
          <p:nvPr/>
        </p:nvSpPr>
        <p:spPr>
          <a:xfrm flipV="1">
            <a:off x="5791320" y="2133360"/>
            <a:ext cx="152280" cy="2286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Line 27"/>
          <p:cNvSpPr/>
          <p:nvPr/>
        </p:nvSpPr>
        <p:spPr>
          <a:xfrm>
            <a:off x="1676520" y="1905120"/>
            <a:ext cx="0" cy="53316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Box 28"/>
          <p:cNvSpPr/>
          <p:nvPr/>
        </p:nvSpPr>
        <p:spPr>
          <a:xfrm>
            <a:off x="1752480" y="1752480"/>
            <a:ext cx="14670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Réserves 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glycogène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Box 29"/>
          <p:cNvSpPr/>
          <p:nvPr/>
        </p:nvSpPr>
        <p:spPr>
          <a:xfrm>
            <a:off x="2741040" y="152280"/>
            <a:ext cx="33476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Etiologie possible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AutoShape 30"/>
          <p:cNvSpPr/>
          <p:nvPr/>
        </p:nvSpPr>
        <p:spPr>
          <a:xfrm rot="2416200">
            <a:off x="1980720" y="2514600"/>
            <a:ext cx="152640" cy="533520"/>
          </a:xfrm>
          <a:prstGeom prst="downArrow">
            <a:avLst>
              <a:gd name="adj1" fmla="val 50000"/>
              <a:gd name="adj2" fmla="val 87382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Box 31"/>
          <p:cNvSpPr/>
          <p:nvPr/>
        </p:nvSpPr>
        <p:spPr>
          <a:xfrm>
            <a:off x="1677960" y="320040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AGL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Oval 32"/>
          <p:cNvSpPr/>
          <p:nvPr/>
        </p:nvSpPr>
        <p:spPr>
          <a:xfrm>
            <a:off x="1066680" y="3205080"/>
            <a:ext cx="304920" cy="30492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Line 33"/>
          <p:cNvSpPr/>
          <p:nvPr/>
        </p:nvSpPr>
        <p:spPr>
          <a:xfrm flipV="1">
            <a:off x="1523880" y="3204720"/>
            <a:ext cx="228600" cy="3049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AutoShape 34"/>
          <p:cNvSpPr/>
          <p:nvPr/>
        </p:nvSpPr>
        <p:spPr>
          <a:xfrm rot="19398000">
            <a:off x="2819160" y="2518920"/>
            <a:ext cx="152280" cy="533520"/>
          </a:xfrm>
          <a:prstGeom prst="downArrow">
            <a:avLst>
              <a:gd name="adj1" fmla="val 50000"/>
              <a:gd name="adj2" fmla="val 87589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AutoShape 35"/>
          <p:cNvSpPr/>
          <p:nvPr/>
        </p:nvSpPr>
        <p:spPr>
          <a:xfrm>
            <a:off x="3276720" y="3733920"/>
            <a:ext cx="152280" cy="380880"/>
          </a:xfrm>
          <a:prstGeom prst="downArrow">
            <a:avLst>
              <a:gd name="adj1" fmla="val 50000"/>
              <a:gd name="adj2" fmla="val 62530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Box 36"/>
          <p:cNvSpPr/>
          <p:nvPr/>
        </p:nvSpPr>
        <p:spPr>
          <a:xfrm>
            <a:off x="-6840" y="3581280"/>
            <a:ext cx="257904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Compétion avec le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Trp pour l’utilisation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des liaisons avec l’albumine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plus de Trp libre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Line 37"/>
          <p:cNvSpPr/>
          <p:nvPr/>
        </p:nvSpPr>
        <p:spPr>
          <a:xfrm>
            <a:off x="228600" y="4419720"/>
            <a:ext cx="304920" cy="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Oval 38"/>
          <p:cNvSpPr/>
          <p:nvPr/>
        </p:nvSpPr>
        <p:spPr>
          <a:xfrm>
            <a:off x="0" y="3581280"/>
            <a:ext cx="304920" cy="30492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 Box 2"/>
          <p:cNvSpPr/>
          <p:nvPr/>
        </p:nvSpPr>
        <p:spPr>
          <a:xfrm>
            <a:off x="616320" y="2662200"/>
            <a:ext cx="805716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4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FIN DE LA DEUXIEME PARTIE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Picture 2" descr=""/>
          <p:cNvPicPr/>
          <p:nvPr/>
        </p:nvPicPr>
        <p:blipFill>
          <a:blip r:embed="rId1">
            <a:lum contrast="36000"/>
          </a:blip>
          <a:stretch/>
        </p:blipFill>
        <p:spPr>
          <a:xfrm>
            <a:off x="1293840" y="627120"/>
            <a:ext cx="7697880" cy="573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Rectangle 2"/>
          <p:cNvSpPr/>
          <p:nvPr/>
        </p:nvSpPr>
        <p:spPr>
          <a:xfrm>
            <a:off x="380880" y="914400"/>
            <a:ext cx="838224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Effets de l’exercice sur la 5HT (rats)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3"/>
          <p:cNvSpPr/>
          <p:nvPr/>
        </p:nvSpPr>
        <p:spPr>
          <a:xfrm>
            <a:off x="1371600" y="2057400"/>
            <a:ext cx="7431120" cy="48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Auteurs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Exercice 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région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sng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Résultats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Brown 1979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30 min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ensemble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Lucaszyk 1983   20 min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striatum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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Speciale 1986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1h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striatum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Acworth 1986    90 min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ensemble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Chaouloff 1987  1h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ensemble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Bailey 1992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60 min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cerveau moyen   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Dey 1992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60 min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tronc cérébral     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Hoffmann 1994  2h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striatum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Rectangle 5"/>
          <p:cNvSpPr/>
          <p:nvPr/>
        </p:nvSpPr>
        <p:spPr>
          <a:xfrm>
            <a:off x="324000" y="2349360"/>
            <a:ext cx="833580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Lien entre  5HT pendant l’exercice</a:t>
            </a:r>
            <a:br>
              <a:rPr sz="3200"/>
            </a:b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et l’inhibition de l’oxydation cérébrale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Rectangle 2"/>
          <p:cNvSpPr/>
          <p:nvPr/>
        </p:nvSpPr>
        <p:spPr>
          <a:xfrm>
            <a:off x="395280" y="404640"/>
            <a:ext cx="7985160" cy="14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Agoniste et antagoniste de l’activité de la 5HT pendant l’exercice prolongé (rats)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ectangle 3"/>
          <p:cNvSpPr/>
          <p:nvPr/>
        </p:nvSpPr>
        <p:spPr>
          <a:xfrm>
            <a:off x="826920" y="3581280"/>
            <a:ext cx="7772400" cy="24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agoniste = quipazine dimaleate (QD)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antagoniste = LY 53857 (LY)</a:t>
            </a:r>
            <a:br>
              <a:rPr sz="2800"/>
            </a:br>
            <a:br>
              <a:rPr sz="2800"/>
            </a:b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temps de course</a:t>
            </a: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QD</a:t>
            </a: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- 32 %</a:t>
            </a:r>
            <a:br>
              <a:rPr sz="2800"/>
            </a:b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LY</a:t>
            </a: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fr-FR" sz="28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+ 26 %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Rectangle 4"/>
          <p:cNvSpPr/>
          <p:nvPr/>
        </p:nvSpPr>
        <p:spPr>
          <a:xfrm>
            <a:off x="749160" y="2927520"/>
            <a:ext cx="823788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bbe0e3"/>
                </a:solidFill>
                <a:effectLst/>
                <a:uFillTx/>
                <a:latin typeface="Calibri"/>
                <a:ea typeface="Calibri"/>
              </a:rPr>
              <a:t>(S.P. Bailey et al.  J. Appl. Physiol. 1993, 74, 3006-3012)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Rectangle 2"/>
          <p:cNvSpPr/>
          <p:nvPr/>
        </p:nvSpPr>
        <p:spPr>
          <a:xfrm>
            <a:off x="500040" y="4428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Expérimentations humaines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3"/>
          <p:cNvSpPr/>
          <p:nvPr/>
        </p:nvSpPr>
        <p:spPr>
          <a:xfrm>
            <a:off x="729720" y="1530360"/>
            <a:ext cx="7690320" cy="4385880"/>
          </a:xfrm>
          <a:prstGeom prst="rect">
            <a:avLst/>
          </a:prstGeom>
          <a:noFill/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2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Auteurs</a:t>
            </a:r>
            <a:r>
              <a:rPr b="1" lang="fr-FR" sz="22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  Manipulations</a:t>
            </a:r>
            <a:r>
              <a:rPr b="1" lang="fr-FR" sz="22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   Exercice</a:t>
            </a:r>
            <a:r>
              <a:rPr b="1" lang="fr-FR" sz="22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Résultats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Davis 1992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5HT inhibition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70% VO</a:t>
            </a:r>
            <a:r>
              <a:rPr b="1" lang="fr-FR" sz="2200" strike="noStrike" u="none" baseline="-25000">
                <a:solidFill>
                  <a:srgbClr val="ffffff"/>
                </a:solidFill>
                <a:effectLst/>
                <a:uFillTx/>
                <a:latin typeface="Times New Roman"/>
              </a:rPr>
              <a:t>2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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temps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Wilson 1992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5HT inhibition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70% VO</a:t>
            </a:r>
            <a:r>
              <a:rPr b="1" lang="fr-FR" sz="2200" strike="noStrike" u="none" baseline="-25000">
                <a:solidFill>
                  <a:srgbClr val="ffffff"/>
                </a:solidFill>
                <a:effectLst/>
                <a:uFillTx/>
                <a:latin typeface="Times New Roman"/>
              </a:rPr>
              <a:t>2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 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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temps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Meeusen 1995    5HT agoniste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        cycle épuis.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statu quo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5HT antagoniste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cycle épuis.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statu quo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Struder 1999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5HT agoniste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        entraînement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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temps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Segura 1988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+ Trp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80% VO</a:t>
            </a:r>
            <a:r>
              <a:rPr b="1" lang="fr-FR" sz="2200" strike="noStrike" u="none" baseline="-25000">
                <a:solidFill>
                  <a:srgbClr val="ffffff"/>
                </a:solidFill>
                <a:effectLst/>
                <a:uFillTx/>
                <a:latin typeface="Times New Roman"/>
              </a:rPr>
              <a:t>2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 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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temps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Strensrud 1992    + Trp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100% VO</a:t>
            </a:r>
            <a:r>
              <a:rPr b="1" lang="fr-FR" sz="2200" strike="noStrike" u="none" baseline="-25000">
                <a:solidFill>
                  <a:srgbClr val="ffffff"/>
                </a:solidFill>
                <a:effectLst/>
                <a:uFillTx/>
                <a:latin typeface="Times New Roman"/>
              </a:rPr>
              <a:t>2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 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statu quo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Rectangle 2"/>
          <p:cNvSpPr/>
          <p:nvPr/>
        </p:nvSpPr>
        <p:spPr>
          <a:xfrm>
            <a:off x="615960" y="620640"/>
            <a:ext cx="77724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4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Conclusions erronées?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Rectangle 3"/>
          <p:cNvSpPr/>
          <p:nvPr/>
        </p:nvSpPr>
        <p:spPr>
          <a:xfrm>
            <a:off x="1219320" y="2133720"/>
            <a:ext cx="77724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différente régions du cerveau!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différents protocoles d’exercice!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différentes méthodes de mesure!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différents types d’animaux!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9999"/>
              </a:buClr>
              <a:buSzPct val="75000"/>
              <a:buFont typeface="Monotype Sort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stress : locomotion forcée!</a:t>
            </a:r>
            <a:br>
              <a:rPr sz="3200"/>
            </a:b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(course, nage, roue)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Text Box 4"/>
          <p:cNvSpPr/>
          <p:nvPr/>
        </p:nvSpPr>
        <p:spPr>
          <a:xfrm>
            <a:off x="102240" y="2122560"/>
            <a:ext cx="9092160" cy="258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HYPOTHESE DU NH3, DE LA GLUTAMATE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ET DU </a:t>
            </a: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SymbolPS"/>
                <a:ea typeface="SymbolPS"/>
              </a:rPr>
              <a:t></a:t>
            </a: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-AMINOBUTYRIQUE (GABA)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1336680" y="620640"/>
            <a:ext cx="7772400" cy="10670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Glutamine cérébrale (mmol.l</a:t>
            </a:r>
            <a:r>
              <a:rPr b="1" i="1" lang="fr-FR" sz="3600" strike="noStrike" u="none" baseline="30000">
                <a:solidFill>
                  <a:srgbClr val="ffff00"/>
                </a:solidFill>
                <a:effectLst/>
                <a:uFillTx/>
                <a:latin typeface="Times New Roman"/>
              </a:rPr>
              <a:t>-1</a:t>
            </a: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5" name="Object 3"/>
          <p:cNvGraphicFramePr/>
          <p:nvPr/>
        </p:nvGraphicFramePr>
        <p:xfrm>
          <a:off x="1600200" y="1905120"/>
          <a:ext cx="7543800" cy="43434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476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600200" y="1905120"/>
                    <a:ext cx="7543800" cy="43434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77" name="Rectangle 4"/>
          <p:cNvSpPr/>
          <p:nvPr/>
        </p:nvSpPr>
        <p:spPr>
          <a:xfrm>
            <a:off x="2617560" y="6080040"/>
            <a:ext cx="52484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C.Y. Guézennec et al. Int. J. Sports Med. 1998, </a:t>
            </a:r>
            <a:r>
              <a:rPr b="1" lang="fr-FR" sz="16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19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, 323-327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5"/>
          <p:cNvSpPr/>
          <p:nvPr/>
        </p:nvSpPr>
        <p:spPr>
          <a:xfrm>
            <a:off x="5181480" y="2666880"/>
            <a:ext cx="3589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*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6"/>
          <p:cNvSpPr/>
          <p:nvPr/>
        </p:nvSpPr>
        <p:spPr>
          <a:xfrm>
            <a:off x="5715000" y="2057400"/>
            <a:ext cx="3589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*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Rectangle 7"/>
          <p:cNvSpPr/>
          <p:nvPr/>
        </p:nvSpPr>
        <p:spPr>
          <a:xfrm>
            <a:off x="6248520" y="2590920"/>
            <a:ext cx="3589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*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304920" y="404640"/>
            <a:ext cx="8229600" cy="990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4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</a:t>
            </a: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Glutamate cérébral (mmol.l</a:t>
            </a:r>
            <a:r>
              <a:rPr b="1" i="1" lang="fr-FR" sz="3600" strike="noStrike" u="none" baseline="30000">
                <a:solidFill>
                  <a:srgbClr val="ffff00"/>
                </a:solidFill>
                <a:effectLst/>
                <a:uFillTx/>
                <a:latin typeface="Times New Roman"/>
              </a:rPr>
              <a:t>-1</a:t>
            </a: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82" name="Object 3"/>
          <p:cNvGraphicFramePr/>
          <p:nvPr/>
        </p:nvGraphicFramePr>
        <p:xfrm>
          <a:off x="627120" y="1674720"/>
          <a:ext cx="7574040" cy="41594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483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627120" y="1674720"/>
                    <a:ext cx="7574040" cy="415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84" name="Rectangle 4"/>
          <p:cNvSpPr/>
          <p:nvPr/>
        </p:nvSpPr>
        <p:spPr>
          <a:xfrm>
            <a:off x="4427640" y="2708280"/>
            <a:ext cx="3589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*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5"/>
          <p:cNvSpPr/>
          <p:nvPr/>
        </p:nvSpPr>
        <p:spPr>
          <a:xfrm>
            <a:off x="4788000" y="3141720"/>
            <a:ext cx="3589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*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Rectangle 6"/>
          <p:cNvSpPr/>
          <p:nvPr/>
        </p:nvSpPr>
        <p:spPr>
          <a:xfrm>
            <a:off x="5435640" y="2997360"/>
            <a:ext cx="3398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*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Rectangle 7"/>
          <p:cNvSpPr/>
          <p:nvPr/>
        </p:nvSpPr>
        <p:spPr>
          <a:xfrm>
            <a:off x="1252800" y="5891040"/>
            <a:ext cx="46386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C.Y. Guézennec et al. Int. J. Sports Med. 1998, </a:t>
            </a:r>
            <a:r>
              <a:rPr b="1" lang="fr-FR" sz="14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19</a:t>
            </a: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, 323-327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609480" y="404280"/>
            <a:ext cx="7772400" cy="8384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GABA cérébrale (mmol.l</a:t>
            </a:r>
            <a:r>
              <a:rPr b="1" i="1" lang="fr-FR" sz="3600" strike="noStrike" u="none" baseline="30000">
                <a:solidFill>
                  <a:srgbClr val="ffffff"/>
                </a:solidFill>
                <a:effectLst/>
                <a:uFillTx/>
                <a:latin typeface="Times New Roman"/>
              </a:rPr>
              <a:t>-1</a:t>
            </a:r>
            <a:r>
              <a:rPr b="1" i="1" lang="fr-F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89" name="Object 3"/>
          <p:cNvGraphicFramePr/>
          <p:nvPr/>
        </p:nvGraphicFramePr>
        <p:xfrm>
          <a:off x="627120" y="1674720"/>
          <a:ext cx="7786800" cy="42768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490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627120" y="1674720"/>
                    <a:ext cx="7786800" cy="4276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91" name="Rectangle 4"/>
          <p:cNvSpPr/>
          <p:nvPr/>
        </p:nvSpPr>
        <p:spPr>
          <a:xfrm>
            <a:off x="5632560" y="3063960"/>
            <a:ext cx="3589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*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Rectangle 5"/>
          <p:cNvSpPr/>
          <p:nvPr/>
        </p:nvSpPr>
        <p:spPr>
          <a:xfrm>
            <a:off x="1555560" y="6151680"/>
            <a:ext cx="52484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C.Y. Guézennec et al. Int. J. Sports Med. 1998, </a:t>
            </a:r>
            <a:r>
              <a:rPr b="1" lang="fr-FR" sz="16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19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, 323-327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Arc 5"/>
          <p:cNvSpPr/>
          <p:nvPr/>
        </p:nvSpPr>
        <p:spPr>
          <a:xfrm>
            <a:off x="417600" y="836640"/>
            <a:ext cx="1058760" cy="1008000"/>
          </a:xfrm>
          <a:custGeom>
            <a:avLst/>
            <a:gdLst>
              <a:gd name="GluePoint1X" fmla="*/ 2147483647 w 43200"/>
              <a:gd name="GluePoint1Y" fmla="*/ 0 h 43200"/>
              <a:gd name="GluePoint2X" fmla="*/ 2147483647 w 43200"/>
              <a:gd name="GluePoint2Y" fmla="*/ 1264836323 h 43200"/>
              <a:gd name="GluePoint3X" fmla="*/ 2147483647 w 43200"/>
              <a:gd name="GluePoint3Y" fmla="*/ 2147483647 h 43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4320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4769"/>
                  <a:pt x="3230" y="8341"/>
                  <a:pt x="8712" y="4266"/>
                </a:cubicBezTo>
              </a:path>
              <a:path stroke="0" w="43200" h="4320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4769"/>
                  <a:pt x="3230" y="8341"/>
                  <a:pt x="8712" y="426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381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Box 6"/>
          <p:cNvSpPr/>
          <p:nvPr/>
        </p:nvSpPr>
        <p:spPr>
          <a:xfrm>
            <a:off x="612720" y="1197000"/>
            <a:ext cx="663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CPN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Line 7"/>
          <p:cNvSpPr/>
          <p:nvPr/>
        </p:nvSpPr>
        <p:spPr>
          <a:xfrm flipV="1">
            <a:off x="1476360" y="1339920"/>
            <a:ext cx="1655640" cy="144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Box 8"/>
          <p:cNvSpPr/>
          <p:nvPr/>
        </p:nvSpPr>
        <p:spPr>
          <a:xfrm>
            <a:off x="3213000" y="1195560"/>
            <a:ext cx="71928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NH</a:t>
            </a:r>
            <a:r>
              <a:rPr b="1" lang="fr-FR" sz="24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Line 9"/>
          <p:cNvSpPr/>
          <p:nvPr/>
        </p:nvSpPr>
        <p:spPr>
          <a:xfrm>
            <a:off x="3995640" y="1630440"/>
            <a:ext cx="1944720" cy="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Box 10"/>
          <p:cNvSpPr/>
          <p:nvPr/>
        </p:nvSpPr>
        <p:spPr>
          <a:xfrm>
            <a:off x="4309920" y="1125360"/>
            <a:ext cx="1692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Stimule la PFK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Line 11"/>
          <p:cNvSpPr/>
          <p:nvPr/>
        </p:nvSpPr>
        <p:spPr>
          <a:xfrm>
            <a:off x="3924360" y="1341360"/>
            <a:ext cx="431640" cy="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Line 12"/>
          <p:cNvSpPr/>
          <p:nvPr/>
        </p:nvSpPr>
        <p:spPr>
          <a:xfrm>
            <a:off x="5940360" y="1630440"/>
            <a:ext cx="0" cy="136692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Arc 13"/>
          <p:cNvSpPr/>
          <p:nvPr/>
        </p:nvSpPr>
        <p:spPr>
          <a:xfrm>
            <a:off x="466560" y="2492280"/>
            <a:ext cx="1059120" cy="1008000"/>
          </a:xfrm>
          <a:custGeom>
            <a:avLst/>
            <a:gdLst>
              <a:gd name="GluePoint1X" fmla="*/ 2147483647 w 43200"/>
              <a:gd name="GluePoint1Y" fmla="*/ 0 h 43200"/>
              <a:gd name="GluePoint2X" fmla="*/ 2147483647 w 43200"/>
              <a:gd name="GluePoint2Y" fmla="*/ 1264839934 h 43200"/>
              <a:gd name="GluePoint3X" fmla="*/ 2147483647 w 43200"/>
              <a:gd name="GluePoint3Y" fmla="*/ 2147483647 h 43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4320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4769"/>
                  <a:pt x="3230" y="8341"/>
                  <a:pt x="8712" y="4266"/>
                </a:cubicBezTo>
              </a:path>
              <a:path stroke="0" w="43200" h="4320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4769"/>
                  <a:pt x="3230" y="8341"/>
                  <a:pt x="8712" y="426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381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Box 14"/>
          <p:cNvSpPr/>
          <p:nvPr/>
        </p:nvSpPr>
        <p:spPr>
          <a:xfrm>
            <a:off x="758880" y="2800440"/>
            <a:ext cx="510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Line 15"/>
          <p:cNvSpPr/>
          <p:nvPr/>
        </p:nvSpPr>
        <p:spPr>
          <a:xfrm>
            <a:off x="1546200" y="2997360"/>
            <a:ext cx="504720" cy="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Box 16"/>
          <p:cNvSpPr/>
          <p:nvPr/>
        </p:nvSpPr>
        <p:spPr>
          <a:xfrm>
            <a:off x="2033280" y="2781360"/>
            <a:ext cx="10702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80000"/>
              </a:lnSpc>
              <a:buClr>
                <a:srgbClr val="ffff00"/>
              </a:buClr>
              <a:buFont typeface="Symbol" charset="2"/>
              <a:buChar char="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céto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glutarate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Line 17"/>
          <p:cNvSpPr/>
          <p:nvPr/>
        </p:nvSpPr>
        <p:spPr>
          <a:xfrm>
            <a:off x="3492360" y="1844640"/>
            <a:ext cx="0" cy="115272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Line 18"/>
          <p:cNvSpPr/>
          <p:nvPr/>
        </p:nvSpPr>
        <p:spPr>
          <a:xfrm>
            <a:off x="3203640" y="2997360"/>
            <a:ext cx="792000" cy="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Box 19"/>
          <p:cNvSpPr/>
          <p:nvPr/>
        </p:nvSpPr>
        <p:spPr>
          <a:xfrm>
            <a:off x="4120920" y="2800440"/>
            <a:ext cx="1184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glutamate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Line 20"/>
          <p:cNvSpPr/>
          <p:nvPr/>
        </p:nvSpPr>
        <p:spPr>
          <a:xfrm>
            <a:off x="5435640" y="2997360"/>
            <a:ext cx="865080" cy="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Line 21"/>
          <p:cNvSpPr/>
          <p:nvPr/>
        </p:nvSpPr>
        <p:spPr>
          <a:xfrm>
            <a:off x="5940360" y="1341360"/>
            <a:ext cx="503280" cy="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Box 22"/>
          <p:cNvSpPr/>
          <p:nvPr/>
        </p:nvSpPr>
        <p:spPr>
          <a:xfrm>
            <a:off x="6517800" y="1144440"/>
            <a:ext cx="2289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accélère la glycolyse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Box 23"/>
          <p:cNvSpPr/>
          <p:nvPr/>
        </p:nvSpPr>
        <p:spPr>
          <a:xfrm>
            <a:off x="6497640" y="2800440"/>
            <a:ext cx="1171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glutamine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Line 24"/>
          <p:cNvSpPr/>
          <p:nvPr/>
        </p:nvSpPr>
        <p:spPr>
          <a:xfrm flipH="1">
            <a:off x="250920" y="1989000"/>
            <a:ext cx="2952720" cy="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Line 25"/>
          <p:cNvSpPr/>
          <p:nvPr/>
        </p:nvSpPr>
        <p:spPr>
          <a:xfrm>
            <a:off x="250920" y="1989000"/>
            <a:ext cx="0" cy="25210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Box 26"/>
          <p:cNvSpPr/>
          <p:nvPr/>
        </p:nvSpPr>
        <p:spPr>
          <a:xfrm>
            <a:off x="88560" y="4529160"/>
            <a:ext cx="242964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Perte de coordination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Ataxie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Coma/convulsions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Box 27"/>
          <p:cNvSpPr/>
          <p:nvPr/>
        </p:nvSpPr>
        <p:spPr>
          <a:xfrm>
            <a:off x="3853080" y="4152960"/>
            <a:ext cx="13726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buClr>
                <a:srgbClr val="ffff00"/>
              </a:buClr>
              <a:buFont typeface="Symbol" charset="2"/>
              <a:buChar char="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Glutamate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ffff00"/>
              </a:buClr>
              <a:buFont typeface="Symbol" charset="2"/>
              <a:buChar char="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GABA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Line 28"/>
          <p:cNvSpPr/>
          <p:nvPr/>
        </p:nvSpPr>
        <p:spPr>
          <a:xfrm>
            <a:off x="5435640" y="4508640"/>
            <a:ext cx="504720" cy="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Box 29"/>
          <p:cNvSpPr/>
          <p:nvPr/>
        </p:nvSpPr>
        <p:spPr>
          <a:xfrm>
            <a:off x="5489280" y="4168800"/>
            <a:ext cx="314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+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Box 30"/>
          <p:cNvSpPr/>
          <p:nvPr/>
        </p:nvSpPr>
        <p:spPr>
          <a:xfrm>
            <a:off x="6086160" y="4286160"/>
            <a:ext cx="1906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buClr>
                <a:srgbClr val="ffff00"/>
              </a:buClr>
              <a:buFont typeface="Symbol" charset="2"/>
              <a:buChar char="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Synthèse 5-HT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Line 31"/>
          <p:cNvSpPr/>
          <p:nvPr/>
        </p:nvSpPr>
        <p:spPr>
          <a:xfrm>
            <a:off x="2484360" y="5013360"/>
            <a:ext cx="2879640" cy="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Box 32"/>
          <p:cNvSpPr/>
          <p:nvPr/>
        </p:nvSpPr>
        <p:spPr>
          <a:xfrm>
            <a:off x="5704920" y="4816440"/>
            <a:ext cx="20995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dysfonctionnement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SNC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Line 33"/>
          <p:cNvSpPr/>
          <p:nvPr/>
        </p:nvSpPr>
        <p:spPr>
          <a:xfrm>
            <a:off x="6659640" y="4653000"/>
            <a:ext cx="0" cy="21600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AutoShape 34"/>
          <p:cNvSpPr/>
          <p:nvPr/>
        </p:nvSpPr>
        <p:spPr>
          <a:xfrm rot="3415200">
            <a:off x="5165280" y="5029200"/>
            <a:ext cx="289080" cy="1152360"/>
          </a:xfrm>
          <a:prstGeom prst="downArrow">
            <a:avLst>
              <a:gd name="adj1" fmla="val 49676"/>
              <a:gd name="adj2" fmla="val 99381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Box 35"/>
          <p:cNvSpPr/>
          <p:nvPr/>
        </p:nvSpPr>
        <p:spPr>
          <a:xfrm>
            <a:off x="3206160" y="5967360"/>
            <a:ext cx="1566360" cy="703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FATIGUE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CENTRALE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Line 36"/>
          <p:cNvSpPr/>
          <p:nvPr/>
        </p:nvSpPr>
        <p:spPr>
          <a:xfrm>
            <a:off x="5435640" y="3068640"/>
            <a:ext cx="792000" cy="36036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Box 37"/>
          <p:cNvSpPr/>
          <p:nvPr/>
        </p:nvSpPr>
        <p:spPr>
          <a:xfrm>
            <a:off x="6541920" y="3241800"/>
            <a:ext cx="19670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SymbolPS"/>
                <a:ea typeface="SymbolPS"/>
              </a:rPr>
              <a:t></a:t>
            </a: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-aminobutyrique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(GABA)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Oval 38"/>
          <p:cNvSpPr/>
          <p:nvPr/>
        </p:nvSpPr>
        <p:spPr>
          <a:xfrm>
            <a:off x="3924360" y="2492280"/>
            <a:ext cx="1779480" cy="1008000"/>
          </a:xfrm>
          <a:prstGeom prst="ellipse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Picture 2" descr=""/>
          <p:cNvPicPr/>
          <p:nvPr/>
        </p:nvPicPr>
        <p:blipFill>
          <a:blip r:embed="rId1"/>
          <a:stretch/>
        </p:blipFill>
        <p:spPr>
          <a:xfrm>
            <a:off x="468360" y="46080"/>
            <a:ext cx="7705800" cy="6811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457200" y="407880"/>
            <a:ext cx="8229600" cy="990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NH</a:t>
            </a:r>
            <a:r>
              <a:rPr b="1" i="1" lang="fr-FR" sz="36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3</a:t>
            </a: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cérébral (µmol.g</a:t>
            </a:r>
            <a:r>
              <a:rPr b="1" i="1" lang="fr-FR" sz="3600" strike="noStrike" u="none" baseline="30000">
                <a:solidFill>
                  <a:srgbClr val="ffff00"/>
                </a:solidFill>
                <a:effectLst/>
                <a:uFillTx/>
                <a:latin typeface="Times New Roman"/>
              </a:rPr>
              <a:t>-1</a:t>
            </a:r>
            <a:r>
              <a:rPr b="1" i="1" lang="fr-FR" sz="3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29" name="Object 3"/>
          <p:cNvGraphicFramePr/>
          <p:nvPr/>
        </p:nvGraphicFramePr>
        <p:xfrm>
          <a:off x="542880" y="1531800"/>
          <a:ext cx="7759800" cy="41022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530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42880" y="1531800"/>
                    <a:ext cx="7759800" cy="41022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31" name="Rectangle 4"/>
          <p:cNvSpPr/>
          <p:nvPr/>
        </p:nvSpPr>
        <p:spPr>
          <a:xfrm>
            <a:off x="4413240" y="2287440"/>
            <a:ext cx="3398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*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ectangle 5"/>
          <p:cNvSpPr/>
          <p:nvPr/>
        </p:nvSpPr>
        <p:spPr>
          <a:xfrm>
            <a:off x="4819680" y="2287440"/>
            <a:ext cx="3398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*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6"/>
          <p:cNvSpPr/>
          <p:nvPr/>
        </p:nvSpPr>
        <p:spPr>
          <a:xfrm>
            <a:off x="5497560" y="1692360"/>
            <a:ext cx="3589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*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Rectangle 7"/>
          <p:cNvSpPr/>
          <p:nvPr/>
        </p:nvSpPr>
        <p:spPr>
          <a:xfrm>
            <a:off x="1339560" y="5738760"/>
            <a:ext cx="52484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C.Y. Guézennec et al. Int. J. Sports Med. 1998, </a:t>
            </a:r>
            <a:r>
              <a:rPr b="1" lang="fr-FR" sz="16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19</a:t>
            </a: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, 323-327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1477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2006-05-06T09:44:36Z</dcterms:created>
  <dc:creator>Georges cazorla</dc:creator>
  <dc:description/>
  <dc:language>en-US</dc:language>
  <cp:lastModifiedBy>Georges Caz</cp:lastModifiedBy>
  <dcterms:modified xsi:type="dcterms:W3CDTF">2017-08-20T15:05:52Z</dcterms:modified>
  <cp:revision>23</cp:revision>
  <dc:subject/>
  <dc:title>Diapositive 1</dc:title>
</cp:coreProperties>
</file>