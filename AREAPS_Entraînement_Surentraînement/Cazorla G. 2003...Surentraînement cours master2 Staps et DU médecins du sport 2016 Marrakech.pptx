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3.png" ContentType="image/png"/>
  <Override PartName="/ppt/media/image4.png" ContentType="image/png"/>
  <Override PartName="/ppt/media/image12.png" ContentType="image/png"/>
  <Override PartName="/ppt/media/image9.jpeg" ContentType="image/jpeg"/>
  <Override PartName="/ppt/media/image11.png" ContentType="image/png"/>
  <Override PartName="/ppt/media/image29.wmf" ContentType="image/x-wmf"/>
  <Override PartName="/ppt/media/image7.png" ContentType="image/png"/>
  <Override PartName="/ppt/media/image16.png" ContentType="image/png"/>
  <Override PartName="/ppt/media/image10.png" ContentType="image/png"/>
  <Override PartName="/ppt/media/image1.png" ContentType="image/png"/>
  <Override PartName="/ppt/media/image6.png" ContentType="image/png"/>
  <Override PartName="/ppt/media/image8.jpeg" ContentType="image/jpeg"/>
  <Override PartName="/ppt/media/image28.png" ContentType="image/png"/>
  <Override PartName="/ppt/media/image5.png" ContentType="image/png"/>
  <Override PartName="/ppt/media/image14.png" ContentType="image/png"/>
  <Override PartName="/ppt/media/image26.png" ContentType="image/png"/>
  <Override PartName="/ppt/media/image24.png" ContentType="image/png"/>
  <Override PartName="/ppt/media/image23.png" ContentType="image/png"/>
  <Override PartName="/ppt/media/image22.png" ContentType="image/png"/>
  <Override PartName="/ppt/media/image21.png" ContentType="image/png"/>
  <Override PartName="/ppt/media/image19.png" ContentType="image/png"/>
  <Override PartName="/ppt/media/image17.wmf" ContentType="image/x-wmf"/>
  <Override PartName="/ppt/media/image15.gif" ContentType="image/gif"/>
  <Override PartName="/ppt/media/image18.png" ContentType="image/png"/>
  <Override PartName="/ppt/media/image20.png" ContentType="image/png"/>
  <Override PartName="/ppt/media/image25.wmf" ContentType="image/x-wmf"/>
  <Override PartName="/ppt/media/image2.jpeg" ContentType="image/jpeg"/>
  <Override PartName="/ppt/media/image3.wmf" ContentType="image/x-wmf"/>
  <Override PartName="/ppt/media/image27.png" ContentType="image/png"/>
  <Override PartName="/ppt/embeddings/oleObject1.xlsx" ContentType="application/vnd.openxmlformats-officedocument.spreadsheetml.sheet"/>
  <Override PartName="/ppt/slides/_rels/slide52.xml.rels" ContentType="application/vnd.openxmlformats-package.relationships+xml"/>
  <Override PartName="/ppt/slides/_rels/slide51.xml.rels" ContentType="application/vnd.openxmlformats-package.relationships+xml"/>
  <Override PartName="/ppt/slides/_rels/slide50.xml.rels" ContentType="application/vnd.openxmlformats-package.relationships+xml"/>
  <Override PartName="/ppt/slides/_rels/slide45.xml.rels" ContentType="application/vnd.openxmlformats-package.relationships+xml"/>
  <Override PartName="/ppt/slides/_rels/slide27.xml.rels" ContentType="application/vnd.openxmlformats-package.relationships+xml"/>
  <Override PartName="/ppt/slides/_rels/slide28.xml.rels" ContentType="application/vnd.openxmlformats-package.relationships+xml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62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2.xml.rels" ContentType="application/vnd.openxmlformats-package.relationships+xml"/>
  <Override PartName="/ppt/slides/_rels/slide56.xml.rels" ContentType="application/vnd.openxmlformats-package.relationships+xml"/>
  <Override PartName="/ppt/slides/_rels/slide10.xml.rels" ContentType="application/vnd.openxmlformats-package.relationships+xml"/>
  <Override PartName="/ppt/slides/_rels/slide47.xml.rels" ContentType="application/vnd.openxmlformats-package.relationships+xml"/>
  <Override PartName="/ppt/slides/_rels/slide49.xml.rels" ContentType="application/vnd.openxmlformats-package.relationships+xml"/>
  <Override PartName="/ppt/slides/_rels/slide12.xml.rels" ContentType="application/vnd.openxmlformats-package.relationships+xml"/>
  <Override PartName="/ppt/slides/_rels/slide46.xml.rels" ContentType="application/vnd.openxmlformats-package.relationships+xml"/>
  <Override PartName="/ppt/slides/_rels/slide11.xml.rels" ContentType="application/vnd.openxmlformats-package.relationships+xml"/>
  <Override PartName="/ppt/slides/_rels/slide48.xml.rels" ContentType="application/vnd.openxmlformats-package.relationships+xml"/>
  <Override PartName="/ppt/slides/_rels/slide17.xml.rels" ContentType="application/vnd.openxmlformats-package.relationships+xml"/>
  <Override PartName="/ppt/slides/_rels/slide54.xml.rels" ContentType="application/vnd.openxmlformats-package.relationships+xml"/>
  <Override PartName="/ppt/slides/_rels/slide4.xml.rels" ContentType="application/vnd.openxmlformats-package.relationships+xml"/>
  <Override PartName="/ppt/slides/_rels/slide21.xml.rels" ContentType="application/vnd.openxmlformats-package.relationships+xml"/>
  <Override PartName="/ppt/slides/_rels/slide58.xml.rels" ContentType="application/vnd.openxmlformats-package.relationships+xml"/>
  <Override PartName="/ppt/slides/_rels/slide16.xml.rels" ContentType="application/vnd.openxmlformats-package.relationships+xml"/>
  <Override PartName="/ppt/slides/_rels/slide53.xml.rels" ContentType="application/vnd.openxmlformats-package.relationships+xml"/>
  <Override PartName="/ppt/slides/_rels/slide3.xml.rels" ContentType="application/vnd.openxmlformats-package.relationships+xml"/>
  <Override PartName="/ppt/slides/_rels/slide20.xml.rels" ContentType="application/vnd.openxmlformats-package.relationships+xml"/>
  <Override PartName="/ppt/slides/_rels/slide57.xml.rels" ContentType="application/vnd.openxmlformats-package.relationships+xml"/>
  <Override PartName="/ppt/slides/_rels/slide55.xml.rels" ContentType="application/vnd.openxmlformats-package.relationships+xml"/>
  <Override PartName="/ppt/slides/_rels/slide18.xml.rels" ContentType="application/vnd.openxmlformats-package.relationships+xml"/>
  <Override PartName="/ppt/slides/_rels/slide60.xml.rels" ContentType="application/vnd.openxmlformats-package.relationships+xml"/>
  <Override PartName="/ppt/slides/_rels/slide15.xml.rels" ContentType="application/vnd.openxmlformats-package.relationships+xml"/>
  <Override PartName="/ppt/slides/_rels/slide61.xml.rels" ContentType="application/vnd.openxmlformats-package.relationships+xml"/>
  <Override PartName="/ppt/slides/_rels/slide19.xml.rels" ContentType="application/vnd.openxmlformats-package.relationships+xml"/>
  <Override PartName="/ppt/slides/_rels/slide63.xml.rels" ContentType="application/vnd.openxmlformats-package.relationships+xml"/>
  <Override PartName="/ppt/slides/_rels/slide14.xml.rels" ContentType="application/vnd.openxmlformats-package.relationships+xml"/>
  <Override PartName="/ppt/slides/_rels/slide1.xml.rels" ContentType="application/vnd.openxmlformats-package.relationships+xml"/>
  <Override PartName="/ppt/slides/_rels/slide29.xml.rels" ContentType="application/vnd.openxmlformats-package.relationships+xml"/>
  <Override PartName="/ppt/slides/_rels/slide6.xml.rels" ContentType="application/vnd.openxmlformats-package.relationships+xml"/>
  <Override PartName="/ppt/slides/_rels/slide23.xml.rels" ContentType="application/vnd.openxmlformats-package.relationships+xml"/>
  <Override PartName="/ppt/slides/_rels/slide7.xml.rels" ContentType="application/vnd.openxmlformats-package.relationships+xml"/>
  <Override PartName="/ppt/slides/_rels/slide24.xml.rels" ContentType="application/vnd.openxmlformats-package.relationships+xml"/>
  <Override PartName="/ppt/slides/_rels/slide5.xml.rels" ContentType="application/vnd.openxmlformats-package.relationships+xml"/>
  <Override PartName="/ppt/slides/_rels/slide22.xml.rels" ContentType="application/vnd.openxmlformats-package.relationships+xml"/>
  <Override PartName="/ppt/slides/_rels/slide59.xml.rels" ContentType="application/vnd.openxmlformats-package.relationships+xml"/>
  <Override PartName="/ppt/slides/_rels/slide13.xml.rels" ContentType="application/vnd.openxmlformats-package.relationships+xml"/>
  <Override PartName="/ppt/slides/_rels/slide30.xml.rels" ContentType="application/vnd.openxmlformats-package.relationships+xml"/>
  <Override PartName="/ppt/slides/_rels/slide31.xml.rels" ContentType="application/vnd.openxmlformats-package.relationships+xml"/>
  <Override PartName="/ppt/slides/_rels/slide32.xml.rels" ContentType="application/vnd.openxmlformats-package.relationships+xml"/>
  <Override PartName="/ppt/slides/_rels/slide33.xml.rels" ContentType="application/vnd.openxmlformats-package.relationships+xml"/>
  <Override PartName="/ppt/slides/_rels/slide34.xml.rels" ContentType="application/vnd.openxmlformats-package.relationships+xml"/>
  <Override PartName="/ppt/slides/_rels/slide35.xml.rels" ContentType="application/vnd.openxmlformats-package.relationships+xml"/>
  <Override PartName="/ppt/slides/_rels/slide36.xml.rels" ContentType="application/vnd.openxmlformats-package.relationships+xml"/>
  <Override PartName="/ppt/slides/_rels/slide37.xml.rels" ContentType="application/vnd.openxmlformats-package.relationships+xml"/>
  <Override PartName="/ppt/slides/_rels/slide38.xml.rels" ContentType="application/vnd.openxmlformats-package.relationships+xml"/>
  <Override PartName="/ppt/slides/_rels/slide39.xml.rels" ContentType="application/vnd.openxmlformats-package.relationships+xml"/>
  <Override PartName="/ppt/slides/_rels/slide40.xml.rels" ContentType="application/vnd.openxmlformats-package.relationships+xml"/>
  <Override PartName="/ppt/slides/_rels/slide41.xml.rels" ContentType="application/vnd.openxmlformats-package.relationships+xml"/>
  <Override PartName="/ppt/slides/_rels/slide42.xml.rels" ContentType="application/vnd.openxmlformats-package.relationships+xml"/>
  <Override PartName="/ppt/slides/_rels/slide43.xml.rels" ContentType="application/vnd.openxmlformats-package.relationships+xml"/>
  <Override PartName="/ppt/slides/_rels/slide44.xml.rels" ContentType="application/vnd.openxmlformats-package.relationships+xml"/>
  <Override PartName="/ppt/slides/slide56.xml" ContentType="application/vnd.openxmlformats-officedocument.presentationml.slide+xml"/>
  <Override PartName="/ppt/slides/slide55.xml" ContentType="application/vnd.openxmlformats-officedocument.presentationml.slide+xml"/>
  <Override PartName="/ppt/slides/slide54.xml" ContentType="application/vnd.openxmlformats-officedocument.presentationml.slide+xml"/>
  <Override PartName="/ppt/slides/slide53.xml" ContentType="application/vnd.openxmlformats-officedocument.presentationml.slide+xml"/>
  <Override PartName="/ppt/slides/slide4.xml" ContentType="application/vnd.openxmlformats-officedocument.presentationml.slide+xml"/>
  <Override PartName="/ppt/slides/slide12.xml" ContentType="application/vnd.openxmlformats-officedocument.presentationml.slide+xml"/>
  <Override PartName="/ppt/slides/slide49.xml" ContentType="application/vnd.openxmlformats-officedocument.presentationml.slide+xml"/>
  <Override PartName="/ppt/slides/slide18.xml" ContentType="application/vnd.openxmlformats-officedocument.presentationml.slide+xml"/>
  <Override PartName="/ppt/slides/slide60.xml" ContentType="application/vnd.openxmlformats-officedocument.presentationml.slide+xml"/>
  <Override PartName="/ppt/slides/slide20.xml" ContentType="application/vnd.openxmlformats-officedocument.presentationml.slide+xml"/>
  <Override PartName="/ppt/slides/slide57.xml" ContentType="application/vnd.openxmlformats-officedocument.presentationml.slide+xml"/>
  <Override PartName="/ppt/slides/slide48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17.xml" ContentType="application/vnd.openxmlformats-officedocument.presentationml.slide+xml"/>
  <Override PartName="/ppt/slides/slide9.xml" ContentType="application/vnd.openxmlformats-officedocument.presentationml.slide+xml"/>
  <Override PartName="/ppt/slides/slide47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8.xml" ContentType="application/vnd.openxmlformats-officedocument.presentationml.slide+xml"/>
  <Override PartName="/ppt/slides/slide46.xml" ContentType="application/vnd.openxmlformats-officedocument.presentationml.slide+xml"/>
  <Override PartName="/ppt/slides/slide1.xml" ContentType="application/vnd.openxmlformats-officedocument.presentationml.slide+xml"/>
  <Override PartName="/ppt/slides/slide28.xml" ContentType="application/vnd.openxmlformats-officedocument.presentationml.slide+xml"/>
  <Override PartName="/ppt/slides/slide62.xml" ContentType="application/vnd.openxmlformats-officedocument.presentationml.slide+xml"/>
  <Override PartName="/ppt/slides/slide27.xml" ContentType="application/vnd.openxmlformats-officedocument.presentationml.slide+xml"/>
  <Override PartName="/ppt/slides/slide61.xml" ContentType="application/vnd.openxmlformats-officedocument.presentationml.slide+xml"/>
  <Override PartName="/ppt/slides/slide19.xml" ContentType="application/vnd.openxmlformats-officedocument.presentationml.slide+xml"/>
  <Override PartName="/ppt/slides/slide63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21.xml" ContentType="application/vnd.openxmlformats-officedocument.presentationml.slide+xml"/>
  <Override PartName="/ppt/slides/slide58.xml" ContentType="application/vnd.openxmlformats-officedocument.presentationml.slide+xml"/>
  <Override PartName="/ppt/slides/slide5.xml" ContentType="application/vnd.openxmlformats-officedocument.presentationml.slide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59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Slides/notesSlide33.xml" ContentType="application/vnd.openxmlformats-officedocument.presentationml.notesSlide+xml"/>
  <Override PartName="/ppt/notesSlides/_rels/notesSlide47.xml.rels" ContentType="application/vnd.openxmlformats-package.relationships+xml"/>
  <Override PartName="/ppt/notesSlides/_rels/notesSlide33.xml.rels" ContentType="application/vnd.openxmlformats-package.relationships+xml"/>
  <Override PartName="/ppt/notesSlides/notesSlide4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1"/>
          <p:cNvSpPr>
            <a:spLocks noGrp="1"/>
          </p:cNvSpPr>
          <p:nvPr>
            <p:ph type="hdr"/>
          </p:nvPr>
        </p:nvSpPr>
        <p:spPr>
          <a:xfrm>
            <a:off x="-36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dt" idx="4"/>
          </p:nvPr>
        </p:nvSpPr>
        <p:spPr>
          <a:xfrm>
            <a:off x="388584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sldImg"/>
          </p:nvPr>
        </p:nvSpPr>
        <p:spPr>
          <a:xfrm>
            <a:off x="1143000" y="685440"/>
            <a:ext cx="4572000" cy="342900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Click to move the slide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Click to edit the notes format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ftr" idx="5"/>
          </p:nvPr>
        </p:nvSpPr>
        <p:spPr>
          <a:xfrm>
            <a:off x="-36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sldNum" idx="6"/>
          </p:nvPr>
        </p:nvSpPr>
        <p:spPr>
          <a:xfrm>
            <a:off x="388584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1" lang="fr-FR" sz="1200" strike="noStrike" u="none">
                <a:solidFill>
                  <a:srgbClr val="ffff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AD338B3-83A0-4B5C-9414-D8917C2F835B}" type="slidenum">
              <a:rPr b="1" lang="fr-FR" sz="1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&lt;number&gt;</a:t>
            </a:fld>
            <a:endParaRPr b="1" lang="en-US" sz="12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47.xml.rels><?xml version="1.0" encoding="UTF-8"?>
<Relationships xmlns="http://schemas.openxmlformats.org/package/2006/relationships"><Relationship Id="rId1" Type="http://schemas.openxmlformats.org/officeDocument/2006/relationships/slide" Target="../slides/slide47.xml"/><Relationship Id="rId2" Type="http://schemas.openxmlformats.org/officeDocument/2006/relationships/notesMaster" Target="../notesMasters/notesMaster1.xml"/>
</Relationship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A378CA3-DC72-4042-AD17-51EAFE35BB29}" type="slidenum">
              <a:rPr b="1" lang="fr-FR" sz="1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&lt;number&gt;</a:t>
            </a:fld>
            <a:endParaRPr b="1" lang="en-US" sz="12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86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867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Figure 2</a:t>
            </a: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: </a:t>
            </a: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Altérations de la structure cellulaire musculaire et diffusion des protéines métaboliques et/ou contractiles.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5BA69D1-1F32-4307-B331-A1BD744372CD}" type="slidenum">
              <a:rPr b="1" lang="fr-FR" sz="1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&lt;number&gt;</a:t>
            </a:fld>
            <a:endParaRPr b="1" lang="en-US" sz="12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86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870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Figure 5</a:t>
            </a: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 : Métabolisme de la glutamine et induction du surentraînement : immunosuppression et développement des risques infectieux.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20323B9-38EA-4FFB-B90A-3FD96576EEE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3333cc"/>
            </a:gs>
            <a:gs pos="100000">
              <a:srgbClr val="000000"/>
            </a:gs>
          </a:gsLst>
          <a:path path="rect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85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Times New Roman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Second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Third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Times New Roman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Fourth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Times New Roman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Fifth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imes New Roman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Sixth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imes New Roman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Seventh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EF59C01-DE7E-4DFB-AEDC-FBC5469AFC3E}" type="slidenum"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1" lang="en-US" sz="1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hyperlink" Target="mailto:areaps33@gmail.com" TargetMode="External"/><Relationship Id="rId3" Type="http://schemas.openxmlformats.org/officeDocument/2006/relationships/hyperlink" Target="http://www.areaps.org/" TargetMode="External"/><Relationship Id="rId4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3.wmf"/><Relationship Id="rId2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package" Target="../embeddings/oleObject1.xlsx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jpeg"/><Relationship Id="rId3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slideLayout" Target="../slideLayouts/slideLayout1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15.gif"/><Relationship Id="rId2" Type="http://schemas.openxmlformats.org/officeDocument/2006/relationships/image" Target="../media/image15.gif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package" Target="../embeddings/oleObject1.xlsx"/><Relationship Id="rId2" Type="http://schemas.openxmlformats.org/officeDocument/2006/relationships/image" Target="../media/image17.wmf"/><Relationship Id="rId3" Type="http://schemas.openxmlformats.org/officeDocument/2006/relationships/slideLayout" Target="../slideLayouts/slideLayout1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slideLayout" Target="../slideLayouts/slideLayout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1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package" Target="../embeddings/oleObject1.xlsx"/><Relationship Id="rId2" Type="http://schemas.openxmlformats.org/officeDocument/2006/relationships/image" Target="../media/image25.wmf"/><Relationship Id="rId3" Type="http://schemas.openxmlformats.org/officeDocument/2006/relationships/slideLayout" Target="../slideLayouts/slideLayout1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image" Target="../media/image27.png"/><Relationship Id="rId3" Type="http://schemas.openxmlformats.org/officeDocument/2006/relationships/slideLayout" Target="../slideLayouts/slideLayout1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image" Target="../media/image28.png"/><Relationship Id="rId3" Type="http://schemas.openxmlformats.org/officeDocument/2006/relationships/image" Target="../media/image28.png"/><Relationship Id="rId4" Type="http://schemas.openxmlformats.org/officeDocument/2006/relationships/image" Target="../media/image28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7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1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image" Target="../media/image29.wmf"/><Relationship Id="rId2" Type="http://schemas.openxmlformats.org/officeDocument/2006/relationships/slideLayout" Target="../slideLayouts/slideLayout1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3.xml.rels><?xml version="1.0" encoding="UTF-8"?>
<Relationships xmlns="http://schemas.openxmlformats.org/package/2006/relationships"><Relationship Id="rId1" Type="http://schemas.openxmlformats.org/officeDocument/2006/relationships/image" Target="../media/image29.wmf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2"/>
          <p:cNvSpPr/>
          <p:nvPr/>
        </p:nvSpPr>
        <p:spPr>
          <a:xfrm>
            <a:off x="539640" y="1773360"/>
            <a:ext cx="8229600" cy="355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12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4000" strike="noStrike" u="none">
                <a:solidFill>
                  <a:srgbClr val="ffff66"/>
                </a:solidFill>
                <a:effectLst/>
                <a:uFillTx/>
                <a:latin typeface="Arial"/>
              </a:rPr>
              <a:t>LE SURENTRAINEMENT</a:t>
            </a:r>
            <a:endParaRPr b="1" lang="en-US" sz="4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2400" strike="noStrike" u="none">
                <a:solidFill>
                  <a:srgbClr val="99ffcc"/>
                </a:solidFill>
                <a:effectLst/>
                <a:uFillTx/>
                <a:latin typeface="Arial"/>
              </a:rPr>
              <a:t>Cours DU Médecine du sport </a:t>
            </a:r>
            <a:endParaRPr b="1" lang="en-US" sz="2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2400" strike="noStrike" u="none">
                <a:solidFill>
                  <a:srgbClr val="99ffcc"/>
                </a:solidFill>
                <a:effectLst/>
                <a:uFillTx/>
                <a:latin typeface="Arial"/>
              </a:rPr>
              <a:t>Marrakech le 29 mai 2016</a:t>
            </a:r>
            <a:endParaRPr b="1" lang="en-US" sz="2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Box 5"/>
          <p:cNvSpPr/>
          <p:nvPr/>
        </p:nvSpPr>
        <p:spPr>
          <a:xfrm>
            <a:off x="519120" y="4797360"/>
            <a:ext cx="8077320" cy="246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17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17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17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99ffcc"/>
                </a:solidFill>
                <a:effectLst/>
                <a:uFillTx/>
                <a:latin typeface="Arial"/>
              </a:rPr>
              <a:t>Georges CAZORLA , </a:t>
            </a:r>
            <a:endParaRPr b="1" lang="en-US" sz="2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17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pic>
        <p:nvPicPr>
          <p:cNvPr id="14" name="Image 30720" descr=""/>
          <p:cNvPicPr/>
          <p:nvPr/>
        </p:nvPicPr>
        <p:blipFill>
          <a:blip r:embed="rId1"/>
          <a:srcRect l="0" t="19565" r="74963" b="63428"/>
          <a:stretch/>
        </p:blipFill>
        <p:spPr>
          <a:xfrm>
            <a:off x="3652920" y="50760"/>
            <a:ext cx="2157480" cy="824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" name="Rectangle 3"/>
          <p:cNvSpPr/>
          <p:nvPr/>
        </p:nvSpPr>
        <p:spPr>
          <a:xfrm>
            <a:off x="349560" y="1012320"/>
            <a:ext cx="9208440" cy="79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53118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600" strike="noStrike" u="none">
                <a:solidFill>
                  <a:srgbClr val="ffff00"/>
                </a:solidFill>
                <a:effectLst/>
                <a:uFillTx/>
                <a:latin typeface="Calibri"/>
                <a:ea typeface="Times New Roman"/>
              </a:rPr>
              <a:t>Association pour la Recherche et l’Évaluation en Activité Physique et en Sport </a:t>
            </a:r>
            <a:endParaRPr b="1" lang="en-US" sz="16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53118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sng">
                <a:solidFill>
                  <a:srgbClr val="ccccff"/>
                </a:solidFill>
                <a:effectLst/>
                <a:uFillTx/>
                <a:latin typeface="Calibri"/>
                <a:ea typeface="Times New Roman"/>
                <a:hlinkClick r:id="rId2"/>
              </a:rPr>
              <a:t>areaps33@gmail.com</a:t>
            </a:r>
            <a:r>
              <a:rPr b="1" i="1" lang="fr-FR" sz="1600" strike="noStrike" u="none">
                <a:solidFill>
                  <a:srgbClr val="ffff00"/>
                </a:solidFill>
                <a:effectLst/>
                <a:uFillTx/>
                <a:latin typeface="Calibri"/>
                <a:ea typeface="Times New Roman"/>
              </a:rPr>
              <a:t>    Web : </a:t>
            </a:r>
            <a:r>
              <a:rPr b="1" lang="fr-FR" sz="1600" strike="noStrike" u="sng">
                <a:solidFill>
                  <a:srgbClr val="ccccff"/>
                </a:solidFill>
                <a:effectLst/>
                <a:uFillTx/>
                <a:latin typeface="Calibri"/>
                <a:ea typeface="Times New Roman"/>
                <a:hlinkClick r:id="rId3"/>
              </a:rPr>
              <a:t>www.areaps.org</a:t>
            </a:r>
            <a:endParaRPr b="1" lang="en-US" sz="16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53118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400" strike="noStrike" u="none">
                <a:solidFill>
                  <a:srgbClr val="ffff00"/>
                </a:solidFill>
                <a:effectLst/>
                <a:uFillTx/>
                <a:latin typeface="Calibri"/>
                <a:ea typeface="Times New Roman"/>
              </a:rPr>
              <a:t> </a:t>
            </a:r>
            <a:endParaRPr b="1" lang="en-US" sz="1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</p:spTree>
  </p:cSld>
  <p:transition spd="med">
    <p:split dir="out" orient="vert"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nodeType="clickEffect" fill="hold">
                      <p:stCondLst>
                        <p:cond delay="0"/>
                      </p:stCondLst>
                      <p:childTnLst>
                        <p:par>
                          <p:cTn id="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afterEffect" fill="hold" presetClass="entr" presetID="4" presetSubtype="3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out)" transition="in">
                                      <p:cBhvr additive="repl"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9" nodeType="afterEffect" fill="hold" presetClass="entr" presetID="4" presetSubtype="3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out)" transition="in">
                                      <p:cBhvr additive="repl"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2"/>
          <p:cNvSpPr/>
          <p:nvPr/>
        </p:nvSpPr>
        <p:spPr>
          <a:xfrm>
            <a:off x="686880" y="1905120"/>
            <a:ext cx="8209800" cy="228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“ Le surentraînement est assez courant dans les sports</a:t>
            </a:r>
            <a:endParaRPr b="1" lang="en-US" sz="2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d’endurance, puisque certaines études (Morgan et al. </a:t>
            </a:r>
            <a:endParaRPr b="1" lang="en-US" sz="2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1987 et 1988) ont montré qu’environ 2/3 des coureurs</a:t>
            </a:r>
            <a:endParaRPr b="1" lang="en-US" sz="2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de demi-fond et de fond ont souffert ou souffriront au</a:t>
            </a:r>
            <a:endParaRPr b="1" lang="en-US" sz="2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moins une fois de surentraînement au cours de leur </a:t>
            </a:r>
            <a:endParaRPr b="1" lang="en-US" sz="2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carrière ”</a:t>
            </a:r>
            <a:endParaRPr b="1" lang="en-US" sz="2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Box 3"/>
          <p:cNvSpPr/>
          <p:nvPr/>
        </p:nvSpPr>
        <p:spPr>
          <a:xfrm>
            <a:off x="1371240" y="4952880"/>
            <a:ext cx="6633360" cy="82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Qu’en est-il ou qu’en sera-t-il des rugbymen </a:t>
            </a:r>
            <a:endParaRPr b="1" lang="en-US" sz="2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nouvellement professionnels ?</a:t>
            </a:r>
            <a:endParaRPr b="1" lang="en-US" sz="2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</p:spTree>
  </p:cSld>
  <p:transition spd="med">
    <p:split dir="out" orient="vert"/>
  </p:transition>
  <p:timing>
    <p:tnLst>
      <p:par>
        <p:cTn id="12" dur="indefinite" restart="never" nodeType="tmRoot">
          <p:childTnLst>
            <p:seq>
              <p:cTn id="13" dur="indefinite" nodeType="mainSeq">
                <p:childTnLst>
                  <p:par>
                    <p:cTn id="14" nodeType="clickEffect" fill="hold">
                      <p:stCondLst>
                        <p:cond delay="0"/>
                      </p:stCondLst>
                      <p:childTnLst>
                        <p:par>
                          <p:cTn id="1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6" nodeType="after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nodeType="afterEffect" fill="hold" presetClass="entr" presetID="5" presetSubtype="10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Line 2"/>
          <p:cNvSpPr/>
          <p:nvPr/>
        </p:nvSpPr>
        <p:spPr>
          <a:xfrm>
            <a:off x="1143000" y="4268880"/>
            <a:ext cx="7010280" cy="0"/>
          </a:xfrm>
          <a:prstGeom prst="line">
            <a:avLst/>
          </a:prstGeom>
          <a:ln w="381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19" name="Line 3"/>
          <p:cNvSpPr/>
          <p:nvPr/>
        </p:nvSpPr>
        <p:spPr>
          <a:xfrm flipV="1">
            <a:off x="1143000" y="154080"/>
            <a:ext cx="0" cy="4114800"/>
          </a:xfrm>
          <a:prstGeom prst="line">
            <a:avLst/>
          </a:prstGeom>
          <a:ln w="381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Box 4"/>
          <p:cNvSpPr/>
          <p:nvPr/>
        </p:nvSpPr>
        <p:spPr>
          <a:xfrm>
            <a:off x="996840" y="4159080"/>
            <a:ext cx="723276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                 I                 I                 I                 I                 I                 I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80           100            120            140            160            180            200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Box 5"/>
          <p:cNvSpPr/>
          <p:nvPr/>
        </p:nvSpPr>
        <p:spPr>
          <a:xfrm>
            <a:off x="2113560" y="4737240"/>
            <a:ext cx="484884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Kilométrage hebdomadaire (km/semaine)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Box 6"/>
          <p:cNvSpPr/>
          <p:nvPr/>
        </p:nvSpPr>
        <p:spPr>
          <a:xfrm rot="16219800">
            <a:off x="-1764720" y="2443320"/>
            <a:ext cx="392904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Performance au marathon ( min )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Box 7"/>
          <p:cNvSpPr/>
          <p:nvPr/>
        </p:nvSpPr>
        <p:spPr>
          <a:xfrm>
            <a:off x="380880" y="230040"/>
            <a:ext cx="831600" cy="405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140  -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135  -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130  -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125  -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Box 20"/>
          <p:cNvSpPr/>
          <p:nvPr/>
        </p:nvSpPr>
        <p:spPr>
          <a:xfrm>
            <a:off x="5127480" y="2592360"/>
            <a:ext cx="29196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Marlett"/>
                <a:ea typeface="Marlett"/>
              </a:rPr>
              <a:t></a:t>
            </a:r>
            <a:endParaRPr b="1" lang="en-US" sz="2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Box 22"/>
          <p:cNvSpPr/>
          <p:nvPr/>
        </p:nvSpPr>
        <p:spPr>
          <a:xfrm>
            <a:off x="6041880" y="2592360"/>
            <a:ext cx="29196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Marlett"/>
                <a:ea typeface="Marlett"/>
              </a:rPr>
              <a:t></a:t>
            </a:r>
            <a:endParaRPr b="1" lang="en-US" sz="2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grpSp>
        <p:nvGrpSpPr>
          <p:cNvPr id="26" name="Group 32"/>
          <p:cNvGrpSpPr/>
          <p:nvPr/>
        </p:nvGrpSpPr>
        <p:grpSpPr>
          <a:xfrm>
            <a:off x="1682640" y="657360"/>
            <a:ext cx="6404040" cy="2088360"/>
            <a:chOff x="1682640" y="657360"/>
            <a:chExt cx="6404040" cy="2088360"/>
          </a:xfrm>
        </p:grpSpPr>
        <p:sp>
          <p:nvSpPr>
            <p:cNvPr id="27" name="Text Box 8"/>
            <p:cNvSpPr/>
            <p:nvPr/>
          </p:nvSpPr>
          <p:spPr>
            <a:xfrm>
              <a:off x="1682640" y="657360"/>
              <a:ext cx="291960" cy="45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2400" strike="noStrike" u="none">
                  <a:solidFill>
                    <a:srgbClr val="ffff00"/>
                  </a:solidFill>
                  <a:effectLst/>
                  <a:uFillTx/>
                  <a:latin typeface="Marlett"/>
                  <a:ea typeface="Marlett"/>
                </a:rPr>
                <a:t></a:t>
              </a:r>
              <a:endParaRPr b="1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" name="Text Box 9"/>
            <p:cNvSpPr/>
            <p:nvPr/>
          </p:nvSpPr>
          <p:spPr>
            <a:xfrm>
              <a:off x="2765520" y="1906560"/>
              <a:ext cx="291960" cy="45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2400" strike="noStrike" u="none">
                  <a:solidFill>
                    <a:srgbClr val="ffff00"/>
                  </a:solidFill>
                  <a:effectLst/>
                  <a:uFillTx/>
                  <a:latin typeface="Marlett"/>
                  <a:ea typeface="Marlett"/>
                </a:rPr>
                <a:t></a:t>
              </a:r>
              <a:endParaRPr b="1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" name="Text Box 10"/>
            <p:cNvSpPr/>
            <p:nvPr/>
          </p:nvSpPr>
          <p:spPr>
            <a:xfrm>
              <a:off x="2765520" y="1677960"/>
              <a:ext cx="291960" cy="45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2400" strike="noStrike" u="none">
                  <a:solidFill>
                    <a:srgbClr val="ffff00"/>
                  </a:solidFill>
                  <a:effectLst/>
                  <a:uFillTx/>
                  <a:latin typeface="Marlett"/>
                  <a:ea typeface="Marlett"/>
                </a:rPr>
                <a:t></a:t>
              </a:r>
              <a:endParaRPr b="1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" name="Text Box 11"/>
            <p:cNvSpPr/>
            <p:nvPr/>
          </p:nvSpPr>
          <p:spPr>
            <a:xfrm>
              <a:off x="2765520" y="1068480"/>
              <a:ext cx="291960" cy="45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2400" strike="noStrike" u="none">
                  <a:solidFill>
                    <a:srgbClr val="ffff00"/>
                  </a:solidFill>
                  <a:effectLst/>
                  <a:uFillTx/>
                  <a:latin typeface="Marlett"/>
                  <a:ea typeface="Marlett"/>
                </a:rPr>
                <a:t></a:t>
              </a:r>
              <a:endParaRPr b="1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" name="Text Box 12"/>
            <p:cNvSpPr/>
            <p:nvPr/>
          </p:nvSpPr>
          <p:spPr>
            <a:xfrm>
              <a:off x="2917800" y="915840"/>
              <a:ext cx="291960" cy="45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2400" strike="noStrike" u="none">
                  <a:solidFill>
                    <a:srgbClr val="ffff00"/>
                  </a:solidFill>
                  <a:effectLst/>
                  <a:uFillTx/>
                  <a:latin typeface="Marlett"/>
                  <a:ea typeface="Marlett"/>
                </a:rPr>
                <a:t></a:t>
              </a:r>
              <a:endParaRPr b="1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" name="Text Box 13"/>
            <p:cNvSpPr/>
            <p:nvPr/>
          </p:nvSpPr>
          <p:spPr>
            <a:xfrm>
              <a:off x="2765520" y="1220760"/>
              <a:ext cx="291960" cy="45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2400" strike="noStrike" u="none">
                  <a:solidFill>
                    <a:srgbClr val="ffff00"/>
                  </a:solidFill>
                  <a:effectLst/>
                  <a:uFillTx/>
                  <a:latin typeface="Marlett"/>
                  <a:ea typeface="Marlett"/>
                </a:rPr>
                <a:t></a:t>
              </a:r>
              <a:endParaRPr b="1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" name="Text Box 14"/>
            <p:cNvSpPr/>
            <p:nvPr/>
          </p:nvSpPr>
          <p:spPr>
            <a:xfrm>
              <a:off x="2994120" y="1068480"/>
              <a:ext cx="291960" cy="45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2400" strike="noStrike" u="none">
                  <a:solidFill>
                    <a:srgbClr val="ffff00"/>
                  </a:solidFill>
                  <a:effectLst/>
                  <a:uFillTx/>
                  <a:latin typeface="Marlett"/>
                  <a:ea typeface="Marlett"/>
                </a:rPr>
                <a:t></a:t>
              </a:r>
              <a:endParaRPr b="1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" name="Text Box 15"/>
            <p:cNvSpPr/>
            <p:nvPr/>
          </p:nvSpPr>
          <p:spPr>
            <a:xfrm>
              <a:off x="3222720" y="1677960"/>
              <a:ext cx="291960" cy="45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2400" strike="noStrike" u="none">
                  <a:solidFill>
                    <a:srgbClr val="ffff00"/>
                  </a:solidFill>
                  <a:effectLst/>
                  <a:uFillTx/>
                  <a:latin typeface="Marlett"/>
                  <a:ea typeface="Marlett"/>
                </a:rPr>
                <a:t></a:t>
              </a:r>
              <a:endParaRPr b="1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" name="Text Box 16"/>
            <p:cNvSpPr/>
            <p:nvPr/>
          </p:nvSpPr>
          <p:spPr>
            <a:xfrm>
              <a:off x="3375000" y="2286000"/>
              <a:ext cx="291960" cy="45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2400" strike="noStrike" u="none">
                  <a:solidFill>
                    <a:srgbClr val="ffff00"/>
                  </a:solidFill>
                  <a:effectLst/>
                  <a:uFillTx/>
                  <a:latin typeface="Marlett"/>
                  <a:ea typeface="Marlett"/>
                </a:rPr>
                <a:t></a:t>
              </a:r>
              <a:endParaRPr b="1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" name="Text Box 17"/>
            <p:cNvSpPr/>
            <p:nvPr/>
          </p:nvSpPr>
          <p:spPr>
            <a:xfrm>
              <a:off x="3984480" y="1677960"/>
              <a:ext cx="291960" cy="45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2400" strike="noStrike" u="none">
                  <a:solidFill>
                    <a:srgbClr val="ffff00"/>
                  </a:solidFill>
                  <a:effectLst/>
                  <a:uFillTx/>
                  <a:latin typeface="Marlett"/>
                  <a:ea typeface="Marlett"/>
                </a:rPr>
                <a:t></a:t>
              </a:r>
              <a:endParaRPr b="1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" name="Text Box 18"/>
            <p:cNvSpPr/>
            <p:nvPr/>
          </p:nvSpPr>
          <p:spPr>
            <a:xfrm>
              <a:off x="4365720" y="2058840"/>
              <a:ext cx="291960" cy="45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2400" strike="noStrike" u="none">
                  <a:solidFill>
                    <a:srgbClr val="ffff00"/>
                  </a:solidFill>
                  <a:effectLst/>
                  <a:uFillTx/>
                  <a:latin typeface="Marlett"/>
                  <a:ea typeface="Marlett"/>
                </a:rPr>
                <a:t></a:t>
              </a:r>
              <a:endParaRPr b="1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" name="Text Box 19"/>
            <p:cNvSpPr/>
            <p:nvPr/>
          </p:nvSpPr>
          <p:spPr>
            <a:xfrm>
              <a:off x="4822920" y="2211480"/>
              <a:ext cx="291960" cy="45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2400" strike="noStrike" u="none">
                  <a:solidFill>
                    <a:srgbClr val="ffff00"/>
                  </a:solidFill>
                  <a:effectLst/>
                  <a:uFillTx/>
                  <a:latin typeface="Marlett"/>
                  <a:ea typeface="Marlett"/>
                </a:rPr>
                <a:t></a:t>
              </a:r>
              <a:endParaRPr b="1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" name="Text Box 21"/>
            <p:cNvSpPr/>
            <p:nvPr/>
          </p:nvSpPr>
          <p:spPr>
            <a:xfrm>
              <a:off x="5737320" y="1297080"/>
              <a:ext cx="291960" cy="45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2400" strike="noStrike" u="none">
                  <a:solidFill>
                    <a:srgbClr val="ffff00"/>
                  </a:solidFill>
                  <a:effectLst/>
                  <a:uFillTx/>
                  <a:latin typeface="Marlett"/>
                  <a:ea typeface="Marlett"/>
                </a:rPr>
                <a:t></a:t>
              </a:r>
              <a:endParaRPr b="1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" name="Text Box 23"/>
            <p:cNvSpPr/>
            <p:nvPr/>
          </p:nvSpPr>
          <p:spPr>
            <a:xfrm>
              <a:off x="6727680" y="1906560"/>
              <a:ext cx="291960" cy="45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2400" strike="noStrike" u="none">
                  <a:solidFill>
                    <a:srgbClr val="ffff00"/>
                  </a:solidFill>
                  <a:effectLst/>
                  <a:uFillTx/>
                  <a:latin typeface="Marlett"/>
                  <a:ea typeface="Marlett"/>
                </a:rPr>
                <a:t></a:t>
              </a:r>
              <a:endParaRPr b="1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" name="Text Box 24"/>
            <p:cNvSpPr/>
            <p:nvPr/>
          </p:nvSpPr>
          <p:spPr>
            <a:xfrm>
              <a:off x="7108920" y="1677960"/>
              <a:ext cx="291960" cy="45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2400" strike="noStrike" u="none">
                  <a:solidFill>
                    <a:srgbClr val="ffff00"/>
                  </a:solidFill>
                  <a:effectLst/>
                  <a:uFillTx/>
                  <a:latin typeface="Marlett"/>
                  <a:ea typeface="Marlett"/>
                </a:rPr>
                <a:t></a:t>
              </a:r>
              <a:endParaRPr b="1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" name="Text Box 25"/>
            <p:cNvSpPr/>
            <p:nvPr/>
          </p:nvSpPr>
          <p:spPr>
            <a:xfrm>
              <a:off x="7413480" y="1373040"/>
              <a:ext cx="291960" cy="45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2400" strike="noStrike" u="none">
                  <a:solidFill>
                    <a:srgbClr val="ffff00"/>
                  </a:solidFill>
                  <a:effectLst/>
                  <a:uFillTx/>
                  <a:latin typeface="Marlett"/>
                  <a:ea typeface="Marlett"/>
                </a:rPr>
                <a:t></a:t>
              </a:r>
              <a:endParaRPr b="1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" name="Text Box 26"/>
            <p:cNvSpPr/>
            <p:nvPr/>
          </p:nvSpPr>
          <p:spPr>
            <a:xfrm>
              <a:off x="7794720" y="1144440"/>
              <a:ext cx="291960" cy="45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2400" strike="noStrike" u="none">
                  <a:solidFill>
                    <a:srgbClr val="ffff00"/>
                  </a:solidFill>
                  <a:effectLst/>
                  <a:uFillTx/>
                  <a:latin typeface="Marlett"/>
                  <a:ea typeface="Marlett"/>
                </a:rPr>
                <a:t></a:t>
              </a:r>
              <a:endParaRPr b="1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4" name="Arc 27"/>
          <p:cNvSpPr/>
          <p:nvPr/>
        </p:nvSpPr>
        <p:spPr>
          <a:xfrm rot="8989200">
            <a:off x="2361960" y="-685440"/>
            <a:ext cx="5195880" cy="3735360"/>
          </a:xfrm>
          <a:custGeom>
            <a:avLst/>
            <a:gdLst>
              <a:gd name="GluePoint1X" fmla="*/ 0 w 21600"/>
              <a:gd name="GluePoint1Y" fmla="*/ 0 h 21600"/>
              <a:gd name="GluePoint2X" fmla="*/ 2147483647 w 21600"/>
              <a:gd name="GluePoint2Y" fmla="*/ 2147483647 h 21600"/>
              <a:gd name="GluePoint3X" fmla="*/ 0 w 21600"/>
              <a:gd name="GluePoint3Y" fmla="*/ 2147483647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l" t="t" r="r" b="b"/>
            <a:pathLst>
              <a:path fill="none" w="21600" h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stroke="0" w="21600" h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844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45" name="Oval 28"/>
          <p:cNvSpPr/>
          <p:nvPr/>
        </p:nvSpPr>
        <p:spPr>
          <a:xfrm>
            <a:off x="4952880" y="2592360"/>
            <a:ext cx="1447920" cy="533520"/>
          </a:xfrm>
          <a:prstGeom prst="ellipse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46" name="Line 29"/>
          <p:cNvSpPr/>
          <p:nvPr/>
        </p:nvSpPr>
        <p:spPr>
          <a:xfrm>
            <a:off x="5257800" y="2897280"/>
            <a:ext cx="0" cy="1295280"/>
          </a:xfrm>
          <a:prstGeom prst="line">
            <a:avLst/>
          </a:prstGeom>
          <a:ln w="28440">
            <a:solidFill>
              <a:srgbClr val="ffffff"/>
            </a:solidFill>
            <a:prstDash val="sysDot"/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47" name="Line 30"/>
          <p:cNvSpPr/>
          <p:nvPr/>
        </p:nvSpPr>
        <p:spPr>
          <a:xfrm>
            <a:off x="6172200" y="2897280"/>
            <a:ext cx="0" cy="1295280"/>
          </a:xfrm>
          <a:prstGeom prst="line">
            <a:avLst/>
          </a:prstGeom>
          <a:ln w="28440">
            <a:solidFill>
              <a:srgbClr val="ffffff"/>
            </a:solidFill>
            <a:prstDash val="sysDot"/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Box 31"/>
          <p:cNvSpPr/>
          <p:nvPr/>
        </p:nvSpPr>
        <p:spPr>
          <a:xfrm>
            <a:off x="-11880" y="5334120"/>
            <a:ext cx="9291960" cy="100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Relation entre charge d’entraînement ( km/semaine ) et performances obtenues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au marathon par Ron Hill (fin 1960-début 1970), d’après les données rapportées 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par Noakes (1990). Adapté de Foster et Lehmann (1997)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</p:spTree>
  </p:cSld>
  <p:transition spd="med">
    <p:split dir="out" orient="vert"/>
  </p:transition>
  <p:timing>
    <p:tnLst>
      <p:par>
        <p:cTn id="23" dur="indefinite" restart="never" nodeType="tmRoot">
          <p:childTnLst>
            <p:seq>
              <p:cTn id="24" dur="indefinite" nodeType="mainSeq">
                <p:childTnLst>
                  <p:par>
                    <p:cTn id="25" nodeType="clickEffect" fill="hold">
                      <p:stCondLst>
                        <p:cond delay="0"/>
                      </p:stCondLst>
                      <p:childTnLst>
                        <p:par>
                          <p:cTn id="2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7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nodeType="afterEffect" fill="hold" presetClass="entr" presetID="17" presetSubtype="8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nodeType="afterEffect" fill="hold">
                            <p:stCondLst>
                              <p:cond delay="3000"/>
                            </p:stCondLst>
                            <p:childTnLst>
                              <p:par>
                                <p:cTn id="38" nodeType="after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nodeType="afterEffect" fill="hold">
                            <p:stCondLst>
                              <p:cond delay="3500"/>
                            </p:stCondLst>
                            <p:childTnLst>
                              <p:par>
                                <p:cTn id="43" nodeType="after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nodeType="afterEffect" fill="hold">
                            <p:stCondLst>
                              <p:cond delay="4000"/>
                            </p:stCondLst>
                            <p:childTnLst>
                              <p:par>
                                <p:cTn id="48" nodeType="afterEffect" fill="hold" presetClass="entr" presetID="17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nodeType="afterEffect" fill="hold">
                            <p:stCondLst>
                              <p:cond delay="4500"/>
                            </p:stCondLst>
                            <p:childTnLst>
                              <p:par>
                                <p:cTn id="55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nodeType="afterEffect" fill="hold">
                            <p:stCondLst>
                              <p:cond delay="5000"/>
                            </p:stCondLst>
                            <p:childTnLst>
                              <p:par>
                                <p:cTn id="60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nodeType="afterEffect" fill="hold">
                            <p:stCondLst>
                              <p:cond delay="5500"/>
                            </p:stCondLst>
                            <p:childTnLst>
                              <p:par>
                                <p:cTn id="65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nodeType="afterEffect" fill="hold">
                            <p:stCondLst>
                              <p:cond delay="6000"/>
                            </p:stCondLst>
                            <p:childTnLst>
                              <p:par>
                                <p:cTn id="69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7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nodeType="afterEffect" fill="hold">
                            <p:stCondLst>
                              <p:cond delay="6500"/>
                            </p:stCondLst>
                            <p:childTnLst>
                              <p:par>
                                <p:cTn id="73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7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nodeType="afterEffect" fill="hold">
                            <p:stCondLst>
                              <p:cond delay="7000"/>
                            </p:stCondLst>
                            <p:childTnLst>
                              <p:par>
                                <p:cTn id="77" nodeType="afterEffect" fill="hold" presetClass="entr" presetID="17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nodeType="afterEffect" fill="hold">
                            <p:stCondLst>
                              <p:cond delay="7500"/>
                            </p:stCondLst>
                            <p:childTnLst>
                              <p:par>
                                <p:cTn id="84" nodeType="afterEffect" fill="hold" presetClass="entr" presetID="19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86" dur="5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width*sin(2.5*pi*$)" tm="0">
                                          <p:val>
                                            <p:fltVal val="0"/>
                                          </p:val>
                                        </p:tav>
                                        <p:tav fmla="width*sin(2.5*pi*$)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7" dur="5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nodeType="afterEffect" fill="hold">
                            <p:stCondLst>
                              <p:cond delay="12500"/>
                            </p:stCondLst>
                            <p:childTnLst>
                              <p:par>
                                <p:cTn id="89" nodeType="afterEffect" fill="hold" presetClass="entr" presetID="17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9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nodeType="afterEffect" fill="hold">
                            <p:stCondLst>
                              <p:cond delay="13000"/>
                            </p:stCondLst>
                            <p:childTnLst>
                              <p:par>
                                <p:cTn id="96" nodeType="afterEffect" fill="hold" presetClass="entr" presetID="17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9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 Box 2"/>
          <p:cNvSpPr/>
          <p:nvPr/>
        </p:nvSpPr>
        <p:spPr>
          <a:xfrm>
            <a:off x="3279960" y="5715000"/>
            <a:ext cx="329832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Charge d’entraînement</a:t>
            </a:r>
            <a:endParaRPr b="1" lang="en-US" sz="2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Box 3"/>
          <p:cNvSpPr/>
          <p:nvPr/>
        </p:nvSpPr>
        <p:spPr>
          <a:xfrm rot="16200000">
            <a:off x="29160" y="3097800"/>
            <a:ext cx="192564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Performance</a:t>
            </a:r>
            <a:endParaRPr b="1" lang="en-US" sz="2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51" name="Line 4"/>
          <p:cNvSpPr/>
          <p:nvPr/>
        </p:nvSpPr>
        <p:spPr>
          <a:xfrm flipV="1">
            <a:off x="1371600" y="1218960"/>
            <a:ext cx="0" cy="4267080"/>
          </a:xfrm>
          <a:prstGeom prst="line">
            <a:avLst/>
          </a:prstGeom>
          <a:ln w="2844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52" name="Line 5"/>
          <p:cNvSpPr/>
          <p:nvPr/>
        </p:nvSpPr>
        <p:spPr>
          <a:xfrm>
            <a:off x="1371600" y="5486400"/>
            <a:ext cx="6858000" cy="0"/>
          </a:xfrm>
          <a:prstGeom prst="line">
            <a:avLst/>
          </a:prstGeom>
          <a:ln w="2844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53" name="Rectangle 6"/>
          <p:cNvSpPr/>
          <p:nvPr/>
        </p:nvSpPr>
        <p:spPr>
          <a:xfrm>
            <a:off x="1371600" y="1752480"/>
            <a:ext cx="2286000" cy="3733920"/>
          </a:xfrm>
          <a:prstGeom prst="rect">
            <a:avLst/>
          </a:prstGeom>
          <a:solidFill>
            <a:srgbClr val="ffcc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54" name="Rectangle 7"/>
          <p:cNvSpPr/>
          <p:nvPr/>
        </p:nvSpPr>
        <p:spPr>
          <a:xfrm>
            <a:off x="3657600" y="1752480"/>
            <a:ext cx="2438280" cy="3733920"/>
          </a:xfrm>
          <a:prstGeom prst="rect">
            <a:avLst/>
          </a:prstGeom>
          <a:solidFill>
            <a:srgbClr val="3333cc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55" name="Rectangle 8"/>
          <p:cNvSpPr/>
          <p:nvPr/>
        </p:nvSpPr>
        <p:spPr>
          <a:xfrm>
            <a:off x="6095880" y="1752480"/>
            <a:ext cx="2286000" cy="3733920"/>
          </a:xfrm>
          <a:prstGeom prst="rect">
            <a:avLst/>
          </a:prstGeom>
          <a:solidFill>
            <a:srgbClr val="cc33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56" name="Arc 9"/>
          <p:cNvSpPr/>
          <p:nvPr/>
        </p:nvSpPr>
        <p:spPr>
          <a:xfrm rot="18790200">
            <a:off x="2481120" y="718560"/>
            <a:ext cx="4714920" cy="4952880"/>
          </a:xfrm>
          <a:custGeom>
            <a:avLst/>
            <a:gdLst>
              <a:gd name="GluePoint1X" fmla="*/ 0 w 21600"/>
              <a:gd name="GluePoint1Y" fmla="*/ 0 h 21600"/>
              <a:gd name="GluePoint2X" fmla="*/ 2147483647 w 21600"/>
              <a:gd name="GluePoint2Y" fmla="*/ 2147483647 h 21600"/>
              <a:gd name="GluePoint3X" fmla="*/ 0 w 21600"/>
              <a:gd name="GluePoint3Y" fmla="*/ 2147483647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l" t="t" r="r" b="b"/>
            <a:pathLst>
              <a:path fill="none" w="21600" h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stroke="0" w="21600" h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76320">
            <a:solidFill>
              <a:srgbClr val="ffffff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 anchorCtr="1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57" name="AutoShape 10"/>
          <p:cNvSpPr/>
          <p:nvPr/>
        </p:nvSpPr>
        <p:spPr>
          <a:xfrm>
            <a:off x="1447920" y="3809880"/>
            <a:ext cx="2209680" cy="609840"/>
          </a:xfrm>
          <a:prstGeom prst="wedgeRoundRectCallout">
            <a:avLst>
              <a:gd name="adj1" fmla="val -4453"/>
              <a:gd name="adj2" fmla="val -277083"/>
              <a:gd name="adj3" fmla="val 16667"/>
            </a:avLst>
          </a:prstGeom>
          <a:solidFill>
            <a:srgbClr val="ffffff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99"/>
                </a:solidFill>
                <a:effectLst/>
                <a:uFillTx/>
                <a:latin typeface="Arial"/>
              </a:rPr>
              <a:t>Charge insuffisante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58" name="AutoShape 11"/>
          <p:cNvSpPr/>
          <p:nvPr/>
        </p:nvSpPr>
        <p:spPr>
          <a:xfrm>
            <a:off x="3809880" y="3200400"/>
            <a:ext cx="2210040" cy="609480"/>
          </a:xfrm>
          <a:prstGeom prst="wedgeRoundRectCallout">
            <a:avLst>
              <a:gd name="adj1" fmla="val -935"/>
              <a:gd name="adj2" fmla="val -285416"/>
              <a:gd name="adj3" fmla="val 16667"/>
            </a:avLst>
          </a:prstGeom>
          <a:solidFill>
            <a:srgbClr val="ffffff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99"/>
                </a:solidFill>
                <a:effectLst/>
                <a:uFillTx/>
                <a:latin typeface="Arial"/>
              </a:rPr>
              <a:t>Charge optimale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59" name="AutoShape 12"/>
          <p:cNvSpPr/>
          <p:nvPr/>
        </p:nvSpPr>
        <p:spPr>
          <a:xfrm>
            <a:off x="6172200" y="3733920"/>
            <a:ext cx="2133720" cy="990360"/>
          </a:xfrm>
          <a:prstGeom prst="wedgeRoundRectCallout">
            <a:avLst>
              <a:gd name="adj1" fmla="val -1712"/>
              <a:gd name="adj2" fmla="val -184777"/>
              <a:gd name="adj3" fmla="val 16667"/>
            </a:avLst>
          </a:prstGeom>
          <a:solidFill>
            <a:srgbClr val="ffffff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99"/>
                </a:solidFill>
                <a:effectLst/>
                <a:uFillTx/>
                <a:latin typeface="Arial"/>
              </a:rPr>
              <a:t>Charge exessive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99"/>
                </a:solidFill>
                <a:effectLst/>
                <a:uFillTx/>
                <a:latin typeface="Arial"/>
              </a:rPr>
              <a:t>+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99"/>
                </a:solidFill>
                <a:effectLst/>
                <a:uFillTx/>
                <a:latin typeface="Arial"/>
              </a:rPr>
              <a:t>autres facteurs...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Box 13"/>
          <p:cNvSpPr/>
          <p:nvPr/>
        </p:nvSpPr>
        <p:spPr>
          <a:xfrm>
            <a:off x="1216800" y="4923000"/>
            <a:ext cx="240192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Sous entraînement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Box 14"/>
          <p:cNvSpPr/>
          <p:nvPr/>
        </p:nvSpPr>
        <p:spPr>
          <a:xfrm>
            <a:off x="6170400" y="4846680"/>
            <a:ext cx="203400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surentraînement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Box 15"/>
          <p:cNvSpPr/>
          <p:nvPr/>
        </p:nvSpPr>
        <p:spPr>
          <a:xfrm>
            <a:off x="3884760" y="4648320"/>
            <a:ext cx="1779480" cy="70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Entraînement 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efficace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63" name="Line 16"/>
          <p:cNvSpPr/>
          <p:nvPr/>
        </p:nvSpPr>
        <p:spPr>
          <a:xfrm>
            <a:off x="3657600" y="914400"/>
            <a:ext cx="0" cy="838080"/>
          </a:xfrm>
          <a:prstGeom prst="line">
            <a:avLst/>
          </a:prstGeom>
          <a:ln w="2844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64" name="Oval 17"/>
          <p:cNvSpPr/>
          <p:nvPr/>
        </p:nvSpPr>
        <p:spPr>
          <a:xfrm>
            <a:off x="3352680" y="304920"/>
            <a:ext cx="685800" cy="609480"/>
          </a:xfrm>
          <a:prstGeom prst="ellipse">
            <a:avLst/>
          </a:prstGeom>
          <a:solidFill>
            <a:srgbClr val="3333cc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?</a:t>
            </a:r>
            <a:endParaRPr b="1" lang="en-US" sz="2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65" name="Oval 18"/>
          <p:cNvSpPr/>
          <p:nvPr/>
        </p:nvSpPr>
        <p:spPr>
          <a:xfrm>
            <a:off x="5791320" y="304920"/>
            <a:ext cx="685800" cy="609480"/>
          </a:xfrm>
          <a:prstGeom prst="ellipse">
            <a:avLst/>
          </a:prstGeom>
          <a:solidFill>
            <a:srgbClr val="3333cc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?</a:t>
            </a:r>
            <a:endParaRPr b="1" lang="en-US" sz="2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66" name="Line 19"/>
          <p:cNvSpPr/>
          <p:nvPr/>
        </p:nvSpPr>
        <p:spPr>
          <a:xfrm>
            <a:off x="6095880" y="990720"/>
            <a:ext cx="0" cy="761760"/>
          </a:xfrm>
          <a:prstGeom prst="line">
            <a:avLst/>
          </a:prstGeom>
          <a:ln w="2844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</p:spTree>
  </p:cSld>
  <p:transition spd="med">
    <p:split dir="out" orient="vert"/>
  </p:transition>
  <p:timing>
    <p:tnLst>
      <p:par>
        <p:cTn id="102" dur="indefinite" restart="never" nodeType="tmRoot">
          <p:childTnLst>
            <p:seq>
              <p:cTn id="103" dur="indefinite" nodeType="mainSeq">
                <p:childTnLst>
                  <p:par>
                    <p:cTn id="104" nodeType="clickEffect" fill="hold">
                      <p:stCondLst>
                        <p:cond delay="0"/>
                      </p:stCondLst>
                      <p:childTnLst>
                        <p:par>
                          <p:cTn id="10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06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0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110" nodeType="afterEffect" fill="hold" presetClass="entr" presetID="9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1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nodeType="afterEffect" fill="hold">
                            <p:stCondLst>
                              <p:cond delay="3000"/>
                            </p:stCondLst>
                            <p:childTnLst>
                              <p:par>
                                <p:cTn id="114" nodeType="after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nodeType="afterEffect" fill="hold">
                            <p:stCondLst>
                              <p:cond delay="3500"/>
                            </p:stCondLst>
                            <p:childTnLst>
                              <p:par>
                                <p:cTn id="117" nodeType="afterEffect" fill="hold" presetClass="entr" presetID="9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1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nodeType="afterEffect" fill="hold">
                            <p:stCondLst>
                              <p:cond delay="5000"/>
                            </p:stCondLst>
                            <p:childTnLst>
                              <p:par>
                                <p:cTn id="121" nodeType="after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nodeType="afterEffect" fill="hold">
                            <p:stCondLst>
                              <p:cond delay="5500"/>
                            </p:stCondLst>
                            <p:childTnLst>
                              <p:par>
                                <p:cTn id="124" nodeType="afterEffect" fill="hold" presetClass="entr" presetID="9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2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nodeType="afterEffect" fill="hold">
                            <p:stCondLst>
                              <p:cond delay="7000"/>
                            </p:stCondLst>
                            <p:childTnLst>
                              <p:par>
                                <p:cTn id="128" nodeType="after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nodeType="afterEffect" fill="hold">
                            <p:stCondLst>
                              <p:cond delay="7500"/>
                            </p:stCondLst>
                            <p:childTnLst>
                              <p:par>
                                <p:cTn id="131" nodeType="afterEffect" fill="hold" presetClass="entr" presetID="9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3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nodeType="afterEffect" fill="hold">
                            <p:stCondLst>
                              <p:cond delay="10000"/>
                            </p:stCondLst>
                            <p:childTnLst>
                              <p:par>
                                <p:cTn id="135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3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nodeType="afterEffect" fill="hold">
                            <p:stCondLst>
                              <p:cond delay="10500"/>
                            </p:stCondLst>
                            <p:childTnLst>
                              <p:par>
                                <p:cTn id="139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4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nodeType="afterEffect" fill="hold">
                            <p:stCondLst>
                              <p:cond delay="11000"/>
                            </p:stCondLst>
                            <p:childTnLst>
                              <p:par>
                                <p:cTn id="143" nodeType="afterEffect" fill="hold" presetClass="entr" presetID="9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4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nodeType="afterEffect" fill="hold">
                            <p:stCondLst>
                              <p:cond delay="12500"/>
                            </p:stCondLst>
                            <p:childTnLst>
                              <p:par>
                                <p:cTn id="147" nodeType="afterEffect" fill="hold" presetClass="entr" presetID="17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49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50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51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52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nodeType="afterEffect" fill="hold">
                            <p:stCondLst>
                              <p:cond delay="13000"/>
                            </p:stCondLst>
                            <p:childTnLst>
                              <p:par>
                                <p:cTn id="154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5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nodeType="afterEffect" fill="hold">
                            <p:stCondLst>
                              <p:cond delay="13500"/>
                            </p:stCondLst>
                            <p:childTnLst>
                              <p:par>
                                <p:cTn id="158" nodeType="afterEffect" fill="hold" presetClass="entr" presetID="17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60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1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2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3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 Box 2"/>
          <p:cNvSpPr/>
          <p:nvPr/>
        </p:nvSpPr>
        <p:spPr>
          <a:xfrm>
            <a:off x="457200" y="1143000"/>
            <a:ext cx="8305920" cy="91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just"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Le </a:t>
            </a:r>
            <a:r>
              <a:rPr b="1" lang="fr-FR" sz="1800" strike="noStrike" u="none">
                <a:solidFill>
                  <a:srgbClr val="66ff33"/>
                </a:solidFill>
                <a:effectLst/>
                <a:uFillTx/>
                <a:latin typeface="Arial"/>
              </a:rPr>
              <a:t>surentraînement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peut être défini comme «</a:t>
            </a: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 </a:t>
            </a:r>
            <a:r>
              <a:rPr b="1" i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l’incapacité de l’organisme à maintenir stable ou positive la balance (adaptation) entre fatigue et récupération</a:t>
            </a: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 » 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(Israel </a:t>
            </a:r>
            <a:r>
              <a:rPr b="1" i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et al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 1976).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Box 3"/>
          <p:cNvSpPr/>
          <p:nvPr/>
        </p:nvSpPr>
        <p:spPr>
          <a:xfrm>
            <a:off x="457200" y="2590920"/>
            <a:ext cx="830592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Lorsque la </a:t>
            </a:r>
            <a:r>
              <a:rPr b="1" lang="fr-FR" sz="1800" strike="noStrike" u="none">
                <a:solidFill>
                  <a:srgbClr val="66ff33"/>
                </a:solidFill>
                <a:effectLst/>
                <a:uFillTx/>
                <a:latin typeface="Arial"/>
              </a:rPr>
              <a:t>fatigue s’accumule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et ne peut être résorbée lors d’une récupération inadaptée elle induit une mésadaptation :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69" name="Line 4"/>
          <p:cNvSpPr/>
          <p:nvPr/>
        </p:nvSpPr>
        <p:spPr>
          <a:xfrm>
            <a:off x="457200" y="2286000"/>
            <a:ext cx="8153280" cy="0"/>
          </a:xfrm>
          <a:prstGeom prst="line">
            <a:avLst/>
          </a:prstGeom>
          <a:ln w="57240">
            <a:solidFill>
              <a:srgbClr val="ff99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Box 5"/>
          <p:cNvSpPr/>
          <p:nvPr/>
        </p:nvSpPr>
        <p:spPr>
          <a:xfrm>
            <a:off x="228600" y="228600"/>
            <a:ext cx="8686800" cy="398880"/>
          </a:xfrm>
          <a:prstGeom prst="rect">
            <a:avLst/>
          </a:prstGeom>
          <a:noFill/>
          <a:ln w="255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12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DEFINITION DU SURENTRAINEMENT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Box 6"/>
          <p:cNvSpPr/>
          <p:nvPr/>
        </p:nvSpPr>
        <p:spPr>
          <a:xfrm>
            <a:off x="914400" y="3505320"/>
            <a:ext cx="777240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1- sous la forme d’un </a:t>
            </a:r>
            <a:r>
              <a:rPr b="1" i="1" lang="fr-FR" sz="1800" strike="noStrike" u="none">
                <a:solidFill>
                  <a:srgbClr val="66ff33"/>
                </a:solidFill>
                <a:effectLst/>
                <a:uFillTx/>
                <a:latin typeface="Arial"/>
              </a:rPr>
              <a:t>défaut d’adaptation irréversible</a:t>
            </a:r>
            <a:r>
              <a:rPr b="1" i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(perte d’efficacité du programme d’entraînement),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Box 7"/>
          <p:cNvSpPr/>
          <p:nvPr/>
        </p:nvSpPr>
        <p:spPr>
          <a:xfrm>
            <a:off x="990720" y="4495680"/>
            <a:ext cx="7772400" cy="91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2- par une </a:t>
            </a:r>
            <a:r>
              <a:rPr b="1" i="1" lang="fr-FR" sz="1800" strike="noStrike" u="none">
                <a:solidFill>
                  <a:srgbClr val="66ff33"/>
                </a:solidFill>
                <a:effectLst/>
                <a:uFillTx/>
                <a:latin typeface="Arial"/>
              </a:rPr>
              <a:t>fragilisation de l’organisme</a:t>
            </a:r>
            <a:r>
              <a:rPr b="1" i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du sportif qui nécessite une plus longue période de récupération par rapport à la normale (surcompensation…),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Box 8"/>
          <p:cNvSpPr/>
          <p:nvPr/>
        </p:nvSpPr>
        <p:spPr>
          <a:xfrm>
            <a:off x="990720" y="5715000"/>
            <a:ext cx="777240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3- par une incapacité de l’organisme à </a:t>
            </a:r>
            <a:r>
              <a:rPr b="1" i="1" lang="fr-FR" sz="1800" strike="noStrike" u="none">
                <a:solidFill>
                  <a:srgbClr val="66ff33"/>
                </a:solidFill>
                <a:effectLst/>
                <a:uFillTx/>
                <a:latin typeface="Arial"/>
              </a:rPr>
              <a:t>résorber la fatigue accumulée</a:t>
            </a:r>
            <a:r>
              <a:rPr b="1" i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alors que l’athlète est mis au repos,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</p:spTree>
  </p:cSld>
  <p:transition spd="med">
    <p:split dir="out" orient="vert"/>
  </p:transition>
  <p:timing>
    <p:tnLst>
      <p:par>
        <p:cTn id="164" dur="indefinite" restart="never" nodeType="tmRoot">
          <p:childTnLst>
            <p:seq>
              <p:cTn id="165" dur="indefinite" nodeType="mainSeq">
                <p:childTnLst>
                  <p:par>
                    <p:cTn id="166" nodeType="clickEffect" fill="hold">
                      <p:stCondLst>
                        <p:cond delay="0"/>
                      </p:stCondLst>
                      <p:childTnLst>
                        <p:par>
                          <p:cTn id="16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68" nodeType="after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173" nodeType="after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17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nodeType="clickEffect" fill="hold">
                      <p:stCondLst>
                        <p:cond delay="indefinite"/>
                      </p:stCondLst>
                      <p:childTnLst>
                        <p:par>
                          <p:cTn id="17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78" nodeType="clickEffect" fill="hold" presetClass="entr" presetID="17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80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81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animClr clrSpc="rgb">
                                <p:cBhvr>
                                  <p:cTn id="18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7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b2b2b2"/>
                                </p:to>
                              </p:animClr>
                            </p:childTnLst>
                          </p:cTn>
                        </p:par>
                        <p:par>
                          <p:cTn id="183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184" nodeType="after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18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nodeType="clickEffect" fill="hold">
                      <p:stCondLst>
                        <p:cond delay="indefinite"/>
                      </p:stCondLst>
                      <p:childTnLst>
                        <p:par>
                          <p:cTn id="18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89" nodeType="click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19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19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8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b2b2b2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  <p:par>
                    <p:cTn id="193" nodeType="clickEffect" fill="hold">
                      <p:stCondLst>
                        <p:cond delay="indefinite"/>
                      </p:stCondLst>
                      <p:childTnLst>
                        <p:par>
                          <p:cTn id="19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95" nodeType="click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19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19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1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b2b2b2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  <p:par>
                    <p:cTn id="199" nodeType="clickEffect" fill="hold">
                      <p:stCondLst>
                        <p:cond delay="indefinite"/>
                      </p:stCondLst>
                      <p:childTnLst>
                        <p:par>
                          <p:cTn id="20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01" nodeType="click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20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20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2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b2b2b2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animClr clrSpc="rgb">
                                <p:cBhvr>
                                  <p:cTn id="207" dur="1" fill="hold"/>
                                  <p:tgtEl>
                                    <p:spTgt spid="73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b2b2b2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 Box 2"/>
          <p:cNvSpPr/>
          <p:nvPr/>
        </p:nvSpPr>
        <p:spPr>
          <a:xfrm>
            <a:off x="457200" y="1447920"/>
            <a:ext cx="8305920" cy="100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12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« </a:t>
            </a:r>
            <a:r>
              <a:rPr b="1" i="1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Le seul marqueur universel du surentraînement est une baisse substantielle du niveau de performance malgré le maintien ou l’augmentation des charges d’entraînement</a:t>
            </a: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 » (Fry </a:t>
            </a:r>
            <a:r>
              <a:rPr b="1" i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et al</a:t>
            </a: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, 1991).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Box 3"/>
          <p:cNvSpPr/>
          <p:nvPr/>
        </p:nvSpPr>
        <p:spPr>
          <a:xfrm>
            <a:off x="609480" y="3429000"/>
            <a:ext cx="8001000" cy="131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spcBef>
                <a:spcPts val="12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Symbol"/>
                <a:ea typeface="Symbol"/>
              </a:rPr>
              <a:t></a:t>
            </a: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Cela traduit donc l’incapacité de l’organisme à </a:t>
            </a:r>
            <a:r>
              <a:rPr b="1" lang="fr-FR" sz="2000" strike="noStrike" u="none">
                <a:solidFill>
                  <a:srgbClr val="66ff33"/>
                </a:solidFill>
                <a:effectLst/>
                <a:uFillTx/>
                <a:latin typeface="Arial"/>
              </a:rPr>
              <a:t>supplanter la fatigue</a:t>
            </a: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accumulée lors de ces charges d’entraînement par le seul moyen des périodes de récupération consenties. Il s’ensuit une baisse de la condition physique, donc de performance.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76" name="Line 4"/>
          <p:cNvSpPr/>
          <p:nvPr/>
        </p:nvSpPr>
        <p:spPr>
          <a:xfrm>
            <a:off x="533520" y="2819520"/>
            <a:ext cx="8153280" cy="0"/>
          </a:xfrm>
          <a:prstGeom prst="line">
            <a:avLst/>
          </a:prstGeom>
          <a:ln w="57240">
            <a:solidFill>
              <a:srgbClr val="ff99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Box 5"/>
          <p:cNvSpPr/>
          <p:nvPr/>
        </p:nvSpPr>
        <p:spPr>
          <a:xfrm>
            <a:off x="609480" y="5181480"/>
            <a:ext cx="8001000" cy="100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spcBef>
                <a:spcPts val="12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Symbol"/>
                <a:ea typeface="Symbol"/>
              </a:rPr>
              <a:t></a:t>
            </a: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Les </a:t>
            </a:r>
            <a:r>
              <a:rPr b="1" lang="fr-FR" sz="2000" strike="noStrike" u="none">
                <a:solidFill>
                  <a:srgbClr val="66ff33"/>
                </a:solidFill>
                <a:effectLst/>
                <a:uFillTx/>
                <a:latin typeface="Arial"/>
              </a:rPr>
              <a:t>symptômes courants</a:t>
            </a: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(mais rarement systématiques) du surentraînement sont </a:t>
            </a:r>
            <a:r>
              <a:rPr b="1" lang="fr-FR" sz="2000" strike="noStrike" u="none">
                <a:solidFill>
                  <a:srgbClr val="66ff33"/>
                </a:solidFill>
                <a:effectLst/>
                <a:uFillTx/>
                <a:latin typeface="Arial"/>
              </a:rPr>
              <a:t>variables</a:t>
            </a: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selon les caractéristiques fondamentales des disciplines pratiquées.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Box 6"/>
          <p:cNvSpPr/>
          <p:nvPr/>
        </p:nvSpPr>
        <p:spPr>
          <a:xfrm>
            <a:off x="228600" y="228600"/>
            <a:ext cx="8686800" cy="459720"/>
          </a:xfrm>
          <a:prstGeom prst="rect">
            <a:avLst/>
          </a:prstGeom>
          <a:noFill/>
          <a:ln w="255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Le marqueur universel du surentraînement</a:t>
            </a:r>
            <a:endParaRPr b="1" lang="en-US" sz="2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</p:spTree>
  </p:cSld>
  <p:transition spd="med">
    <p:split dir="out" orient="vert"/>
  </p:transition>
  <p:timing>
    <p:tnLst>
      <p:par>
        <p:cTn id="208" dur="indefinite" restart="never" nodeType="tmRoot">
          <p:childTnLst>
            <p:seq>
              <p:cTn id="209" dur="indefinite" nodeType="mainSeq">
                <p:childTnLst>
                  <p:par>
                    <p:cTn id="210" nodeType="clickEffect" fill="hold">
                      <p:stCondLst>
                        <p:cond delay="0"/>
                      </p:stCondLst>
                      <p:childTnLst>
                        <p:par>
                          <p:cTn id="21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12" nodeType="after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4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5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6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217" nodeType="after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21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nodeType="clickEffect" fill="hold">
                      <p:stCondLst>
                        <p:cond delay="indefinite"/>
                      </p:stCondLst>
                      <p:childTnLst>
                        <p:par>
                          <p:cTn id="22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22" nodeType="clickEffect" fill="hold" presetClass="entr" presetID="17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24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25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animClr clrSpc="rgb">
                                <p:cBhvr>
                                  <p:cTn id="2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4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b2b2b2"/>
                                </p:to>
                              </p:animClr>
                            </p:childTnLst>
                          </p:cTn>
                        </p:par>
                        <p:par>
                          <p:cTn id="227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228" nodeType="after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23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nodeType="clickEffect" fill="hold">
                      <p:stCondLst>
                        <p:cond delay="indefinite"/>
                      </p:stCondLst>
                      <p:childTnLst>
                        <p:par>
                          <p:cTn id="23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33" nodeType="click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23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2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5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b2b2b2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animClr clrSpc="rgb">
                                <p:cBhvr>
                                  <p:cTn id="239" dur="1" fill="hold"/>
                                  <p:tgtEl>
                                    <p:spTgt spid="77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b2b2b2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Oval 2"/>
          <p:cNvSpPr/>
          <p:nvPr/>
        </p:nvSpPr>
        <p:spPr>
          <a:xfrm>
            <a:off x="3124080" y="2819520"/>
            <a:ext cx="2895840" cy="2438280"/>
          </a:xfrm>
          <a:prstGeom prst="ellipse">
            <a:avLst/>
          </a:prstGeom>
          <a:noFill/>
          <a:ln w="284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80" name="Oval 3"/>
          <p:cNvSpPr/>
          <p:nvPr/>
        </p:nvSpPr>
        <p:spPr>
          <a:xfrm>
            <a:off x="3124080" y="914400"/>
            <a:ext cx="2667240" cy="2362320"/>
          </a:xfrm>
          <a:prstGeom prst="ellipse">
            <a:avLst/>
          </a:prstGeom>
          <a:noFill/>
          <a:ln w="284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1- Intensité 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trop élevée des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charges 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d’entraînement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(accumulation de </a:t>
            </a:r>
            <a:endParaRPr b="1" lang="en-US" sz="1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traumatismes)</a:t>
            </a:r>
            <a:endParaRPr b="1" lang="en-US" sz="1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1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81" name="Oval 4"/>
          <p:cNvSpPr/>
          <p:nvPr/>
        </p:nvSpPr>
        <p:spPr>
          <a:xfrm>
            <a:off x="5257800" y="1981080"/>
            <a:ext cx="2362320" cy="2210040"/>
          </a:xfrm>
          <a:prstGeom prst="ellipse">
            <a:avLst/>
          </a:prstGeom>
          <a:noFill/>
          <a:ln w="284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2- Nature et durée 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des récupérations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inadaptées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82" name="Oval 5"/>
          <p:cNvSpPr/>
          <p:nvPr/>
        </p:nvSpPr>
        <p:spPr>
          <a:xfrm>
            <a:off x="1295280" y="2057400"/>
            <a:ext cx="2362320" cy="2209680"/>
          </a:xfrm>
          <a:prstGeom prst="ellipse">
            <a:avLst/>
          </a:prstGeom>
          <a:noFill/>
          <a:ln w="284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3- Contenus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d’entraînement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peu variés et 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trop monotones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83" name="Oval 6"/>
          <p:cNvSpPr/>
          <p:nvPr/>
        </p:nvSpPr>
        <p:spPr>
          <a:xfrm>
            <a:off x="1523880" y="4038480"/>
            <a:ext cx="2362320" cy="2210040"/>
          </a:xfrm>
          <a:prstGeom prst="ellipse">
            <a:avLst/>
          </a:prstGeom>
          <a:noFill/>
          <a:ln w="284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Box 7"/>
          <p:cNvSpPr/>
          <p:nvPr/>
        </p:nvSpPr>
        <p:spPr>
          <a:xfrm>
            <a:off x="1752120" y="4800600"/>
            <a:ext cx="1779120" cy="70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4- Aberrations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nutritionnelles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85" name="Oval 8"/>
          <p:cNvSpPr/>
          <p:nvPr/>
        </p:nvSpPr>
        <p:spPr>
          <a:xfrm>
            <a:off x="3657600" y="4648320"/>
            <a:ext cx="2362320" cy="2209680"/>
          </a:xfrm>
          <a:prstGeom prst="ellipse">
            <a:avLst/>
          </a:prstGeom>
          <a:noFill/>
          <a:ln w="284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5- Stress de la vie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sociale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et professionnelle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86" name="Oval 9"/>
          <p:cNvSpPr/>
          <p:nvPr/>
        </p:nvSpPr>
        <p:spPr>
          <a:xfrm>
            <a:off x="5562720" y="3657600"/>
            <a:ext cx="2361960" cy="2209680"/>
          </a:xfrm>
          <a:prstGeom prst="ellipse">
            <a:avLst/>
          </a:prstGeom>
          <a:noFill/>
          <a:ln w="284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6- Accumulation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d’autres stress de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la vie courante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87" name="Rectangle 10"/>
          <p:cNvSpPr/>
          <p:nvPr/>
        </p:nvSpPr>
        <p:spPr>
          <a:xfrm>
            <a:off x="3200400" y="3809880"/>
            <a:ext cx="2666880" cy="609840"/>
          </a:xfrm>
          <a:prstGeom prst="rect">
            <a:avLst/>
          </a:prstGeom>
          <a:gradFill rotWithShape="0">
            <a:gsLst>
              <a:gs pos="0">
                <a:srgbClr val="b9b900"/>
              </a:gs>
              <a:gs pos="50000">
                <a:srgbClr val="ffff00"/>
              </a:gs>
              <a:gs pos="100000">
                <a:srgbClr val="b9b900"/>
              </a:gs>
            </a:gsLst>
            <a:lin ang="5400000"/>
          </a:gra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SURENTRAÎNEMENT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88" name="Line 11"/>
          <p:cNvSpPr/>
          <p:nvPr/>
        </p:nvSpPr>
        <p:spPr>
          <a:xfrm>
            <a:off x="4495680" y="2819520"/>
            <a:ext cx="0" cy="609480"/>
          </a:xfrm>
          <a:prstGeom prst="line">
            <a:avLst/>
          </a:prstGeom>
          <a:ln w="5724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89" name="Line 12"/>
          <p:cNvSpPr/>
          <p:nvPr/>
        </p:nvSpPr>
        <p:spPr>
          <a:xfrm flipH="1">
            <a:off x="5257800" y="3352680"/>
            <a:ext cx="533520" cy="304920"/>
          </a:xfrm>
          <a:prstGeom prst="line">
            <a:avLst/>
          </a:prstGeom>
          <a:ln w="5724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90" name="Line 13"/>
          <p:cNvSpPr/>
          <p:nvPr/>
        </p:nvSpPr>
        <p:spPr>
          <a:xfrm>
            <a:off x="3352680" y="3352680"/>
            <a:ext cx="457200" cy="304920"/>
          </a:xfrm>
          <a:prstGeom prst="line">
            <a:avLst/>
          </a:prstGeom>
          <a:ln w="5724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91" name="Line 14"/>
          <p:cNvSpPr/>
          <p:nvPr/>
        </p:nvSpPr>
        <p:spPr>
          <a:xfrm flipV="1">
            <a:off x="3352680" y="4495320"/>
            <a:ext cx="457200" cy="304920"/>
          </a:xfrm>
          <a:prstGeom prst="line">
            <a:avLst/>
          </a:prstGeom>
          <a:ln w="5724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92" name="Line 15"/>
          <p:cNvSpPr/>
          <p:nvPr/>
        </p:nvSpPr>
        <p:spPr>
          <a:xfrm flipV="1">
            <a:off x="4572000" y="4647960"/>
            <a:ext cx="0" cy="609480"/>
          </a:xfrm>
          <a:prstGeom prst="line">
            <a:avLst/>
          </a:prstGeom>
          <a:ln w="5724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93" name="Line 16"/>
          <p:cNvSpPr/>
          <p:nvPr/>
        </p:nvSpPr>
        <p:spPr>
          <a:xfrm flipH="1" flipV="1">
            <a:off x="5334120" y="4495680"/>
            <a:ext cx="457200" cy="152640"/>
          </a:xfrm>
          <a:prstGeom prst="line">
            <a:avLst/>
          </a:prstGeom>
          <a:ln w="5724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Box 17"/>
          <p:cNvSpPr/>
          <p:nvPr/>
        </p:nvSpPr>
        <p:spPr>
          <a:xfrm>
            <a:off x="1921320" y="304920"/>
            <a:ext cx="512316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trike="noStrike" u="none">
                <a:solidFill>
                  <a:srgbClr val="ffff00"/>
                </a:solidFill>
                <a:effectLst/>
                <a:uFillTx/>
                <a:latin typeface="Comic Sans MS"/>
              </a:rPr>
              <a:t>CAUSES POSSIBLES DU SURENTRAINEMENT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</p:spTree>
  </p:cSld>
  <p:transition spd="med">
    <p:split dir="out" orient="vert"/>
  </p:transition>
  <p:timing>
    <p:tnLst>
      <p:par>
        <p:cTn id="240" dur="indefinite" restart="never" nodeType="tmRoot">
          <p:childTnLst>
            <p:seq>
              <p:cTn id="241" dur="indefinite" nodeType="mainSeq">
                <p:childTnLst>
                  <p:par>
                    <p:cTn id="242" nodeType="clickEffect" fill="hold">
                      <p:stCondLst>
                        <p:cond delay="0"/>
                      </p:stCondLst>
                      <p:childTnLst>
                        <p:par>
                          <p:cTn id="24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44" nodeType="afterEffect" fill="hold" presetClass="entr" presetID="9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46" dur="3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7" nodeType="afterEffect" fill="hold">
                            <p:stCondLst>
                              <p:cond delay="1200"/>
                            </p:stCondLst>
                            <p:childTnLst>
                              <p:par>
                                <p:cTn id="248" nodeType="afterEffect" fill="hold" presetClass="entr" presetID="9">
                                  <p:stCondLst>
                                    <p:cond delay="100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50" dur="75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1" nodeType="afterEffect" fill="hold">
                            <p:stCondLst>
                              <p:cond delay="3325"/>
                            </p:stCondLst>
                            <p:childTnLst>
                              <p:par>
                                <p:cTn id="252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54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5" nodeType="afterEffect" fill="hold">
                            <p:stCondLst>
                              <p:cond delay="3825"/>
                            </p:stCondLst>
                            <p:childTnLst>
                              <p:par>
                                <p:cTn id="256" nodeType="afterEffect" fill="hold" presetClass="entr" presetID="9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58" dur="3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9" nodeType="afterEffect" fill="hold">
                            <p:stCondLst>
                              <p:cond delay="8325"/>
                            </p:stCondLst>
                            <p:childTnLst>
                              <p:par>
                                <p:cTn id="260" nodeType="afterEffect" fill="hold" presetClass="entr" presetID="17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62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63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64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65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6" nodeType="clickEffect" fill="hold">
                      <p:stCondLst>
                        <p:cond delay="indefinite"/>
                      </p:stCondLst>
                      <p:childTnLst>
                        <p:par>
                          <p:cTn id="26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68" nodeType="clickEffect" fill="hold" presetClass="entr" presetID="1">
                                  <p:stCondLst>
                                    <p:cond delay="0"/>
                                  </p:stCondLst>
                                  <p:iterate type="wd">
                                    <p:tmAbs val="0.900000035762787"/>
                                  </p:iterate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0" nodeType="afterEffect" fill="hold">
                            <p:stCondLst>
                              <p:cond delay="2400"/>
                            </p:stCondLst>
                            <p:childTnLst>
                              <p:par>
                                <p:cTn id="271" nodeType="afterEffect" fill="hold" presetClass="entr" presetID="17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73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74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75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76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7" nodeType="clickEffect" fill="hold">
                      <p:stCondLst>
                        <p:cond delay="indefinite"/>
                      </p:stCondLst>
                      <p:childTnLst>
                        <p:par>
                          <p:cTn id="27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79" nodeType="clickEffect" fill="hold" presetClass="entr" presetID="9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81" dur="3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2" nodeType="afterEffect" fill="hold">
                            <p:stCondLst>
                              <p:cond delay="3000"/>
                            </p:stCondLst>
                            <p:childTnLst>
                              <p:par>
                                <p:cTn id="283" nodeType="afterEffect" fill="hold" presetClass="entr" presetID="17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85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86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87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88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9" nodeType="clickEffect" fill="hold">
                      <p:stCondLst>
                        <p:cond delay="indefinite"/>
                      </p:stCondLst>
                      <p:childTnLst>
                        <p:par>
                          <p:cTn id="29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91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93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4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295" nodeType="afterEffect" fill="hold" presetClass="entr" presetID="9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97" dur="3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8" nodeType="afterEffect" fill="hold">
                            <p:stCondLst>
                              <p:cond delay="1400"/>
                            </p:stCondLst>
                            <p:childTnLst>
                              <p:par>
                                <p:cTn id="299" nodeType="afterEffect" fill="hold" presetClass="entr" presetID="17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01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02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03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04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5" nodeType="clickEffect" fill="hold">
                      <p:stCondLst>
                        <p:cond delay="indefinite"/>
                      </p:stCondLst>
                      <p:childTnLst>
                        <p:par>
                          <p:cTn id="30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07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0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0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311" nodeType="afterEffect" fill="hold" presetClass="entr" presetID="17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13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14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15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16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7" nodeType="clickEffect" fill="hold">
                      <p:stCondLst>
                        <p:cond delay="indefinite"/>
                      </p:stCondLst>
                      <p:childTnLst>
                        <p:par>
                          <p:cTn id="31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19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21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2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323" nodeType="afterEffect" fill="hold" presetClass="entr" presetID="17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25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26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27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28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 Box 2"/>
          <p:cNvSpPr/>
          <p:nvPr/>
        </p:nvSpPr>
        <p:spPr>
          <a:xfrm>
            <a:off x="228600" y="990720"/>
            <a:ext cx="861048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12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L’apparition du surentraînement est fonction :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Box 3"/>
          <p:cNvSpPr/>
          <p:nvPr/>
        </p:nvSpPr>
        <p:spPr>
          <a:xfrm>
            <a:off x="304920" y="2133720"/>
            <a:ext cx="86104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¤ de la </a:t>
            </a:r>
            <a:r>
              <a:rPr b="1" i="1" lang="fr-FR" sz="1800" strike="noStrike" u="none">
                <a:solidFill>
                  <a:srgbClr val="66ff33"/>
                </a:solidFill>
                <a:effectLst/>
                <a:uFillTx/>
                <a:latin typeface="Arial"/>
              </a:rPr>
              <a:t>pratique sportive</a:t>
            </a:r>
            <a:r>
              <a:rPr b="1" i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(endurance, vitesse, force…)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Box 4"/>
          <p:cNvSpPr/>
          <p:nvPr/>
        </p:nvSpPr>
        <p:spPr>
          <a:xfrm>
            <a:off x="533520" y="2895480"/>
            <a:ext cx="861048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¤ des </a:t>
            </a:r>
            <a:r>
              <a:rPr b="1" i="1" lang="fr-FR" sz="1800" strike="noStrike" u="none">
                <a:solidFill>
                  <a:srgbClr val="66ff33"/>
                </a:solidFill>
                <a:effectLst/>
                <a:uFillTx/>
                <a:latin typeface="Arial"/>
              </a:rPr>
              <a:t>caractéristiques des sportifs</a:t>
            </a:r>
            <a:r>
              <a:rPr b="1" i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(capacités physiologiques, physiques, mentales…)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Box 5"/>
          <p:cNvSpPr/>
          <p:nvPr/>
        </p:nvSpPr>
        <p:spPr>
          <a:xfrm>
            <a:off x="380880" y="3733920"/>
            <a:ext cx="861084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¤ des caractéristiques du </a:t>
            </a:r>
            <a:r>
              <a:rPr b="1" i="1" lang="fr-FR" sz="1800" strike="noStrike" u="none">
                <a:solidFill>
                  <a:srgbClr val="66ff33"/>
                </a:solidFill>
                <a:effectLst/>
                <a:uFillTx/>
                <a:latin typeface="Arial"/>
              </a:rPr>
              <a:t>programme d’entraînement</a:t>
            </a:r>
            <a:r>
              <a:rPr b="1" i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(périodicité, programmation des microcycles…)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Box 6"/>
          <p:cNvSpPr/>
          <p:nvPr/>
        </p:nvSpPr>
        <p:spPr>
          <a:xfrm>
            <a:off x="533520" y="4648320"/>
            <a:ext cx="861048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¤ des </a:t>
            </a:r>
            <a:r>
              <a:rPr b="1" i="1" lang="fr-FR" sz="1800" strike="noStrike" u="none">
                <a:solidFill>
                  <a:srgbClr val="66ff33"/>
                </a:solidFill>
                <a:effectLst/>
                <a:uFillTx/>
                <a:latin typeface="Arial"/>
              </a:rPr>
              <a:t>stress extérieurs</a:t>
            </a:r>
            <a:r>
              <a:rPr b="1" i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à la pratique sportive (examens, vie professionnelle, conjugale…)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Box 7"/>
          <p:cNvSpPr/>
          <p:nvPr/>
        </p:nvSpPr>
        <p:spPr>
          <a:xfrm>
            <a:off x="304920" y="5486400"/>
            <a:ext cx="861048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¤ de </a:t>
            </a:r>
            <a:r>
              <a:rPr b="1" i="1" lang="fr-FR" sz="1800" strike="noStrike" u="none">
                <a:solidFill>
                  <a:srgbClr val="66ff33"/>
                </a:solidFill>
                <a:effectLst/>
                <a:uFillTx/>
                <a:latin typeface="Arial"/>
              </a:rPr>
              <a:t>l’environnement social</a:t>
            </a:r>
            <a:r>
              <a:rPr b="1" i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de la pratique sportive (obligations de résultats, sponsors, niveau social induit par les résultats…)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101" name="Line 8"/>
          <p:cNvSpPr/>
          <p:nvPr/>
        </p:nvSpPr>
        <p:spPr>
          <a:xfrm>
            <a:off x="2895480" y="2743200"/>
            <a:ext cx="3353040" cy="0"/>
          </a:xfrm>
          <a:prstGeom prst="line">
            <a:avLst/>
          </a:prstGeom>
          <a:ln w="572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102" name="Line 9"/>
          <p:cNvSpPr/>
          <p:nvPr/>
        </p:nvSpPr>
        <p:spPr>
          <a:xfrm>
            <a:off x="2895480" y="3581280"/>
            <a:ext cx="3353040" cy="0"/>
          </a:xfrm>
          <a:prstGeom prst="line">
            <a:avLst/>
          </a:prstGeom>
          <a:ln w="572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103" name="Line 10"/>
          <p:cNvSpPr/>
          <p:nvPr/>
        </p:nvSpPr>
        <p:spPr>
          <a:xfrm>
            <a:off x="2895480" y="4495680"/>
            <a:ext cx="3353040" cy="0"/>
          </a:xfrm>
          <a:prstGeom prst="line">
            <a:avLst/>
          </a:prstGeom>
          <a:ln w="572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104" name="Line 11"/>
          <p:cNvSpPr/>
          <p:nvPr/>
        </p:nvSpPr>
        <p:spPr>
          <a:xfrm>
            <a:off x="2895480" y="5334120"/>
            <a:ext cx="3353040" cy="0"/>
          </a:xfrm>
          <a:prstGeom prst="line">
            <a:avLst/>
          </a:prstGeom>
          <a:ln w="572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105" name="Line 12"/>
          <p:cNvSpPr/>
          <p:nvPr/>
        </p:nvSpPr>
        <p:spPr>
          <a:xfrm>
            <a:off x="533520" y="1676520"/>
            <a:ext cx="8153280" cy="0"/>
          </a:xfrm>
          <a:prstGeom prst="line">
            <a:avLst/>
          </a:prstGeom>
          <a:ln w="57240">
            <a:solidFill>
              <a:srgbClr val="ff99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Box 13"/>
          <p:cNvSpPr/>
          <p:nvPr/>
        </p:nvSpPr>
        <p:spPr>
          <a:xfrm>
            <a:off x="1935720" y="304920"/>
            <a:ext cx="5123160" cy="398880"/>
          </a:xfrm>
          <a:prstGeom prst="rect">
            <a:avLst/>
          </a:prstGeom>
          <a:noFill/>
          <a:ln w="284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trike="noStrike" u="none">
                <a:solidFill>
                  <a:srgbClr val="ffff00"/>
                </a:solidFill>
                <a:effectLst/>
                <a:uFillTx/>
                <a:latin typeface="Comic Sans MS"/>
              </a:rPr>
              <a:t>CAUSES POSSIBLES DU SURENTRAINEMENT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</p:spTree>
  </p:cSld>
  <p:transition spd="med">
    <p:split dir="out" orient="vert"/>
  </p:transition>
  <p:timing>
    <p:tnLst>
      <p:par>
        <p:cTn id="329" dur="indefinite" restart="never" nodeType="tmRoot">
          <p:childTnLst>
            <p:seq>
              <p:cTn id="330" dur="indefinite" nodeType="mainSeq">
                <p:childTnLst>
                  <p:par>
                    <p:cTn id="331" nodeType="clickEffect" fill="hold">
                      <p:stCondLst>
                        <p:cond delay="0"/>
                      </p:stCondLst>
                      <p:childTnLst>
                        <p:par>
                          <p:cTn id="33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33" nodeType="afterEffect" fill="hold" presetClass="entr" presetID="9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35" dur="3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6" nodeType="afterEffect" fill="hold">
                            <p:stCondLst>
                              <p:cond delay="1200"/>
                            </p:stCondLst>
                            <p:childTnLst>
                              <p:par>
                                <p:cTn id="337" nodeType="after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339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0" nodeType="clickEffect" fill="hold">
                      <p:stCondLst>
                        <p:cond delay="indefinite"/>
                      </p:stCondLst>
                      <p:childTnLst>
                        <p:par>
                          <p:cTn id="34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42" nodeType="clickEffect" fill="hold" presetClass="entr" presetID="17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44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45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6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347" nodeType="after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349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0" nodeType="clickEffect" fill="hold">
                      <p:stCondLst>
                        <p:cond delay="indefinite"/>
                      </p:stCondLst>
                      <p:childTnLst>
                        <p:par>
                          <p:cTn id="35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52" nodeType="clickEffect" fill="hold" presetClass="entr" presetID="17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54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55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animClr clrSpc="rgb">
                                <p:cBhvr>
                                  <p:cTn id="3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6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b2b2b2"/>
                                </p:to>
                              </p:animClr>
                            </p:childTnLst>
                          </p:cTn>
                        </p:par>
                        <p:par>
                          <p:cTn id="357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358" nodeType="after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360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1" nodeType="clickEffect" fill="hold">
                      <p:stCondLst>
                        <p:cond delay="indefinite"/>
                      </p:stCondLst>
                      <p:childTnLst>
                        <p:par>
                          <p:cTn id="36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63" nodeType="clickEffect" fill="hold" presetClass="entr" presetID="17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65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66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animClr clrSpc="rgb">
                                <p:cBhvr>
                                  <p:cTn id="36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7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b2b2b2"/>
                                </p:to>
                              </p:animClr>
                            </p:childTnLst>
                          </p:cTn>
                        </p:par>
                        <p:par>
                          <p:cTn id="368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369" nodeType="after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371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2" nodeType="clickEffect" fill="hold">
                      <p:stCondLst>
                        <p:cond delay="indefinite"/>
                      </p:stCondLst>
                      <p:childTnLst>
                        <p:par>
                          <p:cTn id="37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74" nodeType="clickEffect" fill="hold" presetClass="entr" presetID="17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76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77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animClr clrSpc="rgb">
                                <p:cBhvr>
                                  <p:cTn id="37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8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b2b2b2"/>
                                </p:to>
                              </p:animClr>
                            </p:childTnLst>
                          </p:cTn>
                        </p:par>
                        <p:par>
                          <p:cTn id="379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380" nodeType="after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382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3" nodeType="clickEffect" fill="hold">
                      <p:stCondLst>
                        <p:cond delay="indefinite"/>
                      </p:stCondLst>
                      <p:childTnLst>
                        <p:par>
                          <p:cTn id="38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85" nodeType="clickEffect" fill="hold" presetClass="entr" presetID="17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87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88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animClr clrSpc="rgb">
                                <p:cBhvr>
                                  <p:cTn id="38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9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b2b2b2"/>
                                </p:to>
                              </p:animClr>
                            </p:childTnLst>
                          </p:cTn>
                        </p:par>
                        <p:par>
                          <p:cTn id="390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391" nodeType="after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393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4" fill="hold">
                      <p:stCondLst>
                        <p:cond delay="indefinite"/>
                      </p:stCondLst>
                      <p:childTnLst>
                        <p:par>
                          <p:cTn id="395" fill="hold">
                            <p:stCondLst>
                              <p:cond delay="0"/>
                            </p:stCondLst>
                            <p:childTnLst>
                              <p:animClr clrSpc="rgb">
                                <p:cBhvr>
                                  <p:cTn id="396" dur="1" fill="hold"/>
                                  <p:tgtEl>
                                    <p:spTgt spid="100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b2b2b2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ext Box 2"/>
          <p:cNvSpPr/>
          <p:nvPr/>
        </p:nvSpPr>
        <p:spPr>
          <a:xfrm>
            <a:off x="166680" y="2362320"/>
            <a:ext cx="8633160" cy="11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D’où la nécessité de contrôler les charges d’entraînement </a:t>
            </a:r>
            <a:endParaRPr b="1" lang="en-US" sz="2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ainsi que la nature et la durée des récupérations qui leur </a:t>
            </a:r>
            <a:endParaRPr b="1" lang="en-US" sz="2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font suite</a:t>
            </a:r>
            <a:endParaRPr b="1" lang="en-US" sz="2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</p:spTree>
  </p:cSld>
  <p:transition spd="med">
    <p:split dir="out" orient="vert"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 Box 2"/>
          <p:cNvSpPr/>
          <p:nvPr/>
        </p:nvSpPr>
        <p:spPr>
          <a:xfrm>
            <a:off x="709920" y="152280"/>
            <a:ext cx="7146720" cy="58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Quelques outils intéressants à utiliser: </a:t>
            </a:r>
            <a:endParaRPr b="1" lang="en-US" sz="32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Box 3"/>
          <p:cNvSpPr/>
          <p:nvPr/>
        </p:nvSpPr>
        <p:spPr>
          <a:xfrm>
            <a:off x="152280" y="914400"/>
            <a:ext cx="8763120" cy="259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2000" strike="noStrike" u="sng">
                <a:solidFill>
                  <a:srgbClr val="ffff00"/>
                </a:solidFill>
                <a:effectLst/>
                <a:uFillTx/>
                <a:latin typeface="Arial"/>
              </a:rPr>
              <a:t>Pour contrôler les charges: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- Banister et Morton et al. (1990) proposent de multiplier  la durée de l’exercice par le % de la fréquence cardiaque de réserve ([Fcmax - FC exercice] / [Fcmax - FC mini]),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- Mercier (1999) a développé un système de cotation de la difficulté de chaque séance. Cote = nombre compris entre 1 et 10 représente le rapport entre le volume réalisé et le volume maximal que le sportif estime pouvoir réaliser 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Box 4"/>
          <p:cNvSpPr/>
          <p:nvPr/>
        </p:nvSpPr>
        <p:spPr>
          <a:xfrm>
            <a:off x="228600" y="3733920"/>
            <a:ext cx="8686800" cy="149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2000" strike="noStrike" u="sng">
                <a:solidFill>
                  <a:srgbClr val="ffff00"/>
                </a:solidFill>
                <a:effectLst/>
                <a:uFillTx/>
                <a:latin typeface="Arial"/>
              </a:rPr>
              <a:t>Pour contrôler la charge + la monotonie de la séance: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- Indice de monotonie et indice de surentraînementde Foster et Lehman (1997),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- Gazzano, Turblin (2000) Indices de charge, de monotonie et de contrainte (Logiciel Fit-Eval).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Box 5"/>
          <p:cNvSpPr/>
          <p:nvPr/>
        </p:nvSpPr>
        <p:spPr>
          <a:xfrm>
            <a:off x="227880" y="5402160"/>
            <a:ext cx="8707320" cy="149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2000" strike="noStrike" u="sng">
                <a:solidFill>
                  <a:srgbClr val="ffff00"/>
                </a:solidFill>
                <a:effectLst/>
                <a:uFillTx/>
                <a:latin typeface="Arial"/>
              </a:rPr>
              <a:t>Pour contrôler l’adéquation : charge / récupération :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- Thibaut (1999) : propose un modèle graphique des liens inter actifs entre la durée, 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	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          l’intensité ( % de VAM ), la durée de la récupération, et le nombre 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	</a:t>
            </a: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          maximal de répétitions 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</p:spTree>
  </p:cSld>
  <p:transition spd="med">
    <p:split dir="out" orient="vert"/>
  </p:transition>
  <p:timing>
    <p:tnLst>
      <p:par>
        <p:cTn id="397" dur="indefinite" restart="never" nodeType="tmRoot">
          <p:childTnLst>
            <p:seq>
              <p:cTn id="398" dur="indefinite" nodeType="mainSeq">
                <p:childTnLst>
                  <p:par>
                    <p:cTn id="399" nodeType="clickEffect" fill="hold">
                      <p:stCondLst>
                        <p:cond delay="0"/>
                      </p:stCondLst>
                      <p:childTnLst>
                        <p:par>
                          <p:cTn id="40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01" nodeType="after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403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4" nodeType="clickEffect" fill="hold">
                      <p:stCondLst>
                        <p:cond delay="indefinite"/>
                      </p:stCondLst>
                      <p:childTnLst>
                        <p:par>
                          <p:cTn id="40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06" nodeType="click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408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9" nodeType="clickEffect" fill="hold">
                      <p:stCondLst>
                        <p:cond delay="indefinite"/>
                      </p:stCondLst>
                      <p:childTnLst>
                        <p:par>
                          <p:cTn id="41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11" nodeType="click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413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 Box 2"/>
          <p:cNvSpPr/>
          <p:nvPr/>
        </p:nvSpPr>
        <p:spPr>
          <a:xfrm>
            <a:off x="380880" y="1219320"/>
            <a:ext cx="8305920" cy="116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12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¤ 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« </a:t>
            </a:r>
            <a:r>
              <a:rPr b="0" i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Il existe plusieurs types de surentraînement qui se différencient par leurs </a:t>
            </a:r>
            <a:r>
              <a:rPr b="0" i="1" lang="fr-FR" sz="2000" strike="noStrike" u="none">
                <a:solidFill>
                  <a:srgbClr val="66ff33"/>
                </a:solidFill>
                <a:effectLst/>
                <a:uFillTx/>
                <a:latin typeface="Arial"/>
              </a:rPr>
              <a:t>conséquences</a:t>
            </a:r>
            <a:r>
              <a:rPr b="0" i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plus que par leur </a:t>
            </a:r>
            <a:r>
              <a:rPr b="0" i="1" lang="fr-FR" sz="2000" strike="noStrike" u="none">
                <a:solidFill>
                  <a:srgbClr val="66ff33"/>
                </a:solidFill>
                <a:effectLst/>
                <a:uFillTx/>
                <a:latin typeface="Arial"/>
              </a:rPr>
              <a:t>mode d’apparition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 »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12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(Israel 1976).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113" name="Line 3"/>
          <p:cNvSpPr/>
          <p:nvPr/>
        </p:nvSpPr>
        <p:spPr>
          <a:xfrm>
            <a:off x="533520" y="2971800"/>
            <a:ext cx="8153280" cy="0"/>
          </a:xfrm>
          <a:prstGeom prst="line">
            <a:avLst/>
          </a:prstGeom>
          <a:ln w="57240">
            <a:solidFill>
              <a:srgbClr val="ff99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Box 4"/>
          <p:cNvSpPr/>
          <p:nvPr/>
        </p:nvSpPr>
        <p:spPr>
          <a:xfrm>
            <a:off x="2514600" y="380880"/>
            <a:ext cx="4343400" cy="398880"/>
          </a:xfrm>
          <a:prstGeom prst="rect">
            <a:avLst/>
          </a:prstGeom>
          <a:noFill/>
          <a:ln w="255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12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Les types de surentraînement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Box 5"/>
          <p:cNvSpPr/>
          <p:nvPr/>
        </p:nvSpPr>
        <p:spPr>
          <a:xfrm>
            <a:off x="0" y="3276720"/>
            <a:ext cx="9144000" cy="323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3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Plusieurs</a:t>
            </a:r>
            <a:r>
              <a:rPr b="0" lang="en-US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études suggèrent 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aussi</a:t>
            </a:r>
            <a:r>
              <a:rPr b="0" lang="en-US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l’existence de troubles neuro-végétatifs 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qui accompagnent la baisse de performance. Deux types de perturbations  d’ordre nerveux et/ou endocrinien se manifestent chez le sportif surentraîné :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* un comme le résultat d’une dominance du système nerveux </a:t>
            </a:r>
            <a:r>
              <a:rPr b="1" i="1" lang="en-US" sz="2000" strike="noStrike" u="sng">
                <a:solidFill>
                  <a:srgbClr val="ffff00"/>
                </a:solidFill>
                <a:effectLst/>
                <a:uFillTx/>
                <a:latin typeface="Arial"/>
              </a:rPr>
              <a:t>sympathique</a:t>
            </a:r>
            <a:r>
              <a:rPr b="0" lang="en-US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,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* l’autre caractérisé par la dominance du système nerveux </a:t>
            </a:r>
            <a:r>
              <a:rPr b="1" i="1" lang="en-US" sz="2000" strike="noStrike" u="sng">
                <a:solidFill>
                  <a:srgbClr val="ffff00"/>
                </a:solidFill>
                <a:effectLst/>
                <a:uFillTx/>
                <a:latin typeface="Arial"/>
              </a:rPr>
              <a:t>parasympathique</a:t>
            </a:r>
            <a:r>
              <a:rPr b="0" lang="en-US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</p:spTree>
  </p:cSld>
  <p:transition spd="med">
    <p:split dir="out" orient="vert"/>
  </p:transition>
  <p:timing>
    <p:tnLst>
      <p:par>
        <p:cTn id="414" dur="indefinite" restart="never" nodeType="tmRoot">
          <p:childTnLst>
            <p:seq>
              <p:cTn id="415" dur="indefinite" nodeType="mainSeq">
                <p:childTnLst>
                  <p:par>
                    <p:cTn id="416" nodeType="clickEffect" fill="hold">
                      <p:stCondLst>
                        <p:cond delay="0"/>
                      </p:stCondLst>
                      <p:childTnLst>
                        <p:par>
                          <p:cTn id="41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18" nodeType="after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0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1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2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423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25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6" nodeType="afterEffect" fill="hold">
                            <p:stCondLst>
                              <p:cond delay="1000"/>
                            </p:stCondLst>
                            <p:childTnLst>
                              <p:par>
                                <p:cTn id="427" nodeType="afterEffect" fill="hold" presetClass="entr" presetID="17" presetSubtype="1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29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30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animClr clrSpc="rgb">
                                <p:cBhvr>
                                  <p:cTn id="431" dur="1" fill="hold">
                                    <p:stCondLst>
                                      <p:cond delay="2000"/>
                                    </p:stCondLst>
                                  </p:cTn>
                                  <p:tgtEl>
                                    <p:spTgt spid="112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b2b2b2"/>
                                </p:to>
                              </p:animClr>
                            </p:childTnLst>
                          </p:cTn>
                        </p:par>
                        <p:par>
                          <p:cTn id="432" nodeType="afterEffect" fill="hold">
                            <p:stCondLst>
                              <p:cond delay="3500"/>
                            </p:stCondLst>
                            <p:childTnLst>
                              <p:par>
                                <p:cTn id="433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35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ext Box 2"/>
          <p:cNvSpPr/>
          <p:nvPr/>
        </p:nvSpPr>
        <p:spPr>
          <a:xfrm>
            <a:off x="1746360" y="533520"/>
            <a:ext cx="5783400" cy="296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             Type sympathique :</a:t>
            </a:r>
            <a:endParaRPr b="1" lang="en-US" sz="2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- accélération de la fréquence cardiaque de repos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- augmentation de la pression artérielle,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- perte d’appétit,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- perte de poids de masse maigre,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- troubles du sommeil,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- instabilité émotionnelle,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- augmentation du métabolisme de base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Box 3"/>
          <p:cNvSpPr/>
          <p:nvPr/>
        </p:nvSpPr>
        <p:spPr>
          <a:xfrm>
            <a:off x="1746720" y="3840120"/>
            <a:ext cx="6165000" cy="296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             </a:t>
            </a:r>
            <a:r>
              <a:rPr b="0" lang="en-US" sz="2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Type parasympathique :</a:t>
            </a:r>
            <a:endParaRPr b="1" lang="en-US" sz="2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- anémie progressive,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- fatigabilité accrue,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- diminution de la fréquence cardiaque de repos,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- décélération cardiaque rapide à l’arrêt de l’exercice,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- diminution de la pression artérielle de repos,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- désordres digestifs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</p:spTree>
  </p:cSld>
  <p:transition spd="med">
    <p:split dir="out" orient="vert"/>
  </p:transition>
  <p:timing>
    <p:tnLst>
      <p:par>
        <p:cTn id="436" dur="indefinite" restart="never" nodeType="tmRoot">
          <p:childTnLst>
            <p:seq>
              <p:cTn id="437" dur="indefinite" nodeType="mainSeq">
                <p:childTnLst>
                  <p:par>
                    <p:cTn id="438" nodeType="clickEffect" fill="hold">
                      <p:stCondLst>
                        <p:cond delay="0"/>
                      </p:stCondLst>
                      <p:childTnLst>
                        <p:par>
                          <p:cTn id="43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40" nodeType="afterEffect" fill="hold" presetClass="entr" presetID="2" presetSubtype="8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4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2" dur="3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3" dur="3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4" nodeType="afterEffect" fill="hold">
                            <p:stCondLst>
                              <p:cond delay="13500"/>
                            </p:stCondLst>
                            <p:childTnLst>
                              <p:par>
                                <p:cTn id="445" nodeType="afterEffect" fill="hold" presetClass="entr" presetID="2" presetSubtype="8">
                                  <p:stCondLst>
                                    <p:cond delay="200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7" dur="3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8" dur="3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ext Box 2"/>
          <p:cNvSpPr/>
          <p:nvPr/>
        </p:nvSpPr>
        <p:spPr>
          <a:xfrm>
            <a:off x="609480" y="304920"/>
            <a:ext cx="8001000" cy="271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                              Remarques:</a:t>
            </a:r>
            <a:endParaRPr b="1" lang="en-US" sz="2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1 - Le surentraînement de </a:t>
            </a:r>
            <a:r>
              <a:rPr b="1" i="1" lang="en-US" sz="2400" strike="noStrike" u="sng">
                <a:solidFill>
                  <a:srgbClr val="ffff00"/>
                </a:solidFill>
                <a:effectLst/>
                <a:uFillTx/>
                <a:latin typeface="Arial"/>
              </a:rPr>
              <a:t>type sympathique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semble le plus fréquent, et affecterait en majorité  les sportifs jeunes (Nilson et al.1981), les sprinters et les sportifs de disciplines où la puissance prédomine (Kinderman 1986) ; </a:t>
            </a:r>
            <a:endParaRPr b="1" lang="en-US" sz="2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Box 3"/>
          <p:cNvSpPr/>
          <p:nvPr/>
        </p:nvSpPr>
        <p:spPr>
          <a:xfrm>
            <a:off x="687600" y="4940280"/>
            <a:ext cx="8059320" cy="192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2 - Il faut cependant signaler que la plupart des signes </a:t>
            </a:r>
            <a:endParaRPr b="1" lang="en-US" sz="2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précédents peuvent aussi s’observer chez des sujets qui </a:t>
            </a:r>
            <a:endParaRPr b="1" lang="en-US" sz="2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ne souffrent pas de surentraînement.</a:t>
            </a:r>
            <a:endParaRPr b="1" lang="en-US" sz="2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Ils ne sont donc pas spécifiques et il faut être très prudent </a:t>
            </a:r>
            <a:endParaRPr b="1" lang="en-US" sz="2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avant de conclure à un surentraînement.</a:t>
            </a:r>
            <a:endParaRPr b="1" lang="en-US" sz="2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Box 4"/>
          <p:cNvSpPr/>
          <p:nvPr/>
        </p:nvSpPr>
        <p:spPr>
          <a:xfrm>
            <a:off x="688320" y="3124080"/>
            <a:ext cx="8008560" cy="11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alors que le surentraînement de </a:t>
            </a:r>
            <a:r>
              <a:rPr b="1" i="1" lang="en-US" sz="2400" strike="noStrike" u="sng">
                <a:solidFill>
                  <a:srgbClr val="ffff00"/>
                </a:solidFill>
                <a:effectLst/>
                <a:uFillTx/>
                <a:latin typeface="Arial"/>
              </a:rPr>
              <a:t>type parasympathique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endParaRPr b="1" lang="en-US" sz="2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affecterait davantage les sportifs plus âgés et les athlètes </a:t>
            </a:r>
            <a:endParaRPr b="1" lang="en-US" sz="2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d’endurance (Bompa, 1983).</a:t>
            </a:r>
            <a:endParaRPr b="1" lang="en-US" sz="2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</p:spTree>
  </p:cSld>
  <p:transition spd="med">
    <p:split dir="out" orient="vert"/>
  </p:transition>
  <p:timing>
    <p:tnLst>
      <p:par>
        <p:cTn id="449" dur="indefinite" restart="never" nodeType="tmRoot">
          <p:childTnLst>
            <p:seq>
              <p:cTn id="450" dur="indefinite" nodeType="mainSeq">
                <p:childTnLst>
                  <p:par>
                    <p:cTn id="451" nodeType="clickEffect" fill="hold">
                      <p:stCondLst>
                        <p:cond delay="0"/>
                      </p:stCondLst>
                      <p:childTnLst>
                        <p:par>
                          <p:cTn id="45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53" nodeType="afterEffect" fill="hold" presetClass="entr" presetID="22" presetSubtype="8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455" dur="3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6" nodeType="clickEffect" fill="hold">
                      <p:stCondLst>
                        <p:cond delay="indefinite"/>
                      </p:stCondLst>
                      <p:childTnLst>
                        <p:par>
                          <p:cTn id="45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58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460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46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8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ccccff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  <p:par>
                    <p:cTn id="462" nodeType="clickEffect" fill="hold">
                      <p:stCondLst>
                        <p:cond delay="indefinite"/>
                      </p:stCondLst>
                      <p:childTnLst>
                        <p:par>
                          <p:cTn id="46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64" nodeType="clickEffect" fill="hold" presetClass="entr" presetID="22" presetSubtype="8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4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466" dur="3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46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0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ccccff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  <p:par>
                    <p:cTn id="468" fill="hold">
                      <p:stCondLst>
                        <p:cond delay="indefinite"/>
                      </p:stCondLst>
                      <p:childTnLst>
                        <p:par>
                          <p:cTn id="469" fill="hold">
                            <p:stCondLst>
                              <p:cond delay="0"/>
                            </p:stCondLst>
                            <p:childTnLst>
                              <p:animClr clrSpc="rgb">
                                <p:cBhvr>
                                  <p:cTn id="470" dur="1" fill="hold"/>
                                  <p:tgtEl>
                                    <p:spTgt spid="119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ccccff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ext Box 2"/>
          <p:cNvSpPr/>
          <p:nvPr/>
        </p:nvSpPr>
        <p:spPr>
          <a:xfrm>
            <a:off x="533520" y="4629240"/>
            <a:ext cx="8305560" cy="208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20000"/>
              </a:lnSpc>
              <a:spcBef>
                <a:spcPts val="12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3- Le </a:t>
            </a:r>
            <a:r>
              <a:rPr b="0" lang="fr-FR" sz="2000" strike="noStrike" u="none">
                <a:solidFill>
                  <a:srgbClr val="66ff33"/>
                </a:solidFill>
                <a:effectLst/>
                <a:uFillTx/>
                <a:latin typeface="Arial"/>
              </a:rPr>
              <a:t>surentraînement à long terme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(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‘’Overtraining’’) est la continuité 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  <a:spcBef>
                <a:spcPts val="12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du précédent état, lorsqu’une période de récupération adaptée n’est pas consentie. Cette forme </a:t>
            </a:r>
            <a:r>
              <a:rPr b="0" lang="fr-FR" sz="2000" strike="noStrike" u="none">
                <a:solidFill>
                  <a:srgbClr val="66ff33"/>
                </a:solidFill>
                <a:effectLst/>
                <a:uFillTx/>
                <a:latin typeface="Arial"/>
              </a:rPr>
              <a:t>n’est plus réversible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à court ou moyen terme. Le retour à des conditions normales d’entraînement nécessite plusieurs semaines (ou mois) d’arrêt total (ou presque) d’activités.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Box 3"/>
          <p:cNvSpPr/>
          <p:nvPr/>
        </p:nvSpPr>
        <p:spPr>
          <a:xfrm>
            <a:off x="1752480" y="380880"/>
            <a:ext cx="563904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    </a:t>
            </a:r>
            <a:r>
              <a:rPr b="0" lang="en-US" sz="2800" strike="noStrike" u="none">
                <a:solidFill>
                  <a:srgbClr val="ffff00"/>
                </a:solidFill>
                <a:effectLst/>
                <a:uFillTx/>
                <a:latin typeface="Comic Sans MS"/>
              </a:rPr>
              <a:t>Ne pas confondre non plus:</a:t>
            </a:r>
            <a:endParaRPr b="1" lang="en-US" sz="2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Box 4"/>
          <p:cNvSpPr/>
          <p:nvPr/>
        </p:nvSpPr>
        <p:spPr>
          <a:xfrm>
            <a:off x="598320" y="2467080"/>
            <a:ext cx="7918560" cy="192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2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2 - et un état de </a:t>
            </a:r>
            <a:r>
              <a:rPr b="1" lang="en-US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fatigue chronique </a:t>
            </a:r>
            <a:r>
              <a:rPr b="0" lang="en-US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encore</a:t>
            </a:r>
            <a:r>
              <a:rPr b="1" lang="en-US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en-US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reversible, conséquence 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de plusieurs entraînements intenses consécutifs (“Over-reaching”)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organisés dans le but d’obtenir une réaction de surcompensation.  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Dans ce cas limite, la fatigue peut être reversible aprés quelques 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Jours, voire une semaine ou plus  d’une récupération adaptée.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Box 5"/>
          <p:cNvSpPr/>
          <p:nvPr/>
        </p:nvSpPr>
        <p:spPr>
          <a:xfrm>
            <a:off x="598680" y="1324080"/>
            <a:ext cx="7338600" cy="82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2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1 - un état de </a:t>
            </a:r>
            <a:r>
              <a:rPr b="1" lang="en-US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fatigue aiguë</a:t>
            </a:r>
            <a:r>
              <a:rPr b="0" lang="en-US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(normale aprés la surcharge d’une 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séance d’entraînement),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</p:spTree>
  </p:cSld>
  <p:transition spd="med">
    <p:split dir="out" orient="vert"/>
  </p:transition>
  <p:timing>
    <p:tnLst>
      <p:par>
        <p:cTn id="471" dur="indefinite" restart="never" nodeType="tmRoot">
          <p:childTnLst>
            <p:seq>
              <p:cTn id="472" dur="indefinite" nodeType="mainSeq">
                <p:childTnLst>
                  <p:par>
                    <p:cTn id="473" nodeType="clickEffect" fill="hold">
                      <p:stCondLst>
                        <p:cond delay="0"/>
                      </p:stCondLst>
                      <p:childTnLst>
                        <p:par>
                          <p:cTn id="47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75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77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8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479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81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2" nodeType="clickEffect" fill="hold">
                      <p:stCondLst>
                        <p:cond delay="indefinite"/>
                      </p:stCondLst>
                      <p:childTnLst>
                        <p:par>
                          <p:cTn id="48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84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86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48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4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ccccff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  <p:par>
                    <p:cTn id="488" nodeType="clickEffect" fill="hold">
                      <p:stCondLst>
                        <p:cond delay="indefinite"/>
                      </p:stCondLst>
                      <p:childTnLst>
                        <p:par>
                          <p:cTn id="48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90" nodeType="click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492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49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3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ccccff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  <p:par>
                    <p:cTn id="494" fill="hold">
                      <p:stCondLst>
                        <p:cond delay="indefinite"/>
                      </p:stCondLst>
                      <p:childTnLst>
                        <p:par>
                          <p:cTn id="495" fill="hold">
                            <p:stCondLst>
                              <p:cond delay="0"/>
                            </p:stCondLst>
                            <p:childTnLst>
                              <p:animClr clrSpc="rgb">
                                <p:cBhvr>
                                  <p:cTn id="496" dur="1" fill="hold"/>
                                  <p:tgtEl>
                                    <p:spTgt spid="121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b2b2b2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Picture 2" descr="Physiologie"/>
          <p:cNvPicPr/>
          <p:nvPr/>
        </p:nvPicPr>
        <p:blipFill>
          <a:blip r:embed="rId1"/>
          <a:stretch/>
        </p:blipFill>
        <p:spPr>
          <a:xfrm>
            <a:off x="2743200" y="1523880"/>
            <a:ext cx="3632040" cy="487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6" name="AutoShape 3"/>
          <p:cNvSpPr/>
          <p:nvPr/>
        </p:nvSpPr>
        <p:spPr>
          <a:xfrm>
            <a:off x="5638680" y="1447920"/>
            <a:ext cx="2819520" cy="838080"/>
          </a:xfrm>
          <a:prstGeom prst="wedgeEllipseCallout">
            <a:avLst>
              <a:gd name="adj1" fmla="val -79055"/>
              <a:gd name="adj2" fmla="val 56439"/>
            </a:avLst>
          </a:prstGeom>
          <a:noFill/>
          <a:ln w="38160">
            <a:solidFill>
              <a:srgbClr val="ff0000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1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1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127" name="AutoShape 4"/>
          <p:cNvSpPr/>
          <p:nvPr/>
        </p:nvSpPr>
        <p:spPr>
          <a:xfrm>
            <a:off x="6400800" y="4267080"/>
            <a:ext cx="2362320" cy="914400"/>
          </a:xfrm>
          <a:prstGeom prst="wedgeEllipseCallout">
            <a:avLst>
              <a:gd name="adj1" fmla="val -75537"/>
              <a:gd name="adj2" fmla="val -65800"/>
            </a:avLst>
          </a:prstGeom>
          <a:noFill/>
          <a:ln w="38160">
            <a:solidFill>
              <a:srgbClr val="ff00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Composante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hormonale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128" name="AutoShape 5"/>
          <p:cNvSpPr/>
          <p:nvPr/>
        </p:nvSpPr>
        <p:spPr>
          <a:xfrm>
            <a:off x="152280" y="3733920"/>
            <a:ext cx="2133720" cy="838080"/>
          </a:xfrm>
          <a:prstGeom prst="wedgeEllipseCallout">
            <a:avLst>
              <a:gd name="adj1" fmla="val 79537"/>
              <a:gd name="adj2" fmla="val -23865"/>
            </a:avLst>
          </a:prstGeom>
          <a:noFill/>
          <a:ln w="38160">
            <a:solidFill>
              <a:srgbClr val="66ff33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66ff33"/>
                </a:solidFill>
                <a:effectLst/>
                <a:uFillTx/>
                <a:latin typeface="Arial"/>
              </a:rPr>
              <a:t>Composante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66ff33"/>
                </a:solidFill>
                <a:effectLst/>
                <a:uFillTx/>
                <a:latin typeface="Arial"/>
              </a:rPr>
              <a:t>Biochimique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129" name="AutoShape 6"/>
          <p:cNvSpPr/>
          <p:nvPr/>
        </p:nvSpPr>
        <p:spPr>
          <a:xfrm>
            <a:off x="304920" y="1600200"/>
            <a:ext cx="2286000" cy="1143000"/>
          </a:xfrm>
          <a:prstGeom prst="wedgeEllipseCallout">
            <a:avLst>
              <a:gd name="adj1" fmla="val 73680"/>
              <a:gd name="adj2" fmla="val 62222"/>
            </a:avLst>
          </a:prstGeom>
          <a:noFill/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Composante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Métabolique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130" name="AutoShape 7"/>
          <p:cNvSpPr/>
          <p:nvPr/>
        </p:nvSpPr>
        <p:spPr>
          <a:xfrm>
            <a:off x="5638680" y="2666880"/>
            <a:ext cx="3200400" cy="1067040"/>
          </a:xfrm>
          <a:prstGeom prst="wedgeEllipseCallout">
            <a:avLst>
              <a:gd name="adj1" fmla="val -77527"/>
              <a:gd name="adj2" fmla="val 3125"/>
            </a:avLst>
          </a:prstGeom>
          <a:noFill/>
          <a:ln w="38160">
            <a:solidFill>
              <a:srgbClr val="ffff00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Composante Cardiorespiratoire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Box 8"/>
          <p:cNvSpPr/>
          <p:nvPr/>
        </p:nvSpPr>
        <p:spPr>
          <a:xfrm>
            <a:off x="1219320" y="304920"/>
            <a:ext cx="6476760" cy="398880"/>
          </a:xfrm>
          <a:prstGeom prst="rect">
            <a:avLst/>
          </a:prstGeom>
          <a:noFill/>
          <a:ln w="255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12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Différentes composantes du surentraînement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Box 9"/>
          <p:cNvSpPr/>
          <p:nvPr/>
        </p:nvSpPr>
        <p:spPr>
          <a:xfrm>
            <a:off x="5429160" y="1523880"/>
            <a:ext cx="2876760" cy="70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Composante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comportementale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133" name="AutoShape 10"/>
          <p:cNvSpPr/>
          <p:nvPr/>
        </p:nvSpPr>
        <p:spPr>
          <a:xfrm>
            <a:off x="609480" y="5867280"/>
            <a:ext cx="2210040" cy="914400"/>
          </a:xfrm>
          <a:prstGeom prst="wedgeEllipseCallout">
            <a:avLst>
              <a:gd name="adj1" fmla="val 126509"/>
              <a:gd name="adj2" fmla="val -192884"/>
            </a:avLst>
          </a:prstGeom>
          <a:noFill/>
          <a:ln w="38160">
            <a:solidFill>
              <a:srgbClr val="cccc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Box 11"/>
          <p:cNvSpPr/>
          <p:nvPr/>
        </p:nvSpPr>
        <p:spPr>
          <a:xfrm>
            <a:off x="761760" y="5943600"/>
            <a:ext cx="2147040" cy="70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Composante 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neuro-musculaire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</p:spTree>
  </p:cSld>
  <p:transition spd="med">
    <p:split dir="out" orient="vert"/>
  </p:transition>
  <p:timing>
    <p:tnLst>
      <p:par>
        <p:cTn id="497" dur="indefinite" restart="never" nodeType="tmRoot">
          <p:childTnLst>
            <p:seq>
              <p:cTn id="498" dur="indefinite" nodeType="mainSeq">
                <p:childTnLst>
                  <p:par>
                    <p:cTn id="499" nodeType="clickEffect" fill="hold">
                      <p:stCondLst>
                        <p:cond delay="0"/>
                      </p:stCondLst>
                      <p:childTnLst>
                        <p:par>
                          <p:cTn id="50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01" nodeType="afterEffect" fill="hold" presetClass="entr" presetID="2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right)" transition="in">
                                      <p:cBhvr additive="repl">
                                        <p:cTn id="503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4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505" nodeType="afterEffect" fill="hold" presetClass="entr" presetID="4" presetSubtype="3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out)" transition="in">
                                      <p:cBhvr additive="repl">
                                        <p:cTn id="507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8" nodeType="afterEffect" fill="hold">
                            <p:stCondLst>
                              <p:cond delay="1000"/>
                            </p:stCondLst>
                            <p:childTnLst>
                              <p:par>
                                <p:cTn id="509" nodeType="afterEffect" fill="hold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1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2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3" nodeType="afterEffect" fill="hold">
                            <p:stCondLst>
                              <p:cond delay="1500"/>
                            </p:stCondLst>
                            <p:childTnLst>
                              <p:par>
                                <p:cTn id="514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16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7" nodeType="afterEffect" fill="hold">
                            <p:stCondLst>
                              <p:cond delay="2000"/>
                            </p:stCondLst>
                            <p:childTnLst>
                              <p:par>
                                <p:cTn id="518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20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1" nodeType="afterEffect" fill="hold">
                            <p:stCondLst>
                              <p:cond delay="2500"/>
                            </p:stCondLst>
                            <p:childTnLst>
                              <p:par>
                                <p:cTn id="522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24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5" nodeType="afterEffect" fill="hold">
                            <p:stCondLst>
                              <p:cond delay="3000"/>
                            </p:stCondLst>
                            <p:childTnLst>
                              <p:par>
                                <p:cTn id="526" nodeType="afterEffect" fill="hold" presetClass="entr" presetID="2" presetSubtype="4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8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9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0" nodeType="afterEffect" fill="hold">
                            <p:stCondLst>
                              <p:cond delay="4500"/>
                            </p:stCondLst>
                            <p:childTnLst>
                              <p:par>
                                <p:cTn id="531" nodeType="afterEffect" fill="hold" presetClass="entr" presetID="2" presetSubtype="9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3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4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5" nodeType="afterEffect" fill="hold">
                            <p:stCondLst>
                              <p:cond delay="6000"/>
                            </p:stCondLst>
                            <p:childTnLst>
                              <p:par>
                                <p:cTn id="536" nodeType="afterEffect" fill="hold" presetClass="entr" presetID="2" presetSubtype="6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8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9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0" nodeType="afterEffect" fill="hold">
                            <p:stCondLst>
                              <p:cond delay="7500"/>
                            </p:stCondLst>
                            <p:childTnLst>
                              <p:par>
                                <p:cTn id="541" nodeType="afterEffect" fill="hold" presetClass="entr" presetID="2" presetSubtype="1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3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4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 Box 2"/>
          <p:cNvSpPr/>
          <p:nvPr/>
        </p:nvSpPr>
        <p:spPr>
          <a:xfrm>
            <a:off x="2332440" y="4495680"/>
            <a:ext cx="4152240" cy="106956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fff00"/>
                </a:solidFill>
                <a:effectLst/>
                <a:uFillTx/>
                <a:latin typeface="Comic Sans MS"/>
              </a:rPr>
              <a:t>1 - COMPOSANTES </a:t>
            </a:r>
            <a:endParaRPr b="1" lang="en-US" sz="32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fff00"/>
                </a:solidFill>
                <a:effectLst/>
                <a:uFillTx/>
                <a:latin typeface="Comic Sans MS"/>
              </a:rPr>
              <a:t>COMPORTEMENTALES</a:t>
            </a:r>
            <a:endParaRPr b="1" lang="en-US" sz="32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pic>
        <p:nvPicPr>
          <p:cNvPr id="136" name="Object 3" descr=""/>
          <p:cNvPicPr/>
          <p:nvPr/>
        </p:nvPicPr>
        <p:blipFill>
          <a:blip r:embed="rId1"/>
          <a:stretch/>
        </p:blipFill>
        <p:spPr>
          <a:xfrm>
            <a:off x="3352680" y="228600"/>
            <a:ext cx="2117880" cy="38098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pic>
    </p:spTree>
  </p:cSld>
  <p:transition spd="med">
    <p:split dir="out" orient="vert"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Text Box 2"/>
          <p:cNvSpPr/>
          <p:nvPr/>
        </p:nvSpPr>
        <p:spPr>
          <a:xfrm>
            <a:off x="228600" y="5667480"/>
            <a:ext cx="8686800" cy="11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NB. : Certains de ces symptômes prêtent parfois à </a:t>
            </a:r>
            <a:r>
              <a:rPr b="1" i="1" lang="fr-FR" sz="1800" strike="noStrike" u="none">
                <a:solidFill>
                  <a:srgbClr val="4eff17"/>
                </a:solidFill>
                <a:effectLst/>
                <a:uFillTx/>
                <a:latin typeface="Arial"/>
              </a:rPr>
              <a:t>confusion</a:t>
            </a:r>
            <a:r>
              <a:rPr b="1" i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car ils peuvent être aussi associés à des adaptations positives à l’entraînement efficace ou bien ils peuvent être </a:t>
            </a:r>
            <a:r>
              <a:rPr b="1" i="1" lang="fr-FR" sz="1800" strike="noStrike" u="none">
                <a:solidFill>
                  <a:srgbClr val="4eff17"/>
                </a:solidFill>
                <a:effectLst/>
                <a:uFillTx/>
                <a:latin typeface="Arial"/>
              </a:rPr>
              <a:t>contradictoires</a:t>
            </a:r>
            <a:r>
              <a:rPr b="1" i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les uns les autres en fonction du type de surentraînement ou être </a:t>
            </a:r>
            <a:r>
              <a:rPr b="1" i="1" lang="fr-FR" sz="1800" strike="noStrike" u="none">
                <a:solidFill>
                  <a:srgbClr val="4eff17"/>
                </a:solidFill>
                <a:effectLst/>
                <a:uFillTx/>
                <a:latin typeface="Arial"/>
              </a:rPr>
              <a:t>symptomatiques</a:t>
            </a:r>
            <a:r>
              <a:rPr b="1" i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d’affections diverses.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Box 3"/>
          <p:cNvSpPr/>
          <p:nvPr/>
        </p:nvSpPr>
        <p:spPr>
          <a:xfrm>
            <a:off x="2514600" y="1828800"/>
            <a:ext cx="35812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¤ 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Symbol"/>
                <a:ea typeface="Symbol"/>
              </a:rPr>
              <a:t>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facilité de sommeil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Box 4"/>
          <p:cNvSpPr/>
          <p:nvPr/>
        </p:nvSpPr>
        <p:spPr>
          <a:xfrm>
            <a:off x="2514600" y="1447920"/>
            <a:ext cx="28195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¤ 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Symbol"/>
                <a:ea typeface="Symbol"/>
              </a:rPr>
              <a:t>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métabolisme basal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Box 5"/>
          <p:cNvSpPr/>
          <p:nvPr/>
        </p:nvSpPr>
        <p:spPr>
          <a:xfrm>
            <a:off x="2514600" y="838080"/>
            <a:ext cx="320040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¤ fatigue chronique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Box 6"/>
          <p:cNvSpPr/>
          <p:nvPr/>
        </p:nvSpPr>
        <p:spPr>
          <a:xfrm>
            <a:off x="2514600" y="3352680"/>
            <a:ext cx="19051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¤ insomnies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Box 7"/>
          <p:cNvSpPr/>
          <p:nvPr/>
        </p:nvSpPr>
        <p:spPr>
          <a:xfrm>
            <a:off x="2514600" y="2133720"/>
            <a:ext cx="44197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¤ 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Symbol"/>
                <a:ea typeface="Symbol"/>
              </a:rPr>
              <a:t>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sensations de courbatures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Box 8"/>
          <p:cNvSpPr/>
          <p:nvPr/>
        </p:nvSpPr>
        <p:spPr>
          <a:xfrm>
            <a:off x="2514600" y="2438280"/>
            <a:ext cx="297180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¤ anorexies nerveuses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Box 9"/>
          <p:cNvSpPr/>
          <p:nvPr/>
        </p:nvSpPr>
        <p:spPr>
          <a:xfrm>
            <a:off x="2514600" y="2743200"/>
            <a:ext cx="137160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¤ 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Symbol"/>
                <a:ea typeface="Symbol"/>
              </a:rPr>
              <a:t>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appétit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Box 10"/>
          <p:cNvSpPr/>
          <p:nvPr/>
        </p:nvSpPr>
        <p:spPr>
          <a:xfrm>
            <a:off x="2514600" y="3048120"/>
            <a:ext cx="16765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¤ boulimie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Box 11"/>
          <p:cNvSpPr/>
          <p:nvPr/>
        </p:nvSpPr>
        <p:spPr>
          <a:xfrm>
            <a:off x="2514600" y="3657600"/>
            <a:ext cx="411480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¤ migraines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Box 12"/>
          <p:cNvSpPr/>
          <p:nvPr/>
        </p:nvSpPr>
        <p:spPr>
          <a:xfrm>
            <a:off x="2514600" y="3962520"/>
            <a:ext cx="17524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¤ nausées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Box 13"/>
          <p:cNvSpPr/>
          <p:nvPr/>
        </p:nvSpPr>
        <p:spPr>
          <a:xfrm>
            <a:off x="2514600" y="4267080"/>
            <a:ext cx="571500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¤ 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Symbol"/>
                <a:ea typeface="Symbol"/>
              </a:rPr>
              <a:t>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douleurs articulaires, tendineuses, organiques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Box 14"/>
          <p:cNvSpPr/>
          <p:nvPr/>
        </p:nvSpPr>
        <p:spPr>
          <a:xfrm>
            <a:off x="1753560" y="304920"/>
            <a:ext cx="54396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Symptomatologie comportementale</a:t>
            </a: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 </a:t>
            </a:r>
            <a:endParaRPr b="1" lang="en-US" sz="2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Box 15"/>
          <p:cNvSpPr/>
          <p:nvPr/>
        </p:nvSpPr>
        <p:spPr>
          <a:xfrm>
            <a:off x="2514600" y="4648320"/>
            <a:ext cx="40384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¤ 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Symbol"/>
                <a:ea typeface="Symbol"/>
              </a:rPr>
              <a:t>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des impressions de maladie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Box 16"/>
          <p:cNvSpPr/>
          <p:nvPr/>
        </p:nvSpPr>
        <p:spPr>
          <a:xfrm>
            <a:off x="2514600" y="1143000"/>
            <a:ext cx="56386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¤ sensations de dépression nerveuse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Box 17"/>
          <p:cNvSpPr/>
          <p:nvPr/>
        </p:nvSpPr>
        <p:spPr>
          <a:xfrm>
            <a:off x="2514600" y="4952880"/>
            <a:ext cx="39625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¤ sensations de froid persistant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</p:spTree>
  </p:cSld>
  <p:transition spd="med">
    <p:split dir="out" orient="vert"/>
  </p:transition>
  <p:timing>
    <p:tnLst>
      <p:par>
        <p:cTn id="545" dur="indefinite" restart="never" nodeType="tmRoot">
          <p:childTnLst>
            <p:seq>
              <p:cTn id="546" dur="indefinite" nodeType="mainSeq">
                <p:childTnLst>
                  <p:par>
                    <p:cTn id="547" nodeType="clickEffect" fill="hold">
                      <p:stCondLst>
                        <p:cond delay="0"/>
                      </p:stCondLst>
                      <p:childTnLst>
                        <p:par>
                          <p:cTn id="54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49" nodeType="afterEffect" fill="hold" presetClass="entr" presetID="9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5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51" dur="3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2" nodeType="afterEffect" fill="hold">
                            <p:stCondLst>
                              <p:cond delay="900"/>
                            </p:stCondLst>
                            <p:childTnLst>
                              <p:par>
                                <p:cTn id="553" nodeType="afterEffect" fill="hold" presetClass="entr" presetID="5" presetSubtype="1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555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6" nodeType="afterEffect" fill="hold">
                            <p:stCondLst>
                              <p:cond delay="2400"/>
                            </p:stCondLst>
                            <p:childTnLst>
                              <p:par>
                                <p:cTn id="557" nodeType="afterEffect" fill="hold" presetClass="entr" presetID="5" presetSubtype="1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559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560" dur="1" fill="hold">
                                    <p:stCondLst>
                                      <p:cond delay="1000"/>
                                    </p:stCondLst>
                                  </p:cTn>
                                  <p:tgtEl>
                                    <p:spTgt spid="140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ccccff"/>
                                </p:to>
                              </p:animClr>
                            </p:childTnLst>
                          </p:cTn>
                        </p:par>
                        <p:par>
                          <p:cTn id="561" nodeType="afterEffect" fill="hold">
                            <p:stCondLst>
                              <p:cond delay="3900"/>
                            </p:stCondLst>
                            <p:childTnLst>
                              <p:par>
                                <p:cTn id="562" nodeType="afterEffect" fill="hold" presetClass="entr" presetID="5" presetSubtype="1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564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565" dur="1" fill="hold">
                                    <p:stCondLst>
                                      <p:cond delay="1000"/>
                                    </p:stCondLst>
                                  </p:cTn>
                                  <p:tgtEl>
                                    <p:spTgt spid="151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b2b2b2"/>
                                </p:to>
                              </p:animClr>
                            </p:childTnLst>
                          </p:cTn>
                        </p:par>
                        <p:par>
                          <p:cTn id="566" nodeType="afterEffect" fill="hold">
                            <p:stCondLst>
                              <p:cond delay="5400"/>
                            </p:stCondLst>
                            <p:childTnLst>
                              <p:par>
                                <p:cTn id="567" nodeType="afterEffect" fill="hold" presetClass="entr" presetID="5" presetSubtype="1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569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570" dur="1" fill="hold">
                                    <p:stCondLst>
                                      <p:cond delay="1000"/>
                                    </p:stCondLst>
                                  </p:cTn>
                                  <p:tgtEl>
                                    <p:spTgt spid="139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ccccff"/>
                                </p:to>
                              </p:animClr>
                            </p:childTnLst>
                          </p:cTn>
                        </p:par>
                        <p:par>
                          <p:cTn id="571" nodeType="afterEffect" fill="hold">
                            <p:stCondLst>
                              <p:cond delay="6900"/>
                            </p:stCondLst>
                            <p:childTnLst>
                              <p:par>
                                <p:cTn id="572" nodeType="afterEffect" fill="hold" presetClass="entr" presetID="5" presetSubtype="1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574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575" dur="1" fill="hold">
                                    <p:stCondLst>
                                      <p:cond delay="1000"/>
                                    </p:stCondLst>
                                  </p:cTn>
                                  <p:tgtEl>
                                    <p:spTgt spid="138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ccccff"/>
                                </p:to>
                              </p:animClr>
                            </p:childTnLst>
                          </p:cTn>
                        </p:par>
                        <p:par>
                          <p:cTn id="576" nodeType="afterEffect" fill="hold">
                            <p:stCondLst>
                              <p:cond delay="8400"/>
                            </p:stCondLst>
                            <p:childTnLst>
                              <p:par>
                                <p:cTn id="577" nodeType="afterEffect" fill="hold" presetClass="entr" presetID="5" presetSubtype="1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579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580" dur="1" fill="hold">
                                    <p:stCondLst>
                                      <p:cond delay="1000"/>
                                    </p:stCondLst>
                                  </p:cTn>
                                  <p:tgtEl>
                                    <p:spTgt spid="142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ccccff"/>
                                </p:to>
                              </p:animClr>
                            </p:childTnLst>
                          </p:cTn>
                        </p:par>
                        <p:par>
                          <p:cTn id="581" nodeType="afterEffect" fill="hold">
                            <p:stCondLst>
                              <p:cond delay="9900"/>
                            </p:stCondLst>
                            <p:childTnLst>
                              <p:par>
                                <p:cTn id="582" nodeType="afterEffect" fill="hold" presetClass="entr" presetID="5" presetSubtype="1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584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585" dur="1" fill="hold">
                                    <p:stCondLst>
                                      <p:cond delay="1000"/>
                                    </p:stCondLst>
                                  </p:cTn>
                                  <p:tgtEl>
                                    <p:spTgt spid="143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ccccff"/>
                                </p:to>
                              </p:animClr>
                            </p:childTnLst>
                          </p:cTn>
                        </p:par>
                        <p:par>
                          <p:cTn id="586" nodeType="afterEffect" fill="hold">
                            <p:stCondLst>
                              <p:cond delay="11400"/>
                            </p:stCondLst>
                            <p:childTnLst>
                              <p:par>
                                <p:cTn id="587" nodeType="afterEffect" fill="hold" presetClass="entr" presetID="5" presetSubtype="1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589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590" dur="1" fill="hold">
                                    <p:stCondLst>
                                      <p:cond delay="1000"/>
                                    </p:stCondLst>
                                  </p:cTn>
                                  <p:tgtEl>
                                    <p:spTgt spid="144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ccccff"/>
                                </p:to>
                              </p:animClr>
                            </p:childTnLst>
                          </p:cTn>
                        </p:par>
                        <p:par>
                          <p:cTn id="591" nodeType="afterEffect" fill="hold">
                            <p:stCondLst>
                              <p:cond delay="12900"/>
                            </p:stCondLst>
                            <p:childTnLst>
                              <p:par>
                                <p:cTn id="592" nodeType="afterEffect" fill="hold" presetClass="entr" presetID="5" presetSubtype="1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594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595" dur="1" fill="hold">
                                    <p:stCondLst>
                                      <p:cond delay="1000"/>
                                    </p:stCondLst>
                                  </p:cTn>
                                  <p:tgtEl>
                                    <p:spTgt spid="145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ccccff"/>
                                </p:to>
                              </p:animClr>
                            </p:childTnLst>
                          </p:cTn>
                        </p:par>
                        <p:par>
                          <p:cTn id="596" nodeType="afterEffect" fill="hold">
                            <p:stCondLst>
                              <p:cond delay="14400"/>
                            </p:stCondLst>
                            <p:childTnLst>
                              <p:par>
                                <p:cTn id="597" nodeType="afterEffect" fill="hold" presetClass="entr" presetID="5" presetSubtype="1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599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600" dur="1" fill="hold">
                                    <p:stCondLst>
                                      <p:cond delay="1000"/>
                                    </p:stCondLst>
                                  </p:cTn>
                                  <p:tgtEl>
                                    <p:spTgt spid="141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ccccff"/>
                                </p:to>
                              </p:animClr>
                            </p:childTnLst>
                          </p:cTn>
                        </p:par>
                        <p:par>
                          <p:cTn id="601" nodeType="afterEffect" fill="hold">
                            <p:stCondLst>
                              <p:cond delay="15900"/>
                            </p:stCondLst>
                            <p:childTnLst>
                              <p:par>
                                <p:cTn id="602" nodeType="afterEffect" fill="hold" presetClass="entr" presetID="5" presetSubtype="1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604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605" dur="1" fill="hold">
                                    <p:stCondLst>
                                      <p:cond delay="1000"/>
                                    </p:stCondLst>
                                  </p:cTn>
                                  <p:tgtEl>
                                    <p:spTgt spid="146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ccccff"/>
                                </p:to>
                              </p:animClr>
                            </p:childTnLst>
                          </p:cTn>
                        </p:par>
                        <p:par>
                          <p:cTn id="606" nodeType="afterEffect" fill="hold">
                            <p:stCondLst>
                              <p:cond delay="17400"/>
                            </p:stCondLst>
                            <p:childTnLst>
                              <p:par>
                                <p:cTn id="607" nodeType="afterEffect" fill="hold" presetClass="entr" presetID="5" presetSubtype="1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609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610" dur="1" fill="hold">
                                    <p:stCondLst>
                                      <p:cond delay="1000"/>
                                    </p:stCondLst>
                                  </p:cTn>
                                  <p:tgtEl>
                                    <p:spTgt spid="147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ccccff"/>
                                </p:to>
                              </p:animClr>
                            </p:childTnLst>
                          </p:cTn>
                        </p:par>
                        <p:par>
                          <p:cTn id="611" nodeType="afterEffect" fill="hold">
                            <p:stCondLst>
                              <p:cond delay="18900"/>
                            </p:stCondLst>
                            <p:childTnLst>
                              <p:par>
                                <p:cTn id="612" nodeType="afterEffect" fill="hold" presetClass="entr" presetID="5" presetSubtype="1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614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615" dur="1" fill="hold">
                                    <p:stCondLst>
                                      <p:cond delay="1000"/>
                                    </p:stCondLst>
                                  </p:cTn>
                                  <p:tgtEl>
                                    <p:spTgt spid="148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ccccff"/>
                                </p:to>
                              </p:animClr>
                            </p:childTnLst>
                          </p:cTn>
                        </p:par>
                        <p:par>
                          <p:cTn id="616" nodeType="afterEffect" fill="hold">
                            <p:stCondLst>
                              <p:cond delay="20400"/>
                            </p:stCondLst>
                            <p:childTnLst>
                              <p:par>
                                <p:cTn id="617" nodeType="afterEffect" fill="hold" presetClass="entr" presetID="5" presetSubtype="1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619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620" dur="1" fill="hold">
                                    <p:stCondLst>
                                      <p:cond delay="1000"/>
                                    </p:stCondLst>
                                  </p:cTn>
                                  <p:tgtEl>
                                    <p:spTgt spid="150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b2b2b2"/>
                                </p:to>
                              </p:animClr>
                            </p:childTnLst>
                          </p:cTn>
                        </p:par>
                        <p:par>
                          <p:cTn id="621" nodeType="afterEffect" fill="hold">
                            <p:stCondLst>
                              <p:cond delay="21900"/>
                            </p:stCondLst>
                            <p:childTnLst>
                              <p:par>
                                <p:cTn id="622" nodeType="afterEffect" fill="hold" presetClass="entr" presetID="5" presetSubtype="1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624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625" dur="1" fill="hold">
                                    <p:stCondLst>
                                      <p:cond delay="2000"/>
                                    </p:stCondLst>
                                  </p:cTn>
                                  <p:tgtEl>
                                    <p:spTgt spid="152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b2b2b2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Text Box 2"/>
          <p:cNvSpPr/>
          <p:nvPr/>
        </p:nvSpPr>
        <p:spPr>
          <a:xfrm>
            <a:off x="1885320" y="1371600"/>
            <a:ext cx="567036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trike="noStrike" u="none">
                <a:solidFill>
                  <a:srgbClr val="ffff00"/>
                </a:solidFill>
                <a:effectLst/>
                <a:uFillTx/>
                <a:latin typeface="Comic Sans MS"/>
              </a:rPr>
              <a:t>Quelques outils psychologiques disponibles...</a:t>
            </a:r>
            <a:endParaRPr b="1" lang="en-US" sz="2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Box 3"/>
          <p:cNvSpPr/>
          <p:nvPr/>
        </p:nvSpPr>
        <p:spPr>
          <a:xfrm>
            <a:off x="688680" y="2819520"/>
            <a:ext cx="8076240" cy="192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Le POMS : Profile Of Mood State (Mac Naire et al. 1971)</a:t>
            </a:r>
            <a:endParaRPr b="1" lang="en-US" sz="2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Le QDS : Questionnaire de Détection du Surentraînement </a:t>
            </a:r>
            <a:endParaRPr b="1" lang="en-US" sz="2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	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   (Legros et al., 1993; Société Française de </a:t>
            </a:r>
            <a:endParaRPr b="1" lang="en-US" sz="2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	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   Médecine du Sport; modifié Bosquet 2000) </a:t>
            </a:r>
            <a:endParaRPr b="1" lang="en-US" sz="2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</p:spTree>
  </p:cSld>
  <p:transition spd="med">
    <p:split dir="out" orient="vert"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Text Box 2"/>
          <p:cNvSpPr/>
          <p:nvPr/>
        </p:nvSpPr>
        <p:spPr>
          <a:xfrm>
            <a:off x="2114640" y="3200400"/>
            <a:ext cx="4876560" cy="106956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fff00"/>
                </a:solidFill>
                <a:effectLst/>
                <a:uFillTx/>
                <a:latin typeface="Comic Sans MS"/>
              </a:rPr>
              <a:t>2- COMPOSANTES CARDIO- </a:t>
            </a:r>
            <a:endParaRPr b="1" lang="en-US" sz="32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fff00"/>
                </a:solidFill>
                <a:effectLst/>
                <a:uFillTx/>
                <a:latin typeface="Comic Sans MS"/>
              </a:rPr>
              <a:t>RESPIRATOIRES</a:t>
            </a:r>
            <a:endParaRPr b="1" lang="en-US" sz="32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pic>
        <p:nvPicPr>
          <p:cNvPr id="156" name="Picture 3" descr="Coeur1"/>
          <p:cNvPicPr/>
          <p:nvPr/>
        </p:nvPicPr>
        <p:blipFill>
          <a:blip r:embed="rId1"/>
          <a:stretch/>
        </p:blipFill>
        <p:spPr>
          <a:xfrm>
            <a:off x="304920" y="304920"/>
            <a:ext cx="1719000" cy="2819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7" name="Picture 4" descr="Poumon"/>
          <p:cNvPicPr/>
          <p:nvPr/>
        </p:nvPicPr>
        <p:blipFill>
          <a:blip r:embed="rId2"/>
          <a:stretch/>
        </p:blipFill>
        <p:spPr>
          <a:xfrm>
            <a:off x="7315200" y="4343400"/>
            <a:ext cx="1577880" cy="2286000"/>
          </a:xfrm>
          <a:prstGeom prst="rect">
            <a:avLst/>
          </a:prstGeom>
          <a:noFill/>
          <a:ln w="0">
            <a:noFill/>
          </a:ln>
        </p:spPr>
      </p:pic>
    </p:spTree>
  </p:cSld>
  <p:transition spd="med">
    <p:split dir="out" orient="vert"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Line 2"/>
          <p:cNvSpPr/>
          <p:nvPr/>
        </p:nvSpPr>
        <p:spPr>
          <a:xfrm>
            <a:off x="1676520" y="304920"/>
            <a:ext cx="0" cy="4800600"/>
          </a:xfrm>
          <a:prstGeom prst="line">
            <a:avLst/>
          </a:prstGeom>
          <a:ln w="381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159" name="Line 3"/>
          <p:cNvSpPr/>
          <p:nvPr/>
        </p:nvSpPr>
        <p:spPr>
          <a:xfrm>
            <a:off x="1676520" y="5105520"/>
            <a:ext cx="7162560" cy="0"/>
          </a:xfrm>
          <a:prstGeom prst="line">
            <a:avLst/>
          </a:prstGeom>
          <a:ln w="381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Box 4"/>
          <p:cNvSpPr/>
          <p:nvPr/>
        </p:nvSpPr>
        <p:spPr>
          <a:xfrm>
            <a:off x="1600560" y="5029200"/>
            <a:ext cx="667260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   I       I       I       I       I      I       I       I       I       I       I      I        I 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- 2              0              2             4              6              8             10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161" name="Rectangle 5"/>
          <p:cNvSpPr/>
          <p:nvPr/>
        </p:nvSpPr>
        <p:spPr>
          <a:xfrm>
            <a:off x="3048120" y="457200"/>
            <a:ext cx="2971800" cy="4648320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7d7ddf"/>
              </a:gs>
            </a:gsLst>
            <a:lin ang="0"/>
          </a:gra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162" name="Freeform 6"/>
          <p:cNvSpPr/>
          <p:nvPr/>
        </p:nvSpPr>
        <p:spPr>
          <a:xfrm>
            <a:off x="2514600" y="558720"/>
            <a:ext cx="6400800" cy="3949920"/>
          </a:xfrm>
          <a:custGeom>
            <a:avLst/>
            <a:gdLst>
              <a:gd name="GluePoint1X" fmla="*/ 0 w 4032"/>
              <a:gd name="GluePoint1Y" fmla="*/ 2147483647 h 2488"/>
              <a:gd name="GluePoint2X" fmla="*/ 2147483647 w 4032"/>
              <a:gd name="GluePoint2Y" fmla="*/ 2147483647 h 2488"/>
              <a:gd name="GluePoint3X" fmla="*/ 2147483647 w 4032"/>
              <a:gd name="GluePoint3Y" fmla="*/ 2147483647 h 2488"/>
              <a:gd name="GluePoint4X" fmla="*/ 2147483647 w 4032"/>
              <a:gd name="GluePoint4Y" fmla="*/ 2147483647 h 2488"/>
              <a:gd name="GluePoint5X" fmla="*/ 2147483647 w 4032"/>
              <a:gd name="GluePoint5Y" fmla="*/ 2147483647 h 2488"/>
              <a:gd name="GluePoint6X" fmla="*/ 2147483647 w 4032"/>
              <a:gd name="GluePoint6Y" fmla="*/ 2147483647 h 2488"/>
              <a:gd name="GluePoint7X" fmla="*/ 2147483647 w 4032"/>
              <a:gd name="GluePoint7Y" fmla="*/ 2147483647 h 2488"/>
              <a:gd name="GluePoint8X" fmla="*/ 2147483647 w 4032"/>
              <a:gd name="GluePoint8Y" fmla="*/ 2147483647 h 2488"/>
              <a:gd name="GluePoint9X" fmla="*/ 2147483647 w 4032"/>
              <a:gd name="GluePoint9Y" fmla="*/ 2147483647 h 2488"/>
              <a:gd name="GluePoint10X" fmla="*/ 2147483647 w 4032"/>
              <a:gd name="GluePoint10Y" fmla="*/ 2147483647 h 2488"/>
              <a:gd name="GluePoint11X" fmla="*/ 2147483647 w 4032"/>
              <a:gd name="GluePoint11Y" fmla="*/ 2147483647 h 2488"/>
              <a:gd name="GluePoint12X" fmla="*/ 2147483647 w 4032"/>
              <a:gd name="GluePoint12Y" fmla="*/ 2147483647 h 2488"/>
              <a:gd name="GluePoint13X" fmla="*/ 2147483647 w 4032"/>
              <a:gd name="GluePoint13Y" fmla="*/ 2147483647 h 2488"/>
              <a:gd name="GluePoint14X" fmla="*/ 2147483647 w 4032"/>
              <a:gd name="GluePoint14Y" fmla="*/ 2147483647 h 2488"/>
              <a:gd name="GluePoint15X" fmla="*/ 2147483647 w 4032"/>
              <a:gd name="GluePoint15Y" fmla="*/ 2147483647 h 2488"/>
              <a:gd name="GluePoint16X" fmla="*/ 2147483647 w 4032"/>
              <a:gd name="GluePoint16Y" fmla="*/ 2147483647 h 248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</a:cxnLst>
            <a:rect l="l" t="t" r="r" b="b"/>
            <a:pathLst>
              <a:path w="4032" h="2488">
                <a:moveTo>
                  <a:pt x="0" y="2480"/>
                </a:moveTo>
                <a:cubicBezTo>
                  <a:pt x="72" y="2484"/>
                  <a:pt x="144" y="2488"/>
                  <a:pt x="192" y="2480"/>
                </a:cubicBezTo>
                <a:cubicBezTo>
                  <a:pt x="240" y="2472"/>
                  <a:pt x="272" y="2448"/>
                  <a:pt x="288" y="2432"/>
                </a:cubicBezTo>
                <a:cubicBezTo>
                  <a:pt x="304" y="2416"/>
                  <a:pt x="280" y="2464"/>
                  <a:pt x="288" y="2384"/>
                </a:cubicBezTo>
                <a:cubicBezTo>
                  <a:pt x="296" y="2304"/>
                  <a:pt x="328" y="2104"/>
                  <a:pt x="336" y="1952"/>
                </a:cubicBezTo>
                <a:cubicBezTo>
                  <a:pt x="344" y="1800"/>
                  <a:pt x="328" y="1688"/>
                  <a:pt x="336" y="1472"/>
                </a:cubicBezTo>
                <a:cubicBezTo>
                  <a:pt x="344" y="1256"/>
                  <a:pt x="352" y="832"/>
                  <a:pt x="384" y="656"/>
                </a:cubicBezTo>
                <a:cubicBezTo>
                  <a:pt x="416" y="480"/>
                  <a:pt x="408" y="472"/>
                  <a:pt x="528" y="416"/>
                </a:cubicBezTo>
                <a:cubicBezTo>
                  <a:pt x="648" y="360"/>
                  <a:pt x="824" y="360"/>
                  <a:pt x="1104" y="320"/>
                </a:cubicBezTo>
                <a:cubicBezTo>
                  <a:pt x="1384" y="280"/>
                  <a:pt x="1968" y="0"/>
                  <a:pt x="2208" y="176"/>
                </a:cubicBezTo>
                <a:cubicBezTo>
                  <a:pt x="2448" y="352"/>
                  <a:pt x="2480" y="1144"/>
                  <a:pt x="2544" y="1376"/>
                </a:cubicBezTo>
                <a:cubicBezTo>
                  <a:pt x="2608" y="1608"/>
                  <a:pt x="2568" y="1496"/>
                  <a:pt x="2592" y="1568"/>
                </a:cubicBezTo>
                <a:cubicBezTo>
                  <a:pt x="2616" y="1640"/>
                  <a:pt x="2648" y="1736"/>
                  <a:pt x="2688" y="1808"/>
                </a:cubicBezTo>
                <a:cubicBezTo>
                  <a:pt x="2728" y="1880"/>
                  <a:pt x="2760" y="1928"/>
                  <a:pt x="2832" y="2000"/>
                </a:cubicBezTo>
                <a:cubicBezTo>
                  <a:pt x="2904" y="2072"/>
                  <a:pt x="2920" y="2192"/>
                  <a:pt x="3120" y="2240"/>
                </a:cubicBezTo>
                <a:cubicBezTo>
                  <a:pt x="3320" y="2288"/>
                  <a:pt x="3880" y="2280"/>
                  <a:pt x="4032" y="2288"/>
                </a:cubicBezTo>
              </a:path>
            </a:pathLst>
          </a:custGeom>
          <a:noFill/>
          <a:ln w="381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163" name="Freeform 7"/>
          <p:cNvSpPr/>
          <p:nvPr/>
        </p:nvSpPr>
        <p:spPr>
          <a:xfrm>
            <a:off x="2514600" y="1143000"/>
            <a:ext cx="6629400" cy="3289320"/>
          </a:xfrm>
          <a:custGeom>
            <a:avLst/>
            <a:gdLst>
              <a:gd name="GluePoint1X" fmla="*/ 0 w 4176"/>
              <a:gd name="GluePoint1Y" fmla="*/ 2147483647 h 2072"/>
              <a:gd name="GluePoint2X" fmla="*/ 2147483647 w 4176"/>
              <a:gd name="GluePoint2Y" fmla="*/ 2147483647 h 2072"/>
              <a:gd name="GluePoint3X" fmla="*/ 2147483647 w 4176"/>
              <a:gd name="GluePoint3Y" fmla="*/ 2147483647 h 2072"/>
              <a:gd name="GluePoint4X" fmla="*/ 2147483647 w 4176"/>
              <a:gd name="GluePoint4Y" fmla="*/ 2147483647 h 2072"/>
              <a:gd name="GluePoint5X" fmla="*/ 2147483647 w 4176"/>
              <a:gd name="GluePoint5Y" fmla="*/ 2147483647 h 2072"/>
              <a:gd name="GluePoint6X" fmla="*/ 2147483647 w 4176"/>
              <a:gd name="GluePoint6Y" fmla="*/ 2147483647 h 2072"/>
              <a:gd name="GluePoint7X" fmla="*/ 2147483647 w 4176"/>
              <a:gd name="GluePoint7Y" fmla="*/ 2147483647 h 2072"/>
              <a:gd name="GluePoint8X" fmla="*/ 2147483647 w 4176"/>
              <a:gd name="GluePoint8Y" fmla="*/ 2147483647 h 2072"/>
              <a:gd name="GluePoint9X" fmla="*/ 2147483647 w 4176"/>
              <a:gd name="GluePoint9Y" fmla="*/ 2147483647 h 2072"/>
              <a:gd name="GluePoint10X" fmla="*/ 2147483647 w 4176"/>
              <a:gd name="GluePoint10Y" fmla="*/ 2147483647 h 2072"/>
              <a:gd name="GluePoint11X" fmla="*/ 2147483647 w 4176"/>
              <a:gd name="GluePoint11Y" fmla="*/ 2147483647 h 2072"/>
              <a:gd name="GluePoint12X" fmla="*/ 2147483647 w 4176"/>
              <a:gd name="GluePoint12Y" fmla="*/ 2147483647 h 2072"/>
              <a:gd name="GluePoint13X" fmla="*/ 2147483647 w 4176"/>
              <a:gd name="GluePoint13Y" fmla="*/ 2147483647 h 2072"/>
              <a:gd name="GluePoint14X" fmla="*/ 2147483647 w 4176"/>
              <a:gd name="GluePoint14Y" fmla="*/ 2147483647 h 2072"/>
              <a:gd name="GluePoint15X" fmla="*/ 2147483647 w 4176"/>
              <a:gd name="GluePoint15Y" fmla="*/ 2147483647 h 2072"/>
              <a:gd name="GluePoint16X" fmla="*/ 2147483647 w 4176"/>
              <a:gd name="GluePoint16Y" fmla="*/ 2147483647 h 207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</a:cxnLst>
            <a:rect l="l" t="t" r="r" b="b"/>
            <a:pathLst>
              <a:path w="4176" h="2072">
                <a:moveTo>
                  <a:pt x="0" y="2064"/>
                </a:moveTo>
                <a:cubicBezTo>
                  <a:pt x="92" y="2068"/>
                  <a:pt x="184" y="2072"/>
                  <a:pt x="240" y="2064"/>
                </a:cubicBezTo>
                <a:cubicBezTo>
                  <a:pt x="296" y="2056"/>
                  <a:pt x="320" y="2064"/>
                  <a:pt x="336" y="2016"/>
                </a:cubicBezTo>
                <a:cubicBezTo>
                  <a:pt x="352" y="1968"/>
                  <a:pt x="336" y="2000"/>
                  <a:pt x="336" y="1776"/>
                </a:cubicBezTo>
                <a:cubicBezTo>
                  <a:pt x="336" y="1552"/>
                  <a:pt x="296" y="912"/>
                  <a:pt x="336" y="672"/>
                </a:cubicBezTo>
                <a:cubicBezTo>
                  <a:pt x="376" y="432"/>
                  <a:pt x="352" y="432"/>
                  <a:pt x="576" y="336"/>
                </a:cubicBezTo>
                <a:cubicBezTo>
                  <a:pt x="800" y="240"/>
                  <a:pt x="1440" y="144"/>
                  <a:pt x="1680" y="96"/>
                </a:cubicBezTo>
                <a:cubicBezTo>
                  <a:pt x="1920" y="48"/>
                  <a:pt x="1920" y="48"/>
                  <a:pt x="2016" y="48"/>
                </a:cubicBezTo>
                <a:cubicBezTo>
                  <a:pt x="2112" y="48"/>
                  <a:pt x="2200" y="0"/>
                  <a:pt x="2256" y="96"/>
                </a:cubicBezTo>
                <a:cubicBezTo>
                  <a:pt x="2312" y="192"/>
                  <a:pt x="2312" y="456"/>
                  <a:pt x="2352" y="624"/>
                </a:cubicBezTo>
                <a:cubicBezTo>
                  <a:pt x="2392" y="792"/>
                  <a:pt x="2448" y="960"/>
                  <a:pt x="2496" y="1104"/>
                </a:cubicBezTo>
                <a:cubicBezTo>
                  <a:pt x="2544" y="1248"/>
                  <a:pt x="2568" y="1376"/>
                  <a:pt x="2640" y="1488"/>
                </a:cubicBezTo>
                <a:cubicBezTo>
                  <a:pt x="2712" y="1600"/>
                  <a:pt x="2752" y="1720"/>
                  <a:pt x="2928" y="1776"/>
                </a:cubicBezTo>
                <a:cubicBezTo>
                  <a:pt x="3104" y="1832"/>
                  <a:pt x="3496" y="1816"/>
                  <a:pt x="3696" y="1824"/>
                </a:cubicBezTo>
                <a:cubicBezTo>
                  <a:pt x="3896" y="1832"/>
                  <a:pt x="4080" y="1824"/>
                  <a:pt x="4128" y="1824"/>
                </a:cubicBezTo>
                <a:cubicBezTo>
                  <a:pt x="4176" y="1824"/>
                  <a:pt x="4080" y="1824"/>
                  <a:pt x="3984" y="1824"/>
                </a:cubicBezTo>
              </a:path>
            </a:pathLst>
          </a:custGeom>
          <a:noFill/>
          <a:ln w="57240">
            <a:solidFill>
              <a:srgbClr val="66ff33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164" name="Line 8"/>
          <p:cNvSpPr/>
          <p:nvPr/>
        </p:nvSpPr>
        <p:spPr>
          <a:xfrm>
            <a:off x="3048120" y="4876920"/>
            <a:ext cx="2971800" cy="0"/>
          </a:xfrm>
          <a:prstGeom prst="line">
            <a:avLst/>
          </a:prstGeom>
          <a:ln w="38160">
            <a:solidFill>
              <a:srgbClr val="ffffff"/>
            </a:solidFill>
            <a:miter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Box 9"/>
          <p:cNvSpPr/>
          <p:nvPr/>
        </p:nvSpPr>
        <p:spPr>
          <a:xfrm>
            <a:off x="3811320" y="4495680"/>
            <a:ext cx="10573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Exercice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Box 10"/>
          <p:cNvSpPr/>
          <p:nvPr/>
        </p:nvSpPr>
        <p:spPr>
          <a:xfrm>
            <a:off x="6233760" y="493560"/>
            <a:ext cx="15022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Non entraîné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167" name="Line 11"/>
          <p:cNvSpPr/>
          <p:nvPr/>
        </p:nvSpPr>
        <p:spPr>
          <a:xfrm flipH="1">
            <a:off x="5866920" y="685800"/>
            <a:ext cx="381240" cy="76320"/>
          </a:xfrm>
          <a:prstGeom prst="line">
            <a:avLst/>
          </a:prstGeom>
          <a:ln w="2844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29520" bIns="29520" anchor="ctr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Box 12"/>
          <p:cNvSpPr/>
          <p:nvPr/>
        </p:nvSpPr>
        <p:spPr>
          <a:xfrm>
            <a:off x="6478200" y="1447920"/>
            <a:ext cx="137520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Surentraîné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169" name="Line 13"/>
          <p:cNvSpPr/>
          <p:nvPr/>
        </p:nvSpPr>
        <p:spPr>
          <a:xfrm flipH="1">
            <a:off x="6172200" y="1676520"/>
            <a:ext cx="380880" cy="152280"/>
          </a:xfrm>
          <a:prstGeom prst="line">
            <a:avLst/>
          </a:prstGeom>
          <a:ln w="28440">
            <a:solidFill>
              <a:srgbClr val="cccc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Box 14"/>
          <p:cNvSpPr/>
          <p:nvPr/>
        </p:nvSpPr>
        <p:spPr>
          <a:xfrm>
            <a:off x="6630840" y="2362320"/>
            <a:ext cx="10447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Entraîné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171" name="Line 15"/>
          <p:cNvSpPr/>
          <p:nvPr/>
        </p:nvSpPr>
        <p:spPr>
          <a:xfrm flipH="1">
            <a:off x="6248520" y="2590920"/>
            <a:ext cx="380880" cy="228600"/>
          </a:xfrm>
          <a:prstGeom prst="line">
            <a:avLst/>
          </a:prstGeom>
          <a:ln w="2844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Box 16"/>
          <p:cNvSpPr/>
          <p:nvPr/>
        </p:nvSpPr>
        <p:spPr>
          <a:xfrm>
            <a:off x="1068120" y="457200"/>
            <a:ext cx="701640" cy="478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180 -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lnSpc>
                <a:spcPct val="6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160 -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140 -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120 -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100 -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80 -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60 -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Box 17"/>
          <p:cNvSpPr/>
          <p:nvPr/>
        </p:nvSpPr>
        <p:spPr>
          <a:xfrm>
            <a:off x="228600" y="6107040"/>
            <a:ext cx="8915400" cy="73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Evolution de la courbe de fréquence cardiaque au cours et à l’issue d’une course maintenue pendant 6 min à 80 % de la PMA. ( </a:t>
            </a:r>
            <a:r>
              <a:rPr b="1" i="1" lang="en-US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D’après Costill 1986 )</a:t>
            </a: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  </a:t>
            </a:r>
            <a:endParaRPr b="1" lang="en-US" sz="2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Box 18"/>
          <p:cNvSpPr/>
          <p:nvPr/>
        </p:nvSpPr>
        <p:spPr>
          <a:xfrm>
            <a:off x="4344840" y="5715000"/>
            <a:ext cx="138744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Durée (min)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Box 19"/>
          <p:cNvSpPr/>
          <p:nvPr/>
        </p:nvSpPr>
        <p:spPr>
          <a:xfrm rot="16207200">
            <a:off x="-1080360" y="2371680"/>
            <a:ext cx="332136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Fréquence cardiaque (bpm)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176" name="Line 20"/>
          <p:cNvSpPr/>
          <p:nvPr/>
        </p:nvSpPr>
        <p:spPr>
          <a:xfrm>
            <a:off x="4038480" y="1143000"/>
            <a:ext cx="0" cy="685800"/>
          </a:xfrm>
          <a:prstGeom prst="line">
            <a:avLst/>
          </a:prstGeom>
          <a:ln w="3816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177" name="Line 21"/>
          <p:cNvSpPr/>
          <p:nvPr/>
        </p:nvSpPr>
        <p:spPr>
          <a:xfrm flipV="1">
            <a:off x="4724280" y="1371600"/>
            <a:ext cx="0" cy="380880"/>
          </a:xfrm>
          <a:prstGeom prst="line">
            <a:avLst/>
          </a:prstGeom>
          <a:ln w="38160">
            <a:solidFill>
              <a:srgbClr val="cccc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178" name="Oval 22"/>
          <p:cNvSpPr/>
          <p:nvPr/>
        </p:nvSpPr>
        <p:spPr>
          <a:xfrm>
            <a:off x="2286000" y="3962520"/>
            <a:ext cx="990720" cy="990360"/>
          </a:xfrm>
          <a:prstGeom prst="ellipse">
            <a:avLst/>
          </a:prstGeom>
          <a:noFill/>
          <a:ln w="1908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179" name="Oval 23"/>
          <p:cNvSpPr/>
          <p:nvPr/>
        </p:nvSpPr>
        <p:spPr>
          <a:xfrm>
            <a:off x="6019920" y="2895480"/>
            <a:ext cx="3124080" cy="2133720"/>
          </a:xfrm>
          <a:prstGeom prst="ellipse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180" name="Oval 24"/>
          <p:cNvSpPr/>
          <p:nvPr/>
        </p:nvSpPr>
        <p:spPr>
          <a:xfrm>
            <a:off x="5181480" y="609480"/>
            <a:ext cx="381240" cy="381240"/>
          </a:xfrm>
          <a:prstGeom prst="ellipse">
            <a:avLst/>
          </a:prstGeom>
          <a:solidFill>
            <a:srgbClr val="ffffff"/>
          </a:solidFill>
          <a:ln w="9360">
            <a:solidFill>
              <a:srgbClr val="3333c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181" name="Oval 25"/>
          <p:cNvSpPr/>
          <p:nvPr/>
        </p:nvSpPr>
        <p:spPr>
          <a:xfrm>
            <a:off x="5181480" y="1143000"/>
            <a:ext cx="381240" cy="380880"/>
          </a:xfrm>
          <a:prstGeom prst="ellipse">
            <a:avLst/>
          </a:prstGeom>
          <a:solidFill>
            <a:srgbClr val="ffffff"/>
          </a:solidFill>
          <a:ln w="9360">
            <a:solidFill>
              <a:srgbClr val="3333c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182" name="Oval 26"/>
          <p:cNvSpPr/>
          <p:nvPr/>
        </p:nvSpPr>
        <p:spPr>
          <a:xfrm>
            <a:off x="5181480" y="1905120"/>
            <a:ext cx="381240" cy="380880"/>
          </a:xfrm>
          <a:prstGeom prst="ellipse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Box 27"/>
          <p:cNvSpPr/>
          <p:nvPr/>
        </p:nvSpPr>
        <p:spPr>
          <a:xfrm>
            <a:off x="3816000" y="2971800"/>
            <a:ext cx="1425960" cy="642600"/>
          </a:xfrm>
          <a:prstGeom prst="rect">
            <a:avLst/>
          </a:prstGeom>
          <a:solidFill>
            <a:srgbClr val="3333cc"/>
          </a:solidFill>
          <a:ln w="9360">
            <a:solidFill>
              <a:srgbClr val="000000"/>
            </a:solidFill>
            <a:miter/>
          </a:ln>
          <a:effectLst>
            <a:outerShdw dist="17819" dir="2700000" blurRad="0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Lactatémie :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1 &gt; 3 &gt; 2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184" name="Freeform 28"/>
          <p:cNvSpPr/>
          <p:nvPr/>
        </p:nvSpPr>
        <p:spPr>
          <a:xfrm>
            <a:off x="2514600" y="1359000"/>
            <a:ext cx="6477120" cy="3670200"/>
          </a:xfrm>
          <a:custGeom>
            <a:avLst/>
            <a:gdLst>
              <a:gd name="GluePoint1X" fmla="*/ 0 w 4080"/>
              <a:gd name="GluePoint1Y" fmla="*/ 2147483647 h 2312"/>
              <a:gd name="GluePoint2X" fmla="*/ 2147483647 w 4080"/>
              <a:gd name="GluePoint2Y" fmla="*/ 2147483647 h 2312"/>
              <a:gd name="GluePoint3X" fmla="*/ 2147483647 w 4080"/>
              <a:gd name="GluePoint3Y" fmla="*/ 2147483647 h 2312"/>
              <a:gd name="GluePoint4X" fmla="*/ 2147483647 w 4080"/>
              <a:gd name="GluePoint4Y" fmla="*/ 2147483647 h 2312"/>
              <a:gd name="GluePoint5X" fmla="*/ 2147483647 w 4080"/>
              <a:gd name="GluePoint5Y" fmla="*/ 2147483647 h 2312"/>
              <a:gd name="GluePoint6X" fmla="*/ 2147483647 w 4080"/>
              <a:gd name="GluePoint6Y" fmla="*/ 2147483647 h 2312"/>
              <a:gd name="GluePoint7X" fmla="*/ 2147483647 w 4080"/>
              <a:gd name="GluePoint7Y" fmla="*/ 2147483647 h 2312"/>
              <a:gd name="GluePoint8X" fmla="*/ 2147483647 w 4080"/>
              <a:gd name="GluePoint8Y" fmla="*/ 2147483647 h 2312"/>
              <a:gd name="GluePoint9X" fmla="*/ 2147483647 w 4080"/>
              <a:gd name="GluePoint9Y" fmla="*/ 2147483647 h 2312"/>
              <a:gd name="GluePoint10X" fmla="*/ 2147483647 w 4080"/>
              <a:gd name="GluePoint10Y" fmla="*/ 2147483647 h 2312"/>
              <a:gd name="GluePoint11X" fmla="*/ 2147483647 w 4080"/>
              <a:gd name="GluePoint11Y" fmla="*/ 2147483647 h 2312"/>
              <a:gd name="GluePoint12X" fmla="*/ 2147483647 w 4080"/>
              <a:gd name="GluePoint12Y" fmla="*/ 2147483647 h 2312"/>
              <a:gd name="GluePoint13X" fmla="*/ 2147483647 w 4080"/>
              <a:gd name="GluePoint13Y" fmla="*/ 2147483647 h 2312"/>
              <a:gd name="GluePoint14X" fmla="*/ 2147483647 w 4080"/>
              <a:gd name="GluePoint14Y" fmla="*/ 2147483647 h 2312"/>
              <a:gd name="GluePoint15X" fmla="*/ 2147483647 w 4080"/>
              <a:gd name="GluePoint15Y" fmla="*/ 2147483647 h 2312"/>
              <a:gd name="GluePoint16X" fmla="*/ 2147483647 w 4080"/>
              <a:gd name="GluePoint16Y" fmla="*/ 2147483647 h 231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</a:cxnLst>
            <a:rect l="l" t="t" r="r" b="b"/>
            <a:pathLst>
              <a:path w="4080" h="2312">
                <a:moveTo>
                  <a:pt x="0" y="2120"/>
                </a:moveTo>
                <a:cubicBezTo>
                  <a:pt x="68" y="2124"/>
                  <a:pt x="136" y="2128"/>
                  <a:pt x="192" y="2120"/>
                </a:cubicBezTo>
                <a:cubicBezTo>
                  <a:pt x="248" y="2112"/>
                  <a:pt x="304" y="2312"/>
                  <a:pt x="336" y="2072"/>
                </a:cubicBezTo>
                <a:cubicBezTo>
                  <a:pt x="368" y="1832"/>
                  <a:pt x="376" y="920"/>
                  <a:pt x="384" y="680"/>
                </a:cubicBezTo>
                <a:cubicBezTo>
                  <a:pt x="392" y="440"/>
                  <a:pt x="376" y="664"/>
                  <a:pt x="384" y="632"/>
                </a:cubicBezTo>
                <a:cubicBezTo>
                  <a:pt x="392" y="600"/>
                  <a:pt x="352" y="536"/>
                  <a:pt x="432" y="488"/>
                </a:cubicBezTo>
                <a:cubicBezTo>
                  <a:pt x="512" y="440"/>
                  <a:pt x="632" y="400"/>
                  <a:pt x="864" y="344"/>
                </a:cubicBezTo>
                <a:cubicBezTo>
                  <a:pt x="1096" y="288"/>
                  <a:pt x="1608" y="192"/>
                  <a:pt x="1824" y="152"/>
                </a:cubicBezTo>
                <a:cubicBezTo>
                  <a:pt x="2040" y="112"/>
                  <a:pt x="2096" y="104"/>
                  <a:pt x="2160" y="104"/>
                </a:cubicBezTo>
                <a:cubicBezTo>
                  <a:pt x="2224" y="104"/>
                  <a:pt x="2176" y="0"/>
                  <a:pt x="2208" y="152"/>
                </a:cubicBezTo>
                <a:cubicBezTo>
                  <a:pt x="2240" y="304"/>
                  <a:pt x="2312" y="808"/>
                  <a:pt x="2352" y="1016"/>
                </a:cubicBezTo>
                <a:cubicBezTo>
                  <a:pt x="2392" y="1224"/>
                  <a:pt x="2408" y="1280"/>
                  <a:pt x="2448" y="1400"/>
                </a:cubicBezTo>
                <a:cubicBezTo>
                  <a:pt x="2488" y="1520"/>
                  <a:pt x="2512" y="1656"/>
                  <a:pt x="2592" y="1736"/>
                </a:cubicBezTo>
                <a:cubicBezTo>
                  <a:pt x="2672" y="1816"/>
                  <a:pt x="2776" y="1848"/>
                  <a:pt x="2928" y="1880"/>
                </a:cubicBezTo>
                <a:cubicBezTo>
                  <a:pt x="3080" y="1912"/>
                  <a:pt x="3312" y="1920"/>
                  <a:pt x="3504" y="1928"/>
                </a:cubicBezTo>
                <a:cubicBezTo>
                  <a:pt x="3696" y="1936"/>
                  <a:pt x="3984" y="1928"/>
                  <a:pt x="4080" y="1928"/>
                </a:cubicBezTo>
              </a:path>
            </a:pathLst>
          </a:custGeom>
          <a:noFill/>
          <a:ln w="2844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</p:spTree>
  </p:cSld>
  <p:transition spd="med">
    <p:split dir="out" orient="vert"/>
  </p:transition>
  <p:timing>
    <p:tnLst>
      <p:par>
        <p:cTn id="626" dur="indefinite" restart="never" nodeType="tmRoot">
          <p:childTnLst>
            <p:seq>
              <p:cTn id="627" dur="indefinite" nodeType="mainSeq">
                <p:childTnLst>
                  <p:par>
                    <p:cTn id="628" nodeType="clickEffect" fill="hold">
                      <p:stCondLst>
                        <p:cond delay="0"/>
                      </p:stCondLst>
                      <p:childTnLst>
                        <p:par>
                          <p:cTn id="62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30" nodeType="afterEffect" fill="hold" presetClass="entr" presetID="3" presetSubtype="5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vertical)" transition="in">
                                      <p:cBhvr additive="repl">
                                        <p:cTn id="632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3" nodeType="afterEffect" fill="hold">
                            <p:stCondLst>
                              <p:cond delay="1500"/>
                            </p:stCondLst>
                            <p:childTnLst>
                              <p:par>
                                <p:cTn id="634" nodeType="afterEffect" fill="hold" presetClass="entr" presetID="17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36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37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8" nodeType="afterEffect" fill="hold">
                            <p:stCondLst>
                              <p:cond delay="2000"/>
                            </p:stCondLst>
                            <p:childTnLst>
                              <p:par>
                                <p:cTn id="639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41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2" nodeType="afterEffect" fill="hold">
                            <p:stCondLst>
                              <p:cond delay="2500"/>
                            </p:stCondLst>
                            <p:childTnLst>
                              <p:par>
                                <p:cTn id="643" nodeType="afterEffect" fill="hold" presetClass="entr" presetID="9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45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6" nodeType="afterEffect" fill="hold">
                            <p:stCondLst>
                              <p:cond delay="5000"/>
                            </p:stCondLst>
                            <p:childTnLst>
                              <p:par>
                                <p:cTn id="647" nodeType="afterEffect" fill="hold" presetClass="entr" presetID="23" presetSubtype="28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49" dur="50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50" dur="50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1" nodeType="afterEffect" fill="hold">
                            <p:stCondLst>
                              <p:cond delay="5500"/>
                            </p:stCondLst>
                            <p:childTnLst>
                              <p:par>
                                <p:cTn id="652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54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5" nodeType="afterEffect" fill="hold">
                            <p:stCondLst>
                              <p:cond delay="6000"/>
                            </p:stCondLst>
                            <p:childTnLst>
                              <p:par>
                                <p:cTn id="656" nodeType="afterEffect" fill="hold" presetClass="entr" presetID="17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58" dur="5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59" dur="5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60" dur="5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61" dur="5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2" nodeType="clickEffect" fill="hold">
                      <p:stCondLst>
                        <p:cond delay="indefinite"/>
                      </p:stCondLst>
                      <p:childTnLst>
                        <p:par>
                          <p:cTn id="66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64" nodeType="click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666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7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668" nodeType="afterEffect" fill="hold" presetClass="entr" presetID="17" presetSubtype="1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70" dur="5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71" dur="5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72" dur="5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73" dur="5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4" nodeType="afterEffect" fill="hold">
                            <p:stCondLst>
                              <p:cond delay="3000"/>
                            </p:stCondLst>
                            <p:childTnLst>
                              <p:par>
                                <p:cTn id="675" nodeType="afterEffect" fill="hold" presetClass="entr" presetID="23" presetSubtype="28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77" dur="5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78" dur="5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9" nodeType="afterEffect" fill="hold">
                            <p:stCondLst>
                              <p:cond delay="3500"/>
                            </p:stCondLst>
                            <p:childTnLst>
                              <p:par>
                                <p:cTn id="680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82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3" nodeType="afterEffect" fill="hold">
                            <p:stCondLst>
                              <p:cond delay="4000"/>
                            </p:stCondLst>
                            <p:childTnLst>
                              <p:par>
                                <p:cTn id="684" nodeType="afterEffect" fill="hold" presetClass="entr" presetID="17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86" dur="5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87" dur="5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88" dur="5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89" dur="5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0" nodeType="afterEffect" fill="hold">
                            <p:stCondLst>
                              <p:cond delay="4500"/>
                            </p:stCondLst>
                            <p:childTnLst>
                              <p:par>
                                <p:cTn id="691" nodeType="afterEffect" fill="hold" presetClass="entr" presetID="17" presetSubtype="4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93" dur="5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94" dur="5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95" dur="5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96" dur="5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7" nodeType="afterEffect" fill="hold">
                            <p:stCondLst>
                              <p:cond delay="6000"/>
                            </p:stCondLst>
                            <p:childTnLst>
                              <p:par>
                                <p:cTn id="698" nodeType="afterEffect" fill="hold" presetClass="entr" presetID="9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700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1" nodeType="afterEffect" fill="hold">
                            <p:stCondLst>
                              <p:cond delay="7500"/>
                            </p:stCondLst>
                            <p:childTnLst>
                              <p:par>
                                <p:cTn id="702" nodeType="afterEffect" fill="hold" presetClass="entr" presetID="23" presetSubtype="28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04" dur="5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05" dur="5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6" nodeType="afterEffect" fill="hold">
                            <p:stCondLst>
                              <p:cond delay="8000"/>
                            </p:stCondLst>
                            <p:childTnLst>
                              <p:par>
                                <p:cTn id="707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709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0" nodeType="afterEffect" fill="hold">
                            <p:stCondLst>
                              <p:cond delay="8500"/>
                            </p:stCondLst>
                            <p:childTnLst>
                              <p:par>
                                <p:cTn id="711" nodeType="afterEffect" fill="hold" presetClass="entr" presetID="17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13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14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15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16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7" nodeType="afterEffect" fill="hold">
                            <p:stCondLst>
                              <p:cond delay="9000"/>
                            </p:stCondLst>
                            <p:childTnLst>
                              <p:par>
                                <p:cTn id="718" nodeType="afterEffect" fill="hold" presetClass="entr" presetID="19" presetSubtype="1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20" dur="50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width*sin(2.5*pi*$)" tm="0">
                                          <p:val>
                                            <p:fltVal val="0"/>
                                          </p:val>
                                        </p:tav>
                                        <p:tav fmla="width*sin(2.5*pi*$)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21" dur="50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2" nodeType="afterEffect" fill="hold">
                            <p:stCondLst>
                              <p:cond delay="15000"/>
                            </p:stCondLst>
                            <p:childTnLst>
                              <p:par>
                                <p:cTn id="723" nodeType="afterEffect" fill="hold" presetClass="entr" presetID="19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25" dur="50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width*sin(2.5*pi*$)" tm="0">
                                          <p:val>
                                            <p:fltVal val="0"/>
                                          </p:val>
                                        </p:tav>
                                        <p:tav fmla="width*sin(2.5*pi*$)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26" dur="50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7" nodeType="afterEffect" fill="hold">
                            <p:stCondLst>
                              <p:cond delay="20000"/>
                            </p:stCondLst>
                            <p:childTnLst>
                              <p:par>
                                <p:cTn id="728" nodeType="afterEffect" fill="hold" presetClass="entr" presetID="9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7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730" dur="75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5" name="Object 2"/>
          <p:cNvGraphicFramePr/>
          <p:nvPr/>
        </p:nvGraphicFramePr>
        <p:xfrm>
          <a:off x="1295280" y="685800"/>
          <a:ext cx="6705720" cy="3581280"/>
        </p:xfrm>
        <a:graphic>
          <a:graphicData uri="http://schemas.openxmlformats.org/presentationml/2006/ole">
            <p:oleObj progId="Excel.Sheet.12" r:id="rId1" spid="">
              <p:embed/>
              <p:pic>
                <p:nvPicPr>
                  <p:cNvPr id="186" name="Object 2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295280" y="685800"/>
                    <a:ext cx="6705720" cy="35812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187" name="Text Box 3"/>
          <p:cNvSpPr/>
          <p:nvPr/>
        </p:nvSpPr>
        <p:spPr>
          <a:xfrm rot="16263000">
            <a:off x="-166680" y="2166480"/>
            <a:ext cx="238464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VO2 ( ml.min</a:t>
            </a:r>
            <a:r>
              <a:rPr b="1" lang="en-US" sz="1800" strike="noStrike" u="none" baseline="30000">
                <a:solidFill>
                  <a:srgbClr val="ffff00"/>
                </a:solidFill>
                <a:effectLst/>
                <a:uFillTx/>
                <a:latin typeface="Arial"/>
              </a:rPr>
              <a:t>-1</a:t>
            </a: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 Kg</a:t>
            </a:r>
            <a:r>
              <a:rPr b="1" lang="en-US" sz="1800" strike="noStrike" u="none" baseline="30000">
                <a:solidFill>
                  <a:srgbClr val="ffff00"/>
                </a:solidFill>
                <a:effectLst/>
                <a:uFillTx/>
                <a:latin typeface="Arial"/>
              </a:rPr>
              <a:t>-1</a:t>
            </a: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)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Box 4"/>
          <p:cNvSpPr/>
          <p:nvPr/>
        </p:nvSpPr>
        <p:spPr>
          <a:xfrm>
            <a:off x="1753560" y="4343400"/>
            <a:ext cx="24040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Entraîné : 30min 53s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Box 5"/>
          <p:cNvSpPr/>
          <p:nvPr/>
        </p:nvSpPr>
        <p:spPr>
          <a:xfrm>
            <a:off x="5335200" y="4343400"/>
            <a:ext cx="27597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Surentraîné : 32min 10s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Box 6"/>
          <p:cNvSpPr/>
          <p:nvPr/>
        </p:nvSpPr>
        <p:spPr>
          <a:xfrm>
            <a:off x="2896920" y="1295280"/>
            <a:ext cx="115920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70% max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Box 7"/>
          <p:cNvSpPr/>
          <p:nvPr/>
        </p:nvSpPr>
        <p:spPr>
          <a:xfrm>
            <a:off x="6615000" y="1103400"/>
            <a:ext cx="115920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80% max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Box 8"/>
          <p:cNvSpPr/>
          <p:nvPr/>
        </p:nvSpPr>
        <p:spPr>
          <a:xfrm>
            <a:off x="3810960" y="4948200"/>
            <a:ext cx="25567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Performance au 10km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193" name="Line 9"/>
          <p:cNvSpPr/>
          <p:nvPr/>
        </p:nvSpPr>
        <p:spPr>
          <a:xfrm flipV="1">
            <a:off x="6629400" y="4648320"/>
            <a:ext cx="609480" cy="457200"/>
          </a:xfrm>
          <a:prstGeom prst="line">
            <a:avLst/>
          </a:prstGeom>
          <a:ln w="936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194" name="Line 10"/>
          <p:cNvSpPr/>
          <p:nvPr/>
        </p:nvSpPr>
        <p:spPr>
          <a:xfrm flipH="1" flipV="1">
            <a:off x="3352680" y="4648320"/>
            <a:ext cx="533520" cy="457200"/>
          </a:xfrm>
          <a:prstGeom prst="line">
            <a:avLst/>
          </a:prstGeom>
          <a:ln w="936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195" name="Rectangle 11"/>
          <p:cNvSpPr/>
          <p:nvPr/>
        </p:nvSpPr>
        <p:spPr>
          <a:xfrm rot="16200000">
            <a:off x="1698480" y="1806840"/>
            <a:ext cx="1311120" cy="44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VO</a:t>
            </a:r>
            <a:r>
              <a:rPr b="1" lang="en-US" sz="2000" strike="noStrike" u="none" baseline="-25000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max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196" name="Rectangle 12"/>
          <p:cNvSpPr/>
          <p:nvPr/>
        </p:nvSpPr>
        <p:spPr>
          <a:xfrm rot="16200000">
            <a:off x="5522760" y="1899000"/>
            <a:ext cx="1126800" cy="44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VO</a:t>
            </a:r>
            <a:r>
              <a:rPr b="1" lang="en-US" sz="2000" strike="noStrike" u="none" baseline="-25000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max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Box 13"/>
          <p:cNvSpPr/>
          <p:nvPr/>
        </p:nvSpPr>
        <p:spPr>
          <a:xfrm>
            <a:off x="213480" y="5599080"/>
            <a:ext cx="8666280" cy="91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Evolution de la consommation d’oxygène et de la performance sur 10 km d’un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coureur de cross-country, en état de forme et en état de surentraînement.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                                                 D’après Costill 1986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</p:spTree>
  </p:cSld>
  <p:transition spd="med">
    <p:split dir="out" orient="vert"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Text Box 2"/>
          <p:cNvSpPr/>
          <p:nvPr/>
        </p:nvSpPr>
        <p:spPr>
          <a:xfrm>
            <a:off x="1990800" y="990720"/>
            <a:ext cx="5076720" cy="45972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Symptomatologie cardio-respiratoire</a:t>
            </a:r>
            <a:endParaRPr b="1" lang="en-US" sz="2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pic>
        <p:nvPicPr>
          <p:cNvPr id="199" name="Picture 3" descr="Poumon"/>
          <p:cNvPicPr/>
          <p:nvPr/>
        </p:nvPicPr>
        <p:blipFill>
          <a:blip r:embed="rId1"/>
          <a:stretch/>
        </p:blipFill>
        <p:spPr>
          <a:xfrm>
            <a:off x="7467480" y="533520"/>
            <a:ext cx="1525680" cy="2209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0" name="Picture 4" descr="Coeur1"/>
          <p:cNvPicPr/>
          <p:nvPr/>
        </p:nvPicPr>
        <p:blipFill>
          <a:blip r:embed="rId2"/>
          <a:stretch/>
        </p:blipFill>
        <p:spPr>
          <a:xfrm>
            <a:off x="228600" y="533520"/>
            <a:ext cx="1393920" cy="2286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1" name="Text Box 5"/>
          <p:cNvSpPr/>
          <p:nvPr/>
        </p:nvSpPr>
        <p:spPr>
          <a:xfrm>
            <a:off x="1905120" y="2743200"/>
            <a:ext cx="49528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¤  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Symbol"/>
                <a:ea typeface="Symbol"/>
              </a:rPr>
              <a:t>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différence FC repos – FC debout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Box 6"/>
          <p:cNvSpPr/>
          <p:nvPr/>
        </p:nvSpPr>
        <p:spPr>
          <a:xfrm>
            <a:off x="1905120" y="3505320"/>
            <a:ext cx="72388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¤ comportement de l’ECG anormal ( inversion de l ’onde T )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Box 7"/>
          <p:cNvSpPr/>
          <p:nvPr/>
        </p:nvSpPr>
        <p:spPr>
          <a:xfrm>
            <a:off x="1905120" y="3124080"/>
            <a:ext cx="62481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¤ inconfort cardiaque lors de l’exercice modéré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Box 8"/>
          <p:cNvSpPr/>
          <p:nvPr/>
        </p:nvSpPr>
        <p:spPr>
          <a:xfrm>
            <a:off x="1905120" y="4267080"/>
            <a:ext cx="62481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¤ modifications de la pression artérielle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Box 9"/>
          <p:cNvSpPr/>
          <p:nvPr/>
        </p:nvSpPr>
        <p:spPr>
          <a:xfrm>
            <a:off x="1905120" y="3886200"/>
            <a:ext cx="67053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¤  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Symbol"/>
                <a:ea typeface="Symbol"/>
              </a:rPr>
              <a:t>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FC repos, d’exercice submaximal et de récupération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Box 10"/>
          <p:cNvSpPr/>
          <p:nvPr/>
        </p:nvSpPr>
        <p:spPr>
          <a:xfrm>
            <a:off x="1905120" y="4724280"/>
            <a:ext cx="41907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¤ 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Symbol"/>
                <a:ea typeface="Symbol"/>
              </a:rPr>
              <a:t>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fréquence de respiration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Box 11"/>
          <p:cNvSpPr/>
          <p:nvPr/>
        </p:nvSpPr>
        <p:spPr>
          <a:xfrm>
            <a:off x="1905120" y="5562720"/>
            <a:ext cx="32763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¤ 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Symbol"/>
                <a:ea typeface="Symbol"/>
              </a:rPr>
              <a:t>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efficacité respiratoire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Box 12"/>
          <p:cNvSpPr/>
          <p:nvPr/>
        </p:nvSpPr>
        <p:spPr>
          <a:xfrm>
            <a:off x="1905120" y="5943600"/>
            <a:ext cx="434340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¤ 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Symbol"/>
                <a:ea typeface="Symbol"/>
              </a:rPr>
              <a:t>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VO</a:t>
            </a:r>
            <a:r>
              <a:rPr b="1" lang="fr-FR" sz="18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2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de l’exercice submaximal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Box 13"/>
          <p:cNvSpPr/>
          <p:nvPr/>
        </p:nvSpPr>
        <p:spPr>
          <a:xfrm>
            <a:off x="1905120" y="5105520"/>
            <a:ext cx="480060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¤ 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Symbol"/>
                <a:ea typeface="Symbol"/>
              </a:rPr>
              <a:t>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Ve de l’exercice submaximal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</p:spTree>
  </p:cSld>
  <p:transition spd="med">
    <p:split dir="out" orient="vert"/>
  </p:transition>
  <p:timing>
    <p:tnLst>
      <p:par>
        <p:cTn id="731" dur="indefinite" restart="never" nodeType="tmRoot">
          <p:childTnLst>
            <p:seq>
              <p:cTn id="732" dur="indefinite" nodeType="mainSeq">
                <p:childTnLst>
                  <p:par>
                    <p:cTn id="733" nodeType="clickEffect" fill="hold">
                      <p:stCondLst>
                        <p:cond delay="0"/>
                      </p:stCondLst>
                      <p:childTnLst>
                        <p:par>
                          <p:cTn id="73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35" nodeType="afterEffect" fill="hold" presetClass="entr" presetID="9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7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737" dur="3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8" nodeType="afterEffect" fill="hold">
                            <p:stCondLst>
                              <p:cond delay="600"/>
                            </p:stCondLst>
                            <p:childTnLst>
                              <p:par>
                                <p:cTn id="739" nodeType="afterEffect" fill="hold" presetClass="entr" presetID="5" presetSubtype="1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7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741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2" nodeType="afterEffect" fill="hold">
                            <p:stCondLst>
                              <p:cond delay="3100"/>
                            </p:stCondLst>
                            <p:childTnLst>
                              <p:par>
                                <p:cTn id="743" nodeType="afterEffect" fill="hold" presetClass="entr" presetID="5" presetSubtype="1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7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745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746" dur="1" fill="hold">
                                    <p:stCondLst>
                                      <p:cond delay="2000"/>
                                    </p:stCondLst>
                                  </p:cTn>
                                  <p:tgtEl>
                                    <p:spTgt spid="201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b2b2b2"/>
                                </p:to>
                              </p:animClr>
                            </p:childTnLst>
                          </p:cTn>
                        </p:par>
                        <p:par>
                          <p:cTn id="747" nodeType="afterEffect" fill="hold">
                            <p:stCondLst>
                              <p:cond delay="5600"/>
                            </p:stCondLst>
                            <p:childTnLst>
                              <p:par>
                                <p:cTn id="748" nodeType="afterEffect" fill="hold" presetClass="entr" presetID="5" presetSubtype="1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7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750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751" dur="1" fill="hold">
                                    <p:stCondLst>
                                      <p:cond delay="2000"/>
                                    </p:stCondLst>
                                  </p:cTn>
                                  <p:tgtEl>
                                    <p:spTgt spid="203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b2b2b2"/>
                                </p:to>
                              </p:animClr>
                            </p:childTnLst>
                          </p:cTn>
                        </p:par>
                        <p:par>
                          <p:cTn id="752" nodeType="afterEffect" fill="hold">
                            <p:stCondLst>
                              <p:cond delay="8100"/>
                            </p:stCondLst>
                            <p:childTnLst>
                              <p:par>
                                <p:cTn id="753" nodeType="afterEffect" fill="hold" presetClass="entr" presetID="5" presetSubtype="1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7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755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756" dur="1" fill="hold">
                                    <p:stCondLst>
                                      <p:cond delay="2000"/>
                                    </p:stCondLst>
                                  </p:cTn>
                                  <p:tgtEl>
                                    <p:spTgt spid="202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b2b2b2"/>
                                </p:to>
                              </p:animClr>
                            </p:childTnLst>
                          </p:cTn>
                        </p:par>
                        <p:par>
                          <p:cTn id="757" nodeType="afterEffect" fill="hold">
                            <p:stCondLst>
                              <p:cond delay="10600"/>
                            </p:stCondLst>
                            <p:childTnLst>
                              <p:par>
                                <p:cTn id="758" nodeType="afterEffect" fill="hold" presetClass="entr" presetID="5" presetSubtype="1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7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760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761" dur="1" fill="hold">
                                    <p:stCondLst>
                                      <p:cond delay="2000"/>
                                    </p:stCondLst>
                                  </p:cTn>
                                  <p:tgtEl>
                                    <p:spTgt spid="205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b2b2b2"/>
                                </p:to>
                              </p:animClr>
                            </p:childTnLst>
                          </p:cTn>
                        </p:par>
                        <p:par>
                          <p:cTn id="762" nodeType="afterEffect" fill="hold">
                            <p:stCondLst>
                              <p:cond delay="13100"/>
                            </p:stCondLst>
                            <p:childTnLst>
                              <p:par>
                                <p:cTn id="763" nodeType="afterEffect" fill="hold" presetClass="entr" presetID="5" presetSubtype="1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7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765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766" dur="1" fill="hold">
                                    <p:stCondLst>
                                      <p:cond delay="2000"/>
                                    </p:stCondLst>
                                  </p:cTn>
                                  <p:tgtEl>
                                    <p:spTgt spid="204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b2b2b2"/>
                                </p:to>
                              </p:animClr>
                            </p:childTnLst>
                          </p:cTn>
                        </p:par>
                        <p:par>
                          <p:cTn id="767" nodeType="afterEffect" fill="hold">
                            <p:stCondLst>
                              <p:cond delay="15600"/>
                            </p:stCondLst>
                            <p:childTnLst>
                              <p:par>
                                <p:cTn id="768" nodeType="afterEffect" fill="hold" presetClass="entr" presetID="5" presetSubtype="1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7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770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771" dur="1" fill="hold">
                                    <p:stCondLst>
                                      <p:cond delay="2000"/>
                                    </p:stCondLst>
                                  </p:cTn>
                                  <p:tgtEl>
                                    <p:spTgt spid="206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b2b2b2"/>
                                </p:to>
                              </p:animClr>
                            </p:childTnLst>
                          </p:cTn>
                        </p:par>
                        <p:par>
                          <p:cTn id="772" nodeType="afterEffect" fill="hold">
                            <p:stCondLst>
                              <p:cond delay="18100"/>
                            </p:stCondLst>
                            <p:childTnLst>
                              <p:par>
                                <p:cTn id="773" nodeType="afterEffect" fill="hold" presetClass="entr" presetID="5" presetSubtype="1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7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775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776" dur="1" fill="hold">
                                    <p:stCondLst>
                                      <p:cond delay="2000"/>
                                    </p:stCondLst>
                                  </p:cTn>
                                  <p:tgtEl>
                                    <p:spTgt spid="209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b2b2b2"/>
                                </p:to>
                              </p:animClr>
                            </p:childTnLst>
                          </p:cTn>
                        </p:par>
                        <p:par>
                          <p:cTn id="777" nodeType="afterEffect" fill="hold">
                            <p:stCondLst>
                              <p:cond delay="20600"/>
                            </p:stCondLst>
                            <p:childTnLst>
                              <p:par>
                                <p:cTn id="778" nodeType="afterEffect" fill="hold" presetClass="entr" presetID="5" presetSubtype="1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7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780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781" dur="1" fill="hold">
                                    <p:stCondLst>
                                      <p:cond delay="2000"/>
                                    </p:stCondLst>
                                  </p:cTn>
                                  <p:tgtEl>
                                    <p:spTgt spid="207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b2b2b2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  <p:par>
                    <p:cTn id="782" fill="hold">
                      <p:stCondLst>
                        <p:cond delay="indefinite"/>
                      </p:stCondLst>
                      <p:childTnLst>
                        <p:par>
                          <p:cTn id="783" fill="hold">
                            <p:stCondLst>
                              <p:cond delay="0"/>
                            </p:stCondLst>
                            <p:childTnLst>
                              <p:animClr clrSpc="rgb">
                                <p:cBhvr>
                                  <p:cTn id="784" dur="1" fill="hold"/>
                                  <p:tgtEl>
                                    <p:spTgt spid="208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b2b2b2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Text Box 2"/>
          <p:cNvSpPr/>
          <p:nvPr/>
        </p:nvSpPr>
        <p:spPr>
          <a:xfrm>
            <a:off x="2591640" y="609480"/>
            <a:ext cx="3935160" cy="58176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Contrôles suggérés :</a:t>
            </a:r>
            <a:endParaRPr b="1" lang="en-US" sz="32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Box 3"/>
          <p:cNvSpPr/>
          <p:nvPr/>
        </p:nvSpPr>
        <p:spPr>
          <a:xfrm>
            <a:off x="674280" y="4191120"/>
            <a:ext cx="7678080" cy="161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2000" strike="noStrike" u="sng">
                <a:solidFill>
                  <a:srgbClr val="ffff00"/>
                </a:solidFill>
                <a:effectLst/>
                <a:uFillTx/>
                <a:latin typeface="Arial"/>
              </a:rPr>
              <a:t>Chaque semaine en début de saison (8 premiers microcyles)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2000" strike="noStrike" u="sng">
                <a:solidFill>
                  <a:srgbClr val="ffff00"/>
                </a:solidFill>
                <a:effectLst/>
                <a:uFillTx/>
                <a:latin typeface="Arial"/>
              </a:rPr>
              <a:t>puis ensuite tous les deux microcycles: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- Enregistrement de la FC et lactatémie au cours et à l’issue d’un 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test standardisé : 6min de course à 80% de VAM (cf. Costill, 1986)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Box 4"/>
          <p:cNvSpPr/>
          <p:nvPr/>
        </p:nvSpPr>
        <p:spPr>
          <a:xfrm>
            <a:off x="524520" y="2085840"/>
            <a:ext cx="7438320" cy="13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2400" strike="noStrike" u="sng">
                <a:solidFill>
                  <a:srgbClr val="ffff00"/>
                </a:solidFill>
                <a:effectLst/>
                <a:uFillTx/>
                <a:latin typeface="Arial"/>
              </a:rPr>
              <a:t>Chaque matin au réveil:</a:t>
            </a:r>
            <a:endParaRPr b="1" lang="en-US" sz="2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- enregistrement de la FC de repos, allongé et debout. 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Etablir  le suivi graphique des FC de repos et de leur différence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</p:spTree>
  </p:cSld>
  <p:transition spd="med">
    <p:split dir="out" orient="vert"/>
  </p:transition>
  <p:timing>
    <p:tnLst>
      <p:par>
        <p:cTn id="785" dur="indefinite" restart="never" nodeType="tmRoot">
          <p:childTnLst>
            <p:seq>
              <p:cTn id="786" dur="indefinite" nodeType="mainSeq">
                <p:childTnLst>
                  <p:par>
                    <p:cTn id="787" nodeType="clickEffect" fill="hold">
                      <p:stCondLst>
                        <p:cond delay="0"/>
                      </p:stCondLst>
                      <p:childTnLst>
                        <p:par>
                          <p:cTn id="78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89" nodeType="after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791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2" nodeType="clickEffect" fill="hold">
                      <p:stCondLst>
                        <p:cond delay="indefinite"/>
                      </p:stCondLst>
                      <p:childTnLst>
                        <p:par>
                          <p:cTn id="79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94" nodeType="click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796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Picture 2" descr="Muscle coupe"/>
          <p:cNvPicPr/>
          <p:nvPr/>
        </p:nvPicPr>
        <p:blipFill>
          <a:blip r:embed="rId1"/>
          <a:stretch/>
        </p:blipFill>
        <p:spPr>
          <a:xfrm>
            <a:off x="228600" y="228600"/>
            <a:ext cx="2614680" cy="266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4" name="Text Box 3"/>
          <p:cNvSpPr/>
          <p:nvPr/>
        </p:nvSpPr>
        <p:spPr>
          <a:xfrm>
            <a:off x="2356920" y="2971800"/>
            <a:ext cx="4290480" cy="106956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fff00"/>
                </a:solidFill>
                <a:effectLst/>
                <a:uFillTx/>
                <a:latin typeface="Comic Sans MS"/>
              </a:rPr>
              <a:t>2- COMPOSANTES</a:t>
            </a:r>
            <a:br>
              <a:rPr sz="3200"/>
            </a:br>
            <a:r>
              <a:rPr b="0" lang="en-US" sz="3200" strike="noStrike" u="none">
                <a:solidFill>
                  <a:srgbClr val="ffff00"/>
                </a:solidFill>
                <a:effectLst/>
                <a:uFillTx/>
                <a:latin typeface="Comic Sans MS"/>
              </a:rPr>
              <a:t>NEURO-MUSCULAIRES</a:t>
            </a:r>
            <a:endParaRPr b="1" lang="en-US" sz="32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pic>
        <p:nvPicPr>
          <p:cNvPr id="215" name="Picture 4" descr="4"/>
          <p:cNvPicPr/>
          <p:nvPr/>
        </p:nvPicPr>
        <p:blipFill>
          <a:blip r:embed="rId2"/>
          <a:stretch/>
        </p:blipFill>
        <p:spPr>
          <a:xfrm>
            <a:off x="5410080" y="4197240"/>
            <a:ext cx="3581640" cy="2660760"/>
          </a:xfrm>
          <a:prstGeom prst="rect">
            <a:avLst/>
          </a:prstGeom>
          <a:noFill/>
          <a:ln w="0">
            <a:noFill/>
          </a:ln>
        </p:spPr>
      </p:pic>
    </p:spTree>
  </p:cSld>
  <p:transition spd="med">
    <p:split dir="out" orient="vert"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Text Box 2"/>
          <p:cNvSpPr/>
          <p:nvPr/>
        </p:nvSpPr>
        <p:spPr>
          <a:xfrm>
            <a:off x="228600" y="1295280"/>
            <a:ext cx="8686800" cy="147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Des altérations du fonctionnement du </a:t>
            </a:r>
            <a:r>
              <a:rPr b="1" lang="fr-FR" sz="1800" strike="noStrike" u="none">
                <a:solidFill>
                  <a:srgbClr val="66ff33"/>
                </a:solidFill>
                <a:effectLst/>
                <a:uFillTx/>
                <a:latin typeface="Arial"/>
              </a:rPr>
              <a:t>couplage excitation-contraction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pourraient être à l’origine d’un des mécanismes induisant le surentraînement (Moussavi </a:t>
            </a:r>
            <a:r>
              <a:rPr b="1" i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et al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 1989 ; Fitts, 1994 ). 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Fondements de cette hypothèse :</a:t>
            </a:r>
            <a:endParaRPr b="1" lang="en-US" sz="2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Box 3"/>
          <p:cNvSpPr/>
          <p:nvPr/>
        </p:nvSpPr>
        <p:spPr>
          <a:xfrm>
            <a:off x="228600" y="2895480"/>
            <a:ext cx="8686800" cy="11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1- L’exercice de faible intensité et de longue durée cause une baisse plus forte du </a:t>
            </a:r>
            <a:r>
              <a:rPr b="1" i="1" lang="fr-FR" sz="1800" strike="noStrike" u="none">
                <a:solidFill>
                  <a:srgbClr val="66ff33"/>
                </a:solidFill>
                <a:effectLst/>
                <a:uFillTx/>
                <a:latin typeface="Arial"/>
              </a:rPr>
              <a:t>potentiel d’excitation</a:t>
            </a:r>
            <a:r>
              <a:rPr b="1" i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et de la </a:t>
            </a:r>
            <a:r>
              <a:rPr b="1" i="1" lang="fr-FR" sz="1800" strike="noStrike" u="none">
                <a:solidFill>
                  <a:srgbClr val="66ff33"/>
                </a:solidFill>
                <a:effectLst/>
                <a:uFillTx/>
                <a:latin typeface="Arial"/>
              </a:rPr>
              <a:t>capacité de tension</a:t>
            </a:r>
            <a:r>
              <a:rPr b="1" i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des fibres musculaires que celle de la contraction maximale volontaire, des phosphates riches en énergie ou du pH intracellulaire.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Box 4"/>
          <p:cNvSpPr/>
          <p:nvPr/>
        </p:nvSpPr>
        <p:spPr>
          <a:xfrm>
            <a:off x="304920" y="4495680"/>
            <a:ext cx="8610480" cy="91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2- De plus, le </a:t>
            </a:r>
            <a:r>
              <a:rPr b="1" i="1" lang="fr-FR" sz="1800" strike="noStrike" u="none">
                <a:solidFill>
                  <a:srgbClr val="66ff33"/>
                </a:solidFill>
                <a:effectLst/>
                <a:uFillTx/>
                <a:latin typeface="Arial"/>
              </a:rPr>
              <a:t>retour aux conditions basales</a:t>
            </a:r>
            <a:r>
              <a:rPr b="1" i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de la capacité de tension et du potentiel d’excitation des fibres musculaires est plus </a:t>
            </a:r>
            <a:r>
              <a:rPr b="1" i="1" lang="fr-FR" sz="1800" strike="noStrike" u="none">
                <a:solidFill>
                  <a:srgbClr val="66ff33"/>
                </a:solidFill>
                <a:effectLst/>
                <a:uFillTx/>
                <a:latin typeface="Arial"/>
              </a:rPr>
              <a:t>lent</a:t>
            </a:r>
            <a:r>
              <a:rPr b="1" i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que pour ces mêmes autres variables.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219" name="Line 5"/>
          <p:cNvSpPr/>
          <p:nvPr/>
        </p:nvSpPr>
        <p:spPr>
          <a:xfrm>
            <a:off x="2895480" y="4267080"/>
            <a:ext cx="3353040" cy="0"/>
          </a:xfrm>
          <a:prstGeom prst="line">
            <a:avLst/>
          </a:prstGeom>
          <a:ln w="572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220" name="Line 6"/>
          <p:cNvSpPr/>
          <p:nvPr/>
        </p:nvSpPr>
        <p:spPr>
          <a:xfrm>
            <a:off x="2971800" y="5562720"/>
            <a:ext cx="3352680" cy="0"/>
          </a:xfrm>
          <a:prstGeom prst="line">
            <a:avLst/>
          </a:prstGeom>
          <a:ln w="572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Box 7"/>
          <p:cNvSpPr/>
          <p:nvPr/>
        </p:nvSpPr>
        <p:spPr>
          <a:xfrm>
            <a:off x="304920" y="5791320"/>
            <a:ext cx="8610480" cy="91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Prises conjointement (chute des capacités contractiles, récupération retardée), ces observations supportent l’hypothèse d’une </a:t>
            </a:r>
            <a:r>
              <a:rPr b="1" i="1" lang="fr-FR" sz="1800" strike="noStrike" u="none">
                <a:solidFill>
                  <a:srgbClr val="66ff33"/>
                </a:solidFill>
                <a:effectLst/>
                <a:uFillTx/>
                <a:latin typeface="Arial"/>
              </a:rPr>
              <a:t>altération du couplage excitation-contraction</a:t>
            </a:r>
            <a:r>
              <a:rPr b="1" i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Box 8"/>
          <p:cNvSpPr/>
          <p:nvPr/>
        </p:nvSpPr>
        <p:spPr>
          <a:xfrm>
            <a:off x="1828800" y="380880"/>
            <a:ext cx="5105520" cy="459720"/>
          </a:xfrm>
          <a:prstGeom prst="rect">
            <a:avLst/>
          </a:prstGeom>
          <a:noFill/>
          <a:ln w="255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Composante neuro-musculaire</a:t>
            </a:r>
            <a:endParaRPr b="1" lang="en-US" sz="2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</p:spTree>
  </p:cSld>
  <p:transition spd="med">
    <p:split dir="out" orient="vert"/>
  </p:transition>
  <p:timing>
    <p:tnLst>
      <p:par>
        <p:cTn id="797" dur="indefinite" restart="never" nodeType="tmRoot">
          <p:childTnLst>
            <p:seq>
              <p:cTn id="798" dur="indefinite" nodeType="mainSeq">
                <p:childTnLst>
                  <p:par>
                    <p:cTn id="799" nodeType="clickEffect" fill="hold">
                      <p:stCondLst>
                        <p:cond delay="0"/>
                      </p:stCondLst>
                      <p:childTnLst>
                        <p:par>
                          <p:cTn id="80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801" nodeType="after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3" dur="50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4" dur="50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5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806" nodeType="after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808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9" nodeType="afterEffect" fill="hold">
                            <p:stCondLst>
                              <p:cond delay="1000"/>
                            </p:stCondLst>
                            <p:childTnLst>
                              <p:par>
                                <p:cTn id="810" nodeType="after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812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3" nodeType="clickEffect" fill="hold">
                      <p:stCondLst>
                        <p:cond delay="indefinite"/>
                      </p:stCondLst>
                      <p:childTnLst>
                        <p:par>
                          <p:cTn id="81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815" nodeType="clickEffect" fill="hold" presetClass="entr" presetID="17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817" dur="50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18" dur="50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animClr clrSpc="rgb">
                                <p:cBhvr>
                                  <p:cTn id="8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7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b2b2b2"/>
                                </p:to>
                              </p:animClr>
                            </p:childTnLst>
                          </p:cTn>
                        </p:par>
                        <p:par>
                          <p:cTn id="820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821" nodeType="after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823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4" nodeType="clickEffect" fill="hold">
                      <p:stCondLst>
                        <p:cond delay="indefinite"/>
                      </p:stCondLst>
                      <p:childTnLst>
                        <p:par>
                          <p:cTn id="82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826" nodeType="clickEffect" fill="hold" presetClass="entr" presetID="17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828" dur="50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29" dur="50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animClr clrSpc="rgb">
                                <p:cBhvr>
                                  <p:cTn id="8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8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b2b2b2"/>
                                </p:to>
                              </p:animClr>
                            </p:childTnLst>
                          </p:cTn>
                        </p:par>
                        <p:par>
                          <p:cTn id="831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832" nodeType="after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834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5" fill="hold">
                      <p:stCondLst>
                        <p:cond delay="indefinite"/>
                      </p:stCondLst>
                      <p:childTnLst>
                        <p:par>
                          <p:cTn id="836" fill="hold">
                            <p:stCondLst>
                              <p:cond delay="0"/>
                            </p:stCondLst>
                            <p:childTnLst>
                              <p:animClr clrSpc="rgb">
                                <p:cBhvr>
                                  <p:cTn id="837" dur="1" fill="hold"/>
                                  <p:tgtEl>
                                    <p:spTgt spid="221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b2b2b2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Picture 2" descr="4"/>
          <p:cNvPicPr/>
          <p:nvPr/>
        </p:nvPicPr>
        <p:blipFill>
          <a:blip r:embed="rId1"/>
          <a:stretch/>
        </p:blipFill>
        <p:spPr>
          <a:xfrm>
            <a:off x="0" y="0"/>
            <a:ext cx="9144000" cy="678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4" name="Text Box 3"/>
          <p:cNvSpPr/>
          <p:nvPr/>
        </p:nvSpPr>
        <p:spPr>
          <a:xfrm>
            <a:off x="4497120" y="3276720"/>
            <a:ext cx="366840" cy="459720"/>
          </a:xfrm>
          <a:prstGeom prst="rect">
            <a:avLst/>
          </a:prstGeom>
          <a:solidFill>
            <a:srgbClr val="3333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?</a:t>
            </a:r>
            <a:endParaRPr b="1" lang="en-US" sz="2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Box 4"/>
          <p:cNvSpPr/>
          <p:nvPr/>
        </p:nvSpPr>
        <p:spPr>
          <a:xfrm>
            <a:off x="5792760" y="2209680"/>
            <a:ext cx="366840" cy="459720"/>
          </a:xfrm>
          <a:prstGeom prst="rect">
            <a:avLst/>
          </a:prstGeom>
          <a:solidFill>
            <a:srgbClr val="3333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?</a:t>
            </a:r>
            <a:endParaRPr b="1" lang="en-US" sz="2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Box 5"/>
          <p:cNvSpPr/>
          <p:nvPr/>
        </p:nvSpPr>
        <p:spPr>
          <a:xfrm>
            <a:off x="8002440" y="4191120"/>
            <a:ext cx="366840" cy="459720"/>
          </a:xfrm>
          <a:prstGeom prst="rect">
            <a:avLst/>
          </a:prstGeom>
          <a:solidFill>
            <a:srgbClr val="3333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?</a:t>
            </a:r>
            <a:endParaRPr b="1" lang="en-US" sz="2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Box 6"/>
          <p:cNvSpPr/>
          <p:nvPr/>
        </p:nvSpPr>
        <p:spPr>
          <a:xfrm>
            <a:off x="3049560" y="2133720"/>
            <a:ext cx="366840" cy="459720"/>
          </a:xfrm>
          <a:prstGeom prst="rect">
            <a:avLst/>
          </a:prstGeom>
          <a:solidFill>
            <a:srgbClr val="3333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?</a:t>
            </a:r>
            <a:endParaRPr b="1" lang="en-US" sz="2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228" name="Line 7"/>
          <p:cNvSpPr/>
          <p:nvPr/>
        </p:nvSpPr>
        <p:spPr>
          <a:xfrm>
            <a:off x="5791320" y="5249880"/>
            <a:ext cx="1143000" cy="0"/>
          </a:xfrm>
          <a:prstGeom prst="line">
            <a:avLst/>
          </a:prstGeom>
          <a:ln w="284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229" name="Line 8"/>
          <p:cNvSpPr/>
          <p:nvPr/>
        </p:nvSpPr>
        <p:spPr>
          <a:xfrm>
            <a:off x="7924680" y="5249880"/>
            <a:ext cx="1143000" cy="0"/>
          </a:xfrm>
          <a:prstGeom prst="line">
            <a:avLst/>
          </a:prstGeom>
          <a:ln w="284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230" name="Line 9"/>
          <p:cNvSpPr/>
          <p:nvPr/>
        </p:nvSpPr>
        <p:spPr>
          <a:xfrm>
            <a:off x="7737480" y="5043600"/>
            <a:ext cx="187200" cy="187200"/>
          </a:xfrm>
          <a:prstGeom prst="line">
            <a:avLst/>
          </a:prstGeom>
          <a:ln w="19080">
            <a:solidFill>
              <a:srgbClr val="66ff3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231" name="Line 10"/>
          <p:cNvSpPr/>
          <p:nvPr/>
        </p:nvSpPr>
        <p:spPr>
          <a:xfrm>
            <a:off x="7889760" y="5043600"/>
            <a:ext cx="187560" cy="187200"/>
          </a:xfrm>
          <a:prstGeom prst="line">
            <a:avLst/>
          </a:prstGeom>
          <a:ln w="19080">
            <a:solidFill>
              <a:srgbClr val="66ff3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232" name="Line 11"/>
          <p:cNvSpPr/>
          <p:nvPr/>
        </p:nvSpPr>
        <p:spPr>
          <a:xfrm>
            <a:off x="8042400" y="5043600"/>
            <a:ext cx="187200" cy="187200"/>
          </a:xfrm>
          <a:prstGeom prst="line">
            <a:avLst/>
          </a:prstGeom>
          <a:ln w="19080">
            <a:solidFill>
              <a:srgbClr val="66ff3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233" name="Line 12"/>
          <p:cNvSpPr/>
          <p:nvPr/>
        </p:nvSpPr>
        <p:spPr>
          <a:xfrm>
            <a:off x="8194680" y="5043600"/>
            <a:ext cx="187200" cy="187200"/>
          </a:xfrm>
          <a:prstGeom prst="line">
            <a:avLst/>
          </a:prstGeom>
          <a:ln w="19080">
            <a:solidFill>
              <a:srgbClr val="66ff3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234" name="Line 13"/>
          <p:cNvSpPr/>
          <p:nvPr/>
        </p:nvSpPr>
        <p:spPr>
          <a:xfrm>
            <a:off x="8346960" y="5043600"/>
            <a:ext cx="187560" cy="187200"/>
          </a:xfrm>
          <a:prstGeom prst="line">
            <a:avLst/>
          </a:prstGeom>
          <a:ln w="19080">
            <a:solidFill>
              <a:srgbClr val="66ff3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235" name="Line 14"/>
          <p:cNvSpPr/>
          <p:nvPr/>
        </p:nvSpPr>
        <p:spPr>
          <a:xfrm flipH="1">
            <a:off x="6324480" y="5043600"/>
            <a:ext cx="152640" cy="187200"/>
          </a:xfrm>
          <a:prstGeom prst="line">
            <a:avLst/>
          </a:prstGeom>
          <a:ln w="19080">
            <a:solidFill>
              <a:srgbClr val="66ff3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236" name="Line 15"/>
          <p:cNvSpPr/>
          <p:nvPr/>
        </p:nvSpPr>
        <p:spPr>
          <a:xfrm flipH="1">
            <a:off x="6476760" y="5043600"/>
            <a:ext cx="152280" cy="187200"/>
          </a:xfrm>
          <a:prstGeom prst="line">
            <a:avLst/>
          </a:prstGeom>
          <a:ln w="19080">
            <a:solidFill>
              <a:srgbClr val="66ff3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237" name="Line 16"/>
          <p:cNvSpPr/>
          <p:nvPr/>
        </p:nvSpPr>
        <p:spPr>
          <a:xfrm flipH="1">
            <a:off x="6629040" y="5043600"/>
            <a:ext cx="152280" cy="187200"/>
          </a:xfrm>
          <a:prstGeom prst="line">
            <a:avLst/>
          </a:prstGeom>
          <a:ln w="19080">
            <a:solidFill>
              <a:srgbClr val="66ff3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238" name="Line 17"/>
          <p:cNvSpPr/>
          <p:nvPr/>
        </p:nvSpPr>
        <p:spPr>
          <a:xfrm flipH="1">
            <a:off x="6781680" y="5043600"/>
            <a:ext cx="152640" cy="187200"/>
          </a:xfrm>
          <a:prstGeom prst="line">
            <a:avLst/>
          </a:prstGeom>
          <a:ln w="19080">
            <a:solidFill>
              <a:srgbClr val="66ff3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239" name="Line 18"/>
          <p:cNvSpPr/>
          <p:nvPr/>
        </p:nvSpPr>
        <p:spPr>
          <a:xfrm flipH="1">
            <a:off x="6933960" y="5043600"/>
            <a:ext cx="152280" cy="187200"/>
          </a:xfrm>
          <a:prstGeom prst="line">
            <a:avLst/>
          </a:prstGeom>
          <a:ln w="19080">
            <a:solidFill>
              <a:srgbClr val="66ff3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240" name="Arc 19"/>
          <p:cNvSpPr/>
          <p:nvPr/>
        </p:nvSpPr>
        <p:spPr>
          <a:xfrm flipH="1">
            <a:off x="7162920" y="5410080"/>
            <a:ext cx="457200" cy="212760"/>
          </a:xfrm>
          <a:custGeom>
            <a:avLst/>
            <a:gdLst>
              <a:gd name="GluePoint1X" fmla="*/ 240591 w 43200"/>
              <a:gd name="GluePoint1Y" fmla="*/ 15962648 h 24557"/>
              <a:gd name="GluePoint2X" fmla="*/ 51209575 w 43200"/>
              <a:gd name="GluePoint2Y" fmla="*/ 14040526 h 24557"/>
              <a:gd name="GluePoint3X" fmla="*/ 25604788 w 43200"/>
              <a:gd name="GluePoint3Y" fmla="*/ 14040526 h 24557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l" t="t" r="r" b="b"/>
            <a:pathLst>
              <a:path fill="none" w="43200" h="24557">
                <a:moveTo>
                  <a:pt x="203" y="24556"/>
                </a:moveTo>
                <a:cubicBezTo>
                  <a:pt x="67" y="23577"/>
                  <a:pt x="0" y="22589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-1"/>
                  <a:pt x="43199" y="9670"/>
                  <a:pt x="43200" y="21599"/>
                </a:cubicBezTo>
              </a:path>
              <a:path stroke="0" w="43200" h="24557">
                <a:moveTo>
                  <a:pt x="203" y="24556"/>
                </a:moveTo>
                <a:cubicBezTo>
                  <a:pt x="67" y="23577"/>
                  <a:pt x="0" y="22589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-1"/>
                  <a:pt x="43199" y="9670"/>
                  <a:pt x="43200" y="21599"/>
                </a:cubicBezTo>
                <a:lnTo>
                  <a:pt x="21600" y="21600"/>
                </a:lnTo>
                <a:lnTo>
                  <a:pt x="203" y="24556"/>
                </a:lnTo>
                <a:close/>
              </a:path>
            </a:pathLst>
          </a:custGeom>
          <a:noFill/>
          <a:ln w="38160">
            <a:solidFill>
              <a:srgbClr val="000000"/>
            </a:solidFill>
            <a:round/>
            <a:headEnd len="med" type="triangle" w="sm"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241" name="Arc 20"/>
          <p:cNvSpPr/>
          <p:nvPr/>
        </p:nvSpPr>
        <p:spPr>
          <a:xfrm flipH="1" rot="10820400">
            <a:off x="7162560" y="5638320"/>
            <a:ext cx="458640" cy="243000"/>
          </a:xfrm>
          <a:custGeom>
            <a:avLst/>
            <a:gdLst>
              <a:gd name="GluePoint1X" fmla="*/ 1674544 w 43200"/>
              <a:gd name="GluePoint1Y" fmla="*/ 16753865 h 29245"/>
              <a:gd name="GluePoint2X" fmla="*/ 51745031 w 43200"/>
              <a:gd name="GluePoint2Y" fmla="*/ 12374191 h 29245"/>
              <a:gd name="GluePoint3X" fmla="*/ 25872521 w 43200"/>
              <a:gd name="GluePoint3Y" fmla="*/ 12374191 h 29245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l" t="t" r="r" b="b"/>
            <a:pathLst>
              <a:path fill="none" w="43200" h="29245">
                <a:moveTo>
                  <a:pt x="1398" y="29244"/>
                </a:moveTo>
                <a:cubicBezTo>
                  <a:pt x="473" y="26802"/>
                  <a:pt x="0" y="24211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-1"/>
                  <a:pt x="43199" y="9670"/>
                  <a:pt x="43200" y="21599"/>
                </a:cubicBezTo>
              </a:path>
              <a:path stroke="0" w="43200" h="29245">
                <a:moveTo>
                  <a:pt x="1398" y="29244"/>
                </a:moveTo>
                <a:cubicBezTo>
                  <a:pt x="473" y="26802"/>
                  <a:pt x="0" y="24211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-1"/>
                  <a:pt x="43199" y="9670"/>
                  <a:pt x="43200" y="21599"/>
                </a:cubicBezTo>
                <a:lnTo>
                  <a:pt x="21600" y="21600"/>
                </a:lnTo>
                <a:lnTo>
                  <a:pt x="1398" y="29244"/>
                </a:lnTo>
                <a:close/>
              </a:path>
            </a:pathLst>
          </a:custGeom>
          <a:noFill/>
          <a:ln w="38160">
            <a:solidFill>
              <a:srgbClr val="000000"/>
            </a:solidFill>
            <a:round/>
            <a:headEnd len="med" type="triangle" w="sm"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Box 21"/>
          <p:cNvSpPr/>
          <p:nvPr/>
        </p:nvSpPr>
        <p:spPr>
          <a:xfrm>
            <a:off x="6477120" y="5486400"/>
            <a:ext cx="76176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1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ATP</a:t>
            </a:r>
            <a:endParaRPr b="1" lang="en-US" sz="16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Box 22"/>
          <p:cNvSpPr/>
          <p:nvPr/>
        </p:nvSpPr>
        <p:spPr>
          <a:xfrm>
            <a:off x="7543800" y="5410080"/>
            <a:ext cx="76212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1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ADP</a:t>
            </a:r>
            <a:endParaRPr b="1" lang="en-US" sz="16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244" name="Arc 23"/>
          <p:cNvSpPr/>
          <p:nvPr/>
        </p:nvSpPr>
        <p:spPr>
          <a:xfrm flipV="1" rot="1093800">
            <a:off x="5867280" y="5562360"/>
            <a:ext cx="762120" cy="304560"/>
          </a:xfrm>
          <a:custGeom>
            <a:avLst/>
            <a:gdLst>
              <a:gd name="GluePoint1X" fmla="*/ 0 w 21600"/>
              <a:gd name="GluePoint1Y" fmla="*/ 0 h 21600"/>
              <a:gd name="GluePoint2X" fmla="*/ 948325475 w 21600"/>
              <a:gd name="GluePoint2Y" fmla="*/ 60692834 h 21600"/>
              <a:gd name="GluePoint3X" fmla="*/ 0 w 21600"/>
              <a:gd name="GluePoint3Y" fmla="*/ 60692834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l" t="t" r="r" b="b"/>
            <a:pathLst>
              <a:path fill="none" w="21600" h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stroke="0" w="21600" h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8440">
            <a:solidFill>
              <a:srgbClr val="000000"/>
            </a:solidFill>
            <a:prstDash val="sysDot"/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Box 24"/>
          <p:cNvSpPr/>
          <p:nvPr/>
        </p:nvSpPr>
        <p:spPr>
          <a:xfrm>
            <a:off x="4495680" y="5486400"/>
            <a:ext cx="190512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876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PCr, Glyc, AGL</a:t>
            </a:r>
            <a:endParaRPr b="1" lang="en-US" sz="1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246" name="Rectangle 25"/>
          <p:cNvSpPr/>
          <p:nvPr/>
        </p:nvSpPr>
        <p:spPr>
          <a:xfrm>
            <a:off x="0" y="5410080"/>
            <a:ext cx="4572000" cy="14479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Différentes hypothèses explicatives 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la baisse de la capacité d’exitation et 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la tension des fibres musculaires liée (?)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au surentraînement. 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247" name="Rectangle 26"/>
          <p:cNvSpPr/>
          <p:nvPr/>
        </p:nvSpPr>
        <p:spPr>
          <a:xfrm>
            <a:off x="0" y="5181480"/>
            <a:ext cx="1371600" cy="3049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Box 27"/>
          <p:cNvSpPr/>
          <p:nvPr/>
        </p:nvSpPr>
        <p:spPr>
          <a:xfrm>
            <a:off x="7164360" y="4724280"/>
            <a:ext cx="366840" cy="459720"/>
          </a:xfrm>
          <a:prstGeom prst="rect">
            <a:avLst/>
          </a:prstGeom>
          <a:solidFill>
            <a:srgbClr val="3333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?</a:t>
            </a:r>
            <a:endParaRPr b="1" lang="en-US" sz="2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Box 28"/>
          <p:cNvSpPr/>
          <p:nvPr/>
        </p:nvSpPr>
        <p:spPr>
          <a:xfrm>
            <a:off x="6021360" y="5867280"/>
            <a:ext cx="366840" cy="459720"/>
          </a:xfrm>
          <a:prstGeom prst="rect">
            <a:avLst/>
          </a:prstGeom>
          <a:solidFill>
            <a:srgbClr val="3333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?</a:t>
            </a:r>
            <a:endParaRPr b="1" lang="en-US" sz="2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38" dur="indefinite" restart="never" nodeType="tmRoot">
          <p:childTnLst>
            <p:seq>
              <p:cTn id="839" dur="indefinite" nodeType="mainSeq">
                <p:childTnLst>
                  <p:par>
                    <p:cTn id="840" nodeType="clickEffect" fill="hold">
                      <p:stCondLst>
                        <p:cond delay="0"/>
                      </p:stCondLst>
                      <p:childTnLst>
                        <p:par>
                          <p:cTn id="84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842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844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5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846" nodeType="afterEffect" fill="hold" presetClass="entr" presetID="23" presetSubtype="288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8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848" dur="500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49" dur="500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0" nodeType="afterEffect" fill="hold">
                            <p:stCondLst>
                              <p:cond delay="3000"/>
                            </p:stCondLst>
                            <p:childTnLst>
                              <p:par>
                                <p:cTn id="851" nodeType="afterEffect" fill="hold" presetClass="entr" presetID="23" presetSubtype="288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8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853" dur="50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54" dur="50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5" nodeType="afterEffect" fill="hold">
                            <p:stCondLst>
                              <p:cond delay="5500"/>
                            </p:stCondLst>
                            <p:childTnLst>
                              <p:par>
                                <p:cTn id="856" nodeType="afterEffect" fill="hold" presetClass="entr" presetID="23" presetSubtype="288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8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858" dur="500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59" dur="500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0" nodeType="afterEffect" fill="hold">
                            <p:stCondLst>
                              <p:cond delay="9000"/>
                            </p:stCondLst>
                            <p:childTnLst>
                              <p:par>
                                <p:cTn id="861" nodeType="afterEffect" fill="hold" presetClass="entr" presetID="23" presetSubtype="288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8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863" dur="500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64" dur="500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5" nodeType="afterEffect" fill="hold">
                            <p:stCondLst>
                              <p:cond delay="12500"/>
                            </p:stCondLst>
                            <p:childTnLst>
                              <p:par>
                                <p:cTn id="866" nodeType="afterEffect" fill="hold" presetClass="entr" presetID="23" presetSubtype="288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8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868" dur="500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69" dur="500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0" nodeType="afterEffect" fill="hold">
                            <p:stCondLst>
                              <p:cond delay="16000"/>
                            </p:stCondLst>
                            <p:childTnLst>
                              <p:par>
                                <p:cTn id="871" nodeType="afterEffect" fill="hold" presetClass="entr" presetID="23" presetSubtype="288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8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873" dur="500" fill="hold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74" dur="500" fill="hold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Text Box 2"/>
          <p:cNvSpPr/>
          <p:nvPr/>
        </p:nvSpPr>
        <p:spPr>
          <a:xfrm>
            <a:off x="609480" y="380880"/>
            <a:ext cx="7848720" cy="459720"/>
          </a:xfrm>
          <a:prstGeom prst="rect">
            <a:avLst/>
          </a:prstGeom>
          <a:noFill/>
          <a:ln w="255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Étiologie hypothétique pour l ’exercice d’endurance</a:t>
            </a:r>
            <a:endParaRPr b="1" lang="en-US" sz="2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Box 3"/>
          <p:cNvSpPr/>
          <p:nvPr/>
        </p:nvSpPr>
        <p:spPr>
          <a:xfrm>
            <a:off x="228600" y="1219320"/>
            <a:ext cx="8686800" cy="14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Lors de l’exercice d’endurance, il est possible que le même </a:t>
            </a:r>
            <a:r>
              <a:rPr b="1" lang="fr-FR" sz="1800" strike="noStrike" u="none">
                <a:solidFill>
                  <a:srgbClr val="66ff33"/>
                </a:solidFill>
                <a:effectLst/>
                <a:uFillTx/>
                <a:latin typeface="Arial"/>
              </a:rPr>
              <a:t>processus de dégradation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apparaisse, mais bien plus tard que pour l’exercice intense. 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La durée d’excitation peut finir par </a:t>
            </a:r>
            <a:r>
              <a:rPr b="1" lang="fr-FR" sz="1800" strike="noStrike" u="none">
                <a:solidFill>
                  <a:srgbClr val="66ff33"/>
                </a:solidFill>
                <a:effectLst/>
                <a:uFillTx/>
                <a:latin typeface="Arial"/>
              </a:rPr>
              <a:t>inhiber la fonction du RS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: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Box 4"/>
          <p:cNvSpPr/>
          <p:nvPr/>
        </p:nvSpPr>
        <p:spPr>
          <a:xfrm>
            <a:off x="304920" y="2895480"/>
            <a:ext cx="86104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¤ par une moindre « </a:t>
            </a:r>
            <a:r>
              <a:rPr b="1" i="1" lang="fr-FR" sz="1800" strike="noStrike" u="none">
                <a:solidFill>
                  <a:srgbClr val="66ff33"/>
                </a:solidFill>
                <a:effectLst/>
                <a:uFillTx/>
                <a:latin typeface="Arial"/>
              </a:rPr>
              <a:t>re pompage » du Ca</a:t>
            </a:r>
            <a:r>
              <a:rPr b="1" i="1" lang="fr-FR" sz="1800" strike="noStrike" u="none" baseline="30000">
                <a:solidFill>
                  <a:srgbClr val="66ff33"/>
                </a:solidFill>
                <a:effectLst/>
                <a:uFillTx/>
                <a:latin typeface="Arial"/>
              </a:rPr>
              <a:t>++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Box 5"/>
          <p:cNvSpPr/>
          <p:nvPr/>
        </p:nvSpPr>
        <p:spPr>
          <a:xfrm>
            <a:off x="304920" y="3352680"/>
            <a:ext cx="86104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¤ ceci pourrait être </a:t>
            </a:r>
            <a:r>
              <a:rPr b="1" i="1" lang="fr-FR" sz="1800" strike="noStrike" u="none">
                <a:solidFill>
                  <a:srgbClr val="66ff33"/>
                </a:solidFill>
                <a:effectLst/>
                <a:uFillTx/>
                <a:latin typeface="Arial"/>
              </a:rPr>
              <a:t>toxique pour le sarcomère</a:t>
            </a:r>
            <a:r>
              <a:rPr b="1" i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(toxicité ionique)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Box 6"/>
          <p:cNvSpPr/>
          <p:nvPr/>
        </p:nvSpPr>
        <p:spPr>
          <a:xfrm>
            <a:off x="304920" y="3886200"/>
            <a:ext cx="86104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¤ le même mécanisme que pour l’exercice intense pourrait donc apparaître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Box 7"/>
          <p:cNvSpPr/>
          <p:nvPr/>
        </p:nvSpPr>
        <p:spPr>
          <a:xfrm>
            <a:off x="228600" y="4876920"/>
            <a:ext cx="868680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Il s’agit néanmoins là d’une hypothèse difficilement vérifiable étant donné l’extrême rapidité des </a:t>
            </a:r>
            <a:r>
              <a:rPr b="1" lang="fr-FR" sz="1800" strike="noStrike" u="none">
                <a:solidFill>
                  <a:srgbClr val="66ff33"/>
                </a:solidFill>
                <a:effectLst/>
                <a:uFillTx/>
                <a:latin typeface="Arial"/>
              </a:rPr>
              <a:t>échanges ioniques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256" name="Line 8"/>
          <p:cNvSpPr/>
          <p:nvPr/>
        </p:nvSpPr>
        <p:spPr>
          <a:xfrm>
            <a:off x="457200" y="4495680"/>
            <a:ext cx="8153280" cy="0"/>
          </a:xfrm>
          <a:prstGeom prst="line">
            <a:avLst/>
          </a:prstGeom>
          <a:ln w="57240">
            <a:solidFill>
              <a:srgbClr val="ff99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Box 9"/>
          <p:cNvSpPr/>
          <p:nvPr/>
        </p:nvSpPr>
        <p:spPr>
          <a:xfrm>
            <a:off x="228600" y="5867280"/>
            <a:ext cx="868680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De plus, des </a:t>
            </a:r>
            <a:r>
              <a:rPr b="1" lang="fr-FR" sz="1800" strike="noStrike" u="none">
                <a:solidFill>
                  <a:srgbClr val="66ff33"/>
                </a:solidFill>
                <a:effectLst/>
                <a:uFillTx/>
                <a:latin typeface="Arial"/>
              </a:rPr>
              <a:t>altérations des équilibres ioniques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ont déjà été constatées mais pas les </a:t>
            </a:r>
            <a:r>
              <a:rPr b="1" lang="fr-FR" sz="1800" strike="noStrike" u="none">
                <a:solidFill>
                  <a:srgbClr val="66ff33"/>
                </a:solidFill>
                <a:effectLst/>
                <a:uFillTx/>
                <a:latin typeface="Arial"/>
              </a:rPr>
              <a:t>dégradations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qui devraient leur être associées.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</p:spTree>
  </p:cSld>
  <p:transition spd="med">
    <p:split dir="out" orient="vert"/>
  </p:transition>
  <p:timing>
    <p:tnLst>
      <p:par>
        <p:cTn id="875" dur="indefinite" restart="never" nodeType="tmRoot">
          <p:childTnLst>
            <p:seq>
              <p:cTn id="876" dur="indefinite" nodeType="mainSeq">
                <p:childTnLst>
                  <p:par>
                    <p:cTn id="877" nodeType="clickEffect" fill="hold">
                      <p:stCondLst>
                        <p:cond delay="0"/>
                      </p:stCondLst>
                      <p:childTnLst>
                        <p:par>
                          <p:cTn id="87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879" nodeType="after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1" dur="500" fill="hold"/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2" dur="500" fill="hold"/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3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884" nodeType="after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886"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7" nodeType="clickEffect" fill="hold">
                      <p:stCondLst>
                        <p:cond delay="indefinite"/>
                      </p:stCondLst>
                      <p:childTnLst>
                        <p:par>
                          <p:cTn id="88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889" nodeType="click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891"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89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1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b2b2b2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  <p:par>
                    <p:cTn id="893" nodeType="clickEffect" fill="hold">
                      <p:stCondLst>
                        <p:cond delay="indefinite"/>
                      </p:stCondLst>
                      <p:childTnLst>
                        <p:par>
                          <p:cTn id="89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895" nodeType="click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897"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89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2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b2b2b2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  <p:par>
                    <p:cTn id="899" nodeType="clickEffect" fill="hold">
                      <p:stCondLst>
                        <p:cond delay="indefinite"/>
                      </p:stCondLst>
                      <p:childTnLst>
                        <p:par>
                          <p:cTn id="90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901" nodeType="click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903"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90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3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b2b2b2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  <p:par>
                    <p:cTn id="905" nodeType="clickEffect" fill="hold">
                      <p:stCondLst>
                        <p:cond delay="indefinite"/>
                      </p:stCondLst>
                      <p:childTnLst>
                        <p:par>
                          <p:cTn id="90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907" nodeType="clickEffect" fill="hold" presetClass="entr" presetID="17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909" dur="500" fill="hold"/>
                                        <p:tgtEl>
                                          <p:spTgt spid="2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10" dur="500" fill="hold"/>
                                        <p:tgtEl>
                                          <p:spTgt spid="2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animClr clrSpc="rgb">
                                <p:cBhvr>
                                  <p:cTn id="9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4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b2b2b2"/>
                                </p:to>
                              </p:animClr>
                            </p:childTnLst>
                          </p:cTn>
                        </p:par>
                        <p:par>
                          <p:cTn id="912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913" nodeType="after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915"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6" nodeType="clickEffect" fill="hold">
                      <p:stCondLst>
                        <p:cond delay="indefinite"/>
                      </p:stCondLst>
                      <p:childTnLst>
                        <p:par>
                          <p:cTn id="91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918" nodeType="click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920"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9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5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b2b2b2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Text Box 2"/>
          <p:cNvSpPr/>
          <p:nvPr/>
        </p:nvSpPr>
        <p:spPr>
          <a:xfrm>
            <a:off x="685800" y="533520"/>
            <a:ext cx="7543800" cy="459720"/>
          </a:xfrm>
          <a:prstGeom prst="rect">
            <a:avLst/>
          </a:prstGeom>
          <a:noFill/>
          <a:ln w="255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Étiologie hypothétique pour l’exercice intense</a:t>
            </a:r>
            <a:endParaRPr b="1" lang="en-US" sz="2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Box 3"/>
          <p:cNvSpPr/>
          <p:nvPr/>
        </p:nvSpPr>
        <p:spPr>
          <a:xfrm>
            <a:off x="271440" y="1268280"/>
            <a:ext cx="8686800" cy="173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5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Il s’agit là d’un problème complexe car de multiples facteurs sont impliqués. Cependant, lors d’exercices </a:t>
            </a:r>
            <a:r>
              <a:rPr b="1" lang="fr-FR" sz="1800" strike="noStrike" u="none">
                <a:solidFill>
                  <a:srgbClr val="66ff33"/>
                </a:solidFill>
                <a:effectLst/>
                <a:uFillTx/>
                <a:latin typeface="Arial"/>
              </a:rPr>
              <a:t>intenses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, il semble clair que deux types de </a:t>
            </a:r>
            <a:r>
              <a:rPr b="1" lang="fr-FR" sz="1800" strike="noStrike" u="none">
                <a:solidFill>
                  <a:srgbClr val="66ff33"/>
                </a:solidFill>
                <a:effectLst/>
                <a:uFillTx/>
                <a:latin typeface="Arial"/>
              </a:rPr>
              <a:t>dégradations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au sein de la cellule sont initialement responsables de la fatigue musculaire :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Box 5"/>
          <p:cNvSpPr/>
          <p:nvPr/>
        </p:nvSpPr>
        <p:spPr>
          <a:xfrm>
            <a:off x="304920" y="3200400"/>
            <a:ext cx="86104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¤ la rupture mécanique au niveau de la </a:t>
            </a:r>
            <a:r>
              <a:rPr b="1" i="1" lang="fr-FR" sz="1800" strike="noStrike" u="none">
                <a:solidFill>
                  <a:srgbClr val="66ff33"/>
                </a:solidFill>
                <a:effectLst/>
                <a:uFillTx/>
                <a:latin typeface="Arial"/>
              </a:rPr>
              <a:t>membrane du sarcolème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Box 6"/>
          <p:cNvSpPr/>
          <p:nvPr/>
        </p:nvSpPr>
        <p:spPr>
          <a:xfrm>
            <a:off x="0" y="3809880"/>
            <a:ext cx="914400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¤ la rupture mécanique au niveau des </a:t>
            </a:r>
            <a:r>
              <a:rPr b="1" i="1" lang="fr-FR" sz="1800" strike="noStrike" u="none">
                <a:solidFill>
                  <a:srgbClr val="66ff33"/>
                </a:solidFill>
                <a:effectLst/>
                <a:uFillTx/>
                <a:latin typeface="Arial"/>
              </a:rPr>
              <a:t>ponts d’union</a:t>
            </a:r>
            <a:r>
              <a:rPr b="1" i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(ou des molécules de </a:t>
            </a:r>
            <a:r>
              <a:rPr b="1" i="1" lang="fr-FR" sz="1800" strike="noStrike" u="none">
                <a:solidFill>
                  <a:srgbClr val="66ff33"/>
                </a:solidFill>
                <a:effectLst/>
                <a:uFillTx/>
                <a:latin typeface="Arial"/>
              </a:rPr>
              <a:t>titine</a:t>
            </a:r>
            <a:r>
              <a:rPr b="1" i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)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Box 7"/>
          <p:cNvSpPr/>
          <p:nvPr/>
        </p:nvSpPr>
        <p:spPr>
          <a:xfrm>
            <a:off x="152280" y="4876920"/>
            <a:ext cx="8686800" cy="173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5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L’exercice intense impose des </a:t>
            </a:r>
            <a:r>
              <a:rPr b="1" lang="fr-FR" sz="1800" strike="noStrike" u="none">
                <a:solidFill>
                  <a:srgbClr val="66ff33"/>
                </a:solidFill>
                <a:effectLst/>
                <a:uFillTx/>
                <a:latin typeface="Arial"/>
              </a:rPr>
              <a:t>contraintes mécaniques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aux cellules en contraction pouvant causer ces dégradations. Cependant, il est peu probable que la répétition de tels exercices mène au surentraînement étant donné </a:t>
            </a:r>
            <a:r>
              <a:rPr b="1" lang="fr-FR" sz="1800" strike="noStrike" u="none">
                <a:solidFill>
                  <a:srgbClr val="66ff33"/>
                </a:solidFill>
                <a:effectLst/>
                <a:uFillTx/>
                <a:latin typeface="Arial"/>
              </a:rPr>
              <a:t>la douleur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qu’ils provoquent.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263" name="Line 8"/>
          <p:cNvSpPr/>
          <p:nvPr/>
        </p:nvSpPr>
        <p:spPr>
          <a:xfrm>
            <a:off x="457200" y="4495680"/>
            <a:ext cx="8153280" cy="0"/>
          </a:xfrm>
          <a:prstGeom prst="line">
            <a:avLst/>
          </a:prstGeom>
          <a:ln w="57240">
            <a:solidFill>
              <a:srgbClr val="ff99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</p:spTree>
  </p:cSld>
  <p:transition spd="med">
    <p:split dir="out" orient="vert"/>
  </p:transition>
  <p:timing>
    <p:tnLst>
      <p:par>
        <p:cTn id="922" dur="indefinite" restart="never" nodeType="tmRoot">
          <p:childTnLst>
            <p:seq>
              <p:cTn id="923" dur="indefinite" nodeType="mainSeq">
                <p:childTnLst>
                  <p:par>
                    <p:cTn id="924" nodeType="clickEffect" fill="hold">
                      <p:stCondLst>
                        <p:cond delay="0"/>
                      </p:stCondLst>
                      <p:childTnLst>
                        <p:par>
                          <p:cTn id="92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926" nodeType="after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8" dur="500" fill="hold"/>
                                        <p:tgtEl>
                                          <p:spTgt spid="2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9" dur="500" fill="hold"/>
                                        <p:tgtEl>
                                          <p:spTgt spid="2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0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931" nodeType="after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933"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4" nodeType="clickEffect" fill="hold">
                      <p:stCondLst>
                        <p:cond delay="indefinite"/>
                      </p:stCondLst>
                      <p:childTnLst>
                        <p:par>
                          <p:cTn id="93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936" nodeType="click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938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9" nodeType="clickEffect" fill="hold">
                      <p:stCondLst>
                        <p:cond delay="indefinite"/>
                      </p:stCondLst>
                      <p:childTnLst>
                        <p:par>
                          <p:cTn id="94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941" nodeType="click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943"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9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0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b2b2b2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  <p:par>
                    <p:cTn id="945" nodeType="clickEffect" fill="hold">
                      <p:stCondLst>
                        <p:cond delay="indefinite"/>
                      </p:stCondLst>
                      <p:childTnLst>
                        <p:par>
                          <p:cTn id="94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947" nodeType="clickEffect" fill="hold" presetClass="entr" presetID="17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949" dur="500" fill="hold"/>
                                        <p:tgtEl>
                                          <p:spTgt spid="2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50" dur="500" fill="hold"/>
                                        <p:tgtEl>
                                          <p:spTgt spid="2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animClr clrSpc="rgb">
                                <p:cBhvr>
                                  <p:cTn id="95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1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b2b2b2"/>
                                </p:to>
                              </p:animClr>
                            </p:childTnLst>
                          </p:cTn>
                        </p:par>
                        <p:par>
                          <p:cTn id="952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953" nodeType="after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955"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Text Box 2"/>
          <p:cNvSpPr/>
          <p:nvPr/>
        </p:nvSpPr>
        <p:spPr>
          <a:xfrm>
            <a:off x="1676520" y="1600200"/>
            <a:ext cx="19810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¤ 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Symbol"/>
                <a:ea typeface="Symbol"/>
              </a:rPr>
              <a:t>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performance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Box 3"/>
          <p:cNvSpPr/>
          <p:nvPr/>
        </p:nvSpPr>
        <p:spPr>
          <a:xfrm>
            <a:off x="1447920" y="380880"/>
            <a:ext cx="6324480" cy="520920"/>
          </a:xfrm>
          <a:prstGeom prst="rect">
            <a:avLst/>
          </a:prstGeom>
          <a:noFill/>
          <a:ln w="255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17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Symptomatologie neuro-musculaire</a:t>
            </a:r>
            <a:endParaRPr b="1" lang="en-US" sz="2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Box 4"/>
          <p:cNvSpPr/>
          <p:nvPr/>
        </p:nvSpPr>
        <p:spPr>
          <a:xfrm>
            <a:off x="1676520" y="1981080"/>
            <a:ext cx="67053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¤ 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Symbol"/>
                <a:ea typeface="Symbol"/>
              </a:rPr>
              <a:t>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capacité à atteindre d’anciens niveaux d’entraînement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Box 5"/>
          <p:cNvSpPr/>
          <p:nvPr/>
        </p:nvSpPr>
        <p:spPr>
          <a:xfrm>
            <a:off x="1676520" y="2438280"/>
            <a:ext cx="31240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¤ 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Symbol"/>
                <a:ea typeface="Symbol"/>
              </a:rPr>
              <a:t>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temps de récupération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Box 6"/>
          <p:cNvSpPr/>
          <p:nvPr/>
        </p:nvSpPr>
        <p:spPr>
          <a:xfrm>
            <a:off x="1676520" y="2819520"/>
            <a:ext cx="49528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¤ 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Symbol"/>
                <a:ea typeface="Symbol"/>
              </a:rPr>
              <a:t>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tolérance aux charges d’entraînement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Box 7"/>
          <p:cNvSpPr/>
          <p:nvPr/>
        </p:nvSpPr>
        <p:spPr>
          <a:xfrm>
            <a:off x="1676520" y="3200400"/>
            <a:ext cx="26668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¤ 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Symbol"/>
                <a:ea typeface="Symbol"/>
              </a:rPr>
              <a:t>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force musculaire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Box 8"/>
          <p:cNvSpPr/>
          <p:nvPr/>
        </p:nvSpPr>
        <p:spPr>
          <a:xfrm>
            <a:off x="1676520" y="3581280"/>
            <a:ext cx="457200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¤ 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Symbol"/>
                <a:ea typeface="Symbol"/>
              </a:rPr>
              <a:t>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capacité maximale de travail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Box 9"/>
          <p:cNvSpPr/>
          <p:nvPr/>
        </p:nvSpPr>
        <p:spPr>
          <a:xfrm>
            <a:off x="1676520" y="4038480"/>
            <a:ext cx="205740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¤ 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Symbol"/>
                <a:ea typeface="Symbol"/>
              </a:rPr>
              <a:t>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coordination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Box 10"/>
          <p:cNvSpPr/>
          <p:nvPr/>
        </p:nvSpPr>
        <p:spPr>
          <a:xfrm>
            <a:off x="1676520" y="4419720"/>
            <a:ext cx="28191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¤ 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Symbol"/>
                <a:ea typeface="Symbol"/>
              </a:rPr>
              <a:t>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efficacité gestuelle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Box 11"/>
          <p:cNvSpPr/>
          <p:nvPr/>
        </p:nvSpPr>
        <p:spPr>
          <a:xfrm>
            <a:off x="1676520" y="4800600"/>
            <a:ext cx="44193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¤ 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Symbol"/>
                <a:ea typeface="Symbol"/>
              </a:rPr>
              <a:t>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amplitude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Box 12"/>
          <p:cNvSpPr/>
          <p:nvPr/>
        </p:nvSpPr>
        <p:spPr>
          <a:xfrm>
            <a:off x="1676520" y="5638680"/>
            <a:ext cx="58672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¤ 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Symbol"/>
                <a:ea typeface="Symbol"/>
              </a:rPr>
              <a:t>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des défauts techniques déjà corrigés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Box 13"/>
          <p:cNvSpPr/>
          <p:nvPr/>
        </p:nvSpPr>
        <p:spPr>
          <a:xfrm>
            <a:off x="1676520" y="5181480"/>
            <a:ext cx="65530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¤ 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Symbol"/>
                <a:ea typeface="Symbol"/>
              </a:rPr>
              <a:t>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aptitude à repérer et à corriger les défauts techniques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</p:spTree>
  </p:cSld>
  <p:transition spd="med">
    <p:split dir="out" orient="vert"/>
  </p:transition>
  <p:timing>
    <p:tnLst>
      <p:par>
        <p:cTn id="956" dur="indefinite" restart="never" nodeType="tmRoot">
          <p:childTnLst>
            <p:seq>
              <p:cTn id="957" dur="indefinite" nodeType="mainSeq">
                <p:childTnLst>
                  <p:par>
                    <p:cTn id="958" nodeType="clickEffect" fill="hold">
                      <p:stCondLst>
                        <p:cond delay="0"/>
                      </p:stCondLst>
                      <p:childTnLst>
                        <p:par>
                          <p:cTn id="95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960" nodeType="after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2" dur="50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3" dur="50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4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965" nodeType="after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967"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8" nodeType="afterEffect" fill="hold">
                            <p:stCondLst>
                              <p:cond delay="1000"/>
                            </p:stCondLst>
                            <p:childTnLst>
                              <p:par>
                                <p:cTn id="969" nodeType="afterEffect" fill="hold" presetClass="entr" presetID="5" presetSubtype="1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971"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972" dur="1" fill="hold">
                                    <p:stCondLst>
                                      <p:cond delay="1000"/>
                                    </p:stCondLst>
                                  </p:cTn>
                                  <p:tgtEl>
                                    <p:spTgt spid="264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b2b2b2"/>
                                </p:to>
                              </p:animClr>
                            </p:childTnLst>
                          </p:cTn>
                        </p:par>
                        <p:par>
                          <p:cTn id="973" nodeType="afterEffect" fill="hold">
                            <p:stCondLst>
                              <p:cond delay="2500"/>
                            </p:stCondLst>
                            <p:childTnLst>
                              <p:par>
                                <p:cTn id="974" nodeType="afterEffect" fill="hold" presetClass="entr" presetID="5" presetSubtype="1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976"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977" dur="1" fill="hold">
                                    <p:stCondLst>
                                      <p:cond delay="2000"/>
                                    </p:stCondLst>
                                  </p:cTn>
                                  <p:tgtEl>
                                    <p:spTgt spid="266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b2b2b2"/>
                                </p:to>
                              </p:animClr>
                            </p:childTnLst>
                          </p:cTn>
                        </p:par>
                        <p:par>
                          <p:cTn id="978" nodeType="afterEffect" fill="hold">
                            <p:stCondLst>
                              <p:cond delay="5000"/>
                            </p:stCondLst>
                            <p:childTnLst>
                              <p:par>
                                <p:cTn id="979" nodeType="afterEffect" fill="hold" presetClass="entr" presetID="5" presetSubtype="1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981"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982" dur="1" fill="hold">
                                    <p:stCondLst>
                                      <p:cond delay="2000"/>
                                    </p:stCondLst>
                                  </p:cTn>
                                  <p:tgtEl>
                                    <p:spTgt spid="267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b2b2b2"/>
                                </p:to>
                              </p:animClr>
                            </p:childTnLst>
                          </p:cTn>
                        </p:par>
                        <p:par>
                          <p:cTn id="983" nodeType="afterEffect" fill="hold">
                            <p:stCondLst>
                              <p:cond delay="7500"/>
                            </p:stCondLst>
                            <p:childTnLst>
                              <p:par>
                                <p:cTn id="984" nodeType="afterEffect" fill="hold" presetClass="entr" presetID="5" presetSubtype="1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986"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987" dur="1" fill="hold">
                                    <p:stCondLst>
                                      <p:cond delay="1000"/>
                                    </p:stCondLst>
                                  </p:cTn>
                                  <p:tgtEl>
                                    <p:spTgt spid="268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b2b2b2"/>
                                </p:to>
                              </p:animClr>
                            </p:childTnLst>
                          </p:cTn>
                        </p:par>
                        <p:par>
                          <p:cTn id="988" nodeType="afterEffect" fill="hold">
                            <p:stCondLst>
                              <p:cond delay="9000"/>
                            </p:stCondLst>
                            <p:childTnLst>
                              <p:par>
                                <p:cTn id="989" nodeType="afterEffect" fill="hold" presetClass="entr" presetID="5" presetSubtype="1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991"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992" dur="1" fill="hold">
                                    <p:stCondLst>
                                      <p:cond delay="1000"/>
                                    </p:stCondLst>
                                  </p:cTn>
                                  <p:tgtEl>
                                    <p:spTgt spid="269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b2b2b2"/>
                                </p:to>
                              </p:animClr>
                            </p:childTnLst>
                          </p:cTn>
                        </p:par>
                        <p:par>
                          <p:cTn id="993" nodeType="afterEffect" fill="hold">
                            <p:stCondLst>
                              <p:cond delay="10500"/>
                            </p:stCondLst>
                            <p:childTnLst>
                              <p:par>
                                <p:cTn id="994" nodeType="afterEffect" fill="hold" presetClass="entr" presetID="5" presetSubtype="1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996" dur="5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997" dur="1" fill="hold">
                                    <p:stCondLst>
                                      <p:cond delay="1000"/>
                                    </p:stCondLst>
                                  </p:cTn>
                                  <p:tgtEl>
                                    <p:spTgt spid="270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b2b2b2"/>
                                </p:to>
                              </p:animClr>
                            </p:childTnLst>
                          </p:cTn>
                        </p:par>
                        <p:par>
                          <p:cTn id="998" nodeType="afterEffect" fill="hold">
                            <p:stCondLst>
                              <p:cond delay="12000"/>
                            </p:stCondLst>
                            <p:childTnLst>
                              <p:par>
                                <p:cTn id="999" nodeType="afterEffect" fill="hold" presetClass="entr" presetID="5" presetSubtype="1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1001"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1002" dur="1" fill="hold">
                                    <p:stCondLst>
                                      <p:cond delay="1000"/>
                                    </p:stCondLst>
                                  </p:cTn>
                                  <p:tgtEl>
                                    <p:spTgt spid="271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b2b2b2"/>
                                </p:to>
                              </p:animClr>
                            </p:childTnLst>
                          </p:cTn>
                        </p:par>
                        <p:par>
                          <p:cTn id="1003" nodeType="afterEffect" fill="hold">
                            <p:stCondLst>
                              <p:cond delay="13500"/>
                            </p:stCondLst>
                            <p:childTnLst>
                              <p:par>
                                <p:cTn id="1004" nodeType="afterEffect" fill="hold" presetClass="entr" presetID="5" presetSubtype="1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1006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1007" dur="1" fill="hold">
                                    <p:stCondLst>
                                      <p:cond delay="1000"/>
                                    </p:stCondLst>
                                  </p:cTn>
                                  <p:tgtEl>
                                    <p:spTgt spid="272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b2b2b2"/>
                                </p:to>
                              </p:animClr>
                            </p:childTnLst>
                          </p:cTn>
                        </p:par>
                        <p:par>
                          <p:cTn id="1008" nodeType="afterEffect" fill="hold">
                            <p:stCondLst>
                              <p:cond delay="15000"/>
                            </p:stCondLst>
                            <p:childTnLst>
                              <p:par>
                                <p:cTn id="1009" nodeType="afterEffect" fill="hold" presetClass="entr" presetID="5" presetSubtype="1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1011"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1012" dur="1" fill="hold">
                                    <p:stCondLst>
                                      <p:cond delay="1000"/>
                                    </p:stCondLst>
                                  </p:cTn>
                                  <p:tgtEl>
                                    <p:spTgt spid="273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b2b2b2"/>
                                </p:to>
                              </p:animClr>
                            </p:childTnLst>
                          </p:cTn>
                        </p:par>
                        <p:par>
                          <p:cTn id="1013" nodeType="afterEffect" fill="hold">
                            <p:stCondLst>
                              <p:cond delay="16500"/>
                            </p:stCondLst>
                            <p:childTnLst>
                              <p:par>
                                <p:cTn id="1014" nodeType="afterEffect" fill="hold" presetClass="entr" presetID="5" presetSubtype="1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1016" dur="5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1017" dur="1" fill="hold">
                                    <p:stCondLst>
                                      <p:cond delay="1000"/>
                                    </p:stCondLst>
                                  </p:cTn>
                                  <p:tgtEl>
                                    <p:spTgt spid="275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b2b2b2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  <p:par>
                    <p:cTn id="1018" fill="hold">
                      <p:stCondLst>
                        <p:cond delay="indefinite"/>
                      </p:stCondLst>
                      <p:childTnLst>
                        <p:par>
                          <p:cTn id="1019" fill="hold">
                            <p:stCondLst>
                              <p:cond delay="0"/>
                            </p:stCondLst>
                            <p:childTnLst>
                              <p:animClr clrSpc="rgb">
                                <p:cBhvr>
                                  <p:cTn id="1020" dur="1" fill="hold"/>
                                  <p:tgtEl>
                                    <p:spTgt spid="274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b2b2b2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Text Box 2"/>
          <p:cNvSpPr/>
          <p:nvPr/>
        </p:nvSpPr>
        <p:spPr>
          <a:xfrm>
            <a:off x="2514600" y="3048120"/>
            <a:ext cx="4191120" cy="1069560"/>
          </a:xfrm>
          <a:prstGeom prst="rect">
            <a:avLst/>
          </a:prstGeom>
          <a:noFill/>
          <a:ln w="381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3200" strike="noStrike" u="none">
                <a:solidFill>
                  <a:srgbClr val="ffff00"/>
                </a:solidFill>
                <a:effectLst/>
                <a:uFillTx/>
                <a:latin typeface="Comic Sans MS"/>
              </a:rPr>
              <a:t>3- COMPOSANTES METABOLIQUES</a:t>
            </a:r>
            <a:r>
              <a:rPr b="1" lang="fr-FR" sz="3200" strike="noStrike" u="none">
                <a:solidFill>
                  <a:srgbClr val="ffff00"/>
                </a:solidFill>
                <a:effectLst/>
                <a:uFillTx/>
                <a:latin typeface="Comic Sans MS"/>
              </a:rPr>
              <a:t> </a:t>
            </a:r>
            <a:endParaRPr b="1" lang="en-US" sz="32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pic>
        <p:nvPicPr>
          <p:cNvPr id="277" name="Picture 3" descr="Glycogène"/>
          <p:cNvPicPr/>
          <p:nvPr/>
        </p:nvPicPr>
        <p:blipFill>
          <a:blip r:embed="rId1"/>
          <a:stretch/>
        </p:blipFill>
        <p:spPr>
          <a:xfrm>
            <a:off x="2438280" y="304920"/>
            <a:ext cx="2514600" cy="1679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8" name="Picture 4" descr="Glucose"/>
          <p:cNvPicPr/>
          <p:nvPr/>
        </p:nvPicPr>
        <p:blipFill>
          <a:blip r:embed="rId2"/>
          <a:stretch/>
        </p:blipFill>
        <p:spPr>
          <a:xfrm>
            <a:off x="762120" y="304920"/>
            <a:ext cx="1676160" cy="1676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9" name="Picture 5" descr="Acide palmitique"/>
          <p:cNvPicPr/>
          <p:nvPr/>
        </p:nvPicPr>
        <p:blipFill>
          <a:blip r:embed="rId3"/>
          <a:srcRect l="4649" t="22211" r="2324" b="11608"/>
          <a:stretch/>
        </p:blipFill>
        <p:spPr>
          <a:xfrm>
            <a:off x="1447920" y="4876920"/>
            <a:ext cx="3047760" cy="14475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pic>
      <p:pic>
        <p:nvPicPr>
          <p:cNvPr id="280" name="Picture 6" descr="Acide linoléique"/>
          <p:cNvPicPr/>
          <p:nvPr/>
        </p:nvPicPr>
        <p:blipFill>
          <a:blip r:embed="rId4"/>
          <a:srcRect l="0" t="18262" r="0" b="8678"/>
          <a:stretch/>
        </p:blipFill>
        <p:spPr>
          <a:xfrm>
            <a:off x="4800600" y="4876920"/>
            <a:ext cx="2895480" cy="1412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pic>
      <p:pic>
        <p:nvPicPr>
          <p:cNvPr id="281" name="Picture 7" descr="Protéine-basique"/>
          <p:cNvPicPr/>
          <p:nvPr/>
        </p:nvPicPr>
        <p:blipFill>
          <a:blip r:embed="rId5"/>
          <a:stretch/>
        </p:blipFill>
        <p:spPr>
          <a:xfrm>
            <a:off x="6095880" y="228600"/>
            <a:ext cx="2743200" cy="1828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2" name="Text Box 8"/>
          <p:cNvSpPr/>
          <p:nvPr/>
        </p:nvSpPr>
        <p:spPr>
          <a:xfrm>
            <a:off x="915120" y="1981080"/>
            <a:ext cx="32176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Glucides : glucose, glycogène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Box 9"/>
          <p:cNvSpPr/>
          <p:nvPr/>
        </p:nvSpPr>
        <p:spPr>
          <a:xfrm>
            <a:off x="6630480" y="2057400"/>
            <a:ext cx="21250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Protéines basiques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Box 10"/>
          <p:cNvSpPr/>
          <p:nvPr/>
        </p:nvSpPr>
        <p:spPr>
          <a:xfrm>
            <a:off x="1600200" y="6248520"/>
            <a:ext cx="601344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Lipides: acides gras à longues chaînes, saturé et insaturé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</p:spTree>
  </p:cSld>
  <p:transition spd="med">
    <p:split dir="out" orient="vert"/>
  </p:transition>
  <p:timing>
    <p:tnLst>
      <p:par>
        <p:cTn id="1021" dur="indefinite" restart="never" nodeType="tmRoot">
          <p:childTnLst>
            <p:seq>
              <p:cTn id="1022" dur="indefinite" nodeType="mainSeq">
                <p:childTnLst>
                  <p:par>
                    <p:cTn id="1023" nodeType="clickEffect" fill="hold">
                      <p:stCondLst>
                        <p:cond delay="0"/>
                      </p:stCondLst>
                      <p:childTnLst>
                        <p:par>
                          <p:cTn id="102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025" nodeType="afterEffect" fill="hold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 additive="repl">
                                        <p:cTn id="1027"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Text Box 2"/>
          <p:cNvSpPr/>
          <p:nvPr/>
        </p:nvSpPr>
        <p:spPr>
          <a:xfrm>
            <a:off x="1119960" y="3265560"/>
            <a:ext cx="2470320" cy="94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Composantes </a:t>
            </a:r>
            <a:endParaRPr b="1" lang="en-US" sz="2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métaboliques</a:t>
            </a:r>
            <a:endParaRPr b="1" lang="en-US" sz="2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286" name="Line 3"/>
          <p:cNvSpPr/>
          <p:nvPr/>
        </p:nvSpPr>
        <p:spPr>
          <a:xfrm flipV="1">
            <a:off x="3505320" y="2361960"/>
            <a:ext cx="685800" cy="1066680"/>
          </a:xfrm>
          <a:prstGeom prst="line">
            <a:avLst/>
          </a:prstGeom>
          <a:ln w="3816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Box 4"/>
          <p:cNvSpPr/>
          <p:nvPr/>
        </p:nvSpPr>
        <p:spPr>
          <a:xfrm>
            <a:off x="4268880" y="1981080"/>
            <a:ext cx="343296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Hypothèse musculaire</a:t>
            </a:r>
            <a:endParaRPr b="1" lang="en-US" sz="2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288" name="Line 5"/>
          <p:cNvSpPr/>
          <p:nvPr/>
        </p:nvSpPr>
        <p:spPr>
          <a:xfrm flipV="1">
            <a:off x="3505320" y="2971440"/>
            <a:ext cx="609480" cy="609480"/>
          </a:xfrm>
          <a:prstGeom prst="line">
            <a:avLst/>
          </a:prstGeom>
          <a:ln w="3816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Box 6"/>
          <p:cNvSpPr/>
          <p:nvPr/>
        </p:nvSpPr>
        <p:spPr>
          <a:xfrm>
            <a:off x="4267440" y="2743200"/>
            <a:ext cx="35172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Hypothèse glucidiques</a:t>
            </a:r>
            <a:endParaRPr b="1" lang="en-US" sz="2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290" name="Line 7"/>
          <p:cNvSpPr/>
          <p:nvPr/>
        </p:nvSpPr>
        <p:spPr>
          <a:xfrm flipV="1">
            <a:off x="3581280" y="3657240"/>
            <a:ext cx="533520" cy="152280"/>
          </a:xfrm>
          <a:prstGeom prst="line">
            <a:avLst/>
          </a:prstGeom>
          <a:ln w="3816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Box 8"/>
          <p:cNvSpPr/>
          <p:nvPr/>
        </p:nvSpPr>
        <p:spPr>
          <a:xfrm>
            <a:off x="4343760" y="4038480"/>
            <a:ext cx="404244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Hypothèse de la glutamine</a:t>
            </a:r>
            <a:endParaRPr b="1" lang="en-US" sz="2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292" name="Line 9"/>
          <p:cNvSpPr/>
          <p:nvPr/>
        </p:nvSpPr>
        <p:spPr>
          <a:xfrm>
            <a:off x="3581280" y="3962520"/>
            <a:ext cx="609840" cy="228600"/>
          </a:xfrm>
          <a:prstGeom prst="line">
            <a:avLst/>
          </a:prstGeom>
          <a:ln w="3816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Box 10"/>
          <p:cNvSpPr/>
          <p:nvPr/>
        </p:nvSpPr>
        <p:spPr>
          <a:xfrm>
            <a:off x="4268520" y="4800600"/>
            <a:ext cx="35514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Hypothèse immunitaire</a:t>
            </a:r>
            <a:endParaRPr b="1" lang="en-US" sz="2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294" name="Line 11"/>
          <p:cNvSpPr/>
          <p:nvPr/>
        </p:nvSpPr>
        <p:spPr>
          <a:xfrm>
            <a:off x="3505320" y="4114800"/>
            <a:ext cx="685800" cy="1752480"/>
          </a:xfrm>
          <a:prstGeom prst="line">
            <a:avLst/>
          </a:prstGeom>
          <a:ln w="3816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Box 12"/>
          <p:cNvSpPr/>
          <p:nvPr/>
        </p:nvSpPr>
        <p:spPr>
          <a:xfrm>
            <a:off x="4268520" y="5562720"/>
            <a:ext cx="338184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Hypothèse hormonale</a:t>
            </a:r>
            <a:endParaRPr b="1" lang="en-US" sz="2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Box 13"/>
          <p:cNvSpPr/>
          <p:nvPr/>
        </p:nvSpPr>
        <p:spPr>
          <a:xfrm>
            <a:off x="4330080" y="3392640"/>
            <a:ext cx="309384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Hypothèse des AAR</a:t>
            </a:r>
            <a:endParaRPr b="1" lang="en-US" sz="2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297" name="Line 14"/>
          <p:cNvSpPr/>
          <p:nvPr/>
        </p:nvSpPr>
        <p:spPr>
          <a:xfrm>
            <a:off x="3505320" y="4038480"/>
            <a:ext cx="609480" cy="914400"/>
          </a:xfrm>
          <a:prstGeom prst="line">
            <a:avLst/>
          </a:prstGeom>
          <a:ln w="3816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</p:spTree>
  </p:cSld>
  <p:transition spd="med">
    <p:split dir="out" orient="vert"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Text Box 2"/>
          <p:cNvSpPr/>
          <p:nvPr/>
        </p:nvSpPr>
        <p:spPr>
          <a:xfrm>
            <a:off x="2362320" y="1981080"/>
            <a:ext cx="4357440" cy="581760"/>
          </a:xfrm>
          <a:prstGeom prst="rect">
            <a:avLst/>
          </a:prstGeom>
          <a:noFill/>
          <a:ln w="284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fff00"/>
                </a:solidFill>
                <a:effectLst/>
                <a:uFillTx/>
                <a:latin typeface="Comic Sans MS"/>
              </a:rPr>
              <a:t>Hypothèse musculaire</a:t>
            </a:r>
            <a:endParaRPr b="1" lang="en-US" sz="32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pic>
        <p:nvPicPr>
          <p:cNvPr id="299" name="Picture 3" descr="Muscle coupe"/>
          <p:cNvPicPr/>
          <p:nvPr/>
        </p:nvPicPr>
        <p:blipFill>
          <a:blip r:embed="rId1"/>
          <a:stretch/>
        </p:blipFill>
        <p:spPr>
          <a:xfrm>
            <a:off x="6248520" y="4038480"/>
            <a:ext cx="2465280" cy="2514600"/>
          </a:xfrm>
          <a:prstGeom prst="rect">
            <a:avLst/>
          </a:prstGeom>
          <a:noFill/>
          <a:ln w="0">
            <a:noFill/>
          </a:ln>
        </p:spPr>
      </p:pic>
    </p:spTree>
  </p:cSld>
  <p:transition spd="med">
    <p:split dir="out" orient="vert"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99"/>
            </a:gs>
            <a:gs pos="50000">
              <a:srgbClr val="00004a"/>
            </a:gs>
            <a:gs pos="100000">
              <a:srgbClr val="00009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Picture 2" descr="Molécule animée"/>
          <p:cNvPicPr/>
          <p:nvPr/>
        </p:nvPicPr>
        <p:blipFill>
          <a:blip r:embed="rId1"/>
          <a:stretch/>
        </p:blipFill>
        <p:spPr>
          <a:xfrm>
            <a:off x="304920" y="2550960"/>
            <a:ext cx="912600" cy="703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1" name="Picture 3" descr="Molécule animée"/>
          <p:cNvPicPr/>
          <p:nvPr/>
        </p:nvPicPr>
        <p:blipFill>
          <a:blip r:embed="rId2"/>
          <a:stretch/>
        </p:blipFill>
        <p:spPr>
          <a:xfrm>
            <a:off x="6172200" y="2701800"/>
            <a:ext cx="914400" cy="704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2" name="Oval 4"/>
          <p:cNvSpPr/>
          <p:nvPr/>
        </p:nvSpPr>
        <p:spPr>
          <a:xfrm>
            <a:off x="3048120" y="5530680"/>
            <a:ext cx="152280" cy="152640"/>
          </a:xfrm>
          <a:prstGeom prst="ellipse">
            <a:avLst/>
          </a:prstGeom>
          <a:noFill/>
          <a:ln w="38160">
            <a:solidFill>
              <a:srgbClr val="ffcc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303" name="Oval 5"/>
          <p:cNvSpPr/>
          <p:nvPr/>
        </p:nvSpPr>
        <p:spPr>
          <a:xfrm>
            <a:off x="3200400" y="5530680"/>
            <a:ext cx="152280" cy="152640"/>
          </a:xfrm>
          <a:prstGeom prst="ellipse">
            <a:avLst/>
          </a:prstGeom>
          <a:noFill/>
          <a:ln w="38160">
            <a:solidFill>
              <a:srgbClr val="ffcc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304" name="Oval 6"/>
          <p:cNvSpPr/>
          <p:nvPr/>
        </p:nvSpPr>
        <p:spPr>
          <a:xfrm>
            <a:off x="4572000" y="5530680"/>
            <a:ext cx="152280" cy="152640"/>
          </a:xfrm>
          <a:prstGeom prst="ellipse">
            <a:avLst/>
          </a:prstGeom>
          <a:solidFill>
            <a:srgbClr val="ffffff"/>
          </a:solidFill>
          <a:ln w="38160">
            <a:solidFill>
              <a:srgbClr val="ffcc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305" name="Oval 7"/>
          <p:cNvSpPr/>
          <p:nvPr/>
        </p:nvSpPr>
        <p:spPr>
          <a:xfrm>
            <a:off x="4724280" y="5530680"/>
            <a:ext cx="152640" cy="152640"/>
          </a:xfrm>
          <a:prstGeom prst="ellipse">
            <a:avLst/>
          </a:prstGeom>
          <a:solidFill>
            <a:srgbClr val="ffffff"/>
          </a:solidFill>
          <a:ln w="38160">
            <a:solidFill>
              <a:srgbClr val="ffcc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306" name="Oval 8"/>
          <p:cNvSpPr/>
          <p:nvPr/>
        </p:nvSpPr>
        <p:spPr>
          <a:xfrm>
            <a:off x="4419720" y="5530680"/>
            <a:ext cx="152280" cy="152640"/>
          </a:xfrm>
          <a:prstGeom prst="ellipse">
            <a:avLst/>
          </a:prstGeom>
          <a:solidFill>
            <a:srgbClr val="ffffff"/>
          </a:solidFill>
          <a:ln w="38160">
            <a:solidFill>
              <a:srgbClr val="ffcc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307" name="Freeform 9"/>
          <p:cNvSpPr/>
          <p:nvPr/>
        </p:nvSpPr>
        <p:spPr>
          <a:xfrm>
            <a:off x="2362320" y="5423040"/>
            <a:ext cx="3504960" cy="260280"/>
          </a:xfrm>
          <a:custGeom>
            <a:avLst/>
            <a:gdLst>
              <a:gd name="GluePoint1X" fmla="*/ 0 w 2521"/>
              <a:gd name="GluePoint1Y" fmla="*/ 2147483647 h 164"/>
              <a:gd name="GluePoint2X" fmla="*/ 2147483647 w 2521"/>
              <a:gd name="GluePoint2Y" fmla="*/ 2147483647 h 164"/>
              <a:gd name="GluePoint3X" fmla="*/ 2147483647 w 2521"/>
              <a:gd name="GluePoint3Y" fmla="*/ 2147483647 h 164"/>
              <a:gd name="GluePoint4X" fmla="*/ 2147483647 w 2521"/>
              <a:gd name="GluePoint4Y" fmla="*/ 2147483647 h 164"/>
              <a:gd name="GluePoint5X" fmla="*/ 2147483647 w 2521"/>
              <a:gd name="GluePoint5Y" fmla="*/ 2147483647 h 164"/>
              <a:gd name="GluePoint6X" fmla="*/ 2147483647 w 2521"/>
              <a:gd name="GluePoint6Y" fmla="*/ 2147483647 h 164"/>
              <a:gd name="GluePoint7X" fmla="*/ 2147483647 w 2521"/>
              <a:gd name="GluePoint7Y" fmla="*/ 2147483647 h 164"/>
              <a:gd name="GluePoint8X" fmla="*/ 2147483647 w 2521"/>
              <a:gd name="GluePoint8Y" fmla="*/ 2147483647 h 164"/>
              <a:gd name="GluePoint9X" fmla="*/ 2147483647 w 2521"/>
              <a:gd name="GluePoint9Y" fmla="*/ 2147483647 h 164"/>
              <a:gd name="GluePoint10X" fmla="*/ 2147483647 w 2521"/>
              <a:gd name="GluePoint10Y" fmla="*/ 2147483647 h 164"/>
              <a:gd name="GluePoint11X" fmla="*/ 2147483647 w 2521"/>
              <a:gd name="GluePoint11Y" fmla="*/ 2147483647 h 164"/>
              <a:gd name="GluePoint12X" fmla="*/ 2147483647 w 2521"/>
              <a:gd name="GluePoint12Y" fmla="*/ 2147483647 h 164"/>
              <a:gd name="GluePoint13X" fmla="*/ 2147483647 w 2521"/>
              <a:gd name="GluePoint13Y" fmla="*/ 2147483647 h 16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</a:cxnLst>
            <a:rect l="l" t="t" r="r" b="b"/>
            <a:pathLst>
              <a:path w="2521" h="164">
                <a:moveTo>
                  <a:pt x="0" y="111"/>
                </a:moveTo>
                <a:cubicBezTo>
                  <a:pt x="31" y="95"/>
                  <a:pt x="113" y="28"/>
                  <a:pt x="180" y="14"/>
                </a:cubicBezTo>
                <a:cubicBezTo>
                  <a:pt x="247" y="0"/>
                  <a:pt x="331" y="8"/>
                  <a:pt x="404" y="29"/>
                </a:cubicBezTo>
                <a:cubicBezTo>
                  <a:pt x="477" y="50"/>
                  <a:pt x="544" y="126"/>
                  <a:pt x="621" y="141"/>
                </a:cubicBezTo>
                <a:cubicBezTo>
                  <a:pt x="698" y="156"/>
                  <a:pt x="796" y="137"/>
                  <a:pt x="869" y="117"/>
                </a:cubicBezTo>
                <a:cubicBezTo>
                  <a:pt x="942" y="97"/>
                  <a:pt x="997" y="37"/>
                  <a:pt x="1061" y="21"/>
                </a:cubicBezTo>
                <a:cubicBezTo>
                  <a:pt x="1125" y="5"/>
                  <a:pt x="1189" y="6"/>
                  <a:pt x="1253" y="21"/>
                </a:cubicBezTo>
                <a:cubicBezTo>
                  <a:pt x="1317" y="36"/>
                  <a:pt x="1377" y="91"/>
                  <a:pt x="1444" y="111"/>
                </a:cubicBezTo>
                <a:cubicBezTo>
                  <a:pt x="1511" y="131"/>
                  <a:pt x="1581" y="153"/>
                  <a:pt x="1653" y="141"/>
                </a:cubicBezTo>
                <a:cubicBezTo>
                  <a:pt x="1725" y="129"/>
                  <a:pt x="1801" y="57"/>
                  <a:pt x="1878" y="37"/>
                </a:cubicBezTo>
                <a:cubicBezTo>
                  <a:pt x="1955" y="17"/>
                  <a:pt x="2045" y="9"/>
                  <a:pt x="2117" y="22"/>
                </a:cubicBezTo>
                <a:cubicBezTo>
                  <a:pt x="2189" y="35"/>
                  <a:pt x="2242" y="93"/>
                  <a:pt x="2309" y="117"/>
                </a:cubicBezTo>
                <a:cubicBezTo>
                  <a:pt x="2376" y="141"/>
                  <a:pt x="2477" y="154"/>
                  <a:pt x="2521" y="164"/>
                </a:cubicBezTo>
              </a:path>
            </a:pathLst>
          </a:custGeom>
          <a:noFill/>
          <a:ln w="76320">
            <a:solidFill>
              <a:srgbClr val="ff66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308" name="Oval 10"/>
          <p:cNvSpPr/>
          <p:nvPr/>
        </p:nvSpPr>
        <p:spPr>
          <a:xfrm>
            <a:off x="4267080" y="1066680"/>
            <a:ext cx="152640" cy="15264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309" name="Freeform 11"/>
          <p:cNvSpPr/>
          <p:nvPr/>
        </p:nvSpPr>
        <p:spPr>
          <a:xfrm>
            <a:off x="4268880" y="1219320"/>
            <a:ext cx="7452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1024741373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310" name="Oval 12"/>
          <p:cNvSpPr/>
          <p:nvPr/>
        </p:nvSpPr>
        <p:spPr>
          <a:xfrm>
            <a:off x="4419720" y="1066680"/>
            <a:ext cx="152280" cy="15264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311" name="Freeform 13"/>
          <p:cNvSpPr/>
          <p:nvPr/>
        </p:nvSpPr>
        <p:spPr>
          <a:xfrm>
            <a:off x="4421160" y="1219320"/>
            <a:ext cx="7452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1024741373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312" name="Oval 14"/>
          <p:cNvSpPr/>
          <p:nvPr/>
        </p:nvSpPr>
        <p:spPr>
          <a:xfrm>
            <a:off x="4572000" y="1066680"/>
            <a:ext cx="152280" cy="15264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313" name="Freeform 15"/>
          <p:cNvSpPr/>
          <p:nvPr/>
        </p:nvSpPr>
        <p:spPr>
          <a:xfrm>
            <a:off x="4573440" y="1219320"/>
            <a:ext cx="7488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1024741373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314" name="Oval 16"/>
          <p:cNvSpPr/>
          <p:nvPr/>
        </p:nvSpPr>
        <p:spPr>
          <a:xfrm>
            <a:off x="4724280" y="1066680"/>
            <a:ext cx="152640" cy="15264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315" name="Freeform 17"/>
          <p:cNvSpPr/>
          <p:nvPr/>
        </p:nvSpPr>
        <p:spPr>
          <a:xfrm>
            <a:off x="4726080" y="1219320"/>
            <a:ext cx="7452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1024741373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316" name="Oval 18"/>
          <p:cNvSpPr/>
          <p:nvPr/>
        </p:nvSpPr>
        <p:spPr>
          <a:xfrm>
            <a:off x="4876920" y="1066680"/>
            <a:ext cx="152280" cy="15264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317" name="Freeform 19"/>
          <p:cNvSpPr/>
          <p:nvPr/>
        </p:nvSpPr>
        <p:spPr>
          <a:xfrm>
            <a:off x="4878360" y="1219320"/>
            <a:ext cx="7452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1024741373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318" name="Oval 20"/>
          <p:cNvSpPr/>
          <p:nvPr/>
        </p:nvSpPr>
        <p:spPr>
          <a:xfrm>
            <a:off x="5029200" y="1066680"/>
            <a:ext cx="152280" cy="15264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319" name="Freeform 21"/>
          <p:cNvSpPr/>
          <p:nvPr/>
        </p:nvSpPr>
        <p:spPr>
          <a:xfrm>
            <a:off x="5030640" y="1219320"/>
            <a:ext cx="7488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1024741373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320" name="Oval 22"/>
          <p:cNvSpPr/>
          <p:nvPr/>
        </p:nvSpPr>
        <p:spPr>
          <a:xfrm>
            <a:off x="5181480" y="1066680"/>
            <a:ext cx="152640" cy="15264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321" name="Freeform 23"/>
          <p:cNvSpPr/>
          <p:nvPr/>
        </p:nvSpPr>
        <p:spPr>
          <a:xfrm>
            <a:off x="5183280" y="1219320"/>
            <a:ext cx="7452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1024741373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322" name="Oval 24"/>
          <p:cNvSpPr/>
          <p:nvPr/>
        </p:nvSpPr>
        <p:spPr>
          <a:xfrm>
            <a:off x="5334120" y="1066680"/>
            <a:ext cx="152280" cy="15264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323" name="Freeform 25"/>
          <p:cNvSpPr/>
          <p:nvPr/>
        </p:nvSpPr>
        <p:spPr>
          <a:xfrm>
            <a:off x="5335560" y="1219320"/>
            <a:ext cx="7452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1024741373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324" name="Oval 26"/>
          <p:cNvSpPr/>
          <p:nvPr/>
        </p:nvSpPr>
        <p:spPr>
          <a:xfrm>
            <a:off x="5943600" y="1066680"/>
            <a:ext cx="152280" cy="15264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325" name="Freeform 27"/>
          <p:cNvSpPr/>
          <p:nvPr/>
        </p:nvSpPr>
        <p:spPr>
          <a:xfrm>
            <a:off x="5945040" y="1219320"/>
            <a:ext cx="7488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1024741373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326" name="Oval 28"/>
          <p:cNvSpPr/>
          <p:nvPr/>
        </p:nvSpPr>
        <p:spPr>
          <a:xfrm>
            <a:off x="6095880" y="1066680"/>
            <a:ext cx="152640" cy="15264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327" name="Freeform 29"/>
          <p:cNvSpPr/>
          <p:nvPr/>
        </p:nvSpPr>
        <p:spPr>
          <a:xfrm>
            <a:off x="6097680" y="1219320"/>
            <a:ext cx="7452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1024741373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328" name="Oval 30"/>
          <p:cNvSpPr/>
          <p:nvPr/>
        </p:nvSpPr>
        <p:spPr>
          <a:xfrm>
            <a:off x="6248520" y="1066680"/>
            <a:ext cx="152280" cy="15264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329" name="Freeform 31"/>
          <p:cNvSpPr/>
          <p:nvPr/>
        </p:nvSpPr>
        <p:spPr>
          <a:xfrm>
            <a:off x="6249960" y="1219320"/>
            <a:ext cx="7452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1024741373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330" name="Oval 32"/>
          <p:cNvSpPr/>
          <p:nvPr/>
        </p:nvSpPr>
        <p:spPr>
          <a:xfrm>
            <a:off x="6400800" y="1066680"/>
            <a:ext cx="152280" cy="15264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331" name="Freeform 33"/>
          <p:cNvSpPr/>
          <p:nvPr/>
        </p:nvSpPr>
        <p:spPr>
          <a:xfrm>
            <a:off x="6402240" y="1219320"/>
            <a:ext cx="7488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1024741373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332" name="Oval 34"/>
          <p:cNvSpPr/>
          <p:nvPr/>
        </p:nvSpPr>
        <p:spPr>
          <a:xfrm>
            <a:off x="6553080" y="1066680"/>
            <a:ext cx="152640" cy="15264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333" name="Freeform 35"/>
          <p:cNvSpPr/>
          <p:nvPr/>
        </p:nvSpPr>
        <p:spPr>
          <a:xfrm>
            <a:off x="6554880" y="1219320"/>
            <a:ext cx="7452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1024741373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334" name="Oval 36"/>
          <p:cNvSpPr/>
          <p:nvPr/>
        </p:nvSpPr>
        <p:spPr>
          <a:xfrm>
            <a:off x="6705720" y="1066680"/>
            <a:ext cx="152280" cy="15264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335" name="Freeform 37"/>
          <p:cNvSpPr/>
          <p:nvPr/>
        </p:nvSpPr>
        <p:spPr>
          <a:xfrm>
            <a:off x="6707160" y="1219320"/>
            <a:ext cx="7452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1024741373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336" name="Oval 38"/>
          <p:cNvSpPr/>
          <p:nvPr/>
        </p:nvSpPr>
        <p:spPr>
          <a:xfrm>
            <a:off x="6858000" y="1066680"/>
            <a:ext cx="152280" cy="15264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337" name="Freeform 39"/>
          <p:cNvSpPr/>
          <p:nvPr/>
        </p:nvSpPr>
        <p:spPr>
          <a:xfrm>
            <a:off x="6858000" y="1219320"/>
            <a:ext cx="7632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1092154005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338" name="Oval 40"/>
          <p:cNvSpPr/>
          <p:nvPr/>
        </p:nvSpPr>
        <p:spPr>
          <a:xfrm>
            <a:off x="1752480" y="1066680"/>
            <a:ext cx="152640" cy="15264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339" name="Freeform 41"/>
          <p:cNvSpPr/>
          <p:nvPr/>
        </p:nvSpPr>
        <p:spPr>
          <a:xfrm>
            <a:off x="1754280" y="1219320"/>
            <a:ext cx="7452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1024741373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340" name="Oval 42"/>
          <p:cNvSpPr/>
          <p:nvPr/>
        </p:nvSpPr>
        <p:spPr>
          <a:xfrm>
            <a:off x="1905120" y="1066680"/>
            <a:ext cx="152280" cy="15264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341" name="Freeform 43"/>
          <p:cNvSpPr/>
          <p:nvPr/>
        </p:nvSpPr>
        <p:spPr>
          <a:xfrm>
            <a:off x="1906560" y="1219320"/>
            <a:ext cx="7452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1024741373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342" name="Oval 44"/>
          <p:cNvSpPr/>
          <p:nvPr/>
        </p:nvSpPr>
        <p:spPr>
          <a:xfrm>
            <a:off x="2057400" y="1066680"/>
            <a:ext cx="152280" cy="15264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343" name="Freeform 45"/>
          <p:cNvSpPr/>
          <p:nvPr/>
        </p:nvSpPr>
        <p:spPr>
          <a:xfrm>
            <a:off x="2058840" y="1219320"/>
            <a:ext cx="7488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1024741373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344" name="Oval 46"/>
          <p:cNvSpPr/>
          <p:nvPr/>
        </p:nvSpPr>
        <p:spPr>
          <a:xfrm>
            <a:off x="2209680" y="1066680"/>
            <a:ext cx="152640" cy="15264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345" name="Freeform 47"/>
          <p:cNvSpPr/>
          <p:nvPr/>
        </p:nvSpPr>
        <p:spPr>
          <a:xfrm>
            <a:off x="2211480" y="1219320"/>
            <a:ext cx="7452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1024741373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346" name="Oval 48"/>
          <p:cNvSpPr/>
          <p:nvPr/>
        </p:nvSpPr>
        <p:spPr>
          <a:xfrm>
            <a:off x="2362320" y="1066680"/>
            <a:ext cx="152280" cy="15264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347" name="Freeform 49"/>
          <p:cNvSpPr/>
          <p:nvPr/>
        </p:nvSpPr>
        <p:spPr>
          <a:xfrm>
            <a:off x="2363760" y="1219320"/>
            <a:ext cx="7452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1024741373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348" name="Oval 50"/>
          <p:cNvSpPr/>
          <p:nvPr/>
        </p:nvSpPr>
        <p:spPr>
          <a:xfrm>
            <a:off x="2514600" y="1066680"/>
            <a:ext cx="152280" cy="15264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349" name="Freeform 51"/>
          <p:cNvSpPr/>
          <p:nvPr/>
        </p:nvSpPr>
        <p:spPr>
          <a:xfrm>
            <a:off x="2516040" y="1219320"/>
            <a:ext cx="7488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1024741373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350" name="Oval 52"/>
          <p:cNvSpPr/>
          <p:nvPr/>
        </p:nvSpPr>
        <p:spPr>
          <a:xfrm>
            <a:off x="2666880" y="1066680"/>
            <a:ext cx="152640" cy="15264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351" name="Freeform 53"/>
          <p:cNvSpPr/>
          <p:nvPr/>
        </p:nvSpPr>
        <p:spPr>
          <a:xfrm>
            <a:off x="2666880" y="1219320"/>
            <a:ext cx="7632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1092154005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352" name="Oval 54"/>
          <p:cNvSpPr/>
          <p:nvPr/>
        </p:nvSpPr>
        <p:spPr>
          <a:xfrm>
            <a:off x="4267080" y="2057400"/>
            <a:ext cx="152640" cy="15228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353" name="Freeform 55"/>
          <p:cNvSpPr/>
          <p:nvPr/>
        </p:nvSpPr>
        <p:spPr>
          <a:xfrm>
            <a:off x="4268880" y="1676520"/>
            <a:ext cx="7452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1024741373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354" name="Oval 56"/>
          <p:cNvSpPr/>
          <p:nvPr/>
        </p:nvSpPr>
        <p:spPr>
          <a:xfrm>
            <a:off x="4419720" y="2057400"/>
            <a:ext cx="152280" cy="15228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355" name="Freeform 57"/>
          <p:cNvSpPr/>
          <p:nvPr/>
        </p:nvSpPr>
        <p:spPr>
          <a:xfrm>
            <a:off x="4421160" y="1676520"/>
            <a:ext cx="7452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1024741373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356" name="Oval 58"/>
          <p:cNvSpPr/>
          <p:nvPr/>
        </p:nvSpPr>
        <p:spPr>
          <a:xfrm>
            <a:off x="4572000" y="2057400"/>
            <a:ext cx="152280" cy="15228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357" name="Freeform 59"/>
          <p:cNvSpPr/>
          <p:nvPr/>
        </p:nvSpPr>
        <p:spPr>
          <a:xfrm>
            <a:off x="4573440" y="1676520"/>
            <a:ext cx="7488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1024741373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358" name="Oval 60"/>
          <p:cNvSpPr/>
          <p:nvPr/>
        </p:nvSpPr>
        <p:spPr>
          <a:xfrm>
            <a:off x="4724280" y="2057400"/>
            <a:ext cx="152640" cy="15228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359" name="Freeform 61"/>
          <p:cNvSpPr/>
          <p:nvPr/>
        </p:nvSpPr>
        <p:spPr>
          <a:xfrm>
            <a:off x="4726080" y="1676520"/>
            <a:ext cx="7452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1024741373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360" name="Oval 62"/>
          <p:cNvSpPr/>
          <p:nvPr/>
        </p:nvSpPr>
        <p:spPr>
          <a:xfrm>
            <a:off x="4876920" y="2057400"/>
            <a:ext cx="152280" cy="15228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361" name="Freeform 63"/>
          <p:cNvSpPr/>
          <p:nvPr/>
        </p:nvSpPr>
        <p:spPr>
          <a:xfrm>
            <a:off x="4878360" y="1676520"/>
            <a:ext cx="7452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1024741373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362" name="Oval 64"/>
          <p:cNvSpPr/>
          <p:nvPr/>
        </p:nvSpPr>
        <p:spPr>
          <a:xfrm>
            <a:off x="5029200" y="2057400"/>
            <a:ext cx="152280" cy="15228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363" name="Freeform 65"/>
          <p:cNvSpPr/>
          <p:nvPr/>
        </p:nvSpPr>
        <p:spPr>
          <a:xfrm>
            <a:off x="5030640" y="1676520"/>
            <a:ext cx="7488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1024741373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364" name="Oval 66"/>
          <p:cNvSpPr/>
          <p:nvPr/>
        </p:nvSpPr>
        <p:spPr>
          <a:xfrm>
            <a:off x="5181480" y="2057400"/>
            <a:ext cx="152640" cy="15228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365" name="Freeform 67"/>
          <p:cNvSpPr/>
          <p:nvPr/>
        </p:nvSpPr>
        <p:spPr>
          <a:xfrm>
            <a:off x="5183280" y="1676520"/>
            <a:ext cx="7452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1024741373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366" name="Oval 68"/>
          <p:cNvSpPr/>
          <p:nvPr/>
        </p:nvSpPr>
        <p:spPr>
          <a:xfrm>
            <a:off x="5334120" y="2057400"/>
            <a:ext cx="152280" cy="15228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367" name="Freeform 69"/>
          <p:cNvSpPr/>
          <p:nvPr/>
        </p:nvSpPr>
        <p:spPr>
          <a:xfrm>
            <a:off x="5335560" y="1676520"/>
            <a:ext cx="7452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1024741373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368" name="Oval 70"/>
          <p:cNvSpPr/>
          <p:nvPr/>
        </p:nvSpPr>
        <p:spPr>
          <a:xfrm>
            <a:off x="5943600" y="2057400"/>
            <a:ext cx="152280" cy="15228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369" name="Freeform 71"/>
          <p:cNvSpPr/>
          <p:nvPr/>
        </p:nvSpPr>
        <p:spPr>
          <a:xfrm>
            <a:off x="5945040" y="1676520"/>
            <a:ext cx="7488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1024741373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370" name="Oval 72"/>
          <p:cNvSpPr/>
          <p:nvPr/>
        </p:nvSpPr>
        <p:spPr>
          <a:xfrm>
            <a:off x="6095880" y="2057400"/>
            <a:ext cx="152640" cy="15228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371" name="Freeform 73"/>
          <p:cNvSpPr/>
          <p:nvPr/>
        </p:nvSpPr>
        <p:spPr>
          <a:xfrm>
            <a:off x="6097680" y="1676520"/>
            <a:ext cx="7452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1024741373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372" name="Oval 74"/>
          <p:cNvSpPr/>
          <p:nvPr/>
        </p:nvSpPr>
        <p:spPr>
          <a:xfrm>
            <a:off x="6248520" y="2057400"/>
            <a:ext cx="152280" cy="15228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373" name="Freeform 75"/>
          <p:cNvSpPr/>
          <p:nvPr/>
        </p:nvSpPr>
        <p:spPr>
          <a:xfrm>
            <a:off x="6249960" y="1676520"/>
            <a:ext cx="7452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1024741373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374" name="Oval 76"/>
          <p:cNvSpPr/>
          <p:nvPr/>
        </p:nvSpPr>
        <p:spPr>
          <a:xfrm>
            <a:off x="6400800" y="2057400"/>
            <a:ext cx="152280" cy="15228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375" name="Freeform 77"/>
          <p:cNvSpPr/>
          <p:nvPr/>
        </p:nvSpPr>
        <p:spPr>
          <a:xfrm>
            <a:off x="6402240" y="1676520"/>
            <a:ext cx="7488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1024741373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376" name="Oval 78"/>
          <p:cNvSpPr/>
          <p:nvPr/>
        </p:nvSpPr>
        <p:spPr>
          <a:xfrm>
            <a:off x="6553080" y="2057400"/>
            <a:ext cx="152640" cy="15228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377" name="Freeform 79"/>
          <p:cNvSpPr/>
          <p:nvPr/>
        </p:nvSpPr>
        <p:spPr>
          <a:xfrm>
            <a:off x="6554880" y="1676520"/>
            <a:ext cx="7452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1024741373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378" name="Oval 80"/>
          <p:cNvSpPr/>
          <p:nvPr/>
        </p:nvSpPr>
        <p:spPr>
          <a:xfrm>
            <a:off x="6705720" y="2057400"/>
            <a:ext cx="152280" cy="15228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379" name="Freeform 81"/>
          <p:cNvSpPr/>
          <p:nvPr/>
        </p:nvSpPr>
        <p:spPr>
          <a:xfrm>
            <a:off x="6707160" y="1676520"/>
            <a:ext cx="7452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1024741373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380" name="Oval 82"/>
          <p:cNvSpPr/>
          <p:nvPr/>
        </p:nvSpPr>
        <p:spPr>
          <a:xfrm>
            <a:off x="6858000" y="2057400"/>
            <a:ext cx="152280" cy="15228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381" name="Freeform 83"/>
          <p:cNvSpPr/>
          <p:nvPr/>
        </p:nvSpPr>
        <p:spPr>
          <a:xfrm>
            <a:off x="6858000" y="1676520"/>
            <a:ext cx="7632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1092154005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382" name="Oval 84"/>
          <p:cNvSpPr/>
          <p:nvPr/>
        </p:nvSpPr>
        <p:spPr>
          <a:xfrm>
            <a:off x="1752480" y="2057400"/>
            <a:ext cx="152640" cy="15228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383" name="Freeform 85"/>
          <p:cNvSpPr/>
          <p:nvPr/>
        </p:nvSpPr>
        <p:spPr>
          <a:xfrm>
            <a:off x="1754280" y="1676520"/>
            <a:ext cx="7452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1024741373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384" name="Oval 86"/>
          <p:cNvSpPr/>
          <p:nvPr/>
        </p:nvSpPr>
        <p:spPr>
          <a:xfrm>
            <a:off x="1905120" y="2057400"/>
            <a:ext cx="152280" cy="15228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385" name="Freeform 87"/>
          <p:cNvSpPr/>
          <p:nvPr/>
        </p:nvSpPr>
        <p:spPr>
          <a:xfrm>
            <a:off x="1906560" y="1676520"/>
            <a:ext cx="7452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1024741373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386" name="Oval 88"/>
          <p:cNvSpPr/>
          <p:nvPr/>
        </p:nvSpPr>
        <p:spPr>
          <a:xfrm>
            <a:off x="2057400" y="2057400"/>
            <a:ext cx="152280" cy="15228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387" name="Freeform 89"/>
          <p:cNvSpPr/>
          <p:nvPr/>
        </p:nvSpPr>
        <p:spPr>
          <a:xfrm>
            <a:off x="2058840" y="1676520"/>
            <a:ext cx="7488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1024741373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388" name="Oval 90"/>
          <p:cNvSpPr/>
          <p:nvPr/>
        </p:nvSpPr>
        <p:spPr>
          <a:xfrm>
            <a:off x="2209680" y="2057400"/>
            <a:ext cx="152640" cy="15228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389" name="Freeform 91"/>
          <p:cNvSpPr/>
          <p:nvPr/>
        </p:nvSpPr>
        <p:spPr>
          <a:xfrm>
            <a:off x="2211480" y="1676520"/>
            <a:ext cx="7452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1024741373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390" name="Oval 92"/>
          <p:cNvSpPr/>
          <p:nvPr/>
        </p:nvSpPr>
        <p:spPr>
          <a:xfrm>
            <a:off x="2362320" y="2057400"/>
            <a:ext cx="152280" cy="15228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391" name="Freeform 93"/>
          <p:cNvSpPr/>
          <p:nvPr/>
        </p:nvSpPr>
        <p:spPr>
          <a:xfrm>
            <a:off x="2363760" y="1676520"/>
            <a:ext cx="7452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1024741373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392" name="Oval 94"/>
          <p:cNvSpPr/>
          <p:nvPr/>
        </p:nvSpPr>
        <p:spPr>
          <a:xfrm>
            <a:off x="2514600" y="2057400"/>
            <a:ext cx="152280" cy="15228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393" name="Freeform 95"/>
          <p:cNvSpPr/>
          <p:nvPr/>
        </p:nvSpPr>
        <p:spPr>
          <a:xfrm>
            <a:off x="2516040" y="1676520"/>
            <a:ext cx="7488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1024741373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394" name="Oval 96"/>
          <p:cNvSpPr/>
          <p:nvPr/>
        </p:nvSpPr>
        <p:spPr>
          <a:xfrm>
            <a:off x="2666880" y="2057400"/>
            <a:ext cx="152640" cy="15228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395" name="Freeform 97"/>
          <p:cNvSpPr/>
          <p:nvPr/>
        </p:nvSpPr>
        <p:spPr>
          <a:xfrm>
            <a:off x="2666880" y="1676520"/>
            <a:ext cx="7632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1092154005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396" name="Freeform 98"/>
          <p:cNvSpPr/>
          <p:nvPr/>
        </p:nvSpPr>
        <p:spPr>
          <a:xfrm>
            <a:off x="5410080" y="838080"/>
            <a:ext cx="596880" cy="1600200"/>
          </a:xfrm>
          <a:custGeom>
            <a:avLst/>
            <a:gdLst>
              <a:gd name="GluePoint1X" fmla="*/ 2147483647 w 560"/>
              <a:gd name="GluePoint1Y" fmla="*/ 2147483647 h 632"/>
              <a:gd name="GluePoint2X" fmla="*/ 2147483647 w 560"/>
              <a:gd name="GluePoint2Y" fmla="*/ 2147483647 h 632"/>
              <a:gd name="GluePoint3X" fmla="*/ 2147483647 w 560"/>
              <a:gd name="GluePoint3Y" fmla="*/ 2147483647 h 632"/>
              <a:gd name="GluePoint4X" fmla="*/ 2147483647 w 560"/>
              <a:gd name="GluePoint4Y" fmla="*/ 2147483647 h 632"/>
              <a:gd name="GluePoint5X" fmla="*/ 2147483647 w 560"/>
              <a:gd name="GluePoint5Y" fmla="*/ 2147483647 h 632"/>
              <a:gd name="GluePoint6X" fmla="*/ 2147483647 w 560"/>
              <a:gd name="GluePoint6Y" fmla="*/ 2147483647 h 632"/>
              <a:gd name="GluePoint7X" fmla="*/ 2147483647 w 560"/>
              <a:gd name="GluePoint7Y" fmla="*/ 2147483647 h 632"/>
              <a:gd name="GluePoint8X" fmla="*/ 2147483647 w 560"/>
              <a:gd name="GluePoint8Y" fmla="*/ 2147483647 h 632"/>
              <a:gd name="GluePoint9X" fmla="*/ 2147483647 w 560"/>
              <a:gd name="GluePoint9Y" fmla="*/ 2147483647 h 632"/>
              <a:gd name="GluePoint10X" fmla="*/ 2147483647 w 560"/>
              <a:gd name="GluePoint10Y" fmla="*/ 2147483647 h 632"/>
              <a:gd name="GluePoint11X" fmla="*/ 2147483647 w 560"/>
              <a:gd name="GluePoint11Y" fmla="*/ 2147483647 h 632"/>
              <a:gd name="GluePoint12X" fmla="*/ 2147483647 w 560"/>
              <a:gd name="GluePoint12Y" fmla="*/ 2147483647 h 632"/>
              <a:gd name="GluePoint13X" fmla="*/ 2147483647 w 560"/>
              <a:gd name="GluePoint13Y" fmla="*/ 2147483647 h 632"/>
              <a:gd name="GluePoint14X" fmla="*/ 2147483647 w 560"/>
              <a:gd name="GluePoint14Y" fmla="*/ 2147483647 h 632"/>
              <a:gd name="GluePoint15X" fmla="*/ 2147483647 w 560"/>
              <a:gd name="GluePoint15Y" fmla="*/ 2147483647 h 632"/>
              <a:gd name="GluePoint16X" fmla="*/ 2147483647 w 560"/>
              <a:gd name="GluePoint16Y" fmla="*/ 2147483647 h 63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</a:cxnLst>
            <a:rect l="l" t="t" r="r" b="b"/>
            <a:pathLst>
              <a:path w="560" h="632">
                <a:moveTo>
                  <a:pt x="136" y="8"/>
                </a:moveTo>
                <a:cubicBezTo>
                  <a:pt x="168" y="8"/>
                  <a:pt x="184" y="56"/>
                  <a:pt x="232" y="56"/>
                </a:cubicBezTo>
                <a:cubicBezTo>
                  <a:pt x="280" y="56"/>
                  <a:pt x="376" y="0"/>
                  <a:pt x="424" y="8"/>
                </a:cubicBezTo>
                <a:cubicBezTo>
                  <a:pt x="472" y="16"/>
                  <a:pt x="520" y="64"/>
                  <a:pt x="520" y="104"/>
                </a:cubicBezTo>
                <a:cubicBezTo>
                  <a:pt x="520" y="144"/>
                  <a:pt x="440" y="192"/>
                  <a:pt x="424" y="248"/>
                </a:cubicBezTo>
                <a:cubicBezTo>
                  <a:pt x="408" y="304"/>
                  <a:pt x="408" y="400"/>
                  <a:pt x="424" y="440"/>
                </a:cubicBezTo>
                <a:cubicBezTo>
                  <a:pt x="440" y="480"/>
                  <a:pt x="504" y="464"/>
                  <a:pt x="520" y="488"/>
                </a:cubicBezTo>
                <a:cubicBezTo>
                  <a:pt x="536" y="512"/>
                  <a:pt x="560" y="560"/>
                  <a:pt x="520" y="584"/>
                </a:cubicBezTo>
                <a:cubicBezTo>
                  <a:pt x="480" y="608"/>
                  <a:pt x="360" y="632"/>
                  <a:pt x="280" y="632"/>
                </a:cubicBezTo>
                <a:cubicBezTo>
                  <a:pt x="200" y="632"/>
                  <a:pt x="80" y="608"/>
                  <a:pt x="40" y="584"/>
                </a:cubicBezTo>
                <a:cubicBezTo>
                  <a:pt x="0" y="560"/>
                  <a:pt x="24" y="512"/>
                  <a:pt x="40" y="488"/>
                </a:cubicBezTo>
                <a:cubicBezTo>
                  <a:pt x="56" y="464"/>
                  <a:pt x="120" y="480"/>
                  <a:pt x="136" y="440"/>
                </a:cubicBezTo>
                <a:cubicBezTo>
                  <a:pt x="152" y="400"/>
                  <a:pt x="152" y="296"/>
                  <a:pt x="136" y="248"/>
                </a:cubicBezTo>
                <a:cubicBezTo>
                  <a:pt x="120" y="200"/>
                  <a:pt x="56" y="184"/>
                  <a:pt x="40" y="152"/>
                </a:cubicBezTo>
                <a:cubicBezTo>
                  <a:pt x="24" y="120"/>
                  <a:pt x="24" y="80"/>
                  <a:pt x="40" y="56"/>
                </a:cubicBezTo>
                <a:cubicBezTo>
                  <a:pt x="56" y="32"/>
                  <a:pt x="104" y="8"/>
                  <a:pt x="136" y="8"/>
                </a:cubicBezTo>
                <a:close/>
              </a:path>
            </a:pathLst>
          </a:custGeom>
          <a:solidFill>
            <a:srgbClr val="969696"/>
          </a:solidFill>
          <a:ln w="3816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397" name="Freeform 99"/>
          <p:cNvSpPr/>
          <p:nvPr/>
        </p:nvSpPr>
        <p:spPr>
          <a:xfrm>
            <a:off x="5670720" y="609480"/>
            <a:ext cx="272880" cy="2286000"/>
          </a:xfrm>
          <a:custGeom>
            <a:avLst/>
            <a:gdLst>
              <a:gd name="GluePoint1X" fmla="*/ 2147483647 w 316"/>
              <a:gd name="GluePoint1Y" fmla="*/ 2147483647 h 1595"/>
              <a:gd name="GluePoint2X" fmla="*/ 2147483647 w 316"/>
              <a:gd name="GluePoint2Y" fmla="*/ 2147483647 h 1595"/>
              <a:gd name="GluePoint3X" fmla="*/ 2147483647 w 316"/>
              <a:gd name="GluePoint3Y" fmla="*/ 2147483647 h 1595"/>
              <a:gd name="GluePoint4X" fmla="*/ 2147483647 w 316"/>
              <a:gd name="GluePoint4Y" fmla="*/ 2147483647 h 1595"/>
              <a:gd name="GluePoint5X" fmla="*/ 2147483647 w 316"/>
              <a:gd name="GluePoint5Y" fmla="*/ 2147483647 h 1595"/>
              <a:gd name="GluePoint6X" fmla="*/ 2147483647 w 316"/>
              <a:gd name="GluePoint6Y" fmla="*/ 2147483647 h 1595"/>
              <a:gd name="GluePoint7X" fmla="*/ 2147483647 w 316"/>
              <a:gd name="GluePoint7Y" fmla="*/ 2147483647 h 1595"/>
              <a:gd name="GluePoint8X" fmla="*/ 2147483647 w 316"/>
              <a:gd name="GluePoint8Y" fmla="*/ 2147483647 h 1595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</a:cxnLst>
            <a:rect l="l" t="t" r="r" b="b"/>
            <a:pathLst>
              <a:path w="316" h="1595">
                <a:moveTo>
                  <a:pt x="316" y="9"/>
                </a:moveTo>
                <a:cubicBezTo>
                  <a:pt x="287" y="9"/>
                  <a:pt x="192" y="0"/>
                  <a:pt x="145" y="8"/>
                </a:cubicBezTo>
                <a:cubicBezTo>
                  <a:pt x="98" y="16"/>
                  <a:pt x="54" y="14"/>
                  <a:pt x="31" y="60"/>
                </a:cubicBezTo>
                <a:cubicBezTo>
                  <a:pt x="8" y="106"/>
                  <a:pt x="10" y="169"/>
                  <a:pt x="7" y="285"/>
                </a:cubicBezTo>
                <a:cubicBezTo>
                  <a:pt x="4" y="401"/>
                  <a:pt x="14" y="570"/>
                  <a:pt x="14" y="756"/>
                </a:cubicBezTo>
                <a:cubicBezTo>
                  <a:pt x="14" y="942"/>
                  <a:pt x="0" y="1266"/>
                  <a:pt x="9" y="1401"/>
                </a:cubicBezTo>
                <a:cubicBezTo>
                  <a:pt x="18" y="1536"/>
                  <a:pt x="38" y="1533"/>
                  <a:pt x="71" y="1564"/>
                </a:cubicBezTo>
                <a:cubicBezTo>
                  <a:pt x="104" y="1595"/>
                  <a:pt x="178" y="1582"/>
                  <a:pt x="206" y="1587"/>
                </a:cubicBezTo>
              </a:path>
            </a:pathLst>
          </a:custGeom>
          <a:noFill/>
          <a:ln w="50760">
            <a:solidFill>
              <a:srgbClr val="ffffff"/>
            </a:solidFill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398" name="Text Box 100"/>
          <p:cNvSpPr/>
          <p:nvPr/>
        </p:nvSpPr>
        <p:spPr>
          <a:xfrm>
            <a:off x="5943600" y="380880"/>
            <a:ext cx="533520" cy="44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2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</a:t>
            </a:r>
            <a:r>
              <a:rPr b="1" lang="fr-FR" sz="20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2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 Box 101"/>
          <p:cNvSpPr/>
          <p:nvPr/>
        </p:nvSpPr>
        <p:spPr>
          <a:xfrm>
            <a:off x="5791320" y="2666880"/>
            <a:ext cx="685800" cy="44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2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</a:t>
            </a:r>
            <a:r>
              <a:rPr b="1" lang="fr-FR" sz="20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2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400" name="Text Box 102"/>
          <p:cNvSpPr/>
          <p:nvPr/>
        </p:nvSpPr>
        <p:spPr>
          <a:xfrm>
            <a:off x="6324480" y="2438280"/>
            <a:ext cx="144792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Myoglobine</a:t>
            </a:r>
            <a:endParaRPr b="1" lang="en-US" sz="16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401" name="Oval 103"/>
          <p:cNvSpPr/>
          <p:nvPr/>
        </p:nvSpPr>
        <p:spPr>
          <a:xfrm>
            <a:off x="2743200" y="5378400"/>
            <a:ext cx="152280" cy="152280"/>
          </a:xfrm>
          <a:prstGeom prst="ellipse">
            <a:avLst/>
          </a:prstGeom>
          <a:solidFill>
            <a:srgbClr val="ffffff"/>
          </a:solidFill>
          <a:ln w="38160">
            <a:solidFill>
              <a:srgbClr val="ffcc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402" name="Oval 104"/>
          <p:cNvSpPr/>
          <p:nvPr/>
        </p:nvSpPr>
        <p:spPr>
          <a:xfrm>
            <a:off x="2895480" y="5454720"/>
            <a:ext cx="152640" cy="152280"/>
          </a:xfrm>
          <a:prstGeom prst="ellipse">
            <a:avLst/>
          </a:prstGeom>
          <a:noFill/>
          <a:ln w="381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403" name="Oval 105"/>
          <p:cNvSpPr/>
          <p:nvPr/>
        </p:nvSpPr>
        <p:spPr>
          <a:xfrm>
            <a:off x="3352680" y="5454720"/>
            <a:ext cx="152640" cy="152280"/>
          </a:xfrm>
          <a:prstGeom prst="ellipse">
            <a:avLst/>
          </a:prstGeom>
          <a:noFill/>
          <a:ln w="381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404" name="Oval 106"/>
          <p:cNvSpPr/>
          <p:nvPr/>
        </p:nvSpPr>
        <p:spPr>
          <a:xfrm>
            <a:off x="3505320" y="5378400"/>
            <a:ext cx="152280" cy="152280"/>
          </a:xfrm>
          <a:prstGeom prst="ellipse">
            <a:avLst/>
          </a:prstGeom>
          <a:noFill/>
          <a:ln w="38160">
            <a:solidFill>
              <a:srgbClr val="ffcc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405" name="Oval 107"/>
          <p:cNvSpPr/>
          <p:nvPr/>
        </p:nvSpPr>
        <p:spPr>
          <a:xfrm>
            <a:off x="3657600" y="5378400"/>
            <a:ext cx="152280" cy="152280"/>
          </a:xfrm>
          <a:prstGeom prst="ellipse">
            <a:avLst/>
          </a:prstGeom>
          <a:solidFill>
            <a:srgbClr val="ffffff"/>
          </a:solidFill>
          <a:ln w="38160">
            <a:solidFill>
              <a:srgbClr val="ffcc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406" name="Oval 108"/>
          <p:cNvSpPr/>
          <p:nvPr/>
        </p:nvSpPr>
        <p:spPr>
          <a:xfrm>
            <a:off x="3809880" y="5454720"/>
            <a:ext cx="152640" cy="152280"/>
          </a:xfrm>
          <a:prstGeom prst="ellipse">
            <a:avLst/>
          </a:prstGeom>
          <a:noFill/>
          <a:ln w="381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407" name="Oval 109"/>
          <p:cNvSpPr/>
          <p:nvPr/>
        </p:nvSpPr>
        <p:spPr>
          <a:xfrm>
            <a:off x="3962520" y="5530680"/>
            <a:ext cx="152280" cy="152640"/>
          </a:xfrm>
          <a:prstGeom prst="ellipse">
            <a:avLst/>
          </a:prstGeom>
          <a:noFill/>
          <a:ln w="38160">
            <a:solidFill>
              <a:srgbClr val="ffcc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408" name="Oval 110"/>
          <p:cNvSpPr/>
          <p:nvPr/>
        </p:nvSpPr>
        <p:spPr>
          <a:xfrm>
            <a:off x="4114800" y="5530680"/>
            <a:ext cx="152280" cy="152640"/>
          </a:xfrm>
          <a:prstGeom prst="ellipse">
            <a:avLst/>
          </a:prstGeom>
          <a:noFill/>
          <a:ln w="38160">
            <a:solidFill>
              <a:srgbClr val="ffcc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409" name="Oval 111"/>
          <p:cNvSpPr/>
          <p:nvPr/>
        </p:nvSpPr>
        <p:spPr>
          <a:xfrm>
            <a:off x="4267080" y="5454720"/>
            <a:ext cx="152640" cy="152280"/>
          </a:xfrm>
          <a:prstGeom prst="ellipse">
            <a:avLst/>
          </a:prstGeom>
          <a:noFill/>
          <a:ln w="381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410" name="Oval 112"/>
          <p:cNvSpPr/>
          <p:nvPr/>
        </p:nvSpPr>
        <p:spPr>
          <a:xfrm>
            <a:off x="4419720" y="5378400"/>
            <a:ext cx="152280" cy="152280"/>
          </a:xfrm>
          <a:prstGeom prst="ellipse">
            <a:avLst/>
          </a:prstGeom>
          <a:noFill/>
          <a:ln w="38160">
            <a:solidFill>
              <a:srgbClr val="ffcc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411" name="Oval 113"/>
          <p:cNvSpPr/>
          <p:nvPr/>
        </p:nvSpPr>
        <p:spPr>
          <a:xfrm>
            <a:off x="4572000" y="5378400"/>
            <a:ext cx="152280" cy="152280"/>
          </a:xfrm>
          <a:prstGeom prst="ellipse">
            <a:avLst/>
          </a:prstGeom>
          <a:solidFill>
            <a:srgbClr val="000000"/>
          </a:solidFill>
          <a:ln w="38160">
            <a:solidFill>
              <a:srgbClr val="ffcc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412" name="Oval 114"/>
          <p:cNvSpPr/>
          <p:nvPr/>
        </p:nvSpPr>
        <p:spPr>
          <a:xfrm>
            <a:off x="4724280" y="5454720"/>
            <a:ext cx="152640" cy="152280"/>
          </a:xfrm>
          <a:prstGeom prst="ellipse">
            <a:avLst/>
          </a:prstGeom>
          <a:solidFill>
            <a:srgbClr val="ffffff"/>
          </a:solidFill>
          <a:ln w="38160">
            <a:solidFill>
              <a:srgbClr val="ffcc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413" name="Oval 115"/>
          <p:cNvSpPr/>
          <p:nvPr/>
        </p:nvSpPr>
        <p:spPr>
          <a:xfrm>
            <a:off x="5029200" y="5530680"/>
            <a:ext cx="152280" cy="152640"/>
          </a:xfrm>
          <a:prstGeom prst="ellipse">
            <a:avLst/>
          </a:prstGeom>
          <a:solidFill>
            <a:srgbClr val="000000"/>
          </a:solidFill>
          <a:ln w="38160">
            <a:solidFill>
              <a:srgbClr val="ffcc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414" name="Oval 116"/>
          <p:cNvSpPr/>
          <p:nvPr/>
        </p:nvSpPr>
        <p:spPr>
          <a:xfrm>
            <a:off x="5181480" y="5530680"/>
            <a:ext cx="152640" cy="152640"/>
          </a:xfrm>
          <a:prstGeom prst="ellipse">
            <a:avLst/>
          </a:prstGeom>
          <a:noFill/>
          <a:ln w="38160">
            <a:solidFill>
              <a:srgbClr val="ffcc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415" name="Oval 117"/>
          <p:cNvSpPr/>
          <p:nvPr/>
        </p:nvSpPr>
        <p:spPr>
          <a:xfrm>
            <a:off x="5334120" y="5454720"/>
            <a:ext cx="152280" cy="152280"/>
          </a:xfrm>
          <a:prstGeom prst="ellipse">
            <a:avLst/>
          </a:prstGeom>
          <a:noFill/>
          <a:ln w="381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416" name="Oval 118"/>
          <p:cNvSpPr/>
          <p:nvPr/>
        </p:nvSpPr>
        <p:spPr>
          <a:xfrm>
            <a:off x="5486400" y="5378400"/>
            <a:ext cx="152280" cy="152280"/>
          </a:xfrm>
          <a:prstGeom prst="ellipse">
            <a:avLst/>
          </a:prstGeom>
          <a:solidFill>
            <a:srgbClr val="000000"/>
          </a:solidFill>
          <a:ln w="38160">
            <a:solidFill>
              <a:srgbClr val="ffcc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417" name="Oval 119"/>
          <p:cNvSpPr/>
          <p:nvPr/>
        </p:nvSpPr>
        <p:spPr>
          <a:xfrm>
            <a:off x="5638680" y="5454720"/>
            <a:ext cx="152640" cy="152280"/>
          </a:xfrm>
          <a:prstGeom prst="ellipse">
            <a:avLst/>
          </a:prstGeom>
          <a:noFill/>
          <a:ln w="38160">
            <a:solidFill>
              <a:srgbClr val="ffcc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418" name="Oval 120"/>
          <p:cNvSpPr/>
          <p:nvPr/>
        </p:nvSpPr>
        <p:spPr>
          <a:xfrm>
            <a:off x="2514600" y="5378400"/>
            <a:ext cx="152280" cy="152280"/>
          </a:xfrm>
          <a:prstGeom prst="ellipse">
            <a:avLst/>
          </a:prstGeom>
          <a:gradFill rotWithShape="0">
            <a:gsLst>
              <a:gs pos="0">
                <a:srgbClr val="767676"/>
              </a:gs>
              <a:gs pos="50000">
                <a:srgbClr val="ffffff"/>
              </a:gs>
              <a:gs pos="100000">
                <a:srgbClr val="767676"/>
              </a:gs>
            </a:gsLst>
            <a:lin ang="5400000"/>
          </a:gradFill>
          <a:ln w="38160">
            <a:solidFill>
              <a:srgbClr val="ffcc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419" name="Oval 121"/>
          <p:cNvSpPr/>
          <p:nvPr/>
        </p:nvSpPr>
        <p:spPr>
          <a:xfrm>
            <a:off x="2438280" y="5454720"/>
            <a:ext cx="152640" cy="152280"/>
          </a:xfrm>
          <a:prstGeom prst="ellipse">
            <a:avLst/>
          </a:prstGeom>
          <a:solidFill>
            <a:srgbClr val="000000"/>
          </a:solidFill>
          <a:ln w="38160">
            <a:solidFill>
              <a:srgbClr val="ffcc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420" name="Oval 122"/>
          <p:cNvSpPr/>
          <p:nvPr/>
        </p:nvSpPr>
        <p:spPr>
          <a:xfrm>
            <a:off x="2590920" y="5530680"/>
            <a:ext cx="152280" cy="152640"/>
          </a:xfrm>
          <a:prstGeom prst="ellipse">
            <a:avLst/>
          </a:prstGeom>
          <a:solidFill>
            <a:srgbClr val="ffffff"/>
          </a:solidFill>
          <a:ln w="38160">
            <a:solidFill>
              <a:srgbClr val="ffcc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421" name="Oval 123"/>
          <p:cNvSpPr/>
          <p:nvPr/>
        </p:nvSpPr>
        <p:spPr>
          <a:xfrm>
            <a:off x="2743200" y="5530680"/>
            <a:ext cx="152280" cy="152640"/>
          </a:xfrm>
          <a:prstGeom prst="ellipse">
            <a:avLst/>
          </a:prstGeom>
          <a:solidFill>
            <a:srgbClr val="ffffff"/>
          </a:solidFill>
          <a:ln w="38160">
            <a:solidFill>
              <a:srgbClr val="ffcc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422" name="Oval 124"/>
          <p:cNvSpPr/>
          <p:nvPr/>
        </p:nvSpPr>
        <p:spPr>
          <a:xfrm>
            <a:off x="2895480" y="5454720"/>
            <a:ext cx="152640" cy="152280"/>
          </a:xfrm>
          <a:prstGeom prst="ellipse">
            <a:avLst/>
          </a:prstGeom>
          <a:solidFill>
            <a:srgbClr val="ffffff"/>
          </a:solidFill>
          <a:ln w="38160">
            <a:solidFill>
              <a:srgbClr val="ffcc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423" name="Oval 125"/>
          <p:cNvSpPr/>
          <p:nvPr/>
        </p:nvSpPr>
        <p:spPr>
          <a:xfrm>
            <a:off x="3048120" y="5378400"/>
            <a:ext cx="152280" cy="152280"/>
          </a:xfrm>
          <a:prstGeom prst="ellipse">
            <a:avLst/>
          </a:prstGeom>
          <a:solidFill>
            <a:srgbClr val="ffffff"/>
          </a:solidFill>
          <a:ln w="381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424" name="Oval 126"/>
          <p:cNvSpPr/>
          <p:nvPr/>
        </p:nvSpPr>
        <p:spPr>
          <a:xfrm>
            <a:off x="3200400" y="5378400"/>
            <a:ext cx="152280" cy="152280"/>
          </a:xfrm>
          <a:prstGeom prst="ellipse">
            <a:avLst/>
          </a:prstGeom>
          <a:solidFill>
            <a:srgbClr val="000000"/>
          </a:solidFill>
          <a:ln w="38160">
            <a:solidFill>
              <a:srgbClr val="ffcc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425" name="Oval 127"/>
          <p:cNvSpPr/>
          <p:nvPr/>
        </p:nvSpPr>
        <p:spPr>
          <a:xfrm>
            <a:off x="3352680" y="5454720"/>
            <a:ext cx="152640" cy="152280"/>
          </a:xfrm>
          <a:prstGeom prst="ellipse">
            <a:avLst/>
          </a:prstGeom>
          <a:solidFill>
            <a:srgbClr val="ffffff"/>
          </a:solidFill>
          <a:ln w="38160">
            <a:solidFill>
              <a:srgbClr val="ffcc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426" name="Oval 128"/>
          <p:cNvSpPr/>
          <p:nvPr/>
        </p:nvSpPr>
        <p:spPr>
          <a:xfrm>
            <a:off x="3505320" y="5530680"/>
            <a:ext cx="152280" cy="152640"/>
          </a:xfrm>
          <a:prstGeom prst="ellipse">
            <a:avLst/>
          </a:prstGeom>
          <a:solidFill>
            <a:srgbClr val="ffffff"/>
          </a:solidFill>
          <a:ln w="38160">
            <a:solidFill>
              <a:srgbClr val="ffcc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427" name="Oval 129"/>
          <p:cNvSpPr/>
          <p:nvPr/>
        </p:nvSpPr>
        <p:spPr>
          <a:xfrm>
            <a:off x="3657600" y="5530680"/>
            <a:ext cx="152280" cy="152640"/>
          </a:xfrm>
          <a:prstGeom prst="ellipse">
            <a:avLst/>
          </a:prstGeom>
          <a:solidFill>
            <a:srgbClr val="ffffff"/>
          </a:solidFill>
          <a:ln w="38160">
            <a:solidFill>
              <a:srgbClr val="ffcc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428" name="Oval 130"/>
          <p:cNvSpPr/>
          <p:nvPr/>
        </p:nvSpPr>
        <p:spPr>
          <a:xfrm>
            <a:off x="3809880" y="5454720"/>
            <a:ext cx="152640" cy="152280"/>
          </a:xfrm>
          <a:prstGeom prst="ellipse">
            <a:avLst/>
          </a:prstGeom>
          <a:solidFill>
            <a:srgbClr val="000000"/>
          </a:solidFill>
          <a:ln w="38160">
            <a:solidFill>
              <a:srgbClr val="ffcc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429" name="Oval 131"/>
          <p:cNvSpPr/>
          <p:nvPr/>
        </p:nvSpPr>
        <p:spPr>
          <a:xfrm>
            <a:off x="3962520" y="5378400"/>
            <a:ext cx="152280" cy="152280"/>
          </a:xfrm>
          <a:prstGeom prst="ellipse">
            <a:avLst/>
          </a:prstGeom>
          <a:solidFill>
            <a:srgbClr val="ffffff"/>
          </a:solidFill>
          <a:ln w="38160">
            <a:solidFill>
              <a:srgbClr val="ffcc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430" name="Oval 132"/>
          <p:cNvSpPr/>
          <p:nvPr/>
        </p:nvSpPr>
        <p:spPr>
          <a:xfrm>
            <a:off x="4114800" y="5378400"/>
            <a:ext cx="152280" cy="152280"/>
          </a:xfrm>
          <a:prstGeom prst="ellipse">
            <a:avLst/>
          </a:prstGeom>
          <a:solidFill>
            <a:srgbClr val="ffffff"/>
          </a:solidFill>
          <a:ln w="38160">
            <a:solidFill>
              <a:srgbClr val="ffcc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431" name="Oval 133"/>
          <p:cNvSpPr/>
          <p:nvPr/>
        </p:nvSpPr>
        <p:spPr>
          <a:xfrm>
            <a:off x="4267080" y="5454720"/>
            <a:ext cx="152640" cy="152280"/>
          </a:xfrm>
          <a:prstGeom prst="ellipse">
            <a:avLst/>
          </a:prstGeom>
          <a:solidFill>
            <a:srgbClr val="ffffff"/>
          </a:solidFill>
          <a:ln w="38160">
            <a:solidFill>
              <a:srgbClr val="ffcc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432" name="Oval 134"/>
          <p:cNvSpPr/>
          <p:nvPr/>
        </p:nvSpPr>
        <p:spPr>
          <a:xfrm>
            <a:off x="4876920" y="5454720"/>
            <a:ext cx="152280" cy="152280"/>
          </a:xfrm>
          <a:prstGeom prst="ellipse">
            <a:avLst/>
          </a:prstGeom>
          <a:solidFill>
            <a:srgbClr val="ffffff"/>
          </a:solidFill>
          <a:ln w="38160">
            <a:solidFill>
              <a:srgbClr val="ffcc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433" name="Oval 135"/>
          <p:cNvSpPr/>
          <p:nvPr/>
        </p:nvSpPr>
        <p:spPr>
          <a:xfrm>
            <a:off x="5029200" y="5378400"/>
            <a:ext cx="152280" cy="152280"/>
          </a:xfrm>
          <a:prstGeom prst="ellipse">
            <a:avLst/>
          </a:prstGeom>
          <a:solidFill>
            <a:srgbClr val="ffffff"/>
          </a:solidFill>
          <a:ln w="38160">
            <a:solidFill>
              <a:srgbClr val="ffcc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434" name="Oval 136"/>
          <p:cNvSpPr/>
          <p:nvPr/>
        </p:nvSpPr>
        <p:spPr>
          <a:xfrm>
            <a:off x="5181480" y="5378400"/>
            <a:ext cx="152640" cy="152280"/>
          </a:xfrm>
          <a:prstGeom prst="ellipse">
            <a:avLst/>
          </a:prstGeom>
          <a:solidFill>
            <a:srgbClr val="ffffff"/>
          </a:solidFill>
          <a:ln w="38160">
            <a:solidFill>
              <a:srgbClr val="ffcc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435" name="Oval 137"/>
          <p:cNvSpPr/>
          <p:nvPr/>
        </p:nvSpPr>
        <p:spPr>
          <a:xfrm>
            <a:off x="5334120" y="5454720"/>
            <a:ext cx="152280" cy="152280"/>
          </a:xfrm>
          <a:prstGeom prst="ellipse">
            <a:avLst/>
          </a:prstGeom>
          <a:solidFill>
            <a:srgbClr val="ffffff"/>
          </a:solidFill>
          <a:ln w="38160">
            <a:solidFill>
              <a:srgbClr val="ffcc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436" name="Oval 138"/>
          <p:cNvSpPr/>
          <p:nvPr/>
        </p:nvSpPr>
        <p:spPr>
          <a:xfrm>
            <a:off x="5486400" y="5530680"/>
            <a:ext cx="152280" cy="152640"/>
          </a:xfrm>
          <a:prstGeom prst="ellipse">
            <a:avLst/>
          </a:prstGeom>
          <a:solidFill>
            <a:srgbClr val="ffffff"/>
          </a:solidFill>
          <a:ln w="38160">
            <a:solidFill>
              <a:srgbClr val="ffcc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437" name="Text Box 139"/>
          <p:cNvSpPr/>
          <p:nvPr/>
        </p:nvSpPr>
        <p:spPr>
          <a:xfrm>
            <a:off x="6400800" y="5410080"/>
            <a:ext cx="175248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Tropomyosine</a:t>
            </a:r>
            <a:endParaRPr b="1" lang="en-US" sz="16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438" name="Line 140"/>
          <p:cNvSpPr/>
          <p:nvPr/>
        </p:nvSpPr>
        <p:spPr>
          <a:xfrm flipH="1">
            <a:off x="2133720" y="5607000"/>
            <a:ext cx="380880" cy="336600"/>
          </a:xfrm>
          <a:prstGeom prst="line">
            <a:avLst/>
          </a:prstGeom>
          <a:ln w="38160">
            <a:solidFill>
              <a:srgbClr val="ffffff"/>
            </a:solidFill>
            <a:miter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439" name="Text Box 141"/>
          <p:cNvSpPr/>
          <p:nvPr/>
        </p:nvSpPr>
        <p:spPr>
          <a:xfrm>
            <a:off x="914400" y="5791320"/>
            <a:ext cx="121932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Troponine</a:t>
            </a:r>
            <a:endParaRPr b="1" lang="en-US" sz="16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440" name="Freeform 142"/>
          <p:cNvSpPr/>
          <p:nvPr/>
        </p:nvSpPr>
        <p:spPr>
          <a:xfrm>
            <a:off x="6959520" y="2438280"/>
            <a:ext cx="1803600" cy="2286000"/>
          </a:xfrm>
          <a:custGeom>
            <a:avLst/>
            <a:gdLst>
              <a:gd name="GluePoint1X" fmla="*/ 2147483647 w 1504"/>
              <a:gd name="GluePoint1Y" fmla="*/ 2147483647 h 2089"/>
              <a:gd name="GluePoint2X" fmla="*/ 2147483647 w 1504"/>
              <a:gd name="GluePoint2Y" fmla="*/ 2147483647 h 2089"/>
              <a:gd name="GluePoint3X" fmla="*/ 2147483647 w 1504"/>
              <a:gd name="GluePoint3Y" fmla="*/ 2147483647 h 2089"/>
              <a:gd name="GluePoint4X" fmla="*/ 2147483647 w 1504"/>
              <a:gd name="GluePoint4Y" fmla="*/ 2147483647 h 2089"/>
              <a:gd name="GluePoint5X" fmla="*/ 2147483647 w 1504"/>
              <a:gd name="GluePoint5Y" fmla="*/ 2147483647 h 2089"/>
              <a:gd name="GluePoint6X" fmla="*/ 2147483647 w 1504"/>
              <a:gd name="GluePoint6Y" fmla="*/ 2147483647 h 2089"/>
              <a:gd name="GluePoint7X" fmla="*/ 2147483647 w 1504"/>
              <a:gd name="GluePoint7Y" fmla="*/ 2147483647 h 2089"/>
              <a:gd name="GluePoint8X" fmla="*/ 2147483647 w 1504"/>
              <a:gd name="GluePoint8Y" fmla="*/ 2147483647 h 2089"/>
              <a:gd name="GluePoint9X" fmla="*/ 2147483647 w 1504"/>
              <a:gd name="GluePoint9Y" fmla="*/ 2147483647 h 2089"/>
              <a:gd name="GluePoint10X" fmla="*/ 2147483647 w 1504"/>
              <a:gd name="GluePoint10Y" fmla="*/ 2147483647 h 2089"/>
              <a:gd name="GluePoint11X" fmla="*/ 2147483647 w 1504"/>
              <a:gd name="GluePoint11Y" fmla="*/ 2147483647 h 2089"/>
              <a:gd name="GluePoint12X" fmla="*/ 2147483647 w 1504"/>
              <a:gd name="GluePoint12Y" fmla="*/ 2147483647 h 2089"/>
              <a:gd name="GluePoint13X" fmla="*/ 2147483647 w 1504"/>
              <a:gd name="GluePoint13Y" fmla="*/ 2147483647 h 2089"/>
              <a:gd name="GluePoint14X" fmla="*/ 2147483647 w 1504"/>
              <a:gd name="GluePoint14Y" fmla="*/ 2147483647 h 2089"/>
              <a:gd name="GluePoint15X" fmla="*/ 2147483647 w 1504"/>
              <a:gd name="GluePoint15Y" fmla="*/ 2147483647 h 2089"/>
              <a:gd name="GluePoint16X" fmla="*/ 2147483647 w 1504"/>
              <a:gd name="GluePoint16Y" fmla="*/ 1310065126 h 2089"/>
              <a:gd name="GluePoint17X" fmla="*/ 2147483647 w 1504"/>
              <a:gd name="GluePoint17Y" fmla="*/ 2147483647 h 208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</a:cxnLst>
            <a:rect l="l" t="t" r="r" b="b"/>
            <a:pathLst>
              <a:path w="1504" h="2089">
                <a:moveTo>
                  <a:pt x="704" y="97"/>
                </a:moveTo>
                <a:cubicBezTo>
                  <a:pt x="630" y="144"/>
                  <a:pt x="546" y="203"/>
                  <a:pt x="497" y="285"/>
                </a:cubicBezTo>
                <a:cubicBezTo>
                  <a:pt x="448" y="367"/>
                  <a:pt x="428" y="479"/>
                  <a:pt x="407" y="592"/>
                </a:cubicBezTo>
                <a:cubicBezTo>
                  <a:pt x="386" y="705"/>
                  <a:pt x="382" y="860"/>
                  <a:pt x="368" y="961"/>
                </a:cubicBezTo>
                <a:cubicBezTo>
                  <a:pt x="354" y="1062"/>
                  <a:pt x="368" y="1121"/>
                  <a:pt x="320" y="1201"/>
                </a:cubicBezTo>
                <a:cubicBezTo>
                  <a:pt x="272" y="1281"/>
                  <a:pt x="128" y="1353"/>
                  <a:pt x="80" y="1441"/>
                </a:cubicBezTo>
                <a:cubicBezTo>
                  <a:pt x="32" y="1529"/>
                  <a:pt x="0" y="1633"/>
                  <a:pt x="32" y="1729"/>
                </a:cubicBezTo>
                <a:cubicBezTo>
                  <a:pt x="64" y="1825"/>
                  <a:pt x="152" y="1961"/>
                  <a:pt x="272" y="2017"/>
                </a:cubicBezTo>
                <a:cubicBezTo>
                  <a:pt x="392" y="2073"/>
                  <a:pt x="632" y="2089"/>
                  <a:pt x="752" y="2065"/>
                </a:cubicBezTo>
                <a:cubicBezTo>
                  <a:pt x="872" y="2041"/>
                  <a:pt x="956" y="1964"/>
                  <a:pt x="992" y="1873"/>
                </a:cubicBezTo>
                <a:cubicBezTo>
                  <a:pt x="1028" y="1782"/>
                  <a:pt x="957" y="1646"/>
                  <a:pt x="968" y="1520"/>
                </a:cubicBezTo>
                <a:cubicBezTo>
                  <a:pt x="979" y="1394"/>
                  <a:pt x="1016" y="1231"/>
                  <a:pt x="1058" y="1116"/>
                </a:cubicBezTo>
                <a:cubicBezTo>
                  <a:pt x="1100" y="1001"/>
                  <a:pt x="1152" y="938"/>
                  <a:pt x="1223" y="831"/>
                </a:cubicBezTo>
                <a:cubicBezTo>
                  <a:pt x="1294" y="724"/>
                  <a:pt x="1464" y="595"/>
                  <a:pt x="1484" y="472"/>
                </a:cubicBezTo>
                <a:cubicBezTo>
                  <a:pt x="1504" y="349"/>
                  <a:pt x="1432" y="169"/>
                  <a:pt x="1342" y="91"/>
                </a:cubicBezTo>
                <a:cubicBezTo>
                  <a:pt x="1252" y="13"/>
                  <a:pt x="1050" y="0"/>
                  <a:pt x="944" y="1"/>
                </a:cubicBezTo>
                <a:cubicBezTo>
                  <a:pt x="838" y="2"/>
                  <a:pt x="784" y="57"/>
                  <a:pt x="704" y="97"/>
                </a:cubicBezTo>
                <a:close/>
              </a:path>
            </a:pathLst>
          </a:custGeom>
          <a:solidFill>
            <a:srgbClr val="dddddd"/>
          </a:solidFill>
          <a:ln w="50760">
            <a:solidFill>
              <a:srgbClr val="808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441" name="Freeform 143"/>
          <p:cNvSpPr/>
          <p:nvPr/>
        </p:nvSpPr>
        <p:spPr>
          <a:xfrm>
            <a:off x="7493040" y="2587680"/>
            <a:ext cx="1084320" cy="917640"/>
          </a:xfrm>
          <a:custGeom>
            <a:avLst/>
            <a:gdLst>
              <a:gd name="GluePoint1X" fmla="*/ 2147483647 w 683"/>
              <a:gd name="GluePoint1Y" fmla="*/ 2147483647 h 578"/>
              <a:gd name="GluePoint2X" fmla="*/ 2147483647 w 683"/>
              <a:gd name="GluePoint2Y" fmla="*/ 2147483647 h 578"/>
              <a:gd name="GluePoint3X" fmla="*/ 2147483647 w 683"/>
              <a:gd name="GluePoint3Y" fmla="*/ 2147483647 h 578"/>
              <a:gd name="GluePoint4X" fmla="*/ 2147483647 w 683"/>
              <a:gd name="GluePoint4Y" fmla="*/ 2147483647 h 578"/>
              <a:gd name="GluePoint5X" fmla="*/ 2147483647 w 683"/>
              <a:gd name="GluePoint5Y" fmla="*/ 2147483647 h 578"/>
              <a:gd name="GluePoint6X" fmla="*/ 2147483647 w 683"/>
              <a:gd name="GluePoint6Y" fmla="*/ 2147483647 h 578"/>
              <a:gd name="GluePoint7X" fmla="*/ 2147483647 w 683"/>
              <a:gd name="GluePoint7Y" fmla="*/ 2147483647 h 578"/>
              <a:gd name="GluePoint8X" fmla="*/ 2147483647 w 683"/>
              <a:gd name="GluePoint8Y" fmla="*/ 2147483647 h 578"/>
              <a:gd name="GluePoint9X" fmla="*/ 2147483647 w 683"/>
              <a:gd name="GluePoint9Y" fmla="*/ 2147483647 h 578"/>
              <a:gd name="GluePoint10X" fmla="*/ 2147483647 w 683"/>
              <a:gd name="GluePoint10Y" fmla="*/ 2147483647 h 578"/>
              <a:gd name="GluePoint11X" fmla="*/ 2147483647 w 683"/>
              <a:gd name="GluePoint11Y" fmla="*/ 2147483647 h 578"/>
              <a:gd name="GluePoint12X" fmla="*/ 2147483647 w 683"/>
              <a:gd name="GluePoint12Y" fmla="*/ 2147483647 h 578"/>
              <a:gd name="GluePoint13X" fmla="*/ 2147483647 w 683"/>
              <a:gd name="GluePoint13Y" fmla="*/ 2147483647 h 578"/>
              <a:gd name="GluePoint14X" fmla="*/ 2147483647 w 683"/>
              <a:gd name="GluePoint14Y" fmla="*/ 2147483647 h 578"/>
              <a:gd name="GluePoint15X" fmla="*/ 2147483647 w 683"/>
              <a:gd name="GluePoint15Y" fmla="*/ 2147483647 h 578"/>
              <a:gd name="GluePoint16X" fmla="*/ 2147483647 w 683"/>
              <a:gd name="GluePoint16Y" fmla="*/ 2147483647 h 578"/>
              <a:gd name="GluePoint17X" fmla="*/ 2147483647 w 683"/>
              <a:gd name="GluePoint17Y" fmla="*/ 2147483647 h 578"/>
              <a:gd name="GluePoint18X" fmla="*/ 2147483647 w 683"/>
              <a:gd name="GluePoint18Y" fmla="*/ 2147483647 h 578"/>
              <a:gd name="GluePoint19X" fmla="*/ 2147483647 w 683"/>
              <a:gd name="GluePoint19Y" fmla="*/ 2147483647 h 578"/>
              <a:gd name="GluePoint20X" fmla="*/ 2147483647 w 683"/>
              <a:gd name="GluePoint20Y" fmla="*/ 2147483647 h 578"/>
              <a:gd name="GluePoint21X" fmla="*/ 2147483647 w 683"/>
              <a:gd name="GluePoint21Y" fmla="*/ 2147483647 h 578"/>
              <a:gd name="GluePoint22X" fmla="*/ 2147483647 w 683"/>
              <a:gd name="GluePoint22Y" fmla="*/ 2147483647 h 578"/>
              <a:gd name="GluePoint23X" fmla="*/ 2147483647 w 683"/>
              <a:gd name="GluePoint23Y" fmla="*/ 2147483647 h 578"/>
              <a:gd name="GluePoint24X" fmla="*/ 2147483647 w 683"/>
              <a:gd name="GluePoint24Y" fmla="*/ 2147483647 h 578"/>
              <a:gd name="GluePoint25X" fmla="*/ 2147483647 w 683"/>
              <a:gd name="GluePoint25Y" fmla="*/ 2147483647 h 578"/>
              <a:gd name="GluePoint26X" fmla="*/ 2147483647 w 683"/>
              <a:gd name="GluePoint26Y" fmla="*/ 2147483647 h 578"/>
              <a:gd name="GluePoint27X" fmla="*/ 2147483647 w 683"/>
              <a:gd name="GluePoint27Y" fmla="*/ 2147483647 h 578"/>
              <a:gd name="GluePoint28X" fmla="*/ 2147483647 w 683"/>
              <a:gd name="GluePoint28Y" fmla="*/ 2147483647 h 578"/>
              <a:gd name="GluePoint29X" fmla="*/ 2147483647 w 683"/>
              <a:gd name="GluePoint29Y" fmla="*/ 2147483647 h 578"/>
              <a:gd name="GluePoint30X" fmla="*/ 2147483647 w 683"/>
              <a:gd name="GluePoint30Y" fmla="*/ 2147483647 h 578"/>
              <a:gd name="GluePoint31X" fmla="*/ 2147483647 w 683"/>
              <a:gd name="GluePoint31Y" fmla="*/ 2147483647 h 578"/>
              <a:gd name="GluePoint32X" fmla="*/ 2147483647 w 683"/>
              <a:gd name="GluePoint32Y" fmla="*/ 2147483647 h 578"/>
              <a:gd name="GluePoint33X" fmla="*/ 2147483647 w 683"/>
              <a:gd name="GluePoint33Y" fmla="*/ 2147483647 h 578"/>
              <a:gd name="GluePoint34X" fmla="*/ 2147483647 w 683"/>
              <a:gd name="GluePoint34Y" fmla="*/ 2147483647 h 578"/>
              <a:gd name="GluePoint35X" fmla="*/ 2147483647 w 683"/>
              <a:gd name="GluePoint35Y" fmla="*/ 2147483647 h 578"/>
              <a:gd name="GluePoint36X" fmla="*/ 2147483647 w 683"/>
              <a:gd name="GluePoint36Y" fmla="*/ 2147483647 h 578"/>
              <a:gd name="GluePoint37X" fmla="*/ 2147483647 w 683"/>
              <a:gd name="GluePoint37Y" fmla="*/ 2147483647 h 578"/>
              <a:gd name="GluePoint38X" fmla="*/ 2147483647 w 683"/>
              <a:gd name="GluePoint38Y" fmla="*/ 2147483647 h 578"/>
              <a:gd name="GluePoint39X" fmla="*/ 2147483647 w 683"/>
              <a:gd name="GluePoint39Y" fmla="*/ 2147483647 h 578"/>
              <a:gd name="GluePoint40X" fmla="*/ 2147483647 w 683"/>
              <a:gd name="GluePoint40Y" fmla="*/ 2147483647 h 578"/>
              <a:gd name="GluePoint41X" fmla="*/ 2147483647 w 683"/>
              <a:gd name="GluePoint41Y" fmla="*/ 2147483647 h 57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</a:cxnLst>
            <a:rect l="l" t="t" r="r" b="b"/>
            <a:pathLst>
              <a:path w="683" h="578">
                <a:moveTo>
                  <a:pt x="683" y="125"/>
                </a:moveTo>
                <a:cubicBezTo>
                  <a:pt x="663" y="111"/>
                  <a:pt x="626" y="63"/>
                  <a:pt x="564" y="43"/>
                </a:cubicBezTo>
                <a:cubicBezTo>
                  <a:pt x="502" y="23"/>
                  <a:pt x="370" y="0"/>
                  <a:pt x="312" y="3"/>
                </a:cubicBezTo>
                <a:cubicBezTo>
                  <a:pt x="254" y="6"/>
                  <a:pt x="224" y="41"/>
                  <a:pt x="216" y="60"/>
                </a:cubicBezTo>
                <a:cubicBezTo>
                  <a:pt x="208" y="79"/>
                  <a:pt x="231" y="111"/>
                  <a:pt x="264" y="116"/>
                </a:cubicBezTo>
                <a:cubicBezTo>
                  <a:pt x="297" y="121"/>
                  <a:pt x="366" y="87"/>
                  <a:pt x="414" y="87"/>
                </a:cubicBezTo>
                <a:cubicBezTo>
                  <a:pt x="462" y="87"/>
                  <a:pt x="513" y="92"/>
                  <a:pt x="552" y="116"/>
                </a:cubicBezTo>
                <a:cubicBezTo>
                  <a:pt x="591" y="140"/>
                  <a:pt x="648" y="209"/>
                  <a:pt x="648" y="229"/>
                </a:cubicBezTo>
                <a:cubicBezTo>
                  <a:pt x="648" y="250"/>
                  <a:pt x="586" y="246"/>
                  <a:pt x="554" y="237"/>
                </a:cubicBezTo>
                <a:cubicBezTo>
                  <a:pt x="522" y="227"/>
                  <a:pt x="488" y="184"/>
                  <a:pt x="456" y="173"/>
                </a:cubicBezTo>
                <a:cubicBezTo>
                  <a:pt x="424" y="162"/>
                  <a:pt x="393" y="175"/>
                  <a:pt x="360" y="173"/>
                </a:cubicBezTo>
                <a:cubicBezTo>
                  <a:pt x="327" y="171"/>
                  <a:pt x="294" y="160"/>
                  <a:pt x="257" y="162"/>
                </a:cubicBezTo>
                <a:cubicBezTo>
                  <a:pt x="220" y="164"/>
                  <a:pt x="168" y="174"/>
                  <a:pt x="137" y="185"/>
                </a:cubicBezTo>
                <a:cubicBezTo>
                  <a:pt x="106" y="196"/>
                  <a:pt x="75" y="212"/>
                  <a:pt x="72" y="229"/>
                </a:cubicBezTo>
                <a:cubicBezTo>
                  <a:pt x="69" y="246"/>
                  <a:pt x="91" y="282"/>
                  <a:pt x="120" y="286"/>
                </a:cubicBezTo>
                <a:cubicBezTo>
                  <a:pt x="149" y="290"/>
                  <a:pt x="210" y="259"/>
                  <a:pt x="249" y="252"/>
                </a:cubicBezTo>
                <a:cubicBezTo>
                  <a:pt x="288" y="245"/>
                  <a:pt x="312" y="238"/>
                  <a:pt x="354" y="244"/>
                </a:cubicBezTo>
                <a:cubicBezTo>
                  <a:pt x="396" y="250"/>
                  <a:pt x="463" y="270"/>
                  <a:pt x="504" y="286"/>
                </a:cubicBezTo>
                <a:cubicBezTo>
                  <a:pt x="545" y="302"/>
                  <a:pt x="590" y="326"/>
                  <a:pt x="600" y="343"/>
                </a:cubicBezTo>
                <a:cubicBezTo>
                  <a:pt x="610" y="360"/>
                  <a:pt x="588" y="387"/>
                  <a:pt x="564" y="387"/>
                </a:cubicBezTo>
                <a:cubicBezTo>
                  <a:pt x="540" y="387"/>
                  <a:pt x="494" y="355"/>
                  <a:pt x="456" y="343"/>
                </a:cubicBezTo>
                <a:cubicBezTo>
                  <a:pt x="418" y="331"/>
                  <a:pt x="376" y="319"/>
                  <a:pt x="338" y="315"/>
                </a:cubicBezTo>
                <a:cubicBezTo>
                  <a:pt x="300" y="312"/>
                  <a:pt x="261" y="319"/>
                  <a:pt x="225" y="324"/>
                </a:cubicBezTo>
                <a:cubicBezTo>
                  <a:pt x="189" y="328"/>
                  <a:pt x="153" y="330"/>
                  <a:pt x="120" y="343"/>
                </a:cubicBezTo>
                <a:cubicBezTo>
                  <a:pt x="87" y="355"/>
                  <a:pt x="32" y="380"/>
                  <a:pt x="24" y="399"/>
                </a:cubicBezTo>
                <a:cubicBezTo>
                  <a:pt x="16" y="418"/>
                  <a:pt x="47" y="453"/>
                  <a:pt x="72" y="456"/>
                </a:cubicBezTo>
                <a:cubicBezTo>
                  <a:pt x="97" y="458"/>
                  <a:pt x="141" y="421"/>
                  <a:pt x="173" y="412"/>
                </a:cubicBezTo>
                <a:cubicBezTo>
                  <a:pt x="205" y="403"/>
                  <a:pt x="241" y="401"/>
                  <a:pt x="264" y="399"/>
                </a:cubicBezTo>
                <a:cubicBezTo>
                  <a:pt x="287" y="397"/>
                  <a:pt x="288" y="399"/>
                  <a:pt x="312" y="399"/>
                </a:cubicBezTo>
                <a:cubicBezTo>
                  <a:pt x="336" y="399"/>
                  <a:pt x="376" y="390"/>
                  <a:pt x="408" y="399"/>
                </a:cubicBezTo>
                <a:cubicBezTo>
                  <a:pt x="440" y="408"/>
                  <a:pt x="488" y="437"/>
                  <a:pt x="504" y="456"/>
                </a:cubicBezTo>
                <a:cubicBezTo>
                  <a:pt x="520" y="474"/>
                  <a:pt x="512" y="503"/>
                  <a:pt x="504" y="512"/>
                </a:cubicBezTo>
                <a:cubicBezTo>
                  <a:pt x="496" y="521"/>
                  <a:pt x="480" y="521"/>
                  <a:pt x="456" y="512"/>
                </a:cubicBezTo>
                <a:cubicBezTo>
                  <a:pt x="432" y="503"/>
                  <a:pt x="392" y="465"/>
                  <a:pt x="360" y="456"/>
                </a:cubicBezTo>
                <a:cubicBezTo>
                  <a:pt x="328" y="446"/>
                  <a:pt x="304" y="446"/>
                  <a:pt x="264" y="456"/>
                </a:cubicBezTo>
                <a:cubicBezTo>
                  <a:pt x="224" y="465"/>
                  <a:pt x="160" y="503"/>
                  <a:pt x="120" y="512"/>
                </a:cubicBezTo>
                <a:cubicBezTo>
                  <a:pt x="80" y="521"/>
                  <a:pt x="40" y="503"/>
                  <a:pt x="24" y="512"/>
                </a:cubicBezTo>
                <a:cubicBezTo>
                  <a:pt x="8" y="521"/>
                  <a:pt x="0" y="559"/>
                  <a:pt x="24" y="569"/>
                </a:cubicBezTo>
                <a:cubicBezTo>
                  <a:pt x="48" y="578"/>
                  <a:pt x="124" y="577"/>
                  <a:pt x="168" y="569"/>
                </a:cubicBezTo>
                <a:cubicBezTo>
                  <a:pt x="212" y="561"/>
                  <a:pt x="246" y="524"/>
                  <a:pt x="287" y="521"/>
                </a:cubicBezTo>
                <a:cubicBezTo>
                  <a:pt x="328" y="518"/>
                  <a:pt x="388" y="545"/>
                  <a:pt x="414" y="551"/>
                </a:cubicBezTo>
              </a:path>
            </a:pathLst>
          </a:custGeom>
          <a:noFill/>
          <a:ln w="38160">
            <a:solidFill>
              <a:srgbClr val="808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442" name="Freeform 144"/>
          <p:cNvSpPr/>
          <p:nvPr/>
        </p:nvSpPr>
        <p:spPr>
          <a:xfrm>
            <a:off x="7105680" y="3598920"/>
            <a:ext cx="988920" cy="1060560"/>
          </a:xfrm>
          <a:custGeom>
            <a:avLst/>
            <a:gdLst>
              <a:gd name="GluePoint1X" fmla="*/ 2147483647 w 623"/>
              <a:gd name="GluePoint1Y" fmla="*/ 2147483647 h 668"/>
              <a:gd name="GluePoint2X" fmla="*/ 2147483647 w 623"/>
              <a:gd name="GluePoint2Y" fmla="*/ 2147483647 h 668"/>
              <a:gd name="GluePoint3X" fmla="*/ 2147483647 w 623"/>
              <a:gd name="GluePoint3Y" fmla="*/ 2147483647 h 668"/>
              <a:gd name="GluePoint4X" fmla="*/ 2147483647 w 623"/>
              <a:gd name="GluePoint4Y" fmla="*/ 2147483647 h 668"/>
              <a:gd name="GluePoint5X" fmla="*/ 2147483647 w 623"/>
              <a:gd name="GluePoint5Y" fmla="*/ 2147483647 h 668"/>
              <a:gd name="GluePoint6X" fmla="*/ 2147483647 w 623"/>
              <a:gd name="GluePoint6Y" fmla="*/ 2147483647 h 668"/>
              <a:gd name="GluePoint7X" fmla="*/ 2147483647 w 623"/>
              <a:gd name="GluePoint7Y" fmla="*/ 2147483647 h 668"/>
              <a:gd name="GluePoint8X" fmla="*/ 2147483647 w 623"/>
              <a:gd name="GluePoint8Y" fmla="*/ 2147483647 h 668"/>
              <a:gd name="GluePoint9X" fmla="*/ 2147483647 w 623"/>
              <a:gd name="GluePoint9Y" fmla="*/ 2147483647 h 668"/>
              <a:gd name="GluePoint10X" fmla="*/ 2147483647 w 623"/>
              <a:gd name="GluePoint10Y" fmla="*/ 2147483647 h 668"/>
              <a:gd name="GluePoint11X" fmla="*/ 2147483647 w 623"/>
              <a:gd name="GluePoint11Y" fmla="*/ 2147483647 h 668"/>
              <a:gd name="GluePoint12X" fmla="*/ 2147483647 w 623"/>
              <a:gd name="GluePoint12Y" fmla="*/ 2147483647 h 668"/>
              <a:gd name="GluePoint13X" fmla="*/ 2147483647 w 623"/>
              <a:gd name="GluePoint13Y" fmla="*/ 2147483647 h 668"/>
              <a:gd name="GluePoint14X" fmla="*/ 2147483647 w 623"/>
              <a:gd name="GluePoint14Y" fmla="*/ 2147483647 h 668"/>
              <a:gd name="GluePoint15X" fmla="*/ 2147483647 w 623"/>
              <a:gd name="GluePoint15Y" fmla="*/ 2147483647 h 668"/>
              <a:gd name="GluePoint16X" fmla="*/ 2147483647 w 623"/>
              <a:gd name="GluePoint16Y" fmla="*/ 2147483647 h 668"/>
              <a:gd name="GluePoint17X" fmla="*/ 2147483647 w 623"/>
              <a:gd name="GluePoint17Y" fmla="*/ 2147483647 h 668"/>
              <a:gd name="GluePoint18X" fmla="*/ 2147483647 w 623"/>
              <a:gd name="GluePoint18Y" fmla="*/ 2147483647 h 668"/>
              <a:gd name="GluePoint19X" fmla="*/ 2147483647 w 623"/>
              <a:gd name="GluePoint19Y" fmla="*/ 2147483647 h 668"/>
              <a:gd name="GluePoint20X" fmla="*/ 2147483647 w 623"/>
              <a:gd name="GluePoint20Y" fmla="*/ 2147483647 h 668"/>
              <a:gd name="GluePoint21X" fmla="*/ 2147483647 w 623"/>
              <a:gd name="GluePoint21Y" fmla="*/ 2147483647 h 668"/>
              <a:gd name="GluePoint22X" fmla="*/ 2147483647 w 623"/>
              <a:gd name="GluePoint22Y" fmla="*/ 2147483647 h 668"/>
              <a:gd name="GluePoint23X" fmla="*/ 2147483647 w 623"/>
              <a:gd name="GluePoint23Y" fmla="*/ 2147483647 h 668"/>
              <a:gd name="GluePoint24X" fmla="*/ 2147483647 w 623"/>
              <a:gd name="GluePoint24Y" fmla="*/ 2147483647 h 668"/>
              <a:gd name="GluePoint25X" fmla="*/ 2147483647 w 623"/>
              <a:gd name="GluePoint25Y" fmla="*/ 2147483647 h 668"/>
              <a:gd name="GluePoint26X" fmla="*/ 2147483647 w 623"/>
              <a:gd name="GluePoint26Y" fmla="*/ 2147483647 h 668"/>
              <a:gd name="GluePoint27X" fmla="*/ 2147483647 w 623"/>
              <a:gd name="GluePoint27Y" fmla="*/ 2147483647 h 668"/>
              <a:gd name="GluePoint28X" fmla="*/ 2147483647 w 623"/>
              <a:gd name="GluePoint28Y" fmla="*/ 2147483647 h 668"/>
              <a:gd name="GluePoint29X" fmla="*/ 2147483647 w 623"/>
              <a:gd name="GluePoint29Y" fmla="*/ 2147483647 h 668"/>
              <a:gd name="GluePoint30X" fmla="*/ 2147483647 w 623"/>
              <a:gd name="GluePoint30Y" fmla="*/ 2147483647 h 668"/>
              <a:gd name="GluePoint31X" fmla="*/ 2147483647 w 623"/>
              <a:gd name="GluePoint31Y" fmla="*/ 2147483647 h 668"/>
              <a:gd name="GluePoint32X" fmla="*/ 2147483647 w 623"/>
              <a:gd name="GluePoint32Y" fmla="*/ 2147483647 h 668"/>
              <a:gd name="GluePoint33X" fmla="*/ 2147483647 w 623"/>
              <a:gd name="GluePoint33Y" fmla="*/ 2147483647 h 668"/>
              <a:gd name="GluePoint34X" fmla="*/ 2147483647 w 623"/>
              <a:gd name="GluePoint34Y" fmla="*/ 2147483647 h 668"/>
              <a:gd name="GluePoint35X" fmla="*/ 2147483647 w 623"/>
              <a:gd name="GluePoint35Y" fmla="*/ 2147483647 h 668"/>
              <a:gd name="GluePoint36X" fmla="*/ 2147483647 w 623"/>
              <a:gd name="GluePoint36Y" fmla="*/ 2147483647 h 668"/>
              <a:gd name="GluePoint37X" fmla="*/ 2147483647 w 623"/>
              <a:gd name="GluePoint37Y" fmla="*/ 2147483647 h 668"/>
              <a:gd name="GluePoint38X" fmla="*/ 2147483647 w 623"/>
              <a:gd name="GluePoint38Y" fmla="*/ 2147483647 h 668"/>
              <a:gd name="GluePoint39X" fmla="*/ 2147483647 w 623"/>
              <a:gd name="GluePoint39Y" fmla="*/ 2147483647 h 668"/>
              <a:gd name="GluePoint40X" fmla="*/ 2147483647 w 623"/>
              <a:gd name="GluePoint40Y" fmla="*/ 2147483647 h 668"/>
              <a:gd name="GluePoint41X" fmla="*/ 2147483647 w 623"/>
              <a:gd name="GluePoint41Y" fmla="*/ 2147483647 h 66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</a:cxnLst>
            <a:rect l="l" t="t" r="r" b="b"/>
            <a:pathLst>
              <a:path w="623" h="668">
                <a:moveTo>
                  <a:pt x="142" y="610"/>
                </a:moveTo>
                <a:cubicBezTo>
                  <a:pt x="174" y="616"/>
                  <a:pt x="286" y="656"/>
                  <a:pt x="336" y="662"/>
                </a:cubicBezTo>
                <a:cubicBezTo>
                  <a:pt x="386" y="668"/>
                  <a:pt x="415" y="659"/>
                  <a:pt x="445" y="644"/>
                </a:cubicBezTo>
                <a:cubicBezTo>
                  <a:pt x="475" y="629"/>
                  <a:pt x="514" y="592"/>
                  <a:pt x="518" y="571"/>
                </a:cubicBezTo>
                <a:cubicBezTo>
                  <a:pt x="521" y="549"/>
                  <a:pt x="493" y="513"/>
                  <a:pt x="466" y="518"/>
                </a:cubicBezTo>
                <a:cubicBezTo>
                  <a:pt x="438" y="523"/>
                  <a:pt x="410" y="595"/>
                  <a:pt x="352" y="599"/>
                </a:cubicBezTo>
                <a:cubicBezTo>
                  <a:pt x="294" y="603"/>
                  <a:pt x="176" y="567"/>
                  <a:pt x="119" y="543"/>
                </a:cubicBezTo>
                <a:cubicBezTo>
                  <a:pt x="62" y="519"/>
                  <a:pt x="14" y="473"/>
                  <a:pt x="7" y="453"/>
                </a:cubicBezTo>
                <a:cubicBezTo>
                  <a:pt x="0" y="433"/>
                  <a:pt x="47" y="422"/>
                  <a:pt x="74" y="423"/>
                </a:cubicBezTo>
                <a:cubicBezTo>
                  <a:pt x="101" y="424"/>
                  <a:pt x="136" y="449"/>
                  <a:pt x="172" y="460"/>
                </a:cubicBezTo>
                <a:cubicBezTo>
                  <a:pt x="208" y="471"/>
                  <a:pt x="255" y="483"/>
                  <a:pt x="290" y="487"/>
                </a:cubicBezTo>
                <a:cubicBezTo>
                  <a:pt x="325" y="491"/>
                  <a:pt x="347" y="489"/>
                  <a:pt x="381" y="483"/>
                </a:cubicBezTo>
                <a:cubicBezTo>
                  <a:pt x="415" y="477"/>
                  <a:pt x="462" y="468"/>
                  <a:pt x="497" y="451"/>
                </a:cubicBezTo>
                <a:cubicBezTo>
                  <a:pt x="532" y="434"/>
                  <a:pt x="581" y="400"/>
                  <a:pt x="591" y="378"/>
                </a:cubicBezTo>
                <a:cubicBezTo>
                  <a:pt x="601" y="356"/>
                  <a:pt x="578" y="319"/>
                  <a:pt x="558" y="318"/>
                </a:cubicBezTo>
                <a:cubicBezTo>
                  <a:pt x="538" y="317"/>
                  <a:pt x="508" y="359"/>
                  <a:pt x="471" y="371"/>
                </a:cubicBezTo>
                <a:cubicBezTo>
                  <a:pt x="434" y="383"/>
                  <a:pt x="376" y="392"/>
                  <a:pt x="336" y="393"/>
                </a:cubicBezTo>
                <a:cubicBezTo>
                  <a:pt x="296" y="394"/>
                  <a:pt x="265" y="381"/>
                  <a:pt x="229" y="375"/>
                </a:cubicBezTo>
                <a:cubicBezTo>
                  <a:pt x="193" y="369"/>
                  <a:pt x="136" y="373"/>
                  <a:pt x="119" y="356"/>
                </a:cubicBezTo>
                <a:cubicBezTo>
                  <a:pt x="102" y="339"/>
                  <a:pt x="102" y="278"/>
                  <a:pt x="125" y="270"/>
                </a:cubicBezTo>
                <a:cubicBezTo>
                  <a:pt x="148" y="262"/>
                  <a:pt x="219" y="301"/>
                  <a:pt x="259" y="309"/>
                </a:cubicBezTo>
                <a:cubicBezTo>
                  <a:pt x="300" y="317"/>
                  <a:pt x="332" y="322"/>
                  <a:pt x="365" y="320"/>
                </a:cubicBezTo>
                <a:cubicBezTo>
                  <a:pt x="398" y="317"/>
                  <a:pt x="431" y="305"/>
                  <a:pt x="461" y="294"/>
                </a:cubicBezTo>
                <a:cubicBezTo>
                  <a:pt x="491" y="284"/>
                  <a:pt x="522" y="277"/>
                  <a:pt x="548" y="259"/>
                </a:cubicBezTo>
                <a:cubicBezTo>
                  <a:pt x="574" y="240"/>
                  <a:pt x="616" y="205"/>
                  <a:pt x="620" y="184"/>
                </a:cubicBezTo>
                <a:cubicBezTo>
                  <a:pt x="623" y="164"/>
                  <a:pt x="590" y="131"/>
                  <a:pt x="568" y="133"/>
                </a:cubicBezTo>
                <a:cubicBezTo>
                  <a:pt x="546" y="133"/>
                  <a:pt x="515" y="178"/>
                  <a:pt x="489" y="193"/>
                </a:cubicBezTo>
                <a:cubicBezTo>
                  <a:pt x="464" y="208"/>
                  <a:pt x="433" y="215"/>
                  <a:pt x="414" y="220"/>
                </a:cubicBezTo>
                <a:cubicBezTo>
                  <a:pt x="395" y="227"/>
                  <a:pt x="393" y="224"/>
                  <a:pt x="373" y="227"/>
                </a:cubicBezTo>
                <a:cubicBezTo>
                  <a:pt x="352" y="231"/>
                  <a:pt x="319" y="247"/>
                  <a:pt x="290" y="242"/>
                </a:cubicBezTo>
                <a:cubicBezTo>
                  <a:pt x="261" y="237"/>
                  <a:pt x="215" y="214"/>
                  <a:pt x="198" y="197"/>
                </a:cubicBezTo>
                <a:cubicBezTo>
                  <a:pt x="181" y="180"/>
                  <a:pt x="182" y="149"/>
                  <a:pt x="187" y="137"/>
                </a:cubicBezTo>
                <a:cubicBezTo>
                  <a:pt x="193" y="126"/>
                  <a:pt x="205" y="123"/>
                  <a:pt x="228" y="130"/>
                </a:cubicBezTo>
                <a:cubicBezTo>
                  <a:pt x="250" y="137"/>
                  <a:pt x="292" y="170"/>
                  <a:pt x="321" y="175"/>
                </a:cubicBezTo>
                <a:cubicBezTo>
                  <a:pt x="350" y="181"/>
                  <a:pt x="371" y="177"/>
                  <a:pt x="404" y="161"/>
                </a:cubicBezTo>
                <a:cubicBezTo>
                  <a:pt x="437" y="145"/>
                  <a:pt x="484" y="96"/>
                  <a:pt x="516" y="80"/>
                </a:cubicBezTo>
                <a:cubicBezTo>
                  <a:pt x="549" y="64"/>
                  <a:pt x="587" y="78"/>
                  <a:pt x="599" y="65"/>
                </a:cubicBezTo>
                <a:cubicBezTo>
                  <a:pt x="611" y="53"/>
                  <a:pt x="611" y="12"/>
                  <a:pt x="589" y="6"/>
                </a:cubicBezTo>
                <a:cubicBezTo>
                  <a:pt x="567" y="0"/>
                  <a:pt x="501" y="11"/>
                  <a:pt x="466" y="28"/>
                </a:cubicBezTo>
                <a:cubicBezTo>
                  <a:pt x="431" y="45"/>
                  <a:pt x="415" y="102"/>
                  <a:pt x="381" y="109"/>
                </a:cubicBezTo>
                <a:cubicBezTo>
                  <a:pt x="347" y="116"/>
                  <a:pt x="286" y="79"/>
                  <a:pt x="261" y="71"/>
                </a:cubicBezTo>
              </a:path>
            </a:pathLst>
          </a:custGeom>
          <a:noFill/>
          <a:ln w="38160">
            <a:solidFill>
              <a:srgbClr val="808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443" name="Oval 145"/>
          <p:cNvSpPr/>
          <p:nvPr/>
        </p:nvSpPr>
        <p:spPr>
          <a:xfrm>
            <a:off x="2819520" y="1066680"/>
            <a:ext cx="152280" cy="15264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444" name="Freeform 146"/>
          <p:cNvSpPr/>
          <p:nvPr/>
        </p:nvSpPr>
        <p:spPr>
          <a:xfrm>
            <a:off x="2820960" y="1219320"/>
            <a:ext cx="7452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1024741373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445" name="Oval 147"/>
          <p:cNvSpPr/>
          <p:nvPr/>
        </p:nvSpPr>
        <p:spPr>
          <a:xfrm>
            <a:off x="2971800" y="1066680"/>
            <a:ext cx="152280" cy="15264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446" name="Freeform 148"/>
          <p:cNvSpPr/>
          <p:nvPr/>
        </p:nvSpPr>
        <p:spPr>
          <a:xfrm>
            <a:off x="2973240" y="1219320"/>
            <a:ext cx="7488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1024741373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447" name="Oval 149"/>
          <p:cNvSpPr/>
          <p:nvPr/>
        </p:nvSpPr>
        <p:spPr>
          <a:xfrm>
            <a:off x="3124080" y="1066680"/>
            <a:ext cx="152640" cy="15264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448" name="Freeform 150"/>
          <p:cNvSpPr/>
          <p:nvPr/>
        </p:nvSpPr>
        <p:spPr>
          <a:xfrm>
            <a:off x="3125880" y="1219320"/>
            <a:ext cx="7452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1024741373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449" name="Oval 151"/>
          <p:cNvSpPr/>
          <p:nvPr/>
        </p:nvSpPr>
        <p:spPr>
          <a:xfrm>
            <a:off x="3276720" y="1066680"/>
            <a:ext cx="152280" cy="15264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450" name="Freeform 152"/>
          <p:cNvSpPr/>
          <p:nvPr/>
        </p:nvSpPr>
        <p:spPr>
          <a:xfrm>
            <a:off x="3278160" y="1219320"/>
            <a:ext cx="7452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1024741373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451" name="Oval 153"/>
          <p:cNvSpPr/>
          <p:nvPr/>
        </p:nvSpPr>
        <p:spPr>
          <a:xfrm>
            <a:off x="3429000" y="1066680"/>
            <a:ext cx="152280" cy="15264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452" name="Freeform 154"/>
          <p:cNvSpPr/>
          <p:nvPr/>
        </p:nvSpPr>
        <p:spPr>
          <a:xfrm>
            <a:off x="3430440" y="1219320"/>
            <a:ext cx="7488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1024741373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453" name="Oval 155"/>
          <p:cNvSpPr/>
          <p:nvPr/>
        </p:nvSpPr>
        <p:spPr>
          <a:xfrm>
            <a:off x="3581280" y="1066680"/>
            <a:ext cx="152640" cy="15264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454" name="Freeform 156"/>
          <p:cNvSpPr/>
          <p:nvPr/>
        </p:nvSpPr>
        <p:spPr>
          <a:xfrm>
            <a:off x="3583080" y="1219320"/>
            <a:ext cx="7452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1024741373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455" name="Oval 157"/>
          <p:cNvSpPr/>
          <p:nvPr/>
        </p:nvSpPr>
        <p:spPr>
          <a:xfrm>
            <a:off x="3733920" y="1066680"/>
            <a:ext cx="152280" cy="15264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456" name="Freeform 158"/>
          <p:cNvSpPr/>
          <p:nvPr/>
        </p:nvSpPr>
        <p:spPr>
          <a:xfrm>
            <a:off x="3733920" y="1219320"/>
            <a:ext cx="7596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1092154005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457" name="Oval 159"/>
          <p:cNvSpPr/>
          <p:nvPr/>
        </p:nvSpPr>
        <p:spPr>
          <a:xfrm>
            <a:off x="2819520" y="2057400"/>
            <a:ext cx="152280" cy="15228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458" name="Freeform 160"/>
          <p:cNvSpPr/>
          <p:nvPr/>
        </p:nvSpPr>
        <p:spPr>
          <a:xfrm>
            <a:off x="2820960" y="1676520"/>
            <a:ext cx="7452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1024741373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459" name="Oval 161"/>
          <p:cNvSpPr/>
          <p:nvPr/>
        </p:nvSpPr>
        <p:spPr>
          <a:xfrm>
            <a:off x="2971800" y="2057400"/>
            <a:ext cx="152280" cy="15228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460" name="Freeform 162"/>
          <p:cNvSpPr/>
          <p:nvPr/>
        </p:nvSpPr>
        <p:spPr>
          <a:xfrm>
            <a:off x="2973240" y="1676520"/>
            <a:ext cx="7488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1024741373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461" name="Oval 163"/>
          <p:cNvSpPr/>
          <p:nvPr/>
        </p:nvSpPr>
        <p:spPr>
          <a:xfrm>
            <a:off x="3124080" y="2057400"/>
            <a:ext cx="152640" cy="15228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462" name="Freeform 164"/>
          <p:cNvSpPr/>
          <p:nvPr/>
        </p:nvSpPr>
        <p:spPr>
          <a:xfrm>
            <a:off x="3125880" y="1676520"/>
            <a:ext cx="7452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1024741373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463" name="Oval 165"/>
          <p:cNvSpPr/>
          <p:nvPr/>
        </p:nvSpPr>
        <p:spPr>
          <a:xfrm>
            <a:off x="3276720" y="2057400"/>
            <a:ext cx="152280" cy="15228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464" name="Freeform 166"/>
          <p:cNvSpPr/>
          <p:nvPr/>
        </p:nvSpPr>
        <p:spPr>
          <a:xfrm>
            <a:off x="3278160" y="1676520"/>
            <a:ext cx="7452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1024741373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465" name="Oval 167"/>
          <p:cNvSpPr/>
          <p:nvPr/>
        </p:nvSpPr>
        <p:spPr>
          <a:xfrm>
            <a:off x="3429000" y="2057400"/>
            <a:ext cx="152280" cy="15228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466" name="Freeform 168"/>
          <p:cNvSpPr/>
          <p:nvPr/>
        </p:nvSpPr>
        <p:spPr>
          <a:xfrm>
            <a:off x="3430440" y="1676520"/>
            <a:ext cx="7488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1024741373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467" name="Oval 169"/>
          <p:cNvSpPr/>
          <p:nvPr/>
        </p:nvSpPr>
        <p:spPr>
          <a:xfrm>
            <a:off x="3581280" y="2057400"/>
            <a:ext cx="152640" cy="15228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468" name="Freeform 170"/>
          <p:cNvSpPr/>
          <p:nvPr/>
        </p:nvSpPr>
        <p:spPr>
          <a:xfrm>
            <a:off x="3583080" y="1676520"/>
            <a:ext cx="7452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1024741373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469" name="Oval 171"/>
          <p:cNvSpPr/>
          <p:nvPr/>
        </p:nvSpPr>
        <p:spPr>
          <a:xfrm>
            <a:off x="3733920" y="2057400"/>
            <a:ext cx="152280" cy="15228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470" name="Freeform 172"/>
          <p:cNvSpPr/>
          <p:nvPr/>
        </p:nvSpPr>
        <p:spPr>
          <a:xfrm>
            <a:off x="3733920" y="1676520"/>
            <a:ext cx="7596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1092154005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471" name="Freeform 173"/>
          <p:cNvSpPr/>
          <p:nvPr/>
        </p:nvSpPr>
        <p:spPr>
          <a:xfrm>
            <a:off x="3733920" y="838080"/>
            <a:ext cx="596880" cy="1600200"/>
          </a:xfrm>
          <a:custGeom>
            <a:avLst/>
            <a:gdLst>
              <a:gd name="GluePoint1X" fmla="*/ 2147483647 w 560"/>
              <a:gd name="GluePoint1Y" fmla="*/ 2147483647 h 632"/>
              <a:gd name="GluePoint2X" fmla="*/ 2147483647 w 560"/>
              <a:gd name="GluePoint2Y" fmla="*/ 2147483647 h 632"/>
              <a:gd name="GluePoint3X" fmla="*/ 2147483647 w 560"/>
              <a:gd name="GluePoint3Y" fmla="*/ 2147483647 h 632"/>
              <a:gd name="GluePoint4X" fmla="*/ 2147483647 w 560"/>
              <a:gd name="GluePoint4Y" fmla="*/ 2147483647 h 632"/>
              <a:gd name="GluePoint5X" fmla="*/ 2147483647 w 560"/>
              <a:gd name="GluePoint5Y" fmla="*/ 2147483647 h 632"/>
              <a:gd name="GluePoint6X" fmla="*/ 2147483647 w 560"/>
              <a:gd name="GluePoint6Y" fmla="*/ 2147483647 h 632"/>
              <a:gd name="GluePoint7X" fmla="*/ 2147483647 w 560"/>
              <a:gd name="GluePoint7Y" fmla="*/ 2147483647 h 632"/>
              <a:gd name="GluePoint8X" fmla="*/ 2147483647 w 560"/>
              <a:gd name="GluePoint8Y" fmla="*/ 2147483647 h 632"/>
              <a:gd name="GluePoint9X" fmla="*/ 2147483647 w 560"/>
              <a:gd name="GluePoint9Y" fmla="*/ 2147483647 h 632"/>
              <a:gd name="GluePoint10X" fmla="*/ 2147483647 w 560"/>
              <a:gd name="GluePoint10Y" fmla="*/ 2147483647 h 632"/>
              <a:gd name="GluePoint11X" fmla="*/ 2147483647 w 560"/>
              <a:gd name="GluePoint11Y" fmla="*/ 2147483647 h 632"/>
              <a:gd name="GluePoint12X" fmla="*/ 2147483647 w 560"/>
              <a:gd name="GluePoint12Y" fmla="*/ 2147483647 h 632"/>
              <a:gd name="GluePoint13X" fmla="*/ 2147483647 w 560"/>
              <a:gd name="GluePoint13Y" fmla="*/ 2147483647 h 632"/>
              <a:gd name="GluePoint14X" fmla="*/ 2147483647 w 560"/>
              <a:gd name="GluePoint14Y" fmla="*/ 2147483647 h 632"/>
              <a:gd name="GluePoint15X" fmla="*/ 2147483647 w 560"/>
              <a:gd name="GluePoint15Y" fmla="*/ 2147483647 h 632"/>
              <a:gd name="GluePoint16X" fmla="*/ 2147483647 w 560"/>
              <a:gd name="GluePoint16Y" fmla="*/ 2147483647 h 63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</a:cxnLst>
            <a:rect l="l" t="t" r="r" b="b"/>
            <a:pathLst>
              <a:path w="560" h="632">
                <a:moveTo>
                  <a:pt x="136" y="8"/>
                </a:moveTo>
                <a:cubicBezTo>
                  <a:pt x="168" y="8"/>
                  <a:pt x="184" y="56"/>
                  <a:pt x="232" y="56"/>
                </a:cubicBezTo>
                <a:cubicBezTo>
                  <a:pt x="280" y="56"/>
                  <a:pt x="376" y="0"/>
                  <a:pt x="424" y="8"/>
                </a:cubicBezTo>
                <a:cubicBezTo>
                  <a:pt x="472" y="16"/>
                  <a:pt x="520" y="64"/>
                  <a:pt x="520" y="104"/>
                </a:cubicBezTo>
                <a:cubicBezTo>
                  <a:pt x="520" y="144"/>
                  <a:pt x="440" y="192"/>
                  <a:pt x="424" y="248"/>
                </a:cubicBezTo>
                <a:cubicBezTo>
                  <a:pt x="408" y="304"/>
                  <a:pt x="408" y="400"/>
                  <a:pt x="424" y="440"/>
                </a:cubicBezTo>
                <a:cubicBezTo>
                  <a:pt x="440" y="480"/>
                  <a:pt x="504" y="464"/>
                  <a:pt x="520" y="488"/>
                </a:cubicBezTo>
                <a:cubicBezTo>
                  <a:pt x="536" y="512"/>
                  <a:pt x="560" y="560"/>
                  <a:pt x="520" y="584"/>
                </a:cubicBezTo>
                <a:cubicBezTo>
                  <a:pt x="480" y="608"/>
                  <a:pt x="360" y="632"/>
                  <a:pt x="280" y="632"/>
                </a:cubicBezTo>
                <a:cubicBezTo>
                  <a:pt x="200" y="632"/>
                  <a:pt x="80" y="608"/>
                  <a:pt x="40" y="584"/>
                </a:cubicBezTo>
                <a:cubicBezTo>
                  <a:pt x="0" y="560"/>
                  <a:pt x="24" y="512"/>
                  <a:pt x="40" y="488"/>
                </a:cubicBezTo>
                <a:cubicBezTo>
                  <a:pt x="56" y="464"/>
                  <a:pt x="120" y="480"/>
                  <a:pt x="136" y="440"/>
                </a:cubicBezTo>
                <a:cubicBezTo>
                  <a:pt x="152" y="400"/>
                  <a:pt x="152" y="296"/>
                  <a:pt x="136" y="248"/>
                </a:cubicBezTo>
                <a:cubicBezTo>
                  <a:pt x="120" y="200"/>
                  <a:pt x="56" y="184"/>
                  <a:pt x="40" y="152"/>
                </a:cubicBezTo>
                <a:cubicBezTo>
                  <a:pt x="24" y="120"/>
                  <a:pt x="24" y="80"/>
                  <a:pt x="40" y="56"/>
                </a:cubicBezTo>
                <a:cubicBezTo>
                  <a:pt x="56" y="32"/>
                  <a:pt x="104" y="8"/>
                  <a:pt x="136" y="8"/>
                </a:cubicBezTo>
                <a:close/>
              </a:path>
            </a:pathLst>
          </a:custGeom>
          <a:solidFill>
            <a:srgbClr val="969696"/>
          </a:solidFill>
          <a:ln w="3816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472" name="Text Box 174"/>
          <p:cNvSpPr/>
          <p:nvPr/>
        </p:nvSpPr>
        <p:spPr>
          <a:xfrm>
            <a:off x="7315200" y="4648320"/>
            <a:ext cx="160020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Mitochondrie</a:t>
            </a:r>
            <a:endParaRPr b="1" lang="en-US" sz="16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473" name="Arc 175"/>
          <p:cNvSpPr/>
          <p:nvPr/>
        </p:nvSpPr>
        <p:spPr>
          <a:xfrm flipV="1" rot="5278800">
            <a:off x="6819840" y="3085560"/>
            <a:ext cx="380880" cy="762120"/>
          </a:xfrm>
          <a:custGeom>
            <a:avLst/>
            <a:gdLst>
              <a:gd name="GluePoint1X" fmla="*/ 0 w 21600"/>
              <a:gd name="GluePoint1Y" fmla="*/ 0 h 21600"/>
              <a:gd name="GluePoint2X" fmla="*/ 118540689 w 21600"/>
              <a:gd name="GluePoint2Y" fmla="*/ 948325475 h 21600"/>
              <a:gd name="GluePoint3X" fmla="*/ 0 w 21600"/>
              <a:gd name="GluePoint3Y" fmla="*/ 948325475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l" t="t" r="r" b="b"/>
            <a:pathLst>
              <a:path fill="none" w="21600" h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stroke="0" w="21600" h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38160">
            <a:solidFill>
              <a:srgbClr val="ffffff"/>
            </a:solidFill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474" name="Text Box 176"/>
          <p:cNvSpPr/>
          <p:nvPr/>
        </p:nvSpPr>
        <p:spPr>
          <a:xfrm>
            <a:off x="8229600" y="3657600"/>
            <a:ext cx="685800" cy="58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3200" strike="noStrike" u="none">
                <a:solidFill>
                  <a:srgbClr val="ffff00"/>
                </a:solidFill>
                <a:effectLst/>
                <a:uFillTx/>
                <a:latin typeface="Wingdings"/>
                <a:ea typeface="Wingdings"/>
              </a:rPr>
              <a:t></a:t>
            </a:r>
            <a:endParaRPr b="1" lang="en-US" sz="32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475" name="Line 177"/>
          <p:cNvSpPr/>
          <p:nvPr/>
        </p:nvSpPr>
        <p:spPr>
          <a:xfrm flipH="1">
            <a:off x="6705720" y="4495680"/>
            <a:ext cx="457200" cy="609840"/>
          </a:xfrm>
          <a:prstGeom prst="line">
            <a:avLst/>
          </a:prstGeom>
          <a:ln w="5076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476" name="Text Box 178"/>
          <p:cNvSpPr/>
          <p:nvPr/>
        </p:nvSpPr>
        <p:spPr>
          <a:xfrm>
            <a:off x="6095880" y="5105520"/>
            <a:ext cx="60984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ATP</a:t>
            </a:r>
            <a:endParaRPr b="1" lang="en-US" sz="16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477" name="Oval 179"/>
          <p:cNvSpPr/>
          <p:nvPr/>
        </p:nvSpPr>
        <p:spPr>
          <a:xfrm>
            <a:off x="533520" y="1066680"/>
            <a:ext cx="152280" cy="15264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478" name="Freeform 180"/>
          <p:cNvSpPr/>
          <p:nvPr/>
        </p:nvSpPr>
        <p:spPr>
          <a:xfrm>
            <a:off x="534960" y="1219320"/>
            <a:ext cx="7452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1024741373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479" name="Oval 181"/>
          <p:cNvSpPr/>
          <p:nvPr/>
        </p:nvSpPr>
        <p:spPr>
          <a:xfrm>
            <a:off x="685800" y="1066680"/>
            <a:ext cx="152280" cy="15264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480" name="Freeform 182"/>
          <p:cNvSpPr/>
          <p:nvPr/>
        </p:nvSpPr>
        <p:spPr>
          <a:xfrm>
            <a:off x="687240" y="1219320"/>
            <a:ext cx="7488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1024741373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481" name="Oval 183"/>
          <p:cNvSpPr/>
          <p:nvPr/>
        </p:nvSpPr>
        <p:spPr>
          <a:xfrm>
            <a:off x="838080" y="1066680"/>
            <a:ext cx="152640" cy="15264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482" name="Freeform 184"/>
          <p:cNvSpPr/>
          <p:nvPr/>
        </p:nvSpPr>
        <p:spPr>
          <a:xfrm>
            <a:off x="839880" y="1219320"/>
            <a:ext cx="7452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1024741373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483" name="Oval 185"/>
          <p:cNvSpPr/>
          <p:nvPr/>
        </p:nvSpPr>
        <p:spPr>
          <a:xfrm>
            <a:off x="990720" y="1066680"/>
            <a:ext cx="152280" cy="15264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484" name="Freeform 186"/>
          <p:cNvSpPr/>
          <p:nvPr/>
        </p:nvSpPr>
        <p:spPr>
          <a:xfrm>
            <a:off x="992160" y="1219320"/>
            <a:ext cx="7452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1024741373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485" name="Oval 187"/>
          <p:cNvSpPr/>
          <p:nvPr/>
        </p:nvSpPr>
        <p:spPr>
          <a:xfrm>
            <a:off x="1143000" y="1066680"/>
            <a:ext cx="152280" cy="15264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486" name="Freeform 188"/>
          <p:cNvSpPr/>
          <p:nvPr/>
        </p:nvSpPr>
        <p:spPr>
          <a:xfrm>
            <a:off x="1144440" y="1219320"/>
            <a:ext cx="7488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1024741373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487" name="Oval 189"/>
          <p:cNvSpPr/>
          <p:nvPr/>
        </p:nvSpPr>
        <p:spPr>
          <a:xfrm>
            <a:off x="1295280" y="1066680"/>
            <a:ext cx="82800" cy="152640"/>
          </a:xfrm>
          <a:prstGeom prst="ellipse">
            <a:avLst/>
          </a:prstGeom>
          <a:solidFill>
            <a:srgbClr val="c0c0c0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488" name="Freeform 190"/>
          <p:cNvSpPr/>
          <p:nvPr/>
        </p:nvSpPr>
        <p:spPr>
          <a:xfrm>
            <a:off x="1297080" y="1219320"/>
            <a:ext cx="7452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1024741373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489" name="Oval 191"/>
          <p:cNvSpPr/>
          <p:nvPr/>
        </p:nvSpPr>
        <p:spPr>
          <a:xfrm>
            <a:off x="533520" y="2057400"/>
            <a:ext cx="152280" cy="15228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490" name="Freeform 192"/>
          <p:cNvSpPr/>
          <p:nvPr/>
        </p:nvSpPr>
        <p:spPr>
          <a:xfrm>
            <a:off x="534960" y="1676520"/>
            <a:ext cx="7452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1024741373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491" name="Oval 193"/>
          <p:cNvSpPr/>
          <p:nvPr/>
        </p:nvSpPr>
        <p:spPr>
          <a:xfrm>
            <a:off x="685800" y="2057400"/>
            <a:ext cx="152280" cy="15228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492" name="Freeform 194"/>
          <p:cNvSpPr/>
          <p:nvPr/>
        </p:nvSpPr>
        <p:spPr>
          <a:xfrm>
            <a:off x="687240" y="1676520"/>
            <a:ext cx="7488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1024741373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493" name="Oval 195"/>
          <p:cNvSpPr/>
          <p:nvPr/>
        </p:nvSpPr>
        <p:spPr>
          <a:xfrm>
            <a:off x="838080" y="2057400"/>
            <a:ext cx="152640" cy="15228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494" name="Freeform 196"/>
          <p:cNvSpPr/>
          <p:nvPr/>
        </p:nvSpPr>
        <p:spPr>
          <a:xfrm>
            <a:off x="839880" y="1676520"/>
            <a:ext cx="7452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1024741373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495" name="Oval 197"/>
          <p:cNvSpPr/>
          <p:nvPr/>
        </p:nvSpPr>
        <p:spPr>
          <a:xfrm>
            <a:off x="990720" y="2057400"/>
            <a:ext cx="152280" cy="15228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496" name="Freeform 198"/>
          <p:cNvSpPr/>
          <p:nvPr/>
        </p:nvSpPr>
        <p:spPr>
          <a:xfrm>
            <a:off x="992160" y="1676520"/>
            <a:ext cx="7452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1024741373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497" name="Oval 199"/>
          <p:cNvSpPr/>
          <p:nvPr/>
        </p:nvSpPr>
        <p:spPr>
          <a:xfrm>
            <a:off x="1143000" y="2057400"/>
            <a:ext cx="152280" cy="152280"/>
          </a:xfrm>
          <a:prstGeom prst="ellipse">
            <a:avLst/>
          </a:prstGeom>
          <a:solidFill>
            <a:srgbClr val="969696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498" name="Freeform 200"/>
          <p:cNvSpPr/>
          <p:nvPr/>
        </p:nvSpPr>
        <p:spPr>
          <a:xfrm>
            <a:off x="1144440" y="1676520"/>
            <a:ext cx="7488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1024741373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499" name="Oval 201"/>
          <p:cNvSpPr/>
          <p:nvPr/>
        </p:nvSpPr>
        <p:spPr>
          <a:xfrm>
            <a:off x="1295280" y="2057400"/>
            <a:ext cx="82800" cy="152280"/>
          </a:xfrm>
          <a:prstGeom prst="ellipse">
            <a:avLst/>
          </a:prstGeom>
          <a:solidFill>
            <a:srgbClr val="c0c0c0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500" name="Freeform 202"/>
          <p:cNvSpPr/>
          <p:nvPr/>
        </p:nvSpPr>
        <p:spPr>
          <a:xfrm>
            <a:off x="1297080" y="1676520"/>
            <a:ext cx="7452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1024741373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501" name="Oval 203"/>
          <p:cNvSpPr/>
          <p:nvPr/>
        </p:nvSpPr>
        <p:spPr>
          <a:xfrm>
            <a:off x="1600200" y="1066680"/>
            <a:ext cx="76320" cy="152640"/>
          </a:xfrm>
          <a:prstGeom prst="ellipse">
            <a:avLst/>
          </a:prstGeom>
          <a:solidFill>
            <a:srgbClr val="00cc99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502" name="Freeform 204"/>
          <p:cNvSpPr/>
          <p:nvPr/>
        </p:nvSpPr>
        <p:spPr>
          <a:xfrm>
            <a:off x="1601640" y="1219320"/>
            <a:ext cx="7488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1024741373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503" name="Oval 205"/>
          <p:cNvSpPr/>
          <p:nvPr/>
        </p:nvSpPr>
        <p:spPr>
          <a:xfrm>
            <a:off x="1600200" y="2057400"/>
            <a:ext cx="82440" cy="152280"/>
          </a:xfrm>
          <a:prstGeom prst="ellipse">
            <a:avLst/>
          </a:prstGeom>
          <a:solidFill>
            <a:srgbClr val="c0c0c0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504" name="Freeform 206"/>
          <p:cNvSpPr/>
          <p:nvPr/>
        </p:nvSpPr>
        <p:spPr>
          <a:xfrm>
            <a:off x="1601640" y="1676520"/>
            <a:ext cx="74880" cy="380880"/>
          </a:xfrm>
          <a:custGeom>
            <a:avLst/>
            <a:gdLst>
              <a:gd name="GluePoint1X" fmla="*/ 2147483647 w 74"/>
              <a:gd name="GluePoint1Y" fmla="*/ 0 h 624"/>
              <a:gd name="GluePoint2X" fmla="*/ 2147483647 w 74"/>
              <a:gd name="GluePoint2Y" fmla="*/ 2147483647 h 624"/>
              <a:gd name="GluePoint3X" fmla="*/ 1024741373 w 74"/>
              <a:gd name="GluePoint3Y" fmla="*/ 2147483647 h 624"/>
              <a:gd name="GluePoint4X" fmla="*/ 2147483647 w 74"/>
              <a:gd name="GluePoint4Y" fmla="*/ 2147483647 h 624"/>
              <a:gd name="GluePoint5X" fmla="*/ 2147483647 w 74"/>
              <a:gd name="GluePoint5Y" fmla="*/ 2147483647 h 624"/>
              <a:gd name="GluePoint6X" fmla="*/ 2147483647 w 74"/>
              <a:gd name="GluePoint6Y" fmla="*/ 2147483647 h 6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74" h="624">
                <a:moveTo>
                  <a:pt x="49" y="0"/>
                </a:moveTo>
                <a:cubicBezTo>
                  <a:pt x="48" y="19"/>
                  <a:pt x="49" y="72"/>
                  <a:pt x="41" y="112"/>
                </a:cubicBezTo>
                <a:cubicBezTo>
                  <a:pt x="33" y="152"/>
                  <a:pt x="2" y="190"/>
                  <a:pt x="1" y="240"/>
                </a:cubicBezTo>
                <a:cubicBezTo>
                  <a:pt x="0" y="290"/>
                  <a:pt x="21" y="363"/>
                  <a:pt x="33" y="411"/>
                </a:cubicBezTo>
                <a:cubicBezTo>
                  <a:pt x="45" y="459"/>
                  <a:pt x="68" y="496"/>
                  <a:pt x="71" y="531"/>
                </a:cubicBezTo>
                <a:cubicBezTo>
                  <a:pt x="74" y="566"/>
                  <a:pt x="54" y="605"/>
                  <a:pt x="49" y="624"/>
                </a:cubicBezTo>
              </a:path>
            </a:pathLst>
          </a:custGeom>
          <a:noFill/>
          <a:ln w="93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505" name="Text Box 207"/>
          <p:cNvSpPr/>
          <p:nvPr/>
        </p:nvSpPr>
        <p:spPr>
          <a:xfrm>
            <a:off x="3505320" y="4754520"/>
            <a:ext cx="685800" cy="58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3200" strike="noStrike" u="none">
                <a:solidFill>
                  <a:srgbClr val="ffff00"/>
                </a:solidFill>
                <a:effectLst/>
                <a:uFillTx/>
                <a:latin typeface="Wingdings"/>
                <a:ea typeface="Wingdings"/>
              </a:rPr>
              <a:t></a:t>
            </a:r>
            <a:endParaRPr b="1" lang="en-US" sz="32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506" name="Text Box 208"/>
          <p:cNvSpPr/>
          <p:nvPr/>
        </p:nvSpPr>
        <p:spPr>
          <a:xfrm>
            <a:off x="0" y="304920"/>
            <a:ext cx="685800" cy="58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3200" strike="noStrike" u="none">
                <a:solidFill>
                  <a:srgbClr val="ffff00"/>
                </a:solidFill>
                <a:effectLst/>
                <a:uFillTx/>
                <a:latin typeface="Wingdings"/>
                <a:ea typeface="Wingdings"/>
              </a:rPr>
              <a:t></a:t>
            </a:r>
            <a:endParaRPr b="1" lang="en-US" sz="32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507" name="Text Box 209"/>
          <p:cNvSpPr/>
          <p:nvPr/>
        </p:nvSpPr>
        <p:spPr>
          <a:xfrm>
            <a:off x="533520" y="380880"/>
            <a:ext cx="3200400" cy="70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Troponine, CPK, LDH, </a:t>
            </a:r>
            <a:endParaRPr b="1" lang="en-US" sz="16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spcBef>
                <a:spcPts val="1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myoglobine, 3-méthylhistidine</a:t>
            </a:r>
            <a:endParaRPr b="1" lang="en-US" sz="16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508" name="Line 210"/>
          <p:cNvSpPr/>
          <p:nvPr/>
        </p:nvSpPr>
        <p:spPr>
          <a:xfrm flipH="1" flipV="1">
            <a:off x="1599840" y="3733560"/>
            <a:ext cx="1523880" cy="1523880"/>
          </a:xfrm>
          <a:prstGeom prst="line">
            <a:avLst/>
          </a:prstGeom>
          <a:ln w="50760">
            <a:solidFill>
              <a:srgbClr val="ffffff"/>
            </a:solidFill>
            <a:prstDash val="sysDot"/>
            <a:miter/>
            <a:tailEnd len="sm" type="triangle" w="sm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509" name="Oval 211"/>
          <p:cNvSpPr/>
          <p:nvPr/>
        </p:nvSpPr>
        <p:spPr>
          <a:xfrm>
            <a:off x="1219320" y="3581280"/>
            <a:ext cx="152280" cy="152640"/>
          </a:xfrm>
          <a:prstGeom prst="ellipse">
            <a:avLst/>
          </a:prstGeom>
          <a:solidFill>
            <a:srgbClr val="000000"/>
          </a:solidFill>
          <a:ln w="38160">
            <a:solidFill>
              <a:srgbClr val="ffcc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510" name="Oval 212"/>
          <p:cNvSpPr/>
          <p:nvPr/>
        </p:nvSpPr>
        <p:spPr>
          <a:xfrm>
            <a:off x="1371600" y="3352680"/>
            <a:ext cx="152280" cy="152640"/>
          </a:xfrm>
          <a:prstGeom prst="ellipse">
            <a:avLst/>
          </a:prstGeom>
          <a:solidFill>
            <a:srgbClr val="000000"/>
          </a:solidFill>
          <a:ln w="38160">
            <a:solidFill>
              <a:srgbClr val="ffcc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511" name="Oval 213"/>
          <p:cNvSpPr/>
          <p:nvPr/>
        </p:nvSpPr>
        <p:spPr>
          <a:xfrm>
            <a:off x="1143000" y="3276720"/>
            <a:ext cx="152280" cy="152280"/>
          </a:xfrm>
          <a:prstGeom prst="ellipse">
            <a:avLst/>
          </a:prstGeom>
          <a:solidFill>
            <a:srgbClr val="000000"/>
          </a:solidFill>
          <a:ln w="38160">
            <a:solidFill>
              <a:srgbClr val="ffcc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512" name="Arc 214"/>
          <p:cNvSpPr/>
          <p:nvPr/>
        </p:nvSpPr>
        <p:spPr>
          <a:xfrm rot="665400">
            <a:off x="4951080" y="3348000"/>
            <a:ext cx="2209680" cy="692280"/>
          </a:xfrm>
          <a:custGeom>
            <a:avLst/>
            <a:gdLst>
              <a:gd name="GluePoint1X" fmla="*/ 0 w 34180"/>
              <a:gd name="GluePoint1Y" fmla="*/ 132962496 h 21600"/>
              <a:gd name="GluePoint2X" fmla="*/ 2147483647 w 34180"/>
              <a:gd name="GluePoint2Y" fmla="*/ 710711220 h 21600"/>
              <a:gd name="GluePoint3X" fmla="*/ 2147483647 w 34180"/>
              <a:gd name="GluePoint3Y" fmla="*/ 710711220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l" t="t" r="r" b="b"/>
            <a:pathLst>
              <a:path fill="none" w="34180" h="21600">
                <a:moveTo>
                  <a:pt x="0" y="4041"/>
                </a:moveTo>
                <a:cubicBezTo>
                  <a:pt x="3668" y="1413"/>
                  <a:pt x="8067" y="-1"/>
                  <a:pt x="12580" y="0"/>
                </a:cubicBezTo>
                <a:cubicBezTo>
                  <a:pt x="24509" y="0"/>
                  <a:pt x="34180" y="9670"/>
                  <a:pt x="34180" y="21600"/>
                </a:cubicBezTo>
              </a:path>
              <a:path stroke="0" w="34180" h="21600">
                <a:moveTo>
                  <a:pt x="0" y="4041"/>
                </a:moveTo>
                <a:cubicBezTo>
                  <a:pt x="3668" y="1413"/>
                  <a:pt x="8067" y="-1"/>
                  <a:pt x="12580" y="0"/>
                </a:cubicBezTo>
                <a:cubicBezTo>
                  <a:pt x="24509" y="0"/>
                  <a:pt x="34180" y="9670"/>
                  <a:pt x="34180" y="21600"/>
                </a:cubicBezTo>
                <a:lnTo>
                  <a:pt x="12580" y="21600"/>
                </a:lnTo>
                <a:lnTo>
                  <a:pt x="0" y="4041"/>
                </a:lnTo>
                <a:close/>
              </a:path>
            </a:pathLst>
          </a:custGeom>
          <a:noFill/>
          <a:ln w="50760">
            <a:solidFill>
              <a:srgbClr val="ffffff"/>
            </a:solidFill>
            <a:prstDash val="sysDot"/>
            <a:round/>
            <a:headEnd len="sm" type="triangle" w="sm"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513" name="Text Box 215"/>
          <p:cNvSpPr/>
          <p:nvPr/>
        </p:nvSpPr>
        <p:spPr>
          <a:xfrm>
            <a:off x="3581280" y="3581280"/>
            <a:ext cx="685800" cy="58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3200" strike="noStrike" u="none">
                <a:solidFill>
                  <a:srgbClr val="ffff00"/>
                </a:solidFill>
                <a:effectLst/>
                <a:uFillTx/>
                <a:latin typeface="Wingdings"/>
                <a:ea typeface="Wingdings"/>
              </a:rPr>
              <a:t></a:t>
            </a:r>
            <a:endParaRPr b="1" lang="en-US" sz="32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514" name="Text Box 216"/>
          <p:cNvSpPr/>
          <p:nvPr/>
        </p:nvSpPr>
        <p:spPr>
          <a:xfrm>
            <a:off x="3962520" y="2971800"/>
            <a:ext cx="914400" cy="44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624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 O</a:t>
            </a:r>
            <a:r>
              <a:rPr b="1" lang="fr-FR" sz="20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2</a:t>
            </a:r>
            <a:r>
              <a:rPr b="1" lang="fr-FR" sz="2000" strike="noStrike" u="none" baseline="30000">
                <a:solidFill>
                  <a:srgbClr val="ffff00"/>
                </a:solidFill>
                <a:effectLst/>
                <a:uFillTx/>
                <a:latin typeface="Arial"/>
              </a:rPr>
              <a:t>-</a:t>
            </a:r>
            <a:r>
              <a:rPr b="1" lang="fr-FR" sz="1000" strike="noStrike" u="none">
                <a:solidFill>
                  <a:srgbClr val="ffff00"/>
                </a:solidFill>
                <a:effectLst/>
                <a:uFillTx/>
                <a:latin typeface="Wingdings"/>
                <a:ea typeface="Wingdings"/>
              </a:rPr>
              <a:t></a:t>
            </a:r>
            <a:r>
              <a:rPr b="1" lang="fr-FR" sz="1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endParaRPr b="1" lang="en-US" sz="1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515" name="Line 217"/>
          <p:cNvSpPr/>
          <p:nvPr/>
        </p:nvSpPr>
        <p:spPr>
          <a:xfrm flipH="1" flipV="1">
            <a:off x="3580920" y="2773440"/>
            <a:ext cx="304920" cy="380880"/>
          </a:xfrm>
          <a:prstGeom prst="line">
            <a:avLst/>
          </a:prstGeom>
          <a:ln w="2844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516" name="Text Box 218"/>
          <p:cNvSpPr/>
          <p:nvPr/>
        </p:nvSpPr>
        <p:spPr>
          <a:xfrm>
            <a:off x="2895480" y="2544840"/>
            <a:ext cx="83844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624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LOO</a:t>
            </a:r>
            <a:r>
              <a:rPr b="1" lang="fr-FR" sz="1000" strike="noStrike" u="none">
                <a:solidFill>
                  <a:srgbClr val="ffff00"/>
                </a:solidFill>
                <a:effectLst/>
                <a:uFillTx/>
                <a:latin typeface="Wingdings"/>
                <a:ea typeface="Wingdings"/>
              </a:rPr>
              <a:t></a:t>
            </a:r>
            <a:endParaRPr b="1" lang="en-US" sz="1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517" name="Line 219"/>
          <p:cNvSpPr/>
          <p:nvPr/>
        </p:nvSpPr>
        <p:spPr>
          <a:xfrm flipH="1">
            <a:off x="3505320" y="3154320"/>
            <a:ext cx="380880" cy="0"/>
          </a:xfrm>
          <a:prstGeom prst="line">
            <a:avLst/>
          </a:prstGeom>
          <a:ln w="2844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518" name="Line 220"/>
          <p:cNvSpPr/>
          <p:nvPr/>
        </p:nvSpPr>
        <p:spPr>
          <a:xfrm flipH="1">
            <a:off x="3580920" y="3154320"/>
            <a:ext cx="304920" cy="380880"/>
          </a:xfrm>
          <a:prstGeom prst="line">
            <a:avLst/>
          </a:prstGeom>
          <a:ln w="2844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519" name="Text Box 221"/>
          <p:cNvSpPr/>
          <p:nvPr/>
        </p:nvSpPr>
        <p:spPr>
          <a:xfrm>
            <a:off x="2971800" y="2970360"/>
            <a:ext cx="83808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624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LO</a:t>
            </a:r>
            <a:r>
              <a:rPr b="1" lang="fr-FR" sz="1000" strike="noStrike" u="none">
                <a:solidFill>
                  <a:srgbClr val="ffff00"/>
                </a:solidFill>
                <a:effectLst/>
                <a:uFillTx/>
                <a:latin typeface="Wingdings"/>
                <a:ea typeface="Wingdings"/>
              </a:rPr>
              <a:t></a:t>
            </a:r>
            <a:endParaRPr b="1" lang="en-US" sz="1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520" name="Text Box 222"/>
          <p:cNvSpPr/>
          <p:nvPr/>
        </p:nvSpPr>
        <p:spPr>
          <a:xfrm>
            <a:off x="2971800" y="3351240"/>
            <a:ext cx="68580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</a:t>
            </a:r>
            <a:r>
              <a:rPr b="1" lang="fr-FR" sz="16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2</a:t>
            </a: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</a:t>
            </a:r>
            <a:r>
              <a:rPr b="1" lang="fr-FR" sz="16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2</a:t>
            </a:r>
            <a:endParaRPr b="1" lang="en-US" sz="16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521" name="Arc 223"/>
          <p:cNvSpPr/>
          <p:nvPr/>
        </p:nvSpPr>
        <p:spPr>
          <a:xfrm rot="14602200">
            <a:off x="2124720" y="3865680"/>
            <a:ext cx="2147760" cy="536760"/>
          </a:xfrm>
          <a:custGeom>
            <a:avLst/>
            <a:gdLst>
              <a:gd name="GluePoint1X" fmla="*/ 0 w 25923"/>
              <a:gd name="GluePoint1Y" fmla="*/ 6699213 h 21600"/>
              <a:gd name="GluePoint2X" fmla="*/ 2147483647 w 25923"/>
              <a:gd name="GluePoint2Y" fmla="*/ 331118768 h 21600"/>
              <a:gd name="GluePoint3X" fmla="*/ 2147483647 w 25923"/>
              <a:gd name="GluePoint3Y" fmla="*/ 331118768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l" t="t" r="r" b="b"/>
            <a:pathLst>
              <a:path fill="none" w="25923" h="21600">
                <a:moveTo>
                  <a:pt x="0" y="437"/>
                </a:moveTo>
                <a:cubicBezTo>
                  <a:pt x="1422" y="146"/>
                  <a:pt x="2870" y="-1"/>
                  <a:pt x="4323" y="0"/>
                </a:cubicBezTo>
                <a:cubicBezTo>
                  <a:pt x="16252" y="0"/>
                  <a:pt x="25923" y="9670"/>
                  <a:pt x="25923" y="21600"/>
                </a:cubicBezTo>
              </a:path>
              <a:path stroke="0" w="25923" h="21600">
                <a:moveTo>
                  <a:pt x="0" y="437"/>
                </a:moveTo>
                <a:cubicBezTo>
                  <a:pt x="1422" y="146"/>
                  <a:pt x="2870" y="-1"/>
                  <a:pt x="4323" y="0"/>
                </a:cubicBezTo>
                <a:cubicBezTo>
                  <a:pt x="16252" y="0"/>
                  <a:pt x="25923" y="9670"/>
                  <a:pt x="25923" y="21600"/>
                </a:cubicBezTo>
                <a:lnTo>
                  <a:pt x="4323" y="21600"/>
                </a:lnTo>
                <a:lnTo>
                  <a:pt x="0" y="437"/>
                </a:lnTo>
                <a:close/>
              </a:path>
            </a:pathLst>
          </a:custGeom>
          <a:noFill/>
          <a:ln w="50760">
            <a:solidFill>
              <a:srgbClr val="ffffff"/>
            </a:solidFill>
            <a:prstDash val="sysDot"/>
            <a:round/>
            <a:headEnd len="sm" type="triangle" w="sm"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522" name="Line 224"/>
          <p:cNvSpPr/>
          <p:nvPr/>
        </p:nvSpPr>
        <p:spPr>
          <a:xfrm flipH="1" flipV="1">
            <a:off x="1599840" y="2209680"/>
            <a:ext cx="1066680" cy="914400"/>
          </a:xfrm>
          <a:prstGeom prst="line">
            <a:avLst/>
          </a:prstGeom>
          <a:ln w="50760">
            <a:solidFill>
              <a:srgbClr val="ffffff"/>
            </a:solidFill>
            <a:prstDash val="sysDot"/>
            <a:miter/>
            <a:tailEnd len="sm" type="triangle" w="sm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523" name="Text Box 225"/>
          <p:cNvSpPr/>
          <p:nvPr/>
        </p:nvSpPr>
        <p:spPr>
          <a:xfrm>
            <a:off x="0" y="4572000"/>
            <a:ext cx="2362320" cy="100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12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2000" strike="noStrike" u="sng">
                <a:solidFill>
                  <a:srgbClr val="ffff00"/>
                </a:solidFill>
                <a:effectLst/>
                <a:uFillTx/>
                <a:latin typeface="Arial"/>
              </a:rPr>
              <a:t>Stress mécanique (rupture) et/ou oxydatif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524" name="Text Box 226"/>
          <p:cNvSpPr/>
          <p:nvPr/>
        </p:nvSpPr>
        <p:spPr>
          <a:xfrm>
            <a:off x="5486400" y="4343400"/>
            <a:ext cx="68580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876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CPK</a:t>
            </a:r>
            <a:endParaRPr b="1" lang="en-US" sz="1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525" name="Arc 227"/>
          <p:cNvSpPr/>
          <p:nvPr/>
        </p:nvSpPr>
        <p:spPr>
          <a:xfrm rot="9259200">
            <a:off x="5257440" y="4609800"/>
            <a:ext cx="990720" cy="914400"/>
          </a:xfrm>
          <a:custGeom>
            <a:avLst/>
            <a:gdLst>
              <a:gd name="GluePoint1X" fmla="*/ 805966465 w 19556"/>
              <a:gd name="GluePoint1Y" fmla="*/ 0 h 20691"/>
              <a:gd name="GluePoint2X" fmla="*/ 2147483647 w 19556"/>
              <a:gd name="GluePoint2Y" fmla="*/ 994212700 h 20691"/>
              <a:gd name="GluePoint3X" fmla="*/ 0 w 19556"/>
              <a:gd name="GluePoint3Y" fmla="*/ 1785852942 h 20691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l" t="t" r="r" b="b"/>
            <a:pathLst>
              <a:path fill="none" w="19556" h="20691">
                <a:moveTo>
                  <a:pt x="6200" y="0"/>
                </a:moveTo>
                <a:cubicBezTo>
                  <a:pt x="12088" y="1764"/>
                  <a:pt x="16945" y="5954"/>
                  <a:pt x="19555" y="11519"/>
                </a:cubicBezTo>
              </a:path>
              <a:path stroke="0" w="19556" h="20691">
                <a:moveTo>
                  <a:pt x="6200" y="0"/>
                </a:moveTo>
                <a:cubicBezTo>
                  <a:pt x="12088" y="1764"/>
                  <a:pt x="16945" y="5954"/>
                  <a:pt x="19555" y="11519"/>
                </a:cubicBezTo>
                <a:lnTo>
                  <a:pt x="0" y="20691"/>
                </a:lnTo>
                <a:lnTo>
                  <a:pt x="6200" y="0"/>
                </a:lnTo>
                <a:close/>
              </a:path>
            </a:pathLst>
          </a:custGeom>
          <a:noFill/>
          <a:ln w="50760">
            <a:solidFill>
              <a:srgbClr val="ffffff"/>
            </a:solidFill>
            <a:round/>
            <a:headEnd len="sm" type="triangle" w="sm"/>
            <a:tailEnd len="sm" type="triangle" w="sm"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526" name="Text Box 228"/>
          <p:cNvSpPr/>
          <p:nvPr/>
        </p:nvSpPr>
        <p:spPr>
          <a:xfrm>
            <a:off x="4572000" y="4876920"/>
            <a:ext cx="106668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ADP + Pi</a:t>
            </a:r>
            <a:endParaRPr b="1" lang="en-US" sz="16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527" name="Oval 229"/>
          <p:cNvSpPr/>
          <p:nvPr/>
        </p:nvSpPr>
        <p:spPr>
          <a:xfrm>
            <a:off x="4876920" y="5530680"/>
            <a:ext cx="152280" cy="152640"/>
          </a:xfrm>
          <a:prstGeom prst="ellipse">
            <a:avLst/>
          </a:prstGeom>
          <a:solidFill>
            <a:srgbClr val="ffffff"/>
          </a:solidFill>
          <a:ln w="38160">
            <a:solidFill>
              <a:srgbClr val="ffcc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528" name="Line 230"/>
          <p:cNvSpPr/>
          <p:nvPr/>
        </p:nvSpPr>
        <p:spPr>
          <a:xfrm>
            <a:off x="380880" y="5638680"/>
            <a:ext cx="1676520" cy="0"/>
          </a:xfrm>
          <a:prstGeom prst="line">
            <a:avLst/>
          </a:prstGeom>
          <a:ln w="5724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529" name="Text Box 231"/>
          <p:cNvSpPr/>
          <p:nvPr/>
        </p:nvSpPr>
        <p:spPr>
          <a:xfrm>
            <a:off x="1447920" y="2895480"/>
            <a:ext cx="685800" cy="58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3200" strike="noStrike" u="none">
                <a:solidFill>
                  <a:srgbClr val="ffff00"/>
                </a:solidFill>
                <a:effectLst/>
                <a:uFillTx/>
                <a:latin typeface="Wingdings"/>
                <a:ea typeface="Wingdings"/>
              </a:rPr>
              <a:t></a:t>
            </a:r>
            <a:endParaRPr b="1" lang="en-US" sz="32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530" name="Line 232"/>
          <p:cNvSpPr/>
          <p:nvPr/>
        </p:nvSpPr>
        <p:spPr>
          <a:xfrm>
            <a:off x="1219320" y="6705720"/>
            <a:ext cx="533160" cy="0"/>
          </a:xfrm>
          <a:prstGeom prst="line">
            <a:avLst/>
          </a:prstGeom>
          <a:ln w="50760">
            <a:solidFill>
              <a:srgbClr val="ffffff"/>
            </a:solidFill>
            <a:miter/>
            <a:tailEnd len="sm" type="triangle" w="sm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531" name="Line 233"/>
          <p:cNvSpPr/>
          <p:nvPr/>
        </p:nvSpPr>
        <p:spPr>
          <a:xfrm>
            <a:off x="4343400" y="6705720"/>
            <a:ext cx="533520" cy="0"/>
          </a:xfrm>
          <a:prstGeom prst="line">
            <a:avLst/>
          </a:prstGeom>
          <a:ln w="50760">
            <a:solidFill>
              <a:srgbClr val="ffffff"/>
            </a:solidFill>
            <a:prstDash val="sysDot"/>
            <a:miter/>
            <a:tailEnd len="sm" type="triangle" w="sm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532" name="Text Box 234"/>
          <p:cNvSpPr/>
          <p:nvPr/>
        </p:nvSpPr>
        <p:spPr>
          <a:xfrm>
            <a:off x="4952880" y="6521400"/>
            <a:ext cx="365760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Relations dans le surentraînement</a:t>
            </a:r>
            <a:endParaRPr b="1" lang="en-US" sz="16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533" name="Rectangle 235"/>
          <p:cNvSpPr/>
          <p:nvPr/>
        </p:nvSpPr>
        <p:spPr>
          <a:xfrm>
            <a:off x="0" y="6324480"/>
            <a:ext cx="9144000" cy="533520"/>
          </a:xfrm>
          <a:prstGeom prst="rect">
            <a:avLst/>
          </a:prstGeom>
          <a:noFill/>
          <a:ln w="126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534" name="Text Box 236"/>
          <p:cNvSpPr/>
          <p:nvPr/>
        </p:nvSpPr>
        <p:spPr>
          <a:xfrm>
            <a:off x="6840" y="23760"/>
            <a:ext cx="2894400" cy="33768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MILIEU EXTRACELLULAIRE</a:t>
            </a:r>
            <a:endParaRPr b="1" lang="en-US" sz="16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535" name="Text Box 237"/>
          <p:cNvSpPr/>
          <p:nvPr/>
        </p:nvSpPr>
        <p:spPr>
          <a:xfrm>
            <a:off x="7086600" y="1219320"/>
            <a:ext cx="1905120" cy="82512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MEMBRANE</a:t>
            </a:r>
            <a:br>
              <a:rPr sz="1600"/>
            </a:br>
            <a:r>
              <a:rPr b="1" lang="en-US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CELLULAIRE</a:t>
            </a:r>
            <a:endParaRPr b="1" lang="en-US" sz="16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(phospholipides)</a:t>
            </a:r>
            <a:endParaRPr b="1" lang="en-US" sz="16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536" name="Text Box 238"/>
          <p:cNvSpPr/>
          <p:nvPr/>
        </p:nvSpPr>
        <p:spPr>
          <a:xfrm>
            <a:off x="6636960" y="5867280"/>
            <a:ext cx="2207520" cy="33768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MILIEU CELLULAIRE</a:t>
            </a:r>
            <a:endParaRPr b="1" lang="en-US" sz="16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537" name="Text Box 239"/>
          <p:cNvSpPr/>
          <p:nvPr/>
        </p:nvSpPr>
        <p:spPr>
          <a:xfrm>
            <a:off x="5029200" y="4572000"/>
            <a:ext cx="169236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PCr         C + Pi</a:t>
            </a:r>
            <a:endParaRPr b="1" lang="en-US" sz="16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538" name="Line 240"/>
          <p:cNvSpPr/>
          <p:nvPr/>
        </p:nvSpPr>
        <p:spPr>
          <a:xfrm>
            <a:off x="5562720" y="4800600"/>
            <a:ext cx="380880" cy="0"/>
          </a:xfrm>
          <a:prstGeom prst="line">
            <a:avLst/>
          </a:prstGeom>
          <a:ln w="19080">
            <a:solidFill>
              <a:srgbClr val="ffffff"/>
            </a:solidFill>
            <a:miter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539" name="Text Box 241"/>
          <p:cNvSpPr/>
          <p:nvPr/>
        </p:nvSpPr>
        <p:spPr>
          <a:xfrm>
            <a:off x="3429000" y="0"/>
            <a:ext cx="121932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Exercice 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540" name="Line 242"/>
          <p:cNvSpPr/>
          <p:nvPr/>
        </p:nvSpPr>
        <p:spPr>
          <a:xfrm>
            <a:off x="5334120" y="533520"/>
            <a:ext cx="533160" cy="0"/>
          </a:xfrm>
          <a:prstGeom prst="line">
            <a:avLst/>
          </a:prstGeom>
          <a:ln w="50760">
            <a:solidFill>
              <a:srgbClr val="ffffff"/>
            </a:solidFill>
            <a:miter/>
            <a:tailEnd len="sm" type="triangle" w="sm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541" name="Line 243"/>
          <p:cNvSpPr/>
          <p:nvPr/>
        </p:nvSpPr>
        <p:spPr>
          <a:xfrm flipV="1">
            <a:off x="6400800" y="380520"/>
            <a:ext cx="304920" cy="228600"/>
          </a:xfrm>
          <a:prstGeom prst="line">
            <a:avLst/>
          </a:prstGeom>
          <a:ln w="2844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542" name="Oval 244"/>
          <p:cNvSpPr/>
          <p:nvPr/>
        </p:nvSpPr>
        <p:spPr>
          <a:xfrm>
            <a:off x="3886200" y="3352680"/>
            <a:ext cx="3124080" cy="2514600"/>
          </a:xfrm>
          <a:prstGeom prst="ellipse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543" name="Oval 245"/>
          <p:cNvSpPr/>
          <p:nvPr/>
        </p:nvSpPr>
        <p:spPr>
          <a:xfrm>
            <a:off x="0" y="2362320"/>
            <a:ext cx="1905120" cy="1904760"/>
          </a:xfrm>
          <a:prstGeom prst="ellipse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544" name="Line 246"/>
          <p:cNvSpPr/>
          <p:nvPr/>
        </p:nvSpPr>
        <p:spPr>
          <a:xfrm flipH="1">
            <a:off x="5867280" y="5562720"/>
            <a:ext cx="609840" cy="152280"/>
          </a:xfrm>
          <a:prstGeom prst="line">
            <a:avLst/>
          </a:prstGeom>
          <a:ln w="3816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545" name="Line 247"/>
          <p:cNvSpPr/>
          <p:nvPr/>
        </p:nvSpPr>
        <p:spPr>
          <a:xfrm flipV="1">
            <a:off x="2133720" y="5943600"/>
            <a:ext cx="761760" cy="380880"/>
          </a:xfrm>
          <a:prstGeom prst="line">
            <a:avLst/>
          </a:prstGeom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546" name="Line 248"/>
          <p:cNvSpPr/>
          <p:nvPr/>
        </p:nvSpPr>
        <p:spPr>
          <a:xfrm flipV="1">
            <a:off x="2209680" y="6019920"/>
            <a:ext cx="685800" cy="304560"/>
          </a:xfrm>
          <a:prstGeom prst="line">
            <a:avLst/>
          </a:prstGeom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547" name="Oval 249"/>
          <p:cNvSpPr/>
          <p:nvPr/>
        </p:nvSpPr>
        <p:spPr>
          <a:xfrm rot="19057800">
            <a:off x="2819520" y="5715000"/>
            <a:ext cx="457200" cy="228600"/>
          </a:xfrm>
          <a:prstGeom prst="ellipse">
            <a:avLst/>
          </a:prstGeom>
          <a:solidFill>
            <a:srgbClr val="00cc99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548" name="Line 250"/>
          <p:cNvSpPr/>
          <p:nvPr/>
        </p:nvSpPr>
        <p:spPr>
          <a:xfrm flipV="1">
            <a:off x="2743200" y="5943600"/>
            <a:ext cx="685800" cy="380880"/>
          </a:xfrm>
          <a:prstGeom prst="line">
            <a:avLst/>
          </a:prstGeom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549" name="Line 251"/>
          <p:cNvSpPr/>
          <p:nvPr/>
        </p:nvSpPr>
        <p:spPr>
          <a:xfrm flipV="1">
            <a:off x="2819520" y="6019920"/>
            <a:ext cx="609480" cy="304560"/>
          </a:xfrm>
          <a:prstGeom prst="line">
            <a:avLst/>
          </a:prstGeom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550" name="Oval 252"/>
          <p:cNvSpPr/>
          <p:nvPr/>
        </p:nvSpPr>
        <p:spPr>
          <a:xfrm rot="19057800">
            <a:off x="3352680" y="5715000"/>
            <a:ext cx="457200" cy="228600"/>
          </a:xfrm>
          <a:prstGeom prst="ellipse">
            <a:avLst/>
          </a:prstGeom>
          <a:solidFill>
            <a:srgbClr val="00cc99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551" name="Text Box 253"/>
          <p:cNvSpPr/>
          <p:nvPr/>
        </p:nvSpPr>
        <p:spPr>
          <a:xfrm>
            <a:off x="3279240" y="5967360"/>
            <a:ext cx="99180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Myosine</a:t>
            </a:r>
            <a:endParaRPr b="1" lang="en-US" sz="16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552" name="Text Box 254"/>
          <p:cNvSpPr/>
          <p:nvPr/>
        </p:nvSpPr>
        <p:spPr>
          <a:xfrm>
            <a:off x="1909080" y="6521400"/>
            <a:ext cx="205056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Relations normales</a:t>
            </a:r>
            <a:endParaRPr b="1" lang="en-US" sz="16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553" name="Text Box 255"/>
          <p:cNvSpPr/>
          <p:nvPr/>
        </p:nvSpPr>
        <p:spPr>
          <a:xfrm>
            <a:off x="4345560" y="5791320"/>
            <a:ext cx="80028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Actine</a:t>
            </a:r>
            <a:endParaRPr b="1" lang="en-US" sz="16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554" name="Text Box 256"/>
          <p:cNvSpPr/>
          <p:nvPr/>
        </p:nvSpPr>
        <p:spPr>
          <a:xfrm>
            <a:off x="3581280" y="380880"/>
            <a:ext cx="182880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d’endurance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555" name="Text Box 257"/>
          <p:cNvSpPr/>
          <p:nvPr/>
        </p:nvSpPr>
        <p:spPr>
          <a:xfrm>
            <a:off x="4496400" y="0"/>
            <a:ext cx="100152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intense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556" name="Line 258"/>
          <p:cNvSpPr/>
          <p:nvPr/>
        </p:nvSpPr>
        <p:spPr>
          <a:xfrm flipV="1">
            <a:off x="1523880" y="1066680"/>
            <a:ext cx="0" cy="1905120"/>
          </a:xfrm>
          <a:prstGeom prst="line">
            <a:avLst/>
          </a:prstGeom>
          <a:ln w="57240">
            <a:solidFill>
              <a:srgbClr val="ffffff"/>
            </a:solidFill>
            <a:prstDash val="sysDot"/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557" name="Text Box 259"/>
          <p:cNvSpPr/>
          <p:nvPr/>
        </p:nvSpPr>
        <p:spPr>
          <a:xfrm>
            <a:off x="6935760" y="4038480"/>
            <a:ext cx="892440" cy="36828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1 à 3%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558" name="Text Box 260"/>
          <p:cNvSpPr/>
          <p:nvPr/>
        </p:nvSpPr>
        <p:spPr>
          <a:xfrm>
            <a:off x="7009560" y="228600"/>
            <a:ext cx="1935360" cy="70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d’endurance et 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souvent répété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559" name="Line 261"/>
          <p:cNvSpPr/>
          <p:nvPr/>
        </p:nvSpPr>
        <p:spPr>
          <a:xfrm flipH="1">
            <a:off x="6476760" y="685800"/>
            <a:ext cx="6094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560" name="Text Box 262"/>
          <p:cNvSpPr/>
          <p:nvPr/>
        </p:nvSpPr>
        <p:spPr>
          <a:xfrm>
            <a:off x="4115880" y="3809880"/>
            <a:ext cx="26326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Glyc.     pyruv.     lactate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561" name="Text Box 263"/>
          <p:cNvSpPr/>
          <p:nvPr/>
        </p:nvSpPr>
        <p:spPr>
          <a:xfrm>
            <a:off x="5487480" y="3581280"/>
            <a:ext cx="54720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LDH</a:t>
            </a:r>
            <a:endParaRPr b="1" lang="en-US" sz="1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562" name="Line 264"/>
          <p:cNvSpPr/>
          <p:nvPr/>
        </p:nvSpPr>
        <p:spPr>
          <a:xfrm>
            <a:off x="4800600" y="4038480"/>
            <a:ext cx="228600" cy="0"/>
          </a:xfrm>
          <a:prstGeom prst="line">
            <a:avLst/>
          </a:prstGeom>
          <a:ln w="936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563" name="Line 265"/>
          <p:cNvSpPr/>
          <p:nvPr/>
        </p:nvSpPr>
        <p:spPr>
          <a:xfrm>
            <a:off x="5638680" y="4038480"/>
            <a:ext cx="304920" cy="0"/>
          </a:xfrm>
          <a:prstGeom prst="line">
            <a:avLst/>
          </a:prstGeom>
          <a:ln w="936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564" name="Text Box 266"/>
          <p:cNvSpPr/>
          <p:nvPr/>
        </p:nvSpPr>
        <p:spPr>
          <a:xfrm>
            <a:off x="152280" y="3276720"/>
            <a:ext cx="68580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876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CPK</a:t>
            </a:r>
            <a:endParaRPr b="1" lang="en-US" sz="1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565" name="Text Box 267"/>
          <p:cNvSpPr/>
          <p:nvPr/>
        </p:nvSpPr>
        <p:spPr>
          <a:xfrm>
            <a:off x="458280" y="3657600"/>
            <a:ext cx="54720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LDH</a:t>
            </a:r>
            <a:endParaRPr b="1" lang="en-US" sz="1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566" name="Rectangle 268"/>
          <p:cNvSpPr/>
          <p:nvPr/>
        </p:nvSpPr>
        <p:spPr>
          <a:xfrm>
            <a:off x="0" y="380880"/>
            <a:ext cx="3657600" cy="83844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567" name="Oval 269"/>
          <p:cNvSpPr/>
          <p:nvPr/>
        </p:nvSpPr>
        <p:spPr>
          <a:xfrm>
            <a:off x="2362320" y="2286000"/>
            <a:ext cx="2743200" cy="2133720"/>
          </a:xfrm>
          <a:prstGeom prst="ellipse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028" dur="indefinite" restart="never" nodeType="tmRoot">
          <p:childTnLst>
            <p:seq>
              <p:cTn id="1029" dur="indefinite" nodeType="mainSeq">
                <p:childTnLst>
                  <p:par>
                    <p:cTn id="1030" nodeType="clickEffect" fill="hold">
                      <p:stCondLst>
                        <p:cond delay="indefinite"/>
                      </p:stCondLst>
                      <p:childTnLst>
                        <p:par>
                          <p:cTn id="103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032" nodeType="clickEffect" fill="hold" presetClass="entr" presetID="9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10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034" dur="75"/>
                                        <p:tgtEl>
                                          <p:spTgt spid="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5" nodeType="afterEffect" fill="hold">
                            <p:stCondLst>
                              <p:cond delay="600"/>
                            </p:stCondLst>
                            <p:childTnLst>
                              <p:par>
                                <p:cTn id="1036" nodeType="afterEffect" fill="hold" presetClass="entr" presetID="9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10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038" dur="75"/>
                                        <p:tgtEl>
                                          <p:spTgt spid="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9" nodeType="afterEffect" fill="hold">
                            <p:stCondLst>
                              <p:cond delay="825"/>
                            </p:stCondLst>
                            <p:childTnLst>
                              <p:par>
                                <p:cTn id="1040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042" dur="500"/>
                                        <p:tgtEl>
                                          <p:spTgt spid="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3" nodeType="afterEffect" fill="hold">
                            <p:stCondLst>
                              <p:cond delay="1325"/>
                            </p:stCondLst>
                            <p:childTnLst>
                              <p:par>
                                <p:cTn id="1044" nodeType="afterEffect" fill="hold" presetClass="entr" presetID="1">
                                  <p:stCondLst>
                                    <p:cond delay="0"/>
                                  </p:stCondLst>
                                  <p:iterate type="lt">
                                    <p:tmAbs val="0.0562500022351742"/>
                                  </p:iterate>
                                  <p:childTnLst>
                                    <p:set>
                                      <p:cBhvr>
                                        <p:cTn id="1045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6" nodeType="clickEffect" fill="hold">
                      <p:stCondLst>
                        <p:cond delay="indefinite"/>
                      </p:stCondLst>
                      <p:childTnLst>
                        <p:par>
                          <p:cTn id="104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048" nodeType="clickEffect" fill="hold" presetClass="entr" presetID="9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10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050" dur="300"/>
                                        <p:tgtEl>
                                          <p:spTgt spid="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1" nodeType="afterEffect" fill="hold">
                            <p:stCondLst>
                              <p:cond delay="300"/>
                            </p:stCondLst>
                            <p:childTnLst>
                              <p:par>
                                <p:cTn id="1052" nodeType="after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4" dur="500" fill="hold"/>
                                        <p:tgtEl>
                                          <p:spTgt spid="5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5" dur="500" fill="hold"/>
                                        <p:tgtEl>
                                          <p:spTgt spid="5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6" nodeType="afterEffect" fill="hold">
                            <p:stCondLst>
                              <p:cond delay="800"/>
                            </p:stCondLst>
                            <p:childTnLst>
                              <p:par>
                                <p:cTn id="1057" nodeType="after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9" nodeType="afterEffect" fill="hold">
                            <p:stCondLst>
                              <p:cond delay="1300"/>
                            </p:stCondLst>
                            <p:childTnLst>
                              <p:par>
                                <p:cTn id="1060" nodeType="afterEffect" fill="hold" presetClass="entr" presetID="23" presetSubtype="288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10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062" dur="75" fill="hold"/>
                                        <p:tgtEl>
                                          <p:spTgt spid="5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63" dur="75" fill="hold"/>
                                        <p:tgtEl>
                                          <p:spTgt spid="5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4" nodeType="afterEffect" fill="hold">
                            <p:stCondLst>
                              <p:cond delay="1525"/>
                            </p:stCondLst>
                            <p:childTnLst>
                              <p:par>
                                <p:cTn id="1065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067" dur="500"/>
                                        <p:tgtEl>
                                          <p:spTgt spid="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8" nodeType="afterEffect" fill="hold">
                            <p:stCondLst>
                              <p:cond delay="2025"/>
                            </p:stCondLst>
                            <p:childTnLst>
                              <p:par>
                                <p:cTn id="1069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071" dur="500"/>
                                        <p:tgtEl>
                                          <p:spTgt spid="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2" nodeType="afterEffect" fill="hold">
                            <p:stCondLst>
                              <p:cond delay="2525"/>
                            </p:stCondLst>
                            <p:childTnLst>
                              <p:par>
                                <p:cTn id="1073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075" dur="500"/>
                                        <p:tgtEl>
                                          <p:spTgt spid="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6" nodeType="afterEffect" fill="hold">
                            <p:stCondLst>
                              <p:cond delay="3025"/>
                            </p:stCondLst>
                            <p:childTnLst>
                              <p:par>
                                <p:cTn id="1077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079" dur="500"/>
                                        <p:tgtEl>
                                          <p:spTgt spid="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0" nodeType="afterEffect" fill="hold">
                            <p:stCondLst>
                              <p:cond delay="3525"/>
                            </p:stCondLst>
                            <p:childTnLst>
                              <p:par>
                                <p:cTn id="1081" nodeType="afterEffect" fill="hold" presetClass="entr" presetID="19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083" dur="5000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width*sin(2.5*pi*$)" tm="0">
                                          <p:val>
                                            <p:fltVal val="0"/>
                                          </p:val>
                                        </p:tav>
                                        <p:tav fmla="width*sin(2.5*pi*$)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84" dur="5000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5" nodeType="clickEffect" fill="hold">
                      <p:stCondLst>
                        <p:cond delay="indefinite"/>
                      </p:stCondLst>
                      <p:childTnLst>
                        <p:par>
                          <p:cTn id="108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087" nodeType="clickEffect" fill="hold" presetClass="entr" presetID="9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10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089" dur="300"/>
                                        <p:tgtEl>
                                          <p:spTgt spid="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0" nodeType="afterEffect" fill="hold">
                            <p:stCondLst>
                              <p:cond delay="300"/>
                            </p:stCondLst>
                            <p:childTnLst>
                              <p:par>
                                <p:cTn id="1091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093" dur="500"/>
                                        <p:tgtEl>
                                          <p:spTgt spid="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4" nodeType="afterEffect" fill="hold">
                            <p:stCondLst>
                              <p:cond delay="800"/>
                            </p:stCondLst>
                            <p:childTnLst>
                              <p:par>
                                <p:cTn id="1095" nodeType="afterEffect" fill="hold" presetClass="entr" presetID="23" presetSubtype="288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097" dur="500" fill="hold"/>
                                        <p:tgtEl>
                                          <p:spTgt spid="3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98" dur="500" fill="hold"/>
                                        <p:tgtEl>
                                          <p:spTgt spid="3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9" nodeType="afterEffect" fill="hold">
                            <p:stCondLst>
                              <p:cond delay="2300"/>
                            </p:stCondLst>
                            <p:childTnLst>
                              <p:par>
                                <p:cTn id="1100" nodeType="afterEffect" fill="hold" presetClass="entr" presetID="17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102" dur="500" fill="hold"/>
                                        <p:tgtEl>
                                          <p:spTgt spid="5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03" dur="500" fill="hold"/>
                                        <p:tgtEl>
                                          <p:spTgt spid="5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04" dur="500" fill="hold"/>
                                        <p:tgtEl>
                                          <p:spTgt spid="5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05" dur="500" fill="hold"/>
                                        <p:tgtEl>
                                          <p:spTgt spid="5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6" nodeType="afterEffect" fill="hold">
                            <p:stCondLst>
                              <p:cond delay="2800"/>
                            </p:stCondLst>
                            <p:childTnLst>
                              <p:par>
                                <p:cTn id="1107" nodeType="afterEffect" fill="hold" presetClass="entr" presetID="17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109" dur="500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10" dur="500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11" dur="500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12" dur="500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3" nodeType="afterEffect" fill="hold">
                            <p:stCondLst>
                              <p:cond delay="3300"/>
                            </p:stCondLst>
                            <p:childTnLst>
                              <p:par>
                                <p:cTn id="1114" nodeType="afterEffect" fill="hold" presetClass="entr" presetID="23" presetSubtype="28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116" dur="500" fill="hold"/>
                                        <p:tgtEl>
                                          <p:spTgt spid="3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17" dur="500" fill="hold"/>
                                        <p:tgtEl>
                                          <p:spTgt spid="3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8" nodeType="afterEffect" fill="hold">
                            <p:stCondLst>
                              <p:cond delay="3800"/>
                            </p:stCondLst>
                            <p:childTnLst>
                              <p:par>
                                <p:cTn id="1119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121"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2" nodeType="afterEffect" fill="hold">
                            <p:stCondLst>
                              <p:cond delay="4300"/>
                            </p:stCondLst>
                            <p:childTnLst>
                              <p:par>
                                <p:cTn id="1123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125" dur="500"/>
                                        <p:tgtEl>
                                          <p:spTgt spid="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6" nodeType="afterEffect" fill="hold">
                            <p:stCondLst>
                              <p:cond delay="4800"/>
                            </p:stCondLst>
                            <p:childTnLst>
                              <p:par>
                                <p:cTn id="1127" nodeType="afterEffect" fill="hold" presetClass="entr" presetID="17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129" dur="500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30" dur="500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31" dur="500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32" dur="500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3" nodeType="afterEffect" fill="hold">
                            <p:stCondLst>
                              <p:cond delay="5300"/>
                            </p:stCondLst>
                            <p:childTnLst>
                              <p:par>
                                <p:cTn id="1134" nodeType="afterEffect" fill="hold" presetClass="entr" presetID="23" presetSubtype="288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136" dur="500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37" dur="500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8" nodeType="afterEffect" fill="hold">
                            <p:stCondLst>
                              <p:cond delay="6800"/>
                            </p:stCondLst>
                            <p:childTnLst>
                              <p:par>
                                <p:cTn id="1139" nodeType="afterEffect" fill="hold" presetClass="entr" presetID="17" presetSubtype="2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141" dur="500" fill="hold"/>
                                        <p:tgtEl>
                                          <p:spTgt spid="4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42" dur="500" fill="hold"/>
                                        <p:tgtEl>
                                          <p:spTgt spid="4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43" dur="500" fill="hold"/>
                                        <p:tgtEl>
                                          <p:spTgt spid="4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44" dur="500" fill="hold"/>
                                        <p:tgtEl>
                                          <p:spTgt spid="4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5" nodeType="clickEffect" fill="hold">
                      <p:stCondLst>
                        <p:cond delay="indefinite"/>
                      </p:stCondLst>
                      <p:childTnLst>
                        <p:par>
                          <p:cTn id="114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147" nodeType="clickEffect" fill="hold" presetClass="entr" presetID="9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1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149" dur="300"/>
                                        <p:tgtEl>
                                          <p:spTgt spid="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0" nodeType="afterEffect" fill="hold">
                            <p:stCondLst>
                              <p:cond delay="1500"/>
                            </p:stCondLst>
                            <p:childTnLst>
                              <p:par>
                                <p:cTn id="1151" nodeType="afterEffect" fill="hold" presetClass="entr" presetID="17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153" dur="500" fill="hold"/>
                                        <p:tgtEl>
                                          <p:spTgt spid="5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54" dur="500" fill="hold"/>
                                        <p:tgtEl>
                                          <p:spTgt spid="5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55" dur="500" fill="hold"/>
                                        <p:tgtEl>
                                          <p:spTgt spid="5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56" dur="500" fill="hold"/>
                                        <p:tgtEl>
                                          <p:spTgt spid="5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7" nodeType="afterEffect" fill="hold">
                            <p:stCondLst>
                              <p:cond delay="2000"/>
                            </p:stCondLst>
                            <p:childTnLst>
                              <p:par>
                                <p:cTn id="1158" nodeType="afterEffect" fill="hold" presetClass="entr" presetID="9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1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160" dur="75"/>
                                        <p:tgtEl>
                                          <p:spTgt spid="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1" nodeType="afterEffect" fill="hold">
                            <p:stCondLst>
                              <p:cond delay="2300"/>
                            </p:stCondLst>
                            <p:childTnLst>
                              <p:par>
                                <p:cTn id="1162" nodeType="afterEffect" fill="hold" presetClass="entr" presetID="17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164" dur="500" fill="hold"/>
                                        <p:tgtEl>
                                          <p:spTgt spid="5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65" dur="500" fill="hold"/>
                                        <p:tgtEl>
                                          <p:spTgt spid="5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66" dur="500" fill="hold"/>
                                        <p:tgtEl>
                                          <p:spTgt spid="5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67" dur="500" fill="hold"/>
                                        <p:tgtEl>
                                          <p:spTgt spid="5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8" nodeType="afterEffect" fill="hold">
                            <p:stCondLst>
                              <p:cond delay="2800"/>
                            </p:stCondLst>
                            <p:childTnLst>
                              <p:par>
                                <p:cTn id="1169" nodeType="afterEffect" fill="hold" presetClass="entr" presetID="23" presetSubtype="288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1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171" dur="75" fill="hold"/>
                                        <p:tgtEl>
                                          <p:spTgt spid="5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72" dur="75" fill="hold"/>
                                        <p:tgtEl>
                                          <p:spTgt spid="5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3" nodeType="afterEffect" fill="hold">
                            <p:stCondLst>
                              <p:cond delay="3100"/>
                            </p:stCondLst>
                            <p:childTnLst>
                              <p:par>
                                <p:cTn id="1174" nodeType="afterEffect" fill="hold" presetClass="entr" presetID="23" presetSubtype="28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176" dur="500" fill="hold"/>
                                        <p:tgtEl>
                                          <p:spTgt spid="5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77" dur="500" fill="hold"/>
                                        <p:tgtEl>
                                          <p:spTgt spid="5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8" nodeType="afterEffect" fill="hold">
                            <p:stCondLst>
                              <p:cond delay="3600"/>
                            </p:stCondLst>
                            <p:childTnLst>
                              <p:par>
                                <p:cTn id="1179" nodeType="afterEffect" fill="hold" presetClass="entr" presetID="17" presetSubtype="2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181" dur="500" fill="hold"/>
                                        <p:tgtEl>
                                          <p:spTgt spid="5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82" dur="500" fill="hold"/>
                                        <p:tgtEl>
                                          <p:spTgt spid="5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83" dur="500" fill="hold"/>
                                        <p:tgtEl>
                                          <p:spTgt spid="5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84" dur="500" fill="hold"/>
                                        <p:tgtEl>
                                          <p:spTgt spid="5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5" nodeType="afterEffect" fill="hold">
                            <p:stCondLst>
                              <p:cond delay="6100"/>
                            </p:stCondLst>
                            <p:childTnLst>
                              <p:par>
                                <p:cTn id="1186" nodeType="afterEffect" fill="hold" presetClass="entr" presetID="9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1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188" dur="75"/>
                                        <p:tgtEl>
                                          <p:spTgt spid="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9" nodeType="afterEffect" fill="hold">
                            <p:stCondLst>
                              <p:cond delay="6325"/>
                            </p:stCondLst>
                            <p:childTnLst>
                              <p:par>
                                <p:cTn id="1190" nodeType="afterEffect" fill="hold" presetClass="entr" presetID="17" presetSubtype="2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192" dur="500" fill="hold"/>
                                        <p:tgtEl>
                                          <p:spTgt spid="5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93" dur="500" fill="hold"/>
                                        <p:tgtEl>
                                          <p:spTgt spid="5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94" dur="500" fill="hold"/>
                                        <p:tgtEl>
                                          <p:spTgt spid="5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95" dur="500" fill="hold"/>
                                        <p:tgtEl>
                                          <p:spTgt spid="5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6" nodeType="afterEffect" fill="hold">
                            <p:stCondLst>
                              <p:cond delay="7825"/>
                            </p:stCondLst>
                            <p:childTnLst>
                              <p:par>
                                <p:cTn id="1197" nodeType="afterEffect" fill="hold" presetClass="entr" presetID="9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1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199" dur="75"/>
                                        <p:tgtEl>
                                          <p:spTgt spid="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0" nodeType="afterEffect" fill="hold">
                            <p:stCondLst>
                              <p:cond delay="8125"/>
                            </p:stCondLst>
                            <p:childTnLst>
                              <p:par>
                                <p:cTn id="1201" nodeType="afterEffect" fill="hold" presetClass="entr" presetID="17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203" dur="500" fill="hold"/>
                                        <p:tgtEl>
                                          <p:spTgt spid="5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04" dur="500" fill="hold"/>
                                        <p:tgtEl>
                                          <p:spTgt spid="5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05" dur="500" fill="hold"/>
                                        <p:tgtEl>
                                          <p:spTgt spid="5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06" dur="500" fill="hold"/>
                                        <p:tgtEl>
                                          <p:spTgt spid="5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7" nodeType="afterEffect" fill="hold">
                            <p:stCondLst>
                              <p:cond delay="8625"/>
                            </p:stCondLst>
                            <p:childTnLst>
                              <p:par>
                                <p:cTn id="1208" nodeType="afterEffect" fill="hold" presetClass="entr" presetID="9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1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210" dur="75"/>
                                        <p:tgtEl>
                                          <p:spTgt spid="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1" nodeType="afterEffect" fill="hold">
                            <p:stCondLst>
                              <p:cond delay="8925"/>
                            </p:stCondLst>
                            <p:childTnLst>
                              <p:par>
                                <p:cTn id="1212" nodeType="afterEffect" fill="hold" presetClass="entr" presetID="19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214" dur="5000" fill="hold"/>
                                        <p:tgtEl>
                                          <p:spTgt spid="5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width*sin(2.5*pi*$)" tm="0">
                                          <p:val>
                                            <p:fltVal val="0"/>
                                          </p:val>
                                        </p:tav>
                                        <p:tav fmla="width*sin(2.5*pi*$)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15" dur="5000" fill="hold"/>
                                        <p:tgtEl>
                                          <p:spTgt spid="5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6" nodeType="afterEffect" fill="hold">
                            <p:stCondLst>
                              <p:cond delay="13925"/>
                            </p:stCondLst>
                            <p:childTnLst>
                              <p:par>
                                <p:cTn id="1217" nodeType="afterEffect" fill="hold" presetClass="entr" presetID="17" presetSubtype="1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219" dur="500" fill="hold"/>
                                        <p:tgtEl>
                                          <p:spTgt spid="5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20" dur="500" fill="hold"/>
                                        <p:tgtEl>
                                          <p:spTgt spid="5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21" dur="500" fill="hold"/>
                                        <p:tgtEl>
                                          <p:spTgt spid="5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22" dur="500" fill="hold"/>
                                        <p:tgtEl>
                                          <p:spTgt spid="5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3" nodeType="afterEffect" fill="hold">
                            <p:stCondLst>
                              <p:cond delay="15425"/>
                            </p:stCondLst>
                            <p:childTnLst>
                              <p:par>
                                <p:cTn id="1224" nodeType="afterEffect" fill="hold" presetClass="entr" presetID="23" presetSubtype="288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1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226" dur="75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27" dur="75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8" nodeType="afterEffect" fill="hold">
                            <p:stCondLst>
                              <p:cond delay="15500"/>
                            </p:stCondLst>
                            <p:childTnLst>
                              <p:par>
                                <p:cTn id="1229" nodeType="afterEffect" fill="hold" presetClass="entr" presetID="9">
                                  <p:stCondLst>
                                    <p:cond delay="100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1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231" dur="300"/>
                                        <p:tgtEl>
                                          <p:spTgt spid="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2" nodeType="afterEffect" fill="hold">
                            <p:stCondLst>
                              <p:cond delay="18600"/>
                            </p:stCondLst>
                            <p:childTnLst>
                              <p:par>
                                <p:cTn id="1233" nodeType="afterEffect" fill="hold" presetClass="entr" presetID="17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235" dur="500" fill="hold"/>
                                        <p:tgtEl>
                                          <p:spTgt spid="5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36" dur="500" fill="hold"/>
                                        <p:tgtEl>
                                          <p:spTgt spid="5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37" dur="500" fill="hold"/>
                                        <p:tgtEl>
                                          <p:spTgt spid="5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38" dur="500" fill="hold"/>
                                        <p:tgtEl>
                                          <p:spTgt spid="5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9" nodeType="afterEffect" fill="hold">
                            <p:stCondLst>
                              <p:cond delay="19100"/>
                            </p:stCondLst>
                            <p:childTnLst>
                              <p:par>
                                <p:cTn id="1240" nodeType="afterEffect" fill="hold" presetClass="entr" presetID="17" presetSubtype="4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242" dur="500" fill="hold"/>
                                        <p:tgtEl>
                                          <p:spTgt spid="5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43" dur="500" fill="hold"/>
                                        <p:tgtEl>
                                          <p:spTgt spid="5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44" dur="500" fill="hold"/>
                                        <p:tgtEl>
                                          <p:spTgt spid="5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45" dur="500" fill="hold"/>
                                        <p:tgtEl>
                                          <p:spTgt spid="5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6" nodeType="afterEffect" fill="hold">
                            <p:stCondLst>
                              <p:cond delay="21600"/>
                            </p:stCondLst>
                            <p:childTnLst>
                              <p:par>
                                <p:cTn id="1247" nodeType="after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9" nodeType="afterEffect" fill="hold">
                            <p:stCondLst>
                              <p:cond delay="22100"/>
                            </p:stCondLst>
                            <p:childTnLst>
                              <p:par>
                                <p:cTn id="1250" nodeType="after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2" nodeType="afterEffect" fill="hold">
                            <p:stCondLst>
                              <p:cond delay="22600"/>
                            </p:stCondLst>
                            <p:childTnLst>
                              <p:par>
                                <p:cTn id="1253" nodeType="after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5" nodeType="afterEffect" fill="hold">
                            <p:stCondLst>
                              <p:cond delay="23100"/>
                            </p:stCondLst>
                            <p:childTnLst>
                              <p:par>
                                <p:cTn id="1256" nodeType="after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8" nodeType="afterEffect" fill="hold">
                            <p:stCondLst>
                              <p:cond delay="23600"/>
                            </p:stCondLst>
                            <p:childTnLst>
                              <p:par>
                                <p:cTn id="1259" nodeType="afterEffect" fill="hold" presetClass="entr" presetID="23" presetSubtype="288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1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261" dur="75" fill="hold"/>
                                        <p:tgtEl>
                                          <p:spTgt spid="5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62" dur="75" fill="hold"/>
                                        <p:tgtEl>
                                          <p:spTgt spid="5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3" nodeType="afterEffect" fill="hold">
                            <p:stCondLst>
                              <p:cond delay="23825"/>
                            </p:stCondLst>
                            <p:childTnLst>
                              <p:par>
                                <p:cTn id="1264" nodeType="afterEffect" fill="hold" presetClass="entr" presetID="23" presetSubtype="28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266" dur="500" fill="hold"/>
                                        <p:tgtEl>
                                          <p:spTgt spid="5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67" dur="500" fill="hold"/>
                                        <p:tgtEl>
                                          <p:spTgt spid="5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8" nodeType="afterEffect" fill="hold">
                            <p:stCondLst>
                              <p:cond delay="24325"/>
                            </p:stCondLst>
                            <p:childTnLst>
                              <p:par>
                                <p:cTn id="1269" nodeType="afterEffect" fill="hold" presetClass="entr" presetID="19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271" dur="5000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width*sin(2.5*pi*$)" tm="0">
                                          <p:val>
                                            <p:fltVal val="0"/>
                                          </p:val>
                                        </p:tav>
                                        <p:tav fmla="width*sin(2.5*pi*$)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72" dur="5000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3" nodeType="afterEffect" fill="hold">
                            <p:stCondLst>
                              <p:cond delay="29325"/>
                            </p:stCondLst>
                            <p:childTnLst>
                              <p:par>
                                <p:cTn id="1274" nodeType="afterEffect" fill="hold" presetClass="entr" presetID="23" presetSubtype="28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276" dur="500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77" dur="500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8" nodeType="clickEffect" fill="hold">
                      <p:stCondLst>
                        <p:cond delay="indefinite"/>
                      </p:stCondLst>
                      <p:childTnLst>
                        <p:par>
                          <p:cTn id="127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280" nodeType="clickEffect" fill="hold" presetClass="entr" presetID="17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282" dur="500" fill="hold"/>
                                        <p:tgtEl>
                                          <p:spTgt spid="5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83" dur="500" fill="hold"/>
                                        <p:tgtEl>
                                          <p:spTgt spid="5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84" dur="500" fill="hold"/>
                                        <p:tgtEl>
                                          <p:spTgt spid="5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85" dur="500" fill="hold"/>
                                        <p:tgtEl>
                                          <p:spTgt spid="5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6" nodeType="clickEffect" fill="hold">
                      <p:stCondLst>
                        <p:cond delay="indefinite"/>
                      </p:stCondLst>
                      <p:childTnLst>
                        <p:par>
                          <p:cTn id="128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288" nodeType="clickEffect" fill="hold" presetClass="entr" presetID="17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290" dur="500" fill="hold"/>
                                        <p:tgtEl>
                                          <p:spTgt spid="5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91" dur="500" fill="hold"/>
                                        <p:tgtEl>
                                          <p:spTgt spid="5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92" dur="500" fill="hold"/>
                                        <p:tgtEl>
                                          <p:spTgt spid="5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93" dur="500" fill="hold"/>
                                        <p:tgtEl>
                                          <p:spTgt spid="5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4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1295" nodeType="afterEffect" fill="hold" presetClass="entr" presetID="23" presetSubtype="28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297" dur="500" fill="hold"/>
                                        <p:tgtEl>
                                          <p:spTgt spid="5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98" dur="500" fill="hold"/>
                                        <p:tgtEl>
                                          <p:spTgt spid="5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9" nodeType="afterEffect" fill="hold">
                            <p:stCondLst>
                              <p:cond delay="1000"/>
                            </p:stCondLst>
                            <p:childTnLst>
                              <p:par>
                                <p:cTn id="1300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302" dur="500"/>
                                        <p:tgtEl>
                                          <p:spTgt spid="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3" nodeType="clickEffect" fill="hold">
                      <p:stCondLst>
                        <p:cond delay="indefinite"/>
                      </p:stCondLst>
                      <p:childTnLst>
                        <p:par>
                          <p:cTn id="130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05" nodeType="clickEffect" fill="hold" presetClass="entr" presetID="19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307" dur="5000" fill="hold"/>
                                        <p:tgtEl>
                                          <p:spTgt spid="5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width*sin(2.5*pi*$)" tm="0">
                                          <p:val>
                                            <p:fltVal val="0"/>
                                          </p:val>
                                        </p:tav>
                                        <p:tav fmla="width*sin(2.5*pi*$)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308" dur="5000" fill="hold"/>
                                        <p:tgtEl>
                                          <p:spTgt spid="5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Text Box 3"/>
          <p:cNvSpPr/>
          <p:nvPr/>
        </p:nvSpPr>
        <p:spPr>
          <a:xfrm>
            <a:off x="228600" y="533520"/>
            <a:ext cx="8686800" cy="91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just"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Le muscle se retrouve dans une </a:t>
            </a:r>
            <a:r>
              <a:rPr b="1" lang="fr-FR" sz="1800" strike="noStrike" u="none">
                <a:solidFill>
                  <a:srgbClr val="ffff66"/>
                </a:solidFill>
                <a:effectLst/>
                <a:uFillTx/>
                <a:latin typeface="Arial"/>
              </a:rPr>
              <a:t>situation paradoxale</a:t>
            </a: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; il dégrade des protéines à des fins énergétiques alors qu’il en a besoin au </a:t>
            </a:r>
            <a:r>
              <a:rPr b="1" lang="fr-FR" sz="1800" strike="noStrike" u="none">
                <a:solidFill>
                  <a:srgbClr val="ffff66"/>
                </a:solidFill>
                <a:effectLst/>
                <a:uFillTx/>
                <a:latin typeface="Arial"/>
              </a:rPr>
              <a:t>plan contractile</a:t>
            </a: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et au plan des </a:t>
            </a:r>
            <a:r>
              <a:rPr b="1" lang="fr-FR" sz="1800" strike="noStrike" u="none">
                <a:solidFill>
                  <a:srgbClr val="ffff66"/>
                </a:solidFill>
                <a:effectLst/>
                <a:uFillTx/>
                <a:latin typeface="Arial"/>
              </a:rPr>
              <a:t>réparations tissulaires</a:t>
            </a: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: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569" name="Text Box 4"/>
          <p:cNvSpPr/>
          <p:nvPr/>
        </p:nvSpPr>
        <p:spPr>
          <a:xfrm>
            <a:off x="304920" y="2057400"/>
            <a:ext cx="8686800" cy="91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¤ Les </a:t>
            </a:r>
            <a:r>
              <a:rPr b="1" i="1" lang="fr-FR" sz="1800" strike="noStrike" u="none">
                <a:solidFill>
                  <a:srgbClr val="00ffff"/>
                </a:solidFill>
                <a:effectLst/>
                <a:uFillTx/>
                <a:latin typeface="Arial"/>
              </a:rPr>
              <a:t>dégradations des protéines contractiles</a:t>
            </a:r>
            <a:r>
              <a:rPr b="1" i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risquent d’augmenter pour une même intensité d’exercice du fait de l’appauvrissement en substrats énergétiques.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570" name="Text Box 5"/>
          <p:cNvSpPr/>
          <p:nvPr/>
        </p:nvSpPr>
        <p:spPr>
          <a:xfrm>
            <a:off x="457200" y="3200400"/>
            <a:ext cx="868680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¤ Les réparations tissulaires risquent d’être ralenties du fait de la recapture prépondérante des Ac.Am. par le foie et le </a:t>
            </a:r>
            <a:r>
              <a:rPr b="1" i="1" lang="fr-FR" sz="1800" strike="noStrike" u="none">
                <a:solidFill>
                  <a:srgbClr val="00ffff"/>
                </a:solidFill>
                <a:effectLst/>
                <a:uFillTx/>
                <a:latin typeface="Arial"/>
              </a:rPr>
              <a:t>système immunitaire (Gln)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571" name="Text Box 6"/>
          <p:cNvSpPr/>
          <p:nvPr/>
        </p:nvSpPr>
        <p:spPr>
          <a:xfrm>
            <a:off x="533520" y="4343400"/>
            <a:ext cx="861048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¤ Les altérations structurelles de la cellule musculaire risquent de causer des </a:t>
            </a:r>
            <a:r>
              <a:rPr b="1" i="1" lang="fr-FR" sz="1800" strike="noStrike" u="none">
                <a:solidFill>
                  <a:srgbClr val="00ffff"/>
                </a:solidFill>
                <a:effectLst/>
                <a:uFillTx/>
                <a:latin typeface="Arial"/>
              </a:rPr>
              <a:t>dysfonctionnements du couplage excitation-contraction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572" name="Text Box 7"/>
          <p:cNvSpPr/>
          <p:nvPr/>
        </p:nvSpPr>
        <p:spPr>
          <a:xfrm>
            <a:off x="457200" y="5638680"/>
            <a:ext cx="868680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66"/>
                </a:solidFill>
                <a:effectLst/>
                <a:uFillTx/>
                <a:latin typeface="Arial"/>
              </a:rPr>
              <a:t>L’origine métabolique</a:t>
            </a: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des dégradations structurelles musculaires pourrait alors expliquer les dysfonctionnements du couplage excitation-contraction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573" name="Line 8"/>
          <p:cNvSpPr/>
          <p:nvPr/>
        </p:nvSpPr>
        <p:spPr>
          <a:xfrm>
            <a:off x="609480" y="5257800"/>
            <a:ext cx="8153640" cy="0"/>
          </a:xfrm>
          <a:prstGeom prst="line">
            <a:avLst/>
          </a:prstGeom>
          <a:ln w="57240">
            <a:solidFill>
              <a:srgbClr val="ff99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</p:spTree>
  </p:cSld>
  <p:transition spd="med">
    <p:split dir="out" orient="vert"/>
  </p:transition>
  <p:timing>
    <p:tnLst>
      <p:par>
        <p:cTn id="1309" dur="indefinite" restart="never" nodeType="tmRoot">
          <p:childTnLst>
            <p:seq>
              <p:cTn id="1310" dur="indefinite" nodeType="mainSeq">
                <p:childTnLst>
                  <p:par>
                    <p:cTn id="1311" nodeType="clickEffect" fill="hold">
                      <p:stCondLst>
                        <p:cond delay="0"/>
                      </p:stCondLst>
                      <p:childTnLst>
                        <p:par>
                          <p:cTn id="131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13" nodeType="after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1315" dur="500"/>
                                        <p:tgtEl>
                                          <p:spTgt spid="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6" nodeType="clickEffect" fill="hold">
                      <p:stCondLst>
                        <p:cond delay="indefinite"/>
                      </p:stCondLst>
                      <p:childTnLst>
                        <p:par>
                          <p:cTn id="131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18" nodeType="click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1320" dur="500"/>
                                        <p:tgtEl>
                                          <p:spTgt spid="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13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68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b2b2b2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  <p:par>
                    <p:cTn id="1322" nodeType="clickEffect" fill="hold">
                      <p:stCondLst>
                        <p:cond delay="indefinite"/>
                      </p:stCondLst>
                      <p:childTnLst>
                        <p:par>
                          <p:cTn id="132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24" nodeType="click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1326" dur="500"/>
                                        <p:tgtEl>
                                          <p:spTgt spid="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13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69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b2b2b2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  <p:par>
                    <p:cTn id="1328" nodeType="clickEffect" fill="hold">
                      <p:stCondLst>
                        <p:cond delay="indefinite"/>
                      </p:stCondLst>
                      <p:childTnLst>
                        <p:par>
                          <p:cTn id="132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30" nodeType="click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1332" dur="500"/>
                                        <p:tgtEl>
                                          <p:spTgt spid="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13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70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b2b2b2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  <p:par>
                    <p:cTn id="1334" nodeType="clickEffect" fill="hold">
                      <p:stCondLst>
                        <p:cond delay="indefinite"/>
                      </p:stCondLst>
                      <p:childTnLst>
                        <p:par>
                          <p:cTn id="133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36" nodeType="clickEffect" fill="hold" presetClass="entr" presetID="17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338" dur="500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339" dur="500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animClr clrSpc="rgb">
                                <p:cBhvr>
                                  <p:cTn id="134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71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b2b2b2"/>
                                </p:to>
                              </p:animClr>
                            </p:childTnLst>
                          </p:cTn>
                        </p:par>
                        <p:par>
                          <p:cTn id="1341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1342" nodeType="after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1344" dur="500"/>
                                        <p:tgtEl>
                                          <p:spTgt spid="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Text Box 2"/>
          <p:cNvSpPr/>
          <p:nvPr/>
        </p:nvSpPr>
        <p:spPr>
          <a:xfrm>
            <a:off x="685800" y="2362320"/>
            <a:ext cx="8001000" cy="227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40000"/>
              </a:lnSpc>
              <a:spcBef>
                <a:spcPts val="12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De plus, </a:t>
            </a:r>
            <a:r>
              <a:rPr b="1" i="1" lang="fr-FR" sz="2000" strike="noStrike" u="sng">
                <a:solidFill>
                  <a:srgbClr val="ffff00"/>
                </a:solidFill>
                <a:effectLst/>
                <a:uFillTx/>
                <a:latin typeface="Arial"/>
              </a:rPr>
              <a:t>l’exercice intense</a:t>
            </a: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causant des </a:t>
            </a:r>
            <a:r>
              <a:rPr b="1" lang="fr-FR" sz="2000" strike="noStrike" u="none">
                <a:solidFill>
                  <a:srgbClr val="66ff33"/>
                </a:solidFill>
                <a:effectLst/>
                <a:uFillTx/>
                <a:latin typeface="Arial"/>
              </a:rPr>
              <a:t>dommages musculaires</a:t>
            </a: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lnSpc>
                <a:spcPct val="140000"/>
              </a:lnSpc>
              <a:spcBef>
                <a:spcPts val="12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provoquera une </a:t>
            </a:r>
            <a:r>
              <a:rPr b="1" lang="fr-FR" sz="2000" strike="noStrike" u="none">
                <a:solidFill>
                  <a:srgbClr val="66ff33"/>
                </a:solidFill>
                <a:effectLst/>
                <a:uFillTx/>
                <a:latin typeface="Arial"/>
              </a:rPr>
              <a:t>rhabdomyolyse</a:t>
            </a: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avec </a:t>
            </a:r>
            <a:r>
              <a:rPr b="1" lang="fr-FR" sz="2000" strike="noStrike" u="none">
                <a:solidFill>
                  <a:srgbClr val="66ff33"/>
                </a:solidFill>
                <a:effectLst/>
                <a:uFillTx/>
                <a:latin typeface="Arial"/>
              </a:rPr>
              <a:t>myoglobinémie</a:t>
            </a: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et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lnSpc>
                <a:spcPct val="140000"/>
              </a:lnSpc>
              <a:spcBef>
                <a:spcPts val="12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1" lang="fr-FR" sz="2000" strike="noStrike" u="none">
                <a:solidFill>
                  <a:srgbClr val="66ff33"/>
                </a:solidFill>
                <a:effectLst/>
                <a:uFillTx/>
                <a:latin typeface="Arial"/>
              </a:rPr>
              <a:t>myoglobinurie</a:t>
            </a: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, ce qui est délétère pour le fonctionnement rénal 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lnSpc>
                <a:spcPct val="140000"/>
              </a:lnSpc>
              <a:spcBef>
                <a:spcPts val="12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(</a:t>
            </a:r>
            <a:r>
              <a:rPr b="1" lang="fr-FR" sz="2000" strike="noStrike" u="none">
                <a:solidFill>
                  <a:srgbClr val="66ff33"/>
                </a:solidFill>
                <a:effectLst/>
                <a:uFillTx/>
                <a:latin typeface="Arial"/>
              </a:rPr>
              <a:t>taux de filtration glomérulaire</a:t>
            </a: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Symbol"/>
                <a:ea typeface="Symbol"/>
              </a:rPr>
              <a:t></a:t>
            </a: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, </a:t>
            </a:r>
            <a:r>
              <a:rPr b="1" lang="fr-FR" sz="2000" strike="noStrike" u="none">
                <a:solidFill>
                  <a:srgbClr val="66ff33"/>
                </a:solidFill>
                <a:effectLst/>
                <a:uFillTx/>
                <a:latin typeface="Arial"/>
              </a:rPr>
              <a:t>inflammations glomérulaires</a:t>
            </a: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).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</p:spTree>
  </p:cSld>
  <p:transition spd="med">
    <p:split dir="out" orient="vert"/>
  </p:transition>
  <p:timing>
    <p:tnLst>
      <p:par>
        <p:cTn id="1345" dur="indefinite" restart="never" nodeType="tmRoot">
          <p:childTnLst>
            <p:seq>
              <p:cTn id="1346" dur="indefinite" nodeType="mainSeq">
                <p:childTnLst>
                  <p:par>
                    <p:cTn id="1347" nodeType="clickEffect" fill="hold">
                      <p:stCondLst>
                        <p:cond delay="0"/>
                      </p:stCondLst>
                      <p:childTnLst>
                        <p:par>
                          <p:cTn id="134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49" nodeType="after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1351" dur="500"/>
                                        <p:tgtEl>
                                          <p:spTgt spid="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Text Box 2"/>
          <p:cNvSpPr/>
          <p:nvPr/>
        </p:nvSpPr>
        <p:spPr>
          <a:xfrm>
            <a:off x="3123360" y="606600"/>
            <a:ext cx="2532240" cy="58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 surveiller...</a:t>
            </a:r>
            <a:endParaRPr b="1" lang="en-US" sz="32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576" name="Text Box 3"/>
          <p:cNvSpPr/>
          <p:nvPr/>
        </p:nvSpPr>
        <p:spPr>
          <a:xfrm>
            <a:off x="1060920" y="1817640"/>
            <a:ext cx="5293080" cy="350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Les concentrations sériques en :</a:t>
            </a:r>
            <a:endParaRPr b="1" lang="en-US" sz="2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- CPK</a:t>
            </a:r>
            <a:endParaRPr b="1" lang="en-US" sz="2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- myoglobine</a:t>
            </a:r>
            <a:endParaRPr b="1" lang="en-US" sz="2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- en LDH</a:t>
            </a:r>
            <a:endParaRPr b="1" lang="en-US" sz="2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- troponine</a:t>
            </a:r>
            <a:endParaRPr b="1" lang="en-US" sz="2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- 3 méthylhistidine</a:t>
            </a:r>
            <a:endParaRPr b="1" lang="en-US" sz="2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endParaRPr b="1" lang="en-US" sz="2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</p:spTree>
  </p:cSld>
  <p:transition spd="med">
    <p:split dir="out" orient="vert"/>
  </p:transition>
  <p:timing>
    <p:tnLst>
      <p:par>
        <p:cTn id="1352" dur="indefinite" restart="never" nodeType="tmRoot">
          <p:childTnLst>
            <p:seq>
              <p:cTn id="1353" dur="indefinite" nodeType="mainSeq">
                <p:childTnLst>
                  <p:par>
                    <p:cTn id="1354" nodeType="clickEffect" fill="hold">
                      <p:stCondLst>
                        <p:cond delay="0"/>
                      </p:stCondLst>
                      <p:childTnLst>
                        <p:par>
                          <p:cTn id="135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56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358" dur="500"/>
                                        <p:tgtEl>
                                          <p:spTgt spid="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9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1360" nodeType="afterEffect" fill="hold" presetClass="entr" presetID="22" presetSubtype="2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1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right)" transition="in">
                                      <p:cBhvr additive="repl">
                                        <p:cTn id="1362" dur="300"/>
                                        <p:tgtEl>
                                          <p:spTgt spid="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Text Box 2"/>
          <p:cNvSpPr/>
          <p:nvPr/>
        </p:nvSpPr>
        <p:spPr>
          <a:xfrm>
            <a:off x="2939760" y="3124080"/>
            <a:ext cx="3216240" cy="581760"/>
          </a:xfrm>
          <a:prstGeom prst="rect">
            <a:avLst/>
          </a:prstGeom>
          <a:noFill/>
          <a:ln w="284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fff00"/>
                </a:solidFill>
                <a:effectLst/>
                <a:uFillTx/>
                <a:latin typeface="Comic Sans MS"/>
              </a:rPr>
              <a:t>Hypothèse glucidique</a:t>
            </a:r>
            <a:endParaRPr b="1" lang="en-US" sz="32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pic>
        <p:nvPicPr>
          <p:cNvPr id="578" name="Picture 3" descr="Glucose"/>
          <p:cNvPicPr/>
          <p:nvPr/>
        </p:nvPicPr>
        <p:blipFill>
          <a:blip r:embed="rId1"/>
          <a:stretch/>
        </p:blipFill>
        <p:spPr>
          <a:xfrm>
            <a:off x="6553080" y="4419720"/>
            <a:ext cx="2210040" cy="2209680"/>
          </a:xfrm>
          <a:prstGeom prst="rect">
            <a:avLst/>
          </a:prstGeom>
          <a:noFill/>
          <a:ln w="0">
            <a:noFill/>
          </a:ln>
        </p:spPr>
      </p:pic>
    </p:spTree>
  </p:cSld>
  <p:transition spd="med">
    <p:split dir="out" orient="vert"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Text Box 2"/>
          <p:cNvSpPr/>
          <p:nvPr/>
        </p:nvSpPr>
        <p:spPr>
          <a:xfrm>
            <a:off x="0" y="5114880"/>
            <a:ext cx="9524880" cy="182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2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Après 28 jours successifs </a:t>
            </a:r>
            <a:r>
              <a:rPr b="1" i="1" lang="fr-FR" sz="1800" strike="noStrike" u="none">
                <a:solidFill>
                  <a:srgbClr val="66ff33"/>
                </a:solidFill>
                <a:effectLst/>
                <a:uFillTx/>
                <a:latin typeface="Arial"/>
              </a:rPr>
              <a:t>d’augmentation du volume d’entraînement (+50%) </a:t>
            </a:r>
            <a:r>
              <a:rPr b="1" i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, les sujets surentraînés présentent une baisse de la concentration en glycogène musculaire de repos (</a:t>
            </a:r>
            <a:r>
              <a:rPr b="1" i="1" lang="fr-FR" sz="1800" strike="noStrike" u="none">
                <a:solidFill>
                  <a:srgbClr val="66ff33"/>
                </a:solidFill>
                <a:effectLst/>
                <a:uFillTx/>
                <a:latin typeface="Arial"/>
              </a:rPr>
              <a:t>- 4%</a:t>
            </a:r>
            <a:r>
              <a:rPr b="1" i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). Les baisses de concentrations lors d’exercices exhaustifs sont cependant bien plus fortes entre 50 et 90% de VO</a:t>
            </a:r>
            <a:r>
              <a:rPr b="1" i="1" lang="fr-FR" sz="18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2</a:t>
            </a:r>
            <a:r>
              <a:rPr b="1" i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max et significa-tive entre 90 et 100% de VO</a:t>
            </a:r>
            <a:r>
              <a:rPr b="1" i="1" lang="fr-FR" sz="18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2</a:t>
            </a:r>
            <a:r>
              <a:rPr b="1" i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max (Lehmann et al. 1997 ; Snyder et al. 1995).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580" name="Object 3"/>
          <p:cNvGraphicFramePr/>
          <p:nvPr/>
        </p:nvGraphicFramePr>
        <p:xfrm>
          <a:off x="1371600" y="838080"/>
          <a:ext cx="6672240" cy="4248360"/>
        </p:xfrm>
        <a:graphic>
          <a:graphicData uri="http://schemas.openxmlformats.org/presentationml/2006/ole">
            <p:oleObj progId="Excel.Sheet.12" r:id="rId1" spid="">
              <p:embed/>
              <p:pic>
                <p:nvPicPr>
                  <p:cNvPr id="581" name="Object 3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371600" y="838080"/>
                    <a:ext cx="6672240" cy="4248360"/>
                  </a:xfrm>
                  <a:prstGeom prst="rect">
                    <a:avLst/>
                  </a:prstGeom>
                  <a:noFill/>
                  <a:ln w="28440">
                    <a:solidFill>
                      <a:srgbClr val="00ffff"/>
                    </a:solidFill>
                    <a:miter/>
                  </a:ln>
                </p:spPr>
              </p:pic>
            </p:oleObj>
          </a:graphicData>
        </a:graphic>
      </p:graphicFrame>
      <p:sp>
        <p:nvSpPr>
          <p:cNvPr id="582" name="Text Box 4"/>
          <p:cNvSpPr/>
          <p:nvPr/>
        </p:nvSpPr>
        <p:spPr>
          <a:xfrm>
            <a:off x="1600200" y="228600"/>
            <a:ext cx="6248520" cy="398880"/>
          </a:xfrm>
          <a:prstGeom prst="rect">
            <a:avLst/>
          </a:prstGeom>
          <a:noFill/>
          <a:ln w="25560">
            <a:solidFill>
              <a:srgbClr val="ffff6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12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66"/>
                </a:solidFill>
                <a:effectLst/>
                <a:uFillTx/>
                <a:latin typeface="Arial"/>
              </a:rPr>
              <a:t>Déplétion glycogénique et surentraînement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</p:spTree>
  </p:cSld>
  <p:transition spd="med">
    <p:split dir="out" orient="vert"/>
  </p:transition>
  <p:timing>
    <p:tnLst>
      <p:par>
        <p:cTn id="1363" dur="indefinite" restart="never" nodeType="tmRoot">
          <p:childTnLst>
            <p:seq>
              <p:cTn id="1364" dur="indefinite" nodeType="mainSeq">
                <p:childTnLst>
                  <p:par>
                    <p:cTn id="1365" nodeType="clickEffect" fill="hold">
                      <p:stCondLst>
                        <p:cond delay="0"/>
                      </p:stCondLst>
                      <p:childTnLst>
                        <p:par>
                          <p:cTn id="136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67" nodeType="after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9" dur="500" fill="hold"/>
                                        <p:tgtEl>
                                          <p:spTgt spid="5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0" dur="500" fill="hold"/>
                                        <p:tgtEl>
                                          <p:spTgt spid="5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1" nodeType="clickEffect" fill="hold">
                      <p:stCondLst>
                        <p:cond delay="indefinite"/>
                      </p:stCondLst>
                      <p:childTnLst>
                        <p:par>
                          <p:cTn id="137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73" nodeType="clickEffect" fill="hold" presetClass="entr" presetID="4" presetSubtype="3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out)" transition="in">
                                      <p:cBhvr additive="repl">
                                        <p:cTn id="1375" dur="500"/>
                                        <p:tgtEl>
                                          <p:spTgt spid="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6" nodeType="clickEffect" fill="hold">
                      <p:stCondLst>
                        <p:cond delay="indefinite"/>
                      </p:stCondLst>
                      <p:childTnLst>
                        <p:par>
                          <p:cTn id="137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78" nodeType="click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1380" dur="500"/>
                                        <p:tgtEl>
                                          <p:spTgt spid="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Text Box 2"/>
          <p:cNvSpPr/>
          <p:nvPr/>
        </p:nvSpPr>
        <p:spPr>
          <a:xfrm>
            <a:off x="304920" y="1371600"/>
            <a:ext cx="8610480" cy="100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12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Snyder (1998) a proposé que les </a:t>
            </a:r>
            <a:r>
              <a:rPr b="1" lang="fr-FR" sz="2000" strike="noStrike" u="none">
                <a:solidFill>
                  <a:srgbClr val="66ff33"/>
                </a:solidFill>
                <a:effectLst/>
                <a:uFillTx/>
                <a:latin typeface="Arial"/>
              </a:rPr>
              <a:t>déplétions</a:t>
            </a: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chroniques et répétées en glycogène (musculaire et hépatique) soient à l’origine de </a:t>
            </a:r>
            <a:r>
              <a:rPr b="1" lang="fr-FR" sz="2000" strike="noStrike" u="none">
                <a:solidFill>
                  <a:srgbClr val="66ff33"/>
                </a:solidFill>
                <a:effectLst/>
                <a:uFillTx/>
                <a:latin typeface="Arial"/>
              </a:rPr>
              <a:t>perturbations graves du métabolisme</a:t>
            </a: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chez le sportif d’endurance.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584" name="Text Box 3"/>
          <p:cNvSpPr/>
          <p:nvPr/>
        </p:nvSpPr>
        <p:spPr>
          <a:xfrm>
            <a:off x="304920" y="2895480"/>
            <a:ext cx="8762760" cy="133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1- L’exercice d’endurance chronique cause une </a:t>
            </a:r>
            <a:r>
              <a:rPr b="1" i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déplétion des stocks en glycogène</a:t>
            </a:r>
            <a:r>
              <a:rPr b="1" i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 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Répétées plusieurs fois d’affilé sans récupération suffisante, ces déplétions peuvent causer une augmentation de la </a:t>
            </a:r>
            <a:r>
              <a:rPr b="1" i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fatigue</a:t>
            </a:r>
            <a:r>
              <a:rPr b="1" i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et une baisse de performance.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585" name="Line 4"/>
          <p:cNvSpPr/>
          <p:nvPr/>
        </p:nvSpPr>
        <p:spPr>
          <a:xfrm>
            <a:off x="457200" y="2743200"/>
            <a:ext cx="8153280" cy="0"/>
          </a:xfrm>
          <a:prstGeom prst="line">
            <a:avLst/>
          </a:prstGeom>
          <a:ln w="57240">
            <a:solidFill>
              <a:srgbClr val="ff99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586" name="Text Box 5"/>
          <p:cNvSpPr/>
          <p:nvPr/>
        </p:nvSpPr>
        <p:spPr>
          <a:xfrm>
            <a:off x="152280" y="4572000"/>
            <a:ext cx="899172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2- Les faibles niveaux de glycogène peuvent entraîner : 1- une oxydation accrue des </a:t>
            </a:r>
            <a:r>
              <a:rPr b="1" i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AAR</a:t>
            </a:r>
            <a:r>
              <a:rPr b="1" i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, ce qui provoque une fatigue centrale (cf. L’hypothèse des AAR)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587" name="Text Box 6"/>
          <p:cNvSpPr/>
          <p:nvPr/>
        </p:nvSpPr>
        <p:spPr>
          <a:xfrm>
            <a:off x="304920" y="5638680"/>
            <a:ext cx="8610480" cy="91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3- Les difficultés de régénération des stocks en glycogène sont plus un </a:t>
            </a:r>
            <a:r>
              <a:rPr b="1" i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facteur aggravant</a:t>
            </a:r>
            <a:r>
              <a:rPr b="1" i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du processus de surentraînement qu’un facteur déclenchant ou directement responsable de ce processus.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588" name="Line 7"/>
          <p:cNvSpPr/>
          <p:nvPr/>
        </p:nvSpPr>
        <p:spPr>
          <a:xfrm>
            <a:off x="2819520" y="4419720"/>
            <a:ext cx="3352680" cy="0"/>
          </a:xfrm>
          <a:prstGeom prst="line">
            <a:avLst/>
          </a:prstGeom>
          <a:ln w="572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589" name="Line 8"/>
          <p:cNvSpPr/>
          <p:nvPr/>
        </p:nvSpPr>
        <p:spPr>
          <a:xfrm>
            <a:off x="2819520" y="5410080"/>
            <a:ext cx="3352680" cy="0"/>
          </a:xfrm>
          <a:prstGeom prst="line">
            <a:avLst/>
          </a:prstGeom>
          <a:ln w="572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590" name="Text Box 9"/>
          <p:cNvSpPr/>
          <p:nvPr/>
        </p:nvSpPr>
        <p:spPr>
          <a:xfrm>
            <a:off x="685800" y="457200"/>
            <a:ext cx="7772400" cy="520920"/>
          </a:xfrm>
          <a:prstGeom prst="rect">
            <a:avLst/>
          </a:prstGeom>
          <a:noFill/>
          <a:ln w="25560">
            <a:solidFill>
              <a:srgbClr val="ffff6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17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ffff66"/>
                </a:solidFill>
                <a:effectLst/>
                <a:uFillTx/>
                <a:latin typeface="Arial"/>
              </a:rPr>
              <a:t> Hypothèse du métabolisme du glycogène</a:t>
            </a:r>
            <a:endParaRPr b="1" lang="en-US" sz="2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</p:spTree>
  </p:cSld>
  <p:transition spd="med">
    <p:split dir="out" orient="vert"/>
  </p:transition>
  <p:timing>
    <p:tnLst>
      <p:par>
        <p:cTn id="1381" dur="indefinite" restart="never" nodeType="tmRoot">
          <p:childTnLst>
            <p:seq>
              <p:cTn id="1382" dur="indefinite" nodeType="mainSeq">
                <p:childTnLst>
                  <p:par>
                    <p:cTn id="1383" nodeType="clickEffect" fill="hold">
                      <p:stCondLst>
                        <p:cond delay="0"/>
                      </p:stCondLst>
                      <p:childTnLst>
                        <p:par>
                          <p:cTn id="138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85" nodeType="after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7" dur="500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8" dur="500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9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1390" nodeType="after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1392" dur="500"/>
                                        <p:tgtEl>
                                          <p:spTgt spid="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3" nodeType="clickEffect" fill="hold">
                      <p:stCondLst>
                        <p:cond delay="indefinite"/>
                      </p:stCondLst>
                      <p:childTnLst>
                        <p:par>
                          <p:cTn id="139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95" nodeType="clickEffect" fill="hold" presetClass="entr" presetID="17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397" dur="500" fill="hold"/>
                                        <p:tgtEl>
                                          <p:spTgt spid="5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398" dur="500" fill="hold"/>
                                        <p:tgtEl>
                                          <p:spTgt spid="5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9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1400" nodeType="after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1402" dur="500"/>
                                        <p:tgtEl>
                                          <p:spTgt spid="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3" nodeType="clickEffect" fill="hold">
                      <p:stCondLst>
                        <p:cond delay="indefinite"/>
                      </p:stCondLst>
                      <p:childTnLst>
                        <p:par>
                          <p:cTn id="140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405" nodeType="clickEffect" fill="hold" presetClass="entr" presetID="17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407" dur="500" fill="hold"/>
                                        <p:tgtEl>
                                          <p:spTgt spid="5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08" dur="500" fill="hold"/>
                                        <p:tgtEl>
                                          <p:spTgt spid="5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animClr clrSpc="rgb">
                                <p:cBhvr>
                                  <p:cTn id="14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84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b2b2b2"/>
                                </p:to>
                              </p:animClr>
                            </p:childTnLst>
                          </p:cTn>
                        </p:par>
                        <p:par>
                          <p:cTn id="1410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1411" nodeType="after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1413" dur="500"/>
                                        <p:tgtEl>
                                          <p:spTgt spid="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4" nodeType="clickEffect" fill="hold">
                      <p:stCondLst>
                        <p:cond delay="indefinite"/>
                      </p:stCondLst>
                      <p:childTnLst>
                        <p:par>
                          <p:cTn id="141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416" nodeType="clickEffect" fill="hold" presetClass="entr" presetID="17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418" dur="500" fill="hold"/>
                                        <p:tgtEl>
                                          <p:spTgt spid="5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19" dur="500" fill="hold"/>
                                        <p:tgtEl>
                                          <p:spTgt spid="5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animClr clrSpc="rgb">
                                <p:cBhvr>
                                  <p:cTn id="14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86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b2b2b2"/>
                                </p:to>
                              </p:animClr>
                            </p:childTnLst>
                          </p:cTn>
                        </p:par>
                        <p:par>
                          <p:cTn id="1421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1422" nodeType="after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1424" dur="500"/>
                                        <p:tgtEl>
                                          <p:spTgt spid="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5" fill="hold">
                      <p:stCondLst>
                        <p:cond delay="indefinite"/>
                      </p:stCondLst>
                      <p:childTnLst>
                        <p:par>
                          <p:cTn id="1426" fill="hold">
                            <p:stCondLst>
                              <p:cond delay="0"/>
                            </p:stCondLst>
                            <p:childTnLst>
                              <p:animClr clrSpc="rgb">
                                <p:cBhvr>
                                  <p:cTn id="1427" dur="1" fill="hold"/>
                                  <p:tgtEl>
                                    <p:spTgt spid="587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b2b2b2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Text Box 2"/>
          <p:cNvSpPr/>
          <p:nvPr/>
        </p:nvSpPr>
        <p:spPr>
          <a:xfrm>
            <a:off x="228600" y="1523880"/>
            <a:ext cx="8610480" cy="155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Les déplétions chroniques et répétées du glycogène musculaire et hépatique pourraient </a:t>
            </a:r>
            <a:r>
              <a:rPr b="1" lang="fr-FR" sz="2400" strike="noStrike" u="none">
                <a:solidFill>
                  <a:srgbClr val="66ff33"/>
                </a:solidFill>
                <a:effectLst/>
                <a:uFillTx/>
                <a:latin typeface="Arial"/>
              </a:rPr>
              <a:t>favoriser l’apparition du surentraînement</a:t>
            </a: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mais aucune étude longitudinale n’a pu le démontrer (Snyder, 1998).</a:t>
            </a:r>
            <a:endParaRPr b="1" lang="en-US" sz="2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592" name="Text Box 7"/>
          <p:cNvSpPr/>
          <p:nvPr/>
        </p:nvSpPr>
        <p:spPr>
          <a:xfrm>
            <a:off x="228600" y="3657600"/>
            <a:ext cx="8610480" cy="228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Cette déplétion accrue du glycogène pourrait être consécutive à une moindre efficacité</a:t>
            </a:r>
            <a:r>
              <a:rPr b="1" i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du métabolisme lipidique</a:t>
            </a:r>
            <a:r>
              <a:rPr b="1" i="1" lang="fr-F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et aux ralentissements de certains processus biochimiques (baisse des </a:t>
            </a:r>
            <a:r>
              <a:rPr b="1" i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activités enzymatiques</a:t>
            </a:r>
            <a:r>
              <a:rPr b="1" i="1" lang="fr-F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). En outre, il n’a été constaté </a:t>
            </a:r>
            <a:r>
              <a:rPr b="1" i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aucune déplétion hépatique grave</a:t>
            </a:r>
            <a:r>
              <a:rPr b="1" i="1" lang="fr-F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à l ’issue de l’exercice.</a:t>
            </a:r>
            <a:endParaRPr b="1" lang="en-US" sz="2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</p:spTree>
  </p:cSld>
  <p:transition spd="med">
    <p:split dir="out" orient="vert"/>
  </p:transition>
  <p:timing>
    <p:tnLst>
      <p:par>
        <p:cTn id="1428" dur="indefinite" restart="never" nodeType="tmRoot">
          <p:childTnLst>
            <p:seq>
              <p:cTn id="1429" dur="indefinite" nodeType="mainSeq">
                <p:childTnLst>
                  <p:par>
                    <p:cTn id="1430" nodeType="clickEffect" fill="hold">
                      <p:stCondLst>
                        <p:cond delay="0"/>
                      </p:stCondLst>
                      <p:childTnLst>
                        <p:par>
                          <p:cTn id="143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432" nodeType="after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1434" dur="500"/>
                                        <p:tgtEl>
                                          <p:spTgt spid="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5" nodeType="clickEffect" fill="hold">
                      <p:stCondLst>
                        <p:cond delay="indefinite"/>
                      </p:stCondLst>
                      <p:childTnLst>
                        <p:par>
                          <p:cTn id="143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437" nodeType="click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1439" dur="500"/>
                                        <p:tgtEl>
                                          <p:spTgt spid="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0" fill="hold">
                      <p:stCondLst>
                        <p:cond delay="indefinite"/>
                      </p:stCondLst>
                      <p:childTnLst>
                        <p:par>
                          <p:cTn id="1441" fill="hold">
                            <p:stCondLst>
                              <p:cond delay="0"/>
                            </p:stCondLst>
                            <p:childTnLst>
                              <p:animClr clrSpc="rgb">
                                <p:cBhvr>
                                  <p:cTn id="1442" dur="1" fill="hold"/>
                                  <p:tgtEl>
                                    <p:spTgt spid="592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b2b2b2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Text Box 2"/>
          <p:cNvSpPr/>
          <p:nvPr/>
        </p:nvSpPr>
        <p:spPr>
          <a:xfrm>
            <a:off x="1911600" y="3048120"/>
            <a:ext cx="5437800" cy="581760"/>
          </a:xfrm>
          <a:prstGeom prst="rect">
            <a:avLst/>
          </a:prstGeom>
          <a:noFill/>
          <a:ln w="381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fff00"/>
                </a:solidFill>
                <a:effectLst/>
                <a:uFillTx/>
                <a:latin typeface="Comic Sans MS"/>
              </a:rPr>
              <a:t>Hypothèse des acides aminés ramifiés</a:t>
            </a:r>
            <a:endParaRPr b="1" lang="en-US" sz="32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pic>
        <p:nvPicPr>
          <p:cNvPr id="594" name="Picture 3" descr="Val"/>
          <p:cNvPicPr/>
          <p:nvPr/>
        </p:nvPicPr>
        <p:blipFill>
          <a:blip r:embed="rId1"/>
          <a:srcRect l="10667" t="17789" r="7559" b="18226"/>
          <a:stretch/>
        </p:blipFill>
        <p:spPr>
          <a:xfrm>
            <a:off x="2590920" y="533520"/>
            <a:ext cx="1752480" cy="1371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95" name="Picture 4" descr="val2"/>
          <p:cNvPicPr/>
          <p:nvPr/>
        </p:nvPicPr>
        <p:blipFill>
          <a:blip r:embed="rId2">
            <a:lum bright="-30000"/>
          </a:blip>
          <a:stretch/>
        </p:blipFill>
        <p:spPr>
          <a:xfrm>
            <a:off x="4343400" y="533520"/>
            <a:ext cx="1523880" cy="1344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96" name="Picture 5" descr="Ile"/>
          <p:cNvPicPr/>
          <p:nvPr/>
        </p:nvPicPr>
        <p:blipFill>
          <a:blip r:embed="rId3"/>
          <a:srcRect l="10667" t="21334" r="11120" b="21787"/>
          <a:stretch/>
        </p:blipFill>
        <p:spPr>
          <a:xfrm>
            <a:off x="380880" y="4786200"/>
            <a:ext cx="1905120" cy="1386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97" name="Picture 6" descr="ile2"/>
          <p:cNvPicPr/>
          <p:nvPr/>
        </p:nvPicPr>
        <p:blipFill>
          <a:blip r:embed="rId4">
            <a:lum bright="-30000"/>
          </a:blip>
          <a:stretch/>
        </p:blipFill>
        <p:spPr>
          <a:xfrm>
            <a:off x="2286000" y="4800600"/>
            <a:ext cx="1216080" cy="1371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98" name="Picture 7" descr="Leu"/>
          <p:cNvPicPr/>
          <p:nvPr/>
        </p:nvPicPr>
        <p:blipFill>
          <a:blip r:embed="rId5"/>
          <a:srcRect l="10667" t="21334" r="11120" b="21787"/>
          <a:stretch/>
        </p:blipFill>
        <p:spPr>
          <a:xfrm>
            <a:off x="5562720" y="4786200"/>
            <a:ext cx="1904760" cy="1386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9" name="Text Box 8"/>
          <p:cNvSpPr/>
          <p:nvPr/>
        </p:nvSpPr>
        <p:spPr>
          <a:xfrm>
            <a:off x="6783120" y="6172200"/>
            <a:ext cx="90504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leucine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600" name="Text Box 9"/>
          <p:cNvSpPr/>
          <p:nvPr/>
        </p:nvSpPr>
        <p:spPr>
          <a:xfrm>
            <a:off x="1373040" y="6172200"/>
            <a:ext cx="11973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isoleucine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601" name="Text Box 10"/>
          <p:cNvSpPr/>
          <p:nvPr/>
        </p:nvSpPr>
        <p:spPr>
          <a:xfrm>
            <a:off x="4039920" y="1905120"/>
            <a:ext cx="7779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valine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pic>
        <p:nvPicPr>
          <p:cNvPr id="602" name="Picture 11" descr="leu2"/>
          <p:cNvPicPr/>
          <p:nvPr/>
        </p:nvPicPr>
        <p:blipFill>
          <a:blip r:embed="rId6">
            <a:lum bright="-30000"/>
          </a:blip>
          <a:stretch/>
        </p:blipFill>
        <p:spPr>
          <a:xfrm>
            <a:off x="7467480" y="4800600"/>
            <a:ext cx="1228680" cy="1371600"/>
          </a:xfrm>
          <a:prstGeom prst="rect">
            <a:avLst/>
          </a:prstGeom>
          <a:noFill/>
          <a:ln w="0">
            <a:noFill/>
          </a:ln>
        </p:spPr>
      </p:pic>
    </p:spTree>
  </p:cSld>
  <p:transition spd="med">
    <p:split dir="out" orient="vert"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Freeform 2"/>
          <p:cNvSpPr/>
          <p:nvPr/>
        </p:nvSpPr>
        <p:spPr>
          <a:xfrm>
            <a:off x="76320" y="5029200"/>
            <a:ext cx="4952880" cy="736560"/>
          </a:xfrm>
          <a:custGeom>
            <a:avLst/>
            <a:gdLst>
              <a:gd name="GluePoint1X" fmla="*/ 2147483647 w 2142"/>
              <a:gd name="GluePoint1Y" fmla="*/ 2147483647 h 312"/>
              <a:gd name="GluePoint2X" fmla="*/ 2147483647 w 2142"/>
              <a:gd name="GluePoint2Y" fmla="*/ 2147483647 h 312"/>
              <a:gd name="GluePoint3X" fmla="*/ 2147483647 w 2142"/>
              <a:gd name="GluePoint3Y" fmla="*/ 2147483647 h 312"/>
              <a:gd name="GluePoint4X" fmla="*/ 2147483647 w 2142"/>
              <a:gd name="GluePoint4Y" fmla="*/ 2147483647 h 312"/>
              <a:gd name="GluePoint5X" fmla="*/ 2147483647 w 2142"/>
              <a:gd name="GluePoint5Y" fmla="*/ 2147483647 h 312"/>
              <a:gd name="GluePoint6X" fmla="*/ 0 w 2142"/>
              <a:gd name="GluePoint6Y" fmla="*/ 2147483647 h 31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2142" h="312">
                <a:moveTo>
                  <a:pt x="2142" y="312"/>
                </a:moveTo>
                <a:cubicBezTo>
                  <a:pt x="2086" y="301"/>
                  <a:pt x="1939" y="296"/>
                  <a:pt x="1804" y="249"/>
                </a:cubicBezTo>
                <a:cubicBezTo>
                  <a:pt x="1669" y="202"/>
                  <a:pt x="1492" y="60"/>
                  <a:pt x="1334" y="30"/>
                </a:cubicBezTo>
                <a:cubicBezTo>
                  <a:pt x="1176" y="0"/>
                  <a:pt x="1004" y="32"/>
                  <a:pt x="855" y="71"/>
                </a:cubicBezTo>
                <a:cubicBezTo>
                  <a:pt x="706" y="110"/>
                  <a:pt x="584" y="226"/>
                  <a:pt x="442" y="265"/>
                </a:cubicBezTo>
                <a:cubicBezTo>
                  <a:pt x="300" y="304"/>
                  <a:pt x="92" y="298"/>
                  <a:pt x="0" y="306"/>
                </a:cubicBezTo>
              </a:path>
            </a:pathLst>
          </a:custGeom>
          <a:noFill/>
          <a:ln w="38160">
            <a:solidFill>
              <a:srgbClr val="ff66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604" name="Freeform 3"/>
          <p:cNvSpPr/>
          <p:nvPr/>
        </p:nvSpPr>
        <p:spPr>
          <a:xfrm>
            <a:off x="0" y="6008760"/>
            <a:ext cx="5029200" cy="544320"/>
          </a:xfrm>
          <a:custGeom>
            <a:avLst/>
            <a:gdLst>
              <a:gd name="GluePoint1X" fmla="*/ 2147483647 w 2122"/>
              <a:gd name="GluePoint1Y" fmla="*/ 2147483647 h 249"/>
              <a:gd name="GluePoint2X" fmla="*/ 2147483647 w 2122"/>
              <a:gd name="GluePoint2Y" fmla="*/ 2147483647 h 249"/>
              <a:gd name="GluePoint3X" fmla="*/ 2147483647 w 2122"/>
              <a:gd name="GluePoint3Y" fmla="*/ 2147483647 h 249"/>
              <a:gd name="GluePoint4X" fmla="*/ 2147483647 w 2122"/>
              <a:gd name="GluePoint4Y" fmla="*/ 2147483647 h 249"/>
              <a:gd name="GluePoint5X" fmla="*/ 2147483647 w 2122"/>
              <a:gd name="GluePoint5Y" fmla="*/ 2147483647 h 249"/>
              <a:gd name="GluePoint6X" fmla="*/ 0 w 2122"/>
              <a:gd name="GluePoint6Y" fmla="*/ 0 h 24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2122" h="249">
                <a:moveTo>
                  <a:pt x="2122" y="31"/>
                </a:moveTo>
                <a:cubicBezTo>
                  <a:pt x="2062" y="34"/>
                  <a:pt x="1892" y="23"/>
                  <a:pt x="1759" y="52"/>
                </a:cubicBezTo>
                <a:cubicBezTo>
                  <a:pt x="1626" y="81"/>
                  <a:pt x="1468" y="178"/>
                  <a:pt x="1321" y="206"/>
                </a:cubicBezTo>
                <a:cubicBezTo>
                  <a:pt x="1174" y="234"/>
                  <a:pt x="1026" y="249"/>
                  <a:pt x="875" y="222"/>
                </a:cubicBezTo>
                <a:cubicBezTo>
                  <a:pt x="724" y="195"/>
                  <a:pt x="559" y="81"/>
                  <a:pt x="413" y="44"/>
                </a:cubicBezTo>
                <a:cubicBezTo>
                  <a:pt x="267" y="7"/>
                  <a:pt x="86" y="9"/>
                  <a:pt x="0" y="0"/>
                </a:cubicBezTo>
              </a:path>
            </a:pathLst>
          </a:custGeom>
          <a:noFill/>
          <a:ln w="38160">
            <a:solidFill>
              <a:srgbClr val="ff66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605" name="Text Box 4"/>
          <p:cNvSpPr/>
          <p:nvPr/>
        </p:nvSpPr>
        <p:spPr>
          <a:xfrm>
            <a:off x="1523880" y="5715000"/>
            <a:ext cx="2514600" cy="37116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énergie = CO</a:t>
            </a:r>
            <a:r>
              <a:rPr b="1" lang="en-US" sz="16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2</a:t>
            </a:r>
            <a:r>
              <a:rPr b="1" lang="en-US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+ H</a:t>
            </a:r>
            <a:r>
              <a:rPr b="1" lang="en-US" sz="16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2</a:t>
            </a:r>
            <a:r>
              <a:rPr b="1" lang="en-US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</a:t>
            </a:r>
            <a:endParaRPr b="1" lang="en-US" sz="16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pic>
        <p:nvPicPr>
          <p:cNvPr id="606" name="Picture 5" descr="Cerveau"/>
          <p:cNvPicPr/>
          <p:nvPr/>
        </p:nvPicPr>
        <p:blipFill>
          <a:blip r:embed="rId1"/>
          <a:srcRect l="3780" t="5144" r="5669" b="10236"/>
          <a:stretch/>
        </p:blipFill>
        <p:spPr>
          <a:xfrm>
            <a:off x="4038480" y="2057400"/>
            <a:ext cx="4496040" cy="3090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7" name="Text Box 6"/>
          <p:cNvSpPr/>
          <p:nvPr/>
        </p:nvSpPr>
        <p:spPr>
          <a:xfrm>
            <a:off x="1219320" y="1066680"/>
            <a:ext cx="3276360" cy="368280"/>
          </a:xfrm>
          <a:prstGeom prst="rect">
            <a:avLst/>
          </a:prstGeom>
          <a:solidFill>
            <a:srgbClr val="ffff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ACIDES AMINES RAMIFIES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608" name="Text Box 7"/>
          <p:cNvSpPr/>
          <p:nvPr/>
        </p:nvSpPr>
        <p:spPr>
          <a:xfrm>
            <a:off x="5411880" y="1066680"/>
            <a:ext cx="3152520" cy="36828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TRIPTOPHANE (Trp) LIBRE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609" name="Line 8"/>
          <p:cNvSpPr/>
          <p:nvPr/>
        </p:nvSpPr>
        <p:spPr>
          <a:xfrm>
            <a:off x="2438280" y="1447920"/>
            <a:ext cx="0" cy="4190760"/>
          </a:xfrm>
          <a:prstGeom prst="line">
            <a:avLst/>
          </a:prstGeom>
          <a:ln w="57240">
            <a:solidFill>
              <a:srgbClr val="ffffff"/>
            </a:solidFill>
            <a:prstDash val="sysDot"/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610" name="Oval 9"/>
          <p:cNvSpPr/>
          <p:nvPr/>
        </p:nvSpPr>
        <p:spPr>
          <a:xfrm>
            <a:off x="4800600" y="2438280"/>
            <a:ext cx="609480" cy="609840"/>
          </a:xfrm>
          <a:prstGeom prst="ellipse">
            <a:avLst/>
          </a:prstGeom>
          <a:noFill/>
          <a:ln w="284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611" name="Text Box 10"/>
          <p:cNvSpPr/>
          <p:nvPr/>
        </p:nvSpPr>
        <p:spPr>
          <a:xfrm>
            <a:off x="4648320" y="4038480"/>
            <a:ext cx="1666800" cy="4057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CO</a:t>
            </a:r>
            <a:r>
              <a:rPr b="1" lang="en-US" sz="18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2</a:t>
            </a:r>
            <a:r>
              <a:rPr b="1" lang="en-US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+ H</a:t>
            </a:r>
            <a:r>
              <a:rPr b="1" lang="en-US" sz="18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2</a:t>
            </a:r>
            <a:r>
              <a:rPr b="1" lang="en-US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</a:t>
            </a:r>
            <a:endParaRPr b="1" lang="en-US" sz="1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cxnSp>
        <p:nvCxnSpPr>
          <p:cNvPr id="612" name="AutoShape 11"/>
          <p:cNvCxnSpPr>
            <a:stCxn id="607" idx="2"/>
            <a:endCxn id="610" idx="0"/>
          </p:cNvCxnSpPr>
          <p:nvPr/>
        </p:nvCxnSpPr>
        <p:spPr>
          <a:xfrm flipH="1" rot="16200000">
            <a:off x="3490920" y="809280"/>
            <a:ext cx="982080" cy="2248560"/>
          </a:xfrm>
          <a:prstGeom prst="curvedConnector5">
            <a:avLst>
              <a:gd name="adj1" fmla="val 50641"/>
              <a:gd name="adj2" fmla="val 49991"/>
              <a:gd name="adj3" fmla="val 50641"/>
            </a:avLst>
          </a:prstGeom>
          <a:ln w="28440">
            <a:solidFill>
              <a:srgbClr val="ffffff"/>
            </a:solidFill>
            <a:miter/>
            <a:tailEnd len="med" type="triangle" w="med"/>
          </a:ln>
        </p:spPr>
      </p:cxnSp>
      <p:sp>
        <p:nvSpPr>
          <p:cNvPr id="613" name="Line 12"/>
          <p:cNvSpPr/>
          <p:nvPr/>
        </p:nvSpPr>
        <p:spPr>
          <a:xfrm>
            <a:off x="5105520" y="2438280"/>
            <a:ext cx="0" cy="609840"/>
          </a:xfrm>
          <a:prstGeom prst="line">
            <a:avLst/>
          </a:prstGeom>
          <a:ln w="284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cxnSp>
        <p:nvCxnSpPr>
          <p:cNvPr id="614" name="AutoShape 13"/>
          <p:cNvCxnSpPr>
            <a:stCxn id="613" idx="0"/>
            <a:endCxn id="611" idx="1"/>
          </p:cNvCxnSpPr>
          <p:nvPr/>
        </p:nvCxnSpPr>
        <p:spPr>
          <a:xfrm rot="5400000">
            <a:off x="4311720" y="3398040"/>
            <a:ext cx="1129680" cy="457920"/>
          </a:xfrm>
          <a:prstGeom prst="curvedConnector5">
            <a:avLst>
              <a:gd name="adj1" fmla="val 42588"/>
              <a:gd name="adj2" fmla="val 74980"/>
              <a:gd name="adj3" fmla="val 42588"/>
            </a:avLst>
          </a:prstGeom>
          <a:ln w="28440">
            <a:solidFill>
              <a:srgbClr val="ffffff"/>
            </a:solidFill>
            <a:miter/>
            <a:tailEnd len="med" type="triangle" w="med"/>
          </a:ln>
        </p:spPr>
      </p:cxnSp>
      <p:cxnSp>
        <p:nvCxnSpPr>
          <p:cNvPr id="615" name="AutoShape 14"/>
          <p:cNvCxnSpPr>
            <a:stCxn id="608" idx="2"/>
            <a:endCxn id="613" idx="0"/>
          </p:cNvCxnSpPr>
          <p:nvPr/>
        </p:nvCxnSpPr>
        <p:spPr>
          <a:xfrm rot="5400000">
            <a:off x="5550840" y="987480"/>
            <a:ext cx="991440" cy="1883520"/>
          </a:xfrm>
          <a:prstGeom prst="curvedConnector5">
            <a:avLst>
              <a:gd name="adj1" fmla="val 50635"/>
              <a:gd name="adj2" fmla="val 49990"/>
              <a:gd name="adj3" fmla="val 50635"/>
            </a:avLst>
          </a:prstGeom>
          <a:ln w="38160">
            <a:solidFill>
              <a:srgbClr val="ffffff"/>
            </a:solidFill>
            <a:prstDash val="sysDot"/>
            <a:miter/>
            <a:tailEnd len="med" type="triangle" w="med"/>
          </a:ln>
        </p:spPr>
      </p:cxnSp>
      <p:sp>
        <p:nvSpPr>
          <p:cNvPr id="616" name="Text Box 15"/>
          <p:cNvSpPr/>
          <p:nvPr/>
        </p:nvSpPr>
        <p:spPr>
          <a:xfrm>
            <a:off x="5716080" y="3276720"/>
            <a:ext cx="2251800" cy="6120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5-hydroxytryptamine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      (sérotonine)</a:t>
            </a:r>
            <a:endParaRPr b="1" lang="en-US" sz="16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cxnSp>
        <p:nvCxnSpPr>
          <p:cNvPr id="617" name="AutoShape 16"/>
          <p:cNvCxnSpPr/>
          <p:nvPr/>
        </p:nvCxnSpPr>
        <p:spPr>
          <a:xfrm flipH="1" rot="16200000">
            <a:off x="4830480" y="2697840"/>
            <a:ext cx="1159560" cy="610200"/>
          </a:xfrm>
          <a:prstGeom prst="curvedConnector5">
            <a:avLst>
              <a:gd name="adj1" fmla="val -8633"/>
              <a:gd name="adj2" fmla="val 1652"/>
              <a:gd name="adj3" fmla="val -8633"/>
            </a:avLst>
          </a:prstGeom>
          <a:ln w="38160">
            <a:solidFill>
              <a:srgbClr val="ffffff"/>
            </a:solidFill>
            <a:prstDash val="sysDot"/>
            <a:miter/>
            <a:tailEnd len="med" type="triangle" w="med"/>
          </a:ln>
        </p:spPr>
      </p:cxnSp>
      <p:sp>
        <p:nvSpPr>
          <p:cNvPr id="618" name="Text Box 17"/>
          <p:cNvSpPr/>
          <p:nvPr/>
        </p:nvSpPr>
        <p:spPr>
          <a:xfrm>
            <a:off x="5258160" y="5181480"/>
            <a:ext cx="3624840" cy="146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Compétition entre les AAR et le 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triptophane pour leur entrée dans 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le cerveau. Plus les AAR sont 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utilisés par le muscle, plus de 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triptophane entre dans le cerveau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619" name="Oval 18"/>
          <p:cNvSpPr/>
          <p:nvPr/>
        </p:nvSpPr>
        <p:spPr>
          <a:xfrm>
            <a:off x="2514600" y="3200400"/>
            <a:ext cx="304920" cy="30492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620" name="Line 19"/>
          <p:cNvSpPr/>
          <p:nvPr/>
        </p:nvSpPr>
        <p:spPr>
          <a:xfrm flipV="1">
            <a:off x="2895480" y="3123720"/>
            <a:ext cx="228600" cy="304920"/>
          </a:xfrm>
          <a:prstGeom prst="line">
            <a:avLst/>
          </a:prstGeom>
          <a:ln w="2844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621" name="Text Box 20"/>
          <p:cNvSpPr/>
          <p:nvPr/>
        </p:nvSpPr>
        <p:spPr>
          <a:xfrm>
            <a:off x="2853720" y="3124080"/>
            <a:ext cx="1352160" cy="58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AAR  </a:t>
            </a:r>
            <a:endParaRPr b="1" lang="en-US" sz="16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 (muscle)</a:t>
            </a:r>
            <a:r>
              <a:rPr b="1" lang="en-US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  </a:t>
            </a:r>
            <a:endParaRPr b="1" lang="en-US" sz="16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622" name="Oval 21"/>
          <p:cNvSpPr/>
          <p:nvPr/>
        </p:nvSpPr>
        <p:spPr>
          <a:xfrm>
            <a:off x="2590920" y="4114800"/>
            <a:ext cx="304560" cy="30492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623" name="Line 22"/>
          <p:cNvSpPr/>
          <p:nvPr/>
        </p:nvSpPr>
        <p:spPr>
          <a:xfrm>
            <a:off x="2971800" y="4191120"/>
            <a:ext cx="152280" cy="304560"/>
          </a:xfrm>
          <a:prstGeom prst="line">
            <a:avLst/>
          </a:prstGeom>
          <a:ln w="2844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624" name="Text Box 23"/>
          <p:cNvSpPr/>
          <p:nvPr/>
        </p:nvSpPr>
        <p:spPr>
          <a:xfrm>
            <a:off x="2974680" y="4114800"/>
            <a:ext cx="1036800" cy="58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AAR</a:t>
            </a:r>
            <a:endParaRPr b="1" lang="en-US" sz="16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(cerveau)</a:t>
            </a:r>
            <a:endParaRPr b="1" lang="en-US" sz="16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625" name="Oval 24"/>
          <p:cNvSpPr/>
          <p:nvPr/>
        </p:nvSpPr>
        <p:spPr>
          <a:xfrm>
            <a:off x="5410080" y="2133720"/>
            <a:ext cx="304920" cy="30456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5</a:t>
            </a:r>
            <a:endParaRPr b="1" lang="en-US" sz="2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626" name="Text Box 25"/>
          <p:cNvSpPr/>
          <p:nvPr/>
        </p:nvSpPr>
        <p:spPr>
          <a:xfrm>
            <a:off x="5795640" y="2057400"/>
            <a:ext cx="1464480" cy="58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 triptophane</a:t>
            </a:r>
            <a:endParaRPr b="1" lang="en-US" sz="16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   </a:t>
            </a:r>
            <a:r>
              <a:rPr b="1" lang="en-US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(cerveau)</a:t>
            </a:r>
            <a:endParaRPr b="1" lang="en-US" sz="16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627" name="Line 26"/>
          <p:cNvSpPr/>
          <p:nvPr/>
        </p:nvSpPr>
        <p:spPr>
          <a:xfrm flipV="1">
            <a:off x="5791320" y="2133360"/>
            <a:ext cx="152280" cy="228600"/>
          </a:xfrm>
          <a:prstGeom prst="line">
            <a:avLst/>
          </a:prstGeom>
          <a:ln w="936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628" name="Line 27"/>
          <p:cNvSpPr/>
          <p:nvPr/>
        </p:nvSpPr>
        <p:spPr>
          <a:xfrm>
            <a:off x="1676520" y="1905120"/>
            <a:ext cx="0" cy="533160"/>
          </a:xfrm>
          <a:prstGeom prst="line">
            <a:avLst/>
          </a:prstGeom>
          <a:ln w="3816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629" name="Text Box 28"/>
          <p:cNvSpPr/>
          <p:nvPr/>
        </p:nvSpPr>
        <p:spPr>
          <a:xfrm>
            <a:off x="1752480" y="1752480"/>
            <a:ext cx="146700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Réserves en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glycogène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630" name="Text Box 29"/>
          <p:cNvSpPr/>
          <p:nvPr/>
        </p:nvSpPr>
        <p:spPr>
          <a:xfrm>
            <a:off x="2741040" y="152280"/>
            <a:ext cx="3347640" cy="58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Etiologie possible</a:t>
            </a:r>
            <a:endParaRPr b="1" lang="en-US" sz="32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631" name="AutoShape 30"/>
          <p:cNvSpPr/>
          <p:nvPr/>
        </p:nvSpPr>
        <p:spPr>
          <a:xfrm rot="2416200">
            <a:off x="1980720" y="2514600"/>
            <a:ext cx="152640" cy="533520"/>
          </a:xfrm>
          <a:prstGeom prst="downArrow">
            <a:avLst>
              <a:gd name="adj1" fmla="val 50000"/>
              <a:gd name="adj2" fmla="val 87382"/>
            </a:avLst>
          </a:prstGeom>
          <a:solidFill>
            <a:srgbClr val="00cc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632" name="Text Box 31"/>
          <p:cNvSpPr/>
          <p:nvPr/>
        </p:nvSpPr>
        <p:spPr>
          <a:xfrm>
            <a:off x="1677960" y="3200400"/>
            <a:ext cx="6382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AGL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633" name="Oval 32"/>
          <p:cNvSpPr/>
          <p:nvPr/>
        </p:nvSpPr>
        <p:spPr>
          <a:xfrm>
            <a:off x="1066680" y="3205080"/>
            <a:ext cx="304920" cy="30492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634" name="Line 33"/>
          <p:cNvSpPr/>
          <p:nvPr/>
        </p:nvSpPr>
        <p:spPr>
          <a:xfrm flipV="1">
            <a:off x="1523880" y="3204720"/>
            <a:ext cx="228600" cy="304920"/>
          </a:xfrm>
          <a:prstGeom prst="line">
            <a:avLst/>
          </a:prstGeom>
          <a:ln w="2844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635" name="AutoShape 34"/>
          <p:cNvSpPr/>
          <p:nvPr/>
        </p:nvSpPr>
        <p:spPr>
          <a:xfrm rot="19398000">
            <a:off x="2819160" y="2518920"/>
            <a:ext cx="152280" cy="533520"/>
          </a:xfrm>
          <a:prstGeom prst="downArrow">
            <a:avLst>
              <a:gd name="adj1" fmla="val 50000"/>
              <a:gd name="adj2" fmla="val 87589"/>
            </a:avLst>
          </a:prstGeom>
          <a:solidFill>
            <a:srgbClr val="00cc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636" name="AutoShape 35"/>
          <p:cNvSpPr/>
          <p:nvPr/>
        </p:nvSpPr>
        <p:spPr>
          <a:xfrm>
            <a:off x="3276720" y="3733920"/>
            <a:ext cx="152280" cy="380880"/>
          </a:xfrm>
          <a:prstGeom prst="downArrow">
            <a:avLst>
              <a:gd name="adj1" fmla="val 50000"/>
              <a:gd name="adj2" fmla="val 62530"/>
            </a:avLst>
          </a:prstGeom>
          <a:solidFill>
            <a:srgbClr val="00cc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637" name="Text Box 36"/>
          <p:cNvSpPr/>
          <p:nvPr/>
        </p:nvSpPr>
        <p:spPr>
          <a:xfrm>
            <a:off x="-6840" y="3581280"/>
            <a:ext cx="2579040" cy="94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Compétion avec le</a:t>
            </a:r>
            <a:endParaRPr b="1" lang="en-US" sz="1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Trp pour l’utilisation</a:t>
            </a:r>
            <a:endParaRPr b="1" lang="en-US" sz="1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des liaisons avec l’albumine</a:t>
            </a:r>
            <a:endParaRPr b="1" lang="en-US" sz="1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plus de Trp libre</a:t>
            </a:r>
            <a:endParaRPr b="1" lang="en-US" sz="1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638" name="Line 37"/>
          <p:cNvSpPr/>
          <p:nvPr/>
        </p:nvSpPr>
        <p:spPr>
          <a:xfrm>
            <a:off x="228600" y="4419720"/>
            <a:ext cx="304920" cy="0"/>
          </a:xfrm>
          <a:prstGeom prst="line">
            <a:avLst/>
          </a:prstGeom>
          <a:ln w="3816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639" name="Oval 38"/>
          <p:cNvSpPr/>
          <p:nvPr/>
        </p:nvSpPr>
        <p:spPr>
          <a:xfrm>
            <a:off x="0" y="3581280"/>
            <a:ext cx="304920" cy="30492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</p:spTree>
  </p:cSld>
  <p:transition spd="med">
    <p:split dir="out" orient="vert"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Text Box 2"/>
          <p:cNvSpPr/>
          <p:nvPr/>
        </p:nvSpPr>
        <p:spPr>
          <a:xfrm>
            <a:off x="228600" y="838080"/>
            <a:ext cx="8610480" cy="14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1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Le Trp est alors converti en un neurotransmetteur, la 5-Hydroxytryptamine (5-HT ou sérotonine). </a:t>
            </a: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Nous savons que la 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sérotonine </a:t>
            </a: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est une hormone régulatrice du sommeil… 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mais pas seulement :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641" name="Text Box 3"/>
          <p:cNvSpPr/>
          <p:nvPr/>
        </p:nvSpPr>
        <p:spPr>
          <a:xfrm>
            <a:off x="304920" y="2362320"/>
            <a:ext cx="8610480" cy="11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Dans des aires spécifiques du cerveau, la 5-HT exerce un rôle </a:t>
            </a:r>
            <a:r>
              <a:rPr b="1" i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d’induction du sommeil</a:t>
            </a:r>
            <a:r>
              <a:rPr b="1" i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, </a:t>
            </a:r>
            <a:r>
              <a:rPr b="1" i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d’inhibition des réflexes des motoneurones</a:t>
            </a:r>
            <a:r>
              <a:rPr b="1" i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post-synaptiques          ( baisse d’excitabilité ). Elle inhibe aussi certaines sécrétions endocrines dans l’hypothalamus.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642" name="Text Box 4"/>
          <p:cNvSpPr/>
          <p:nvPr/>
        </p:nvSpPr>
        <p:spPr>
          <a:xfrm>
            <a:off x="533520" y="3962520"/>
            <a:ext cx="8610480" cy="11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 </a:t>
            </a:r>
            <a:r>
              <a:rPr b="1" i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fatigue latente</a:t>
            </a:r>
            <a:r>
              <a:rPr b="1" i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( sensation de besoin de sommeil ) associée à une </a:t>
            </a:r>
            <a:r>
              <a:rPr b="1" i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hypo-réactivité tendineuse et musculaire</a:t>
            </a:r>
            <a:r>
              <a:rPr b="1" i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 peut causer une incapacité du sportif à juger de son état réel de fatigue et des traumatismes effectifs au plan musculaire.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643" name="Line 5"/>
          <p:cNvSpPr/>
          <p:nvPr/>
        </p:nvSpPr>
        <p:spPr>
          <a:xfrm>
            <a:off x="2819520" y="3733920"/>
            <a:ext cx="3352680" cy="0"/>
          </a:xfrm>
          <a:prstGeom prst="line">
            <a:avLst/>
          </a:prstGeom>
          <a:ln w="572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644" name="Text Box 6"/>
          <p:cNvSpPr/>
          <p:nvPr/>
        </p:nvSpPr>
        <p:spPr>
          <a:xfrm>
            <a:off x="533520" y="5392800"/>
            <a:ext cx="8610480" cy="146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Le sportif perd ainsi un certains nombre de </a:t>
            </a:r>
            <a:r>
              <a:rPr b="1" i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signaux d’alarme</a:t>
            </a:r>
            <a:r>
              <a:rPr b="1" i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qui doivent normalement limiter les </a:t>
            </a:r>
            <a:r>
              <a:rPr b="1" i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stress mécaniques</a:t>
            </a:r>
            <a:r>
              <a:rPr b="1" i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, c’est-à-dire les contraintes imposées à la structure musculaire. La fatigue latente étant généralement confondue avec un simple besoin de sommeil, le sportif persiste et le surentraînement apparaît.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645" name="Line 7"/>
          <p:cNvSpPr/>
          <p:nvPr/>
        </p:nvSpPr>
        <p:spPr>
          <a:xfrm>
            <a:off x="2895480" y="5257800"/>
            <a:ext cx="3353040" cy="0"/>
          </a:xfrm>
          <a:prstGeom prst="line">
            <a:avLst/>
          </a:prstGeom>
          <a:ln w="572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646" name="Text Box 8"/>
          <p:cNvSpPr/>
          <p:nvPr/>
        </p:nvSpPr>
        <p:spPr>
          <a:xfrm>
            <a:off x="228600" y="228600"/>
            <a:ext cx="8686800" cy="398880"/>
          </a:xfrm>
          <a:prstGeom prst="rect">
            <a:avLst/>
          </a:prstGeom>
          <a:noFill/>
          <a:ln w="25560">
            <a:solidFill>
              <a:srgbClr val="ffff6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12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66"/>
                </a:solidFill>
                <a:effectLst/>
                <a:uFillTx/>
                <a:latin typeface="Arial"/>
              </a:rPr>
              <a:t>L’hypothèse des acides aminés ramifiés (AAR) et tryptophane (Trp)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</p:spTree>
  </p:cSld>
  <p:transition spd="med">
    <p:split dir="out" orient="vert"/>
  </p:transition>
  <p:timing>
    <p:tnLst>
      <p:par>
        <p:cTn id="1443" dur="indefinite" restart="never" nodeType="tmRoot">
          <p:childTnLst>
            <p:seq>
              <p:cTn id="1444" dur="indefinite" nodeType="mainSeq">
                <p:childTnLst>
                  <p:par>
                    <p:cTn id="1445" nodeType="clickEffect" fill="hold">
                      <p:stCondLst>
                        <p:cond delay="0"/>
                      </p:stCondLst>
                      <p:childTnLst>
                        <p:par>
                          <p:cTn id="144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447" nodeType="after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9" dur="500" fill="hold"/>
                                        <p:tgtEl>
                                          <p:spTgt spid="6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0" dur="500" fill="hold"/>
                                        <p:tgtEl>
                                          <p:spTgt spid="6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1" nodeType="clickEffect" fill="hold">
                      <p:stCondLst>
                        <p:cond delay="indefinite"/>
                      </p:stCondLst>
                      <p:childTnLst>
                        <p:par>
                          <p:cTn id="145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453" nodeType="click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1455" dur="500"/>
                                        <p:tgtEl>
                                          <p:spTgt spid="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6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1457" nodeType="after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1459" dur="500"/>
                                        <p:tgtEl>
                                          <p:spTgt spid="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0" nodeType="clickEffect" fill="hold">
                      <p:stCondLst>
                        <p:cond delay="indefinite"/>
                      </p:stCondLst>
                      <p:childTnLst>
                        <p:par>
                          <p:cTn id="146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462" nodeType="clickEffect" fill="hold" presetClass="entr" presetID="17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464" dur="500" fill="hold"/>
                                        <p:tgtEl>
                                          <p:spTgt spid="6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65" dur="500" fill="hold"/>
                                        <p:tgtEl>
                                          <p:spTgt spid="6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animClr clrSpc="rgb">
                                <p:cBhvr>
                                  <p:cTn id="146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41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b2b2b2"/>
                                </p:to>
                              </p:animClr>
                            </p:childTnLst>
                          </p:cTn>
                        </p:par>
                        <p:par>
                          <p:cTn id="1467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1468" nodeType="after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1470" dur="500"/>
                                        <p:tgtEl>
                                          <p:spTgt spid="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1" nodeType="clickEffect" fill="hold">
                      <p:stCondLst>
                        <p:cond delay="indefinite"/>
                      </p:stCondLst>
                      <p:childTnLst>
                        <p:par>
                          <p:cTn id="147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473" nodeType="clickEffect" fill="hold" presetClass="entr" presetID="17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475" dur="500" fill="hold"/>
                                        <p:tgtEl>
                                          <p:spTgt spid="6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76" dur="500" fill="hold"/>
                                        <p:tgtEl>
                                          <p:spTgt spid="6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animClr clrSpc="rgb">
                                <p:cBhvr>
                                  <p:cTn id="147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42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b2b2b2"/>
                                </p:to>
                              </p:animClr>
                            </p:childTnLst>
                          </p:cTn>
                        </p:par>
                        <p:par>
                          <p:cTn id="1478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1479" nodeType="after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1481" dur="500"/>
                                        <p:tgtEl>
                                          <p:spTgt spid="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2" fill="hold">
                      <p:stCondLst>
                        <p:cond delay="indefinite"/>
                      </p:stCondLst>
                      <p:childTnLst>
                        <p:par>
                          <p:cTn id="1483" fill="hold">
                            <p:stCondLst>
                              <p:cond delay="0"/>
                            </p:stCondLst>
                            <p:childTnLst>
                              <p:animClr clrSpc="rgb">
                                <p:cBhvr>
                                  <p:cTn id="1484" dur="1" fill="hold"/>
                                  <p:tgtEl>
                                    <p:spTgt spid="644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b2b2b2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Text Box 2"/>
          <p:cNvSpPr/>
          <p:nvPr/>
        </p:nvSpPr>
        <p:spPr>
          <a:xfrm>
            <a:off x="304920" y="5105520"/>
            <a:ext cx="8610480" cy="140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35000"/>
              </a:lnSpc>
              <a:spcBef>
                <a:spcPts val="1100"/>
              </a:spcBef>
              <a:spcAft>
                <a:spcPts val="99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Par augmentation du volume (+50%) ou de l’intensité (+30%) de l ’entraînement durant 4 semaines, Lehmann et al. (1992, 1993, 1995) ont montré que les variations des concentrations en AAR et en Trp (et de leur rapport) peuvent être retenues comme un des </a:t>
            </a:r>
            <a:r>
              <a:rPr b="1" i="1" lang="fr-FR" sz="1600" strike="noStrike" u="none">
                <a:solidFill>
                  <a:srgbClr val="66ff33"/>
                </a:solidFill>
                <a:effectLst/>
                <a:uFillTx/>
                <a:latin typeface="Arial"/>
              </a:rPr>
              <a:t>indicateurs des états de fatigue chronique et de surentraînement</a:t>
            </a:r>
            <a:r>
              <a:rPr b="1" i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 </a:t>
            </a:r>
            <a:endParaRPr b="1" lang="en-US" sz="16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648" name="Object 3"/>
          <p:cNvGraphicFramePr/>
          <p:nvPr/>
        </p:nvGraphicFramePr>
        <p:xfrm>
          <a:off x="990720" y="1295280"/>
          <a:ext cx="7162560" cy="3409920"/>
        </p:xfrm>
        <a:graphic>
          <a:graphicData uri="http://schemas.openxmlformats.org/presentationml/2006/ole">
            <p:oleObj progId="Excel.Sheet.12" r:id="rId1" spid="">
              <p:embed/>
              <p:pic>
                <p:nvPicPr>
                  <p:cNvPr id="649" name="Object 3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990720" y="1295280"/>
                    <a:ext cx="7162560" cy="3409920"/>
                  </a:xfrm>
                  <a:prstGeom prst="rect">
                    <a:avLst/>
                  </a:prstGeom>
                  <a:noFill/>
                  <a:ln w="28440">
                    <a:solidFill>
                      <a:srgbClr val="00ffff"/>
                    </a:solidFill>
                    <a:miter/>
                  </a:ln>
                </p:spPr>
              </p:pic>
            </p:oleObj>
          </a:graphicData>
        </a:graphic>
      </p:graphicFrame>
      <p:sp>
        <p:nvSpPr>
          <p:cNvPr id="650" name="Text Box 4"/>
          <p:cNvSpPr/>
          <p:nvPr/>
        </p:nvSpPr>
        <p:spPr>
          <a:xfrm>
            <a:off x="3428280" y="281160"/>
            <a:ext cx="2532240" cy="58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 surveiller...</a:t>
            </a:r>
            <a:endParaRPr b="1" lang="en-US" sz="32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651" name="Oval 5"/>
          <p:cNvSpPr/>
          <p:nvPr/>
        </p:nvSpPr>
        <p:spPr>
          <a:xfrm>
            <a:off x="1143000" y="3962520"/>
            <a:ext cx="914400" cy="685800"/>
          </a:xfrm>
          <a:prstGeom prst="ellipse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652" name="Oval 6"/>
          <p:cNvSpPr/>
          <p:nvPr/>
        </p:nvSpPr>
        <p:spPr>
          <a:xfrm>
            <a:off x="4724280" y="3962520"/>
            <a:ext cx="914400" cy="685800"/>
          </a:xfrm>
          <a:prstGeom prst="ellipse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</p:spTree>
  </p:cSld>
  <p:transition spd="med">
    <p:split dir="out" orient="vert"/>
  </p:transition>
  <p:timing>
    <p:tnLst>
      <p:par>
        <p:cTn id="1485" dur="indefinite" restart="never" nodeType="tmRoot">
          <p:childTnLst>
            <p:seq>
              <p:cTn id="1486" dur="indefinite" nodeType="mainSeq">
                <p:childTnLst>
                  <p:par>
                    <p:cTn id="1487" nodeType="clickEffect" fill="hold">
                      <p:stCondLst>
                        <p:cond delay="0"/>
                      </p:stCondLst>
                      <p:childTnLst>
                        <p:par>
                          <p:cTn id="148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489" nodeType="afterEffect" fill="hold" presetClass="entr" presetID="5" presetSubtype="5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down)" transition="in">
                                      <p:cBhvr additive="repl">
                                        <p:cTn id="1491" dur="500"/>
                                        <p:tgtEl>
                                          <p:spTgt spid="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2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1493" nodeType="after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1495" dur="500"/>
                                        <p:tgtEl>
                                          <p:spTgt spid="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6" nodeType="clickEffect" fill="hold">
                      <p:stCondLst>
                        <p:cond delay="indefinite"/>
                      </p:stCondLst>
                      <p:childTnLst>
                        <p:par>
                          <p:cTn id="149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498" nodeType="clickEffect" fill="hold" presetClass="entr" presetID="9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14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500" dur="300"/>
                                        <p:tgtEl>
                                          <p:spTgt spid="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1" nodeType="afterEffect" fill="hold">
                            <p:stCondLst>
                              <p:cond delay="900"/>
                            </p:stCondLst>
                            <p:childTnLst>
                              <p:par>
                                <p:cTn id="1502" nodeType="afterEffect" fill="hold" presetClass="entr" presetID="19" presetSubtype="1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504" dur="5000" fill="hold"/>
                                        <p:tgtEl>
                                          <p:spTgt spid="6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width*sin(2.5*pi*$)" tm="0">
                                          <p:val>
                                            <p:fltVal val="0"/>
                                          </p:val>
                                        </p:tav>
                                        <p:tav fmla="width*sin(2.5*pi*$)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505" dur="5000" fill="hold"/>
                                        <p:tgtEl>
                                          <p:spTgt spid="6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6" nodeType="afterEffect" fill="hold">
                            <p:stCondLst>
                              <p:cond delay="6900"/>
                            </p:stCondLst>
                            <p:childTnLst>
                              <p:par>
                                <p:cTn id="1507" nodeType="afterEffect" fill="hold" presetClass="entr" presetID="19" presetSubtype="1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509" dur="5000" fill="hold"/>
                                        <p:tgtEl>
                                          <p:spTgt spid="6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width*sin(2.5*pi*$)" tm="0">
                                          <p:val>
                                            <p:fltVal val="0"/>
                                          </p:val>
                                        </p:tav>
                                        <p:tav fmla="width*sin(2.5*pi*$)"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510" dur="5000" fill="hold"/>
                                        <p:tgtEl>
                                          <p:spTgt spid="6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Text Box 2"/>
          <p:cNvSpPr/>
          <p:nvPr/>
        </p:nvSpPr>
        <p:spPr>
          <a:xfrm>
            <a:off x="2292120" y="3124080"/>
            <a:ext cx="3956760" cy="581760"/>
          </a:xfrm>
          <a:prstGeom prst="rect">
            <a:avLst/>
          </a:prstGeom>
          <a:noFill/>
          <a:ln w="284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fff00"/>
                </a:solidFill>
                <a:effectLst/>
                <a:uFillTx/>
                <a:latin typeface="Comic Sans MS"/>
              </a:rPr>
              <a:t>Hypothèse de la glutamine</a:t>
            </a:r>
            <a:endParaRPr b="1" lang="en-US" sz="32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pic>
        <p:nvPicPr>
          <p:cNvPr id="654" name="Picture 3" descr="Gln"/>
          <p:cNvPicPr/>
          <p:nvPr/>
        </p:nvPicPr>
        <p:blipFill>
          <a:blip r:embed="rId1"/>
          <a:srcRect l="8903" t="29397" r="11759" b="23518"/>
          <a:stretch/>
        </p:blipFill>
        <p:spPr>
          <a:xfrm>
            <a:off x="457200" y="550800"/>
            <a:ext cx="3276720" cy="194148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pic>
      <p:pic>
        <p:nvPicPr>
          <p:cNvPr id="655" name="Picture 4" descr="gln2"/>
          <p:cNvPicPr/>
          <p:nvPr/>
        </p:nvPicPr>
        <p:blipFill>
          <a:blip r:embed="rId2"/>
          <a:stretch/>
        </p:blipFill>
        <p:spPr>
          <a:xfrm>
            <a:off x="6470640" y="4191120"/>
            <a:ext cx="1938240" cy="2514600"/>
          </a:xfrm>
          <a:prstGeom prst="rect">
            <a:avLst/>
          </a:prstGeom>
          <a:noFill/>
          <a:ln w="0">
            <a:noFill/>
          </a:ln>
        </p:spPr>
      </p:pic>
    </p:spTree>
  </p:cSld>
  <p:transition spd="med">
    <p:split dir="out" orient="vert"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Text Box 2"/>
          <p:cNvSpPr/>
          <p:nvPr/>
        </p:nvSpPr>
        <p:spPr>
          <a:xfrm>
            <a:off x="533520" y="2362320"/>
            <a:ext cx="8610480" cy="399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30000"/>
              </a:lnSpc>
              <a:spcBef>
                <a:spcPts val="12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La Glutamine (gln), </a:t>
            </a:r>
            <a:r>
              <a:rPr b="1" i="1" lang="fr-FR" sz="2000" strike="noStrike" u="none">
                <a:solidFill>
                  <a:srgbClr val="66ff33"/>
                </a:solidFill>
                <a:effectLst/>
                <a:uFillTx/>
                <a:latin typeface="Arial"/>
              </a:rPr>
              <a:t>est métabolisée par certaines cellules du système immunitaire dont les lymphocytes et les macrophages. 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  <a:spcBef>
                <a:spcPts val="12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2000" strike="noStrike" u="none">
                <a:solidFill>
                  <a:srgbClr val="66ff33"/>
                </a:solidFill>
                <a:effectLst/>
                <a:uFillTx/>
                <a:latin typeface="Arial"/>
              </a:rPr>
              <a:t>      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  <a:spcBef>
                <a:spcPts val="12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2000" strike="noStrike" u="none">
                <a:solidFill>
                  <a:srgbClr val="66ff33"/>
                </a:solidFill>
                <a:effectLst/>
                <a:uFillTx/>
                <a:latin typeface="Arial"/>
              </a:rPr>
              <a:t>La survie et la prolifération de ces derniers en dépendent.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  <a:spcBef>
                <a:spcPts val="12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lnSpc>
                <a:spcPct val="140000"/>
              </a:lnSpc>
              <a:spcBef>
                <a:spcPts val="12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2000" strike="noStrike" u="none">
                <a:solidFill>
                  <a:srgbClr val="66ff33"/>
                </a:solidFill>
                <a:effectLst/>
                <a:uFillTx/>
                <a:latin typeface="Arial"/>
              </a:rPr>
              <a:t> La glutamine s’avère essentielle</a:t>
            </a:r>
            <a:r>
              <a:rPr b="1" i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pour de nombreuses fonctions homéostatiques et cellulaires dans l’organisme, particulièrement au niveau du </a:t>
            </a:r>
            <a:r>
              <a:rPr b="1" i="1" lang="fr-FR" sz="2000" strike="noStrike" u="none">
                <a:solidFill>
                  <a:srgbClr val="66ff33"/>
                </a:solidFill>
                <a:effectLst/>
                <a:uFillTx/>
                <a:latin typeface="Arial"/>
              </a:rPr>
              <a:t>système immunitaire</a:t>
            </a:r>
            <a:r>
              <a:rPr b="1" i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657" name="Text Box 3"/>
          <p:cNvSpPr/>
          <p:nvPr/>
        </p:nvSpPr>
        <p:spPr>
          <a:xfrm>
            <a:off x="3581280" y="990720"/>
            <a:ext cx="1470240" cy="58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Rappel</a:t>
            </a:r>
            <a:endParaRPr b="1" lang="en-US" sz="32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</p:spTree>
  </p:cSld>
  <p:transition spd="med">
    <p:split dir="out" orient="vert"/>
  </p:transition>
  <p:timing>
    <p:tnLst>
      <p:par>
        <p:cTn id="1511" dur="indefinite" restart="never" nodeType="tmRoot">
          <p:childTnLst>
            <p:seq>
              <p:cTn id="1512" dur="indefinite" nodeType="mainSeq">
                <p:childTnLst>
                  <p:par>
                    <p:cTn id="1513" nodeType="clickEffect" fill="hold">
                      <p:stCondLst>
                        <p:cond delay="0"/>
                      </p:stCondLst>
                      <p:childTnLst>
                        <p:par>
                          <p:cTn id="151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515" nodeType="after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1517" dur="500"/>
                                        <p:tgtEl>
                                          <p:spTgt spid="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8" fill="hold">
                      <p:stCondLst>
                        <p:cond delay="indefinite"/>
                      </p:stCondLst>
                      <p:childTnLst>
                        <p:par>
                          <p:cTn id="1519" fill="hold">
                            <p:stCondLst>
                              <p:cond delay="0"/>
                            </p:stCondLst>
                            <p:childTnLst>
                              <p:animClr clrSpc="rgb">
                                <p:cBhvr>
                                  <p:cTn id="1520" dur="1" fill="hold"/>
                                  <p:tgtEl>
                                    <p:spTgt spid="656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b2b2b2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Freeform 2"/>
          <p:cNvSpPr/>
          <p:nvPr/>
        </p:nvSpPr>
        <p:spPr>
          <a:xfrm rot="1829400">
            <a:off x="-192240" y="2241720"/>
            <a:ext cx="3621240" cy="2958840"/>
          </a:xfrm>
          <a:custGeom>
            <a:avLst/>
            <a:gdLst>
              <a:gd name="GluePoint1X" fmla="*/ 0 w 1609"/>
              <a:gd name="GluePoint1Y" fmla="*/ 0 h 1556"/>
              <a:gd name="GluePoint2X" fmla="*/ 2147483647 w 1609"/>
              <a:gd name="GluePoint2Y" fmla="*/ 2147483647 h 1556"/>
              <a:gd name="GluePoint3X" fmla="*/ 2147483647 w 1609"/>
              <a:gd name="GluePoint3Y" fmla="*/ 2147483647 h 1556"/>
              <a:gd name="GluePoint4X" fmla="*/ 2147483647 w 1609"/>
              <a:gd name="GluePoint4Y" fmla="*/ 2147483647 h 1556"/>
              <a:gd name="GluePoint5X" fmla="*/ 2147483647 w 1609"/>
              <a:gd name="GluePoint5Y" fmla="*/ 2147483647 h 1556"/>
              <a:gd name="GluePoint6X" fmla="*/ 2147483647 w 1609"/>
              <a:gd name="GluePoint6Y" fmla="*/ 2147483647 h 1556"/>
              <a:gd name="GluePoint7X" fmla="*/ 2147483647 w 1609"/>
              <a:gd name="GluePoint7Y" fmla="*/ 2147483647 h 1556"/>
              <a:gd name="GluePoint8X" fmla="*/ 2147483647 w 1609"/>
              <a:gd name="GluePoint8Y" fmla="*/ 2147483647 h 1556"/>
              <a:gd name="GluePoint9X" fmla="*/ 2147483647 w 1609"/>
              <a:gd name="GluePoint9Y" fmla="*/ 2147483647 h 155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l" t="t" r="r" b="b"/>
            <a:pathLst>
              <a:path w="1609" h="1556">
                <a:moveTo>
                  <a:pt x="0" y="0"/>
                </a:moveTo>
                <a:cubicBezTo>
                  <a:pt x="24" y="29"/>
                  <a:pt x="101" y="121"/>
                  <a:pt x="169" y="164"/>
                </a:cubicBezTo>
                <a:cubicBezTo>
                  <a:pt x="237" y="207"/>
                  <a:pt x="315" y="228"/>
                  <a:pt x="409" y="260"/>
                </a:cubicBezTo>
                <a:cubicBezTo>
                  <a:pt x="503" y="292"/>
                  <a:pt x="637" y="311"/>
                  <a:pt x="733" y="359"/>
                </a:cubicBezTo>
                <a:cubicBezTo>
                  <a:pt x="829" y="407"/>
                  <a:pt x="907" y="464"/>
                  <a:pt x="985" y="548"/>
                </a:cubicBezTo>
                <a:cubicBezTo>
                  <a:pt x="1063" y="632"/>
                  <a:pt x="1148" y="756"/>
                  <a:pt x="1204" y="860"/>
                </a:cubicBezTo>
                <a:cubicBezTo>
                  <a:pt x="1260" y="964"/>
                  <a:pt x="1270" y="1072"/>
                  <a:pt x="1321" y="1172"/>
                </a:cubicBezTo>
                <a:cubicBezTo>
                  <a:pt x="1372" y="1272"/>
                  <a:pt x="1465" y="1396"/>
                  <a:pt x="1513" y="1460"/>
                </a:cubicBezTo>
                <a:cubicBezTo>
                  <a:pt x="1561" y="1524"/>
                  <a:pt x="1593" y="1540"/>
                  <a:pt x="1609" y="1556"/>
                </a:cubicBezTo>
              </a:path>
            </a:pathLst>
          </a:custGeom>
          <a:noFill/>
          <a:ln w="50760">
            <a:solidFill>
              <a:srgbClr val="ff9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659" name="Freeform 3"/>
          <p:cNvSpPr/>
          <p:nvPr/>
        </p:nvSpPr>
        <p:spPr>
          <a:xfrm rot="1686600">
            <a:off x="-457200" y="2286000"/>
            <a:ext cx="3429000" cy="3092400"/>
          </a:xfrm>
          <a:custGeom>
            <a:avLst/>
            <a:gdLst>
              <a:gd name="GluePoint1X" fmla="*/ 2147483647 w 1605"/>
              <a:gd name="GluePoint1Y" fmla="*/ 2147483647 h 1533"/>
              <a:gd name="GluePoint2X" fmla="*/ 2147483647 w 1605"/>
              <a:gd name="GluePoint2Y" fmla="*/ 2147483647 h 1533"/>
              <a:gd name="GluePoint3X" fmla="*/ 2147483647 w 1605"/>
              <a:gd name="GluePoint3Y" fmla="*/ 2147483647 h 1533"/>
              <a:gd name="GluePoint4X" fmla="*/ 2147483647 w 1605"/>
              <a:gd name="GluePoint4Y" fmla="*/ 2147483647 h 1533"/>
              <a:gd name="GluePoint5X" fmla="*/ 2147483647 w 1605"/>
              <a:gd name="GluePoint5Y" fmla="*/ 2147483647 h 1533"/>
              <a:gd name="GluePoint6X" fmla="*/ 2147483647 w 1605"/>
              <a:gd name="GluePoint6Y" fmla="*/ 2147483647 h 1533"/>
              <a:gd name="GluePoint7X" fmla="*/ 0 w 1605"/>
              <a:gd name="GluePoint7Y" fmla="*/ 0 h 153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l" t="t" r="r" b="b"/>
            <a:pathLst>
              <a:path w="1605" h="1533">
                <a:moveTo>
                  <a:pt x="1605" y="1533"/>
                </a:moveTo>
                <a:cubicBezTo>
                  <a:pt x="1579" y="1510"/>
                  <a:pt x="1507" y="1432"/>
                  <a:pt x="1439" y="1393"/>
                </a:cubicBezTo>
                <a:cubicBezTo>
                  <a:pt x="1371" y="1354"/>
                  <a:pt x="1335" y="1361"/>
                  <a:pt x="1199" y="1297"/>
                </a:cubicBezTo>
                <a:cubicBezTo>
                  <a:pt x="1063" y="1233"/>
                  <a:pt x="775" y="1160"/>
                  <a:pt x="623" y="1008"/>
                </a:cubicBezTo>
                <a:cubicBezTo>
                  <a:pt x="471" y="856"/>
                  <a:pt x="376" y="536"/>
                  <a:pt x="288" y="384"/>
                </a:cubicBezTo>
                <a:cubicBezTo>
                  <a:pt x="200" y="232"/>
                  <a:pt x="144" y="160"/>
                  <a:pt x="96" y="96"/>
                </a:cubicBezTo>
                <a:cubicBezTo>
                  <a:pt x="48" y="32"/>
                  <a:pt x="16" y="16"/>
                  <a:pt x="0" y="0"/>
                </a:cubicBezTo>
              </a:path>
            </a:pathLst>
          </a:custGeom>
          <a:noFill/>
          <a:ln w="50760">
            <a:solidFill>
              <a:srgbClr val="ff9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660" name="Text Box 4"/>
          <p:cNvSpPr/>
          <p:nvPr/>
        </p:nvSpPr>
        <p:spPr>
          <a:xfrm>
            <a:off x="457200" y="5673600"/>
            <a:ext cx="1143000" cy="33768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1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Muscle</a:t>
            </a:r>
            <a:endParaRPr b="1" lang="en-US" sz="16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661" name="Oval 5"/>
          <p:cNvSpPr/>
          <p:nvPr/>
        </p:nvSpPr>
        <p:spPr>
          <a:xfrm>
            <a:off x="1828800" y="3886200"/>
            <a:ext cx="152280" cy="152280"/>
          </a:xfrm>
          <a:prstGeom prst="ellipse">
            <a:avLst/>
          </a:prstGeom>
          <a:solidFill>
            <a:srgbClr val="66ff33"/>
          </a:solidFill>
          <a:ln w="316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662" name="Oval 6"/>
          <p:cNvSpPr/>
          <p:nvPr/>
        </p:nvSpPr>
        <p:spPr>
          <a:xfrm>
            <a:off x="1600200" y="3809880"/>
            <a:ext cx="152280" cy="152640"/>
          </a:xfrm>
          <a:prstGeom prst="ellipse">
            <a:avLst/>
          </a:prstGeom>
          <a:solidFill>
            <a:srgbClr val="66ff33"/>
          </a:solidFill>
          <a:ln w="316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663" name="Text Box 7"/>
          <p:cNvSpPr/>
          <p:nvPr/>
        </p:nvSpPr>
        <p:spPr>
          <a:xfrm>
            <a:off x="3581280" y="1752480"/>
            <a:ext cx="83844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1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Gln</a:t>
            </a:r>
            <a:endParaRPr b="1" lang="en-US" sz="16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664" name="Freeform 8"/>
          <p:cNvSpPr/>
          <p:nvPr/>
        </p:nvSpPr>
        <p:spPr>
          <a:xfrm>
            <a:off x="5791320" y="990720"/>
            <a:ext cx="2819160" cy="4419360"/>
          </a:xfrm>
          <a:custGeom>
            <a:avLst/>
            <a:gdLst>
              <a:gd name="GluePoint1X" fmla="*/ 2147483647 w 1335"/>
              <a:gd name="GluePoint1Y" fmla="*/ 2147483647 h 1703"/>
              <a:gd name="GluePoint2X" fmla="*/ 2147483647 w 1335"/>
              <a:gd name="GluePoint2Y" fmla="*/ 2147483647 h 1703"/>
              <a:gd name="GluePoint3X" fmla="*/ 2147483647 w 1335"/>
              <a:gd name="GluePoint3Y" fmla="*/ 2147483647 h 1703"/>
              <a:gd name="GluePoint4X" fmla="*/ 2147483647 w 1335"/>
              <a:gd name="GluePoint4Y" fmla="*/ 2147483647 h 1703"/>
              <a:gd name="GluePoint5X" fmla="*/ 2147483647 w 1335"/>
              <a:gd name="GluePoint5Y" fmla="*/ 2147483647 h 1703"/>
              <a:gd name="GluePoint6X" fmla="*/ 2147483647 w 1335"/>
              <a:gd name="GluePoint6Y" fmla="*/ 2147483647 h 1703"/>
              <a:gd name="GluePoint7X" fmla="*/ 2147483647 w 1335"/>
              <a:gd name="GluePoint7Y" fmla="*/ 2147483647 h 1703"/>
              <a:gd name="GluePoint8X" fmla="*/ 2147483647 w 1335"/>
              <a:gd name="GluePoint8Y" fmla="*/ 2147483647 h 1703"/>
              <a:gd name="GluePoint9X" fmla="*/ 2147483647 w 1335"/>
              <a:gd name="GluePoint9Y" fmla="*/ 2147483647 h 1703"/>
              <a:gd name="GluePoint10X" fmla="*/ 2147483647 w 1335"/>
              <a:gd name="GluePoint10Y" fmla="*/ 2147483647 h 1703"/>
              <a:gd name="GluePoint11X" fmla="*/ 2147483647 w 1335"/>
              <a:gd name="GluePoint11Y" fmla="*/ 2147483647 h 1703"/>
              <a:gd name="GluePoint12X" fmla="*/ 2147483647 w 1335"/>
              <a:gd name="GluePoint12Y" fmla="*/ 2147483647 h 1703"/>
              <a:gd name="GluePoint13X" fmla="*/ 2147483647 w 1335"/>
              <a:gd name="GluePoint13Y" fmla="*/ 2147483647 h 1703"/>
              <a:gd name="GluePoint14X" fmla="*/ 2147483647 w 1335"/>
              <a:gd name="GluePoint14Y" fmla="*/ 2147483647 h 1703"/>
              <a:gd name="GluePoint15X" fmla="*/ 2147483647 w 1335"/>
              <a:gd name="GluePoint15Y" fmla="*/ 2147483647 h 1703"/>
              <a:gd name="GluePoint16X" fmla="*/ 2147483647 w 1335"/>
              <a:gd name="GluePoint16Y" fmla="*/ 2147483647 h 1703"/>
              <a:gd name="GluePoint17X" fmla="*/ 2147483647 w 1335"/>
              <a:gd name="GluePoint17Y" fmla="*/ 2147483647 h 1703"/>
              <a:gd name="GluePoint18X" fmla="*/ 2147483647 w 1335"/>
              <a:gd name="GluePoint18Y" fmla="*/ 2147483647 h 1703"/>
              <a:gd name="GluePoint19X" fmla="*/ 2147483647 w 1335"/>
              <a:gd name="GluePoint19Y" fmla="*/ 2147483647 h 1703"/>
              <a:gd name="GluePoint20X" fmla="*/ 2147483647 w 1335"/>
              <a:gd name="GluePoint20Y" fmla="*/ 2147483647 h 1703"/>
              <a:gd name="GluePoint21X" fmla="*/ 2147483647 w 1335"/>
              <a:gd name="GluePoint21Y" fmla="*/ 2147483647 h 1703"/>
              <a:gd name="GluePoint22X" fmla="*/ 2147483647 w 1335"/>
              <a:gd name="GluePoint22Y" fmla="*/ 2147483647 h 1703"/>
              <a:gd name="GluePoint23X" fmla="*/ 2147483647 w 1335"/>
              <a:gd name="GluePoint23Y" fmla="*/ 2147483647 h 1703"/>
              <a:gd name="GluePoint24X" fmla="*/ 2147483647 w 1335"/>
              <a:gd name="GluePoint24Y" fmla="*/ 2147483647 h 1703"/>
              <a:gd name="GluePoint25X" fmla="*/ 2147483647 w 1335"/>
              <a:gd name="GluePoint25Y" fmla="*/ 2147483647 h 1703"/>
              <a:gd name="GluePoint26X" fmla="*/ 2147483647 w 1335"/>
              <a:gd name="GluePoint26Y" fmla="*/ 2147483647 h 1703"/>
              <a:gd name="GluePoint27X" fmla="*/ 2147483647 w 1335"/>
              <a:gd name="GluePoint27Y" fmla="*/ 2147483647 h 1703"/>
              <a:gd name="GluePoint28X" fmla="*/ 2147483647 w 1335"/>
              <a:gd name="GluePoint28Y" fmla="*/ 2147483647 h 1703"/>
              <a:gd name="GluePoint29X" fmla="*/ 2147483647 w 1335"/>
              <a:gd name="GluePoint29Y" fmla="*/ 2147483647 h 1703"/>
              <a:gd name="GluePoint30X" fmla="*/ 2147483647 w 1335"/>
              <a:gd name="GluePoint30Y" fmla="*/ 2147483647 h 1703"/>
              <a:gd name="GluePoint31X" fmla="*/ 2147483647 w 1335"/>
              <a:gd name="GluePoint31Y" fmla="*/ 2147483647 h 1703"/>
              <a:gd name="GluePoint32X" fmla="*/ 2147483647 w 1335"/>
              <a:gd name="GluePoint32Y" fmla="*/ 2147483647 h 1703"/>
              <a:gd name="GluePoint33X" fmla="*/ 2147483647 w 1335"/>
              <a:gd name="GluePoint33Y" fmla="*/ 2147483647 h 1703"/>
              <a:gd name="GluePoint34X" fmla="*/ 2147483647 w 1335"/>
              <a:gd name="GluePoint34Y" fmla="*/ 2147483647 h 1703"/>
              <a:gd name="GluePoint35X" fmla="*/ 2147483647 w 1335"/>
              <a:gd name="GluePoint35Y" fmla="*/ 2147483647 h 1703"/>
              <a:gd name="GluePoint36X" fmla="*/ 2147483647 w 1335"/>
              <a:gd name="GluePoint36Y" fmla="*/ 2147483647 h 1703"/>
              <a:gd name="GluePoint37X" fmla="*/ 2147483647 w 1335"/>
              <a:gd name="GluePoint37Y" fmla="*/ 2147483647 h 1703"/>
              <a:gd name="GluePoint38X" fmla="*/ 2147483647 w 1335"/>
              <a:gd name="GluePoint38Y" fmla="*/ 2147483647 h 1703"/>
              <a:gd name="GluePoint39X" fmla="*/ 2147483647 w 1335"/>
              <a:gd name="GluePoint39Y" fmla="*/ 2147483647 h 1703"/>
              <a:gd name="GluePoint40X" fmla="*/ 2147483647 w 1335"/>
              <a:gd name="GluePoint40Y" fmla="*/ 2147483647 h 1703"/>
              <a:gd name="GluePoint41X" fmla="*/ 2147483647 w 1335"/>
              <a:gd name="GluePoint41Y" fmla="*/ 2147483647 h 1703"/>
              <a:gd name="GluePoint42X" fmla="*/ 2147483647 w 1335"/>
              <a:gd name="GluePoint42Y" fmla="*/ 2147483647 h 1703"/>
              <a:gd name="GluePoint43X" fmla="*/ 2147483647 w 1335"/>
              <a:gd name="GluePoint43Y" fmla="*/ 2147483647 h 1703"/>
              <a:gd name="GluePoint44X" fmla="*/ 2147483647 w 1335"/>
              <a:gd name="GluePoint44Y" fmla="*/ 2147483647 h 1703"/>
              <a:gd name="GluePoint45X" fmla="*/ 2147483647 w 1335"/>
              <a:gd name="GluePoint45Y" fmla="*/ 2147483647 h 1703"/>
              <a:gd name="GluePoint46X" fmla="*/ 2147483647 w 1335"/>
              <a:gd name="GluePoint46Y" fmla="*/ 2147483647 h 1703"/>
              <a:gd name="GluePoint47X" fmla="*/ 2147483647 w 1335"/>
              <a:gd name="GluePoint47Y" fmla="*/ 2147483647 h 1703"/>
              <a:gd name="GluePoint48X" fmla="*/ 2147483647 w 1335"/>
              <a:gd name="GluePoint48Y" fmla="*/ 2147483647 h 1703"/>
              <a:gd name="GluePoint49X" fmla="*/ 2147483647 w 1335"/>
              <a:gd name="GluePoint49Y" fmla="*/ 2147483647 h 1703"/>
              <a:gd name="GluePoint50X" fmla="*/ 2147483647 w 1335"/>
              <a:gd name="GluePoint50Y" fmla="*/ 2147483647 h 1703"/>
              <a:gd name="GluePoint51X" fmla="*/ 2147483647 w 1335"/>
              <a:gd name="GluePoint51Y" fmla="*/ 2147483647 h 1703"/>
              <a:gd name="GluePoint52X" fmla="*/ 2147483647 w 1335"/>
              <a:gd name="GluePoint52Y" fmla="*/ 2147483647 h 1703"/>
              <a:gd name="GluePoint53X" fmla="*/ 2147483647 w 1335"/>
              <a:gd name="GluePoint53Y" fmla="*/ 2147483647 h 1703"/>
              <a:gd name="GluePoint54X" fmla="*/ 2147483647 w 1335"/>
              <a:gd name="GluePoint54Y" fmla="*/ 2147483647 h 1703"/>
              <a:gd name="GluePoint55X" fmla="*/ 2147483647 w 1335"/>
              <a:gd name="GluePoint55Y" fmla="*/ 2147483647 h 1703"/>
              <a:gd name="GluePoint56X" fmla="*/ 2147483647 w 1335"/>
              <a:gd name="GluePoint56Y" fmla="*/ 2147483647 h 1703"/>
              <a:gd name="GluePoint57X" fmla="*/ 2147483647 w 1335"/>
              <a:gd name="GluePoint57Y" fmla="*/ 0 h 170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  <a:cxn ang="0">
                <a:pos x="GluePoint42X" y="GluePoint42Y"/>
              </a:cxn>
              <a:cxn ang="0">
                <a:pos x="GluePoint43X" y="GluePoint43Y"/>
              </a:cxn>
              <a:cxn ang="0">
                <a:pos x="GluePoint44X" y="GluePoint44Y"/>
              </a:cxn>
              <a:cxn ang="0">
                <a:pos x="GluePoint45X" y="GluePoint45Y"/>
              </a:cxn>
              <a:cxn ang="0">
                <a:pos x="GluePoint46X" y="GluePoint46Y"/>
              </a:cxn>
              <a:cxn ang="0">
                <a:pos x="GluePoint47X" y="GluePoint47Y"/>
              </a:cxn>
              <a:cxn ang="0">
                <a:pos x="GluePoint48X" y="GluePoint48Y"/>
              </a:cxn>
              <a:cxn ang="0">
                <a:pos x="GluePoint49X" y="GluePoint49Y"/>
              </a:cxn>
              <a:cxn ang="0">
                <a:pos x="GluePoint50X" y="GluePoint50Y"/>
              </a:cxn>
              <a:cxn ang="0">
                <a:pos x="GluePoint51X" y="GluePoint51Y"/>
              </a:cxn>
              <a:cxn ang="0">
                <a:pos x="GluePoint52X" y="GluePoint52Y"/>
              </a:cxn>
              <a:cxn ang="0">
                <a:pos x="GluePoint53X" y="GluePoint53Y"/>
              </a:cxn>
              <a:cxn ang="0">
                <a:pos x="GluePoint54X" y="GluePoint54Y"/>
              </a:cxn>
              <a:cxn ang="0">
                <a:pos x="GluePoint55X" y="GluePoint55Y"/>
              </a:cxn>
              <a:cxn ang="0">
                <a:pos x="GluePoint56X" y="GluePoint56Y"/>
              </a:cxn>
              <a:cxn ang="0">
                <a:pos x="GluePoint57X" y="GluePoint57Y"/>
              </a:cxn>
            </a:cxnLst>
            <a:rect l="l" t="t" r="r" b="b"/>
            <a:pathLst>
              <a:path w="1335" h="1703">
                <a:moveTo>
                  <a:pt x="1074" y="37"/>
                </a:moveTo>
                <a:cubicBezTo>
                  <a:pt x="1059" y="58"/>
                  <a:pt x="998" y="119"/>
                  <a:pt x="984" y="164"/>
                </a:cubicBezTo>
                <a:cubicBezTo>
                  <a:pt x="970" y="209"/>
                  <a:pt x="1000" y="274"/>
                  <a:pt x="991" y="307"/>
                </a:cubicBezTo>
                <a:cubicBezTo>
                  <a:pt x="982" y="340"/>
                  <a:pt x="946" y="340"/>
                  <a:pt x="931" y="366"/>
                </a:cubicBezTo>
                <a:cubicBezTo>
                  <a:pt x="916" y="392"/>
                  <a:pt x="876" y="457"/>
                  <a:pt x="901" y="464"/>
                </a:cubicBezTo>
                <a:cubicBezTo>
                  <a:pt x="926" y="471"/>
                  <a:pt x="1092" y="406"/>
                  <a:pt x="1081" y="411"/>
                </a:cubicBezTo>
                <a:cubicBezTo>
                  <a:pt x="1070" y="416"/>
                  <a:pt x="890" y="478"/>
                  <a:pt x="834" y="494"/>
                </a:cubicBezTo>
                <a:cubicBezTo>
                  <a:pt x="778" y="510"/>
                  <a:pt x="755" y="489"/>
                  <a:pt x="744" y="509"/>
                </a:cubicBezTo>
                <a:cubicBezTo>
                  <a:pt x="733" y="529"/>
                  <a:pt x="776" y="614"/>
                  <a:pt x="767" y="613"/>
                </a:cubicBezTo>
                <a:cubicBezTo>
                  <a:pt x="758" y="612"/>
                  <a:pt x="727" y="527"/>
                  <a:pt x="692" y="501"/>
                </a:cubicBezTo>
                <a:cubicBezTo>
                  <a:pt x="657" y="475"/>
                  <a:pt x="608" y="471"/>
                  <a:pt x="557" y="456"/>
                </a:cubicBezTo>
                <a:cubicBezTo>
                  <a:pt x="506" y="441"/>
                  <a:pt x="433" y="417"/>
                  <a:pt x="385" y="411"/>
                </a:cubicBezTo>
                <a:cubicBezTo>
                  <a:pt x="337" y="405"/>
                  <a:pt x="303" y="408"/>
                  <a:pt x="266" y="419"/>
                </a:cubicBezTo>
                <a:cubicBezTo>
                  <a:pt x="229" y="430"/>
                  <a:pt x="188" y="457"/>
                  <a:pt x="161" y="479"/>
                </a:cubicBezTo>
                <a:cubicBezTo>
                  <a:pt x="134" y="501"/>
                  <a:pt x="120" y="523"/>
                  <a:pt x="101" y="553"/>
                </a:cubicBezTo>
                <a:cubicBezTo>
                  <a:pt x="82" y="583"/>
                  <a:pt x="64" y="618"/>
                  <a:pt x="49" y="658"/>
                </a:cubicBezTo>
                <a:cubicBezTo>
                  <a:pt x="34" y="698"/>
                  <a:pt x="14" y="759"/>
                  <a:pt x="11" y="793"/>
                </a:cubicBezTo>
                <a:cubicBezTo>
                  <a:pt x="8" y="827"/>
                  <a:pt x="0" y="871"/>
                  <a:pt x="34" y="860"/>
                </a:cubicBezTo>
                <a:cubicBezTo>
                  <a:pt x="68" y="849"/>
                  <a:pt x="212" y="718"/>
                  <a:pt x="213" y="725"/>
                </a:cubicBezTo>
                <a:cubicBezTo>
                  <a:pt x="214" y="732"/>
                  <a:pt x="70" y="849"/>
                  <a:pt x="41" y="905"/>
                </a:cubicBezTo>
                <a:cubicBezTo>
                  <a:pt x="12" y="961"/>
                  <a:pt x="32" y="1001"/>
                  <a:pt x="41" y="1062"/>
                </a:cubicBezTo>
                <a:cubicBezTo>
                  <a:pt x="50" y="1123"/>
                  <a:pt x="72" y="1223"/>
                  <a:pt x="94" y="1272"/>
                </a:cubicBezTo>
                <a:cubicBezTo>
                  <a:pt x="116" y="1321"/>
                  <a:pt x="147" y="1344"/>
                  <a:pt x="176" y="1354"/>
                </a:cubicBezTo>
                <a:cubicBezTo>
                  <a:pt x="205" y="1364"/>
                  <a:pt x="265" y="1327"/>
                  <a:pt x="266" y="1331"/>
                </a:cubicBezTo>
                <a:cubicBezTo>
                  <a:pt x="267" y="1335"/>
                  <a:pt x="189" y="1349"/>
                  <a:pt x="183" y="1376"/>
                </a:cubicBezTo>
                <a:cubicBezTo>
                  <a:pt x="177" y="1403"/>
                  <a:pt x="212" y="1475"/>
                  <a:pt x="228" y="1496"/>
                </a:cubicBezTo>
                <a:cubicBezTo>
                  <a:pt x="244" y="1517"/>
                  <a:pt x="266" y="1489"/>
                  <a:pt x="281" y="1503"/>
                </a:cubicBezTo>
                <a:cubicBezTo>
                  <a:pt x="296" y="1517"/>
                  <a:pt x="310" y="1551"/>
                  <a:pt x="316" y="1578"/>
                </a:cubicBezTo>
                <a:cubicBezTo>
                  <a:pt x="322" y="1605"/>
                  <a:pt x="309" y="1652"/>
                  <a:pt x="316" y="1668"/>
                </a:cubicBezTo>
                <a:cubicBezTo>
                  <a:pt x="323" y="1684"/>
                  <a:pt x="355" y="1703"/>
                  <a:pt x="361" y="1676"/>
                </a:cubicBezTo>
                <a:cubicBezTo>
                  <a:pt x="367" y="1649"/>
                  <a:pt x="355" y="1550"/>
                  <a:pt x="354" y="1503"/>
                </a:cubicBezTo>
                <a:cubicBezTo>
                  <a:pt x="353" y="1456"/>
                  <a:pt x="350" y="1425"/>
                  <a:pt x="356" y="1395"/>
                </a:cubicBezTo>
                <a:cubicBezTo>
                  <a:pt x="362" y="1365"/>
                  <a:pt x="382" y="1349"/>
                  <a:pt x="393" y="1324"/>
                </a:cubicBezTo>
                <a:cubicBezTo>
                  <a:pt x="404" y="1299"/>
                  <a:pt x="410" y="1286"/>
                  <a:pt x="423" y="1242"/>
                </a:cubicBezTo>
                <a:cubicBezTo>
                  <a:pt x="436" y="1198"/>
                  <a:pt x="463" y="1124"/>
                  <a:pt x="468" y="1062"/>
                </a:cubicBezTo>
                <a:cubicBezTo>
                  <a:pt x="473" y="1000"/>
                  <a:pt x="487" y="940"/>
                  <a:pt x="452" y="867"/>
                </a:cubicBezTo>
                <a:cubicBezTo>
                  <a:pt x="417" y="794"/>
                  <a:pt x="267" y="637"/>
                  <a:pt x="258" y="621"/>
                </a:cubicBezTo>
                <a:cubicBezTo>
                  <a:pt x="249" y="605"/>
                  <a:pt x="369" y="736"/>
                  <a:pt x="400" y="770"/>
                </a:cubicBezTo>
                <a:cubicBezTo>
                  <a:pt x="431" y="804"/>
                  <a:pt x="420" y="807"/>
                  <a:pt x="445" y="823"/>
                </a:cubicBezTo>
                <a:cubicBezTo>
                  <a:pt x="470" y="839"/>
                  <a:pt x="516" y="857"/>
                  <a:pt x="548" y="867"/>
                </a:cubicBezTo>
                <a:cubicBezTo>
                  <a:pt x="580" y="877"/>
                  <a:pt x="609" y="889"/>
                  <a:pt x="640" y="883"/>
                </a:cubicBezTo>
                <a:cubicBezTo>
                  <a:pt x="671" y="877"/>
                  <a:pt x="698" y="862"/>
                  <a:pt x="737" y="830"/>
                </a:cubicBezTo>
                <a:cubicBezTo>
                  <a:pt x="776" y="798"/>
                  <a:pt x="879" y="678"/>
                  <a:pt x="872" y="688"/>
                </a:cubicBezTo>
                <a:cubicBezTo>
                  <a:pt x="865" y="698"/>
                  <a:pt x="706" y="856"/>
                  <a:pt x="692" y="890"/>
                </a:cubicBezTo>
                <a:cubicBezTo>
                  <a:pt x="678" y="924"/>
                  <a:pt x="760" y="889"/>
                  <a:pt x="789" y="890"/>
                </a:cubicBezTo>
                <a:cubicBezTo>
                  <a:pt x="818" y="891"/>
                  <a:pt x="834" y="902"/>
                  <a:pt x="864" y="898"/>
                </a:cubicBezTo>
                <a:cubicBezTo>
                  <a:pt x="894" y="894"/>
                  <a:pt x="940" y="912"/>
                  <a:pt x="969" y="868"/>
                </a:cubicBezTo>
                <a:cubicBezTo>
                  <a:pt x="998" y="824"/>
                  <a:pt x="1026" y="650"/>
                  <a:pt x="1036" y="636"/>
                </a:cubicBezTo>
                <a:cubicBezTo>
                  <a:pt x="1046" y="622"/>
                  <a:pt x="1014" y="771"/>
                  <a:pt x="1029" y="785"/>
                </a:cubicBezTo>
                <a:cubicBezTo>
                  <a:pt x="1044" y="799"/>
                  <a:pt x="1098" y="737"/>
                  <a:pt x="1124" y="723"/>
                </a:cubicBezTo>
                <a:cubicBezTo>
                  <a:pt x="1150" y="709"/>
                  <a:pt x="1162" y="727"/>
                  <a:pt x="1186" y="703"/>
                </a:cubicBezTo>
                <a:cubicBezTo>
                  <a:pt x="1210" y="679"/>
                  <a:pt x="1249" y="625"/>
                  <a:pt x="1268" y="579"/>
                </a:cubicBezTo>
                <a:cubicBezTo>
                  <a:pt x="1287" y="533"/>
                  <a:pt x="1310" y="490"/>
                  <a:pt x="1298" y="426"/>
                </a:cubicBezTo>
                <a:cubicBezTo>
                  <a:pt x="1286" y="362"/>
                  <a:pt x="1192" y="205"/>
                  <a:pt x="1193" y="194"/>
                </a:cubicBezTo>
                <a:cubicBezTo>
                  <a:pt x="1194" y="183"/>
                  <a:pt x="1283" y="360"/>
                  <a:pt x="1305" y="359"/>
                </a:cubicBezTo>
                <a:cubicBezTo>
                  <a:pt x="1327" y="358"/>
                  <a:pt x="1335" y="247"/>
                  <a:pt x="1328" y="187"/>
                </a:cubicBezTo>
                <a:cubicBezTo>
                  <a:pt x="1321" y="127"/>
                  <a:pt x="1275" y="39"/>
                  <a:pt x="1261" y="0"/>
                </a:cubicBezTo>
              </a:path>
            </a:pathLst>
          </a:custGeom>
          <a:noFill/>
          <a:ln w="44280">
            <a:solidFill>
              <a:srgbClr val="66ff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665" name="Text Box 9"/>
          <p:cNvSpPr/>
          <p:nvPr/>
        </p:nvSpPr>
        <p:spPr>
          <a:xfrm>
            <a:off x="6477120" y="1482840"/>
            <a:ext cx="1143000" cy="33768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1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Intestin</a:t>
            </a:r>
            <a:endParaRPr b="1" lang="en-US" sz="16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666" name="AutoShape 10"/>
          <p:cNvSpPr/>
          <p:nvPr/>
        </p:nvSpPr>
        <p:spPr>
          <a:xfrm rot="5400000">
            <a:off x="1675800" y="2438280"/>
            <a:ext cx="5105160" cy="1752840"/>
          </a:xfrm>
          <a:custGeom>
            <a:avLst/>
            <a:gdLst>
              <a:gd name="textAreaLeft" fmla="*/ 0 w 5105160"/>
              <a:gd name="textAreaRight" fmla="*/ 5105520 w 5105160"/>
              <a:gd name="textAreaTop" fmla="*/ 227160 h 1752840"/>
              <a:gd name="textAreaBottom" fmla="*/ 1525680 h 1752840"/>
              <a:gd name="GluePoint1X" fmla="*/ 18 w 21600"/>
              <a:gd name="GluePoint1Y" fmla="*/ 0 h 21600"/>
              <a:gd name="GluePoint2X" fmla="*/ 20 w 21600"/>
              <a:gd name="GluePoint2Y" fmla="*/ 10800 h 21600"/>
              <a:gd name="GluePoint3X" fmla="*/ 19 w 21600"/>
              <a:gd name="GluePoint3Y" fmla="*/ 1 h 21600"/>
              <a:gd name="GluePoint4X" fmla="*/ 21 w 21600"/>
              <a:gd name="GluePoint4Y" fmla="*/ 10800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21600" h="21600">
                <a:moveTo>
                  <a:pt x="0" y="1400"/>
                </a:moveTo>
                <a:cubicBezTo>
                  <a:pt x="3600" y="-3560"/>
                  <a:pt x="7200" y="6360"/>
                  <a:pt x="10800" y="1400"/>
                </a:cubicBezTo>
                <a:cubicBezTo>
                  <a:pt x="14400" y="-3560"/>
                  <a:pt x="18000" y="6360"/>
                  <a:pt x="21600" y="1400"/>
                </a:cubicBezTo>
                <a:lnTo>
                  <a:pt x="21600" y="20200"/>
                </a:lnTo>
                <a:cubicBezTo>
                  <a:pt x="18000" y="25160"/>
                  <a:pt x="14400" y="15240"/>
                  <a:pt x="10800" y="20200"/>
                </a:cubicBezTo>
                <a:cubicBezTo>
                  <a:pt x="7200" y="25160"/>
                  <a:pt x="3600" y="15240"/>
                  <a:pt x="0" y="20200"/>
                </a:cubicBezTo>
                <a:close/>
              </a:path>
            </a:pathLst>
          </a:custGeom>
          <a:noFill/>
          <a:ln w="50760">
            <a:solidFill>
              <a:srgbClr val="ff99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667" name="Oval 11"/>
          <p:cNvSpPr/>
          <p:nvPr/>
        </p:nvSpPr>
        <p:spPr>
          <a:xfrm>
            <a:off x="3505320" y="5562720"/>
            <a:ext cx="1523880" cy="609480"/>
          </a:xfrm>
          <a:prstGeom prst="ellipse">
            <a:avLst/>
          </a:prstGeom>
          <a:gradFill rotWithShape="0">
            <a:gsLst>
              <a:gs pos="0">
                <a:srgbClr val="000099"/>
              </a:gs>
              <a:gs pos="100000">
                <a:srgbClr val="6c6cc4"/>
              </a:gs>
            </a:gsLst>
            <a:lin ang="0"/>
          </a:gradFill>
          <a:ln w="50760">
            <a:solidFill>
              <a:srgbClr val="ff99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668" name="Text Box 12"/>
          <p:cNvSpPr/>
          <p:nvPr/>
        </p:nvSpPr>
        <p:spPr>
          <a:xfrm>
            <a:off x="2438280" y="263520"/>
            <a:ext cx="3733920" cy="33768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1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Circulation </a:t>
            </a:r>
            <a:r>
              <a:rPr b="1" i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(cellules immunitaires)…</a:t>
            </a:r>
            <a:endParaRPr b="1" lang="en-US" sz="16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669" name="Oval 13"/>
          <p:cNvSpPr/>
          <p:nvPr/>
        </p:nvSpPr>
        <p:spPr>
          <a:xfrm>
            <a:off x="3886200" y="2209680"/>
            <a:ext cx="152280" cy="152640"/>
          </a:xfrm>
          <a:prstGeom prst="ellipse">
            <a:avLst/>
          </a:prstGeom>
          <a:solidFill>
            <a:srgbClr val="66ff33"/>
          </a:solidFill>
          <a:ln w="316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670" name="Oval 14"/>
          <p:cNvSpPr/>
          <p:nvPr/>
        </p:nvSpPr>
        <p:spPr>
          <a:xfrm>
            <a:off x="4038480" y="2362320"/>
            <a:ext cx="152640" cy="152280"/>
          </a:xfrm>
          <a:prstGeom prst="ellipse">
            <a:avLst/>
          </a:prstGeom>
          <a:solidFill>
            <a:srgbClr val="66ff33"/>
          </a:solidFill>
          <a:ln w="316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671" name="Oval 15"/>
          <p:cNvSpPr/>
          <p:nvPr/>
        </p:nvSpPr>
        <p:spPr>
          <a:xfrm>
            <a:off x="4343400" y="4038480"/>
            <a:ext cx="152280" cy="381240"/>
          </a:xfrm>
          <a:prstGeom prst="ellipse">
            <a:avLst/>
          </a:prstGeom>
          <a:solidFill>
            <a:srgbClr val="ffff00"/>
          </a:solidFill>
          <a:ln w="31680">
            <a:solidFill>
              <a:srgbClr val="c0c0c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672" name="Oval 16"/>
          <p:cNvSpPr/>
          <p:nvPr/>
        </p:nvSpPr>
        <p:spPr>
          <a:xfrm>
            <a:off x="4572000" y="3962520"/>
            <a:ext cx="152280" cy="457200"/>
          </a:xfrm>
          <a:prstGeom prst="ellipse">
            <a:avLst/>
          </a:prstGeom>
          <a:solidFill>
            <a:srgbClr val="ffff00"/>
          </a:solidFill>
          <a:ln w="31680">
            <a:solidFill>
              <a:srgbClr val="c0c0c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673" name="Oval 17"/>
          <p:cNvSpPr/>
          <p:nvPr/>
        </p:nvSpPr>
        <p:spPr>
          <a:xfrm>
            <a:off x="6477120" y="2514600"/>
            <a:ext cx="152280" cy="152280"/>
          </a:xfrm>
          <a:prstGeom prst="ellipse">
            <a:avLst/>
          </a:prstGeom>
          <a:solidFill>
            <a:srgbClr val="66ff33"/>
          </a:solidFill>
          <a:ln w="316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674" name="Oval 18"/>
          <p:cNvSpPr/>
          <p:nvPr/>
        </p:nvSpPr>
        <p:spPr>
          <a:xfrm>
            <a:off x="6172200" y="2666880"/>
            <a:ext cx="152280" cy="152640"/>
          </a:xfrm>
          <a:prstGeom prst="ellipse">
            <a:avLst/>
          </a:prstGeom>
          <a:solidFill>
            <a:srgbClr val="66ff33"/>
          </a:solidFill>
          <a:ln w="316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675" name="Text Box 19"/>
          <p:cNvSpPr/>
          <p:nvPr/>
        </p:nvSpPr>
        <p:spPr>
          <a:xfrm>
            <a:off x="1752480" y="1035000"/>
            <a:ext cx="152424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1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600" strike="noStrike" u="sng">
                <a:solidFill>
                  <a:srgbClr val="ffff00"/>
                </a:solidFill>
                <a:effectLst/>
                <a:uFillTx/>
                <a:latin typeface="Arial"/>
              </a:rPr>
              <a:t>Alimentation</a:t>
            </a:r>
            <a:endParaRPr b="1" lang="en-US" sz="16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676" name="Arc 20"/>
          <p:cNvSpPr/>
          <p:nvPr/>
        </p:nvSpPr>
        <p:spPr>
          <a:xfrm rot="11272200">
            <a:off x="2435040" y="1443960"/>
            <a:ext cx="1379520" cy="1066680"/>
          </a:xfrm>
          <a:custGeom>
            <a:avLst/>
            <a:gdLst>
              <a:gd name="GluePoint1X" fmla="*/ 0 w 32589"/>
              <a:gd name="GluePoint1Y" fmla="*/ 361898713 h 21600"/>
              <a:gd name="GluePoint2X" fmla="*/ 2147483647 w 32589"/>
              <a:gd name="GluePoint2Y" fmla="*/ 2147483647 h 21600"/>
              <a:gd name="GluePoint3X" fmla="*/ 833578122 w 32589"/>
              <a:gd name="GluePoint3Y" fmla="*/ 2147483647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l" t="t" r="r" b="b"/>
            <a:pathLst>
              <a:path fill="none" w="32589" h="21600">
                <a:moveTo>
                  <a:pt x="0" y="3004"/>
                </a:moveTo>
                <a:cubicBezTo>
                  <a:pt x="3328" y="1037"/>
                  <a:pt x="7123" y="-1"/>
                  <a:pt x="10989" y="0"/>
                </a:cubicBezTo>
                <a:cubicBezTo>
                  <a:pt x="22918" y="0"/>
                  <a:pt x="32589" y="9670"/>
                  <a:pt x="32589" y="21600"/>
                </a:cubicBezTo>
              </a:path>
              <a:path stroke="0" w="32589" h="21600">
                <a:moveTo>
                  <a:pt x="0" y="3004"/>
                </a:moveTo>
                <a:cubicBezTo>
                  <a:pt x="3328" y="1037"/>
                  <a:pt x="7123" y="-1"/>
                  <a:pt x="10989" y="0"/>
                </a:cubicBezTo>
                <a:cubicBezTo>
                  <a:pt x="22918" y="0"/>
                  <a:pt x="32589" y="9670"/>
                  <a:pt x="32589" y="21600"/>
                </a:cubicBezTo>
                <a:lnTo>
                  <a:pt x="10989" y="21600"/>
                </a:lnTo>
                <a:lnTo>
                  <a:pt x="0" y="3004"/>
                </a:lnTo>
                <a:close/>
              </a:path>
            </a:pathLst>
          </a:custGeom>
          <a:noFill/>
          <a:ln w="50760">
            <a:solidFill>
              <a:srgbClr val="ffffff"/>
            </a:solidFill>
            <a:round/>
            <a:headEnd len="sm" type="triangle" w="sm"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677" name="Text Box 21"/>
          <p:cNvSpPr/>
          <p:nvPr/>
        </p:nvSpPr>
        <p:spPr>
          <a:xfrm rot="16200000">
            <a:off x="5495400" y="2201040"/>
            <a:ext cx="838080" cy="70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4000" strike="noStrike" u="none">
                <a:solidFill>
                  <a:srgbClr val="ffff00"/>
                </a:solidFill>
                <a:effectLst/>
                <a:uFillTx/>
                <a:latin typeface="Wingdings"/>
                <a:ea typeface="Wingdings"/>
              </a:rPr>
              <a:t></a:t>
            </a:r>
            <a:endParaRPr b="1" lang="en-US" sz="4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678" name="Arc 22"/>
          <p:cNvSpPr/>
          <p:nvPr/>
        </p:nvSpPr>
        <p:spPr>
          <a:xfrm rot="19108200">
            <a:off x="4495320" y="1828440"/>
            <a:ext cx="914400" cy="1066680"/>
          </a:xfrm>
          <a:custGeom>
            <a:avLst/>
            <a:gdLst>
              <a:gd name="GluePoint1X" fmla="*/ 0 w 21600"/>
              <a:gd name="GluePoint1Y" fmla="*/ 0 h 21600"/>
              <a:gd name="GluePoint2X" fmla="*/ 1638706400 w 21600"/>
              <a:gd name="GluePoint2Y" fmla="*/ 2147483647 h 21600"/>
              <a:gd name="GluePoint3X" fmla="*/ 0 w 21600"/>
              <a:gd name="GluePoint3Y" fmla="*/ 2147483647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l" t="t" r="r" b="b"/>
            <a:pathLst>
              <a:path fill="none" w="21600" h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stroke="0" w="21600" h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50760">
            <a:solidFill>
              <a:srgbClr val="ffffff"/>
            </a:solidFill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679" name="Text Box 23"/>
          <p:cNvSpPr/>
          <p:nvPr/>
        </p:nvSpPr>
        <p:spPr>
          <a:xfrm>
            <a:off x="1676520" y="4724280"/>
            <a:ext cx="1828800" cy="56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70000"/>
              </a:lnSpc>
              <a:spcBef>
                <a:spcPts val="1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Lymphocytes,</a:t>
            </a:r>
            <a:endParaRPr b="1" lang="en-US" sz="16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70000"/>
              </a:lnSpc>
              <a:spcBef>
                <a:spcPts val="1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macrophages…</a:t>
            </a:r>
            <a:endParaRPr b="1" lang="en-US" sz="16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680" name="Line 24"/>
          <p:cNvSpPr/>
          <p:nvPr/>
        </p:nvSpPr>
        <p:spPr>
          <a:xfrm flipV="1">
            <a:off x="3422520" y="4322520"/>
            <a:ext cx="927360" cy="575280"/>
          </a:xfrm>
          <a:prstGeom prst="line">
            <a:avLst/>
          </a:prstGeom>
          <a:ln w="3168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681" name="Arc 25"/>
          <p:cNvSpPr/>
          <p:nvPr/>
        </p:nvSpPr>
        <p:spPr>
          <a:xfrm rot="14156400">
            <a:off x="3011040" y="2458440"/>
            <a:ext cx="230040" cy="1665360"/>
          </a:xfrm>
          <a:custGeom>
            <a:avLst/>
            <a:gdLst>
              <a:gd name="GluePoint1X" fmla="*/ 989964 w 21600"/>
              <a:gd name="GluePoint1Y" fmla="*/ 0 h 21585"/>
              <a:gd name="GluePoint2X" fmla="*/ 26141762 w 21600"/>
              <a:gd name="GluePoint2Y" fmla="*/ 2147483647 h 21585"/>
              <a:gd name="GluePoint3X" fmla="*/ 0 w 21600"/>
              <a:gd name="GluePoint3Y" fmla="*/ 2147483647 h 21585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l" t="t" r="r" b="b"/>
            <a:pathLst>
              <a:path fill="none" w="21600" h="21585">
                <a:moveTo>
                  <a:pt x="817" y="0"/>
                </a:moveTo>
                <a:cubicBezTo>
                  <a:pt x="12420" y="440"/>
                  <a:pt x="21600" y="9973"/>
                  <a:pt x="21600" y="21585"/>
                </a:cubicBezTo>
              </a:path>
              <a:path stroke="0" w="21600" h="21585">
                <a:moveTo>
                  <a:pt x="817" y="0"/>
                </a:moveTo>
                <a:cubicBezTo>
                  <a:pt x="12420" y="440"/>
                  <a:pt x="21600" y="9973"/>
                  <a:pt x="21600" y="21585"/>
                </a:cubicBezTo>
                <a:lnTo>
                  <a:pt x="0" y="21585"/>
                </a:lnTo>
                <a:lnTo>
                  <a:pt x="817" y="0"/>
                </a:lnTo>
                <a:close/>
              </a:path>
            </a:pathLst>
          </a:custGeom>
          <a:noFill/>
          <a:ln w="50760">
            <a:solidFill>
              <a:srgbClr val="ffffff"/>
            </a:solidFill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682" name="Oval 26"/>
          <p:cNvSpPr/>
          <p:nvPr/>
        </p:nvSpPr>
        <p:spPr>
          <a:xfrm>
            <a:off x="1676520" y="4038480"/>
            <a:ext cx="152280" cy="152640"/>
          </a:xfrm>
          <a:prstGeom prst="ellipse">
            <a:avLst/>
          </a:prstGeom>
          <a:solidFill>
            <a:srgbClr val="66ff33"/>
          </a:solidFill>
          <a:ln w="316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683" name="Text Box 27"/>
          <p:cNvSpPr/>
          <p:nvPr/>
        </p:nvSpPr>
        <p:spPr>
          <a:xfrm>
            <a:off x="990720" y="3886200"/>
            <a:ext cx="60948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spcBef>
                <a:spcPts val="17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800" strike="noStrike" u="none">
                <a:solidFill>
                  <a:srgbClr val="ffff00"/>
                </a:solidFill>
                <a:effectLst/>
                <a:uFillTx/>
                <a:latin typeface="Wingdings"/>
                <a:ea typeface="Wingdings"/>
              </a:rPr>
              <a:t></a:t>
            </a:r>
            <a:endParaRPr b="1" lang="en-US" sz="2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684" name="Text Box 28"/>
          <p:cNvSpPr/>
          <p:nvPr/>
        </p:nvSpPr>
        <p:spPr>
          <a:xfrm>
            <a:off x="2895480" y="3276720"/>
            <a:ext cx="83844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spcBef>
                <a:spcPts val="17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800" strike="noStrike" u="none">
                <a:solidFill>
                  <a:srgbClr val="ffff00"/>
                </a:solidFill>
                <a:effectLst/>
                <a:uFillTx/>
                <a:latin typeface="Wingdings"/>
                <a:ea typeface="Wingdings"/>
              </a:rPr>
              <a:t></a:t>
            </a:r>
            <a:endParaRPr b="1" lang="en-US" sz="2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685" name="Text Box 29"/>
          <p:cNvSpPr/>
          <p:nvPr/>
        </p:nvSpPr>
        <p:spPr>
          <a:xfrm>
            <a:off x="4267080" y="2438280"/>
            <a:ext cx="76212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spcBef>
                <a:spcPts val="17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800" strike="noStrike" u="none">
                <a:solidFill>
                  <a:srgbClr val="ffff00"/>
                </a:solidFill>
                <a:effectLst/>
                <a:uFillTx/>
                <a:latin typeface="Wingdings"/>
                <a:ea typeface="Wingdings"/>
              </a:rPr>
              <a:t></a:t>
            </a:r>
            <a:endParaRPr b="1" lang="en-US" sz="2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686" name="Text Box 30"/>
          <p:cNvSpPr/>
          <p:nvPr/>
        </p:nvSpPr>
        <p:spPr>
          <a:xfrm rot="14641200">
            <a:off x="1837440" y="3495600"/>
            <a:ext cx="838080" cy="70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4000" strike="noStrike" u="none">
                <a:solidFill>
                  <a:srgbClr val="ffff00"/>
                </a:solidFill>
                <a:effectLst/>
                <a:uFillTx/>
                <a:latin typeface="Wingdings"/>
                <a:ea typeface="Wingdings"/>
              </a:rPr>
              <a:t></a:t>
            </a:r>
            <a:endParaRPr b="1" lang="en-US" sz="4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pic>
        <p:nvPicPr>
          <p:cNvPr id="687" name="Picture 31" descr="Cellule-animée"/>
          <p:cNvPicPr/>
          <p:nvPr/>
        </p:nvPicPr>
        <p:blipFill>
          <a:blip r:embed="rId1"/>
          <a:stretch/>
        </p:blipFill>
        <p:spPr>
          <a:xfrm>
            <a:off x="6172200" y="3543480"/>
            <a:ext cx="457200" cy="342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88" name="Picture 32" descr="Cellule-animée"/>
          <p:cNvPicPr/>
          <p:nvPr/>
        </p:nvPicPr>
        <p:blipFill>
          <a:blip r:embed="rId2"/>
          <a:stretch/>
        </p:blipFill>
        <p:spPr>
          <a:xfrm>
            <a:off x="6172200" y="3924360"/>
            <a:ext cx="457200" cy="342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89" name="Picture 33" descr="Cellule-animée"/>
          <p:cNvPicPr/>
          <p:nvPr/>
        </p:nvPicPr>
        <p:blipFill>
          <a:blip r:embed="rId3"/>
          <a:stretch/>
        </p:blipFill>
        <p:spPr>
          <a:xfrm>
            <a:off x="4191120" y="4495680"/>
            <a:ext cx="457200" cy="343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0" name="Arc 34"/>
          <p:cNvSpPr/>
          <p:nvPr/>
        </p:nvSpPr>
        <p:spPr>
          <a:xfrm rot="9150000">
            <a:off x="4612680" y="4349520"/>
            <a:ext cx="1595160" cy="74520"/>
          </a:xfrm>
          <a:custGeom>
            <a:avLst/>
            <a:gdLst>
              <a:gd name="GluePoint1X" fmla="*/ 2147483647 w 21600"/>
              <a:gd name="GluePoint1Y" fmla="*/ 0 h 20490"/>
              <a:gd name="GluePoint2X" fmla="*/ 2147483647 w 21600"/>
              <a:gd name="GluePoint2Y" fmla="*/ 989371 h 20490"/>
              <a:gd name="GluePoint3X" fmla="*/ 0 w 21600"/>
              <a:gd name="GluePoint3Y" fmla="*/ 989371 h 2049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l" t="t" r="r" b="b"/>
            <a:pathLst>
              <a:path fill="none" w="21600" h="20490">
                <a:moveTo>
                  <a:pt x="6835" y="0"/>
                </a:moveTo>
                <a:cubicBezTo>
                  <a:pt x="15653" y="2941"/>
                  <a:pt x="21600" y="11194"/>
                  <a:pt x="21600" y="20490"/>
                </a:cubicBezTo>
              </a:path>
              <a:path stroke="0" w="21600" h="20490">
                <a:moveTo>
                  <a:pt x="6835" y="0"/>
                </a:moveTo>
                <a:cubicBezTo>
                  <a:pt x="15653" y="2941"/>
                  <a:pt x="21600" y="11194"/>
                  <a:pt x="21600" y="20490"/>
                </a:cubicBezTo>
                <a:lnTo>
                  <a:pt x="0" y="20490"/>
                </a:lnTo>
                <a:lnTo>
                  <a:pt x="6835" y="0"/>
                </a:lnTo>
                <a:close/>
              </a:path>
            </a:pathLst>
          </a:custGeom>
          <a:noFill/>
          <a:ln w="50760">
            <a:solidFill>
              <a:srgbClr val="ffffff"/>
            </a:solidFill>
            <a:prstDash val="sysDot"/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27720" bIns="27720" anchor="ctr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691" name="Text Box 35"/>
          <p:cNvSpPr/>
          <p:nvPr/>
        </p:nvSpPr>
        <p:spPr>
          <a:xfrm rot="19515600">
            <a:off x="5486760" y="3733560"/>
            <a:ext cx="838080" cy="70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4000" strike="noStrike" u="none">
                <a:solidFill>
                  <a:srgbClr val="ffff00"/>
                </a:solidFill>
                <a:effectLst/>
                <a:uFillTx/>
                <a:latin typeface="Wingdings"/>
                <a:ea typeface="Wingdings"/>
              </a:rPr>
              <a:t></a:t>
            </a:r>
            <a:endParaRPr b="1" lang="en-US" sz="4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692" name="Text Box 36"/>
          <p:cNvSpPr/>
          <p:nvPr/>
        </p:nvSpPr>
        <p:spPr>
          <a:xfrm>
            <a:off x="6858000" y="4267080"/>
            <a:ext cx="198108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1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600" strike="noStrike" u="sng">
                <a:solidFill>
                  <a:srgbClr val="ffff00"/>
                </a:solidFill>
                <a:effectLst/>
                <a:uFillTx/>
                <a:latin typeface="Arial"/>
              </a:rPr>
              <a:t>Bactéries, virus…</a:t>
            </a:r>
            <a:endParaRPr b="1" lang="en-US" sz="16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693" name="Line 37"/>
          <p:cNvSpPr/>
          <p:nvPr/>
        </p:nvSpPr>
        <p:spPr>
          <a:xfrm flipH="1" flipV="1">
            <a:off x="6553080" y="3886200"/>
            <a:ext cx="609840" cy="380880"/>
          </a:xfrm>
          <a:prstGeom prst="line">
            <a:avLst/>
          </a:prstGeom>
          <a:ln w="1908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694" name="Text Box 38"/>
          <p:cNvSpPr/>
          <p:nvPr/>
        </p:nvSpPr>
        <p:spPr>
          <a:xfrm>
            <a:off x="4800600" y="4038480"/>
            <a:ext cx="91440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spcBef>
                <a:spcPts val="17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800" strike="noStrike" u="none">
                <a:solidFill>
                  <a:srgbClr val="ffff00"/>
                </a:solidFill>
                <a:effectLst/>
                <a:uFillTx/>
                <a:latin typeface="Wingdings"/>
                <a:ea typeface="Wingdings"/>
              </a:rPr>
              <a:t></a:t>
            </a:r>
            <a:endParaRPr b="1" lang="en-US" sz="2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695" name="Line 39"/>
          <p:cNvSpPr/>
          <p:nvPr/>
        </p:nvSpPr>
        <p:spPr>
          <a:xfrm>
            <a:off x="1219320" y="6622920"/>
            <a:ext cx="533160" cy="0"/>
          </a:xfrm>
          <a:prstGeom prst="line">
            <a:avLst/>
          </a:prstGeom>
          <a:ln w="50760">
            <a:solidFill>
              <a:srgbClr val="ffffff"/>
            </a:solidFill>
            <a:miter/>
            <a:tailEnd len="sm" type="triangle" w="sm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696" name="Text Box 40"/>
          <p:cNvSpPr/>
          <p:nvPr/>
        </p:nvSpPr>
        <p:spPr>
          <a:xfrm>
            <a:off x="1752480" y="6438960"/>
            <a:ext cx="213372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Relations normales</a:t>
            </a:r>
            <a:endParaRPr b="1" lang="en-US" sz="16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697" name="Line 41"/>
          <p:cNvSpPr/>
          <p:nvPr/>
        </p:nvSpPr>
        <p:spPr>
          <a:xfrm>
            <a:off x="4343400" y="6622920"/>
            <a:ext cx="533520" cy="0"/>
          </a:xfrm>
          <a:prstGeom prst="line">
            <a:avLst/>
          </a:prstGeom>
          <a:ln w="50760">
            <a:solidFill>
              <a:srgbClr val="ffffff"/>
            </a:solidFill>
            <a:prstDash val="sysDot"/>
            <a:miter/>
            <a:tailEnd len="sm" type="triangle" w="sm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698" name="Text Box 42"/>
          <p:cNvSpPr/>
          <p:nvPr/>
        </p:nvSpPr>
        <p:spPr>
          <a:xfrm>
            <a:off x="4876920" y="6438960"/>
            <a:ext cx="365760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Relations dans le surentraînement</a:t>
            </a:r>
            <a:endParaRPr b="1" lang="en-US" sz="16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699" name="Rectangle 43"/>
          <p:cNvSpPr/>
          <p:nvPr/>
        </p:nvSpPr>
        <p:spPr>
          <a:xfrm>
            <a:off x="0" y="6318360"/>
            <a:ext cx="9144000" cy="533160"/>
          </a:xfrm>
          <a:prstGeom prst="rect">
            <a:avLst/>
          </a:prstGeom>
          <a:noFill/>
          <a:ln w="126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700" name="Line 44"/>
          <p:cNvSpPr/>
          <p:nvPr/>
        </p:nvSpPr>
        <p:spPr>
          <a:xfrm>
            <a:off x="1371600" y="3809880"/>
            <a:ext cx="228600" cy="457200"/>
          </a:xfrm>
          <a:prstGeom prst="line">
            <a:avLst/>
          </a:prstGeom>
          <a:ln w="3816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701" name="Oval 45"/>
          <p:cNvSpPr/>
          <p:nvPr/>
        </p:nvSpPr>
        <p:spPr>
          <a:xfrm>
            <a:off x="4800600" y="2971800"/>
            <a:ext cx="457200" cy="380880"/>
          </a:xfrm>
          <a:prstGeom prst="ellipse">
            <a:avLst/>
          </a:prstGeom>
          <a:noFill/>
          <a:ln w="381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-</a:t>
            </a:r>
            <a:endParaRPr b="1" lang="en-US" sz="32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702" name="Oval 46"/>
          <p:cNvSpPr/>
          <p:nvPr/>
        </p:nvSpPr>
        <p:spPr>
          <a:xfrm>
            <a:off x="5334120" y="3581280"/>
            <a:ext cx="457200" cy="381240"/>
          </a:xfrm>
          <a:prstGeom prst="ellipse">
            <a:avLst/>
          </a:prstGeom>
          <a:noFill/>
          <a:ln w="381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+</a:t>
            </a:r>
            <a:endParaRPr b="1" lang="en-US" sz="32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703" name="Text Box 47"/>
          <p:cNvSpPr/>
          <p:nvPr/>
        </p:nvSpPr>
        <p:spPr>
          <a:xfrm>
            <a:off x="1295280" y="3505320"/>
            <a:ext cx="83844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1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Gln</a:t>
            </a:r>
            <a:endParaRPr b="1" lang="en-US" sz="16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704" name="Text Box 48"/>
          <p:cNvSpPr/>
          <p:nvPr/>
        </p:nvSpPr>
        <p:spPr>
          <a:xfrm>
            <a:off x="5943600" y="2209680"/>
            <a:ext cx="83808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1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Gln</a:t>
            </a:r>
            <a:endParaRPr b="1" lang="en-US" sz="16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705" name="Oval 49"/>
          <p:cNvSpPr/>
          <p:nvPr/>
        </p:nvSpPr>
        <p:spPr>
          <a:xfrm>
            <a:off x="6019920" y="3352680"/>
            <a:ext cx="152280" cy="381240"/>
          </a:xfrm>
          <a:prstGeom prst="ellipse">
            <a:avLst/>
          </a:prstGeom>
          <a:solidFill>
            <a:srgbClr val="ffff00"/>
          </a:solidFill>
          <a:ln w="31680">
            <a:solidFill>
              <a:srgbClr val="c0c0c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706" name="Oval 50"/>
          <p:cNvSpPr/>
          <p:nvPr/>
        </p:nvSpPr>
        <p:spPr>
          <a:xfrm>
            <a:off x="6477120" y="3200400"/>
            <a:ext cx="152280" cy="457200"/>
          </a:xfrm>
          <a:prstGeom prst="ellipse">
            <a:avLst/>
          </a:prstGeom>
          <a:solidFill>
            <a:srgbClr val="ffff00"/>
          </a:solidFill>
          <a:ln w="31680">
            <a:solidFill>
              <a:srgbClr val="c0c0c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707" name="Line 51"/>
          <p:cNvSpPr/>
          <p:nvPr/>
        </p:nvSpPr>
        <p:spPr>
          <a:xfrm flipH="1">
            <a:off x="6095520" y="2895480"/>
            <a:ext cx="228600" cy="381240"/>
          </a:xfrm>
          <a:prstGeom prst="line">
            <a:avLst/>
          </a:prstGeom>
          <a:ln w="2844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708" name="Line 52"/>
          <p:cNvSpPr/>
          <p:nvPr/>
        </p:nvSpPr>
        <p:spPr>
          <a:xfrm>
            <a:off x="6324480" y="2895480"/>
            <a:ext cx="152640" cy="304920"/>
          </a:xfrm>
          <a:prstGeom prst="line">
            <a:avLst/>
          </a:prstGeom>
          <a:ln w="2844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709" name="Arc 53"/>
          <p:cNvSpPr/>
          <p:nvPr/>
        </p:nvSpPr>
        <p:spPr>
          <a:xfrm rot="19108200">
            <a:off x="4495680" y="1981080"/>
            <a:ext cx="914400" cy="1067040"/>
          </a:xfrm>
          <a:custGeom>
            <a:avLst/>
            <a:gdLst>
              <a:gd name="GluePoint1X" fmla="*/ 0 w 21600"/>
              <a:gd name="GluePoint1Y" fmla="*/ 0 h 21600"/>
              <a:gd name="GluePoint2X" fmla="*/ 1638706400 w 21600"/>
              <a:gd name="GluePoint2Y" fmla="*/ 2147483647 h 21600"/>
              <a:gd name="GluePoint3X" fmla="*/ 0 w 21600"/>
              <a:gd name="GluePoint3Y" fmla="*/ 2147483647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l" t="t" r="r" b="b"/>
            <a:pathLst>
              <a:path fill="none" w="21600" h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stroke="0" w="21600" h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50760">
            <a:solidFill>
              <a:srgbClr val="ffffff"/>
            </a:solidFill>
            <a:prstDash val="sysDot"/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710" name="Arc 54"/>
          <p:cNvSpPr/>
          <p:nvPr/>
        </p:nvSpPr>
        <p:spPr>
          <a:xfrm rot="757800">
            <a:off x="3879360" y="2715840"/>
            <a:ext cx="685800" cy="1143000"/>
          </a:xfrm>
          <a:custGeom>
            <a:avLst/>
            <a:gdLst>
              <a:gd name="GluePoint1X" fmla="*/ 0 w 21600"/>
              <a:gd name="GluePoint1Y" fmla="*/ 0 h 21600"/>
              <a:gd name="GluePoint2X" fmla="*/ 691329263 w 21600"/>
              <a:gd name="GluePoint2Y" fmla="*/ 2147483647 h 21600"/>
              <a:gd name="GluePoint3X" fmla="*/ 0 w 21600"/>
              <a:gd name="GluePoint3Y" fmla="*/ 2147483647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l" t="t" r="r" b="b"/>
            <a:pathLst>
              <a:path fill="none" w="21600" h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stroke="0" w="21600" h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5724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711" name="Text Box 55"/>
          <p:cNvSpPr/>
          <p:nvPr/>
        </p:nvSpPr>
        <p:spPr>
          <a:xfrm>
            <a:off x="294840" y="2803680"/>
            <a:ext cx="2726640" cy="58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Stress métaboliques</a:t>
            </a:r>
            <a:endParaRPr b="1" lang="en-US" sz="16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répérés... surentraînement</a:t>
            </a:r>
            <a:endParaRPr b="1" lang="en-US" sz="16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712" name="AutoShape 56"/>
          <p:cNvSpPr/>
          <p:nvPr/>
        </p:nvSpPr>
        <p:spPr>
          <a:xfrm rot="16200000">
            <a:off x="1066680" y="2971800"/>
            <a:ext cx="152640" cy="914400"/>
          </a:xfrm>
          <a:custGeom>
            <a:avLst/>
            <a:gdLst>
              <a:gd name="textAreaLeft" fmla="*/ 0 w 152640"/>
              <a:gd name="textAreaRight" fmla="*/ 55080 w 152640"/>
              <a:gd name="textAreaTop" fmla="*/ 23760 h 914400"/>
              <a:gd name="textAreaBottom" fmla="*/ 890640 h 914400"/>
              <a:gd name="GluePoint1X" fmla="*/ 0 w 21600"/>
              <a:gd name="GluePoint1Y" fmla="*/ 0 h 21600"/>
              <a:gd name="GluePoint2X" fmla="*/ 0 w 21600"/>
              <a:gd name="GluePoint2Y" fmla="*/ 21600 h 21600"/>
              <a:gd name="GluePoint3X" fmla="*/ 21600 w 21600"/>
              <a:gd name="GluePoint3Y" fmla="*/ 10800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21600" h="21600">
                <a:moveTo>
                  <a:pt x="0" y="0"/>
                </a:moveTo>
                <a:cubicBezTo>
                  <a:pt x="5400" y="0"/>
                  <a:pt x="10800" y="900"/>
                  <a:pt x="10800" y="1800"/>
                </a:cubicBezTo>
                <a:lnTo>
                  <a:pt x="10800" y="9000"/>
                </a:lnTo>
                <a:cubicBezTo>
                  <a:pt x="10800" y="9900"/>
                  <a:pt x="16200" y="10800"/>
                  <a:pt x="21600" y="10800"/>
                </a:cubicBezTo>
                <a:cubicBezTo>
                  <a:pt x="16200" y="10800"/>
                  <a:pt x="10800" y="11700"/>
                  <a:pt x="10800" y="12600"/>
                </a:cubicBezTo>
                <a:lnTo>
                  <a:pt x="10800" y="19800"/>
                </a:lnTo>
                <a:cubicBezTo>
                  <a:pt x="10800" y="20700"/>
                  <a:pt x="5400" y="21600"/>
                  <a:pt x="0" y="21600"/>
                </a:cubicBezTo>
              </a:path>
            </a:pathLst>
          </a:custGeom>
          <a:noFill/>
          <a:ln w="284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713" name="Oval 57"/>
          <p:cNvSpPr/>
          <p:nvPr/>
        </p:nvSpPr>
        <p:spPr>
          <a:xfrm>
            <a:off x="5257800" y="2514600"/>
            <a:ext cx="457200" cy="380880"/>
          </a:xfrm>
          <a:prstGeom prst="ellipse">
            <a:avLst/>
          </a:prstGeom>
          <a:noFill/>
          <a:ln w="381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-</a:t>
            </a:r>
            <a:endParaRPr b="1" lang="en-US" sz="32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pic>
        <p:nvPicPr>
          <p:cNvPr id="714" name="Picture 58" descr="Cellule-animée"/>
          <p:cNvPicPr/>
          <p:nvPr/>
        </p:nvPicPr>
        <p:blipFill>
          <a:blip r:embed="rId4"/>
          <a:stretch/>
        </p:blipFill>
        <p:spPr>
          <a:xfrm>
            <a:off x="4343400" y="4800600"/>
            <a:ext cx="457200" cy="343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5" name="Oval 59"/>
          <p:cNvSpPr/>
          <p:nvPr/>
        </p:nvSpPr>
        <p:spPr>
          <a:xfrm>
            <a:off x="3809880" y="2514600"/>
            <a:ext cx="152640" cy="152280"/>
          </a:xfrm>
          <a:prstGeom prst="ellipse">
            <a:avLst/>
          </a:prstGeom>
          <a:solidFill>
            <a:srgbClr val="66ff33"/>
          </a:solidFill>
          <a:ln w="316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716" name="Arc 60"/>
          <p:cNvSpPr/>
          <p:nvPr/>
        </p:nvSpPr>
        <p:spPr>
          <a:xfrm rot="757800">
            <a:off x="4114440" y="2742840"/>
            <a:ext cx="685800" cy="1143000"/>
          </a:xfrm>
          <a:custGeom>
            <a:avLst/>
            <a:gdLst>
              <a:gd name="GluePoint1X" fmla="*/ 0 w 21600"/>
              <a:gd name="GluePoint1Y" fmla="*/ 0 h 21600"/>
              <a:gd name="GluePoint2X" fmla="*/ 691329263 w 21600"/>
              <a:gd name="GluePoint2Y" fmla="*/ 2147483647 h 21600"/>
              <a:gd name="GluePoint3X" fmla="*/ 0 w 21600"/>
              <a:gd name="GluePoint3Y" fmla="*/ 2147483647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l" t="t" r="r" b="b"/>
            <a:pathLst>
              <a:path fill="none" w="21600" h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stroke="0" w="21600" h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57240">
            <a:solidFill>
              <a:srgbClr val="ffffff"/>
            </a:solidFill>
            <a:prstDash val="sysDot"/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717" name="Line 61"/>
          <p:cNvSpPr/>
          <p:nvPr/>
        </p:nvSpPr>
        <p:spPr>
          <a:xfrm flipH="1">
            <a:off x="4800240" y="4495680"/>
            <a:ext cx="2057400" cy="457200"/>
          </a:xfrm>
          <a:prstGeom prst="line">
            <a:avLst/>
          </a:prstGeom>
          <a:ln w="936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718" name="Arc 62"/>
          <p:cNvSpPr/>
          <p:nvPr/>
        </p:nvSpPr>
        <p:spPr>
          <a:xfrm rot="14156400">
            <a:off x="3079440" y="2558520"/>
            <a:ext cx="230040" cy="1665000"/>
          </a:xfrm>
          <a:custGeom>
            <a:avLst/>
            <a:gdLst>
              <a:gd name="GluePoint1X" fmla="*/ 989979 w 21600"/>
              <a:gd name="GluePoint1Y" fmla="*/ 0 h 21585"/>
              <a:gd name="GluePoint2X" fmla="*/ 26142099 w 21600"/>
              <a:gd name="GluePoint2Y" fmla="*/ 2147483647 h 21585"/>
              <a:gd name="GluePoint3X" fmla="*/ 0 w 21600"/>
              <a:gd name="GluePoint3Y" fmla="*/ 2147483647 h 21585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l" t="t" r="r" b="b"/>
            <a:pathLst>
              <a:path fill="none" w="21600" h="21585">
                <a:moveTo>
                  <a:pt x="817" y="0"/>
                </a:moveTo>
                <a:cubicBezTo>
                  <a:pt x="12420" y="440"/>
                  <a:pt x="21600" y="9973"/>
                  <a:pt x="21600" y="21585"/>
                </a:cubicBezTo>
              </a:path>
              <a:path stroke="0" w="21600" h="21585">
                <a:moveTo>
                  <a:pt x="817" y="0"/>
                </a:moveTo>
                <a:cubicBezTo>
                  <a:pt x="12420" y="440"/>
                  <a:pt x="21600" y="9973"/>
                  <a:pt x="21600" y="21585"/>
                </a:cubicBezTo>
                <a:lnTo>
                  <a:pt x="0" y="21585"/>
                </a:lnTo>
                <a:lnTo>
                  <a:pt x="817" y="0"/>
                </a:lnTo>
                <a:close/>
              </a:path>
            </a:pathLst>
          </a:custGeom>
          <a:noFill/>
          <a:ln w="50760">
            <a:solidFill>
              <a:srgbClr val="ffffff"/>
            </a:solidFill>
            <a:prstDash val="sysDot"/>
            <a:round/>
            <a:tailEnd len="sm" type="triangle" w="sm"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521" dur="indefinite" restart="never" nodeType="tmRoot">
          <p:childTnLst>
            <p:seq>
              <p:cTn id="1522" dur="indefinite" nodeType="mainSeq">
                <p:childTnLst>
                  <p:par>
                    <p:cTn id="1523" nodeType="clickEffect" fill="hold">
                      <p:stCondLst>
                        <p:cond delay="0"/>
                      </p:stCondLst>
                      <p:childTnLst>
                        <p:par>
                          <p:cTn id="152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525" nodeType="after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7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1528" nodeType="after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0" nodeType="afterEffect" fill="hold">
                            <p:stCondLst>
                              <p:cond delay="1000"/>
                            </p:stCondLst>
                            <p:childTnLst>
                              <p:par>
                                <p:cTn id="1531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533" dur="500"/>
                                        <p:tgtEl>
                                          <p:spTgt spid="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4" nodeType="afterEffect" fill="hold">
                            <p:stCondLst>
                              <p:cond delay="1500"/>
                            </p:stCondLst>
                            <p:childTnLst>
                              <p:par>
                                <p:cTn id="1535" nodeType="after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7" nodeType="afterEffect" fill="hold">
                            <p:stCondLst>
                              <p:cond delay="2000"/>
                            </p:stCondLst>
                            <p:childTnLst>
                              <p:par>
                                <p:cTn id="1538" nodeType="after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0" nodeType="afterEffect" fill="hold">
                            <p:stCondLst>
                              <p:cond delay="2500"/>
                            </p:stCondLst>
                            <p:childTnLst>
                              <p:par>
                                <p:cTn id="1541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543" dur="500"/>
                                        <p:tgtEl>
                                          <p:spTgt spid="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4" nodeType="afterEffect" fill="hold">
                            <p:stCondLst>
                              <p:cond delay="3000"/>
                            </p:stCondLst>
                            <p:childTnLst>
                              <p:par>
                                <p:cTn id="1545" nodeType="after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7" nodeType="afterEffect" fill="hold">
                            <p:stCondLst>
                              <p:cond delay="3500"/>
                            </p:stCondLst>
                            <p:childTnLst>
                              <p:par>
                                <p:cTn id="1548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550" dur="500"/>
                                        <p:tgtEl>
                                          <p:spTgt spid="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1" nodeType="afterEffect" fill="hold">
                            <p:stCondLst>
                              <p:cond delay="4000"/>
                            </p:stCondLst>
                            <p:childTnLst>
                              <p:par>
                                <p:cTn id="1552" nodeType="afterEffect" fill="hold" presetClass="entr" presetID="9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5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554" dur="500"/>
                                        <p:tgtEl>
                                          <p:spTgt spid="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5" nodeType="afterEffect" fill="hold">
                            <p:stCondLst>
                              <p:cond delay="6500"/>
                            </p:stCondLst>
                            <p:childTnLst>
                              <p:par>
                                <p:cTn id="1556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558" dur="500"/>
                                        <p:tgtEl>
                                          <p:spTgt spid="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9" nodeType="afterEffect" fill="hold">
                            <p:stCondLst>
                              <p:cond delay="7000"/>
                            </p:stCondLst>
                            <p:childTnLst>
                              <p:par>
                                <p:cTn id="1560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562" dur="500"/>
                                        <p:tgtEl>
                                          <p:spTgt spid="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3" nodeType="afterEffect" fill="hold">
                            <p:stCondLst>
                              <p:cond delay="7500"/>
                            </p:stCondLst>
                            <p:childTnLst>
                              <p:par>
                                <p:cTn id="1564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566" dur="500"/>
                                        <p:tgtEl>
                                          <p:spTgt spid="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7" nodeType="afterEffect" fill="hold">
                            <p:stCondLst>
                              <p:cond delay="8000"/>
                            </p:stCondLst>
                            <p:childTnLst>
                              <p:par>
                                <p:cTn id="1568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570" dur="500"/>
                                        <p:tgtEl>
                                          <p:spTgt spid="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1" nodeType="afterEffect" fill="hold">
                            <p:stCondLst>
                              <p:cond delay="8500"/>
                            </p:stCondLst>
                            <p:childTnLst>
                              <p:par>
                                <p:cTn id="1572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574" dur="500"/>
                                        <p:tgtEl>
                                          <p:spTgt spid="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5" nodeType="afterEffect" fill="hold">
                            <p:stCondLst>
                              <p:cond delay="9000"/>
                            </p:stCondLst>
                            <p:childTnLst>
                              <p:par>
                                <p:cTn id="1576" nodeType="afterEffect" fill="hold" presetClass="entr" presetID="9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578" dur="500"/>
                                        <p:tgtEl>
                                          <p:spTgt spid="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9" nodeType="afterEffect" fill="hold">
                            <p:stCondLst>
                              <p:cond delay="10500"/>
                            </p:stCondLst>
                            <p:childTnLst>
                              <p:par>
                                <p:cTn id="1580" nodeType="afterEffect" fill="hold" presetClass="entr" presetID="17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582" dur="500" fill="hold"/>
                                        <p:tgtEl>
                                          <p:spTgt spid="6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583" dur="500" fill="hold"/>
                                        <p:tgtEl>
                                          <p:spTgt spid="6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584" dur="500" fill="hold"/>
                                        <p:tgtEl>
                                          <p:spTgt spid="6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585" dur="500" fill="hold"/>
                                        <p:tgtEl>
                                          <p:spTgt spid="6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6" nodeType="afterEffect" fill="hold">
                            <p:stCondLst>
                              <p:cond delay="11000"/>
                            </p:stCondLst>
                            <p:childTnLst>
                              <p:par>
                                <p:cTn id="1587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589" dur="500"/>
                                        <p:tgtEl>
                                          <p:spTgt spid="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0" nodeType="afterEffect" fill="hold">
                            <p:stCondLst>
                              <p:cond delay="11500"/>
                            </p:stCondLst>
                            <p:childTnLst>
                              <p:par>
                                <p:cTn id="1591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593" dur="500"/>
                                        <p:tgtEl>
                                          <p:spTgt spid="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4" nodeType="afterEffect" fill="hold">
                            <p:stCondLst>
                              <p:cond delay="12000"/>
                            </p:stCondLst>
                            <p:childTnLst>
                              <p:par>
                                <p:cTn id="1595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597" dur="500"/>
                                        <p:tgtEl>
                                          <p:spTgt spid="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8" nodeType="afterEffect" fill="hold">
                            <p:stCondLst>
                              <p:cond delay="12500"/>
                            </p:stCondLst>
                            <p:childTnLst>
                              <p:par>
                                <p:cTn id="1599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601" dur="500"/>
                                        <p:tgtEl>
                                          <p:spTgt spid="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2" nodeType="afterEffect" fill="hold">
                            <p:stCondLst>
                              <p:cond delay="13000"/>
                            </p:stCondLst>
                            <p:childTnLst>
                              <p:par>
                                <p:cTn id="1603" nodeType="afterEffect" fill="hold" presetClass="entr" presetID="17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605" dur="500" fill="hold"/>
                                        <p:tgtEl>
                                          <p:spTgt spid="7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06" dur="500" fill="hold"/>
                                        <p:tgtEl>
                                          <p:spTgt spid="7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07" dur="500" fill="hold"/>
                                        <p:tgtEl>
                                          <p:spTgt spid="7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08" dur="500" fill="hold"/>
                                        <p:tgtEl>
                                          <p:spTgt spid="7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9" nodeType="afterEffect" fill="hold">
                            <p:stCondLst>
                              <p:cond delay="13500"/>
                            </p:stCondLst>
                            <p:childTnLst>
                              <p:par>
                                <p:cTn id="1610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612" dur="500"/>
                                        <p:tgtEl>
                                          <p:spTgt spid="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3" nodeType="afterEffect" fill="hold">
                            <p:stCondLst>
                              <p:cond delay="14000"/>
                            </p:stCondLst>
                            <p:childTnLst>
                              <p:par>
                                <p:cTn id="1614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616" dur="500"/>
                                        <p:tgtEl>
                                          <p:spTgt spid="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7" nodeType="afterEffect" fill="hold">
                            <p:stCondLst>
                              <p:cond delay="14500"/>
                            </p:stCondLst>
                            <p:childTnLst>
                              <p:par>
                                <p:cTn id="1618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620" dur="500"/>
                                        <p:tgtEl>
                                          <p:spTgt spid="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1" nodeType="afterEffect" fill="hold">
                            <p:stCondLst>
                              <p:cond delay="15000"/>
                            </p:stCondLst>
                            <p:childTnLst>
                              <p:par>
                                <p:cTn id="1622" nodeType="afterEffect" fill="hold" presetClass="entr" presetID="18" presetSubtype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strips(upLeft)" transition="in">
                                      <p:cBhvr additive="repl">
                                        <p:cTn id="1624" dur="500"/>
                                        <p:tgtEl>
                                          <p:spTgt spid="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5" nodeType="afterEffect" fill="hold">
                            <p:stCondLst>
                              <p:cond delay="15500"/>
                            </p:stCondLst>
                            <p:childTnLst>
                              <p:par>
                                <p:cTn id="1626" nodeType="afterEffect" fill="hold" presetClass="entr" presetID="9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628" dur="500"/>
                                        <p:tgtEl>
                                          <p:spTgt spid="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9" nodeType="afterEffect" fill="hold">
                            <p:stCondLst>
                              <p:cond delay="17000"/>
                            </p:stCondLst>
                            <p:childTnLst>
                              <p:par>
                                <p:cTn id="1630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632" dur="500"/>
                                        <p:tgtEl>
                                          <p:spTgt spid="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3" nodeType="afterEffect" fill="hold">
                            <p:stCondLst>
                              <p:cond delay="17500"/>
                            </p:stCondLst>
                            <p:childTnLst>
                              <p:par>
                                <p:cTn id="1634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636" dur="500"/>
                                        <p:tgtEl>
                                          <p:spTgt spid="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7" nodeType="afterEffect" fill="hold">
                            <p:stCondLst>
                              <p:cond delay="18000"/>
                            </p:stCondLst>
                            <p:childTnLst>
                              <p:par>
                                <p:cTn id="1638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640" dur="500"/>
                                        <p:tgtEl>
                                          <p:spTgt spid="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1" nodeType="afterEffect" fill="hold">
                            <p:stCondLst>
                              <p:cond delay="18500"/>
                            </p:stCondLst>
                            <p:childTnLst>
                              <p:par>
                                <p:cTn id="1642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644" dur="500"/>
                                        <p:tgtEl>
                                          <p:spTgt spid="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5" nodeType="afterEffect" fill="hold">
                            <p:stCondLst>
                              <p:cond delay="19000"/>
                            </p:stCondLst>
                            <p:childTnLst>
                              <p:par>
                                <p:cTn id="1646" nodeType="afterEffect" fill="hold" presetClass="entr" presetID="17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648" dur="500" fill="hold"/>
                                        <p:tgtEl>
                                          <p:spTgt spid="7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49" dur="500" fill="hold"/>
                                        <p:tgtEl>
                                          <p:spTgt spid="7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50" dur="500" fill="hold"/>
                                        <p:tgtEl>
                                          <p:spTgt spid="7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51" dur="500" fill="hold"/>
                                        <p:tgtEl>
                                          <p:spTgt spid="7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2" nodeType="afterEffect" fill="hold">
                            <p:stCondLst>
                              <p:cond delay="19500"/>
                            </p:stCondLst>
                            <p:childTnLst>
                              <p:par>
                                <p:cTn id="1653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655" dur="500"/>
                                        <p:tgtEl>
                                          <p:spTgt spid="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6" nodeType="afterEffect" fill="hold">
                            <p:stCondLst>
                              <p:cond delay="20000"/>
                            </p:stCondLst>
                            <p:childTnLst>
                              <p:par>
                                <p:cTn id="1657" nodeType="afterEffect" fill="hold" presetClass="entr" presetID="17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659" dur="500" fill="hold"/>
                                        <p:tgtEl>
                                          <p:spTgt spid="7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60" dur="500" fill="hold"/>
                                        <p:tgtEl>
                                          <p:spTgt spid="7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61" dur="500" fill="hold"/>
                                        <p:tgtEl>
                                          <p:spTgt spid="7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62" dur="500" fill="hold"/>
                                        <p:tgtEl>
                                          <p:spTgt spid="7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3" nodeType="afterEffect" fill="hold">
                            <p:stCondLst>
                              <p:cond delay="20500"/>
                            </p:stCondLst>
                            <p:childTnLst>
                              <p:par>
                                <p:cTn id="1664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666" dur="500"/>
                                        <p:tgtEl>
                                          <p:spTgt spid="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7" nodeType="afterEffect" fill="hold">
                            <p:stCondLst>
                              <p:cond delay="21000"/>
                            </p:stCondLst>
                            <p:childTnLst>
                              <p:par>
                                <p:cTn id="1668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670" dur="500"/>
                                        <p:tgtEl>
                                          <p:spTgt spid="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1" nodeType="afterEffect" fill="hold">
                            <p:stCondLst>
                              <p:cond delay="21500"/>
                            </p:stCondLst>
                            <p:childTnLst>
                              <p:par>
                                <p:cTn id="1672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674" dur="500"/>
                                        <p:tgtEl>
                                          <p:spTgt spid="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5" nodeType="afterEffect" fill="hold">
                            <p:stCondLst>
                              <p:cond delay="22000"/>
                            </p:stCondLst>
                            <p:childTnLst>
                              <p:par>
                                <p:cTn id="1676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678" dur="500"/>
                                        <p:tgtEl>
                                          <p:spTgt spid="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9" nodeType="afterEffect" fill="hold">
                            <p:stCondLst>
                              <p:cond delay="22500"/>
                            </p:stCondLst>
                            <p:childTnLst>
                              <p:par>
                                <p:cTn id="1680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682" dur="500"/>
                                        <p:tgtEl>
                                          <p:spTgt spid="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3" nodeType="afterEffect" fill="hold">
                            <p:stCondLst>
                              <p:cond delay="23000"/>
                            </p:stCondLst>
                            <p:childTnLst>
                              <p:par>
                                <p:cTn id="1684" nodeType="afterEffect" fill="hold" presetClass="entr" presetID="17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686" dur="500" fill="hold"/>
                                        <p:tgtEl>
                                          <p:spTgt spid="6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87" dur="500" fill="hold"/>
                                        <p:tgtEl>
                                          <p:spTgt spid="6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88" dur="500" fill="hold"/>
                                        <p:tgtEl>
                                          <p:spTgt spid="6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89" dur="500" fill="hold"/>
                                        <p:tgtEl>
                                          <p:spTgt spid="6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0" nodeType="afterEffect" fill="hold">
                            <p:stCondLst>
                              <p:cond delay="23500"/>
                            </p:stCondLst>
                            <p:childTnLst>
                              <p:par>
                                <p:cTn id="1691" nodeType="afterEffect" fill="hold" presetClass="entr" presetID="17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693" dur="500" fill="hold"/>
                                        <p:tgtEl>
                                          <p:spTgt spid="7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94" dur="500" fill="hold"/>
                                        <p:tgtEl>
                                          <p:spTgt spid="7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95" dur="500" fill="hold"/>
                                        <p:tgtEl>
                                          <p:spTgt spid="7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96" dur="500" fill="hold"/>
                                        <p:tgtEl>
                                          <p:spTgt spid="7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7" nodeType="clickEffect" fill="hold">
                      <p:stCondLst>
                        <p:cond delay="indefinite"/>
                      </p:stCondLst>
                      <p:childTnLst>
                        <p:par>
                          <p:cTn id="169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699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701" dur="500"/>
                                        <p:tgtEl>
                                          <p:spTgt spid="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2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1703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705" dur="500"/>
                                        <p:tgtEl>
                                          <p:spTgt spid="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6" nodeType="afterEffect" fill="hold">
                            <p:stCondLst>
                              <p:cond delay="1000"/>
                            </p:stCondLst>
                            <p:childTnLst>
                              <p:par>
                                <p:cTn id="1707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709" dur="500"/>
                                        <p:tgtEl>
                                          <p:spTgt spid="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0" nodeType="afterEffect" fill="hold">
                            <p:stCondLst>
                              <p:cond delay="1500"/>
                            </p:stCondLst>
                            <p:childTnLst>
                              <p:par>
                                <p:cTn id="1711" nodeType="afterEffect" fill="hold" presetClass="entr" presetID="23" presetSubtype="28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713" dur="500" fill="hold"/>
                                        <p:tgtEl>
                                          <p:spTgt spid="7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714" dur="500" fill="hold"/>
                                        <p:tgtEl>
                                          <p:spTgt spid="7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5" nodeType="afterEffect" fill="hold">
                            <p:stCondLst>
                              <p:cond delay="2000"/>
                            </p:stCondLst>
                            <p:childTnLst>
                              <p:par>
                                <p:cTn id="1716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718" dur="500"/>
                                        <p:tgtEl>
                                          <p:spTgt spid="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9" nodeType="afterEffect" fill="hold">
                            <p:stCondLst>
                              <p:cond delay="2500"/>
                            </p:stCondLst>
                            <p:childTnLst>
                              <p:par>
                                <p:cTn id="1720" nodeType="afterEffect" fill="hold" presetClass="entr" presetID="9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722" dur="500"/>
                                        <p:tgtEl>
                                          <p:spTgt spid="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3" nodeType="afterEffect" fill="hold">
                            <p:stCondLst>
                              <p:cond delay="4000"/>
                            </p:stCondLst>
                            <p:childTnLst>
                              <p:par>
                                <p:cTn id="1724" nodeType="afterEffect" fill="hold" presetClass="entr" presetID="17" presetSubtype="1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7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726" dur="500" fill="hold"/>
                                        <p:tgtEl>
                                          <p:spTgt spid="7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727" dur="500" fill="hold"/>
                                        <p:tgtEl>
                                          <p:spTgt spid="7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728" dur="500" fill="hold"/>
                                        <p:tgtEl>
                                          <p:spTgt spid="7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729" dur="500" fill="hold"/>
                                        <p:tgtEl>
                                          <p:spTgt spid="7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0" nodeType="afterEffect" fill="hold">
                            <p:stCondLst>
                              <p:cond delay="6500"/>
                            </p:stCondLst>
                            <p:childTnLst>
                              <p:par>
                                <p:cTn id="1731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733" dur="500"/>
                                        <p:tgtEl>
                                          <p:spTgt spid="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4" nodeType="afterEffect" fill="hold">
                            <p:stCondLst>
                              <p:cond delay="7000"/>
                            </p:stCondLst>
                            <p:childTnLst>
                              <p:par>
                                <p:cTn id="1735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737" dur="500"/>
                                        <p:tgtEl>
                                          <p:spTgt spid="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8" nodeType="afterEffect" fill="hold">
                            <p:stCondLst>
                              <p:cond delay="7500"/>
                            </p:stCondLst>
                            <p:childTnLst>
                              <p:par>
                                <p:cTn id="1739" nodeType="afterEffect" fill="hold" presetClass="entr" presetID="9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741" dur="500"/>
                                        <p:tgtEl>
                                          <p:spTgt spid="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2" nodeType="afterEffect" fill="hold">
                            <p:stCondLst>
                              <p:cond delay="9000"/>
                            </p:stCondLst>
                            <p:childTnLst>
                              <p:par>
                                <p:cTn id="1743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745" dur="500"/>
                                        <p:tgtEl>
                                          <p:spTgt spid="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6" nodeType="afterEffect" fill="hold">
                            <p:stCondLst>
                              <p:cond delay="9500"/>
                            </p:stCondLst>
                            <p:childTnLst>
                              <p:par>
                                <p:cTn id="1747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749" dur="500"/>
                                        <p:tgtEl>
                                          <p:spTgt spid="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0" nodeType="afterEffect" fill="hold">
                            <p:stCondLst>
                              <p:cond delay="10000"/>
                            </p:stCondLst>
                            <p:childTnLst>
                              <p:par>
                                <p:cTn id="1751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753" dur="500"/>
                                        <p:tgtEl>
                                          <p:spTgt spid="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4" nodeType="afterEffect" fill="hold">
                            <p:stCondLst>
                              <p:cond delay="10500"/>
                            </p:stCondLst>
                            <p:childTnLst>
                              <p:par>
                                <p:cTn id="1755" nodeType="afterEffect" fill="hold" presetClass="entr" presetID="17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757" dur="500" fill="hold"/>
                                        <p:tgtEl>
                                          <p:spTgt spid="6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758" dur="500" fill="hold"/>
                                        <p:tgtEl>
                                          <p:spTgt spid="6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759" dur="500" fill="hold"/>
                                        <p:tgtEl>
                                          <p:spTgt spid="6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760" dur="500" fill="hold"/>
                                        <p:tgtEl>
                                          <p:spTgt spid="6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1" nodeType="afterEffect" fill="hold">
                            <p:stCondLst>
                              <p:cond delay="11000"/>
                            </p:stCondLst>
                            <p:childTnLst>
                              <p:par>
                                <p:cTn id="1762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764" dur="500"/>
                                        <p:tgtEl>
                                          <p:spTgt spid="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5" nodeType="afterEffect" fill="hold">
                            <p:stCondLst>
                              <p:cond delay="11500"/>
                            </p:stCondLst>
                            <p:childTnLst>
                              <p:par>
                                <p:cTn id="1766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768" dur="500"/>
                                        <p:tgtEl>
                                          <p:spTgt spid="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Text Box 2"/>
          <p:cNvSpPr/>
          <p:nvPr/>
        </p:nvSpPr>
        <p:spPr>
          <a:xfrm>
            <a:off x="228600" y="5715000"/>
            <a:ext cx="8686800" cy="99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1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¤ Les athlètes souffrant du syndrome de surentraînement semblent maintenir un faible niveau de Gln plasmatique pendant des mois ou des années (Rowbottom </a:t>
            </a:r>
            <a:r>
              <a:rPr b="1" i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et al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 1996).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720" name="Text Box 3"/>
          <p:cNvSpPr/>
          <p:nvPr/>
        </p:nvSpPr>
        <p:spPr>
          <a:xfrm>
            <a:off x="0" y="2209680"/>
            <a:ext cx="8686800" cy="149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2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¤ Cet état catabolique permanent pourrait induire des réactions en cascade, impliquant les fonctionnements : 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cérébral</a:t>
            </a: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(</a:t>
            </a: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Symbol"/>
                <a:ea typeface="Symbol"/>
              </a:rPr>
              <a:t></a:t>
            </a: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sensibilité à la douleur), 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hépatique</a:t>
            </a: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(</a:t>
            </a: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Symbol"/>
                <a:ea typeface="Symbol"/>
              </a:rPr>
              <a:t></a:t>
            </a: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néoglucogenèse) et 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rénal</a:t>
            </a: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(</a:t>
            </a: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Symbol"/>
                <a:ea typeface="Symbol"/>
              </a:rPr>
              <a:t></a:t>
            </a: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taux de filtration glomérulaire), 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mais aucune étude n’a pu mettre ces mécanismes en évidence.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721" name="Line 4"/>
          <p:cNvSpPr/>
          <p:nvPr/>
        </p:nvSpPr>
        <p:spPr>
          <a:xfrm>
            <a:off x="2743200" y="1981080"/>
            <a:ext cx="3352680" cy="0"/>
          </a:xfrm>
          <a:prstGeom prst="line">
            <a:avLst/>
          </a:prstGeom>
          <a:ln w="572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722" name="Text Box 5"/>
          <p:cNvSpPr/>
          <p:nvPr/>
        </p:nvSpPr>
        <p:spPr>
          <a:xfrm>
            <a:off x="0" y="228600"/>
            <a:ext cx="8686800" cy="151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3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¤ Un catabolisme important des stocks en Gln entraîne un stress immunitaire (inflammations, réactivité affaiblie…), pouvant être à l’origine de la 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balance négative entre dégradation et synthèse</a:t>
            </a: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des protéines musculaires que l’on observe chez les sportifs fatigués.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723" name="Line 6"/>
          <p:cNvSpPr/>
          <p:nvPr/>
        </p:nvSpPr>
        <p:spPr>
          <a:xfrm>
            <a:off x="2743200" y="4038480"/>
            <a:ext cx="3352680" cy="0"/>
          </a:xfrm>
          <a:prstGeom prst="line">
            <a:avLst/>
          </a:prstGeom>
          <a:ln w="572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724" name="Text Box 7"/>
          <p:cNvSpPr/>
          <p:nvPr/>
        </p:nvSpPr>
        <p:spPr>
          <a:xfrm>
            <a:off x="0" y="4267080"/>
            <a:ext cx="8686800" cy="99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1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¤ La baisse de concentration en Gln peut être due : à son métabolisme énergétique, à son incorporation protéique, à son stockage organique … (non déterminé aujourd’hui)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725" name="Line 8"/>
          <p:cNvSpPr/>
          <p:nvPr/>
        </p:nvSpPr>
        <p:spPr>
          <a:xfrm>
            <a:off x="2819520" y="5638680"/>
            <a:ext cx="3352680" cy="0"/>
          </a:xfrm>
          <a:prstGeom prst="line">
            <a:avLst/>
          </a:prstGeom>
          <a:ln w="572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</p:spTree>
  </p:cSld>
  <p:transition spd="med">
    <p:split dir="out" orient="vert"/>
  </p:transition>
  <p:timing>
    <p:tnLst>
      <p:par>
        <p:cTn id="1769" dur="indefinite" restart="never" nodeType="tmRoot">
          <p:childTnLst>
            <p:seq>
              <p:cTn id="1770" dur="indefinite" nodeType="mainSeq">
                <p:childTnLst>
                  <p:par>
                    <p:cTn id="1771" nodeType="clickEffect" fill="hold">
                      <p:stCondLst>
                        <p:cond delay="0"/>
                      </p:stCondLst>
                      <p:childTnLst>
                        <p:par>
                          <p:cTn id="177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773" nodeType="after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1775" dur="500"/>
                                        <p:tgtEl>
                                          <p:spTgt spid="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6" nodeType="clickEffect" fill="hold">
                      <p:stCondLst>
                        <p:cond delay="indefinite"/>
                      </p:stCondLst>
                      <p:childTnLst>
                        <p:par>
                          <p:cTn id="177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778" nodeType="clickEffect" fill="hold" presetClass="entr" presetID="17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780" dur="500" fill="hold"/>
                                        <p:tgtEl>
                                          <p:spTgt spid="7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781" dur="500" fill="hold"/>
                                        <p:tgtEl>
                                          <p:spTgt spid="7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animClr clrSpc="rgb">
                                <p:cBhvr>
                                  <p:cTn id="178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22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b2b2b2"/>
                                </p:to>
                              </p:animClr>
                            </p:childTnLst>
                          </p:cTn>
                        </p:par>
                        <p:par>
                          <p:cTn id="1783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1784" nodeType="after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1786" dur="500"/>
                                        <p:tgtEl>
                                          <p:spTgt spid="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7" nodeType="clickEffect" fill="hold">
                      <p:stCondLst>
                        <p:cond delay="indefinite"/>
                      </p:stCondLst>
                      <p:childTnLst>
                        <p:par>
                          <p:cTn id="178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789" nodeType="clickEffect" fill="hold" presetClass="entr" presetID="17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791" dur="500" fill="hold"/>
                                        <p:tgtEl>
                                          <p:spTgt spid="7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792" dur="500" fill="hold"/>
                                        <p:tgtEl>
                                          <p:spTgt spid="7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animClr clrSpc="rgb">
                                <p:cBhvr>
                                  <p:cTn id="179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20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b2b2b2"/>
                                </p:to>
                              </p:animClr>
                            </p:childTnLst>
                          </p:cTn>
                        </p:par>
                        <p:par>
                          <p:cTn id="1794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1795" nodeType="after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1797" dur="500"/>
                                        <p:tgtEl>
                                          <p:spTgt spid="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8" nodeType="clickEffect" fill="hold">
                      <p:stCondLst>
                        <p:cond delay="indefinite"/>
                      </p:stCondLst>
                      <p:childTnLst>
                        <p:par>
                          <p:cTn id="179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800" nodeType="clickEffect" fill="hold" presetClass="entr" presetID="17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802" dur="500" fill="hold"/>
                                        <p:tgtEl>
                                          <p:spTgt spid="7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803" dur="500" fill="hold"/>
                                        <p:tgtEl>
                                          <p:spTgt spid="7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animClr clrSpc="rgb">
                                <p:cBhvr>
                                  <p:cTn id="180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24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b2b2b2"/>
                                </p:to>
                              </p:animClr>
                            </p:childTnLst>
                          </p:cTn>
                        </p:par>
                        <p:par>
                          <p:cTn id="1805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1806" nodeType="after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1808" dur="500"/>
                                        <p:tgtEl>
                                          <p:spTgt spid="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Text Box 2"/>
          <p:cNvSpPr/>
          <p:nvPr/>
        </p:nvSpPr>
        <p:spPr>
          <a:xfrm>
            <a:off x="228600" y="5362560"/>
            <a:ext cx="8686800" cy="11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NB. : l’ensemble de ces réactions traduisent des manques de réactivité des lymphocytes, responsables de la plupart des déclenchements de proliférations immunitaires. Ils traduisent donc un </a:t>
            </a:r>
            <a:r>
              <a:rPr b="1" i="1" lang="fr-FR" sz="1800" strike="noStrike" u="none">
                <a:solidFill>
                  <a:srgbClr val="4eff17"/>
                </a:solidFill>
                <a:effectLst/>
                <a:uFillTx/>
                <a:latin typeface="Arial"/>
              </a:rPr>
              <a:t>affaiblissement de la réactivité immunitaire</a:t>
            </a:r>
            <a:r>
              <a:rPr b="1" i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à l’échelle de l’organisme.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727" name="Text Box 3"/>
          <p:cNvSpPr/>
          <p:nvPr/>
        </p:nvSpPr>
        <p:spPr>
          <a:xfrm>
            <a:off x="228600" y="263520"/>
            <a:ext cx="8686800" cy="398880"/>
          </a:xfrm>
          <a:prstGeom prst="rect">
            <a:avLst/>
          </a:prstGeom>
          <a:noFill/>
          <a:ln w="255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12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Symptomatologie immunologique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728" name="Text Box 4"/>
          <p:cNvSpPr/>
          <p:nvPr/>
        </p:nvSpPr>
        <p:spPr>
          <a:xfrm>
            <a:off x="1523880" y="1247760"/>
            <a:ext cx="67057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¤ 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Symbol"/>
                <a:ea typeface="Symbol"/>
              </a:rPr>
              <a:t>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susceptibilité et de la sévérité aux allergies, 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729" name="Text Box 5"/>
          <p:cNvSpPr/>
          <p:nvPr/>
        </p:nvSpPr>
        <p:spPr>
          <a:xfrm>
            <a:off x="1600200" y="1704960"/>
            <a:ext cx="502920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sng">
                <a:solidFill>
                  <a:srgbClr val="ffff00"/>
                </a:solidFill>
                <a:effectLst/>
                <a:uFillTx/>
                <a:latin typeface="Arial"/>
              </a:rPr>
              <a:t>¤ fièvres glandulaires non confirmées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730" name="Text Box 6"/>
          <p:cNvSpPr/>
          <p:nvPr/>
        </p:nvSpPr>
        <p:spPr>
          <a:xfrm>
            <a:off x="1600200" y="2162160"/>
            <a:ext cx="502920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sng">
                <a:solidFill>
                  <a:srgbClr val="ffff00"/>
                </a:solidFill>
                <a:effectLst/>
                <a:uFillTx/>
                <a:latin typeface="Arial"/>
              </a:rPr>
              <a:t>¤ sensations d’inflammations glandulaires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731" name="Text Box 7"/>
          <p:cNvSpPr/>
          <p:nvPr/>
        </p:nvSpPr>
        <p:spPr>
          <a:xfrm>
            <a:off x="1523880" y="2619360"/>
            <a:ext cx="67057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¤ 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Symbol"/>
                <a:ea typeface="Symbol"/>
              </a:rPr>
              <a:t>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baisse de la capacité fonctionnelle des neutrophiles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732" name="Text Box 8"/>
          <p:cNvSpPr/>
          <p:nvPr/>
        </p:nvSpPr>
        <p:spPr>
          <a:xfrm>
            <a:off x="1523880" y="3076560"/>
            <a:ext cx="426744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¤ 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Symbol"/>
                <a:ea typeface="Symbol"/>
              </a:rPr>
              <a:t>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du nombre total de lymphocytes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733" name="Text Box 10"/>
          <p:cNvSpPr/>
          <p:nvPr/>
        </p:nvSpPr>
        <p:spPr>
          <a:xfrm>
            <a:off x="1523880" y="3610080"/>
            <a:ext cx="571500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¤ 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Symbol"/>
                <a:ea typeface="Symbol"/>
              </a:rPr>
              <a:t>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du nombre d’éosinophiles sanguins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734" name="Text Box 12"/>
          <p:cNvSpPr/>
          <p:nvPr/>
        </p:nvSpPr>
        <p:spPr>
          <a:xfrm>
            <a:off x="1523880" y="4067280"/>
            <a:ext cx="37339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¤ 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Symbol"/>
                <a:ea typeface="Symbol"/>
              </a:rPr>
              <a:t>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des infections bactériennes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735" name="Text Box 13"/>
          <p:cNvSpPr/>
          <p:nvPr/>
        </p:nvSpPr>
        <p:spPr>
          <a:xfrm>
            <a:off x="1523880" y="4586400"/>
            <a:ext cx="563904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¤ réactivation des infections virales de l’herpes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</p:spTree>
  </p:cSld>
  <p:transition spd="med">
    <p:split dir="out" orient="vert"/>
  </p:transition>
  <p:timing>
    <p:tnLst>
      <p:par>
        <p:cTn id="1809" dur="indefinite" restart="never" nodeType="tmRoot">
          <p:childTnLst>
            <p:seq>
              <p:cTn id="1810" dur="indefinite" nodeType="mainSeq">
                <p:childTnLst>
                  <p:par>
                    <p:cTn id="1811" nodeType="clickEffect" fill="hold">
                      <p:stCondLst>
                        <p:cond delay="0"/>
                      </p:stCondLst>
                      <p:childTnLst>
                        <p:par>
                          <p:cTn id="181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813" nodeType="after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15" dur="500" fill="hold"/>
                                        <p:tgtEl>
                                          <p:spTgt spid="7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16" dur="500" fill="hold"/>
                                        <p:tgtEl>
                                          <p:spTgt spid="7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7" nodeType="clickEffect" fill="hold">
                      <p:stCondLst>
                        <p:cond delay="indefinite"/>
                      </p:stCondLst>
                      <p:childTnLst>
                        <p:par>
                          <p:cTn id="181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819" nodeType="click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1821" dur="500"/>
                                        <p:tgtEl>
                                          <p:spTgt spid="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2" nodeType="clickEffect" fill="hold">
                      <p:stCondLst>
                        <p:cond delay="indefinite"/>
                      </p:stCondLst>
                      <p:childTnLst>
                        <p:par>
                          <p:cTn id="182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824" nodeType="click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1826" dur="500"/>
                                        <p:tgtEl>
                                          <p:spTgt spid="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18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28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b2b2b2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  <p:par>
                    <p:cTn id="1828" nodeType="clickEffect" fill="hold">
                      <p:stCondLst>
                        <p:cond delay="indefinite"/>
                      </p:stCondLst>
                      <p:childTnLst>
                        <p:par>
                          <p:cTn id="182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830" nodeType="click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1832" dur="500"/>
                                        <p:tgtEl>
                                          <p:spTgt spid="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18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29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b2b2b2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  <p:par>
                    <p:cTn id="1834" nodeType="clickEffect" fill="hold">
                      <p:stCondLst>
                        <p:cond delay="indefinite"/>
                      </p:stCondLst>
                      <p:childTnLst>
                        <p:par>
                          <p:cTn id="183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836" nodeType="click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1838" dur="500"/>
                                        <p:tgtEl>
                                          <p:spTgt spid="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183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30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b2b2b2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  <p:par>
                    <p:cTn id="1840" nodeType="clickEffect" fill="hold">
                      <p:stCondLst>
                        <p:cond delay="indefinite"/>
                      </p:stCondLst>
                      <p:childTnLst>
                        <p:par>
                          <p:cTn id="184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842" nodeType="click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1844" dur="500"/>
                                        <p:tgtEl>
                                          <p:spTgt spid="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18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31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b2b2b2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  <p:par>
                    <p:cTn id="1846" nodeType="clickEffect" fill="hold">
                      <p:stCondLst>
                        <p:cond delay="indefinite"/>
                      </p:stCondLst>
                      <p:childTnLst>
                        <p:par>
                          <p:cTn id="184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848" nodeType="click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1850" dur="500"/>
                                        <p:tgtEl>
                                          <p:spTgt spid="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185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32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b2b2b2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  <p:par>
                    <p:cTn id="1852" nodeType="clickEffect" fill="hold">
                      <p:stCondLst>
                        <p:cond delay="indefinite"/>
                      </p:stCondLst>
                      <p:childTnLst>
                        <p:par>
                          <p:cTn id="185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854" nodeType="click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1856" dur="500"/>
                                        <p:tgtEl>
                                          <p:spTgt spid="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18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33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b2b2b2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  <p:par>
                    <p:cTn id="1858" nodeType="clickEffect" fill="hold">
                      <p:stCondLst>
                        <p:cond delay="indefinite"/>
                      </p:stCondLst>
                      <p:childTnLst>
                        <p:par>
                          <p:cTn id="185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860" nodeType="click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1862" dur="500"/>
                                        <p:tgtEl>
                                          <p:spTgt spid="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186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34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b2b2b2"/>
                                </p:to>
                              </p:animClr>
                            </p:childTnLst>
                          </p:cTn>
                        </p:par>
                        <p:par>
                          <p:cTn id="1864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1865" nodeType="after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1867" dur="500"/>
                                        <p:tgtEl>
                                          <p:spTgt spid="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186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35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b2b2b2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Text Box 2"/>
          <p:cNvSpPr/>
          <p:nvPr/>
        </p:nvSpPr>
        <p:spPr>
          <a:xfrm>
            <a:off x="2733840" y="3276720"/>
            <a:ext cx="3240720" cy="581760"/>
          </a:xfrm>
          <a:prstGeom prst="rect">
            <a:avLst/>
          </a:prstGeom>
          <a:noFill/>
          <a:ln w="284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fff00"/>
                </a:solidFill>
                <a:effectLst/>
                <a:uFillTx/>
                <a:latin typeface="Comic Sans MS"/>
              </a:rPr>
              <a:t>Hypothèse hormonale</a:t>
            </a:r>
            <a:endParaRPr b="1" lang="en-US" sz="32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</p:spTree>
  </p:cSld>
  <p:transition spd="med">
    <p:split dir="out" orient="vert"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7" name="Picture 2" descr="Cerveau"/>
          <p:cNvPicPr/>
          <p:nvPr/>
        </p:nvPicPr>
        <p:blipFill>
          <a:blip r:embed="rId1"/>
          <a:stretch/>
        </p:blipFill>
        <p:spPr>
          <a:xfrm>
            <a:off x="1143000" y="228600"/>
            <a:ext cx="1828800" cy="1625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8" name="Text Box 3"/>
          <p:cNvSpPr/>
          <p:nvPr/>
        </p:nvSpPr>
        <p:spPr>
          <a:xfrm>
            <a:off x="6485760" y="380880"/>
            <a:ext cx="2072880" cy="58140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Causes possibles</a:t>
            </a:r>
            <a:endParaRPr b="1" lang="en-US" sz="16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du surentraînement</a:t>
            </a:r>
            <a:endParaRPr b="1" lang="en-US" sz="16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739" name="Line 4"/>
          <p:cNvSpPr/>
          <p:nvPr/>
        </p:nvSpPr>
        <p:spPr>
          <a:xfrm flipH="1">
            <a:off x="5867280" y="685800"/>
            <a:ext cx="533520" cy="0"/>
          </a:xfrm>
          <a:prstGeom prst="line">
            <a:avLst/>
          </a:prstGeom>
          <a:ln w="3816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740" name="Text Box 5"/>
          <p:cNvSpPr/>
          <p:nvPr/>
        </p:nvSpPr>
        <p:spPr>
          <a:xfrm>
            <a:off x="3894120" y="380880"/>
            <a:ext cx="1960200" cy="58140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Stress physiques</a:t>
            </a:r>
            <a:endParaRPr b="1" lang="en-US" sz="16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et psychologiques</a:t>
            </a:r>
            <a:endParaRPr b="1" lang="en-US" sz="16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741" name="Line 6"/>
          <p:cNvSpPr/>
          <p:nvPr/>
        </p:nvSpPr>
        <p:spPr>
          <a:xfrm flipH="1">
            <a:off x="2819160" y="685800"/>
            <a:ext cx="1066680" cy="0"/>
          </a:xfrm>
          <a:prstGeom prst="line">
            <a:avLst/>
          </a:prstGeom>
          <a:ln w="3816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742" name="Text Box 7"/>
          <p:cNvSpPr/>
          <p:nvPr/>
        </p:nvSpPr>
        <p:spPr>
          <a:xfrm>
            <a:off x="1227240" y="1523880"/>
            <a:ext cx="1509480" cy="82512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Disfonction</a:t>
            </a:r>
            <a:endParaRPr b="1" lang="en-US" sz="16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hypothalamo-</a:t>
            </a:r>
            <a:endParaRPr b="1" lang="en-US" sz="16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pituitaire</a:t>
            </a:r>
            <a:endParaRPr b="1" lang="en-US" sz="16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743" name="Line 8"/>
          <p:cNvSpPr/>
          <p:nvPr/>
        </p:nvSpPr>
        <p:spPr>
          <a:xfrm>
            <a:off x="1752480" y="990720"/>
            <a:ext cx="0" cy="533160"/>
          </a:xfrm>
          <a:prstGeom prst="line">
            <a:avLst/>
          </a:prstGeom>
          <a:ln w="3816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744" name="Line 9"/>
          <p:cNvSpPr/>
          <p:nvPr/>
        </p:nvSpPr>
        <p:spPr>
          <a:xfrm flipH="1">
            <a:off x="1901520" y="2362320"/>
            <a:ext cx="3240" cy="320400"/>
          </a:xfrm>
          <a:prstGeom prst="line">
            <a:avLst/>
          </a:prstGeom>
          <a:ln w="3816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745" name="Text Box 10"/>
          <p:cNvSpPr/>
          <p:nvPr/>
        </p:nvSpPr>
        <p:spPr>
          <a:xfrm>
            <a:off x="1526760" y="2664000"/>
            <a:ext cx="743760" cy="167796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3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LH</a:t>
            </a:r>
            <a:endParaRPr b="1" lang="en-US" sz="16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FSH</a:t>
            </a:r>
            <a:endParaRPr b="1" lang="en-US" sz="16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GH</a:t>
            </a:r>
            <a:endParaRPr b="1" lang="en-US" sz="16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ACTH</a:t>
            </a:r>
            <a:endParaRPr b="1" lang="en-US" sz="16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TSH</a:t>
            </a:r>
            <a:endParaRPr b="1" lang="en-US" sz="16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746" name="Line 11"/>
          <p:cNvSpPr/>
          <p:nvPr/>
        </p:nvSpPr>
        <p:spPr>
          <a:xfrm>
            <a:off x="2054160" y="2911320"/>
            <a:ext cx="762120" cy="0"/>
          </a:xfrm>
          <a:prstGeom prst="line">
            <a:avLst/>
          </a:prstGeom>
          <a:ln w="2844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747" name="Text Box 12"/>
          <p:cNvSpPr/>
          <p:nvPr/>
        </p:nvSpPr>
        <p:spPr>
          <a:xfrm>
            <a:off x="2826360" y="2682720"/>
            <a:ext cx="2726280" cy="58140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   synthèse d’androgènes</a:t>
            </a:r>
            <a:endParaRPr b="1" lang="en-US" sz="16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synthèse de progestérone</a:t>
            </a:r>
            <a:endParaRPr b="1" lang="en-US" sz="16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748" name="Line 13"/>
          <p:cNvSpPr/>
          <p:nvPr/>
        </p:nvSpPr>
        <p:spPr>
          <a:xfrm>
            <a:off x="2130480" y="3216240"/>
            <a:ext cx="685800" cy="0"/>
          </a:xfrm>
          <a:prstGeom prst="line">
            <a:avLst/>
          </a:prstGeom>
          <a:ln w="2844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749" name="Text Box 14"/>
          <p:cNvSpPr/>
          <p:nvPr/>
        </p:nvSpPr>
        <p:spPr>
          <a:xfrm>
            <a:off x="4195440" y="3444840"/>
            <a:ext cx="1329480" cy="58140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 cortisol</a:t>
            </a:r>
            <a:endParaRPr b="1" lang="en-US" sz="16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aldostérone</a:t>
            </a:r>
            <a:endParaRPr b="1" lang="en-US" sz="16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750" name="Text Box 15"/>
          <p:cNvSpPr/>
          <p:nvPr/>
        </p:nvSpPr>
        <p:spPr>
          <a:xfrm>
            <a:off x="3966840" y="4130640"/>
            <a:ext cx="1521000" cy="58140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Adrénaline</a:t>
            </a:r>
            <a:endParaRPr b="1" lang="en-US" sz="16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noradrénaline</a:t>
            </a:r>
            <a:endParaRPr b="1" lang="en-US" sz="16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751" name="Line 16"/>
          <p:cNvSpPr/>
          <p:nvPr/>
        </p:nvSpPr>
        <p:spPr>
          <a:xfrm>
            <a:off x="2282760" y="3825720"/>
            <a:ext cx="1676520" cy="533520"/>
          </a:xfrm>
          <a:prstGeom prst="line">
            <a:avLst/>
          </a:prstGeom>
          <a:ln w="2844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752" name="Line 17"/>
          <p:cNvSpPr/>
          <p:nvPr/>
        </p:nvSpPr>
        <p:spPr>
          <a:xfrm flipV="1">
            <a:off x="2282760" y="3596760"/>
            <a:ext cx="1828800" cy="228600"/>
          </a:xfrm>
          <a:prstGeom prst="line">
            <a:avLst/>
          </a:prstGeom>
          <a:ln w="2844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753" name="Line 18"/>
          <p:cNvSpPr/>
          <p:nvPr/>
        </p:nvSpPr>
        <p:spPr>
          <a:xfrm>
            <a:off x="2130480" y="3521160"/>
            <a:ext cx="1219320" cy="0"/>
          </a:xfrm>
          <a:prstGeom prst="line">
            <a:avLst/>
          </a:prstGeom>
          <a:ln w="284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754" name="Line 19"/>
          <p:cNvSpPr/>
          <p:nvPr/>
        </p:nvSpPr>
        <p:spPr>
          <a:xfrm flipV="1">
            <a:off x="3349800" y="3352680"/>
            <a:ext cx="2880" cy="16848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755" name="Line 20"/>
          <p:cNvSpPr/>
          <p:nvPr/>
        </p:nvSpPr>
        <p:spPr>
          <a:xfrm>
            <a:off x="5867280" y="1828800"/>
            <a:ext cx="457200" cy="0"/>
          </a:xfrm>
          <a:prstGeom prst="line">
            <a:avLst/>
          </a:prstGeom>
          <a:ln w="284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756" name="Text Box 21"/>
          <p:cNvSpPr/>
          <p:nvPr/>
        </p:nvSpPr>
        <p:spPr>
          <a:xfrm>
            <a:off x="6316560" y="1066680"/>
            <a:ext cx="2815920" cy="125208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Détérioration de la fonction</a:t>
            </a:r>
            <a:endParaRPr b="1" lang="en-US" sz="16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de reproduction:</a:t>
            </a:r>
            <a:endParaRPr b="1" lang="en-US" sz="16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aménorrhée, oligoménorrhée</a:t>
            </a:r>
            <a:endParaRPr b="1" lang="en-US" sz="1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production de sperme</a:t>
            </a:r>
            <a:endParaRPr b="1" lang="en-US" sz="1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</a:t>
            </a:r>
            <a:r>
              <a:rPr b="1" lang="en-US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pulsions sexuelles</a:t>
            </a:r>
            <a:endParaRPr b="1" lang="en-US" sz="1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757" name="Line 22"/>
          <p:cNvSpPr/>
          <p:nvPr/>
        </p:nvSpPr>
        <p:spPr>
          <a:xfrm>
            <a:off x="6397560" y="1844640"/>
            <a:ext cx="0" cy="228600"/>
          </a:xfrm>
          <a:prstGeom prst="line">
            <a:avLst/>
          </a:prstGeom>
          <a:ln w="936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758" name="Line 23"/>
          <p:cNvSpPr/>
          <p:nvPr/>
        </p:nvSpPr>
        <p:spPr>
          <a:xfrm>
            <a:off x="6397560" y="1996920"/>
            <a:ext cx="0" cy="228600"/>
          </a:xfrm>
          <a:prstGeom prst="line">
            <a:avLst/>
          </a:prstGeom>
          <a:ln w="936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759" name="Text Box 24"/>
          <p:cNvSpPr/>
          <p:nvPr/>
        </p:nvSpPr>
        <p:spPr>
          <a:xfrm>
            <a:off x="6330960" y="2454120"/>
            <a:ext cx="2602080" cy="97812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Régulation des substrats</a:t>
            </a:r>
            <a:endParaRPr b="1" lang="en-US" sz="16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cétogénèse</a:t>
            </a:r>
            <a:endParaRPr b="1" lang="en-US" sz="1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glycémie</a:t>
            </a:r>
            <a:endParaRPr b="1" lang="en-US" sz="1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métabolisme de AGL</a:t>
            </a:r>
            <a:endParaRPr b="1" lang="en-US" sz="1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760" name="Line 25"/>
          <p:cNvSpPr/>
          <p:nvPr/>
        </p:nvSpPr>
        <p:spPr>
          <a:xfrm>
            <a:off x="5867280" y="3124080"/>
            <a:ext cx="457200" cy="0"/>
          </a:xfrm>
          <a:prstGeom prst="line">
            <a:avLst/>
          </a:prstGeom>
          <a:ln w="284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761" name="Line 26"/>
          <p:cNvSpPr/>
          <p:nvPr/>
        </p:nvSpPr>
        <p:spPr>
          <a:xfrm>
            <a:off x="6019920" y="3276720"/>
            <a:ext cx="304560" cy="0"/>
          </a:xfrm>
          <a:prstGeom prst="line">
            <a:avLst/>
          </a:prstGeom>
          <a:ln w="284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762" name="Text Box 27"/>
          <p:cNvSpPr/>
          <p:nvPr/>
        </p:nvSpPr>
        <p:spPr>
          <a:xfrm>
            <a:off x="6314760" y="3581280"/>
            <a:ext cx="2670120" cy="76464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Contrôle cardiovasculaire</a:t>
            </a:r>
            <a:endParaRPr b="1" lang="en-US" sz="16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variation de la pres. artérielle</a:t>
            </a:r>
            <a:endParaRPr b="1" lang="en-US" sz="1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variation de la FC</a:t>
            </a:r>
            <a:endParaRPr b="1" lang="en-US" sz="1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763" name="Text Box 28"/>
          <p:cNvSpPr/>
          <p:nvPr/>
        </p:nvSpPr>
        <p:spPr>
          <a:xfrm>
            <a:off x="6319800" y="4435560"/>
            <a:ext cx="2489760" cy="97812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Système immunitaire:</a:t>
            </a:r>
            <a:endParaRPr b="1" lang="en-US" sz="16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allergie</a:t>
            </a:r>
            <a:endParaRPr b="1" lang="en-US" sz="1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pathologies auto-immunes</a:t>
            </a:r>
            <a:endParaRPr b="1" lang="en-US" sz="1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infection virale/bactérienne</a:t>
            </a:r>
            <a:endParaRPr b="1" lang="en-US" sz="1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764" name="Text Box 29"/>
          <p:cNvSpPr/>
          <p:nvPr/>
        </p:nvSpPr>
        <p:spPr>
          <a:xfrm>
            <a:off x="1523880" y="609480"/>
            <a:ext cx="990720" cy="368280"/>
          </a:xfrm>
          <a:prstGeom prst="rect">
            <a:avLst/>
          </a:prstGeom>
          <a:solidFill>
            <a:srgbClr val="000000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  A.A.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765" name="Line 30"/>
          <p:cNvSpPr/>
          <p:nvPr/>
        </p:nvSpPr>
        <p:spPr>
          <a:xfrm>
            <a:off x="1905120" y="4267080"/>
            <a:ext cx="0" cy="381240"/>
          </a:xfrm>
          <a:prstGeom prst="line">
            <a:avLst/>
          </a:prstGeom>
          <a:ln w="3816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766" name="Text Box 31"/>
          <p:cNvSpPr/>
          <p:nvPr/>
        </p:nvSpPr>
        <p:spPr>
          <a:xfrm>
            <a:off x="301680" y="4648320"/>
            <a:ext cx="3153240" cy="52092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Thyroxine, triiodothyronine, </a:t>
            </a:r>
            <a:endParaRPr b="1" lang="en-US" sz="1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calcitonine, hormone parathyroïde </a:t>
            </a:r>
            <a:endParaRPr b="1" lang="en-US" sz="1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767" name="Line 32"/>
          <p:cNvSpPr/>
          <p:nvPr/>
        </p:nvSpPr>
        <p:spPr>
          <a:xfrm>
            <a:off x="6019920" y="3962520"/>
            <a:ext cx="304560" cy="0"/>
          </a:xfrm>
          <a:prstGeom prst="line">
            <a:avLst/>
          </a:prstGeom>
          <a:ln w="284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768" name="Line 33"/>
          <p:cNvSpPr/>
          <p:nvPr/>
        </p:nvSpPr>
        <p:spPr>
          <a:xfrm>
            <a:off x="5486400" y="4572000"/>
            <a:ext cx="152280" cy="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769" name="Line 34"/>
          <p:cNvSpPr/>
          <p:nvPr/>
        </p:nvSpPr>
        <p:spPr>
          <a:xfrm>
            <a:off x="5638680" y="4572000"/>
            <a:ext cx="0" cy="30492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770" name="Line 35"/>
          <p:cNvSpPr/>
          <p:nvPr/>
        </p:nvSpPr>
        <p:spPr>
          <a:xfrm>
            <a:off x="5638680" y="4876920"/>
            <a:ext cx="685800" cy="0"/>
          </a:xfrm>
          <a:prstGeom prst="line">
            <a:avLst/>
          </a:prstGeom>
          <a:ln w="284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771" name="Text Box 36"/>
          <p:cNvSpPr/>
          <p:nvPr/>
        </p:nvSpPr>
        <p:spPr>
          <a:xfrm>
            <a:off x="6305400" y="5470560"/>
            <a:ext cx="2886120" cy="143532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Balance anabolisme/</a:t>
            </a:r>
            <a:endParaRPr b="1" lang="en-US" sz="16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catabolisme:</a:t>
            </a:r>
            <a:endParaRPr b="1" lang="en-US" sz="16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perte de masse maigre</a:t>
            </a:r>
            <a:endParaRPr b="1" lang="en-US" sz="1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atrophie musculaire</a:t>
            </a:r>
            <a:endParaRPr b="1" lang="en-US" sz="1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élévation sérique de l’urée et de</a:t>
            </a:r>
            <a:endParaRPr b="1" lang="en-US" sz="1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l’acide urique</a:t>
            </a:r>
            <a:endParaRPr b="1" lang="en-US" sz="1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772" name="Line 37"/>
          <p:cNvSpPr/>
          <p:nvPr/>
        </p:nvSpPr>
        <p:spPr>
          <a:xfrm>
            <a:off x="5562720" y="2743200"/>
            <a:ext cx="304560" cy="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773" name="Line 38"/>
          <p:cNvSpPr/>
          <p:nvPr/>
        </p:nvSpPr>
        <p:spPr>
          <a:xfrm flipV="1">
            <a:off x="5867280" y="1828800"/>
            <a:ext cx="0" cy="91440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774" name="Line 39"/>
          <p:cNvSpPr/>
          <p:nvPr/>
        </p:nvSpPr>
        <p:spPr>
          <a:xfrm>
            <a:off x="5638680" y="2895480"/>
            <a:ext cx="685800" cy="0"/>
          </a:xfrm>
          <a:prstGeom prst="line">
            <a:avLst/>
          </a:prstGeom>
          <a:ln w="2844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775" name="Line 40"/>
          <p:cNvSpPr/>
          <p:nvPr/>
        </p:nvSpPr>
        <p:spPr>
          <a:xfrm>
            <a:off x="3352680" y="3352680"/>
            <a:ext cx="2286000" cy="0"/>
          </a:xfrm>
          <a:prstGeom prst="line">
            <a:avLst/>
          </a:prstGeom>
          <a:ln w="284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776" name="Line 41"/>
          <p:cNvSpPr/>
          <p:nvPr/>
        </p:nvSpPr>
        <p:spPr>
          <a:xfrm flipV="1">
            <a:off x="5638680" y="2895480"/>
            <a:ext cx="0" cy="457200"/>
          </a:xfrm>
          <a:prstGeom prst="line">
            <a:avLst/>
          </a:prstGeom>
          <a:ln w="284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777" name="Line 42"/>
          <p:cNvSpPr/>
          <p:nvPr/>
        </p:nvSpPr>
        <p:spPr>
          <a:xfrm>
            <a:off x="5562720" y="3581280"/>
            <a:ext cx="304560" cy="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778" name="Line 43"/>
          <p:cNvSpPr/>
          <p:nvPr/>
        </p:nvSpPr>
        <p:spPr>
          <a:xfrm flipV="1">
            <a:off x="5867280" y="3124080"/>
            <a:ext cx="0" cy="45720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779" name="Line 44"/>
          <p:cNvSpPr/>
          <p:nvPr/>
        </p:nvSpPr>
        <p:spPr>
          <a:xfrm>
            <a:off x="5562720" y="3809880"/>
            <a:ext cx="457200" cy="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780" name="Line 45"/>
          <p:cNvSpPr/>
          <p:nvPr/>
        </p:nvSpPr>
        <p:spPr>
          <a:xfrm flipV="1">
            <a:off x="6019920" y="3276360"/>
            <a:ext cx="0" cy="53316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781" name="Line 46"/>
          <p:cNvSpPr/>
          <p:nvPr/>
        </p:nvSpPr>
        <p:spPr>
          <a:xfrm>
            <a:off x="5562720" y="3962520"/>
            <a:ext cx="380880" cy="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782" name="Line 47"/>
          <p:cNvSpPr/>
          <p:nvPr/>
        </p:nvSpPr>
        <p:spPr>
          <a:xfrm>
            <a:off x="5943600" y="4952880"/>
            <a:ext cx="0" cy="99072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783" name="Line 48"/>
          <p:cNvSpPr/>
          <p:nvPr/>
        </p:nvSpPr>
        <p:spPr>
          <a:xfrm>
            <a:off x="5943600" y="5943600"/>
            <a:ext cx="380880" cy="0"/>
          </a:xfrm>
          <a:prstGeom prst="line">
            <a:avLst/>
          </a:prstGeom>
          <a:ln w="284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784" name="Line 49"/>
          <p:cNvSpPr/>
          <p:nvPr/>
        </p:nvSpPr>
        <p:spPr>
          <a:xfrm>
            <a:off x="5943600" y="3962520"/>
            <a:ext cx="0" cy="22860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785" name="Line 50"/>
          <p:cNvSpPr/>
          <p:nvPr/>
        </p:nvSpPr>
        <p:spPr>
          <a:xfrm>
            <a:off x="5943600" y="4343400"/>
            <a:ext cx="0" cy="45720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786" name="Line 51"/>
          <p:cNvSpPr/>
          <p:nvPr/>
        </p:nvSpPr>
        <p:spPr>
          <a:xfrm>
            <a:off x="5562720" y="3048120"/>
            <a:ext cx="228600" cy="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787" name="Line 52"/>
          <p:cNvSpPr/>
          <p:nvPr/>
        </p:nvSpPr>
        <p:spPr>
          <a:xfrm>
            <a:off x="5791320" y="3048120"/>
            <a:ext cx="0" cy="53316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788" name="Line 53"/>
          <p:cNvSpPr/>
          <p:nvPr/>
        </p:nvSpPr>
        <p:spPr>
          <a:xfrm>
            <a:off x="5791320" y="3581280"/>
            <a:ext cx="0" cy="15264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789" name="Line 54"/>
          <p:cNvSpPr/>
          <p:nvPr/>
        </p:nvSpPr>
        <p:spPr>
          <a:xfrm>
            <a:off x="5791320" y="4038480"/>
            <a:ext cx="0" cy="15264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790" name="Line 55"/>
          <p:cNvSpPr/>
          <p:nvPr/>
        </p:nvSpPr>
        <p:spPr>
          <a:xfrm>
            <a:off x="5791320" y="4343400"/>
            <a:ext cx="0" cy="45720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791" name="Line 56"/>
          <p:cNvSpPr/>
          <p:nvPr/>
        </p:nvSpPr>
        <p:spPr>
          <a:xfrm>
            <a:off x="5791320" y="4952880"/>
            <a:ext cx="0" cy="114300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792" name="Line 57"/>
          <p:cNvSpPr/>
          <p:nvPr/>
        </p:nvSpPr>
        <p:spPr>
          <a:xfrm>
            <a:off x="5791320" y="6095880"/>
            <a:ext cx="533160" cy="0"/>
          </a:xfrm>
          <a:prstGeom prst="line">
            <a:avLst/>
          </a:prstGeom>
          <a:ln w="284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793" name="Line 58"/>
          <p:cNvSpPr/>
          <p:nvPr/>
        </p:nvSpPr>
        <p:spPr>
          <a:xfrm>
            <a:off x="5791320" y="3809880"/>
            <a:ext cx="0" cy="15264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794" name="Line 59"/>
          <p:cNvSpPr/>
          <p:nvPr/>
        </p:nvSpPr>
        <p:spPr>
          <a:xfrm>
            <a:off x="5486400" y="4267080"/>
            <a:ext cx="533520" cy="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795" name="Line 60"/>
          <p:cNvSpPr/>
          <p:nvPr/>
        </p:nvSpPr>
        <p:spPr>
          <a:xfrm flipV="1">
            <a:off x="6019920" y="3962520"/>
            <a:ext cx="0" cy="30456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796" name="Line 61"/>
          <p:cNvSpPr/>
          <p:nvPr/>
        </p:nvSpPr>
        <p:spPr>
          <a:xfrm flipV="1">
            <a:off x="4267080" y="3504960"/>
            <a:ext cx="152640" cy="228600"/>
          </a:xfrm>
          <a:prstGeom prst="line">
            <a:avLst/>
          </a:prstGeom>
          <a:ln w="284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797" name="Line 62"/>
          <p:cNvSpPr/>
          <p:nvPr/>
        </p:nvSpPr>
        <p:spPr>
          <a:xfrm>
            <a:off x="2971800" y="2743200"/>
            <a:ext cx="152280" cy="228600"/>
          </a:xfrm>
          <a:prstGeom prst="line">
            <a:avLst/>
          </a:prstGeom>
          <a:ln w="284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798" name="Line 63"/>
          <p:cNvSpPr/>
          <p:nvPr/>
        </p:nvSpPr>
        <p:spPr>
          <a:xfrm>
            <a:off x="1600200" y="609480"/>
            <a:ext cx="152280" cy="304920"/>
          </a:xfrm>
          <a:prstGeom prst="line">
            <a:avLst/>
          </a:prstGeom>
          <a:ln w="3816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799" name="Text Box 64"/>
          <p:cNvSpPr/>
          <p:nvPr/>
        </p:nvSpPr>
        <p:spPr>
          <a:xfrm>
            <a:off x="-103680" y="11160"/>
            <a:ext cx="426384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D’après Fry et al. Sports Med. 12 (1): 32-65, 1991</a:t>
            </a:r>
            <a:endParaRPr b="1" lang="en-US" sz="1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800" name="Text Box 65"/>
          <p:cNvSpPr/>
          <p:nvPr/>
        </p:nvSpPr>
        <p:spPr>
          <a:xfrm>
            <a:off x="0" y="5410080"/>
            <a:ext cx="5257800" cy="144792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Métabolisme énergétique, Croissance et différentiation cellulaire, Minéralisation osseuse, Ejection systolique, Variations de la fréquence cardiaque, Faiblesse musculaire,</a:t>
            </a:r>
            <a:endParaRPr b="1" lang="en-US" sz="1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Tolérance au chaud et au froid, Menstruation, Léthargie, fatigue, nervosité, Frémissements, Baisse intellectuelle, Ostéoporose</a:t>
            </a:r>
            <a:endParaRPr b="1" lang="en-US" sz="1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801" name="Line 66"/>
          <p:cNvSpPr/>
          <p:nvPr/>
        </p:nvSpPr>
        <p:spPr>
          <a:xfrm>
            <a:off x="1905120" y="5181480"/>
            <a:ext cx="0" cy="228600"/>
          </a:xfrm>
          <a:prstGeom prst="line">
            <a:avLst/>
          </a:prstGeom>
          <a:ln w="284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</p:spTree>
  </p:cSld>
  <p:transition spd="med">
    <p:split dir="out" orient="vert"/>
  </p:transition>
  <p:timing>
    <p:tnLst>
      <p:par>
        <p:cTn id="1869" dur="indefinite" restart="never" nodeType="tmRoot">
          <p:childTnLst>
            <p:seq>
              <p:cTn id="1870" dur="indefinite" nodeType="mainSeq">
                <p:childTnLst>
                  <p:par>
                    <p:cTn id="1871" nodeType="clickEffect" fill="hold">
                      <p:stCondLst>
                        <p:cond delay="0"/>
                      </p:stCondLst>
                      <p:childTnLst>
                        <p:par>
                          <p:cTn id="187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873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875" dur="500"/>
                                        <p:tgtEl>
                                          <p:spTgt spid="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6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1877" nodeType="afterEffect" fill="hold" presetClass="entr" presetID="17" presetSubtype="2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879" dur="500" fill="hold"/>
                                        <p:tgtEl>
                                          <p:spTgt spid="7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880" dur="500" fill="hold"/>
                                        <p:tgtEl>
                                          <p:spTgt spid="7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881" dur="500" fill="hold"/>
                                        <p:tgtEl>
                                          <p:spTgt spid="7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882" dur="500" fill="hold"/>
                                        <p:tgtEl>
                                          <p:spTgt spid="7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3" nodeType="afterEffect" fill="hold">
                            <p:stCondLst>
                              <p:cond delay="2000"/>
                            </p:stCondLst>
                            <p:childTnLst>
                              <p:par>
                                <p:cTn id="1884" nodeType="afterEffect" fill="hold" presetClass="entr" presetID="9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886" dur="500"/>
                                        <p:tgtEl>
                                          <p:spTgt spid="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7" nodeType="afterEffect" fill="hold">
                            <p:stCondLst>
                              <p:cond delay="3500"/>
                            </p:stCondLst>
                            <p:childTnLst>
                              <p:par>
                                <p:cTn id="1888" nodeType="afterEffect" fill="hold" presetClass="entr" presetID="17" presetSubtype="2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890" dur="500" fill="hold"/>
                                        <p:tgtEl>
                                          <p:spTgt spid="7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891" dur="500" fill="hold"/>
                                        <p:tgtEl>
                                          <p:spTgt spid="7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892" dur="500" fill="hold"/>
                                        <p:tgtEl>
                                          <p:spTgt spid="7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893" dur="500" fill="hold"/>
                                        <p:tgtEl>
                                          <p:spTgt spid="7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4" nodeType="afterEffect" fill="hold">
                            <p:stCondLst>
                              <p:cond delay="5000"/>
                            </p:stCondLst>
                            <p:childTnLst>
                              <p:par>
                                <p:cTn id="1895" nodeType="afterEffect" fill="hold" presetClass="entr" presetID="5" presetSubtype="5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down)" transition="in">
                                      <p:cBhvr additive="repl">
                                        <p:cTn id="1897" dur="500"/>
                                        <p:tgtEl>
                                          <p:spTgt spid="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8" nodeType="afterEffect" fill="hold">
                            <p:stCondLst>
                              <p:cond delay="6500"/>
                            </p:stCondLst>
                            <p:childTnLst>
                              <p:par>
                                <p:cTn id="1899" nodeType="afterEffect" fill="hold" presetClass="entr" presetID="9">
                                  <p:stCondLst>
                                    <p:cond delay="100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19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901" dur="75"/>
                                        <p:tgtEl>
                                          <p:spTgt spid="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2" nodeType="afterEffect" fill="hold">
                            <p:stCondLst>
                              <p:cond delay="7800"/>
                            </p:stCondLst>
                            <p:childTnLst>
                              <p:par>
                                <p:cTn id="1903" nodeType="afterEffect" fill="hold" presetClass="entr" presetID="23" presetSubtype="272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905" dur="500" fill="hold"/>
                                        <p:tgtEl>
                                          <p:spTgt spid="7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906" dur="500" fill="hold"/>
                                        <p:tgtEl>
                                          <p:spTgt spid="7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7" nodeType="afterEffect" fill="hold">
                            <p:stCondLst>
                              <p:cond delay="9300"/>
                            </p:stCondLst>
                            <p:childTnLst>
                              <p:par>
                                <p:cTn id="1908" nodeType="afterEffect" fill="hold" presetClass="entr" presetID="17" presetSubtype="1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910" dur="500" fill="hold"/>
                                        <p:tgtEl>
                                          <p:spTgt spid="7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911" dur="500" fill="hold"/>
                                        <p:tgtEl>
                                          <p:spTgt spid="7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912" dur="500" fill="hold"/>
                                        <p:tgtEl>
                                          <p:spTgt spid="7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913" dur="500" fill="hold"/>
                                        <p:tgtEl>
                                          <p:spTgt spid="7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4" nodeType="afterEffect" fill="hold">
                            <p:stCondLst>
                              <p:cond delay="10800"/>
                            </p:stCondLst>
                            <p:childTnLst>
                              <p:par>
                                <p:cTn id="1915" nodeType="afterEffect" fill="hold" presetClass="entr" presetID="9">
                                  <p:stCondLst>
                                    <p:cond delay="100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19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917" dur="300"/>
                                        <p:tgtEl>
                                          <p:spTgt spid="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8" nodeType="afterEffect" fill="hold">
                            <p:stCondLst>
                              <p:cond delay="12700"/>
                            </p:stCondLst>
                            <p:childTnLst>
                              <p:par>
                                <p:cTn id="1919" nodeType="afterEffect" fill="hold" presetClass="entr" presetID="17" presetSubtype="1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921" dur="500" fill="hold"/>
                                        <p:tgtEl>
                                          <p:spTgt spid="7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922" dur="500" fill="hold"/>
                                        <p:tgtEl>
                                          <p:spTgt spid="7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923" dur="500" fill="hold"/>
                                        <p:tgtEl>
                                          <p:spTgt spid="7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924" dur="500" fill="hold"/>
                                        <p:tgtEl>
                                          <p:spTgt spid="7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25" nodeType="afterEffect" fill="hold">
                            <p:stCondLst>
                              <p:cond delay="14200"/>
                            </p:stCondLst>
                            <p:childTnLst>
                              <p:par>
                                <p:cTn id="1926" nodeType="afterEffect" fill="hold" presetClass="entr" presetID="9">
                                  <p:stCondLst>
                                    <p:cond delay="100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19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928" dur="300"/>
                                        <p:tgtEl>
                                          <p:spTgt spid="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9" nodeType="clickEffect" fill="hold">
                      <p:stCondLst>
                        <p:cond delay="indefinite"/>
                      </p:stCondLst>
                      <p:childTnLst>
                        <p:par>
                          <p:cTn id="193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931" nodeType="clickEffect" fill="hold" presetClass="entr" presetID="17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933" dur="500" fill="hold"/>
                                        <p:tgtEl>
                                          <p:spTgt spid="7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934" dur="500" fill="hold"/>
                                        <p:tgtEl>
                                          <p:spTgt spid="7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935" dur="500" fill="hold"/>
                                        <p:tgtEl>
                                          <p:spTgt spid="7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936" dur="500" fill="hold"/>
                                        <p:tgtEl>
                                          <p:spTgt spid="7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37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1938" nodeType="afterEffect" fill="hold" presetClass="entr" presetID="17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940" dur="500" fill="hold"/>
                                        <p:tgtEl>
                                          <p:spTgt spid="7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941" dur="500" fill="hold"/>
                                        <p:tgtEl>
                                          <p:spTgt spid="7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942" dur="500" fill="hold"/>
                                        <p:tgtEl>
                                          <p:spTgt spid="7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943" dur="500" fill="hold"/>
                                        <p:tgtEl>
                                          <p:spTgt spid="7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4" nodeType="afterEffect" fill="hold">
                            <p:stCondLst>
                              <p:cond delay="1000"/>
                            </p:stCondLst>
                            <p:childTnLst>
                              <p:par>
                                <p:cTn id="1945" nodeType="afterEffect" fill="hold" presetClass="entr" presetID="9">
                                  <p:stCondLst>
                                    <p:cond delay="100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19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947" dur="300"/>
                                        <p:tgtEl>
                                          <p:spTgt spid="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8" nodeType="afterEffect" fill="hold">
                            <p:stCondLst>
                              <p:cond delay="3500"/>
                            </p:stCondLst>
                            <p:childTnLst>
                              <p:par>
                                <p:cTn id="1949" nodeType="afterEffect" fill="hold" presetClass="entr" presetID="23" presetSubtype="27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951" dur="500" fill="hold"/>
                                        <p:tgtEl>
                                          <p:spTgt spid="7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952" dur="500" fill="hold"/>
                                        <p:tgtEl>
                                          <p:spTgt spid="7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3" nodeType="clickEffect" fill="hold">
                      <p:stCondLst>
                        <p:cond delay="indefinite"/>
                      </p:stCondLst>
                      <p:childTnLst>
                        <p:par>
                          <p:cTn id="195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955" nodeType="clickEffect" fill="hold" presetClass="entr" presetID="17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957" dur="500" fill="hold"/>
                                        <p:tgtEl>
                                          <p:spTgt spid="7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958" dur="500" fill="hold"/>
                                        <p:tgtEl>
                                          <p:spTgt spid="7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959" dur="500" fill="hold"/>
                                        <p:tgtEl>
                                          <p:spTgt spid="7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960" dur="500" fill="hold"/>
                                        <p:tgtEl>
                                          <p:spTgt spid="7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1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1962" nodeType="afterEffect" fill="hold" presetClass="entr" presetID="17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964" dur="500" fill="hold"/>
                                        <p:tgtEl>
                                          <p:spTgt spid="7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965" dur="500" fill="hold"/>
                                        <p:tgtEl>
                                          <p:spTgt spid="7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966" dur="500" fill="hold"/>
                                        <p:tgtEl>
                                          <p:spTgt spid="7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967" dur="500" fill="hold"/>
                                        <p:tgtEl>
                                          <p:spTgt spid="7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8" nodeType="afterEffect" fill="hold">
                            <p:stCondLst>
                              <p:cond delay="1000"/>
                            </p:stCondLst>
                            <p:childTnLst>
                              <p:par>
                                <p:cTn id="1969" nodeType="afterEffect" fill="hold" presetClass="entr" presetID="17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971" dur="500" fill="hold"/>
                                        <p:tgtEl>
                                          <p:spTgt spid="7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972" dur="500" fill="hold"/>
                                        <p:tgtEl>
                                          <p:spTgt spid="7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973" dur="500" fill="hold"/>
                                        <p:tgtEl>
                                          <p:spTgt spid="7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974" dur="500" fill="hold"/>
                                        <p:tgtEl>
                                          <p:spTgt spid="7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75" nodeType="afterEffect" fill="hold">
                            <p:stCondLst>
                              <p:cond delay="1500"/>
                            </p:stCondLst>
                            <p:childTnLst>
                              <p:par>
                                <p:cTn id="1976" nodeType="afterEffect" fill="hold" presetClass="entr" presetID="9">
                                  <p:stCondLst>
                                    <p:cond delay="100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19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978" dur="300"/>
                                        <p:tgtEl>
                                          <p:spTgt spid="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79" nodeType="afterEffect" fill="hold">
                            <p:stCondLst>
                              <p:cond delay="7000"/>
                            </p:stCondLst>
                            <p:childTnLst>
                              <p:par>
                                <p:cTn id="1980" nodeType="afterEffect" fill="hold" presetClass="entr" presetID="17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982" dur="500" fill="hold"/>
                                        <p:tgtEl>
                                          <p:spTgt spid="7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983" dur="500" fill="hold"/>
                                        <p:tgtEl>
                                          <p:spTgt spid="7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984" dur="500" fill="hold"/>
                                        <p:tgtEl>
                                          <p:spTgt spid="7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985" dur="500" fill="hold"/>
                                        <p:tgtEl>
                                          <p:spTgt spid="7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86" nodeType="afterEffect" fill="hold">
                            <p:stCondLst>
                              <p:cond delay="7500"/>
                            </p:stCondLst>
                            <p:childTnLst>
                              <p:par>
                                <p:cTn id="1987" nodeType="afterEffect" fill="hold" presetClass="entr" presetID="17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989" dur="500" fill="hold"/>
                                        <p:tgtEl>
                                          <p:spTgt spid="7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990" dur="500" fill="hold"/>
                                        <p:tgtEl>
                                          <p:spTgt spid="7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991" dur="500" fill="hold"/>
                                        <p:tgtEl>
                                          <p:spTgt spid="7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992" dur="500" fill="hold"/>
                                        <p:tgtEl>
                                          <p:spTgt spid="7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3" nodeType="clickEffect" fill="hold">
                      <p:stCondLst>
                        <p:cond delay="indefinite"/>
                      </p:stCondLst>
                      <p:childTnLst>
                        <p:par>
                          <p:cTn id="199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995" nodeType="clickEffect" fill="hold" presetClass="entr" presetID="17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997" dur="500" fill="hold"/>
                                        <p:tgtEl>
                                          <p:spTgt spid="7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998" dur="500" fill="hold"/>
                                        <p:tgtEl>
                                          <p:spTgt spid="7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999" dur="500" fill="hold"/>
                                        <p:tgtEl>
                                          <p:spTgt spid="7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00" dur="500" fill="hold"/>
                                        <p:tgtEl>
                                          <p:spTgt spid="7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01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2002" nodeType="afterEffect" fill="hold" presetClass="entr" presetID="17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004" dur="500" fill="hold"/>
                                        <p:tgtEl>
                                          <p:spTgt spid="7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05" dur="500" fill="hold"/>
                                        <p:tgtEl>
                                          <p:spTgt spid="7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06" dur="500" fill="hold"/>
                                        <p:tgtEl>
                                          <p:spTgt spid="7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07" dur="500" fill="hold"/>
                                        <p:tgtEl>
                                          <p:spTgt spid="7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08" nodeType="afterEffect" fill="hold">
                            <p:stCondLst>
                              <p:cond delay="1000"/>
                            </p:stCondLst>
                            <p:childTnLst>
                              <p:par>
                                <p:cTn id="2009" nodeType="afterEffect" fill="hold" presetClass="entr" presetID="17" presetSubtype="1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011" dur="500" fill="hold"/>
                                        <p:tgtEl>
                                          <p:spTgt spid="7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12" dur="500" fill="hold"/>
                                        <p:tgtEl>
                                          <p:spTgt spid="7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13" dur="500" fill="hold"/>
                                        <p:tgtEl>
                                          <p:spTgt spid="7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14" dur="500" fill="hold"/>
                                        <p:tgtEl>
                                          <p:spTgt spid="7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15" nodeType="afterEffect" fill="hold">
                            <p:stCondLst>
                              <p:cond delay="2500"/>
                            </p:stCondLst>
                            <p:childTnLst>
                              <p:par>
                                <p:cTn id="2016" nodeType="afterEffect" fill="hold" presetClass="entr" presetID="17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018" dur="500" fill="hold"/>
                                        <p:tgtEl>
                                          <p:spTgt spid="7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19" dur="500" fill="hold"/>
                                        <p:tgtEl>
                                          <p:spTgt spid="7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20" dur="500" fill="hold"/>
                                        <p:tgtEl>
                                          <p:spTgt spid="7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21" dur="500" fill="hold"/>
                                        <p:tgtEl>
                                          <p:spTgt spid="7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2" nodeType="afterEffect" fill="hold">
                            <p:stCondLst>
                              <p:cond delay="3000"/>
                            </p:stCondLst>
                            <p:childTnLst>
                              <p:par>
                                <p:cTn id="2023" nodeType="afterEffect" fill="hold" presetClass="entr" presetID="17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025" dur="500" fill="hold"/>
                                        <p:tgtEl>
                                          <p:spTgt spid="7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26" dur="500" fill="hold"/>
                                        <p:tgtEl>
                                          <p:spTgt spid="7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27" dur="500" fill="hold"/>
                                        <p:tgtEl>
                                          <p:spTgt spid="7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28" dur="500" fill="hold"/>
                                        <p:tgtEl>
                                          <p:spTgt spid="7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9" nodeType="afterEffect" fill="hold">
                            <p:stCondLst>
                              <p:cond delay="3500"/>
                            </p:stCondLst>
                            <p:childTnLst>
                              <p:par>
                                <p:cTn id="2030" nodeType="afterEffect" fill="hold" presetClass="entr" presetID="17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032" dur="500" fill="hold"/>
                                        <p:tgtEl>
                                          <p:spTgt spid="7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33" dur="500" fill="hold"/>
                                        <p:tgtEl>
                                          <p:spTgt spid="7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34" dur="500" fill="hold"/>
                                        <p:tgtEl>
                                          <p:spTgt spid="7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35" dur="500" fill="hold"/>
                                        <p:tgtEl>
                                          <p:spTgt spid="7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6" nodeType="afterEffect" fill="hold">
                            <p:stCondLst>
                              <p:cond delay="4000"/>
                            </p:stCondLst>
                            <p:childTnLst>
                              <p:par>
                                <p:cTn id="2037" nodeType="afterEffect" fill="hold" presetClass="entr" presetID="17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039" dur="500" fill="hold"/>
                                        <p:tgtEl>
                                          <p:spTgt spid="7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40" dur="500" fill="hold"/>
                                        <p:tgtEl>
                                          <p:spTgt spid="7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41" dur="500" fill="hold"/>
                                        <p:tgtEl>
                                          <p:spTgt spid="7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42" dur="500" fill="hold"/>
                                        <p:tgtEl>
                                          <p:spTgt spid="7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3" nodeType="afterEffect" fill="hold">
                            <p:stCondLst>
                              <p:cond delay="4500"/>
                            </p:stCondLst>
                            <p:childTnLst>
                              <p:par>
                                <p:cTn id="2044" nodeType="afterEffect" fill="hold" presetClass="entr" presetID="17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046" dur="500" fill="hold"/>
                                        <p:tgtEl>
                                          <p:spTgt spid="7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47" dur="500" fill="hold"/>
                                        <p:tgtEl>
                                          <p:spTgt spid="7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48" dur="500" fill="hold"/>
                                        <p:tgtEl>
                                          <p:spTgt spid="7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49" dur="500" fill="hold"/>
                                        <p:tgtEl>
                                          <p:spTgt spid="7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0" nodeType="afterEffect" fill="hold">
                            <p:stCondLst>
                              <p:cond delay="5000"/>
                            </p:stCondLst>
                            <p:childTnLst>
                              <p:par>
                                <p:cTn id="2051" nodeType="afterEffect" fill="hold" presetClass="entr" presetID="9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20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053" dur="300"/>
                                        <p:tgtEl>
                                          <p:spTgt spid="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4" nodeType="clickEffect" fill="hold">
                      <p:stCondLst>
                        <p:cond delay="indefinite"/>
                      </p:stCondLst>
                      <p:childTnLst>
                        <p:par>
                          <p:cTn id="205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056" nodeType="clickEffect" fill="hold" presetClass="entr" presetID="17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058" dur="500" fill="hold"/>
                                        <p:tgtEl>
                                          <p:spTgt spid="7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59" dur="500" fill="hold"/>
                                        <p:tgtEl>
                                          <p:spTgt spid="7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60" dur="500" fill="hold"/>
                                        <p:tgtEl>
                                          <p:spTgt spid="7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61" dur="500" fill="hold"/>
                                        <p:tgtEl>
                                          <p:spTgt spid="7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62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2063" nodeType="afterEffect" fill="hold" presetClass="entr" presetID="17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065" dur="500" fill="hold"/>
                                        <p:tgtEl>
                                          <p:spTgt spid="7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66" dur="500" fill="hold"/>
                                        <p:tgtEl>
                                          <p:spTgt spid="7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67" dur="500" fill="hold"/>
                                        <p:tgtEl>
                                          <p:spTgt spid="7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68" dur="500" fill="hold"/>
                                        <p:tgtEl>
                                          <p:spTgt spid="7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69" nodeType="afterEffect" fill="hold">
                            <p:stCondLst>
                              <p:cond delay="1000"/>
                            </p:stCondLst>
                            <p:childTnLst>
                              <p:par>
                                <p:cTn id="2070" nodeType="afterEffect" fill="hold" presetClass="entr" presetID="17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072" dur="500" fill="hold"/>
                                        <p:tgtEl>
                                          <p:spTgt spid="7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73" dur="500" fill="hold"/>
                                        <p:tgtEl>
                                          <p:spTgt spid="7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74" dur="500" fill="hold"/>
                                        <p:tgtEl>
                                          <p:spTgt spid="7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75" dur="500" fill="hold"/>
                                        <p:tgtEl>
                                          <p:spTgt spid="7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6" nodeType="afterEffect" fill="hold">
                            <p:stCondLst>
                              <p:cond delay="1500"/>
                            </p:stCondLst>
                            <p:childTnLst>
                              <p:par>
                                <p:cTn id="2077" nodeType="afterEffect" fill="hold" presetClass="entr" presetID="17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079" dur="500" fill="hold"/>
                                        <p:tgtEl>
                                          <p:spTgt spid="7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80" dur="500" fill="hold"/>
                                        <p:tgtEl>
                                          <p:spTgt spid="7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81" dur="500" fill="hold"/>
                                        <p:tgtEl>
                                          <p:spTgt spid="7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82" dur="500" fill="hold"/>
                                        <p:tgtEl>
                                          <p:spTgt spid="7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83" nodeType="afterEffect" fill="hold">
                            <p:stCondLst>
                              <p:cond delay="2000"/>
                            </p:stCondLst>
                            <p:childTnLst>
                              <p:par>
                                <p:cTn id="2084" nodeType="afterEffect" fill="hold" presetClass="entr" presetID="17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086" dur="500" fill="hold"/>
                                        <p:tgtEl>
                                          <p:spTgt spid="7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87" dur="500" fill="hold"/>
                                        <p:tgtEl>
                                          <p:spTgt spid="7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88" dur="500" fill="hold"/>
                                        <p:tgtEl>
                                          <p:spTgt spid="7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89" dur="500" fill="hold"/>
                                        <p:tgtEl>
                                          <p:spTgt spid="7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90" nodeType="afterEffect" fill="hold">
                            <p:stCondLst>
                              <p:cond delay="2500"/>
                            </p:stCondLst>
                            <p:childTnLst>
                              <p:par>
                                <p:cTn id="2091" nodeType="afterEffect" fill="hold" presetClass="entr" presetID="9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20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093" dur="300"/>
                                        <p:tgtEl>
                                          <p:spTgt spid="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4" nodeType="clickEffect" fill="hold">
                      <p:stCondLst>
                        <p:cond delay="indefinite"/>
                      </p:stCondLst>
                      <p:childTnLst>
                        <p:par>
                          <p:cTn id="209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096" nodeType="clickEffect" fill="hold" presetClass="entr" presetID="17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098" dur="500" fill="hold"/>
                                        <p:tgtEl>
                                          <p:spTgt spid="7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99" dur="500" fill="hold"/>
                                        <p:tgtEl>
                                          <p:spTgt spid="7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00" dur="500" fill="hold"/>
                                        <p:tgtEl>
                                          <p:spTgt spid="7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01" dur="500" fill="hold"/>
                                        <p:tgtEl>
                                          <p:spTgt spid="7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02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2103" nodeType="afterEffect" fill="hold" presetClass="entr" presetID="9">
                                  <p:stCondLst>
                                    <p:cond delay="100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2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105" dur="300"/>
                                        <p:tgtEl>
                                          <p:spTgt spid="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06" nodeType="afterEffect" fill="hold">
                            <p:stCondLst>
                              <p:cond delay="2100"/>
                            </p:stCondLst>
                            <p:childTnLst>
                              <p:par>
                                <p:cTn id="2107" nodeType="afterEffect" fill="hold" presetClass="entr" presetID="23" presetSubtype="27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109" dur="500" fill="hold"/>
                                        <p:tgtEl>
                                          <p:spTgt spid="7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10" dur="500" fill="hold"/>
                                        <p:tgtEl>
                                          <p:spTgt spid="7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1" nodeType="clickEffect" fill="hold">
                      <p:stCondLst>
                        <p:cond delay="indefinite"/>
                      </p:stCondLst>
                      <p:childTnLst>
                        <p:par>
                          <p:cTn id="211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113" nodeType="clickEffect" fill="hold" presetClass="entr" presetID="17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115" dur="500" fill="hold"/>
                                        <p:tgtEl>
                                          <p:spTgt spid="7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16" dur="500" fill="hold"/>
                                        <p:tgtEl>
                                          <p:spTgt spid="7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17" dur="500" fill="hold"/>
                                        <p:tgtEl>
                                          <p:spTgt spid="7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18" dur="500" fill="hold"/>
                                        <p:tgtEl>
                                          <p:spTgt spid="7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19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2120" nodeType="afterEffect" fill="hold" presetClass="entr" presetID="17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122" dur="500" fill="hold"/>
                                        <p:tgtEl>
                                          <p:spTgt spid="7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23" dur="500" fill="hold"/>
                                        <p:tgtEl>
                                          <p:spTgt spid="7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24" dur="500" fill="hold"/>
                                        <p:tgtEl>
                                          <p:spTgt spid="7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25" dur="500" fill="hold"/>
                                        <p:tgtEl>
                                          <p:spTgt spid="7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26" nodeType="afterEffect" fill="hold">
                            <p:stCondLst>
                              <p:cond delay="1000"/>
                            </p:stCondLst>
                            <p:childTnLst>
                              <p:par>
                                <p:cTn id="2127" nodeType="afterEffect" fill="hold" presetClass="entr" presetID="17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129" dur="500" fill="hold"/>
                                        <p:tgtEl>
                                          <p:spTgt spid="7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30" dur="500" fill="hold"/>
                                        <p:tgtEl>
                                          <p:spTgt spid="7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31" dur="500" fill="hold"/>
                                        <p:tgtEl>
                                          <p:spTgt spid="7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32" dur="500" fill="hold"/>
                                        <p:tgtEl>
                                          <p:spTgt spid="7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33" nodeType="afterEffect" fill="hold">
                            <p:stCondLst>
                              <p:cond delay="1500"/>
                            </p:stCondLst>
                            <p:childTnLst>
                              <p:par>
                                <p:cTn id="2134" nodeType="afterEffect" fill="hold" presetClass="entr" presetID="17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136" dur="500" fill="hold"/>
                                        <p:tgtEl>
                                          <p:spTgt spid="7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37" dur="500" fill="hold"/>
                                        <p:tgtEl>
                                          <p:spTgt spid="7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38" dur="500" fill="hold"/>
                                        <p:tgtEl>
                                          <p:spTgt spid="7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39" dur="500" fill="hold"/>
                                        <p:tgtEl>
                                          <p:spTgt spid="7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40" nodeType="afterEffect" fill="hold">
                            <p:stCondLst>
                              <p:cond delay="2000"/>
                            </p:stCondLst>
                            <p:childTnLst>
                              <p:par>
                                <p:cTn id="2141" nodeType="afterEffect" fill="hold" presetClass="entr" presetID="17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143" dur="500" fill="hold"/>
                                        <p:tgtEl>
                                          <p:spTgt spid="7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44" dur="500" fill="hold"/>
                                        <p:tgtEl>
                                          <p:spTgt spid="7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45" dur="500" fill="hold"/>
                                        <p:tgtEl>
                                          <p:spTgt spid="7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46" dur="500" fill="hold"/>
                                        <p:tgtEl>
                                          <p:spTgt spid="7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47" nodeType="afterEffect" fill="hold">
                            <p:stCondLst>
                              <p:cond delay="2500"/>
                            </p:stCondLst>
                            <p:childTnLst>
                              <p:par>
                                <p:cTn id="2148" nodeType="afterEffect" fill="hold" presetClass="entr" presetID="17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150" dur="500" fill="hold"/>
                                        <p:tgtEl>
                                          <p:spTgt spid="7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51" dur="500" fill="hold"/>
                                        <p:tgtEl>
                                          <p:spTgt spid="7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52" dur="500" fill="hold"/>
                                        <p:tgtEl>
                                          <p:spTgt spid="7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53" dur="500" fill="hold"/>
                                        <p:tgtEl>
                                          <p:spTgt spid="7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54" nodeType="afterEffect" fill="hold">
                            <p:stCondLst>
                              <p:cond delay="3000"/>
                            </p:stCondLst>
                            <p:childTnLst>
                              <p:par>
                                <p:cTn id="2155" nodeType="afterEffect" fill="hold" presetClass="entr" presetID="17" presetSubtype="8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157" dur="500" fill="hold"/>
                                        <p:tgtEl>
                                          <p:spTgt spid="7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58" dur="500" fill="hold"/>
                                        <p:tgtEl>
                                          <p:spTgt spid="7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59" dur="500" fill="hold"/>
                                        <p:tgtEl>
                                          <p:spTgt spid="7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60" dur="500" fill="hold"/>
                                        <p:tgtEl>
                                          <p:spTgt spid="7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61" nodeType="afterEffect" fill="hold">
                            <p:stCondLst>
                              <p:cond delay="5500"/>
                            </p:stCondLst>
                            <p:childTnLst>
                              <p:par>
                                <p:cTn id="2162" nodeType="afterEffect" fill="hold" presetClass="entr" presetID="17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164" dur="500" fill="hold"/>
                                        <p:tgtEl>
                                          <p:spTgt spid="7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65" dur="500" fill="hold"/>
                                        <p:tgtEl>
                                          <p:spTgt spid="7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66" dur="500" fill="hold"/>
                                        <p:tgtEl>
                                          <p:spTgt spid="7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67" dur="500" fill="hold"/>
                                        <p:tgtEl>
                                          <p:spTgt spid="7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68" nodeType="afterEffect" fill="hold">
                            <p:stCondLst>
                              <p:cond delay="6000"/>
                            </p:stCondLst>
                            <p:childTnLst>
                              <p:par>
                                <p:cTn id="2169" nodeType="afterEffect" fill="hold" presetClass="entr" presetID="17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171" dur="500" fill="hold"/>
                                        <p:tgtEl>
                                          <p:spTgt spid="7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72" dur="500" fill="hold"/>
                                        <p:tgtEl>
                                          <p:spTgt spid="7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73" dur="500" fill="hold"/>
                                        <p:tgtEl>
                                          <p:spTgt spid="7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74" dur="500" fill="hold"/>
                                        <p:tgtEl>
                                          <p:spTgt spid="7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75" nodeType="afterEffect" fill="hold">
                            <p:stCondLst>
                              <p:cond delay="6500"/>
                            </p:stCondLst>
                            <p:childTnLst>
                              <p:par>
                                <p:cTn id="2176" nodeType="afterEffect" fill="hold" presetClass="entr" presetID="17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178" dur="500" fill="hold"/>
                                        <p:tgtEl>
                                          <p:spTgt spid="7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79" dur="500" fill="hold"/>
                                        <p:tgtEl>
                                          <p:spTgt spid="7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80" dur="500" fill="hold"/>
                                        <p:tgtEl>
                                          <p:spTgt spid="7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81" dur="500" fill="hold"/>
                                        <p:tgtEl>
                                          <p:spTgt spid="7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82" nodeType="afterEffect" fill="hold">
                            <p:stCondLst>
                              <p:cond delay="7000"/>
                            </p:stCondLst>
                            <p:childTnLst>
                              <p:par>
                                <p:cTn id="2183" nodeType="afterEffect" fill="hold" presetClass="entr" presetID="17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185" dur="500" fill="hold"/>
                                        <p:tgtEl>
                                          <p:spTgt spid="7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86" dur="500" fill="hold"/>
                                        <p:tgtEl>
                                          <p:spTgt spid="7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87" dur="500" fill="hold"/>
                                        <p:tgtEl>
                                          <p:spTgt spid="7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88" dur="500" fill="hold"/>
                                        <p:tgtEl>
                                          <p:spTgt spid="7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9" nodeType="clickEffect" fill="hold">
                      <p:stCondLst>
                        <p:cond delay="indefinite"/>
                      </p:stCondLst>
                      <p:childTnLst>
                        <p:par>
                          <p:cTn id="219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191" nodeType="clickEffect" fill="hold" presetClass="entr" presetID="17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193" dur="500" fill="hold"/>
                                        <p:tgtEl>
                                          <p:spTgt spid="7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94" dur="500" fill="hold"/>
                                        <p:tgtEl>
                                          <p:spTgt spid="7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95" dur="500" fill="hold"/>
                                        <p:tgtEl>
                                          <p:spTgt spid="7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96" dur="500" fill="hold"/>
                                        <p:tgtEl>
                                          <p:spTgt spid="7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97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2198" nodeType="afterEffect" fill="hold" presetClass="entr" presetID="9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2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200" dur="300"/>
                                        <p:tgtEl>
                                          <p:spTgt spid="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01" nodeType="afterEffect" fill="hold">
                            <p:stCondLst>
                              <p:cond delay="1100"/>
                            </p:stCondLst>
                            <p:childTnLst>
                              <p:par>
                                <p:cTn id="2202" nodeType="afterEffect" fill="hold" presetClass="entr" presetID="17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204" dur="500" fill="hold"/>
                                        <p:tgtEl>
                                          <p:spTgt spid="7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205" dur="500" fill="hold"/>
                                        <p:tgtEl>
                                          <p:spTgt spid="7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206" dur="500" fill="hold"/>
                                        <p:tgtEl>
                                          <p:spTgt spid="7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207" dur="500" fill="hold"/>
                                        <p:tgtEl>
                                          <p:spTgt spid="7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08" nodeType="afterEffect" fill="hold">
                            <p:stCondLst>
                              <p:cond delay="1600"/>
                            </p:stCondLst>
                            <p:childTnLst>
                              <p:par>
                                <p:cTn id="2209" nodeType="afterEffect" fill="hold" presetClass="entr" presetID="17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211" dur="500" fill="hold"/>
                                        <p:tgtEl>
                                          <p:spTgt spid="7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212" dur="500" fill="hold"/>
                                        <p:tgtEl>
                                          <p:spTgt spid="7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213" dur="500" fill="hold"/>
                                        <p:tgtEl>
                                          <p:spTgt spid="7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214" dur="500" fill="hold"/>
                                        <p:tgtEl>
                                          <p:spTgt spid="7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15" nodeType="afterEffect" fill="hold">
                            <p:stCondLst>
                              <p:cond delay="2100"/>
                            </p:stCondLst>
                            <p:childTnLst>
                              <p:par>
                                <p:cTn id="2216" nodeType="afterEffect" fill="hold" presetClass="entr" presetID="17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218" dur="500" fill="hold"/>
                                        <p:tgtEl>
                                          <p:spTgt spid="7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219" dur="500" fill="hold"/>
                                        <p:tgtEl>
                                          <p:spTgt spid="7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220" dur="500" fill="hold"/>
                                        <p:tgtEl>
                                          <p:spTgt spid="7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221" dur="500" fill="hold"/>
                                        <p:tgtEl>
                                          <p:spTgt spid="7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22" nodeType="afterEffect" fill="hold">
                            <p:stCondLst>
                              <p:cond delay="2600"/>
                            </p:stCondLst>
                            <p:childTnLst>
                              <p:par>
                                <p:cTn id="2223" nodeType="afterEffect" fill="hold" presetClass="entr" presetID="9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2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225" dur="300"/>
                                        <p:tgtEl>
                                          <p:spTgt spid="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26" nodeType="afterEffect" fill="hold">
                            <p:stCondLst>
                              <p:cond delay="6200"/>
                            </p:stCondLst>
                            <p:childTnLst>
                              <p:par>
                                <p:cTn id="2227" nodeType="afterEffect" fill="hold" presetClass="entr" presetID="17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229" dur="500" fill="hold"/>
                                        <p:tgtEl>
                                          <p:spTgt spid="7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230" dur="500" fill="hold"/>
                                        <p:tgtEl>
                                          <p:spTgt spid="7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231" dur="500" fill="hold"/>
                                        <p:tgtEl>
                                          <p:spTgt spid="7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232" dur="500" fill="hold"/>
                                        <p:tgtEl>
                                          <p:spTgt spid="7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33" nodeType="afterEffect" fill="hold">
                            <p:stCondLst>
                              <p:cond delay="6700"/>
                            </p:stCondLst>
                            <p:childTnLst>
                              <p:par>
                                <p:cTn id="2234" nodeType="afterEffect" fill="hold" presetClass="entr" presetID="17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236" dur="500" fill="hold"/>
                                        <p:tgtEl>
                                          <p:spTgt spid="7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237" dur="500" fill="hold"/>
                                        <p:tgtEl>
                                          <p:spTgt spid="7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238" dur="500" fill="hold"/>
                                        <p:tgtEl>
                                          <p:spTgt spid="7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239" dur="500" fill="hold"/>
                                        <p:tgtEl>
                                          <p:spTgt spid="7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40" nodeType="afterEffect" fill="hold">
                            <p:stCondLst>
                              <p:cond delay="7200"/>
                            </p:stCondLst>
                            <p:childTnLst>
                              <p:par>
                                <p:cTn id="2241" nodeType="afterEffect" fill="hold" presetClass="entr" presetID="17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243" dur="500" fill="hold"/>
                                        <p:tgtEl>
                                          <p:spTgt spid="7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244" dur="500" fill="hold"/>
                                        <p:tgtEl>
                                          <p:spTgt spid="7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245" dur="500" fill="hold"/>
                                        <p:tgtEl>
                                          <p:spTgt spid="7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246" dur="500" fill="hold"/>
                                        <p:tgtEl>
                                          <p:spTgt spid="7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47" nodeType="afterEffect" fill="hold">
                            <p:stCondLst>
                              <p:cond delay="7700"/>
                            </p:stCondLst>
                            <p:childTnLst>
                              <p:par>
                                <p:cTn id="2248" nodeType="afterEffect" fill="hold" presetClass="entr" presetID="9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2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250" dur="300"/>
                                        <p:tgtEl>
                                          <p:spTgt spid="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1" nodeType="clickEffect" fill="hold">
                      <p:stCondLst>
                        <p:cond delay="indefinite"/>
                      </p:stCondLst>
                      <p:childTnLst>
                        <p:par>
                          <p:cTn id="225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253" nodeType="clickEffect" fill="hold" presetClass="entr" presetID="17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255" dur="500" fill="hold"/>
                                        <p:tgtEl>
                                          <p:spTgt spid="7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256" dur="500" fill="hold"/>
                                        <p:tgtEl>
                                          <p:spTgt spid="7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257" dur="500" fill="hold"/>
                                        <p:tgtEl>
                                          <p:spTgt spid="7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258" dur="500" fill="hold"/>
                                        <p:tgtEl>
                                          <p:spTgt spid="7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59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2260" nodeType="afterEffect" fill="hold" presetClass="entr" presetID="9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2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262" dur="300"/>
                                        <p:tgtEl>
                                          <p:spTgt spid="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3" nodeType="clickEffect" fill="hold">
                      <p:stCondLst>
                        <p:cond delay="indefinite"/>
                      </p:stCondLst>
                      <p:childTnLst>
                        <p:par>
                          <p:cTn id="226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265" nodeType="clickEffect" fill="hold" presetClass="entr" presetID="17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267" dur="500" fill="hold"/>
                                        <p:tgtEl>
                                          <p:spTgt spid="8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268" dur="500" fill="hold"/>
                                        <p:tgtEl>
                                          <p:spTgt spid="8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269" dur="500" fill="hold"/>
                                        <p:tgtEl>
                                          <p:spTgt spid="8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270" dur="500" fill="hold"/>
                                        <p:tgtEl>
                                          <p:spTgt spid="8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71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2272" nodeType="afterEffect" fill="hold" presetClass="entr" presetID="22" presetSubtype="1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2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2274" dur="300"/>
                                        <p:tgtEl>
                                          <p:spTgt spid="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Text Box 2"/>
          <p:cNvSpPr/>
          <p:nvPr/>
        </p:nvSpPr>
        <p:spPr>
          <a:xfrm>
            <a:off x="2133720" y="1447920"/>
            <a:ext cx="594360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2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¤ </a:t>
            </a: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Symbol"/>
                <a:ea typeface="Symbol"/>
              </a:rPr>
              <a:t></a:t>
            </a: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concentrations sériques en cortisol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803" name="Text Box 3"/>
          <p:cNvSpPr/>
          <p:nvPr/>
        </p:nvSpPr>
        <p:spPr>
          <a:xfrm>
            <a:off x="2133720" y="3429000"/>
            <a:ext cx="480060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2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¤ </a:t>
            </a: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Symbol"/>
                <a:ea typeface="Symbol"/>
              </a:rPr>
              <a:t></a:t>
            </a: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cétostéoïdes dans les urines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804" name="Text Box 4"/>
          <p:cNvSpPr/>
          <p:nvPr/>
        </p:nvSpPr>
        <p:spPr>
          <a:xfrm>
            <a:off x="2133720" y="2133720"/>
            <a:ext cx="358128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2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¤ </a:t>
            </a: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Symbol"/>
                <a:ea typeface="Symbol"/>
              </a:rPr>
              <a:t></a:t>
            </a: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testostérone libre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805" name="Text Box 5"/>
          <p:cNvSpPr/>
          <p:nvPr/>
        </p:nvSpPr>
        <p:spPr>
          <a:xfrm>
            <a:off x="2133720" y="2819520"/>
            <a:ext cx="640080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2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¤ </a:t>
            </a: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Symbol"/>
                <a:ea typeface="Symbol"/>
              </a:rPr>
              <a:t></a:t>
            </a: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de + de 30% du rapport testostérone / cortisol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806" name="Text Box 6"/>
          <p:cNvSpPr/>
          <p:nvPr/>
        </p:nvSpPr>
        <p:spPr>
          <a:xfrm>
            <a:off x="1823400" y="304920"/>
            <a:ext cx="5900760" cy="58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1" lang="fr-FR" sz="3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Symptomatologie</a:t>
            </a:r>
            <a:r>
              <a:rPr b="1" lang="en-US" sz="3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hormonale</a:t>
            </a:r>
            <a:endParaRPr b="1" lang="en-US" sz="32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807" name="Text Box 7"/>
          <p:cNvSpPr/>
          <p:nvPr/>
        </p:nvSpPr>
        <p:spPr>
          <a:xfrm>
            <a:off x="2133720" y="4800600"/>
            <a:ext cx="266688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2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¤ aménorrhées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808" name="Text Box 8"/>
          <p:cNvSpPr/>
          <p:nvPr/>
        </p:nvSpPr>
        <p:spPr>
          <a:xfrm>
            <a:off x="2133720" y="5470560"/>
            <a:ext cx="358128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2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¤ oligoménorrhées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809" name="Text Box 9"/>
          <p:cNvSpPr/>
          <p:nvPr/>
        </p:nvSpPr>
        <p:spPr>
          <a:xfrm>
            <a:off x="2133720" y="4114800"/>
            <a:ext cx="342900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2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¤ </a:t>
            </a: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Symbol"/>
                <a:ea typeface="Symbol"/>
              </a:rPr>
              <a:t></a:t>
            </a: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métabolisme basal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810" name="Oval 10"/>
          <p:cNvSpPr/>
          <p:nvPr/>
        </p:nvSpPr>
        <p:spPr>
          <a:xfrm>
            <a:off x="1752480" y="2514600"/>
            <a:ext cx="6858000" cy="990720"/>
          </a:xfrm>
          <a:prstGeom prst="ellipse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</p:spTree>
  </p:cSld>
  <p:transition spd="med">
    <p:split dir="out" orient="vert"/>
  </p:transition>
  <p:timing>
    <p:tnLst>
      <p:par>
        <p:cTn id="2275" dur="indefinite" restart="never" nodeType="tmRoot">
          <p:childTnLst>
            <p:seq>
              <p:cTn id="2276" dur="indefinite" nodeType="mainSeq">
                <p:childTnLst>
                  <p:par>
                    <p:cTn id="2277" nodeType="clickEffect" fill="hold">
                      <p:stCondLst>
                        <p:cond delay="0"/>
                      </p:stCondLst>
                      <p:childTnLst>
                        <p:par>
                          <p:cTn id="227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279" nodeType="afterEffect" fill="hold" presetClass="entr" presetID="5" presetSubtype="1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2281" dur="500"/>
                                        <p:tgtEl>
                                          <p:spTgt spid="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82" nodeType="afterEffect" fill="hold">
                            <p:stCondLst>
                              <p:cond delay="1500"/>
                            </p:stCondLst>
                            <p:childTnLst>
                              <p:par>
                                <p:cTn id="2283" nodeType="afterEffect" fill="hold" presetClass="entr" presetID="5" presetSubtype="1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2285" dur="500"/>
                                        <p:tgtEl>
                                          <p:spTgt spid="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2286" dur="1" fill="hold">
                                    <p:stCondLst>
                                      <p:cond delay="2000"/>
                                    </p:stCondLst>
                                  </p:cTn>
                                  <p:tgtEl>
                                    <p:spTgt spid="802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b2b2b2"/>
                                </p:to>
                              </p:animClr>
                            </p:childTnLst>
                          </p:cTn>
                        </p:par>
                        <p:par>
                          <p:cTn id="2287" nodeType="afterEffect" fill="hold">
                            <p:stCondLst>
                              <p:cond delay="4000"/>
                            </p:stCondLst>
                            <p:childTnLst>
                              <p:par>
                                <p:cTn id="2288" nodeType="afterEffect" fill="hold" presetClass="entr" presetID="5" presetSubtype="1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2290" dur="500"/>
                                        <p:tgtEl>
                                          <p:spTgt spid="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2291" dur="1" fill="hold">
                                    <p:stCondLst>
                                      <p:cond delay="2000"/>
                                    </p:stCondLst>
                                  </p:cTn>
                                  <p:tgtEl>
                                    <p:spTgt spid="804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b2b2b2"/>
                                </p:to>
                              </p:animClr>
                            </p:childTnLst>
                          </p:cTn>
                        </p:par>
                        <p:par>
                          <p:cTn id="2292" nodeType="afterEffect" fill="hold">
                            <p:stCondLst>
                              <p:cond delay="6500"/>
                            </p:stCondLst>
                            <p:childTnLst>
                              <p:par>
                                <p:cTn id="2293" nodeType="afterEffect" fill="hold" presetClass="entr" presetID="5" presetSubtype="1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2295" dur="500"/>
                                        <p:tgtEl>
                                          <p:spTgt spid="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2296" dur="1" fill="hold">
                                    <p:stCondLst>
                                      <p:cond delay="2000"/>
                                    </p:stCondLst>
                                  </p:cTn>
                                  <p:tgtEl>
                                    <p:spTgt spid="805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b2b2b2"/>
                                </p:to>
                              </p:animClr>
                            </p:childTnLst>
                          </p:cTn>
                        </p:par>
                        <p:par>
                          <p:cTn id="2297" nodeType="afterEffect" fill="hold">
                            <p:stCondLst>
                              <p:cond delay="9000"/>
                            </p:stCondLst>
                            <p:childTnLst>
                              <p:par>
                                <p:cTn id="2298" nodeType="afterEffect" fill="hold" presetClass="entr" presetID="5" presetSubtype="10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2300" dur="500"/>
                                        <p:tgtEl>
                                          <p:spTgt spid="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2301" dur="1" fill="hold">
                                    <p:stCondLst>
                                      <p:cond delay="3000"/>
                                    </p:stCondLst>
                                  </p:cTn>
                                  <p:tgtEl>
                                    <p:spTgt spid="803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b2b2b2"/>
                                </p:to>
                              </p:animClr>
                            </p:childTnLst>
                          </p:cTn>
                        </p:par>
                        <p:par>
                          <p:cTn id="2302" nodeType="afterEffect" fill="hold">
                            <p:stCondLst>
                              <p:cond delay="12500"/>
                            </p:stCondLst>
                            <p:childTnLst>
                              <p:par>
                                <p:cTn id="2303" nodeType="afterEffect" fill="hold" presetClass="entr" presetID="5" presetSubtype="1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2305" dur="500"/>
                                        <p:tgtEl>
                                          <p:spTgt spid="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2306" dur="1" fill="hold">
                                    <p:stCondLst>
                                      <p:cond delay="1000"/>
                                    </p:stCondLst>
                                  </p:cTn>
                                  <p:tgtEl>
                                    <p:spTgt spid="809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ccccff"/>
                                </p:to>
                              </p:animClr>
                            </p:childTnLst>
                          </p:cTn>
                        </p:par>
                        <p:par>
                          <p:cTn id="2307" nodeType="afterEffect" fill="hold">
                            <p:stCondLst>
                              <p:cond delay="14000"/>
                            </p:stCondLst>
                            <p:childTnLst>
                              <p:par>
                                <p:cTn id="2308" nodeType="afterEffect" fill="hold" presetClass="entr" presetID="5" presetSubtype="1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2310" dur="500"/>
                                        <p:tgtEl>
                                          <p:spTgt spid="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2311" dur="1" fill="hold">
                                    <p:stCondLst>
                                      <p:cond delay="1000"/>
                                    </p:stCondLst>
                                  </p:cTn>
                                  <p:tgtEl>
                                    <p:spTgt spid="807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ccccff"/>
                                </p:to>
                              </p:animClr>
                            </p:childTnLst>
                          </p:cTn>
                        </p:par>
                        <p:par>
                          <p:cTn id="2312" nodeType="afterEffect" fill="hold">
                            <p:stCondLst>
                              <p:cond delay="15500"/>
                            </p:stCondLst>
                            <p:childTnLst>
                              <p:par>
                                <p:cTn id="2313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315" dur="500"/>
                                        <p:tgtEl>
                                          <p:spTgt spid="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23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08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ccccff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Text Box 2"/>
          <p:cNvSpPr/>
          <p:nvPr/>
        </p:nvSpPr>
        <p:spPr>
          <a:xfrm>
            <a:off x="3199680" y="1143000"/>
            <a:ext cx="2532240" cy="58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 surveiller...</a:t>
            </a:r>
            <a:endParaRPr b="1" lang="en-US" sz="32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812" name="Text Box 3"/>
          <p:cNvSpPr/>
          <p:nvPr/>
        </p:nvSpPr>
        <p:spPr>
          <a:xfrm>
            <a:off x="1222200" y="2425680"/>
            <a:ext cx="6585480" cy="246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3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- le rapport testostérone/cortisol</a:t>
            </a:r>
            <a:endParaRPr b="1" lang="en-US" sz="2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- le % ou le poids de masse maigre</a:t>
            </a:r>
            <a:endParaRPr b="1" lang="en-US" sz="2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- certains troubles du comportement associés</a:t>
            </a:r>
            <a:endParaRPr b="1" lang="en-US" sz="2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au type de surentraînement : parasympathique </a:t>
            </a:r>
            <a:endParaRPr b="1" lang="en-US" sz="2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ou orthosympathique </a:t>
            </a:r>
            <a:endParaRPr b="1" lang="en-US" sz="2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</p:spTree>
  </p:cSld>
  <p:transition spd="med">
    <p:split dir="out" orient="vert"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Text Box 2"/>
          <p:cNvSpPr/>
          <p:nvPr/>
        </p:nvSpPr>
        <p:spPr>
          <a:xfrm>
            <a:off x="228600" y="228600"/>
            <a:ext cx="8686800" cy="703800"/>
          </a:xfrm>
          <a:prstGeom prst="rect">
            <a:avLst/>
          </a:prstGeom>
          <a:noFill/>
          <a:ln w="255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12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Pour mémoire: autres symptomatologies  biochimiques éventuellement à surveiller.... (d ’après Fry et al. 1991)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814" name="Text Box 3"/>
          <p:cNvSpPr/>
          <p:nvPr/>
        </p:nvSpPr>
        <p:spPr>
          <a:xfrm>
            <a:off x="1600200" y="1538280"/>
            <a:ext cx="62485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¤ balance azotée négative (turnover protéines négatif)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815" name="Text Box 4"/>
          <p:cNvSpPr/>
          <p:nvPr/>
        </p:nvSpPr>
        <p:spPr>
          <a:xfrm>
            <a:off x="1600200" y="1919160"/>
            <a:ext cx="42670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¤ dysfonctions hypothalamiques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816" name="Text Box 6"/>
          <p:cNvSpPr/>
          <p:nvPr/>
        </p:nvSpPr>
        <p:spPr>
          <a:xfrm>
            <a:off x="1600200" y="2362320"/>
            <a:ext cx="571500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¤ 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Symbol"/>
                <a:ea typeface="Symbol"/>
              </a:rPr>
              <a:t>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concentration musculaire en glycogène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817" name="Text Box 7"/>
          <p:cNvSpPr/>
          <p:nvPr/>
        </p:nvSpPr>
        <p:spPr>
          <a:xfrm>
            <a:off x="1600200" y="2743200"/>
            <a:ext cx="49528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¤ 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Symbol"/>
                <a:ea typeface="Symbol"/>
              </a:rPr>
              <a:t>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contenu minéral osseux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818" name="Text Box 8"/>
          <p:cNvSpPr/>
          <p:nvPr/>
        </p:nvSpPr>
        <p:spPr>
          <a:xfrm>
            <a:off x="1600200" y="3124080"/>
            <a:ext cx="51814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¤ 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Symbol"/>
                <a:ea typeface="Symbol"/>
              </a:rPr>
              <a:t>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concentration en hémoglobine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819" name="Text Box 9"/>
          <p:cNvSpPr/>
          <p:nvPr/>
        </p:nvSpPr>
        <p:spPr>
          <a:xfrm>
            <a:off x="1600200" y="3505320"/>
            <a:ext cx="55627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¤ 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Symbol"/>
                <a:ea typeface="Symbol"/>
              </a:rPr>
              <a:t>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concentration sérique en Fe</a:t>
            </a:r>
            <a:r>
              <a:rPr b="1" lang="fr-FR" sz="1800" strike="noStrike" u="none" baseline="30000">
                <a:solidFill>
                  <a:srgbClr val="ffff00"/>
                </a:solidFill>
                <a:effectLst/>
                <a:uFillTx/>
                <a:latin typeface="Arial"/>
              </a:rPr>
              <a:t>++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820" name="Text Box 10"/>
          <p:cNvSpPr/>
          <p:nvPr/>
        </p:nvSpPr>
        <p:spPr>
          <a:xfrm>
            <a:off x="1600200" y="3962520"/>
            <a:ext cx="56386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¤ 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Symbol"/>
                <a:ea typeface="Symbol"/>
              </a:rPr>
              <a:t>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concentration sanguine en ferritine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821" name="Text Box 11"/>
          <p:cNvSpPr/>
          <p:nvPr/>
        </p:nvSpPr>
        <p:spPr>
          <a:xfrm>
            <a:off x="1600200" y="4419720"/>
            <a:ext cx="67816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¤ 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Symbol"/>
                <a:ea typeface="Symbol"/>
              </a:rPr>
              <a:t>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défenses des GR face aux radicaux libres (glutathion)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822" name="Text Box 13"/>
          <p:cNvSpPr/>
          <p:nvPr/>
        </p:nvSpPr>
        <p:spPr>
          <a:xfrm>
            <a:off x="1600200" y="4800600"/>
            <a:ext cx="44197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¤ 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Symbol"/>
                <a:ea typeface="Symbol"/>
              </a:rPr>
              <a:t>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concentrations sériques en urée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823" name="Text Box 15"/>
          <p:cNvSpPr/>
          <p:nvPr/>
        </p:nvSpPr>
        <p:spPr>
          <a:xfrm>
            <a:off x="1600200" y="5181480"/>
            <a:ext cx="388620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¤ 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Symbol"/>
                <a:ea typeface="Symbol"/>
              </a:rPr>
              <a:t>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production d’acide urique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</p:spTree>
  </p:cSld>
  <p:transition spd="med">
    <p:split dir="out" orient="vert"/>
  </p:transition>
  <p:timing>
    <p:tnLst>
      <p:par>
        <p:cTn id="2317" dur="indefinite" restart="never" nodeType="tmRoot">
          <p:childTnLst>
            <p:seq>
              <p:cTn id="2318" dur="indefinite" nodeType="mainSeq">
                <p:childTnLst>
                  <p:par>
                    <p:cTn id="2319" nodeType="clickEffect" fill="hold">
                      <p:stCondLst>
                        <p:cond delay="0"/>
                      </p:stCondLst>
                      <p:childTnLst>
                        <p:par>
                          <p:cTn id="232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321" nodeType="after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23" dur="500" fill="hold"/>
                                        <p:tgtEl>
                                          <p:spTgt spid="8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24" dur="500" fill="hold"/>
                                        <p:tgtEl>
                                          <p:spTgt spid="8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5" nodeType="clickEffect" fill="hold">
                      <p:stCondLst>
                        <p:cond delay="indefinite"/>
                      </p:stCondLst>
                      <p:childTnLst>
                        <p:par>
                          <p:cTn id="232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327" nodeType="click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2329" dur="500"/>
                                        <p:tgtEl>
                                          <p:spTgt spid="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0" nodeType="clickEffect" fill="hold">
                      <p:stCondLst>
                        <p:cond delay="indefinite"/>
                      </p:stCondLst>
                      <p:childTnLst>
                        <p:par>
                          <p:cTn id="233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332" nodeType="click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2334" dur="500"/>
                                        <p:tgtEl>
                                          <p:spTgt spid="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23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14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b2b2b2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  <p:par>
                    <p:cTn id="2336" nodeType="clickEffect" fill="hold">
                      <p:stCondLst>
                        <p:cond delay="indefinite"/>
                      </p:stCondLst>
                      <p:childTnLst>
                        <p:par>
                          <p:cTn id="233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338" nodeType="click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2340" dur="500"/>
                                        <p:tgtEl>
                                          <p:spTgt spid="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23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15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b2b2b2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  <p:par>
                    <p:cTn id="2342" nodeType="clickEffect" fill="hold">
                      <p:stCondLst>
                        <p:cond delay="indefinite"/>
                      </p:stCondLst>
                      <p:childTnLst>
                        <p:par>
                          <p:cTn id="234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344" nodeType="click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2346" dur="500"/>
                                        <p:tgtEl>
                                          <p:spTgt spid="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23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16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b2b2b2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  <p:par>
                    <p:cTn id="2348" nodeType="clickEffect" fill="hold">
                      <p:stCondLst>
                        <p:cond delay="indefinite"/>
                      </p:stCondLst>
                      <p:childTnLst>
                        <p:par>
                          <p:cTn id="234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350" nodeType="click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2352" dur="500"/>
                                        <p:tgtEl>
                                          <p:spTgt spid="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23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17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b2b2b2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  <p:par>
                    <p:cTn id="2354" nodeType="clickEffect" fill="hold">
                      <p:stCondLst>
                        <p:cond delay="indefinite"/>
                      </p:stCondLst>
                      <p:childTnLst>
                        <p:par>
                          <p:cTn id="235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356" nodeType="click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2358" dur="500"/>
                                        <p:tgtEl>
                                          <p:spTgt spid="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23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18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b2b2b2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  <p:par>
                    <p:cTn id="2360" nodeType="clickEffect" fill="hold">
                      <p:stCondLst>
                        <p:cond delay="indefinite"/>
                      </p:stCondLst>
                      <p:childTnLst>
                        <p:par>
                          <p:cTn id="236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362" nodeType="click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2364" dur="500"/>
                                        <p:tgtEl>
                                          <p:spTgt spid="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23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19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b2b2b2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  <p:par>
                    <p:cTn id="2366" nodeType="clickEffect" fill="hold">
                      <p:stCondLst>
                        <p:cond delay="indefinite"/>
                      </p:stCondLst>
                      <p:childTnLst>
                        <p:par>
                          <p:cTn id="236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368" nodeType="click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2370" dur="500"/>
                                        <p:tgtEl>
                                          <p:spTgt spid="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237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20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b2b2b2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  <p:par>
                    <p:cTn id="2372" nodeType="clickEffect" fill="hold">
                      <p:stCondLst>
                        <p:cond delay="indefinite"/>
                      </p:stCondLst>
                      <p:childTnLst>
                        <p:par>
                          <p:cTn id="237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374" nodeType="click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2376" dur="500"/>
                                        <p:tgtEl>
                                          <p:spTgt spid="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237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21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b2b2b2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  <p:par>
                    <p:cTn id="2378" nodeType="clickEffect" fill="hold">
                      <p:stCondLst>
                        <p:cond delay="indefinite"/>
                      </p:stCondLst>
                      <p:childTnLst>
                        <p:par>
                          <p:cTn id="237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380" nodeType="click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2382" dur="500"/>
                                        <p:tgtEl>
                                          <p:spTgt spid="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238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22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b2b2b2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  <p:par>
                    <p:cTn id="2384" fill="hold">
                      <p:stCondLst>
                        <p:cond delay="indefinite"/>
                      </p:stCondLst>
                      <p:childTnLst>
                        <p:par>
                          <p:cTn id="2385" fill="hold">
                            <p:stCondLst>
                              <p:cond delay="0"/>
                            </p:stCondLst>
                            <p:childTnLst>
                              <p:animClr clrSpc="rgb">
                                <p:cBhvr>
                                  <p:cTn id="2386" dur="1" fill="hold"/>
                                  <p:tgtEl>
                                    <p:spTgt spid="823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b2b2b2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Text Box 2"/>
          <p:cNvSpPr/>
          <p:nvPr/>
        </p:nvSpPr>
        <p:spPr>
          <a:xfrm>
            <a:off x="228600" y="914400"/>
            <a:ext cx="8915400" cy="82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Quelques conseils utiles afin de tenter d’éviter le surentraînement : </a:t>
            </a:r>
            <a:endParaRPr b="1" lang="en-US" sz="2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825" name="Text Box 3"/>
          <p:cNvSpPr/>
          <p:nvPr/>
        </p:nvSpPr>
        <p:spPr>
          <a:xfrm>
            <a:off x="387360" y="2489040"/>
            <a:ext cx="8464680" cy="122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                            </a:t>
            </a:r>
            <a:r>
              <a:rPr b="1" i="1" lang="en-US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1 - Respecter les principes du F.A.I.T.P.A.S. :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“F” de fréquence</a:t>
            </a: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: se limiter à trois séances à fortes charges par microcycle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                        d’une semaine,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826" name="Text Box 4"/>
          <p:cNvSpPr/>
          <p:nvPr/>
        </p:nvSpPr>
        <p:spPr>
          <a:xfrm>
            <a:off x="381240" y="3962520"/>
            <a:ext cx="775224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“I” de intensité</a:t>
            </a: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: savoir gérer les intensités en fonction des capacités 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827" name="Text Box 5"/>
          <p:cNvSpPr/>
          <p:nvPr/>
        </p:nvSpPr>
        <p:spPr>
          <a:xfrm>
            <a:off x="387360" y="4724280"/>
            <a:ext cx="8756280" cy="91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“T” de temps</a:t>
            </a: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: en fonction de l’intensité savoir limiter les durées des exercices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                       (notion de temps limite) pour obtenir l’impact physiologique 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                        recherché,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</p:spTree>
  </p:cSld>
  <p:transition spd="med">
    <p:split dir="out" orient="vert"/>
  </p:transition>
  <p:timing>
    <p:tnLst>
      <p:par>
        <p:cTn id="2387" dur="indefinite" restart="never" nodeType="tmRoot">
          <p:childTnLst>
            <p:seq>
              <p:cTn id="2388" dur="indefinite" nodeType="mainSeq">
                <p:childTnLst>
                  <p:par>
                    <p:cTn id="2389" nodeType="clickEffect" fill="hold">
                      <p:stCondLst>
                        <p:cond delay="0"/>
                      </p:stCondLst>
                      <p:childTnLst>
                        <p:par>
                          <p:cTn id="239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391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393" dur="500"/>
                                        <p:tgtEl>
                                          <p:spTgt spid="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4" nodeType="clickEffect" fill="hold">
                      <p:stCondLst>
                        <p:cond delay="indefinite"/>
                      </p:stCondLst>
                      <p:childTnLst>
                        <p:par>
                          <p:cTn id="239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396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398" dur="500"/>
                                        <p:tgtEl>
                                          <p:spTgt spid="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9" nodeType="clickEffect" fill="hold">
                      <p:stCondLst>
                        <p:cond delay="indefinite"/>
                      </p:stCondLst>
                      <p:childTnLst>
                        <p:par>
                          <p:cTn id="240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401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403" dur="500"/>
                                        <p:tgtEl>
                                          <p:spTgt spid="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240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25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b2b2b2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  <p:par>
                    <p:cTn id="2405" nodeType="clickEffect" fill="hold">
                      <p:stCondLst>
                        <p:cond delay="indefinite"/>
                      </p:stCondLst>
                      <p:childTnLst>
                        <p:par>
                          <p:cTn id="240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407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409" dur="500"/>
                                        <p:tgtEl>
                                          <p:spTgt spid="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24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26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b2b2b2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  <p:par>
                    <p:cTn id="2411" fill="hold">
                      <p:stCondLst>
                        <p:cond delay="indefinite"/>
                      </p:stCondLst>
                      <p:childTnLst>
                        <p:par>
                          <p:cTn id="2412" fill="hold">
                            <p:stCondLst>
                              <p:cond delay="0"/>
                            </p:stCondLst>
                            <p:childTnLst>
                              <p:animClr clrSpc="rgb">
                                <p:cBhvr>
                                  <p:cTn id="2413" dur="1" fill="hold"/>
                                  <p:tgtEl>
                                    <p:spTgt spid="827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b2b2b2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Text Box 2"/>
          <p:cNvSpPr/>
          <p:nvPr/>
        </p:nvSpPr>
        <p:spPr>
          <a:xfrm>
            <a:off x="720" y="1295280"/>
            <a:ext cx="8882280" cy="91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“P” de progressivité</a:t>
            </a: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: quelle que soit l’orientation d’une nouvelle période 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                      (ou mésocyle) d’entraînement, n’augmenter que progressivement 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                      dans le temps les charges d’entraînement, 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829" name="Text Box 3"/>
          <p:cNvSpPr/>
          <p:nvPr/>
        </p:nvSpPr>
        <p:spPr>
          <a:xfrm>
            <a:off x="146520" y="2743200"/>
            <a:ext cx="8997120" cy="146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“A” d’alternance</a:t>
            </a: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: savoir alterner les exercices, les séances, les entraînements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                       et les récupérations adaptées. Alterner les séances et les 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                       microcycles “difficiles” et “faciles”. Conserver un minimum d’une 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                       journée de repos complet par semaine et d’un microcycle de 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                       récupération active tous les trois microcycles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830" name="Text Box 4"/>
          <p:cNvSpPr/>
          <p:nvPr/>
        </p:nvSpPr>
        <p:spPr>
          <a:xfrm>
            <a:off x="95400" y="4800600"/>
            <a:ext cx="9048240" cy="91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“S” de spécificité</a:t>
            </a: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: savoir tenir compte  des capacités individuelles et spécifiques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                      du sportif pour programmer les charges d’entraînement les mieux 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                      ajustées.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</p:spTree>
  </p:cSld>
  <p:transition spd="med">
    <p:split dir="out" orient="vert"/>
  </p:transition>
  <p:timing>
    <p:tnLst>
      <p:par>
        <p:cTn id="2414" dur="indefinite" restart="never" nodeType="tmRoot">
          <p:childTnLst>
            <p:seq>
              <p:cTn id="2415" dur="indefinite" nodeType="mainSeq">
                <p:childTnLst>
                  <p:par>
                    <p:cTn id="2416" nodeType="clickEffect" fill="hold">
                      <p:stCondLst>
                        <p:cond delay="0"/>
                      </p:stCondLst>
                      <p:childTnLst>
                        <p:par>
                          <p:cTn id="241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418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420" dur="500"/>
                                        <p:tgtEl>
                                          <p:spTgt spid="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1" nodeType="clickEffect" fill="hold">
                      <p:stCondLst>
                        <p:cond delay="indefinite"/>
                      </p:stCondLst>
                      <p:childTnLst>
                        <p:par>
                          <p:cTn id="242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423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425" dur="500"/>
                                        <p:tgtEl>
                                          <p:spTgt spid="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24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28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b2b2b2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  <p:par>
                    <p:cTn id="2427" nodeType="clickEffect" fill="hold">
                      <p:stCondLst>
                        <p:cond delay="indefinite"/>
                      </p:stCondLst>
                      <p:childTnLst>
                        <p:par>
                          <p:cTn id="242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429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431" dur="500"/>
                                        <p:tgtEl>
                                          <p:spTgt spid="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24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29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b2b2b2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  <p:par>
                    <p:cTn id="2433" fill="hold">
                      <p:stCondLst>
                        <p:cond delay="indefinite"/>
                      </p:stCondLst>
                      <p:childTnLst>
                        <p:par>
                          <p:cTn id="2434" fill="hold">
                            <p:stCondLst>
                              <p:cond delay="0"/>
                            </p:stCondLst>
                            <p:childTnLst>
                              <p:animClr clrSpc="rgb">
                                <p:cBhvr>
                                  <p:cTn id="2435" dur="1" fill="hold"/>
                                  <p:tgtEl>
                                    <p:spTgt spid="830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b2b2b2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Text Box 2"/>
          <p:cNvSpPr/>
          <p:nvPr/>
        </p:nvSpPr>
        <p:spPr>
          <a:xfrm>
            <a:off x="304920" y="1523880"/>
            <a:ext cx="88077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2 - Essayer d’évaluer le niveau de fatigue ressentie aprés chaque entraînement,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832" name="Text Box 3"/>
          <p:cNvSpPr/>
          <p:nvPr/>
        </p:nvSpPr>
        <p:spPr>
          <a:xfrm>
            <a:off x="289440" y="2398680"/>
            <a:ext cx="818424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3 - Organiser avec le sportif l’environnement dans lequel il rencontrera le 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   moins de stress extra sportifs,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833" name="Text Box 4"/>
          <p:cNvSpPr/>
          <p:nvPr/>
        </p:nvSpPr>
        <p:spPr>
          <a:xfrm>
            <a:off x="306360" y="3352680"/>
            <a:ext cx="53499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4 - S’assurer du bon état nutritionnel du sportif,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834" name="Text Box 5"/>
          <p:cNvSpPr/>
          <p:nvPr/>
        </p:nvSpPr>
        <p:spPr>
          <a:xfrm>
            <a:off x="305640" y="4038480"/>
            <a:ext cx="765000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5 - Interroger régulièrement le sportif sur les éventuels troubles du 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   comportement (motivation, sommeil, agressivité, perte d’appétit...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835" name="Text Box 6"/>
          <p:cNvSpPr/>
          <p:nvPr/>
        </p:nvSpPr>
        <p:spPr>
          <a:xfrm>
            <a:off x="305280" y="4876920"/>
            <a:ext cx="813312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6 - Tenir à jour un carnet d’entraînement, véritable “passe sport” entre le 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   sportif, son entraîneur, son préparateur physique et son médecin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</p:spTree>
  </p:cSld>
  <p:transition spd="med">
    <p:split dir="out" orient="vert"/>
  </p:transition>
  <p:timing>
    <p:tnLst>
      <p:par>
        <p:cTn id="2436" dur="indefinite" restart="never" nodeType="tmRoot">
          <p:childTnLst>
            <p:seq>
              <p:cTn id="2437" dur="indefinite" nodeType="mainSeq">
                <p:childTnLst>
                  <p:par>
                    <p:cTn id="2438" nodeType="clickEffect" fill="hold">
                      <p:stCondLst>
                        <p:cond delay="0"/>
                      </p:stCondLst>
                      <p:childTnLst>
                        <p:par>
                          <p:cTn id="243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440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442" dur="500"/>
                                        <p:tgtEl>
                                          <p:spTgt spid="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3" nodeType="clickEffect" fill="hold">
                      <p:stCondLst>
                        <p:cond delay="indefinite"/>
                      </p:stCondLst>
                      <p:childTnLst>
                        <p:par>
                          <p:cTn id="244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445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447" dur="500"/>
                                        <p:tgtEl>
                                          <p:spTgt spid="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244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31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b2b2b2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  <p:par>
                    <p:cTn id="2449" nodeType="clickEffect" fill="hold">
                      <p:stCondLst>
                        <p:cond delay="indefinite"/>
                      </p:stCondLst>
                      <p:childTnLst>
                        <p:par>
                          <p:cTn id="245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451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453" dur="500"/>
                                        <p:tgtEl>
                                          <p:spTgt spid="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24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32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b2b2b2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  <p:par>
                    <p:cTn id="2455" nodeType="clickEffect" fill="hold">
                      <p:stCondLst>
                        <p:cond delay="indefinite"/>
                      </p:stCondLst>
                      <p:childTnLst>
                        <p:par>
                          <p:cTn id="245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457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459" dur="500"/>
                                        <p:tgtEl>
                                          <p:spTgt spid="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246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33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b2b2b2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  <p:par>
                    <p:cTn id="2461" nodeType="clickEffect" fill="hold">
                      <p:stCondLst>
                        <p:cond delay="indefinite"/>
                      </p:stCondLst>
                      <p:childTnLst>
                        <p:par>
                          <p:cTn id="246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463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465" dur="500"/>
                                        <p:tgtEl>
                                          <p:spTgt spid="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animClr clrSpc="rgb">
                                <p:cBhvr>
                                  <p:cTn id="246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34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b2b2b2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  <p:par>
                    <p:cTn id="2467" fill="hold">
                      <p:stCondLst>
                        <p:cond delay="indefinite"/>
                      </p:stCondLst>
                      <p:childTnLst>
                        <p:par>
                          <p:cTn id="2468" fill="hold">
                            <p:stCondLst>
                              <p:cond delay="0"/>
                            </p:stCondLst>
                            <p:childTnLst>
                              <p:animClr clrSpc="rgb">
                                <p:cBhvr>
                                  <p:cTn id="2469" dur="1" fill="hold"/>
                                  <p:tgtEl>
                                    <p:spTgt spid="835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b2b2b2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Text Box 2"/>
          <p:cNvSpPr/>
          <p:nvPr/>
        </p:nvSpPr>
        <p:spPr>
          <a:xfrm>
            <a:off x="533520" y="838080"/>
            <a:ext cx="8001000" cy="20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8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3600" strike="noStrike" u="none">
                <a:solidFill>
                  <a:srgbClr val="ffff66"/>
                </a:solidFill>
                <a:effectLst/>
                <a:uFillTx/>
                <a:latin typeface="Arial"/>
              </a:rPr>
              <a:t>MERCI POUR</a:t>
            </a:r>
            <a:endParaRPr b="1" lang="en-US" sz="36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36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8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3600" strike="noStrike" u="none">
                <a:solidFill>
                  <a:srgbClr val="ffff66"/>
                </a:solidFill>
                <a:effectLst/>
                <a:uFillTx/>
                <a:latin typeface="Arial"/>
              </a:rPr>
              <a:t>    VOTRE ATTENTION</a:t>
            </a:r>
            <a:endParaRPr b="1" lang="en-US" sz="36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pic>
        <p:nvPicPr>
          <p:cNvPr id="837" name="Object 3" descr=""/>
          <p:cNvPicPr/>
          <p:nvPr/>
        </p:nvPicPr>
        <p:blipFill>
          <a:blip r:embed="rId1"/>
          <a:stretch/>
        </p:blipFill>
        <p:spPr>
          <a:xfrm>
            <a:off x="2514600" y="4038480"/>
            <a:ext cx="4191120" cy="2374920"/>
          </a:xfrm>
          <a:prstGeom prst="rect">
            <a:avLst/>
          </a:prstGeom>
          <a:noFill/>
          <a:ln w="0">
            <a:noFill/>
          </a:ln>
        </p:spPr>
      </p:pic>
    </p:spTree>
  </p:cSld>
  <p:transition spd="med">
    <p:split dir="out" orient="vert"/>
  </p:transition>
  <p:timing>
    <p:tnLst>
      <p:par>
        <p:cTn id="2470" dur="indefinite" restart="never" nodeType="tmRoot">
          <p:childTnLst>
            <p:seq>
              <p:cTn id="2471" dur="indefinite" nodeType="mainSeq">
                <p:childTnLst>
                  <p:par>
                    <p:cTn id="2472" nodeType="clickEffect" fill="hold">
                      <p:stCondLst>
                        <p:cond delay="0"/>
                      </p:stCondLst>
                      <p:childTnLst>
                        <p:par>
                          <p:cTn id="247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474" nodeType="afterEffect" fill="hold" presetClass="entr" presetID="23" presetSubtype="28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476" dur="500" fill="hold"/>
                                        <p:tgtEl>
                                          <p:spTgt spid="8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477" dur="500" fill="hold"/>
                                        <p:tgtEl>
                                          <p:spTgt spid="8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78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2479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481" dur="500"/>
                                        <p:tgtEl>
                                          <p:spTgt spid="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Text Box 2"/>
          <p:cNvSpPr/>
          <p:nvPr/>
        </p:nvSpPr>
        <p:spPr>
          <a:xfrm>
            <a:off x="228600" y="762120"/>
            <a:ext cx="8610480" cy="86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12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66ff33"/>
                </a:solidFill>
                <a:effectLst/>
                <a:uFillTx/>
                <a:latin typeface="Arial"/>
              </a:rPr>
              <a:t>Le processus de surentraînement est nécessairement systémique ; 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12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66ff33"/>
                </a:solidFill>
                <a:effectLst/>
                <a:uFillTx/>
                <a:latin typeface="Arial"/>
              </a:rPr>
              <a:t>à la fois central, structural et métabolique.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839" name="Text Box 3"/>
          <p:cNvSpPr/>
          <p:nvPr/>
        </p:nvSpPr>
        <p:spPr>
          <a:xfrm>
            <a:off x="380880" y="2209680"/>
            <a:ext cx="8534520" cy="91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 composante métabolique est elle-même composée de plusieurs sous-ensembles biochimiques pour lesquels il semble exister, tout au moins partiellement, une </a:t>
            </a:r>
            <a:r>
              <a:rPr b="1" i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logique globale de ‘’dysfonctionnement’’</a:t>
            </a:r>
            <a:r>
              <a:rPr b="1" i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840" name="Line 4"/>
          <p:cNvSpPr/>
          <p:nvPr/>
        </p:nvSpPr>
        <p:spPr>
          <a:xfrm>
            <a:off x="457200" y="1752480"/>
            <a:ext cx="8153280" cy="0"/>
          </a:xfrm>
          <a:prstGeom prst="line">
            <a:avLst/>
          </a:prstGeom>
          <a:ln w="57240">
            <a:solidFill>
              <a:srgbClr val="ff99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841" name="Text Box 5"/>
          <p:cNvSpPr/>
          <p:nvPr/>
        </p:nvSpPr>
        <p:spPr>
          <a:xfrm>
            <a:off x="380880" y="3657600"/>
            <a:ext cx="8763120" cy="146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Aucune étude n’a cependant pu démontrer l’existence et la logique de ce </a:t>
            </a:r>
            <a:r>
              <a:rPr b="1" i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processus d’altération du métabolisme énergétique</a:t>
            </a:r>
            <a:r>
              <a:rPr b="1" i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. Rarement invoqué dans les cas de surentraînement mais pourtant primordial dans le métabolisme des exercices d’endurance, la place du </a:t>
            </a:r>
            <a:r>
              <a:rPr b="1" i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métabolisme lipidique</a:t>
            </a:r>
            <a:r>
              <a:rPr b="1" i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reste une grande inconnue.... 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842" name="Line 6"/>
          <p:cNvSpPr/>
          <p:nvPr/>
        </p:nvSpPr>
        <p:spPr>
          <a:xfrm>
            <a:off x="2819520" y="3505320"/>
            <a:ext cx="3352680" cy="0"/>
          </a:xfrm>
          <a:prstGeom prst="line">
            <a:avLst/>
          </a:prstGeom>
          <a:ln w="572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843" name="Line 7"/>
          <p:cNvSpPr/>
          <p:nvPr/>
        </p:nvSpPr>
        <p:spPr>
          <a:xfrm>
            <a:off x="2666880" y="5410080"/>
            <a:ext cx="3353040" cy="0"/>
          </a:xfrm>
          <a:prstGeom prst="line">
            <a:avLst/>
          </a:prstGeom>
          <a:ln w="572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844" name="Text Box 8"/>
          <p:cNvSpPr/>
          <p:nvPr/>
        </p:nvSpPr>
        <p:spPr>
          <a:xfrm>
            <a:off x="380880" y="5638680"/>
            <a:ext cx="8534520" cy="91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Le </a:t>
            </a:r>
            <a:r>
              <a:rPr b="1" i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suivi longitudinal</a:t>
            </a:r>
            <a:r>
              <a:rPr b="1" i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des réponses métaboliques aux charges d’entraînement est une solution à envisager pour tenter de reproduire une telle logique…</a:t>
            </a:r>
            <a:endParaRPr b="1" lang="en-US" sz="18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845" name="Text Box 9"/>
          <p:cNvSpPr/>
          <p:nvPr/>
        </p:nvSpPr>
        <p:spPr>
          <a:xfrm>
            <a:off x="228600" y="228600"/>
            <a:ext cx="8686800" cy="398880"/>
          </a:xfrm>
          <a:prstGeom prst="rect">
            <a:avLst/>
          </a:prstGeom>
          <a:noFill/>
          <a:ln w="25560">
            <a:solidFill>
              <a:srgbClr val="ffff6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12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66"/>
                </a:solidFill>
                <a:effectLst/>
                <a:uFillTx/>
                <a:latin typeface="Arial"/>
              </a:rPr>
              <a:t>Synthèse des hypothèses avancées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</p:spTree>
  </p:cSld>
  <p:transition spd="med">
    <p:split dir="out" orient="vert"/>
  </p:transition>
  <p:timing>
    <p:tnLst>
      <p:par>
        <p:cTn id="2482" dur="indefinite" restart="never" nodeType="tmRoot">
          <p:childTnLst>
            <p:seq>
              <p:cTn id="2483" dur="indefinite" nodeType="mainSeq">
                <p:childTnLst>
                  <p:par>
                    <p:cTn id="2484" nodeType="clickEffect" fill="hold">
                      <p:stCondLst>
                        <p:cond delay="0"/>
                      </p:stCondLst>
                      <p:childTnLst>
                        <p:par>
                          <p:cTn id="248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486" nodeType="after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88" dur="500" fill="hold"/>
                                        <p:tgtEl>
                                          <p:spTgt spid="8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89" dur="500" fill="hold"/>
                                        <p:tgtEl>
                                          <p:spTgt spid="8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90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2491" nodeType="after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2493" dur="500"/>
                                        <p:tgtEl>
                                          <p:spTgt spid="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4" nodeType="clickEffect" fill="hold">
                      <p:stCondLst>
                        <p:cond delay="indefinite"/>
                      </p:stCondLst>
                      <p:childTnLst>
                        <p:par>
                          <p:cTn id="249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496" nodeType="clickEffect" fill="hold" presetClass="entr" presetID="17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498" dur="500" fill="hold"/>
                                        <p:tgtEl>
                                          <p:spTgt spid="8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499" dur="500" fill="hold"/>
                                        <p:tgtEl>
                                          <p:spTgt spid="8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00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2501" nodeType="after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2503" dur="500"/>
                                        <p:tgtEl>
                                          <p:spTgt spid="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4" nodeType="clickEffect" fill="hold">
                      <p:stCondLst>
                        <p:cond delay="indefinite"/>
                      </p:stCondLst>
                      <p:childTnLst>
                        <p:par>
                          <p:cTn id="250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506" nodeType="clickEffect" fill="hold" presetClass="entr" presetID="17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508" dur="500" fill="hold"/>
                                        <p:tgtEl>
                                          <p:spTgt spid="8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509" dur="500" fill="hold"/>
                                        <p:tgtEl>
                                          <p:spTgt spid="8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animClr clrSpc="rgb">
                                <p:cBhvr>
                                  <p:cTn id="25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39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b2b2b2"/>
                                </p:to>
                              </p:animClr>
                            </p:childTnLst>
                          </p:cTn>
                        </p:par>
                        <p:par>
                          <p:cTn id="2511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2512" nodeType="after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2514" dur="500"/>
                                        <p:tgtEl>
                                          <p:spTgt spid="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5" nodeType="clickEffect" fill="hold">
                      <p:stCondLst>
                        <p:cond delay="indefinite"/>
                      </p:stCondLst>
                      <p:childTnLst>
                        <p:par>
                          <p:cTn id="251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517" nodeType="clickEffect" fill="hold" presetClass="entr" presetID="17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519" dur="500" fill="hold"/>
                                        <p:tgtEl>
                                          <p:spTgt spid="8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520" dur="500" fill="hold"/>
                                        <p:tgtEl>
                                          <p:spTgt spid="8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animClr clrSpc="rgb">
                                <p:cBhvr>
                                  <p:cTn id="25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41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b2b2b2"/>
                                </p:to>
                              </p:animClr>
                            </p:childTnLst>
                          </p:cTn>
                        </p:par>
                        <p:par>
                          <p:cTn id="2522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2523" nodeType="after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2525" dur="500"/>
                                        <p:tgtEl>
                                          <p:spTgt spid="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26" fill="hold">
                      <p:stCondLst>
                        <p:cond delay="indefinite"/>
                      </p:stCondLst>
                      <p:childTnLst>
                        <p:par>
                          <p:cTn id="2527" fill="hold">
                            <p:stCondLst>
                              <p:cond delay="0"/>
                            </p:stCondLst>
                            <p:childTnLst>
                              <p:animClr clrSpc="rgb">
                                <p:cBhvr>
                                  <p:cTn id="2528" dur="1" fill="hold"/>
                                  <p:tgtEl>
                                    <p:spTgt spid="844"/>
                                  </p:tgtEl>
                                  <p:attrNameLst>
                                    <p:attrName>ppt_c</p:attrName>
                                  </p:attrNameLst>
                                </p:cBhvr>
                                <p:to>
                                  <a:srgbClr val="b2b2b2"/>
                                </p:to>
                              </p:animCl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Text Box 2"/>
          <p:cNvSpPr/>
          <p:nvPr/>
        </p:nvSpPr>
        <p:spPr>
          <a:xfrm>
            <a:off x="806400" y="2286000"/>
            <a:ext cx="7728120" cy="173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EST-IL ENVISAGEABLE D’EVITER LE SURENTRAINEMENT CHEZ LE RUGBYMAN ?</a:t>
            </a:r>
            <a:endParaRPr b="1" lang="en-US" sz="36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529" dur="indefinite" restart="never" nodeType="tmRoot">
          <p:childTnLst>
            <p:seq>
              <p:cTn id="2530" dur="indefinite" nodeType="mainSeq">
                <p:childTnLst>
                  <p:par>
                    <p:cTn id="2531" nodeType="clickEffect" fill="hold">
                      <p:stCondLst>
                        <p:cond delay="0"/>
                      </p:stCondLst>
                      <p:childTnLst>
                        <p:par>
                          <p:cTn id="253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533" nodeType="after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2535" dur="500"/>
                                        <p:tgtEl>
                                          <p:spTgt spid="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Text Box 2"/>
          <p:cNvSpPr/>
          <p:nvPr/>
        </p:nvSpPr>
        <p:spPr>
          <a:xfrm>
            <a:off x="457200" y="228600"/>
            <a:ext cx="8305920" cy="459720"/>
          </a:xfrm>
          <a:prstGeom prst="rect">
            <a:avLst/>
          </a:prstGeom>
          <a:noFill/>
          <a:ln w="255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Le surentraînement du rugbyman</a:t>
            </a:r>
            <a:endParaRPr b="1" lang="en-US" sz="2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848" name="Text Box 3"/>
          <p:cNvSpPr/>
          <p:nvPr/>
        </p:nvSpPr>
        <p:spPr>
          <a:xfrm>
            <a:off x="441360" y="5546880"/>
            <a:ext cx="8397720" cy="100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just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Quels paramètres prendre en compte ?</a:t>
            </a: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: le suivi biologique de la réponse métabolique à l’exercice doit être complété par un suivi biochimique et hématologique.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849" name="Text Box 4"/>
          <p:cNvSpPr/>
          <p:nvPr/>
        </p:nvSpPr>
        <p:spPr>
          <a:xfrm>
            <a:off x="441360" y="1355760"/>
            <a:ext cx="8397720" cy="100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just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La pratique du rugby</a:t>
            </a: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: elle comporte de l’endurance (2 x 40’), de la vitesse (phases de jeu), du travail excentrique (blocages…), des chocs (plaquages…).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850" name="Text Box 5"/>
          <p:cNvSpPr/>
          <p:nvPr/>
        </p:nvSpPr>
        <p:spPr>
          <a:xfrm>
            <a:off x="441360" y="2422440"/>
            <a:ext cx="8397720" cy="70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just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L’entraînement du rugby</a:t>
            </a: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: 1 à 2 séances/jour, de plus en plus d’endurance, un durcissement du jeu (donc de l’entraînement).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851" name="Text Box 6"/>
          <p:cNvSpPr/>
          <p:nvPr/>
        </p:nvSpPr>
        <p:spPr>
          <a:xfrm>
            <a:off x="441360" y="4464000"/>
            <a:ext cx="8397720" cy="100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just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Quel type de surentraînement ?</a:t>
            </a: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: probablement moins métabolique que pour les disciplines d’endurance, mais plus cellulaire, protéique, hématologique (et donc immunitaire).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852" name="Line 7"/>
          <p:cNvSpPr/>
          <p:nvPr/>
        </p:nvSpPr>
        <p:spPr>
          <a:xfrm>
            <a:off x="533520" y="4343400"/>
            <a:ext cx="8381880" cy="0"/>
          </a:xfrm>
          <a:prstGeom prst="line">
            <a:avLst/>
          </a:prstGeom>
          <a:ln w="50760">
            <a:solidFill>
              <a:srgbClr val="ff99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853" name="Text Box 10"/>
          <p:cNvSpPr/>
          <p:nvPr/>
        </p:nvSpPr>
        <p:spPr>
          <a:xfrm>
            <a:off x="448920" y="914400"/>
            <a:ext cx="160884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just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sng">
                <a:solidFill>
                  <a:srgbClr val="ffffff"/>
                </a:solidFill>
                <a:effectLst/>
                <a:uFillTx/>
                <a:latin typeface="Arial"/>
              </a:rPr>
              <a:t>La situation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854" name="Text Box 11"/>
          <p:cNvSpPr/>
          <p:nvPr/>
        </p:nvSpPr>
        <p:spPr>
          <a:xfrm>
            <a:off x="441360" y="3184560"/>
            <a:ext cx="8397720" cy="100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just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Conséquences biologique probables</a:t>
            </a: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: développement des processus de restructuration cellulaire, exacerbation des réponses inflammatoires et immunitaires, réponse à l’hémolyse.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536" dur="indefinite" restart="never" nodeType="tmRoot">
          <p:childTnLst>
            <p:seq>
              <p:cTn id="2537" dur="indefinite" nodeType="mainSeq">
                <p:childTnLst>
                  <p:par>
                    <p:cTn id="2538" nodeType="clickEffect" fill="hold">
                      <p:stCondLst>
                        <p:cond delay="0"/>
                      </p:stCondLst>
                      <p:childTnLst>
                        <p:par>
                          <p:cTn id="253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540" nodeType="after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42" dur="500" fill="hold"/>
                                        <p:tgtEl>
                                          <p:spTgt spid="8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43" dur="500" fill="hold"/>
                                        <p:tgtEl>
                                          <p:spTgt spid="8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44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2545" nodeType="after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2547" dur="500"/>
                                        <p:tgtEl>
                                          <p:spTgt spid="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48" nodeType="afterEffect" fill="hold">
                            <p:stCondLst>
                              <p:cond delay="1000"/>
                            </p:stCondLst>
                            <p:childTnLst>
                              <p:par>
                                <p:cTn id="2549" nodeType="after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2551" dur="500"/>
                                        <p:tgtEl>
                                          <p:spTgt spid="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2" nodeType="clickEffect" fill="hold">
                      <p:stCondLst>
                        <p:cond delay="indefinite"/>
                      </p:stCondLst>
                      <p:childTnLst>
                        <p:par>
                          <p:cTn id="255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554" nodeType="click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2556" dur="500"/>
                                        <p:tgtEl>
                                          <p:spTgt spid="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7" nodeType="clickEffect" fill="hold">
                      <p:stCondLst>
                        <p:cond delay="indefinite"/>
                      </p:stCondLst>
                      <p:childTnLst>
                        <p:par>
                          <p:cTn id="255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559" nodeType="click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2561" dur="500"/>
                                        <p:tgtEl>
                                          <p:spTgt spid="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62" nodeType="clickEffect" fill="hold">
                      <p:stCondLst>
                        <p:cond delay="indefinite"/>
                      </p:stCondLst>
                      <p:childTnLst>
                        <p:par>
                          <p:cTn id="256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564" nodeType="clickEffect" fill="hold" presetClass="entr" presetID="17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566" dur="500" fill="hold"/>
                                        <p:tgtEl>
                                          <p:spTgt spid="8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567" dur="500" fill="hold"/>
                                        <p:tgtEl>
                                          <p:spTgt spid="8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68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2569" nodeType="after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2571" dur="500"/>
                                        <p:tgtEl>
                                          <p:spTgt spid="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72" nodeType="clickEffect" fill="hold">
                      <p:stCondLst>
                        <p:cond delay="indefinite"/>
                      </p:stCondLst>
                      <p:childTnLst>
                        <p:par>
                          <p:cTn id="257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574" nodeType="click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2576" dur="500"/>
                                        <p:tgtEl>
                                          <p:spTgt spid="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Text Box 2"/>
          <p:cNvSpPr/>
          <p:nvPr/>
        </p:nvSpPr>
        <p:spPr>
          <a:xfrm>
            <a:off x="457200" y="228600"/>
            <a:ext cx="8305920" cy="459720"/>
          </a:xfrm>
          <a:prstGeom prst="rect">
            <a:avLst/>
          </a:prstGeom>
          <a:noFill/>
          <a:ln w="255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Quelles études à mener dès demain ?</a:t>
            </a:r>
            <a:endParaRPr b="1" lang="en-US" sz="24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856" name="Text Box 4"/>
          <p:cNvSpPr/>
          <p:nvPr/>
        </p:nvSpPr>
        <p:spPr>
          <a:xfrm>
            <a:off x="380880" y="1001880"/>
            <a:ext cx="8550360" cy="70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just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La compréhension du phénomène de surentraînement passe tout d’abord par la </a:t>
            </a:r>
            <a:r>
              <a:rPr b="1" lang="fr-FR" sz="2000" strike="noStrike" u="none">
                <a:solidFill>
                  <a:srgbClr val="00ffff"/>
                </a:solidFill>
                <a:effectLst/>
                <a:uFillTx/>
                <a:latin typeface="Arial"/>
              </a:rPr>
              <a:t>compréhension de la pratique au quotidien</a:t>
            </a: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.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857" name="Text Box 5"/>
          <p:cNvSpPr/>
          <p:nvPr/>
        </p:nvSpPr>
        <p:spPr>
          <a:xfrm>
            <a:off x="380880" y="2057400"/>
            <a:ext cx="8550360" cy="100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just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1- </a:t>
            </a:r>
            <a:r>
              <a:rPr b="1" lang="fr-FR" sz="2000" strike="noStrike" u="none">
                <a:solidFill>
                  <a:srgbClr val="00ffff"/>
                </a:solidFill>
                <a:effectLst/>
                <a:uFillTx/>
                <a:latin typeface="Arial"/>
              </a:rPr>
              <a:t>Combien de temps</a:t>
            </a: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l’organisme du rugbyman doit-il récupérer entre 2 matchs pour se remettre pleinement des dommages musculaires, hématologiques, immunitaires et métaboliques subis ?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858" name="Text Box 6"/>
          <p:cNvSpPr/>
          <p:nvPr/>
        </p:nvSpPr>
        <p:spPr>
          <a:xfrm>
            <a:off x="380880" y="3124080"/>
            <a:ext cx="8550360" cy="131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just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Ceci devrait faire l’œuvre d’une étude approfondie sur des rugbymen en début, en milieu et en fin de saison pour comprendre quels sont </a:t>
            </a:r>
            <a:r>
              <a:rPr b="1" lang="fr-FR" sz="2000" strike="noStrike" u="none">
                <a:solidFill>
                  <a:srgbClr val="00ffff"/>
                </a:solidFill>
                <a:effectLst/>
                <a:uFillTx/>
                <a:latin typeface="Arial"/>
              </a:rPr>
              <a:t>les mécanismes de leur fatigue et leurs conséquences</a:t>
            </a: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dans le temps.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859" name="Text Box 7"/>
          <p:cNvSpPr/>
          <p:nvPr/>
        </p:nvSpPr>
        <p:spPr>
          <a:xfrm>
            <a:off x="380880" y="4708440"/>
            <a:ext cx="8550360" cy="70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just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2- </a:t>
            </a:r>
            <a:r>
              <a:rPr b="1" lang="fr-FR" sz="2000" strike="noStrike" u="none">
                <a:solidFill>
                  <a:srgbClr val="00ffff"/>
                </a:solidFill>
                <a:effectLst/>
                <a:uFillTx/>
                <a:latin typeface="Arial"/>
              </a:rPr>
              <a:t>Quel suivi biologique</a:t>
            </a: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réaliser pour mieux comprendre les mécanismes du surentraînement chez le rugbyman de haut-niveau ?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860" name="Text Box 9"/>
          <p:cNvSpPr/>
          <p:nvPr/>
        </p:nvSpPr>
        <p:spPr>
          <a:xfrm>
            <a:off x="380880" y="5470560"/>
            <a:ext cx="8550360" cy="100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just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Ceci devrait faire l’œuvre d’une recherche longitudinale où les adaptations et donc les mésadaptations à l’entraînement seraient </a:t>
            </a:r>
            <a:r>
              <a:rPr b="1" lang="fr-FR" sz="2000" strike="noStrike" u="none">
                <a:solidFill>
                  <a:srgbClr val="00ffff"/>
                </a:solidFill>
                <a:effectLst/>
                <a:uFillTx/>
                <a:latin typeface="Arial"/>
              </a:rPr>
              <a:t>étudiées pas à pas.</a:t>
            </a:r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861" name="Line 10"/>
          <p:cNvSpPr/>
          <p:nvPr/>
        </p:nvSpPr>
        <p:spPr>
          <a:xfrm>
            <a:off x="457200" y="1905120"/>
            <a:ext cx="8381880" cy="0"/>
          </a:xfrm>
          <a:prstGeom prst="line">
            <a:avLst/>
          </a:prstGeom>
          <a:ln w="50760">
            <a:solidFill>
              <a:srgbClr val="ff99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sp>
        <p:nvSpPr>
          <p:cNvPr id="862" name="Line 11"/>
          <p:cNvSpPr/>
          <p:nvPr/>
        </p:nvSpPr>
        <p:spPr>
          <a:xfrm>
            <a:off x="457200" y="4556160"/>
            <a:ext cx="8381880" cy="0"/>
          </a:xfrm>
          <a:prstGeom prst="line">
            <a:avLst/>
          </a:prstGeom>
          <a:ln w="50760">
            <a:solidFill>
              <a:srgbClr val="ff99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1" lang="en-US" sz="20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577" dur="indefinite" restart="never" nodeType="tmRoot">
          <p:childTnLst>
            <p:seq>
              <p:cTn id="2578" dur="indefinite" nodeType="mainSeq">
                <p:childTnLst>
                  <p:par>
                    <p:cTn id="2579" nodeType="clickEffect" fill="hold">
                      <p:stCondLst>
                        <p:cond delay="0"/>
                      </p:stCondLst>
                      <p:childTnLst>
                        <p:par>
                          <p:cTn id="258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581" nodeType="after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83" dur="500" fill="hold"/>
                                        <p:tgtEl>
                                          <p:spTgt spid="8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84" dur="500" fill="hold"/>
                                        <p:tgtEl>
                                          <p:spTgt spid="8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85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2586" nodeType="after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2588" dur="500"/>
                                        <p:tgtEl>
                                          <p:spTgt spid="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9" nodeType="clickEffect" fill="hold">
                      <p:stCondLst>
                        <p:cond delay="indefinite"/>
                      </p:stCondLst>
                      <p:childTnLst>
                        <p:par>
                          <p:cTn id="259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591" nodeType="clickEffect" fill="hold" presetClass="entr" presetID="17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593" dur="500" fill="hold"/>
                                        <p:tgtEl>
                                          <p:spTgt spid="8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594" dur="500" fill="hold"/>
                                        <p:tgtEl>
                                          <p:spTgt spid="8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95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2596" nodeType="after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2598" dur="500"/>
                                        <p:tgtEl>
                                          <p:spTgt spid="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9" nodeType="clickEffect" fill="hold">
                      <p:stCondLst>
                        <p:cond delay="indefinite"/>
                      </p:stCondLst>
                      <p:childTnLst>
                        <p:par>
                          <p:cTn id="260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601" nodeType="click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2603" dur="500"/>
                                        <p:tgtEl>
                                          <p:spTgt spid="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04" nodeType="clickEffect" fill="hold">
                      <p:stCondLst>
                        <p:cond delay="indefinite"/>
                      </p:stCondLst>
                      <p:childTnLst>
                        <p:par>
                          <p:cTn id="260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606" nodeType="clickEffect" fill="hold" presetClass="entr" presetID="17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608" dur="500" fill="hold"/>
                                        <p:tgtEl>
                                          <p:spTgt spid="8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609" dur="500" fill="hold"/>
                                        <p:tgtEl>
                                          <p:spTgt spid="8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10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2611" nodeType="after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2613" dur="500"/>
                                        <p:tgtEl>
                                          <p:spTgt spid="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4" nodeType="clickEffect" fill="hold">
                      <p:stCondLst>
                        <p:cond delay="indefinite"/>
                      </p:stCondLst>
                      <p:childTnLst>
                        <p:par>
                          <p:cTn id="261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616" nodeType="click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2618" dur="500"/>
                                        <p:tgtEl>
                                          <p:spTgt spid="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Text Box 2"/>
          <p:cNvSpPr/>
          <p:nvPr/>
        </p:nvSpPr>
        <p:spPr>
          <a:xfrm>
            <a:off x="533520" y="838080"/>
            <a:ext cx="8001000" cy="20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8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3600" strike="noStrike" u="none">
                <a:solidFill>
                  <a:srgbClr val="ffff66"/>
                </a:solidFill>
                <a:effectLst/>
                <a:uFillTx/>
                <a:latin typeface="Arial"/>
              </a:rPr>
              <a:t>MERCI POUR</a:t>
            </a:r>
            <a:endParaRPr b="1" lang="en-US" sz="36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36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8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3600" strike="noStrike" u="none">
                <a:solidFill>
                  <a:srgbClr val="ffff66"/>
                </a:solidFill>
                <a:effectLst/>
                <a:uFillTx/>
                <a:latin typeface="Arial"/>
              </a:rPr>
              <a:t>    VOTRE ATTENTION</a:t>
            </a:r>
            <a:endParaRPr b="1" lang="en-US" sz="3600" strike="noStrike" u="none">
              <a:solidFill>
                <a:srgbClr val="ffff00"/>
              </a:solidFill>
              <a:effectLst/>
              <a:uFillTx/>
              <a:latin typeface="Arial"/>
            </a:endParaRPr>
          </a:p>
        </p:txBody>
      </p:sp>
      <p:pic>
        <p:nvPicPr>
          <p:cNvPr id="864" name="Object 3" descr=""/>
          <p:cNvPicPr/>
          <p:nvPr/>
        </p:nvPicPr>
        <p:blipFill>
          <a:blip r:embed="rId1"/>
          <a:stretch/>
        </p:blipFill>
        <p:spPr>
          <a:xfrm>
            <a:off x="2514600" y="4038480"/>
            <a:ext cx="4191120" cy="2374920"/>
          </a:xfrm>
          <a:prstGeom prst="rect">
            <a:avLst/>
          </a:prstGeom>
          <a:noFill/>
          <a:ln w="0">
            <a:noFill/>
          </a:ln>
        </p:spPr>
      </p:pic>
    </p:spTree>
  </p:cSld>
  <p:transition spd="med">
    <p:split dir="out" orient="vert"/>
  </p:transition>
  <p:timing>
    <p:tnLst>
      <p:par>
        <p:cTn id="2619" dur="indefinite" restart="never" nodeType="tmRoot">
          <p:childTnLst>
            <p:seq>
              <p:cTn id="2620" dur="indefinite" nodeType="mainSeq">
                <p:childTnLst>
                  <p:par>
                    <p:cTn id="2621" nodeType="clickEffect" fill="hold">
                      <p:stCondLst>
                        <p:cond delay="0"/>
                      </p:stCondLst>
                      <p:childTnLst>
                        <p:par>
                          <p:cTn id="262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623" nodeType="afterEffect" fill="hold" presetClass="entr" presetID="23" presetSubtype="28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625" dur="500" fill="hold"/>
                                        <p:tgtEl>
                                          <p:spTgt spid="8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626" dur="500" fill="hold"/>
                                        <p:tgtEl>
                                          <p:spTgt spid="8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27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2628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630" dur="500"/>
                                        <p:tgtEl>
                                          <p:spTgt spid="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643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2000-09-04T14:33:35Z</dcterms:created>
  <dc:creator>Cyril PETIBOIS</dc:creator>
  <dc:description/>
  <dc:language>en-US</dc:language>
  <cp:lastModifiedBy>Georges Caz</cp:lastModifiedBy>
  <dcterms:modified xsi:type="dcterms:W3CDTF">2017-08-20T15:04:59Z</dcterms:modified>
  <cp:revision>35</cp:revision>
  <dc:subject/>
  <dc:title>Présentation PowerPoint</dc:title>
</cp:coreProperties>
</file>