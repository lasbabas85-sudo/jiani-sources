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29.png" ContentType="image/png"/>
  <Override PartName="/ppt/media/image32.wmf" ContentType="image/x-wmf"/>
  <Override PartName="/ppt/media/image28.png" ContentType="image/png"/>
  <Override PartName="/ppt/media/image7.jpeg" ContentType="image/jpeg"/>
  <Override PartName="/ppt/media/image31.wmf" ContentType="image/x-wmf"/>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1.png" ContentType="image/png"/>
  <Override PartName="/ppt/media/image10.png" ContentType="image/png"/>
  <Override PartName="/ppt/media/image3.png" ContentType="image/png"/>
  <Override PartName="/ppt/media/image12.png" ContentType="image/png"/>
  <Override PartName="/ppt/media/image30.png" ContentType="image/png"/>
  <Override PartName="/ppt/media/image33.wmf" ContentType="image/x-wmf"/>
  <Override PartName="/ppt/media/image13.png" ContentType="image/png"/>
  <Override PartName="/ppt/media/image4.png" ContentType="image/png"/>
  <Override PartName="/ppt/media/image11.png" ContentType="image/png"/>
  <Override PartName="/ppt/media/image2.png" ContentType="image/png"/>
  <Override PartName="/ppt/media/image34.wmf" ContentType="image/x-wmf"/>
  <Override PartName="/ppt/media/image14.png" ContentType="image/png"/>
  <Override PartName="/ppt/media/image35.wmf" ContentType="image/x-wmf"/>
  <Override PartName="/ppt/media/image15.png" ContentType="image/png"/>
  <Override PartName="/ppt/media/image36.wmf" ContentType="image/x-wmf"/>
  <Override PartName="/ppt/media/image37.wmf" ContentType="image/x-wmf"/>
  <Override PartName="/ppt/media/image17.png" ContentType="image/png"/>
  <Override PartName="/ppt/media/image38.wmf" ContentType="image/x-wmf"/>
  <Override PartName="/ppt/media/image9.png" ContentType="image/png"/>
  <Override PartName="/ppt/media/image6.jpeg" ContentType="image/jpeg"/>
  <Override PartName="/ppt/media/image18.png" ContentType="image/png"/>
  <Override PartName="/ppt/media/image20.png" ContentType="image/png"/>
  <Override PartName="/ppt/media/image5.png" ContentType="image/png"/>
  <Override PartName="/ppt/media/image40.wmf" ContentType="image/x-wmf"/>
  <Override PartName="/ppt/media/image39.png" ContentType="image/png"/>
  <Override PartName="/ppt/media/image8.wmf" ContentType="image/x-wmf"/>
  <Override PartName="/ppt/media/image16.wmf" ContentType="image/x-wmf"/>
  <Override PartName="/ppt/media/image19.png" ContentType="image/png"/>
  <Override PartName="/ppt/media/image2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xlsx" ContentType="application/vnd.openxmlformats-officedocument.spreadsheetml.sheet"/>
  <Override PartName="/ppt/embeddings/oleObject1.bin" ContentType="application/vnd.openxmlformats-officedocument.oleObject"/>
  <Override PartName="/ppt/embeddings/oleObject4.xlsx" ContentType="application/vnd.openxmlformats-officedocument.spreadsheetml.sheet"/>
  <Override PartName="/ppt/embeddings/oleObject1.docx" ContentType="application/vnd.openxmlformats-officedocument.wordprocessingml.document"/>
  <Override PartName="/ppt/embeddings/oleObject2.xlsx" ContentType="application/vnd.openxmlformats-officedocument.spreadsheetml.sheet"/>
  <Override PartName="/ppt/embeddings/oleObject3.xlsx" ContentType="application/vnd.openxmlformats-officedocument.spreadsheetml.sheet"/>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61.xml.rels" ContentType="application/vnd.openxmlformats-package.relationships+xml"/>
  <Override PartName="/ppt/slides/_rels/slide60.xml.rels" ContentType="application/vnd.openxmlformats-package.relationships+xml"/>
  <Override PartName="/ppt/slides/_rels/slide14.xml.rels" ContentType="application/vnd.openxmlformats-package.relationships+xml"/>
  <Override PartName="/ppt/slides/_rels/slide82.xml.rels" ContentType="application/vnd.openxmlformats-package.relationships+xml"/>
  <Override PartName="/ppt/slides/_rels/slide12.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46.xml.rels" ContentType="application/vnd.openxmlformats-package.relationships+xml"/>
  <Override PartName="/ppt/slides/_rels/slide13.xml.rels" ContentType="application/vnd.openxmlformats-package.relationships+xml"/>
  <Override PartName="/ppt/slides/_rels/slide81.xml.rels" ContentType="application/vnd.openxmlformats-package.relationships+xml"/>
  <Override PartName="/ppt/slides/_rels/slide16.xml.rels" ContentType="application/vnd.openxmlformats-package.relationships+xml"/>
  <Override PartName="/ppt/slides/_rels/slide84.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47.xml.rels" ContentType="application/vnd.openxmlformats-package.relationships+xml"/>
  <Override PartName="/ppt/slides/_rels/slide160.xml.rels" ContentType="application/vnd.openxmlformats-package.relationships+xml"/>
  <Override PartName="/ppt/slides/_rels/slide9.xml.rels" ContentType="application/vnd.openxmlformats-package.relationships+xml"/>
  <Override PartName="/ppt/slides/_rels/slide96.xml.rels" ContentType="application/vnd.openxmlformats-package.relationships+xml"/>
  <Override PartName="/ppt/slides/_rels/slide28.xml.rels" ContentType="application/vnd.openxmlformats-package.relationships+xml"/>
  <Override PartName="/ppt/slides/_rels/slide141.xml.rels" ContentType="application/vnd.openxmlformats-package.relationships+xml"/>
  <Override PartName="/ppt/slides/_rels/slide3.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161.xml.rels" ContentType="application/vnd.openxmlformats-package.relationships+xml"/>
  <Override PartName="/ppt/slides/_rels/slide20.xml.rels" ContentType="application/vnd.openxmlformats-package.relationships+xml"/>
  <Override PartName="/ppt/slides/_rels/slide93.xml.rels" ContentType="application/vnd.openxmlformats-package.relationships+xml"/>
  <Override PartName="/ppt/slides/_rels/slide25.xml.rels" ContentType="application/vnd.openxmlformats-package.relationships+xml"/>
  <Override PartName="/ppt/slides/_rels/slide171.xml.rels" ContentType="application/vnd.openxmlformats-package.relationships+xml"/>
  <Override PartName="/ppt/slides/_rels/slide103.xml.rels" ContentType="application/vnd.openxmlformats-package.relationships+xml"/>
  <Override PartName="/ppt/slides/_rels/slide58.xml.rels" ContentType="application/vnd.openxmlformats-package.relationships+xml"/>
  <Override PartName="/ppt/slides/_rels/slide6.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97.xml.rels" ContentType="application/vnd.openxmlformats-package.relationships+xml"/>
  <Override PartName="/ppt/slides/_rels/slide29.xml.rels" ContentType="application/vnd.openxmlformats-package.relationships+xml"/>
  <Override PartName="/ppt/slides/_rels/slide142.xml.rels" ContentType="application/vnd.openxmlformats-package.relationships+xml"/>
  <Override PartName="/ppt/slides/_rels/slide4.xml.rels" ContentType="application/vnd.openxmlformats-package.relationships+xml"/>
  <Override PartName="/ppt/slides/_rels/slide49.xml.rels" ContentType="application/vnd.openxmlformats-package.relationships+xml"/>
  <Override PartName="/ppt/slides/_rels/slide162.xml.rels" ContentType="application/vnd.openxmlformats-package.relationships+xml"/>
  <Override PartName="/ppt/slides/_rels/slide21.xml.rels" ContentType="application/vnd.openxmlformats-package.relationships+xml"/>
  <Override PartName="/ppt/slides/_rels/slide26.xml.rels" ContentType="application/vnd.openxmlformats-package.relationships+xml"/>
  <Override PartName="/ppt/slides/_rels/slide94.xml.rels" ContentType="application/vnd.openxmlformats-package.relationships+xml"/>
  <Override PartName="/ppt/slides/_rels/slide91.xml.rels" ContentType="application/vnd.openxmlformats-package.relationships+xml"/>
  <Override PartName="/ppt/slides/_rels/slide23.xml.rels" ContentType="application/vnd.openxmlformats-package.relationships+xml"/>
  <Override PartName="/ppt/slides/_rels/slide104.xml.rels" ContentType="application/vnd.openxmlformats-package.relationships+xml"/>
  <Override PartName="/ppt/slides/_rels/slide172.xml.rels" ContentType="application/vnd.openxmlformats-package.relationships+xml"/>
  <Override PartName="/ppt/slides/_rels/slide59.xml.rels" ContentType="application/vnd.openxmlformats-package.relationships+xml"/>
  <Override PartName="/ppt/slides/_rels/slide1.xml.rels" ContentType="application/vnd.openxmlformats-package.relationships+xml"/>
  <Override PartName="/ppt/slides/_rels/slide129.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00.xml.rels" ContentType="application/vnd.openxmlformats-package.relationships+xml"/>
  <Override PartName="/ppt/slides/_rels/slide55.xml.rels" ContentType="application/vnd.openxmlformats-package.relationships+xml"/>
  <Override PartName="/ppt/slides/_rels/slide136.xml.rels" ContentType="application/vnd.openxmlformats-package.relationships+xml"/>
  <Override PartName="/ppt/slides/_rels/slide45.xml.rels" ContentType="application/vnd.openxmlformats-package.relationships+xml"/>
  <Override PartName="/ppt/slides/_rels/slide135.xml.rels" ContentType="application/vnd.openxmlformats-package.relationships+xml"/>
  <Override PartName="/ppt/slides/_rels/slide44.xml.rels" ContentType="application/vnd.openxmlformats-package.relationships+xml"/>
  <Override PartName="/ppt/slides/_rels/slide167.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101.xml.rels" ContentType="application/vnd.openxmlformats-package.relationships+xml"/>
  <Override PartName="/ppt/slides/_rels/slide56.xml.rels" ContentType="application/vnd.openxmlformats-package.relationships+xml"/>
  <Override PartName="/ppt/slides/_rels/slide43.xml.rels" ContentType="application/vnd.openxmlformats-package.relationships+xml"/>
  <Override PartName="/ppt/slides/_rels/slide133.xml.rels" ContentType="application/vnd.openxmlformats-package.relationships+xml"/>
  <Override PartName="/ppt/slides/_rels/slide88.xml.rels" ContentType="application/vnd.openxmlformats-package.relationships+xml"/>
  <Override PartName="/ppt/slides/_rels/slide166.xml.rels" ContentType="application/vnd.openxmlformats-package.relationships+xml"/>
  <Override PartName="/ppt/slides/_rels/slide128.xml.rels" ContentType="application/vnd.openxmlformats-package.relationships+xml"/>
  <Override PartName="/ppt/slides/_rels/slide32.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98.xml.rels" ContentType="application/vnd.openxmlformats-package.relationships+xml"/>
  <Override PartName="/ppt/slides/_rels/slide143.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15.xml.rels" ContentType="application/vnd.openxmlformats-package.relationships+xml"/>
  <Override PartName="/ppt/slides/_rels/slide105.xml.rels" ContentType="application/vnd.openxmlformats-package.relationships+xml"/>
  <Override PartName="/ppt/slides/_rels/slide173.xml.rels" ContentType="application/vnd.openxmlformats-package.relationships+xml"/>
  <Override PartName="/ppt/slides/_rels/slide2.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_rels/slide154.xml.rels" ContentType="application/vnd.openxmlformats-package.relationships+xml"/>
  <Override PartName="/ppt/slides/_rels/slide116.xml.rels" ContentType="application/vnd.openxmlformats-package.relationships+xml"/>
  <Override PartName="/ppt/slides/_rels/slide108.xml.rels" ContentType="application/vnd.openxmlformats-package.relationships+xml"/>
  <Override PartName="/ppt/slides/_rels/slide176.xml.rels" ContentType="application/vnd.openxmlformats-package.relationships+xml"/>
  <Override PartName="/ppt/slides/_rels/slide5.xml.rels" ContentType="application/vnd.openxmlformats-package.relationships+xml"/>
  <Override PartName="/ppt/slides/_rels/slide122.xml.rels" ContentType="application/vnd.openxmlformats-package.relationships+xml"/>
  <Override PartName="/ppt/slides/_rels/slide77.xml.rels" ContentType="application/vnd.openxmlformats-package.relationships+xml"/>
  <Override PartName="/ppt/slides/_rels/slide155.xml.rels" ContentType="application/vnd.openxmlformats-package.relationships+xml"/>
  <Override PartName="/ppt/slides/_rels/slide117.xml.rels" ContentType="application/vnd.openxmlformats-package.relationships+xml"/>
  <Override PartName="/ppt/slides/_rels/slide174.xml.rels" ContentType="application/vnd.openxmlformats-package.relationships+xml"/>
  <Override PartName="/ppt/slides/_rels/slide106.xml.rels" ContentType="application/vnd.openxmlformats-package.relationships+xml"/>
  <Override PartName="/ppt/slides/_rels/slide42.xml.rels" ContentType="application/vnd.openxmlformats-package.relationships+xml"/>
  <Override PartName="/ppt/slides/_rels/slide157.xml.rels" ContentType="application/vnd.openxmlformats-package.relationships+xml"/>
  <Override PartName="/ppt/slides/_rels/slide109.xml.rels" ContentType="application/vnd.openxmlformats-package.relationships+xml"/>
  <Override PartName="/ppt/slides/_rels/slide177.xml.rels" ContentType="application/vnd.openxmlformats-package.relationships+xml"/>
  <Override PartName="/ppt/slides/_rels/slide123.xml.rels" ContentType="application/vnd.openxmlformats-package.relationships+xml"/>
  <Override PartName="/ppt/slides/_rels/slide78.xml.rels" ContentType="application/vnd.openxmlformats-package.relationships+xml"/>
  <Override PartName="/ppt/slides/_rels/slide156.xml.rels" ContentType="application/vnd.openxmlformats-package.relationships+xml"/>
  <Override PartName="/ppt/slides/_rels/slide118.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175.xml.rels" ContentType="application/vnd.openxmlformats-package.relationships+xml"/>
  <Override PartName="/ppt/slides/_rels/slide107.xml.rels" ContentType="application/vnd.openxmlformats-package.relationships+xml"/>
  <Override PartName="/ppt/slides/_rels/slide70.xml.rels" ContentType="application/vnd.openxmlformats-package.relationships+xml"/>
  <Override PartName="/ppt/slides/_rels/slide119.xml.rels" ContentType="application/vnd.openxmlformats-package.relationships+xml"/>
  <Override PartName="/ppt/slides/_rels/slide112.xml.rels" ContentType="application/vnd.openxmlformats-package.relationships+xml"/>
  <Override PartName="/ppt/slides/_rels/slide67.xml.rels" ContentType="application/vnd.openxmlformats-package.relationships+xml"/>
  <Override PartName="/ppt/slides/_rels/slide145.xml.rels" ContentType="application/vnd.openxmlformats-package.relationships+xml"/>
  <Override PartName="/ppt/slides/_rels/slide126.xml.rels" ContentType="application/vnd.openxmlformats-package.relationships+xml"/>
  <Override PartName="/ppt/slides/_rels/slide127.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153.xml.rels" ContentType="application/vnd.openxmlformats-package.relationships+xml"/>
  <Override PartName="/ppt/slides/_rels/slide125.xml.rels" ContentType="application/vnd.openxmlformats-package.relationships+xml"/>
  <Override PartName="/ppt/slides/_rels/slide79.xml.rels" ContentType="application/vnd.openxmlformats-package.relationships+xml"/>
  <Override PartName="/ppt/slides/_rels/slide124.xml.rels" ContentType="application/vnd.openxmlformats-package.relationships+xml"/>
  <Override PartName="/ppt/slides/_rels/slide114.xml.rels" ContentType="application/vnd.openxmlformats-package.relationships+xml"/>
  <Override PartName="/ppt/slides/_rels/slide69.xml.rels" ContentType="application/vnd.openxmlformats-package.relationships+xml"/>
  <Override PartName="/ppt/slides/_rels/slide147.xml.rels" ContentType="application/vnd.openxmlformats-package.relationships+xml"/>
  <Override PartName="/ppt/slides/_rels/slide113.xml.rels" ContentType="application/vnd.openxmlformats-package.relationships+xml"/>
  <Override PartName="/ppt/slides/_rels/slide68.xml.rels" ContentType="application/vnd.openxmlformats-package.relationships+xml"/>
  <Override PartName="/ppt/slides/_rels/slide146.xml.rels" ContentType="application/vnd.openxmlformats-package.relationships+xml"/>
  <Override PartName="/ppt/slides/_rels/slide74.xml.rels" ContentType="application/vnd.openxmlformats-package.relationships+xml"/>
  <Override PartName="/ppt/slides/_rels/slide39.xml.rels" ContentType="application/vnd.openxmlformats-package.relationships+xml"/>
  <Override PartName="/ppt/slides/_rels/slide152.xml.rels" ContentType="application/vnd.openxmlformats-package.relationships+xml"/>
  <Override PartName="/ppt/slides/_rels/slide73.xml.rels" ContentType="application/vnd.openxmlformats-package.relationships+xml"/>
  <Override PartName="/ppt/slides/_rels/slide38.xml.rels" ContentType="application/vnd.openxmlformats-package.relationships+xml"/>
  <Override PartName="/ppt/slides/_rels/slide151.xml.rels" ContentType="application/vnd.openxmlformats-package.relationships+xml"/>
  <Override PartName="/ppt/slides/_rels/slide72.xml.rels" ContentType="application/vnd.openxmlformats-package.relationships+xml"/>
  <Override PartName="/ppt/slides/_rels/slide37.xml.rels" ContentType="application/vnd.openxmlformats-package.relationships+xml"/>
  <Override PartName="/ppt/slides/_rels/slide150.xml.rels" ContentType="application/vnd.openxmlformats-package.relationships+xml"/>
  <Override PartName="/ppt/slides/_rels/slide71.xml.rels" ContentType="application/vnd.openxmlformats-package.relationships+xml"/>
  <Override PartName="/ppt/slides/_rels/slide57.xml.rels" ContentType="application/vnd.openxmlformats-package.relationships+xml"/>
  <Override PartName="/ppt/slides/_rels/slide170.xml.rels" ContentType="application/vnd.openxmlformats-package.relationships+xml"/>
  <Override PartName="/ppt/slides/_rels/slide102.xml.rels" ContentType="application/vnd.openxmlformats-package.relationships+xml"/>
  <Override PartName="/ppt/slides/_rels/slide92.xml.rels" ContentType="application/vnd.openxmlformats-package.relationships+xml"/>
  <Override PartName="/ppt/slides/_rels/slide24.xml.rels" ContentType="application/vnd.openxmlformats-package.relationships+xml"/>
  <Override PartName="/ppt/slides/_rels/slide139.xml.rels" ContentType="application/vnd.openxmlformats-package.relationships+xml"/>
  <Override PartName="/ppt/slides/_rels/slide27.xml.rels" ContentType="application/vnd.openxmlformats-package.relationships+xml"/>
  <Override PartName="/ppt/slides/_rels/slide95.xml.rels" ContentType="application/vnd.openxmlformats-package.relationships+xml"/>
  <Override PartName="/ppt/slides/_rels/slide140.xml.rels" ContentType="application/vnd.openxmlformats-package.relationships+xml"/>
  <Override PartName="/ppt/slides/_rels/slide62.xml.rels" ContentType="application/vnd.openxmlformats-package.relationships+xml"/>
  <Override PartName="/ppt/slides/_rels/slide158.xml.rels" ContentType="application/vnd.openxmlformats-package.relationships+xml"/>
  <Override PartName="/ppt/slides/_rels/slide159.xml.rels" ContentType="application/vnd.openxmlformats-package.relationships+xml"/>
  <Override PartName="/ppt/slides/_rels/slide163.xml.rels" ContentType="application/vnd.openxmlformats-package.relationships+xml"/>
  <Override PartName="/ppt/slides/_rels/slide164.xml.rels" ContentType="application/vnd.openxmlformats-package.relationships+xml"/>
  <Override PartName="/ppt/slides/_rels/slide165.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130.xml.rels" ContentType="application/vnd.openxmlformats-package.relationships+xml"/>
  <Override PartName="/ppt/slides/_rels/slide52.xml.rels" ContentType="application/vnd.openxmlformats-package.relationships+xml"/>
  <Override PartName="/ppt/slides/_rels/slide86.xml.rels" ContentType="application/vnd.openxmlformats-package.relationships+xml"/>
  <Override PartName="/ppt/slides/_rels/slide18.xml.rels" ContentType="application/vnd.openxmlformats-package.relationships+xml"/>
  <Override PartName="/ppt/slides/_rels/slide131.xml.rels" ContentType="application/vnd.openxmlformats-package.relationships+xml"/>
  <Override PartName="/ppt/slides/_rels/slide53.xml.rels" ContentType="application/vnd.openxmlformats-package.relationships+xml"/>
  <Override PartName="/ppt/slides/_rels/slide168.xml.rels" ContentType="application/vnd.openxmlformats-package.relationships+xml"/>
  <Override PartName="/ppt/slides/_rels/slide41.xml.rels" ContentType="application/vnd.openxmlformats-package.relationships+xml"/>
  <Override PartName="/ppt/slides/_rels/slide87.xml.rels" ContentType="application/vnd.openxmlformats-package.relationships+xml"/>
  <Override PartName="/ppt/slides/_rels/slide19.xml.rels" ContentType="application/vnd.openxmlformats-package.relationships+xml"/>
  <Override PartName="/ppt/slides/_rels/slide132.xml.rels" ContentType="application/vnd.openxmlformats-package.relationships+xml"/>
  <Override PartName="/ppt/slides/_rels/slide54.xml.rels" ContentType="application/vnd.openxmlformats-package.relationships+xml"/>
  <Override PartName="/ppt/slides/_rels/slide169.xml.rels" ContentType="application/vnd.openxmlformats-package.relationships+xml"/>
  <Override PartName="/ppt/slides/_rels/slide50.xml.rels" ContentType="application/vnd.openxmlformats-package.relationships+xml"/>
  <Override PartName="/ppt/slides/_rels/slide63.xml.rels" ContentType="application/vnd.openxmlformats-package.relationships+xml"/>
  <Override PartName="/ppt/slides/_rels/slide178.xml.rels" ContentType="application/vnd.openxmlformats-package.relationships+xml"/>
  <Override PartName="/ppt/slides/_rels/slide7.xml.rels" ContentType="application/vnd.openxmlformats-package.relationships+xml"/>
  <Override PartName="/ppt/slides/_rels/slide149.xml.rels" ContentType="application/vnd.openxmlformats-package.relationships+xml"/>
  <Override PartName="/ppt/slides/_rels/slide148.xml.rels" ContentType="application/vnd.openxmlformats-package.relationships+xml"/>
  <Override PartName="/ppt/slides/_rels/slide51.xml.rels" ContentType="application/vnd.openxmlformats-package.relationships+xml"/>
  <Override PartName="/ppt/slides/_rels/slide64.xml.rels" ContentType="application/vnd.openxmlformats-package.relationships+xml"/>
  <Override PartName="/ppt/slides/_rels/slide40.xml.rels" ContentType="application/vnd.openxmlformats-package.relationships+xml"/>
  <Override PartName="/ppt/slides/_rels/slide31.xml.rels" ContentType="application/vnd.openxmlformats-package.relationships+xml"/>
  <Override PartName="/ppt/slides/_rels/slide30.xml.rels" ContentType="application/vnd.openxmlformats-package.relationships+xml"/>
  <Override PartName="/ppt/slides/_rels/slide22.xml.rels" ContentType="application/vnd.openxmlformats-package.relationships+xml"/>
  <Override PartName="/ppt/slides/_rels/slide90.xml.rels" ContentType="application/vnd.openxmlformats-package.relationships+xml"/>
  <Override PartName="/ppt/slides/slide127.xml" ContentType="application/vnd.openxmlformats-officedocument.presentationml.slide+xml"/>
  <Override PartName="/ppt/slides/slide126.xml" ContentType="application/vnd.openxmlformats-officedocument.presentationml.slide+xml"/>
  <Override PartName="/ppt/slides/slide119.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116.xml" ContentType="application/vnd.openxmlformats-officedocument.presentationml.slide+xml"/>
  <Override PartName="/ppt/slides/slide109.xml" ContentType="application/vnd.openxmlformats-officedocument.presentationml.slide+xml"/>
  <Override PartName="/ppt/slides/slide177.xml" ContentType="application/vnd.openxmlformats-officedocument.presentationml.slide+xml"/>
  <Override PartName="/ppt/slides/slide108.xml" ContentType="application/vnd.openxmlformats-officedocument.presentationml.slide+xml"/>
  <Override PartName="/ppt/slides/slide176.xml" ContentType="application/vnd.openxmlformats-officedocument.presentationml.slide+xml"/>
  <Override PartName="/ppt/slides/slide107.xml" ContentType="application/vnd.openxmlformats-officedocument.presentationml.slide+xml"/>
  <Override PartName="/ppt/slides/slide175.xml" ContentType="application/vnd.openxmlformats-officedocument.presentationml.slide+xml"/>
  <Override PartName="/ppt/slides/slide106.xml" ContentType="application/vnd.openxmlformats-officedocument.presentationml.slide+xml"/>
  <Override PartName="/ppt/slides/slide174.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125.xml" ContentType="application/vnd.openxmlformats-officedocument.presentationml.slide+xml"/>
  <Override PartName="/ppt/slides/slide79.xml" ContentType="application/vnd.openxmlformats-officedocument.presentationml.slide+xml"/>
  <Override PartName="/ppt/slides/slide124.xml" ContentType="application/vnd.openxmlformats-officedocument.presentationml.slide+xml"/>
  <Override PartName="/ppt/slides/slide78.xml" ContentType="application/vnd.openxmlformats-officedocument.presentationml.slide+xml"/>
  <Override PartName="/ppt/slides/slide123.xml" ContentType="application/vnd.openxmlformats-officedocument.presentationml.slide+xml"/>
  <Override PartName="/ppt/slides/slide77.xml" ContentType="application/vnd.openxmlformats-officedocument.presentationml.slide+xml"/>
  <Override PartName="/ppt/slides/slide122.xml" ContentType="application/vnd.openxmlformats-officedocument.presentationml.slide+xml"/>
  <Override PartName="/ppt/slides/slide76.xml" ContentType="application/vnd.openxmlformats-officedocument.presentationml.slide+xml"/>
  <Override PartName="/ppt/slides/slide121.xml" ContentType="application/vnd.openxmlformats-officedocument.presentationml.slide+xml"/>
  <Override PartName="/ppt/slides/slide75.xml" ContentType="application/vnd.openxmlformats-officedocument.presentationml.slide+xml"/>
  <Override PartName="/ppt/slides/slide120.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115.xml" ContentType="application/vnd.openxmlformats-officedocument.presentationml.slide+xml"/>
  <Override PartName="/ppt/slides/slide69.xml" ContentType="application/vnd.openxmlformats-officedocument.presentationml.slide+xml"/>
  <Override PartName="/ppt/slides/slide114.xml" ContentType="application/vnd.openxmlformats-officedocument.presentationml.slide+xml"/>
  <Override PartName="/ppt/slides/slide68.xml" ContentType="application/vnd.openxmlformats-officedocument.presentationml.slide+xml"/>
  <Override PartName="/ppt/slides/slide113.xml" ContentType="application/vnd.openxmlformats-officedocument.presentationml.slide+xml"/>
  <Override PartName="/ppt/slides/slide67.xml" ContentType="application/vnd.openxmlformats-officedocument.presentationml.slide+xml"/>
  <Override PartName="/ppt/slides/slide112.xml" ContentType="application/vnd.openxmlformats-officedocument.presentationml.slide+xml"/>
  <Override PartName="/ppt/slides/slide66.xml" ContentType="application/vnd.openxmlformats-officedocument.presentationml.slide+xml"/>
  <Override PartName="/ppt/slides/slide111.xml" ContentType="application/vnd.openxmlformats-officedocument.presentationml.slide+xml"/>
  <Override PartName="/ppt/slides/slide65.xml" ContentType="application/vnd.openxmlformats-officedocument.presentationml.slide+xml"/>
  <Override PartName="/ppt/slides/slide11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100.xml" ContentType="application/vnd.openxmlformats-officedocument.presentationml.slide+xml"/>
  <Override PartName="/ppt/slides/slide59.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01.xml" ContentType="application/vnd.openxmlformats-officedocument.presentationml.slide+xml"/>
  <Override PartName="/ppt/slides/slide55.xml" ContentType="application/vnd.openxmlformats-officedocument.presentationml.slide+xml"/>
  <Override PartName="/ppt/slides/slide138.xml" ContentType="application/vnd.openxmlformats-officedocument.presentationml.slide+xml"/>
  <Override PartName="/ppt/slides/slide170.xml" ContentType="application/vnd.openxmlformats-officedocument.presentationml.slide+xml"/>
  <Override PartName="/ppt/slides/slide102.xml" ContentType="application/vnd.openxmlformats-officedocument.presentationml.slide+xml"/>
  <Override PartName="/ppt/slides/slide56.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58.xml" ContentType="application/vnd.openxmlformats-officedocument.presentationml.slide+xml"/>
  <Override PartName="/ppt/slides/slide160.xml" ContentType="application/vnd.openxmlformats-officedocument.presentationml.slide+xml"/>
  <Override PartName="/ppt/slides/slide49.xml" ContentType="application/vnd.openxmlformats-officedocument.presentationml.slide+xml"/>
  <Override PartName="/ppt/slides/slide159.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30.xml" ContentType="application/vnd.openxmlformats-officedocument.presentationml.slide+xml"/>
  <Override PartName="/ppt/slides/slide167.xml" ContentType="application/vnd.openxmlformats-officedocument.presentationml.slide+xml"/>
  <Override PartName="/ppt/slides/slide10.xml" ContentType="application/vnd.openxmlformats-officedocument.presentationml.slide+xml"/>
  <Override PartName="/ppt/slides/slide131.xml" ContentType="application/vnd.openxmlformats-officedocument.presentationml.slide+xml"/>
  <Override PartName="/ppt/slides/slide168.xml" ContentType="application/vnd.openxmlformats-officedocument.presentationml.slide+xml"/>
  <Override PartName="/ppt/slides/slide11.xml" ContentType="application/vnd.openxmlformats-officedocument.presentationml.slide+xml"/>
  <Override PartName="/ppt/slides/slide132.xml" ContentType="application/vnd.openxmlformats-officedocument.presentationml.slide+xml"/>
  <Override PartName="/ppt/slides/slide169.xml" ContentType="application/vnd.openxmlformats-officedocument.presentationml.slide+xml"/>
  <Override PartName="/ppt/slides/slide166.xml" ContentType="application/vnd.openxmlformats-officedocument.presentationml.slide+xml"/>
  <Override PartName="/ppt/slides/slide141.xml" ContentType="application/vnd.openxmlformats-officedocument.presentationml.slide+xml"/>
  <Override PartName="/ppt/slides/slide178.xml" ContentType="application/vnd.openxmlformats-officedocument.presentationml.slide+xml"/>
  <Override PartName="/ppt/slides/slide21.xml" ContentType="application/vnd.openxmlformats-officedocument.presentationml.slide+xml"/>
  <Override PartName="/ppt/slides/slide143.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97.xml" ContentType="application/vnd.openxmlformats-officedocument.presentationml.slide+xml"/>
  <Override PartName="/ppt/slides/slide157.xml" ContentType="application/vnd.openxmlformats-officedocument.presentationml.slide+xml"/>
  <Override PartName="/ppt/slides/slide156.xml" ContentType="application/vnd.openxmlformats-officedocument.presentationml.slide+xml"/>
  <Override PartName="/ppt/slides/slide155.xml" ContentType="application/vnd.openxmlformats-officedocument.presentationml.slide+xml"/>
  <Override PartName="/ppt/slides/slide154.xml" ContentType="application/vnd.openxmlformats-officedocument.presentationml.slide+xml"/>
  <Override PartName="/ppt/slides/slide153.xml" ContentType="application/vnd.openxmlformats-officedocument.presentationml.slide+xml"/>
  <Override PartName="/ppt/slides/slide152.xml" ContentType="application/vnd.openxmlformats-officedocument.presentationml.slide+xml"/>
  <Override PartName="/ppt/slides/slide151.xml" ContentType="application/vnd.openxmlformats-officedocument.presentationml.slide+xml"/>
  <Override PartName="/ppt/slides/slide149.xml" ContentType="application/vnd.openxmlformats-officedocument.presentationml.slide+xml"/>
  <Override PartName="/ppt/slides/slide8.xml" ContentType="application/vnd.openxmlformats-officedocument.presentationml.slide+xml"/>
  <Override PartName="/ppt/slides/slide45.xml" ContentType="application/vnd.openxmlformats-officedocument.presentationml.slide+xml"/>
  <Override PartName="/ppt/slides/slide150.xml" ContentType="application/vnd.openxmlformats-officedocument.presentationml.slide+xml"/>
  <Override PartName="/ppt/slides/slide39.xml" ContentType="application/vnd.openxmlformats-officedocument.presentationml.slide+xml"/>
  <Override PartName="/ppt/slides/slide148.xml" ContentType="application/vnd.openxmlformats-officedocument.presentationml.slide+xml"/>
  <Override PartName="/ppt/slides/slide7.xml" ContentType="application/vnd.openxmlformats-officedocument.presentationml.slide+xml"/>
  <Override PartName="/ppt/slides/slide147.xml" ContentType="application/vnd.openxmlformats-officedocument.presentationml.slide+xml"/>
  <Override PartName="/ppt/slides/slide6.xml" ContentType="application/vnd.openxmlformats-officedocument.presentationml.slide+xml"/>
  <Override PartName="/ppt/slides/slide146.xml" ContentType="application/vnd.openxmlformats-officedocument.presentationml.slide+xml"/>
  <Override PartName="/ppt/slides/slide5.xml" ContentType="application/vnd.openxmlformats-officedocument.presentationml.slide+xml"/>
  <Override PartName="/ppt/slides/slide145.xml" ContentType="application/vnd.openxmlformats-officedocument.presentationml.slide+xml"/>
  <Override PartName="/ppt/slides/slide4.xml" ContentType="application/vnd.openxmlformats-officedocument.presentationml.slide+xml"/>
  <Override PartName="/ppt/slides/slide99.xml" ContentType="application/vnd.openxmlformats-officedocument.presentationml.slide+xml"/>
  <Override PartName="/ppt/slides/slide144.xml" ContentType="application/vnd.openxmlformats-officedocument.presentationml.slide+xml"/>
  <Override PartName="/ppt/slides/slide3.xml" ContentType="application/vnd.openxmlformats-officedocument.presentationml.slide+xml"/>
  <Override PartName="/ppt/slides/slide98.xml" ContentType="application/vnd.openxmlformats-officedocument.presentationml.slide+xml"/>
  <Override PartName="/ppt/slides/slide142.xml" ContentType="application/vnd.openxmlformats-officedocument.presentationml.slide+xml"/>
  <Override PartName="/ppt/slides/slide1.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105.xml" ContentType="application/vnd.openxmlformats-officedocument.presentationml.slide+xml"/>
  <Override PartName="/ppt/slides/slide173.xml" ContentType="application/vnd.openxmlformats-officedocument.presentationml.slide+xml"/>
  <Override PartName="/ppt/slides/slide90.xml" ContentType="application/vnd.openxmlformats-officedocument.presentationml.slide+xml"/>
  <Override PartName="/ppt/slides/slide22.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172.xml" ContentType="application/vnd.openxmlformats-officedocument.presentationml.slide+xml"/>
  <Override PartName="/ppt/slides/slide57.xml" ContentType="application/vnd.openxmlformats-officedocument.presentationml.slide+xml"/>
  <Override PartName="/ppt/slides/slide103.xml" ContentType="application/vnd.openxmlformats-officedocument.presentationml.slide+xml"/>
  <Override PartName="/ppt/slides/slide171.xml" ContentType="application/vnd.openxmlformats-officedocument.presentationml.slide+xml"/>
  <Override PartName="/ppt/slides/slide20.xml" ContentType="application/vnd.openxmlformats-officedocument.presentationml.slide+xml"/>
  <Override PartName="/ppt/slides/slide48.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84.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46.xml" ContentType="application/vnd.openxmlformats-officedocument.presentationml.slide+xml"/>
  <Override PartName="/ppt/slides/slide83.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93.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1.xml" ContentType="application/vnd.openxmlformats-officedocument.presentationml.notesSlide+xml"/>
  <Override PartName="/ppt/notesSlides/notesSlide63.xml" ContentType="application/vnd.openxmlformats-officedocument.presentationml.notesSlide+xml"/>
  <Override PartName="/ppt/notesSlides/notesSlide87.xml" ContentType="application/vnd.openxmlformats-officedocument.presentationml.notesSlide+xml"/>
  <Override PartName="/ppt/notesSlides/notesSlide174.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_rels/notesSlide176.xml.rels" ContentType="application/vnd.openxmlformats-package.relationships+xml"/>
  <Override PartName="/ppt/notesSlides/_rels/notesSlide173.xml.rels" ContentType="application/vnd.openxmlformats-package.relationships+xml"/>
  <Override PartName="/ppt/notesSlides/_rels/notesSlide14.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87.xml.rels" ContentType="application/vnd.openxmlformats-package.relationships+xml"/>
  <Override PartName="/ppt/notesSlides/_rels/notesSlide63.xml.rels" ContentType="application/vnd.openxmlformats-package.relationships+xml"/>
  <Override PartName="/ppt/notesSlides/_rels/notesSlide8.xml.rels" ContentType="application/vnd.openxmlformats-package.relationships+xml"/>
  <Override PartName="/ppt/notesSlides/_rels/notesSlide174.xml.rels" ContentType="application/vnd.openxmlformats-package.relationships+xml"/>
  <Override PartName="/ppt/notesSlides/_rels/notesSlide4.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notesSlide173.xml" ContentType="application/vnd.openxmlformats-officedocument.presentationml.notesSlide+xml"/>
  <Override PartName="/ppt/notesSlides/notesSlide176.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40" Type="http://schemas.openxmlformats.org/officeDocument/2006/relationships/slide" Target="slides/slide137.xml"/><Relationship Id="rId141" Type="http://schemas.openxmlformats.org/officeDocument/2006/relationships/slide" Target="slides/slide138.xml"/><Relationship Id="rId142" Type="http://schemas.openxmlformats.org/officeDocument/2006/relationships/slide" Target="slides/slide139.xml"/><Relationship Id="rId143" Type="http://schemas.openxmlformats.org/officeDocument/2006/relationships/slide" Target="slides/slide140.xml"/><Relationship Id="rId144" Type="http://schemas.openxmlformats.org/officeDocument/2006/relationships/slide" Target="slides/slide141.xml"/><Relationship Id="rId145" Type="http://schemas.openxmlformats.org/officeDocument/2006/relationships/slide" Target="slides/slide142.xml"/><Relationship Id="rId146" Type="http://schemas.openxmlformats.org/officeDocument/2006/relationships/slide" Target="slides/slide143.xml"/><Relationship Id="rId147" Type="http://schemas.openxmlformats.org/officeDocument/2006/relationships/slide" Target="slides/slide144.xml"/><Relationship Id="rId148" Type="http://schemas.openxmlformats.org/officeDocument/2006/relationships/slide" Target="slides/slide145.xml"/><Relationship Id="rId149" Type="http://schemas.openxmlformats.org/officeDocument/2006/relationships/slide" Target="slides/slide146.xml"/><Relationship Id="rId150" Type="http://schemas.openxmlformats.org/officeDocument/2006/relationships/slide" Target="slides/slide147.xml"/><Relationship Id="rId151" Type="http://schemas.openxmlformats.org/officeDocument/2006/relationships/slide" Target="slides/slide148.xml"/><Relationship Id="rId152" Type="http://schemas.openxmlformats.org/officeDocument/2006/relationships/slide" Target="slides/slide149.xml"/><Relationship Id="rId153" Type="http://schemas.openxmlformats.org/officeDocument/2006/relationships/slide" Target="slides/slide150.xml"/><Relationship Id="rId154" Type="http://schemas.openxmlformats.org/officeDocument/2006/relationships/slide" Target="slides/slide151.xml"/><Relationship Id="rId155" Type="http://schemas.openxmlformats.org/officeDocument/2006/relationships/slide" Target="slides/slide152.xml"/><Relationship Id="rId156" Type="http://schemas.openxmlformats.org/officeDocument/2006/relationships/slide" Target="slides/slide153.xml"/><Relationship Id="rId157" Type="http://schemas.openxmlformats.org/officeDocument/2006/relationships/slide" Target="slides/slide154.xml"/><Relationship Id="rId158" Type="http://schemas.openxmlformats.org/officeDocument/2006/relationships/slide" Target="slides/slide155.xml"/><Relationship Id="rId159" Type="http://schemas.openxmlformats.org/officeDocument/2006/relationships/slide" Target="slides/slide156.xml"/><Relationship Id="rId160" Type="http://schemas.openxmlformats.org/officeDocument/2006/relationships/slide" Target="slides/slide157.xml"/><Relationship Id="rId161" Type="http://schemas.openxmlformats.org/officeDocument/2006/relationships/slide" Target="slides/slide158.xml"/><Relationship Id="rId162" Type="http://schemas.openxmlformats.org/officeDocument/2006/relationships/slide" Target="slides/slide159.xml"/><Relationship Id="rId163" Type="http://schemas.openxmlformats.org/officeDocument/2006/relationships/slide" Target="slides/slide160.xml"/><Relationship Id="rId164" Type="http://schemas.openxmlformats.org/officeDocument/2006/relationships/slide" Target="slides/slide161.xml"/><Relationship Id="rId165" Type="http://schemas.openxmlformats.org/officeDocument/2006/relationships/slide" Target="slides/slide162.xml"/><Relationship Id="rId166" Type="http://schemas.openxmlformats.org/officeDocument/2006/relationships/slide" Target="slides/slide163.xml"/><Relationship Id="rId167" Type="http://schemas.openxmlformats.org/officeDocument/2006/relationships/slide" Target="slides/slide164.xml"/><Relationship Id="rId168" Type="http://schemas.openxmlformats.org/officeDocument/2006/relationships/slide" Target="slides/slide165.xml"/><Relationship Id="rId169" Type="http://schemas.openxmlformats.org/officeDocument/2006/relationships/slide" Target="slides/slide166.xml"/><Relationship Id="rId170" Type="http://schemas.openxmlformats.org/officeDocument/2006/relationships/slide" Target="slides/slide167.xml"/><Relationship Id="rId171" Type="http://schemas.openxmlformats.org/officeDocument/2006/relationships/slide" Target="slides/slide168.xml"/><Relationship Id="rId172" Type="http://schemas.openxmlformats.org/officeDocument/2006/relationships/slide" Target="slides/slide169.xml"/><Relationship Id="rId173" Type="http://schemas.openxmlformats.org/officeDocument/2006/relationships/slide" Target="slides/slide170.xml"/><Relationship Id="rId174" Type="http://schemas.openxmlformats.org/officeDocument/2006/relationships/slide" Target="slides/slide171.xml"/><Relationship Id="rId175" Type="http://schemas.openxmlformats.org/officeDocument/2006/relationships/slide" Target="slides/slide172.xml"/><Relationship Id="rId176" Type="http://schemas.openxmlformats.org/officeDocument/2006/relationships/slide" Target="slides/slide173.xml"/><Relationship Id="rId177" Type="http://schemas.openxmlformats.org/officeDocument/2006/relationships/slide" Target="slides/slide174.xml"/><Relationship Id="rId178" Type="http://schemas.openxmlformats.org/officeDocument/2006/relationships/slide" Target="slides/slide175.xml"/><Relationship Id="rId179" Type="http://schemas.openxmlformats.org/officeDocument/2006/relationships/slide" Target="slides/slide176.xml"/><Relationship Id="rId180" Type="http://schemas.openxmlformats.org/officeDocument/2006/relationships/slide" Target="slides/slide177.xml"/><Relationship Id="rId181" Type="http://schemas.openxmlformats.org/officeDocument/2006/relationships/slide" Target="slides/slide178.xml"/><Relationship Id="rId18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2400" strike="noStrike" u="none">
              <a:solidFill>
                <a:srgbClr val="ffff00"/>
              </a:solidFill>
              <a:effectLst/>
              <a:uFillTx/>
              <a:latin typeface="Times New Roman"/>
            </a:endParaRPr>
          </a:p>
        </p:txBody>
      </p:sp>
      <p:sp>
        <p:nvSpPr>
          <p:cNvPr id="6"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 name="PlaceHolder 2"/>
          <p:cNvSpPr>
            <a:spLocks noGrp="1"/>
          </p:cNvSpPr>
          <p:nvPr>
            <p:ph type="dt" idx="4"/>
          </p:nvPr>
        </p:nvSpPr>
        <p:spPr>
          <a:xfrm>
            <a:off x="388584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8"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8f8f8"/>
                </a:solidFill>
                <a:effectLst/>
                <a:uFillTx/>
                <a:latin typeface="Times New Roman"/>
              </a:rPr>
              <a:t>Click to move the slide</a:t>
            </a:r>
            <a:endParaRPr b="0" lang="en-US" sz="4400" strike="noStrike" u="none">
              <a:solidFill>
                <a:srgbClr val="f8f8f8"/>
              </a:solidFill>
              <a:effectLst/>
              <a:uFillTx/>
              <a:latin typeface="Times New Roman"/>
            </a:endParaRPr>
          </a:p>
        </p:txBody>
      </p:sp>
      <p:sp>
        <p:nvSpPr>
          <p:cNvPr id="9" name="PlaceHolder 4"/>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Click to edit the notes format</a:t>
            </a:r>
            <a:endParaRPr b="0" lang="en-US" sz="1200" strike="noStrike" u="none">
              <a:solidFill>
                <a:srgbClr val="000000"/>
              </a:solidFill>
              <a:effectLst/>
              <a:uFillTx/>
              <a:latin typeface="Times New Roman"/>
            </a:endParaRPr>
          </a:p>
        </p:txBody>
      </p:sp>
      <p:sp>
        <p:nvSpPr>
          <p:cNvPr id="10" name="PlaceHolder 5"/>
          <p:cNvSpPr>
            <a:spLocks noGrp="1"/>
          </p:cNvSpPr>
          <p:nvPr>
            <p:ph type="ftr" idx="5"/>
          </p:nvPr>
        </p:nvSpPr>
        <p:spPr>
          <a:xfrm>
            <a:off x="-360" y="8686800"/>
            <a:ext cx="2971800" cy="4572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 name="PlaceHolder 6"/>
          <p:cNvSpPr>
            <a:spLocks noGrp="1"/>
          </p:cNvSpPr>
          <p:nvPr>
            <p:ph type="sldNum" idx="6"/>
          </p:nvPr>
        </p:nvSpPr>
        <p:spPr>
          <a:xfrm>
            <a:off x="3885840" y="868680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CA"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FB924DD-B5A8-4B25-A281-ACE7213B7F8A}" type="slidenum">
              <a:rPr b="0" lang="fr-CA"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5"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C58C3D8-4EFB-4D2E-AB0A-5C65F49B080D}" type="slidenum">
              <a:rPr b="0" lang="es-CL"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66" name="PlaceHolder 1"/>
          <p:cNvSpPr>
            <a:spLocks noGrp="1"/>
          </p:cNvSpPr>
          <p:nvPr>
            <p:ph type="body"/>
          </p:nvPr>
        </p:nvSpPr>
        <p:spPr>
          <a:xfrm>
            <a:off x="914400" y="4356000"/>
            <a:ext cx="5029200" cy="4135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fr-FR" sz="1200" strike="noStrike" u="none">
              <a:solidFill>
                <a:srgbClr val="000000"/>
              </a:solidFill>
              <a:effectLst/>
              <a:uFillTx/>
              <a:latin typeface="Times New Roman"/>
            </a:endParaRPr>
          </a:p>
        </p:txBody>
      </p:sp>
      <p:sp>
        <p:nvSpPr>
          <p:cNvPr id="1667" name="PlaceHolder 2"/>
          <p:cNvSpPr>
            <a:spLocks noGrp="1"/>
          </p:cNvSpPr>
          <p:nvPr>
            <p:ph type="sldImg"/>
          </p:nvPr>
        </p:nvSpPr>
        <p:spPr>
          <a:xfrm>
            <a:off x="1298520" y="797040"/>
            <a:ext cx="4262400" cy="3198600"/>
          </a:xfrm>
          <a:prstGeom prst="rect">
            <a:avLst/>
          </a:prstGeom>
          <a:ln w="0">
            <a:noFill/>
          </a:ln>
        </p:spPr>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8"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0A0636-9A1A-4603-AAE4-6F539FB218F6}" type="slidenum">
              <a:rPr b="0" lang="fr-CA"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69" name="PlaceHolder 1"/>
          <p:cNvSpPr>
            <a:spLocks noGrp="1"/>
          </p:cNvSpPr>
          <p:nvPr>
            <p:ph type="sldImg"/>
          </p:nvPr>
        </p:nvSpPr>
        <p:spPr>
          <a:xfrm>
            <a:off x="1143000" y="685800"/>
            <a:ext cx="4572000" cy="3429000"/>
          </a:xfrm>
          <a:prstGeom prst="rect">
            <a:avLst/>
          </a:prstGeom>
          <a:ln w="0">
            <a:noFill/>
          </a:ln>
        </p:spPr>
      </p:sp>
      <p:sp>
        <p:nvSpPr>
          <p:cNvPr id="1670"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000000"/>
                </a:solidFill>
                <a:effectLst/>
                <a:uFillTx/>
                <a:latin typeface="Times New Roman"/>
              </a:rPr>
              <a:t>L’intérêt des classes aisées pour les sports à dominante énergétique remonte à 1829 (1ère édition oxford-cambridge aviron). Les classes populaires ont été exclues du sport amateur en 1867 à cause d’une clause rajoutée à l’amateur athletic club, qui était la fédération gérant le sport amateur, qui stipulait que ceux dont le travail nécessitait une activité physique importante. Les paysans et les ouvriers se sont donc orienté evrs le sport professionnel. Souvent ce sont les pubs qui organisaient les courses et avaient leur poulain !</a:t>
            </a:r>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1"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4647CF-B632-4EFC-9F11-3B248C870706}"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72" name="PlaceHolder 1"/>
          <p:cNvSpPr>
            <a:spLocks noGrp="1"/>
          </p:cNvSpPr>
          <p:nvPr>
            <p:ph type="sldImg"/>
          </p:nvPr>
        </p:nvSpPr>
        <p:spPr>
          <a:xfrm>
            <a:off x="1143000" y="685800"/>
            <a:ext cx="4572000" cy="3429000"/>
          </a:xfrm>
          <a:prstGeom prst="rect">
            <a:avLst/>
          </a:prstGeom>
          <a:ln w="0">
            <a:noFill/>
          </a:ln>
        </p:spPr>
      </p:sp>
      <p:sp>
        <p:nvSpPr>
          <p:cNvPr id="1673"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200" strike="noStrike" u="none">
                <a:solidFill>
                  <a:srgbClr val="000000"/>
                </a:solidFill>
                <a:effectLst/>
                <a:uFillTx/>
                <a:latin typeface="Times New Roman"/>
              </a:rPr>
              <a:t>Cristensen : tlim à 20 km = 3 minutes, tlim à 20 km.h-1 en 10s – 5 s passive = 20 minutes = plus de travail à haute intensité</a:t>
            </a:r>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4"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F3BF2A-FE1A-491F-83FA-176A907B7C8C}"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75" name="PlaceHolder 1"/>
          <p:cNvSpPr>
            <a:spLocks noGrp="1"/>
          </p:cNvSpPr>
          <p:nvPr>
            <p:ph type="sldImg"/>
          </p:nvPr>
        </p:nvSpPr>
        <p:spPr>
          <a:xfrm>
            <a:off x="1143000" y="685800"/>
            <a:ext cx="4572000" cy="3429000"/>
          </a:xfrm>
          <a:prstGeom prst="rect">
            <a:avLst/>
          </a:prstGeom>
          <a:ln w="0">
            <a:noFill/>
          </a:ln>
        </p:spPr>
      </p:sp>
      <p:sp>
        <p:nvSpPr>
          <p:cNvPr id="1676"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200" strike="noStrike" u="none">
                <a:solidFill>
                  <a:srgbClr val="000000"/>
                </a:solidFill>
                <a:effectLst/>
                <a:uFillTx/>
                <a:latin typeface="Times New Roman"/>
              </a:rPr>
              <a:t>Bien qu’elle n permet pas de décrire la performance intermittente, cette classification a permis d’étudier l’entraînement intermittent de façon plus rationnelle et sert de base théorique pour comprendre les différences de performance.</a:t>
            </a:r>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7"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83F1797-E746-4A27-808C-98BBC8022D26}"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78" name="PlaceHolder 1"/>
          <p:cNvSpPr>
            <a:spLocks noGrp="1"/>
          </p:cNvSpPr>
          <p:nvPr>
            <p:ph type="sldImg"/>
          </p:nvPr>
        </p:nvSpPr>
        <p:spPr>
          <a:xfrm>
            <a:off x="1143000" y="685800"/>
            <a:ext cx="4572000" cy="3429000"/>
          </a:xfrm>
          <a:prstGeom prst="rect">
            <a:avLst/>
          </a:prstGeom>
          <a:ln w="0">
            <a:noFill/>
          </a:ln>
        </p:spPr>
      </p:sp>
      <p:sp>
        <p:nvSpPr>
          <p:cNvPr id="1679"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200" strike="noStrike" u="none">
                <a:solidFill>
                  <a:srgbClr val="000000"/>
                </a:solidFill>
                <a:effectLst/>
                <a:uFillTx/>
                <a:latin typeface="Times New Roman"/>
              </a:rPr>
              <a:t>Par exemple, Manipuler un des paramètres modifie de façon significative la performance. </a:t>
            </a:r>
            <a:endParaRPr b="0" lang="en-US"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200" strike="noStrike" u="none">
                <a:solidFill>
                  <a:srgbClr val="000000"/>
                </a:solidFill>
                <a:effectLst/>
                <a:uFillTx/>
                <a:latin typeface="Times New Roman"/>
              </a:rPr>
              <a:t>110% récup active récup passive : plus de réps car intensité moyenne plus faible</a:t>
            </a:r>
            <a:endParaRPr b="0" lang="en-US"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200" strike="noStrike" u="none">
                <a:solidFill>
                  <a:srgbClr val="000000"/>
                </a:solidFill>
                <a:effectLst/>
                <a:uFillTx/>
                <a:latin typeface="Times New Roman"/>
              </a:rPr>
              <a:t>Cela se vérifie : diapo suivante</a:t>
            </a:r>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0"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4847B0-CFB1-4456-83E6-B46863199DD4}" type="slidenum">
              <a:rPr b="0" lang="fr-CA"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81" name="PlaceHolder 1"/>
          <p:cNvSpPr>
            <a:spLocks noGrp="1"/>
          </p:cNvSpPr>
          <p:nvPr>
            <p:ph type="sldImg"/>
          </p:nvPr>
        </p:nvSpPr>
        <p:spPr>
          <a:xfrm>
            <a:off x="1152360" y="692280"/>
            <a:ext cx="4554720" cy="3416040"/>
          </a:xfrm>
          <a:prstGeom prst="rect">
            <a:avLst/>
          </a:prstGeom>
          <a:ln w="0">
            <a:noFill/>
          </a:ln>
        </p:spPr>
      </p:sp>
      <p:sp>
        <p:nvSpPr>
          <p:cNvPr id="1682"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s-CL" sz="1200" strike="noStrike" u="non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3"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E5AE84-DA35-47D3-A49A-EC0CFD3E9E18}" type="slidenum">
              <a:rPr b="0" lang="fr-CA"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84" name="PlaceHolder 1"/>
          <p:cNvSpPr>
            <a:spLocks noGrp="1"/>
          </p:cNvSpPr>
          <p:nvPr>
            <p:ph type="sldImg"/>
          </p:nvPr>
        </p:nvSpPr>
        <p:spPr>
          <a:xfrm>
            <a:off x="1298520" y="797040"/>
            <a:ext cx="4262400" cy="3198600"/>
          </a:xfrm>
          <a:prstGeom prst="rect">
            <a:avLst/>
          </a:prstGeom>
          <a:ln w="0">
            <a:noFill/>
          </a:ln>
        </p:spPr>
      </p:sp>
      <p:sp>
        <p:nvSpPr>
          <p:cNvPr id="1685" name="PlaceHolder 2"/>
          <p:cNvSpPr>
            <a:spLocks noGrp="1"/>
          </p:cNvSpPr>
          <p:nvPr>
            <p:ph type="body"/>
          </p:nvPr>
        </p:nvSpPr>
        <p:spPr>
          <a:xfrm>
            <a:off x="914400" y="4356000"/>
            <a:ext cx="5029200" cy="4135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fr-FR" sz="1200" strike="noStrike" u="none">
              <a:solidFill>
                <a:srgbClr val="000000"/>
              </a:solidFill>
              <a:effectLst/>
              <a:uFillTx/>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6" name="PlaceHolder 1"/>
          <p:cNvSpPr>
            <a:spLocks noGrp="1"/>
          </p:cNvSpPr>
          <p:nvPr>
            <p:ph type="sldImg"/>
          </p:nvPr>
        </p:nvSpPr>
        <p:spPr>
          <a:xfrm>
            <a:off x="1143000" y="685800"/>
            <a:ext cx="4572000" cy="3429000"/>
          </a:xfrm>
          <a:prstGeom prst="rect">
            <a:avLst/>
          </a:prstGeom>
          <a:ln w="0">
            <a:noFill/>
          </a:ln>
        </p:spPr>
      </p:sp>
      <p:sp>
        <p:nvSpPr>
          <p:cNvPr id="1687"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1688" name="Espace réservé du numéro de diapositive 3"/>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4F2937-C31D-405C-8823-5B2C67EBE5EA}" type="slidenum">
              <a:rPr b="0" lang="fr-CA" sz="1200" strike="noStrike" u="none">
                <a:solidFill>
                  <a:srgbClr val="000000"/>
                </a:solidFill>
                <a:effectLst/>
                <a:uFillTx/>
                <a:latin typeface="Times New Roman"/>
              </a:rPr>
              <a:t>&lt;number&gt;</a:t>
            </a:fld>
            <a:endParaRPr b="0" lang="en-US" sz="1200" strike="noStrike" u="none">
              <a:solidFill>
                <a:srgbClr val="ffff00"/>
              </a:solidFill>
              <a:effectLst/>
              <a:uFillTx/>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9"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B6CAFA-244A-4E71-8475-C7BFCD9B97CD}" type="slidenum">
              <a:rPr b="0" lang="fr-CA"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1690" name="PlaceHolder 1"/>
          <p:cNvSpPr>
            <a:spLocks noGrp="1"/>
          </p:cNvSpPr>
          <p:nvPr>
            <p:ph type="sldImg"/>
          </p:nvPr>
        </p:nvSpPr>
        <p:spPr>
          <a:xfrm>
            <a:off x="1143000" y="685800"/>
            <a:ext cx="4572000" cy="3429000"/>
          </a:xfrm>
          <a:prstGeom prst="rect">
            <a:avLst/>
          </a:prstGeom>
          <a:ln w="0">
            <a:noFill/>
          </a:ln>
        </p:spPr>
      </p:sp>
      <p:sp>
        <p:nvSpPr>
          <p:cNvPr id="1691" name="PlaceHolder 2"/>
          <p:cNvSpPr>
            <a:spLocks noGrp="1"/>
          </p:cNvSpPr>
          <p:nvPr>
            <p:ph type="body"/>
          </p:nvPr>
        </p:nvSpPr>
        <p:spPr>
          <a:xfrm>
            <a:off x="914400" y="4343400"/>
            <a:ext cx="5029200" cy="397368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000000"/>
                </a:solidFill>
                <a:effectLst/>
                <a:uFillTx/>
                <a:latin typeface="Times New Roman"/>
              </a:rPr>
              <a:t>On peut remarquer qu’au total, dans les zones de forte intensité: c.à.d sup à 96% de la VAM, le groupe CH a nagé 148% de distance plus que le groupe NCH.  </a:t>
            </a:r>
            <a:endParaRPr b="0" lang="en-US"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2"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2CE098-0DF7-46B8-ACF3-F929EDAC24EE}" type="slidenum">
              <a:rPr b="0" lang="fr-FR" sz="1200" strike="noStrike" u="none">
                <a:solidFill>
                  <a:srgbClr val="ffff00"/>
                </a:solidFill>
                <a:effectLst/>
                <a:uFillTx/>
                <a:latin typeface="Arial"/>
              </a:rPr>
              <a:t>&lt;number&gt;</a:t>
            </a:fld>
            <a:endParaRPr b="0" lang="en-US" sz="1200" strike="noStrike" u="none">
              <a:solidFill>
                <a:srgbClr val="ffff00"/>
              </a:solidFill>
              <a:effectLst/>
              <a:uFillTx/>
              <a:latin typeface="Times New Roman"/>
            </a:endParaRPr>
          </a:p>
        </p:txBody>
      </p:sp>
      <p:sp>
        <p:nvSpPr>
          <p:cNvPr id="1693" name="PlaceHolder 1"/>
          <p:cNvSpPr>
            <a:spLocks noGrp="1"/>
          </p:cNvSpPr>
          <p:nvPr>
            <p:ph type="body"/>
          </p:nvPr>
        </p:nvSpPr>
        <p:spPr>
          <a:xfrm>
            <a:off x="914400" y="4346280"/>
            <a:ext cx="5029200" cy="38494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s-CL" sz="1200" strike="noStrike" u="none">
              <a:solidFill>
                <a:srgbClr val="000000"/>
              </a:solidFill>
              <a:effectLst/>
              <a:uFillTx/>
              <a:latin typeface="Times New Roman"/>
            </a:endParaRPr>
          </a:p>
        </p:txBody>
      </p:sp>
      <p:sp>
        <p:nvSpPr>
          <p:cNvPr id="1694" name="PlaceHolder 2"/>
          <p:cNvSpPr>
            <a:spLocks noGrp="1"/>
          </p:cNvSpPr>
          <p:nvPr>
            <p:ph type="sldImg"/>
          </p:nvPr>
        </p:nvSpPr>
        <p:spPr>
          <a:xfrm>
            <a:off x="1298520" y="801720"/>
            <a:ext cx="4260960" cy="3195720"/>
          </a:xfrm>
          <a:prstGeom prst="rect">
            <a:avLst/>
          </a:prstGeom>
          <a:ln w="0">
            <a:noFill/>
          </a:ln>
        </p:spPr>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5"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E2E31D3-A857-4535-B3DC-4521782415AA}" type="slidenum">
              <a:rPr b="0" lang="fr-FR" sz="1200" strike="noStrike" u="none">
                <a:solidFill>
                  <a:srgbClr val="ffff00"/>
                </a:solidFill>
                <a:effectLst/>
                <a:uFillTx/>
                <a:latin typeface="Arial"/>
              </a:rPr>
              <a:t>&lt;number&gt;</a:t>
            </a:fld>
            <a:endParaRPr b="0" lang="en-US" sz="1200" strike="noStrike" u="none">
              <a:solidFill>
                <a:srgbClr val="ffff00"/>
              </a:solidFill>
              <a:effectLst/>
              <a:uFillTx/>
              <a:latin typeface="Times New Roman"/>
            </a:endParaRPr>
          </a:p>
        </p:txBody>
      </p:sp>
      <p:sp>
        <p:nvSpPr>
          <p:cNvPr id="1696" name="PlaceHolder 1"/>
          <p:cNvSpPr>
            <a:spLocks noGrp="1"/>
          </p:cNvSpPr>
          <p:nvPr>
            <p:ph type="body"/>
          </p:nvPr>
        </p:nvSpPr>
        <p:spPr>
          <a:xfrm>
            <a:off x="914400" y="4346280"/>
            <a:ext cx="5029200" cy="38494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s-CL" sz="1200" strike="noStrike" u="none">
              <a:solidFill>
                <a:srgbClr val="000000"/>
              </a:solidFill>
              <a:effectLst/>
              <a:uFillTx/>
              <a:latin typeface="Times New Roman"/>
            </a:endParaRPr>
          </a:p>
        </p:txBody>
      </p:sp>
      <p:sp>
        <p:nvSpPr>
          <p:cNvPr id="1697" name="PlaceHolder 2"/>
          <p:cNvSpPr>
            <a:spLocks noGrp="1"/>
          </p:cNvSpPr>
          <p:nvPr>
            <p:ph type="sldImg"/>
          </p:nvPr>
        </p:nvSpPr>
        <p:spPr>
          <a:xfrm>
            <a:off x="1298520" y="801720"/>
            <a:ext cx="4260960" cy="3195720"/>
          </a:xfrm>
          <a:prstGeom prst="rect">
            <a:avLst/>
          </a:prstGeom>
          <a:ln w="0">
            <a:noFill/>
          </a:ln>
        </p:spPr>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358B4E9E-7F94-4C85-83BB-47218A6E509E}"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8f8f8"/>
                </a:solidFill>
                <a:effectLst/>
                <a:uFillTx/>
                <a:latin typeface="Times New Roman"/>
              </a:rPr>
              <a:t>Click to edit the title text format</a:t>
            </a:r>
            <a:endParaRPr b="0" lang="en-US" sz="4400" strike="noStrike" u="none">
              <a:solidFill>
                <a:srgbClr val="f8f8f8"/>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Click to edit the outline text format</a:t>
            </a:r>
            <a:endParaRPr b="0" lang="en-US" sz="3200" strike="noStrike" u="none">
              <a:solidFill>
                <a:srgbClr val="ffff00"/>
              </a:solidFill>
              <a:effectLst/>
              <a:uFillTx/>
              <a:latin typeface="Times New Roman"/>
            </a:endParaRPr>
          </a:p>
          <a:p>
            <a:pPr lvl="1" marL="743040" indent="-28584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Second Outline Level</a:t>
            </a:r>
            <a:endParaRPr b="0" lang="en-US" sz="3200" strike="noStrike" u="none">
              <a:solidFill>
                <a:srgbClr val="ffff00"/>
              </a:solidFill>
              <a:effectLst/>
              <a:uFillTx/>
              <a:latin typeface="Times New Roman"/>
            </a:endParaRPr>
          </a:p>
          <a:p>
            <a:pPr lvl="2" marL="11430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Third Outline Level</a:t>
            </a:r>
            <a:endParaRPr b="0" lang="en-US" sz="3200" strike="noStrike" u="none">
              <a:solidFill>
                <a:srgbClr val="ffff00"/>
              </a:solidFill>
              <a:effectLst/>
              <a:uFillTx/>
              <a:latin typeface="Times New Roman"/>
            </a:endParaRPr>
          </a:p>
          <a:p>
            <a:pPr lvl="3" marL="16002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Fourth Outline Level</a:t>
            </a:r>
            <a:endParaRPr b="0" lang="en-US" sz="3200" strike="noStrike" u="none">
              <a:solidFill>
                <a:srgbClr val="ffff00"/>
              </a:solidFill>
              <a:effectLst/>
              <a:uFillTx/>
              <a:latin typeface="Times New Roman"/>
            </a:endParaRPr>
          </a:p>
          <a:p>
            <a:pPr lvl="4"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Fifth Outline Level</a:t>
            </a:r>
            <a:endParaRPr b="0" lang="en-US" sz="3200" strike="noStrike" u="none">
              <a:solidFill>
                <a:srgbClr val="ffff00"/>
              </a:solidFill>
              <a:effectLst/>
              <a:uFillTx/>
              <a:latin typeface="Times New Roman"/>
            </a:endParaRPr>
          </a:p>
          <a:p>
            <a:pPr lvl="5"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Sixth Outline Level</a:t>
            </a:r>
            <a:endParaRPr b="0" lang="en-US" sz="3200" strike="noStrike" u="none">
              <a:solidFill>
                <a:srgbClr val="ffff00"/>
              </a:solidFill>
              <a:effectLst/>
              <a:uFillTx/>
              <a:latin typeface="Times New Roman"/>
            </a:endParaRPr>
          </a:p>
          <a:p>
            <a:pPr lvl="6"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Seventh Outline Level</a:t>
            </a:r>
            <a:endParaRPr b="0" lang="en-US" sz="3200" strike="noStrike" u="none">
              <a:solidFill>
                <a:srgbClr val="ffff00"/>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CA" sz="1400" strike="noStrike" u="none">
                <a:solidFill>
                  <a:srgbClr val="ffff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8E5E42-6206-41D7-B477-AC1A0A06543C}" type="slidenum">
              <a:rPr b="0" lang="fr-CA" sz="1400" strike="noStrike" u="none">
                <a:solidFill>
                  <a:srgbClr val="ffff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8.wmf"/><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4.png"/><Relationship Id="rId3" Type="http://schemas.openxmlformats.org/officeDocument/2006/relationships/image" Target="../media/image14.png"/><Relationship Id="rId4"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6.wmf"/><Relationship Id="rId3"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12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1.xml"/>
</Relationships>
</file>

<file path=ppt/slides/_rels/slide12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1.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8.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0.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2.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33.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34.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35.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1.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3.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44.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2.wmf"/><Relationship Id="rId3" Type="http://schemas.openxmlformats.org/officeDocument/2006/relationships/slideLayout" Target="../slideLayouts/slideLayout1.xml"/>
</Relationships>
</file>

<file path=ppt/slides/_rels/slide145.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46.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3.wmf"/><Relationship Id="rId3" Type="http://schemas.openxmlformats.org/officeDocument/2006/relationships/package" Target="../embeddings/oleObject2.xlsx"/><Relationship Id="rId4" Type="http://schemas.openxmlformats.org/officeDocument/2006/relationships/image" Target="../media/image34.wmf"/><Relationship Id="rId5" Type="http://schemas.openxmlformats.org/officeDocument/2006/relationships/package" Target="../embeddings/oleObject3.xlsx"/><Relationship Id="rId6" Type="http://schemas.openxmlformats.org/officeDocument/2006/relationships/image" Target="../media/image35.wmf"/><Relationship Id="rId7" Type="http://schemas.openxmlformats.org/officeDocument/2006/relationships/package" Target="../embeddings/oleObject4.xlsx"/><Relationship Id="rId8" Type="http://schemas.openxmlformats.org/officeDocument/2006/relationships/image" Target="../media/image36.wmf"/><Relationship Id="rId9" Type="http://schemas.openxmlformats.org/officeDocument/2006/relationships/slideLayout" Target="../slideLayouts/slideLayout1.xml"/>
</Relationships>
</file>

<file path=ppt/slides/_rels/slide147.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48.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49.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1.wmf"/><Relationship Id="rId3" Type="http://schemas.openxmlformats.org/officeDocument/2006/relationships/slideLayout" Target="../slideLayouts/slideLayout1.xml"/>
</Relationships>
</file>

<file path=ppt/slides/_rels/slide150.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37.wmf"/><Relationship Id="rId3" Type="http://schemas.openxmlformats.org/officeDocument/2006/relationships/package" Target="../embeddings/oleObject2.xlsx"/><Relationship Id="rId4" Type="http://schemas.openxmlformats.org/officeDocument/2006/relationships/image" Target="../media/image38.wmf"/><Relationship Id="rId5" Type="http://schemas.openxmlformats.org/officeDocument/2006/relationships/slideLayout" Target="../slideLayouts/slideLayout1.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9.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17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39.png"/><Relationship Id="rId3" Type="http://schemas.openxmlformats.org/officeDocument/2006/relationships/image" Target="../media/image39.png"/><Relationship Id="rId4" Type="http://schemas.openxmlformats.org/officeDocument/2006/relationships/slideLayout" Target="../slideLayouts/slideLayout1.xml"/>
</Relationships>
</file>

<file path=ppt/slides/_rels/slide171.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8.xml.rels><?xml version="1.0" encoding="UTF-8"?>
<Relationships xmlns="http://schemas.openxmlformats.org/package/2006/relationships"><Relationship Id="rId1" Type="http://schemas.openxmlformats.org/officeDocument/2006/relationships/image" Target="../media/image40.wmf"/><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Text Box 5"/>
          <p:cNvSpPr/>
          <p:nvPr/>
        </p:nvSpPr>
        <p:spPr>
          <a:xfrm>
            <a:off x="1699920" y="3460680"/>
            <a:ext cx="5963400" cy="825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fr-FR" sz="2400" strike="noStrike" u="none">
                <a:solidFill>
                  <a:srgbClr val="ffff00"/>
                </a:solidFill>
                <a:effectLst/>
                <a:uFillTx/>
                <a:latin typeface="Calibri"/>
                <a:ea typeface="Calibri"/>
              </a:rPr>
              <a:t>CAZORLA Georges, BOSQUET Laurent</a:t>
            </a:r>
            <a:endParaRPr b="0" lang="en-US" sz="2400" strike="noStrike" u="none">
              <a:solidFill>
                <a:srgbClr val="ffff00"/>
              </a:solidFill>
              <a:effectLst/>
              <a:uFillTx/>
              <a:latin typeface="Times New Roman"/>
            </a:endParaRPr>
          </a:p>
          <a:p>
            <a:pPr algn="ctr">
              <a:lnSpc>
                <a:spcPct val="100000"/>
              </a:lnSpc>
              <a:buClr>
                <a:srgbClr val="ffff00"/>
              </a:buClr>
              <a:buFont typeface="Times New Roman"/>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2400" strike="noStrike" u="none">
              <a:solidFill>
                <a:srgbClr val="ffff00"/>
              </a:solidFill>
              <a:effectLst/>
              <a:uFillTx/>
              <a:latin typeface="Times New Roman"/>
            </a:endParaRPr>
          </a:p>
        </p:txBody>
      </p:sp>
      <p:sp>
        <p:nvSpPr>
          <p:cNvPr id="13" name="Text Box 8"/>
          <p:cNvSpPr/>
          <p:nvPr/>
        </p:nvSpPr>
        <p:spPr>
          <a:xfrm>
            <a:off x="3805920" y="2824200"/>
            <a:ext cx="1845000" cy="459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2400" strike="noStrike" u="none">
                <a:solidFill>
                  <a:srgbClr val="ffffff"/>
                </a:solidFill>
                <a:effectLst/>
                <a:uFillTx/>
                <a:latin typeface="Bookman Old Style"/>
              </a:rPr>
              <a:t>Avril 2014</a:t>
            </a:r>
            <a:endParaRPr b="0" lang="en-US" sz="2400" strike="noStrike" u="none">
              <a:solidFill>
                <a:srgbClr val="ffff00"/>
              </a:solidFill>
              <a:effectLst/>
              <a:uFillTx/>
              <a:latin typeface="Times New Roman"/>
            </a:endParaRPr>
          </a:p>
        </p:txBody>
      </p:sp>
      <p:sp>
        <p:nvSpPr>
          <p:cNvPr id="14" name="ZoneTexte 1"/>
          <p:cNvSpPr/>
          <p:nvPr/>
        </p:nvSpPr>
        <p:spPr>
          <a:xfrm>
            <a:off x="2885400" y="4021200"/>
            <a:ext cx="35064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areaps33@gmail.com</a:t>
            </a:r>
            <a:endParaRPr b="0" lang="en-US" sz="2400" strike="noStrike" u="none">
              <a:solidFill>
                <a:srgbClr val="ffff00"/>
              </a:solidFill>
              <a:effectLst/>
              <a:uFillTx/>
              <a:latin typeface="Times New Roman"/>
            </a:endParaRPr>
          </a:p>
        </p:txBody>
      </p:sp>
      <p:sp>
        <p:nvSpPr>
          <p:cNvPr id="15" name="ZoneTexte 3"/>
          <p:cNvSpPr/>
          <p:nvPr/>
        </p:nvSpPr>
        <p:spPr>
          <a:xfrm>
            <a:off x="971640" y="260280"/>
            <a:ext cx="7091280" cy="2759760"/>
          </a:xfrm>
          <a:prstGeom prst="rect">
            <a:avLst/>
          </a:prstGeom>
          <a:noFill/>
          <a:ln w="0">
            <a:noFill/>
          </a:ln>
        </p:spPr>
        <p:style>
          <a:lnRef idx="0"/>
          <a:fillRef idx="0"/>
          <a:effectRef idx="0"/>
          <a:fontRef idx="minor"/>
        </p:style>
        <p:txBody>
          <a:bodyPr lIns="90000" rIns="90000" tIns="46800" bIns="46800" anchor="t">
            <a:spAutoFit/>
          </a:bodyPr>
          <a:p>
            <a:pPr algn="ct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alibri"/>
                <a:ea typeface="Calibri"/>
              </a:rPr>
              <a:t>Les grands principes de l’entraînement</a:t>
            </a:r>
            <a:endParaRPr b="0" lang="en-US" sz="3200" strike="noStrike" u="none">
              <a:solidFill>
                <a:srgbClr val="ffff00"/>
              </a:solidFill>
              <a:effectLst/>
              <a:uFillTx/>
              <a:latin typeface="Times New Roman"/>
            </a:endParaRPr>
          </a:p>
          <a:p>
            <a:pPr algn="ctr">
              <a:lnSpc>
                <a:spcPts val="4198"/>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00"/>
                </a:solidFill>
                <a:effectLst/>
                <a:uFillTx/>
                <a:latin typeface="Calibri"/>
                <a:ea typeface="Calibri"/>
              </a:rPr>
              <a:t>Le F.A.I.T.P.A.S.</a:t>
            </a:r>
            <a:endParaRPr b="0" lang="en-US" sz="2000" strike="noStrike" u="none">
              <a:solidFill>
                <a:srgbClr val="ffff00"/>
              </a:solidFill>
              <a:effectLst/>
              <a:uFillTx/>
              <a:latin typeface="Times New Roman"/>
            </a:endParaRPr>
          </a:p>
          <a:p>
            <a:pPr algn="ctr">
              <a:lnSpc>
                <a:spcPts val="4198"/>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00"/>
                </a:solidFill>
                <a:effectLst/>
                <a:uFillTx/>
                <a:latin typeface="Calibri"/>
                <a:ea typeface="Calibri"/>
              </a:rPr>
              <a:t>Planification, Programmation, Périodisation</a:t>
            </a:r>
            <a:endParaRPr b="0" lang="en-US" sz="2000" strike="noStrike" u="none">
              <a:solidFill>
                <a:srgbClr val="ffff00"/>
              </a:solidFill>
              <a:effectLst/>
              <a:uFillTx/>
              <a:latin typeface="Times New Roman"/>
            </a:endParaRPr>
          </a:p>
          <a:p>
            <a:pPr algn="ctr">
              <a:lnSpc>
                <a:spcPts val="4198"/>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00"/>
                </a:solidFill>
                <a:effectLst/>
                <a:uFillTx/>
                <a:latin typeface="Calibri"/>
                <a:ea typeface="Calibri"/>
              </a:rPr>
              <a:t>Contrôle et suivi  </a:t>
            </a:r>
            <a:endParaRPr b="0" lang="en-US" sz="2000" strike="noStrike" u="none">
              <a:solidFill>
                <a:srgbClr val="ffff00"/>
              </a:solidFill>
              <a:effectLst/>
              <a:uFillTx/>
              <a:latin typeface="Times New Roman"/>
            </a:endParaRPr>
          </a:p>
        </p:txBody>
      </p:sp>
      <p:pic>
        <p:nvPicPr>
          <p:cNvPr id="16" name="Image 30720" descr=""/>
          <p:cNvPicPr/>
          <p:nvPr/>
        </p:nvPicPr>
        <p:blipFill>
          <a:blip r:embed="rId1"/>
          <a:srcRect l="0" t="19565" r="74963" b="63428"/>
          <a:stretch/>
        </p:blipFill>
        <p:spPr>
          <a:xfrm>
            <a:off x="3384720" y="4869000"/>
            <a:ext cx="2687400" cy="1027080"/>
          </a:xfrm>
          <a:prstGeom prst="rect">
            <a:avLst/>
          </a:prstGeom>
          <a:noFill/>
          <a:ln w="0">
            <a:noFill/>
          </a:ln>
        </p:spPr>
      </p:pic>
      <p:sp>
        <p:nvSpPr>
          <p:cNvPr id="17" name="Rectangle 9"/>
          <p:cNvSpPr/>
          <p:nvPr/>
        </p:nvSpPr>
        <p:spPr>
          <a:xfrm>
            <a:off x="1890720" y="6023160"/>
            <a:ext cx="6117120" cy="64260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5311800"/>
                <a:tab algn="l" pos="5486400"/>
                <a:tab algn="l" pos="6400800"/>
                <a:tab algn="l" pos="7315200"/>
                <a:tab algn="l" pos="8229600"/>
                <a:tab algn="l" pos="9144000"/>
                <a:tab algn="l" pos="10058400"/>
              </a:tabLst>
            </a:pPr>
            <a:r>
              <a:rPr b="1" i="1" lang="fr-FR" sz="1800" strike="noStrike" u="none">
                <a:solidFill>
                  <a:srgbClr val="ffff00"/>
                </a:solidFill>
                <a:effectLst/>
                <a:uFillTx/>
                <a:latin typeface="Calibri"/>
                <a:ea typeface="Times New Roman"/>
              </a:rPr>
              <a:t>Association pour la Recherche et l’Évaluation</a:t>
            </a:r>
            <a:endParaRPr b="0" lang="en-US" sz="1800" strike="noStrike" u="none">
              <a:solidFill>
                <a:srgbClr val="ffff00"/>
              </a:solidFill>
              <a:effectLst/>
              <a:uFillTx/>
              <a:latin typeface="Times New Roman"/>
            </a:endParaRPr>
          </a:p>
          <a:p>
            <a:pPr>
              <a:lnSpc>
                <a:spcPct val="100000"/>
              </a:lnSpc>
              <a:tabLst>
                <a:tab algn="l" pos="0"/>
                <a:tab algn="l" pos="5311800"/>
                <a:tab algn="l" pos="5486400"/>
                <a:tab algn="l" pos="6400800"/>
                <a:tab algn="l" pos="7315200"/>
                <a:tab algn="l" pos="8229600"/>
                <a:tab algn="l" pos="9144000"/>
                <a:tab algn="l" pos="10058400"/>
              </a:tabLst>
            </a:pPr>
            <a:r>
              <a:rPr b="1" i="1" lang="fr-FR" sz="1800" strike="noStrike" u="none">
                <a:solidFill>
                  <a:srgbClr val="ffff00"/>
                </a:solidFill>
                <a:effectLst/>
                <a:uFillTx/>
                <a:latin typeface="Calibri"/>
                <a:ea typeface="Times New Roman"/>
              </a:rPr>
              <a:t> en Activité Physique et en Sport (areaps.org)</a:t>
            </a:r>
            <a:endParaRPr b="0" lang="en-US" sz="1800" strike="noStrike" u="none">
              <a:solidFill>
                <a:srgbClr val="ffff00"/>
              </a:solidFill>
              <a:effectLst/>
              <a:uFillTx/>
              <a:latin typeface="Times New Roman"/>
            </a:endParaRP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Oval 2"/>
          <p:cNvSpPr/>
          <p:nvPr/>
        </p:nvSpPr>
        <p:spPr>
          <a:xfrm>
            <a:off x="6781680" y="2971800"/>
            <a:ext cx="2362320" cy="1066680"/>
          </a:xfrm>
          <a:prstGeom prst="ellipse">
            <a:avLst/>
          </a:prstGeom>
          <a:gradFill rotWithShape="0">
            <a:gsLst>
              <a:gs pos="0">
                <a:srgbClr val="3333cc"/>
              </a:gs>
              <a:gs pos="100000">
                <a:srgbClr val="0f0f3e"/>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9" name="Oval 3"/>
          <p:cNvSpPr/>
          <p:nvPr/>
        </p:nvSpPr>
        <p:spPr>
          <a:xfrm>
            <a:off x="7696080" y="2438280"/>
            <a:ext cx="457200" cy="457200"/>
          </a:xfrm>
          <a:prstGeom prst="ellipse">
            <a:avLst/>
          </a:prstGeom>
          <a:gradFill rotWithShape="0">
            <a:gsLst>
              <a:gs pos="0">
                <a:srgbClr val="3333cc"/>
              </a:gs>
              <a:gs pos="100000">
                <a:srgbClr val="0f0f3e"/>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1</a:t>
            </a:r>
            <a:endParaRPr b="0" lang="en-US" sz="2400" strike="noStrike" u="none">
              <a:solidFill>
                <a:srgbClr val="ffff00"/>
              </a:solidFill>
              <a:effectLst/>
              <a:uFillTx/>
              <a:latin typeface="Times New Roman"/>
            </a:endParaRPr>
          </a:p>
        </p:txBody>
      </p:sp>
      <p:sp>
        <p:nvSpPr>
          <p:cNvPr id="20" name="Oval 5"/>
          <p:cNvSpPr/>
          <p:nvPr/>
        </p:nvSpPr>
        <p:spPr>
          <a:xfrm>
            <a:off x="228600" y="2971800"/>
            <a:ext cx="2057400" cy="1143000"/>
          </a:xfrm>
          <a:prstGeom prst="ellipse">
            <a:avLst/>
          </a:prstGeom>
          <a:gradFill rotWithShape="0">
            <a:gsLst>
              <a:gs pos="0">
                <a:srgbClr val="3333cc"/>
              </a:gs>
              <a:gs pos="100000">
                <a:srgbClr val="0c0c32"/>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Les capacités</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 du footballeur</a:t>
            </a:r>
            <a:endParaRPr b="0" lang="en-US" sz="2000" strike="noStrike" u="none">
              <a:solidFill>
                <a:srgbClr val="ffff00"/>
              </a:solidFill>
              <a:effectLst/>
              <a:uFillTx/>
              <a:latin typeface="Times New Roman"/>
            </a:endParaRPr>
          </a:p>
        </p:txBody>
      </p:sp>
      <p:sp>
        <p:nvSpPr>
          <p:cNvPr id="21" name="Oval 6"/>
          <p:cNvSpPr/>
          <p:nvPr/>
        </p:nvSpPr>
        <p:spPr>
          <a:xfrm>
            <a:off x="990720" y="2438280"/>
            <a:ext cx="457200" cy="457200"/>
          </a:xfrm>
          <a:prstGeom prst="ellipse">
            <a:avLst/>
          </a:prstGeom>
          <a:gradFill rotWithShape="0">
            <a:gsLst>
              <a:gs pos="0">
                <a:srgbClr val="3333cc"/>
              </a:gs>
              <a:gs pos="100000">
                <a:srgbClr val="060619"/>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2</a:t>
            </a:r>
            <a:endParaRPr b="0" lang="en-US" sz="2400" strike="noStrike" u="none">
              <a:solidFill>
                <a:srgbClr val="ffff00"/>
              </a:solidFill>
              <a:effectLst/>
              <a:uFillTx/>
              <a:latin typeface="Times New Roman"/>
            </a:endParaRPr>
          </a:p>
        </p:txBody>
      </p:sp>
      <p:sp>
        <p:nvSpPr>
          <p:cNvPr id="22" name="AutoShape 7"/>
          <p:cNvSpPr/>
          <p:nvPr/>
        </p:nvSpPr>
        <p:spPr>
          <a:xfrm>
            <a:off x="2286000" y="2971800"/>
            <a:ext cx="4495680" cy="1219320"/>
          </a:xfrm>
          <a:custGeom>
            <a:avLst/>
            <a:gdLst>
              <a:gd name="textAreaLeft" fmla="*/ 702360 w 4495680"/>
              <a:gd name="textAreaRight" fmla="*/ 3933720 w 4495680"/>
              <a:gd name="textAreaTop" fmla="*/ 304920 h 1219320"/>
              <a:gd name="textAreaBottom" fmla="*/ 914760 h 1219320"/>
              <a:gd name="GluePoint1X" fmla="*/ 3371850 w 21600"/>
              <a:gd name="GluePoint1Y" fmla="*/ 0 h 21600"/>
              <a:gd name="GluePoint2X" fmla="*/ 0 w 21600"/>
              <a:gd name="GluePoint2Y" fmla="*/ 609600 h 21600"/>
              <a:gd name="GluePoint3X" fmla="*/ 3371850 w 21600"/>
              <a:gd name="GluePoint3Y" fmla="*/ 1219200 h 21600"/>
              <a:gd name="GluePoint4X" fmla="*/ 4495800 w 21600"/>
              <a:gd name="GluePoint4Y" fmla="*/ 6096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blipFill rotWithShape="0">
            <a:blip r:embed="rId1"/>
            <a:srcRect/>
            <a:stretch/>
          </a:blipFill>
          <a:ln w="93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 name="Text Box 8"/>
          <p:cNvSpPr/>
          <p:nvPr/>
        </p:nvSpPr>
        <p:spPr>
          <a:xfrm>
            <a:off x="2363760" y="3316320"/>
            <a:ext cx="441792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PREPATION PHYSIQUE: </a:t>
            </a:r>
            <a:r>
              <a:rPr b="0" lang="fr-FR" sz="1800" strike="noStrike" u="none">
                <a:solidFill>
                  <a:srgbClr val="ffff00"/>
                </a:solidFill>
                <a:effectLst/>
                <a:uFillTx/>
                <a:latin typeface="Arial"/>
              </a:rPr>
              <a:t>planification,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programmation, périodisation</a:t>
            </a:r>
            <a:endParaRPr b="0" lang="en-US" sz="1800" strike="noStrike" u="none">
              <a:solidFill>
                <a:srgbClr val="ffff00"/>
              </a:solidFill>
              <a:effectLst/>
              <a:uFillTx/>
              <a:latin typeface="Times New Roman"/>
            </a:endParaRPr>
          </a:p>
        </p:txBody>
      </p:sp>
      <p:sp>
        <p:nvSpPr>
          <p:cNvPr id="24" name="Oval 9"/>
          <p:cNvSpPr/>
          <p:nvPr/>
        </p:nvSpPr>
        <p:spPr>
          <a:xfrm>
            <a:off x="1763640" y="1523880"/>
            <a:ext cx="2059200" cy="1041480"/>
          </a:xfrm>
          <a:prstGeom prst="ellipse">
            <a:avLst/>
          </a:prstGeom>
          <a:gradFill rotWithShape="0">
            <a:gsLst>
              <a:gs pos="0">
                <a:srgbClr val="3333cc"/>
              </a:gs>
              <a:gs pos="100000">
                <a:srgbClr val="111144"/>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Orientation</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25" name="Line 10"/>
          <p:cNvSpPr/>
          <p:nvPr/>
        </p:nvSpPr>
        <p:spPr>
          <a:xfrm>
            <a:off x="2700360" y="2565360"/>
            <a:ext cx="271440" cy="63504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 name="Line 11"/>
          <p:cNvSpPr/>
          <p:nvPr/>
        </p:nvSpPr>
        <p:spPr>
          <a:xfrm>
            <a:off x="4643280" y="2708280"/>
            <a:ext cx="5040" cy="56844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 name="Oval 12"/>
          <p:cNvSpPr/>
          <p:nvPr/>
        </p:nvSpPr>
        <p:spPr>
          <a:xfrm>
            <a:off x="5392800" y="1523880"/>
            <a:ext cx="1843200" cy="1041480"/>
          </a:xfrm>
          <a:prstGeom prst="ellipse">
            <a:avLst/>
          </a:prstGeom>
          <a:gradFill rotWithShape="0">
            <a:gsLst>
              <a:gs pos="0">
                <a:srgbClr val="3333cc"/>
              </a:gs>
              <a:gs pos="100000">
                <a:srgbClr val="111144"/>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Suivi</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28" name="Oval 13"/>
          <p:cNvSpPr/>
          <p:nvPr/>
        </p:nvSpPr>
        <p:spPr>
          <a:xfrm>
            <a:off x="3564000" y="1523880"/>
            <a:ext cx="2016000" cy="1113120"/>
          </a:xfrm>
          <a:prstGeom prst="ellipse">
            <a:avLst/>
          </a:prstGeom>
          <a:gradFill rotWithShape="0">
            <a:gsLst>
              <a:gs pos="0">
                <a:srgbClr val="3333cc"/>
              </a:gs>
              <a:gs pos="100000">
                <a:srgbClr val="111144"/>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Contrôle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29" name="Line 14"/>
          <p:cNvSpPr/>
          <p:nvPr/>
        </p:nvSpPr>
        <p:spPr>
          <a:xfrm flipH="1">
            <a:off x="5943600" y="2565360"/>
            <a:ext cx="357120" cy="63504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0" name="Text Box 15"/>
          <p:cNvSpPr/>
          <p:nvPr/>
        </p:nvSpPr>
        <p:spPr>
          <a:xfrm>
            <a:off x="5180760" y="4925880"/>
            <a:ext cx="3652920" cy="146556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Avis des entraîneurs experts</a:t>
            </a:r>
            <a:endParaRPr b="0" lang="en-US" sz="18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Etude de la littérature</a:t>
            </a:r>
            <a:endParaRPr b="0" lang="en-US" sz="18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Observation et prise de mesures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en situation réelle d’entraînement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et de compétition</a:t>
            </a:r>
            <a:endParaRPr b="0" lang="en-US" sz="1800" strike="noStrike" u="none">
              <a:solidFill>
                <a:srgbClr val="ffff00"/>
              </a:solidFill>
              <a:effectLst/>
              <a:uFillTx/>
              <a:latin typeface="Times New Roman"/>
            </a:endParaRPr>
          </a:p>
        </p:txBody>
      </p:sp>
      <p:sp>
        <p:nvSpPr>
          <p:cNvPr id="31" name="Text Box 16"/>
          <p:cNvSpPr/>
          <p:nvPr/>
        </p:nvSpPr>
        <p:spPr>
          <a:xfrm>
            <a:off x="159120" y="5029200"/>
            <a:ext cx="2620080" cy="119124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Choix, élaboration et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Validation des mesures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les plus congruentes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(aspects métrologiques)</a:t>
            </a:r>
            <a:endParaRPr b="0" lang="en-US" sz="1800" strike="noStrike" u="none">
              <a:solidFill>
                <a:srgbClr val="ffff00"/>
              </a:solidFill>
              <a:effectLst/>
              <a:uFillTx/>
              <a:latin typeface="Times New Roman"/>
            </a:endParaRPr>
          </a:p>
        </p:txBody>
      </p:sp>
      <p:sp>
        <p:nvSpPr>
          <p:cNvPr id="32" name="Line 17"/>
          <p:cNvSpPr/>
          <p:nvPr/>
        </p:nvSpPr>
        <p:spPr>
          <a:xfrm>
            <a:off x="7915320" y="4038480"/>
            <a:ext cx="0" cy="88740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3" name="Line 18"/>
          <p:cNvSpPr/>
          <p:nvPr/>
        </p:nvSpPr>
        <p:spPr>
          <a:xfrm flipV="1">
            <a:off x="1219320" y="3962160"/>
            <a:ext cx="0" cy="106668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4" name="Line 19"/>
          <p:cNvSpPr/>
          <p:nvPr/>
        </p:nvSpPr>
        <p:spPr>
          <a:xfrm flipH="1">
            <a:off x="2819520" y="5715000"/>
            <a:ext cx="2286000" cy="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5" name="Oval 20"/>
          <p:cNvSpPr/>
          <p:nvPr/>
        </p:nvSpPr>
        <p:spPr>
          <a:xfrm>
            <a:off x="4419720" y="990720"/>
            <a:ext cx="457200" cy="457200"/>
          </a:xfrm>
          <a:prstGeom prst="ellipse">
            <a:avLst/>
          </a:prstGeom>
          <a:gradFill rotWithShape="0">
            <a:gsLst>
              <a:gs pos="0">
                <a:srgbClr val="3333cc"/>
              </a:gs>
              <a:gs pos="100000">
                <a:srgbClr val="060619"/>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3</a:t>
            </a:r>
            <a:endParaRPr b="0" lang="en-US" sz="2400" strike="noStrike" u="none">
              <a:solidFill>
                <a:srgbClr val="ffff00"/>
              </a:solidFill>
              <a:effectLst/>
              <a:uFillTx/>
              <a:latin typeface="Times New Roman"/>
            </a:endParaRPr>
          </a:p>
        </p:txBody>
      </p:sp>
      <p:sp>
        <p:nvSpPr>
          <p:cNvPr id="36" name="Text Box 21"/>
          <p:cNvSpPr/>
          <p:nvPr/>
        </p:nvSpPr>
        <p:spPr>
          <a:xfrm>
            <a:off x="2752920" y="209520"/>
            <a:ext cx="3728520" cy="45972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1  NOTRE DEMARCHE</a:t>
            </a:r>
            <a:endParaRPr b="0" lang="en-US" sz="2400" strike="noStrike" u="none">
              <a:solidFill>
                <a:srgbClr val="ffff00"/>
              </a:solidFill>
              <a:effectLst/>
              <a:uFillTx/>
              <a:latin typeface="Times New Roman"/>
            </a:endParaRPr>
          </a:p>
        </p:txBody>
      </p:sp>
      <p:sp>
        <p:nvSpPr>
          <p:cNvPr id="37" name="Ellipse 1"/>
          <p:cNvSpPr/>
          <p:nvPr/>
        </p:nvSpPr>
        <p:spPr>
          <a:xfrm>
            <a:off x="1636560" y="758880"/>
            <a:ext cx="5672160" cy="3606840"/>
          </a:xfrm>
          <a:prstGeom prst="ellipse">
            <a:avLst/>
          </a:prstGeom>
          <a:no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 name="Text Box 4"/>
          <p:cNvSpPr/>
          <p:nvPr/>
        </p:nvSpPr>
        <p:spPr>
          <a:xfrm>
            <a:off x="6850080" y="3186000"/>
            <a:ext cx="230292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Exigences du match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et leurs évolutions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a:t>
            </a:r>
            <a:endParaRPr b="0" lang="en-US" sz="1800" strike="noStrike" u="none">
              <a:solidFill>
                <a:srgbClr val="ffff00"/>
              </a:solidFill>
              <a:effectLst/>
              <a:uFillTx/>
              <a:latin typeface="Times New Roman"/>
            </a:endParaRPr>
          </a:p>
        </p:txBody>
      </p:sp>
      <p:sp>
        <p:nvSpPr>
          <p:cNvPr id="39" name="Text Box 17"/>
          <p:cNvSpPr/>
          <p:nvPr/>
        </p:nvSpPr>
        <p:spPr>
          <a:xfrm>
            <a:off x="2368800" y="4191120"/>
            <a:ext cx="3713760" cy="642600"/>
          </a:xfrm>
          <a:prstGeom prst="rect">
            <a:avLst/>
          </a:prstGeom>
          <a:gradFill rotWithShape="0">
            <a:gsLst>
              <a:gs pos="0">
                <a:srgbClr val="3333cc"/>
              </a:gs>
              <a:gs pos="100000">
                <a:srgbClr val="18185e"/>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Saisie et analyse immédiate des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données au cours d ’entraînement </a:t>
            </a:r>
            <a:endParaRPr b="0" lang="en-US" sz="1800" strike="noStrike" u="none">
              <a:solidFill>
                <a:srgbClr val="ffff00"/>
              </a:solidFill>
              <a:effectLst/>
              <a:uFillTx/>
              <a:latin typeface="Times New Roman"/>
            </a:endParaRPr>
          </a:p>
        </p:txBody>
      </p:sp>
      <p:sp>
        <p:nvSpPr>
          <p:cNvPr id="40" name="Line 21"/>
          <p:cNvSpPr/>
          <p:nvPr/>
        </p:nvSpPr>
        <p:spPr>
          <a:xfrm flipV="1">
            <a:off x="2887560" y="3885840"/>
            <a:ext cx="0" cy="30492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1" name="Line 22"/>
          <p:cNvSpPr/>
          <p:nvPr/>
        </p:nvSpPr>
        <p:spPr>
          <a:xfrm flipV="1">
            <a:off x="3954600" y="3885840"/>
            <a:ext cx="0" cy="30492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2" name="Line 23"/>
          <p:cNvSpPr/>
          <p:nvPr/>
        </p:nvSpPr>
        <p:spPr>
          <a:xfrm flipV="1">
            <a:off x="4944960" y="3885840"/>
            <a:ext cx="0" cy="304920"/>
          </a:xfrm>
          <a:prstGeom prst="line">
            <a:avLst/>
          </a:prstGeom>
          <a:ln w="38160">
            <a:solidFill>
              <a:srgbClr val="ffffff"/>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Tree>
  </p:cSld>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4">
                                  <p:stCondLst>
                                    <p:cond delay="0"/>
                                  </p:stCondLst>
                                  <p:childTnLst>
                                    <p:set>
                                      <p:cBhvr>
                                        <p:cTn id="6" dur="1" fill="hold">
                                          <p:stCondLst>
                                            <p:cond delay="0"/>
                                          </p:stCondLst>
                                        </p:cTn>
                                        <p:tgtEl>
                                          <p:spTgt spid="37"/>
                                        </p:tgtEl>
                                        <p:attrNameLst>
                                          <p:attrName>style.visibility</p:attrName>
                                        </p:attrNameLst>
                                      </p:cBhvr>
                                      <p:to>
                                        <p:strVal val="visible"/>
                                      </p:to>
                                    </p:set>
                                    <p:animEffect filter="wipe(down)" transition="in">
                                      <p:cBhvr additive="repl">
                                        <p:cTn id="7" dur="1500"/>
                                        <p:tgtEl>
                                          <p:spTgt spid="37"/>
                                        </p:tgtEl>
                                      </p:cBhvr>
                                    </p:animEffect>
                                  </p:childTnLst>
                                </p:cTn>
                              </p:par>
                            </p:childTnLst>
                          </p:cTn>
                        </p:par>
                        <p:par>
                          <p:cTn id="8" nodeType="afterEffect" fill="hold">
                            <p:stCondLst>
                              <p:cond delay="1500"/>
                            </p:stCondLst>
                            <p:childTnLst>
                              <p:par>
                                <p:cTn id="9" nodeType="afterEffect" fill="hold" presetClass="entr" presetID="22" presetSubtype="1">
                                  <p:stCondLst>
                                    <p:cond delay="0"/>
                                  </p:stCondLst>
                                  <p:childTnLst>
                                    <p:set>
                                      <p:cBhvr>
                                        <p:cTn id="10" dur="1" fill="hold">
                                          <p:stCondLst>
                                            <p:cond delay="0"/>
                                          </p:stCondLst>
                                        </p:cTn>
                                        <p:tgtEl>
                                          <p:spTgt spid="38"/>
                                        </p:tgtEl>
                                        <p:attrNameLst>
                                          <p:attrName>style.visibility</p:attrName>
                                        </p:attrNameLst>
                                      </p:cBhvr>
                                      <p:to>
                                        <p:strVal val="visible"/>
                                      </p:to>
                                    </p:set>
                                    <p:animEffect filter="wipe(up)" transition="in">
                                      <p:cBhvr additive="repl">
                                        <p:cTn id="11" dur="500"/>
                                        <p:tgtEl>
                                          <p:spTgt spid="38"/>
                                        </p:tgtEl>
                                      </p:cBhvr>
                                    </p:animEffect>
                                  </p:childTnLst>
                                </p:cTn>
                              </p:par>
                            </p:childTnLst>
                          </p:cTn>
                        </p:par>
                      </p:childTnLst>
                    </p:cTn>
                  </p:par>
                  <p:par>
                    <p:cTn id="12" nodeType="clickEffect" fill="hold">
                      <p:stCondLst>
                        <p:cond delay="indefinite"/>
                      </p:stCondLst>
                      <p:childTnLst>
                        <p:par>
                          <p:cTn id="13" nodeType="withEffect" fill="hold">
                            <p:stCondLst>
                              <p:cond delay="0"/>
                            </p:stCondLst>
                            <p:childTnLst>
                              <p:par>
                                <p:cTn id="14" nodeType="clickEffect" fill="hold" presetClass="entr" presetID="9">
                                  <p:stCondLst>
                                    <p:cond delay="0"/>
                                  </p:stCondLst>
                                  <p:childTnLst>
                                    <p:set>
                                      <p:cBhvr>
                                        <p:cTn id="15" dur="1" fill="hold">
                                          <p:stCondLst>
                                            <p:cond delay="0"/>
                                          </p:stCondLst>
                                        </p:cTn>
                                        <p:tgtEl>
                                          <p:spTgt spid="39"/>
                                        </p:tgtEl>
                                        <p:attrNameLst>
                                          <p:attrName>style.visibility</p:attrName>
                                        </p:attrNameLst>
                                      </p:cBhvr>
                                      <p:to>
                                        <p:strVal val="visible"/>
                                      </p:to>
                                    </p:set>
                                    <p:animEffect filter="dissolve" transition="in">
                                      <p:cBhvr additive="repl">
                                        <p:cTn id="16" dur="500"/>
                                        <p:tgtEl>
                                          <p:spTgt spid="39"/>
                                        </p:tgtEl>
                                      </p:cBhvr>
                                    </p:animEffect>
                                  </p:childTnLst>
                                </p:cTn>
                              </p:par>
                            </p:childTnLst>
                          </p:cTn>
                        </p:par>
                        <p:par>
                          <p:cTn id="17" nodeType="afterEffect" fill="hold">
                            <p:stCondLst>
                              <p:cond delay="500"/>
                            </p:stCondLst>
                            <p:childTnLst>
                              <p:par>
                                <p:cTn id="18" nodeType="afterEffect" fill="hold" presetClass="entr" presetID="22" presetSubtype="4">
                                  <p:stCondLst>
                                    <p:cond delay="0"/>
                                  </p:stCondLst>
                                  <p:childTnLst>
                                    <p:set>
                                      <p:cBhvr>
                                        <p:cTn id="19" dur="1" fill="hold">
                                          <p:stCondLst>
                                            <p:cond delay="0"/>
                                          </p:stCondLst>
                                        </p:cTn>
                                        <p:tgtEl>
                                          <p:spTgt spid="40"/>
                                        </p:tgtEl>
                                        <p:attrNameLst>
                                          <p:attrName>style.visibility</p:attrName>
                                        </p:attrNameLst>
                                      </p:cBhvr>
                                      <p:to>
                                        <p:strVal val="visible"/>
                                      </p:to>
                                    </p:set>
                                    <p:animEffect filter="wipe(down)" transition="in">
                                      <p:cBhvr additive="repl">
                                        <p:cTn id="20" dur="500"/>
                                        <p:tgtEl>
                                          <p:spTgt spid="40"/>
                                        </p:tgtEl>
                                      </p:cBhvr>
                                    </p:animEffect>
                                  </p:childTnLst>
                                </p:cTn>
                              </p:par>
                            </p:childTnLst>
                          </p:cTn>
                        </p:par>
                        <p:par>
                          <p:cTn id="21" nodeType="afterEffect" fill="hold">
                            <p:stCondLst>
                              <p:cond delay="1000"/>
                            </p:stCondLst>
                            <p:childTnLst>
                              <p:par>
                                <p:cTn id="22" nodeType="afterEffect" fill="hold" presetClass="entr" presetID="22" presetSubtype="4">
                                  <p:stCondLst>
                                    <p:cond delay="0"/>
                                  </p:stCondLst>
                                  <p:childTnLst>
                                    <p:set>
                                      <p:cBhvr>
                                        <p:cTn id="23" dur="1" fill="hold">
                                          <p:stCondLst>
                                            <p:cond delay="0"/>
                                          </p:stCondLst>
                                        </p:cTn>
                                        <p:tgtEl>
                                          <p:spTgt spid="41"/>
                                        </p:tgtEl>
                                        <p:attrNameLst>
                                          <p:attrName>style.visibility</p:attrName>
                                        </p:attrNameLst>
                                      </p:cBhvr>
                                      <p:to>
                                        <p:strVal val="visible"/>
                                      </p:to>
                                    </p:set>
                                    <p:animEffect filter="wipe(down)" transition="in">
                                      <p:cBhvr additive="repl">
                                        <p:cTn id="24" dur="500"/>
                                        <p:tgtEl>
                                          <p:spTgt spid="41"/>
                                        </p:tgtEl>
                                      </p:cBhvr>
                                    </p:animEffect>
                                  </p:childTnLst>
                                </p:cTn>
                              </p:par>
                            </p:childTnLst>
                          </p:cTn>
                        </p:par>
                        <p:par>
                          <p:cTn id="25" nodeType="afterEffect" fill="hold">
                            <p:stCondLst>
                              <p:cond delay="1500"/>
                            </p:stCondLst>
                            <p:childTnLst>
                              <p:par>
                                <p:cTn id="26" nodeType="afterEffect" fill="hold" presetClass="entr" presetID="22" presetSubtype="4">
                                  <p:stCondLst>
                                    <p:cond delay="0"/>
                                  </p:stCondLst>
                                  <p:childTnLst>
                                    <p:set>
                                      <p:cBhvr>
                                        <p:cTn id="27" dur="1" fill="hold">
                                          <p:stCondLst>
                                            <p:cond delay="0"/>
                                          </p:stCondLst>
                                        </p:cTn>
                                        <p:tgtEl>
                                          <p:spTgt spid="42"/>
                                        </p:tgtEl>
                                        <p:attrNameLst>
                                          <p:attrName>style.visibility</p:attrName>
                                        </p:attrNameLst>
                                      </p:cBhvr>
                                      <p:to>
                                        <p:strVal val="visible"/>
                                      </p:to>
                                    </p:set>
                                    <p:animEffect filter="wipe(down)" transition="in">
                                      <p:cBhvr additive="repl">
                                        <p:cTn id="28" dur="500"/>
                                        <p:tgtEl>
                                          <p:spTgt spid="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d’histoire…(L. Bosquet)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44" name="Flèche droite 2"/>
          <p:cNvSpPr/>
          <p:nvPr/>
        </p:nvSpPr>
        <p:spPr>
          <a:xfrm>
            <a:off x="569880" y="90792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nodeType="clickEffect" fill="hold">
                      <p:stCondLst>
                        <p:cond delay="indefinite"/>
                      </p:stCondLst>
                      <p:childTnLst>
                        <p:par>
                          <p:cTn id="32" nodeType="withEffect" fill="hold">
                            <p:stCondLst>
                              <p:cond delay="0"/>
                            </p:stCondLst>
                            <p:childTnLst>
                              <p:par>
                                <p:cTn id="33" nodeType="clickEffect" fill="hold" presetClass="entr" presetID="22" presetSubtype="8">
                                  <p:stCondLst>
                                    <p:cond delay="0"/>
                                  </p:stCondLst>
                                  <p:childTnLst>
                                    <p:set>
                                      <p:cBhvr>
                                        <p:cTn id="34" dur="1" fill="hold">
                                          <p:stCondLst>
                                            <p:cond delay="0"/>
                                          </p:stCondLst>
                                        </p:cTn>
                                        <p:tgtEl>
                                          <p:spTgt spid="44"/>
                                        </p:tgtEl>
                                        <p:attrNameLst>
                                          <p:attrName>style.visibility</p:attrName>
                                        </p:attrNameLst>
                                      </p:cBhvr>
                                      <p:to>
                                        <p:strVal val="visible"/>
                                      </p:to>
                                    </p:set>
                                    <p:animEffect filter="wipe(left)" transition="in">
                                      <p:cBhvr additive="repl">
                                        <p:cTn id="35" dur="500"/>
                                        <p:tgtEl>
                                          <p:spTgt spid="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cc00"/>
                </a:solidFill>
                <a:effectLst/>
                <a:uFillTx/>
                <a:latin typeface="Arial"/>
              </a:rPr>
              <a:t>Historique</a:t>
            </a:r>
            <a:endParaRPr b="0" lang="en-US" sz="5000" strike="noStrike" u="none">
              <a:solidFill>
                <a:srgbClr val="ffff00"/>
              </a:solidFill>
              <a:effectLst/>
              <a:uFillTx/>
              <a:latin typeface="Times New Roman"/>
            </a:endParaRPr>
          </a:p>
        </p:txBody>
      </p:sp>
      <p:sp>
        <p:nvSpPr>
          <p:cNvPr id="46" name="Text Box 3"/>
          <p:cNvSpPr/>
          <p:nvPr/>
        </p:nvSpPr>
        <p:spPr>
          <a:xfrm>
            <a:off x="533520" y="1295280"/>
            <a:ext cx="8076960" cy="5137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Arial"/>
              </a:rPr>
              <a:t>Flavius Philostratus (170 – 245 après JC)</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8f8f8"/>
                </a:solidFill>
                <a:effectLst/>
                <a:uFillTx/>
                <a:latin typeface="Arial"/>
              </a:rPr>
              <a:t>Gymnasticus</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400" strike="noStrike" u="none">
                <a:solidFill>
                  <a:srgbClr val="ffffff"/>
                </a:solidFill>
                <a:effectLst/>
                <a:uFillTx/>
                <a:latin typeface="Arial"/>
              </a:rPr>
              <a:t>	</a:t>
            </a:r>
            <a:r>
              <a:rPr b="1" lang="fr-CA" sz="2400" strike="noStrike" u="none">
                <a:solidFill>
                  <a:srgbClr val="ffffff"/>
                </a:solidFill>
                <a:effectLst/>
                <a:uFillTx/>
                <a:latin typeface="Arial"/>
              </a:rPr>
              <a:t>Diététique</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	</a:t>
            </a:r>
            <a:r>
              <a:rPr b="1" lang="fr-CA" sz="2400" strike="noStrike" u="none">
                <a:solidFill>
                  <a:srgbClr val="ffffff"/>
                </a:solidFill>
                <a:effectLst/>
                <a:uFillTx/>
                <a:latin typeface="Arial"/>
              </a:rPr>
              <a:t>Sommeil</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	</a:t>
            </a:r>
            <a:r>
              <a:rPr b="1" lang="fr-CA" sz="2400" strike="noStrike" u="none">
                <a:solidFill>
                  <a:srgbClr val="ffffff"/>
                </a:solidFill>
                <a:effectLst/>
                <a:uFillTx/>
                <a:latin typeface="Arial"/>
              </a:rPr>
              <a:t>Échauffement systématique</a:t>
            </a:r>
            <a:r>
              <a:rPr b="1" lang="fr-CA" sz="2400" strike="noStrike" u="none">
                <a:solidFill>
                  <a:srgbClr val="ffff00"/>
                </a:solidFill>
                <a:effectLst/>
                <a:uFillTx/>
                <a:latin typeface="Arial"/>
              </a:rPr>
              <a:t>.</a:t>
            </a:r>
            <a:endParaRPr b="0" lang="en-US" sz="24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Arial"/>
              </a:rPr>
              <a:t>Angleterre (première moitié 19ème) </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8f8f8"/>
                </a:solidFill>
                <a:effectLst/>
                <a:uFillTx/>
                <a:latin typeface="Arial"/>
              </a:rPr>
              <a:t>Amateurs</a:t>
            </a:r>
            <a:r>
              <a:rPr b="1" i="1" lang="fr-CA" sz="3000" strike="noStrike" u="none">
                <a:solidFill>
                  <a:srgbClr val="00cc99"/>
                </a:solidFill>
                <a:effectLst/>
                <a:uFillTx/>
                <a:latin typeface="Arial"/>
              </a:rPr>
              <a:t> </a:t>
            </a:r>
            <a:r>
              <a:rPr b="0" lang="fr-CA" sz="2400" strike="noStrike" u="none">
                <a:solidFill>
                  <a:srgbClr val="ffffff"/>
                </a:solidFill>
                <a:effectLst/>
                <a:uFillTx/>
                <a:latin typeface="Arial"/>
              </a:rPr>
              <a:t>(classes aisées,)</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8f8f8"/>
                </a:solidFill>
                <a:effectLst/>
                <a:uFillTx/>
                <a:latin typeface="Arial"/>
              </a:rPr>
              <a:t>Professionnels</a:t>
            </a:r>
            <a:r>
              <a:rPr b="1" i="1" lang="fr-CA" sz="3000" strike="noStrike" u="none">
                <a:solidFill>
                  <a:srgbClr val="00cc99"/>
                </a:solidFill>
                <a:effectLst/>
                <a:uFillTx/>
                <a:latin typeface="Arial"/>
              </a:rPr>
              <a:t> </a:t>
            </a:r>
            <a:r>
              <a:rPr b="0" lang="fr-CA" sz="2400" strike="noStrike" u="none">
                <a:solidFill>
                  <a:srgbClr val="ffffff"/>
                </a:solidFill>
                <a:effectLst/>
                <a:uFillTx/>
                <a:latin typeface="Arial"/>
              </a:rPr>
              <a:t>(classes populaires)</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48" name="Text Box 3"/>
          <p:cNvSpPr/>
          <p:nvPr/>
        </p:nvSpPr>
        <p:spPr>
          <a:xfrm>
            <a:off x="826920" y="4437000"/>
            <a:ext cx="7878960" cy="15721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Préparation Physique (montées genoux,   etc…)</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Allures spécifiques (réps. 400 à 1200m)</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Diminuer l’entraînement avant la compétition</a:t>
            </a:r>
            <a:r>
              <a:rPr b="0" lang="fr-CA" sz="2400" strike="noStrike" u="none">
                <a:solidFill>
                  <a:srgbClr val="ffffff"/>
                </a:solidFill>
                <a:effectLst/>
                <a:uFillTx/>
                <a:latin typeface="Arial"/>
              </a:rPr>
              <a:t>	</a:t>
            </a:r>
            <a:endParaRPr b="0" lang="en-US" sz="2400" strike="noStrike" u="none">
              <a:solidFill>
                <a:srgbClr val="ffff00"/>
              </a:solidFill>
              <a:effectLst/>
              <a:uFillTx/>
              <a:latin typeface="Times New Roman"/>
            </a:endParaRPr>
          </a:p>
        </p:txBody>
      </p:sp>
      <p:pic>
        <p:nvPicPr>
          <p:cNvPr id="49" name="Picture 4" descr="walter_george_s"/>
          <p:cNvPicPr/>
          <p:nvPr/>
        </p:nvPicPr>
        <p:blipFill>
          <a:blip r:embed="rId1"/>
          <a:stretch/>
        </p:blipFill>
        <p:spPr>
          <a:xfrm>
            <a:off x="324000" y="765000"/>
            <a:ext cx="1777680" cy="3200400"/>
          </a:xfrm>
          <a:prstGeom prst="rect">
            <a:avLst/>
          </a:prstGeom>
          <a:noFill/>
          <a:ln w="0">
            <a:noFill/>
          </a:ln>
        </p:spPr>
      </p:pic>
      <p:sp>
        <p:nvSpPr>
          <p:cNvPr id="50" name="Text Box 5"/>
          <p:cNvSpPr/>
          <p:nvPr/>
        </p:nvSpPr>
        <p:spPr>
          <a:xfrm>
            <a:off x="2340000" y="1773360"/>
            <a:ext cx="6553080" cy="23986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8f8f8"/>
                </a:solidFill>
                <a:effectLst/>
                <a:uFillTx/>
                <a:latin typeface="Arial"/>
              </a:rPr>
              <a:t>Walter George (fin 19ème) </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8f8f8"/>
                </a:solidFill>
                <a:effectLst/>
                <a:uFillTx/>
                <a:latin typeface="Arial"/>
              </a:rPr>
              <a:t>4’12 au mile en 1886 (piste en gazon)</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 Box 2"/>
          <p:cNvSpPr/>
          <p:nvPr/>
        </p:nvSpPr>
        <p:spPr>
          <a:xfrm>
            <a:off x="0" y="685800"/>
            <a:ext cx="5257800" cy="9673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2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00"/>
                </a:solidFill>
                <a:effectLst/>
                <a:uFillTx/>
                <a:latin typeface="Calibri"/>
                <a:ea typeface="Calibri"/>
              </a:rPr>
              <a:t>Historique</a:t>
            </a:r>
            <a:endParaRPr b="0" lang="en-US" sz="3600" strike="noStrike" u="none">
              <a:solidFill>
                <a:srgbClr val="ffff00"/>
              </a:solidFill>
              <a:effectLst/>
              <a:uFillTx/>
              <a:latin typeface="Times New Roman"/>
            </a:endParaRPr>
          </a:p>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Calibri"/>
                <a:ea typeface="Calibri"/>
              </a:rPr>
              <a:t>(Remerciement à L. Bosquet pour cette partie</a:t>
            </a:r>
            <a:endParaRPr b="0" lang="en-US" sz="1400" strike="noStrike" u="none">
              <a:solidFill>
                <a:srgbClr val="ffff00"/>
              </a:solidFill>
              <a:effectLst/>
              <a:uFillTx/>
              <a:latin typeface="Times New Roman"/>
            </a:endParaRPr>
          </a:p>
        </p:txBody>
      </p:sp>
      <p:sp>
        <p:nvSpPr>
          <p:cNvPr id="52" name="Text Box 3"/>
          <p:cNvSpPr/>
          <p:nvPr/>
        </p:nvSpPr>
        <p:spPr>
          <a:xfrm>
            <a:off x="0" y="4419720"/>
            <a:ext cx="9144000" cy="24940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Entraînement toute l’année</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Progression du volume vers l’intensité</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Pas de compétition pendant les phases d’entraînement intense</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Arial"/>
              </a:rPr>
              <a:t>Diminuer l’entraînement avant la compétition</a:t>
            </a:r>
            <a:r>
              <a:rPr b="0" lang="fr-CA" sz="2400" strike="noStrike" u="none">
                <a:solidFill>
                  <a:srgbClr val="ffffff"/>
                </a:solidFill>
                <a:effectLst/>
                <a:uFillTx/>
                <a:latin typeface="Arial"/>
              </a:rPr>
              <a:t>	</a:t>
            </a:r>
            <a:endParaRPr b="0" lang="en-US" sz="2400" strike="noStrike" u="none">
              <a:solidFill>
                <a:srgbClr val="ffff00"/>
              </a:solidFill>
              <a:effectLst/>
              <a:uFillTx/>
              <a:latin typeface="Times New Roman"/>
            </a:endParaRPr>
          </a:p>
        </p:txBody>
      </p:sp>
      <p:sp>
        <p:nvSpPr>
          <p:cNvPr id="53" name="Text Box 4"/>
          <p:cNvSpPr/>
          <p:nvPr/>
        </p:nvSpPr>
        <p:spPr>
          <a:xfrm>
            <a:off x="0" y="1981080"/>
            <a:ext cx="4876920" cy="19785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8f8f8"/>
                </a:solidFill>
                <a:effectLst/>
                <a:uFillTx/>
                <a:latin typeface="Arial"/>
              </a:rPr>
              <a:t>Arthur Newton </a:t>
            </a:r>
            <a:r>
              <a:rPr b="1" lang="fr-CA" sz="2800" strike="noStrike" u="none">
                <a:solidFill>
                  <a:srgbClr val="f8f8f8"/>
                </a:solidFill>
                <a:effectLst/>
                <a:uFillTx/>
                <a:latin typeface="Arial"/>
              </a:rPr>
              <a:t>(début 20</a:t>
            </a:r>
            <a:r>
              <a:rPr b="1" lang="fr-CA" sz="2800" strike="noStrike" u="none" baseline="30000">
                <a:solidFill>
                  <a:srgbClr val="f8f8f8"/>
                </a:solidFill>
                <a:effectLst/>
                <a:uFillTx/>
                <a:latin typeface="Arial"/>
              </a:rPr>
              <a:t>ème</a:t>
            </a:r>
            <a:r>
              <a:rPr b="1" lang="fr-CA" sz="2800" strike="noStrike" u="none">
                <a:solidFill>
                  <a:srgbClr val="f8f8f8"/>
                </a:solidFill>
                <a:effectLst/>
                <a:uFillTx/>
                <a:latin typeface="Arial"/>
              </a:rPr>
              <a:t>)</a:t>
            </a:r>
            <a:endParaRPr b="0" lang="en-US" sz="28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2000" strike="noStrike" u="none">
                <a:solidFill>
                  <a:srgbClr val="f8f8f8"/>
                </a:solidFill>
                <a:effectLst/>
                <a:uFillTx/>
                <a:latin typeface="Arial"/>
              </a:rPr>
              <a:t>Tous les records du monde du marathon … au 100 miles</a:t>
            </a:r>
            <a:endParaRPr b="0" lang="en-US" sz="2000" strike="noStrike" u="none">
              <a:solidFill>
                <a:srgbClr val="ffff00"/>
              </a:solidFill>
              <a:effectLst/>
              <a:uFillTx/>
              <a:latin typeface="Times New Roman"/>
            </a:endParaRPr>
          </a:p>
        </p:txBody>
      </p:sp>
      <p:pic>
        <p:nvPicPr>
          <p:cNvPr id="54" name="Picture 5" descr="Newton01"/>
          <p:cNvPicPr/>
          <p:nvPr/>
        </p:nvPicPr>
        <p:blipFill>
          <a:blip r:embed="rId1"/>
          <a:stretch/>
        </p:blipFill>
        <p:spPr>
          <a:xfrm>
            <a:off x="4876920" y="914400"/>
            <a:ext cx="3962160" cy="341136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Box 2"/>
          <p:cNvSpPr/>
          <p:nvPr/>
        </p:nvSpPr>
        <p:spPr>
          <a:xfrm>
            <a:off x="304920" y="-270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ff"/>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56" name="Text Box 3"/>
          <p:cNvSpPr/>
          <p:nvPr/>
        </p:nvSpPr>
        <p:spPr>
          <a:xfrm>
            <a:off x="0" y="692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Période après guerre</a:t>
            </a:r>
            <a:endParaRPr b="0" lang="en-US" sz="3000" strike="noStrike" u="none">
              <a:solidFill>
                <a:srgbClr val="ffff00"/>
              </a:solidFill>
              <a:effectLst/>
              <a:uFillTx/>
              <a:latin typeface="Times New Roman"/>
            </a:endParaRPr>
          </a:p>
        </p:txBody>
      </p:sp>
      <p:sp>
        <p:nvSpPr>
          <p:cNvPr id="57" name="Text Box 4"/>
          <p:cNvSpPr/>
          <p:nvPr/>
        </p:nvSpPr>
        <p:spPr>
          <a:xfrm>
            <a:off x="0" y="1268280"/>
            <a:ext cx="9144000" cy="7837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Augmentation continue de la charge d’entraînement</a:t>
            </a:r>
            <a:r>
              <a:rPr b="1" i="1" lang="fr-CA" sz="3000" strike="noStrike" u="none">
                <a:solidFill>
                  <a:srgbClr val="00cc99"/>
                </a:solidFill>
                <a:effectLst/>
                <a:uFillTx/>
                <a:latin typeface="Calibri"/>
                <a:ea typeface="Calibri"/>
              </a:rPr>
              <a:t> </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Calibri"/>
                <a:ea typeface="Calibri"/>
              </a:rPr>
              <a:t>Nécessité de programmer l’entraînement </a:t>
            </a:r>
            <a:endParaRPr b="0" lang="en-US" sz="24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Hans Reindell et Waldemar Guerschler (années 40)</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Calibri"/>
                <a:ea typeface="Calibri"/>
              </a:rPr>
              <a:t>Entraînement par intervalles</a:t>
            </a:r>
            <a:endParaRPr b="0" lang="en-US" sz="24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Développement de la physiologie de l’exercice (années 60 et + ….aujourd’hui )</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ff"/>
                </a:solidFill>
                <a:effectLst/>
                <a:uFillTx/>
                <a:latin typeface="Calibri"/>
                <a:ea typeface="Calibri"/>
              </a:rPr>
              <a:t>Biopsie musculaire, VO</a:t>
            </a:r>
            <a:r>
              <a:rPr b="1" lang="fr-CA" sz="2400" strike="noStrike" u="none" baseline="-25000">
                <a:solidFill>
                  <a:srgbClr val="ffffff"/>
                </a:solidFill>
                <a:effectLst/>
                <a:uFillTx/>
                <a:latin typeface="Calibri"/>
                <a:ea typeface="Calibri"/>
              </a:rPr>
              <a:t>2</a:t>
            </a:r>
            <a:r>
              <a:rPr b="1" lang="fr-CA" sz="2400" strike="noStrike" u="none">
                <a:solidFill>
                  <a:srgbClr val="ffffff"/>
                </a:solidFill>
                <a:effectLst/>
                <a:uFillTx/>
                <a:latin typeface="Calibri"/>
                <a:ea typeface="Calibri"/>
              </a:rPr>
              <a:t>max, acide lactique, adaptations à l’entraînement (endurance, force), spectrométrie , résonance nucléaire</a:t>
            </a:r>
            <a:endParaRPr b="0" lang="en-US" sz="24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Théoriciens des pays de l’est </a:t>
            </a:r>
            <a:endParaRPr b="0" lang="en-US" sz="3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400" strike="noStrike" u="none">
                <a:solidFill>
                  <a:srgbClr val="ffffff"/>
                </a:solidFill>
                <a:effectLst/>
                <a:uFillTx/>
                <a:latin typeface="Calibri"/>
                <a:ea typeface="Calibri"/>
              </a:rPr>
              <a:t>Ozolin, Platonov, Tschiene, Zatsiorski, Matveiev, Verchoschanski, etc.</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59"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60" name="Text Box 4"/>
          <p:cNvSpPr/>
          <p:nvPr/>
        </p:nvSpPr>
        <p:spPr>
          <a:xfrm>
            <a:off x="0" y="2349360"/>
            <a:ext cx="9144000" cy="10083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000" strike="noStrike" u="none">
                <a:solidFill>
                  <a:srgbClr val="ffff00"/>
                </a:solidFill>
                <a:effectLst/>
                <a:uFillTx/>
                <a:latin typeface="Calibri"/>
                <a:ea typeface="Calibri"/>
              </a:rPr>
              <a:t>Les premiers travaux scientifiques remontent à … 1960</a:t>
            </a:r>
            <a:endParaRPr b="0" lang="en-US" sz="3000" strike="noStrike" u="none">
              <a:solidFill>
                <a:srgbClr val="ffff00"/>
              </a:solidFill>
              <a:effectLst/>
              <a:uFillTx/>
              <a:latin typeface="Times New Roman"/>
            </a:endParaRPr>
          </a:p>
        </p:txBody>
      </p:sp>
      <p:pic>
        <p:nvPicPr>
          <p:cNvPr id="61" name="Picture 5" descr="images"/>
          <p:cNvPicPr/>
          <p:nvPr/>
        </p:nvPicPr>
        <p:blipFill>
          <a:blip r:embed="rId1"/>
          <a:stretch/>
        </p:blipFill>
        <p:spPr>
          <a:xfrm>
            <a:off x="5796000" y="3213000"/>
            <a:ext cx="2952720" cy="2928960"/>
          </a:xfrm>
          <a:prstGeom prst="rect">
            <a:avLst/>
          </a:prstGeom>
          <a:noFill/>
          <a:ln w="0">
            <a:noFill/>
          </a:ln>
        </p:spPr>
      </p:pic>
      <p:sp>
        <p:nvSpPr>
          <p:cNvPr id="62" name="Text Box 6"/>
          <p:cNvSpPr/>
          <p:nvPr/>
        </p:nvSpPr>
        <p:spPr>
          <a:xfrm>
            <a:off x="468360" y="3284640"/>
            <a:ext cx="5940360" cy="299556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Astrand et coll. </a:t>
            </a:r>
            <a:endParaRPr b="0" lang="en-US" sz="2400" strike="noStrike" u="none">
              <a:solidFill>
                <a:srgbClr val="ffff00"/>
              </a:solidFill>
              <a:effectLst/>
              <a:uFillTx/>
              <a:latin typeface="Times New Roman"/>
            </a:endParaRPr>
          </a:p>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400" strike="noStrike" u="none">
                <a:solidFill>
                  <a:srgbClr val="ffff00"/>
                </a:solidFill>
                <a:effectLst/>
                <a:uFillTx/>
                <a:latin typeface="Calibri"/>
                <a:ea typeface="Calibri"/>
              </a:rPr>
              <a:t>Intermittent muscular work. </a:t>
            </a:r>
            <a:endParaRPr b="0" lang="en-US" sz="2400" strike="noStrike" u="none">
              <a:solidFill>
                <a:srgbClr val="ffff00"/>
              </a:solidFill>
              <a:effectLst/>
              <a:uFillTx/>
              <a:latin typeface="Times New Roman"/>
            </a:endParaRPr>
          </a:p>
          <a:p>
            <a:pP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2000" strike="noStrike" u="none">
                <a:solidFill>
                  <a:srgbClr val="ffff00"/>
                </a:solidFill>
                <a:effectLst/>
                <a:uFillTx/>
                <a:latin typeface="Calibri"/>
                <a:ea typeface="Calibri"/>
              </a:rPr>
              <a:t>Acta Physiol Scand 1960 ; 48 : 448-453</a:t>
            </a:r>
            <a:endParaRPr b="0" lang="en-US" sz="2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Christensen et coll. </a:t>
            </a:r>
            <a:endParaRPr b="0" lang="en-US" sz="2400" strike="noStrike" u="none">
              <a:solidFill>
                <a:srgbClr val="ffff00"/>
              </a:solidFill>
              <a:effectLst/>
              <a:uFillTx/>
              <a:latin typeface="Times New Roman"/>
            </a:endParaRPr>
          </a:p>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400" strike="noStrike" u="none">
                <a:solidFill>
                  <a:srgbClr val="ffff00"/>
                </a:solidFill>
                <a:effectLst/>
                <a:uFillTx/>
                <a:latin typeface="Calibri"/>
                <a:ea typeface="Calibri"/>
              </a:rPr>
              <a:t>Intermittent and continuous running. </a:t>
            </a:r>
            <a:endParaRPr b="0" lang="en-US" sz="2400" strike="noStrike" u="none">
              <a:solidFill>
                <a:srgbClr val="ffff00"/>
              </a:solidFill>
              <a:effectLst/>
              <a:uFillTx/>
              <a:latin typeface="Times New Roman"/>
            </a:endParaRPr>
          </a:p>
          <a:p>
            <a:pP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2000" strike="noStrike" u="none">
                <a:solidFill>
                  <a:srgbClr val="ffff00"/>
                </a:solidFill>
                <a:effectLst/>
                <a:uFillTx/>
                <a:latin typeface="Calibri"/>
                <a:ea typeface="Calibri"/>
              </a:rPr>
              <a:t>Acta Physiol Scand 1960 ; 50 : 269-286</a:t>
            </a:r>
            <a:endParaRPr b="0" lang="en-US" sz="2000" strike="noStrike" u="none">
              <a:solidFill>
                <a:srgbClr val="ffff00"/>
              </a:solidFill>
              <a:effectLst/>
              <a:uFillTx/>
              <a:latin typeface="Times New Roman"/>
            </a:endParaRPr>
          </a:p>
        </p:txBody>
      </p:sp>
      <p:sp>
        <p:nvSpPr>
          <p:cNvPr id="63" name="Text Box 7"/>
          <p:cNvSpPr/>
          <p:nvPr/>
        </p:nvSpPr>
        <p:spPr>
          <a:xfrm>
            <a:off x="5940360" y="6165720"/>
            <a:ext cx="280836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Calibri"/>
                <a:ea typeface="Calibri"/>
              </a:rPr>
              <a:t>Per Olof Astrand</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36" dur="indefinite" restart="never" nodeType="tmRoot">
          <p:childTnLst>
            <p:seq>
              <p:cTn id="37" dur="indefinite" nodeType="mainSeq">
                <p:childTnLst>
                  <p:par>
                    <p:cTn id="38" nodeType="clickEffect" fill="hold">
                      <p:stCondLst>
                        <p:cond delay="indefinite"/>
                      </p:stCondLst>
                      <p:childTnLst>
                        <p:par>
                          <p:cTn id="39" nodeType="withEffect" fill="hold">
                            <p:stCondLst>
                              <p:cond delay="0"/>
                            </p:stCondLst>
                            <p:childTnLst>
                              <p:par>
                                <p:cTn id="40" nodeType="clickEffect" fill="hold" presetClass="entr" presetID="22" presetSubtype="8">
                                  <p:stCondLst>
                                    <p:cond delay="0"/>
                                  </p:stCondLst>
                                  <p:childTnLst>
                                    <p:set>
                                      <p:cBhvr>
                                        <p:cTn id="41" dur="1" fill="hold">
                                          <p:stCondLst>
                                            <p:cond delay="0"/>
                                          </p:stCondLst>
                                        </p:cTn>
                                        <p:tgtEl>
                                          <p:spTgt spid="62"/>
                                        </p:tgtEl>
                                        <p:attrNameLst>
                                          <p:attrName>style.visibility</p:attrName>
                                        </p:attrNameLst>
                                      </p:cBhvr>
                                      <p:to>
                                        <p:strVal val="visible"/>
                                      </p:to>
                                    </p:set>
                                    <p:animEffect filter="wipe(left)" transition="in">
                                      <p:cBhvr additive="repl">
                                        <p:cTn id="42" dur="1000"/>
                                        <p:tgtEl>
                                          <p:spTgt spid="62"/>
                                        </p:tgtEl>
                                      </p:cBhvr>
                                    </p:animEffect>
                                  </p:childTnLst>
                                </p:cTn>
                              </p:par>
                            </p:childTnLst>
                          </p:cTn>
                        </p:par>
                        <p:par>
                          <p:cTn id="43" nodeType="afterEffect" fill="hold">
                            <p:stCondLst>
                              <p:cond delay="1000"/>
                            </p:stCondLst>
                            <p:childTnLst>
                              <p:par>
                                <p:cTn id="44" nodeType="afterEffect" fill="hold" presetClass="entr" presetID="9">
                                  <p:stCondLst>
                                    <p:cond delay="0"/>
                                  </p:stCondLst>
                                  <p:childTnLst>
                                    <p:set>
                                      <p:cBhvr>
                                        <p:cTn id="45" dur="1" fill="hold">
                                          <p:stCondLst>
                                            <p:cond delay="0"/>
                                          </p:stCondLst>
                                        </p:cTn>
                                        <p:tgtEl>
                                          <p:spTgt spid="61"/>
                                        </p:tgtEl>
                                        <p:attrNameLst>
                                          <p:attrName>style.visibility</p:attrName>
                                        </p:attrNameLst>
                                      </p:cBhvr>
                                      <p:to>
                                        <p:strVal val="visible"/>
                                      </p:to>
                                    </p:set>
                                    <p:animEffect filter="dissolve" transition="in">
                                      <p:cBhvr additive="repl">
                                        <p:cTn id="46" dur="500"/>
                                        <p:tgtEl>
                                          <p:spTgt spid="61"/>
                                        </p:tgtEl>
                                      </p:cBhvr>
                                    </p:animEffect>
                                  </p:childTnLst>
                                </p:cTn>
                              </p:par>
                              <p:par>
                                <p:cTn id="47" nodeType="withEffect" fill="hold" presetClass="entr" presetID="9">
                                  <p:stCondLst>
                                    <p:cond delay="0"/>
                                  </p:stCondLst>
                                  <p:childTnLst>
                                    <p:set>
                                      <p:cBhvr>
                                        <p:cTn id="48" dur="1" fill="hold">
                                          <p:stCondLst>
                                            <p:cond delay="0"/>
                                          </p:stCondLst>
                                        </p:cTn>
                                        <p:tgtEl>
                                          <p:spTgt spid="63"/>
                                        </p:tgtEl>
                                        <p:attrNameLst>
                                          <p:attrName>style.visibility</p:attrName>
                                        </p:attrNameLst>
                                      </p:cBhvr>
                                      <p:to>
                                        <p:strVal val="visible"/>
                                      </p:to>
                                    </p:set>
                                    <p:animEffect filter="dissolve" transition="in">
                                      <p:cBhvr additive="repl">
                                        <p:cTn id="49" dur="5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65"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66" name="Text Box 4"/>
          <p:cNvSpPr/>
          <p:nvPr/>
        </p:nvSpPr>
        <p:spPr>
          <a:xfrm>
            <a:off x="395280" y="2276640"/>
            <a:ext cx="6551640" cy="155088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Saltin et coll. </a:t>
            </a:r>
            <a:endParaRPr b="0" lang="en-US" sz="2400" strike="noStrike" u="none">
              <a:solidFill>
                <a:srgbClr val="ffff00"/>
              </a:solidFill>
              <a:effectLst/>
              <a:uFillTx/>
              <a:latin typeface="Times New Roman"/>
            </a:endParaRPr>
          </a:p>
          <a:p>
            <a:pPr>
              <a:lnSpc>
                <a:spcPct val="8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800" strike="noStrike" u="none">
                <a:solidFill>
                  <a:srgbClr val="ffff00"/>
                </a:solidFill>
                <a:effectLst/>
                <a:uFillTx/>
                <a:latin typeface="Calibri"/>
                <a:ea typeface="Calibri"/>
              </a:rPr>
              <a:t>Intermittent exercise: its physiology ans some practical implications</a:t>
            </a:r>
            <a:endParaRPr b="0" lang="en-US" sz="1800" strike="noStrike" u="none">
              <a:solidFill>
                <a:srgbClr val="ffff00"/>
              </a:solidFill>
              <a:effectLst/>
              <a:uFillTx/>
              <a:latin typeface="Times New Roman"/>
            </a:endParaRPr>
          </a:p>
          <a:p>
            <a:pPr>
              <a:lnSpc>
                <a:spcPct val="8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1800" strike="noStrike" u="none">
                <a:solidFill>
                  <a:srgbClr val="ffff00"/>
                </a:solidFill>
                <a:effectLst/>
                <a:uFillTx/>
                <a:latin typeface="Calibri"/>
                <a:ea typeface="Calibri"/>
              </a:rPr>
              <a:t>Advances in exercise physiology, Karger, Basel, 1960 ; 34 : 87-114</a:t>
            </a:r>
            <a:endParaRPr b="0" lang="en-US" sz="1800" strike="noStrike" u="none">
              <a:solidFill>
                <a:srgbClr val="ffff00"/>
              </a:solidFill>
              <a:effectLst/>
              <a:uFillTx/>
              <a:latin typeface="Times New Roman"/>
            </a:endParaRPr>
          </a:p>
        </p:txBody>
      </p:sp>
      <p:sp>
        <p:nvSpPr>
          <p:cNvPr id="67" name="Text Box 5"/>
          <p:cNvSpPr/>
          <p:nvPr/>
        </p:nvSpPr>
        <p:spPr>
          <a:xfrm>
            <a:off x="7156440" y="2984400"/>
            <a:ext cx="1512720" cy="642600"/>
          </a:xfrm>
          <a:prstGeom prst="rect">
            <a:avLst/>
          </a:prstGeom>
          <a:noFill/>
          <a:ln w="9360">
            <a:solidFill>
              <a:srgbClr val="ffff00"/>
            </a:solidFill>
            <a:miter/>
          </a:ln>
        </p:spPr>
        <p:style>
          <a:lnRef idx="0"/>
          <a:fillRef idx="0"/>
          <a:effectRef idx="0"/>
          <a:fontRef idx="minor"/>
        </p:style>
        <p:txBody>
          <a:bodyPr lIns="90000" rIns="90000" tIns="46800" bIns="46800" anchor="t">
            <a:spAutoFit/>
          </a:bodyPr>
          <a:p>
            <a:pPr algn="ct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800" strike="noStrike" u="none">
                <a:solidFill>
                  <a:srgbClr val="ffff00"/>
                </a:solidFill>
                <a:effectLst/>
                <a:uFillTx/>
                <a:latin typeface="Calibri"/>
                <a:ea typeface="Calibri"/>
              </a:rPr>
              <a:t>Bengt Saltin</a:t>
            </a:r>
            <a:endParaRPr b="0" lang="en-US" sz="1800" strike="noStrike" u="none">
              <a:solidFill>
                <a:srgbClr val="ffff00"/>
              </a:solidFill>
              <a:effectLst/>
              <a:uFillTx/>
              <a:latin typeface="Times New Roman"/>
            </a:endParaRPr>
          </a:p>
        </p:txBody>
      </p:sp>
      <p:pic>
        <p:nvPicPr>
          <p:cNvPr id="68" name="Picture 6" descr="images"/>
          <p:cNvPicPr/>
          <p:nvPr/>
        </p:nvPicPr>
        <p:blipFill>
          <a:blip r:embed="rId1"/>
          <a:stretch/>
        </p:blipFill>
        <p:spPr>
          <a:xfrm>
            <a:off x="6427800" y="833400"/>
            <a:ext cx="2479680" cy="1971720"/>
          </a:xfrm>
          <a:prstGeom prst="rect">
            <a:avLst/>
          </a:prstGeom>
          <a:noFill/>
          <a:ln w="0">
            <a:noFill/>
          </a:ln>
        </p:spPr>
      </p:pic>
      <p:sp>
        <p:nvSpPr>
          <p:cNvPr id="69" name="Text Box 7"/>
          <p:cNvSpPr/>
          <p:nvPr/>
        </p:nvSpPr>
        <p:spPr>
          <a:xfrm>
            <a:off x="395280" y="3554280"/>
            <a:ext cx="8675640" cy="1941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Le ratio</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L’intensité moyenne</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L’amplitude</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cc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71"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72" name="Text Box 4"/>
          <p:cNvSpPr/>
          <p:nvPr/>
        </p:nvSpPr>
        <p:spPr>
          <a:xfrm>
            <a:off x="395280" y="2276640"/>
            <a:ext cx="6551640" cy="142128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Saltin et coll. </a:t>
            </a:r>
            <a:endParaRPr b="0" lang="en-US" sz="24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Calibri"/>
                <a:ea typeface="Calibri"/>
              </a:rPr>
              <a:t>Intermittent exercise: its physiology ans some practical implications</a:t>
            </a:r>
            <a:endParaRPr b="0" lang="en-US" sz="16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1600" strike="noStrike" u="none">
                <a:solidFill>
                  <a:srgbClr val="ffff00"/>
                </a:solidFill>
                <a:effectLst/>
                <a:uFillTx/>
                <a:latin typeface="Calibri"/>
                <a:ea typeface="Calibri"/>
              </a:rPr>
              <a:t>Advances in Exercise physiology, Karger, Basel, 1960 ; 34 : 87-114</a:t>
            </a:r>
            <a:endParaRPr b="0" lang="en-US" sz="1600" strike="noStrike" u="none">
              <a:solidFill>
                <a:srgbClr val="ffff00"/>
              </a:solidFill>
              <a:effectLst/>
              <a:uFillTx/>
              <a:latin typeface="Times New Roman"/>
            </a:endParaRPr>
          </a:p>
        </p:txBody>
      </p:sp>
      <p:sp>
        <p:nvSpPr>
          <p:cNvPr id="73" name="Text Box 5"/>
          <p:cNvSpPr/>
          <p:nvPr/>
        </p:nvSpPr>
        <p:spPr>
          <a:xfrm>
            <a:off x="6804000" y="3213000"/>
            <a:ext cx="115272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000" strike="noStrike" u="none">
                <a:solidFill>
                  <a:srgbClr val="ffff00"/>
                </a:solidFill>
                <a:effectLst/>
                <a:uFillTx/>
                <a:latin typeface="Calibri"/>
                <a:ea typeface="Calibri"/>
              </a:rPr>
              <a:t>Bengt Saltin</a:t>
            </a:r>
            <a:endParaRPr b="0" lang="en-US" sz="1000" strike="noStrike" u="none">
              <a:solidFill>
                <a:srgbClr val="ffff00"/>
              </a:solidFill>
              <a:effectLst/>
              <a:uFillTx/>
              <a:latin typeface="Times New Roman"/>
            </a:endParaRPr>
          </a:p>
        </p:txBody>
      </p:sp>
      <p:pic>
        <p:nvPicPr>
          <p:cNvPr id="74" name="Picture 6" descr="images"/>
          <p:cNvPicPr/>
          <p:nvPr/>
        </p:nvPicPr>
        <p:blipFill>
          <a:blip r:embed="rId1"/>
          <a:stretch/>
        </p:blipFill>
        <p:spPr>
          <a:xfrm>
            <a:off x="6732720" y="1574640"/>
            <a:ext cx="2087280" cy="1660680"/>
          </a:xfrm>
          <a:prstGeom prst="rect">
            <a:avLst/>
          </a:prstGeom>
          <a:noFill/>
          <a:ln w="0">
            <a:noFill/>
          </a:ln>
        </p:spPr>
      </p:pic>
      <p:sp>
        <p:nvSpPr>
          <p:cNvPr id="75" name="Text Box 7"/>
          <p:cNvSpPr/>
          <p:nvPr/>
        </p:nvSpPr>
        <p:spPr>
          <a:xfrm>
            <a:off x="395280" y="3573360"/>
            <a:ext cx="8675640" cy="1014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Le ratio</a:t>
            </a:r>
            <a:r>
              <a:rPr b="0" lang="fr-FR"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Calibri"/>
                <a:ea typeface="Calibri"/>
              </a:rPr>
              <a:t>rapport entre la période d’exercice et la période de récupération</a:t>
            </a:r>
            <a:endParaRPr b="0" lang="en-US" sz="2000" strike="noStrike" u="none">
              <a:solidFill>
                <a:srgbClr val="ffff00"/>
              </a:solidFill>
              <a:effectLst/>
              <a:uFillTx/>
              <a:latin typeface="Times New Roman"/>
            </a:endParaRPr>
          </a:p>
        </p:txBody>
      </p:sp>
      <p:graphicFrame>
        <p:nvGraphicFramePr>
          <p:cNvPr id="76" name=""/>
          <p:cNvGraphicFramePr/>
          <p:nvPr/>
        </p:nvGraphicFramePr>
        <p:xfrm>
          <a:off x="539640" y="4941720"/>
          <a:ext cx="7128000" cy="1638360"/>
        </p:xfrm>
        <a:graphic>
          <a:graphicData uri="http://schemas.openxmlformats.org/drawingml/2006/table">
            <a:tbl>
              <a:tblPr/>
              <a:tblGrid>
                <a:gridCol w="2376720"/>
                <a:gridCol w="3024000"/>
                <a:gridCol w="1727280"/>
              </a:tblGrid>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Durée exercice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Durée récupération</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RATIO</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30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30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1:1</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30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15</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2:1</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32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30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60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1:2</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timing>
    <p:tnLst>
      <p:par>
        <p:cTn id="50" dur="indefinite" restart="never" nodeType="tmRoot">
          <p:childTnLst>
            <p:seq>
              <p:cTn id="51" dur="indefinite" nodeType="mainSeq">
                <p:childTnLst>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75"/>
                                        </p:tgtEl>
                                        <p:attrNameLst>
                                          <p:attrName>style.visibility</p:attrName>
                                        </p:attrNameLst>
                                      </p:cBhvr>
                                      <p:to>
                                        <p:strVal val="visible"/>
                                      </p:to>
                                    </p:set>
                                    <p:animEffect filter="wipe(left)" transition="in">
                                      <p:cBhvr additive="repl">
                                        <p:cTn id="56" dur="1000"/>
                                        <p:tgtEl>
                                          <p:spTgt spid="75"/>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1">
                                  <p:stCondLst>
                                    <p:cond delay="0"/>
                                  </p:stCondLst>
                                  <p:childTnLst>
                                    <p:set>
                                      <p:cBhvr>
                                        <p:cTn id="60" dur="1" fill="hold">
                                          <p:stCondLst>
                                            <p:cond delay="0"/>
                                          </p:stCondLst>
                                        </p:cTn>
                                        <p:tgtEl>
                                          <p:spTgt spid="76"/>
                                        </p:tgtEl>
                                        <p:attrNameLst>
                                          <p:attrName>style.visibility</p:attrName>
                                        </p:attrNameLst>
                                      </p:cBhvr>
                                      <p:to>
                                        <p:strVal val="visible"/>
                                      </p:to>
                                    </p:set>
                                    <p:animEffect filter="wipe(up)" transition="in">
                                      <p:cBhvr additive="repl">
                                        <p:cTn id="61"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cc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78"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79" name="Text Box 4"/>
          <p:cNvSpPr/>
          <p:nvPr/>
        </p:nvSpPr>
        <p:spPr>
          <a:xfrm>
            <a:off x="31680" y="2060640"/>
            <a:ext cx="6551640" cy="1472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Calibri"/>
                <a:ea typeface="Calibri"/>
              </a:rPr>
              <a:t>Saltin et coll. </a:t>
            </a:r>
            <a:endParaRPr b="0" lang="en-US" sz="2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Calibri"/>
                <a:ea typeface="Calibri"/>
              </a:rPr>
              <a:t>Intermittent exercise: its physiology ans some practical implications </a:t>
            </a:r>
            <a:r>
              <a:rPr b="0" i="1" lang="fr-CA" sz="2000" strike="noStrike" u="none">
                <a:solidFill>
                  <a:srgbClr val="ffff00"/>
                </a:solidFill>
                <a:effectLst/>
                <a:uFillTx/>
                <a:latin typeface="Calibri"/>
                <a:ea typeface="Calibri"/>
              </a:rPr>
              <a:t>Advances in exercise physiology, Karger, Basel, 1960 ; 34 : 87-114</a:t>
            </a:r>
            <a:endParaRPr b="0" lang="en-US" sz="2000" strike="noStrike" u="none">
              <a:solidFill>
                <a:srgbClr val="ffff00"/>
              </a:solidFill>
              <a:effectLst/>
              <a:uFillTx/>
              <a:latin typeface="Times New Roman"/>
            </a:endParaRPr>
          </a:p>
        </p:txBody>
      </p:sp>
      <p:sp>
        <p:nvSpPr>
          <p:cNvPr id="80" name="Text Box 5"/>
          <p:cNvSpPr/>
          <p:nvPr/>
        </p:nvSpPr>
        <p:spPr>
          <a:xfrm>
            <a:off x="6804000" y="3213000"/>
            <a:ext cx="115272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000" strike="noStrike" u="none">
                <a:solidFill>
                  <a:srgbClr val="ffff00"/>
                </a:solidFill>
                <a:effectLst/>
                <a:uFillTx/>
                <a:latin typeface="Calibri"/>
                <a:ea typeface="Calibri"/>
              </a:rPr>
              <a:t>Bengt Saltin</a:t>
            </a:r>
            <a:endParaRPr b="0" lang="en-US" sz="1000" strike="noStrike" u="none">
              <a:solidFill>
                <a:srgbClr val="ffff00"/>
              </a:solidFill>
              <a:effectLst/>
              <a:uFillTx/>
              <a:latin typeface="Times New Roman"/>
            </a:endParaRPr>
          </a:p>
        </p:txBody>
      </p:sp>
      <p:pic>
        <p:nvPicPr>
          <p:cNvPr id="81" name="Picture 6" descr="images"/>
          <p:cNvPicPr/>
          <p:nvPr/>
        </p:nvPicPr>
        <p:blipFill>
          <a:blip r:embed="rId1"/>
          <a:stretch/>
        </p:blipFill>
        <p:spPr>
          <a:xfrm>
            <a:off x="6732720" y="1689120"/>
            <a:ext cx="1942920" cy="1546200"/>
          </a:xfrm>
          <a:prstGeom prst="rect">
            <a:avLst/>
          </a:prstGeom>
          <a:noFill/>
          <a:ln w="0">
            <a:noFill/>
          </a:ln>
        </p:spPr>
      </p:pic>
      <p:sp>
        <p:nvSpPr>
          <p:cNvPr id="82" name="Text Box 7"/>
          <p:cNvSpPr/>
          <p:nvPr/>
        </p:nvSpPr>
        <p:spPr>
          <a:xfrm>
            <a:off x="395280" y="3573360"/>
            <a:ext cx="8675640" cy="1014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L’intensité moyenne</a:t>
            </a:r>
            <a:endParaRPr b="0" lang="en-US" sz="3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Calibri"/>
                <a:ea typeface="Calibri"/>
              </a:rPr>
              <a:t>Moyenne des intensités d’exercice et de récupération</a:t>
            </a:r>
            <a:endParaRPr b="0" lang="en-US" sz="2000" strike="noStrike" u="none">
              <a:solidFill>
                <a:srgbClr val="ffff00"/>
              </a:solidFill>
              <a:effectLst/>
              <a:uFillTx/>
              <a:latin typeface="Times New Roman"/>
            </a:endParaRPr>
          </a:p>
        </p:txBody>
      </p:sp>
      <p:graphicFrame>
        <p:nvGraphicFramePr>
          <p:cNvPr id="83" name=""/>
          <p:cNvGraphicFramePr/>
          <p:nvPr/>
        </p:nvGraphicFramePr>
        <p:xfrm>
          <a:off x="539640" y="4941720"/>
          <a:ext cx="7561440" cy="1638360"/>
        </p:xfrm>
        <a:graphic>
          <a:graphicData uri="http://schemas.openxmlformats.org/drawingml/2006/table">
            <a:tbl>
              <a:tblPr/>
              <a:tblGrid>
                <a:gridCol w="2160720"/>
                <a:gridCol w="2808360"/>
                <a:gridCol w="2592360"/>
              </a:tblGrid>
              <a:tr h="409680">
                <a:tc gridSpan="3">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Exemple avec du 30 / 30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exercice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récupération</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Intensité moyenne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50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1600" strike="noStrike" u="none">
                          <a:solidFill>
                            <a:srgbClr val="ffff00"/>
                          </a:solidFill>
                          <a:effectLst/>
                          <a:uFillTx/>
                          <a:latin typeface="Arial"/>
                        </a:rPr>
                        <a:t>[(100 + 50)/2]</a:t>
                      </a:r>
                      <a:r>
                        <a:rPr b="1" lang="fr-CA" sz="2000" strike="noStrike" u="none">
                          <a:solidFill>
                            <a:srgbClr val="ffff00"/>
                          </a:solidFill>
                          <a:effectLst/>
                          <a:uFillTx/>
                          <a:latin typeface="Arial"/>
                        </a:rPr>
                        <a:t> 75%</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32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1600" strike="noStrike" u="none">
                          <a:solidFill>
                            <a:srgbClr val="ffff00"/>
                          </a:solidFill>
                          <a:effectLst/>
                          <a:uFillTx/>
                          <a:latin typeface="Arial"/>
                        </a:rPr>
                        <a:t>[(100 + 00)/2]</a:t>
                      </a:r>
                      <a:r>
                        <a:rPr b="1" lang="fr-CA" sz="2000" strike="noStrike" u="none">
                          <a:solidFill>
                            <a:srgbClr val="ffff00"/>
                          </a:solidFill>
                          <a:effectLst/>
                          <a:uFillTx/>
                          <a:latin typeface="Arial"/>
                        </a:rPr>
                        <a:t> 50%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timing>
    <p:tnLst>
      <p:par>
        <p:cTn id="62" dur="indefinite" restart="never" nodeType="tmRoot">
          <p:childTnLst>
            <p:seq>
              <p:cTn id="63" dur="indefinite" nodeType="mainSeq">
                <p:childTnLst>
                  <p:par>
                    <p:cTn id="64" nodeType="clickEffect" fill="hold">
                      <p:stCondLst>
                        <p:cond delay="indefinite"/>
                      </p:stCondLst>
                      <p:childTnLst>
                        <p:par>
                          <p:cTn id="65" nodeType="withEffect" fill="hold">
                            <p:stCondLst>
                              <p:cond delay="0"/>
                            </p:stCondLst>
                            <p:childTnLst>
                              <p:par>
                                <p:cTn id="66" nodeType="clickEffect" fill="hold" presetClass="entr" presetID="22" presetSubtype="1">
                                  <p:stCondLst>
                                    <p:cond delay="0"/>
                                  </p:stCondLst>
                                  <p:childTnLst>
                                    <p:set>
                                      <p:cBhvr>
                                        <p:cTn id="67" dur="1" fill="hold">
                                          <p:stCondLst>
                                            <p:cond delay="0"/>
                                          </p:stCondLst>
                                        </p:cTn>
                                        <p:tgtEl>
                                          <p:spTgt spid="83"/>
                                        </p:tgtEl>
                                        <p:attrNameLst>
                                          <p:attrName>style.visibility</p:attrName>
                                        </p:attrNameLst>
                                      </p:cBhvr>
                                      <p:to>
                                        <p:strVal val="visible"/>
                                      </p:to>
                                    </p:set>
                                    <p:animEffect filter="wipe(up)" transition="in">
                                      <p:cBhvr additive="repl">
                                        <p:cTn id="68" dur="1000"/>
                                        <p:tgtEl>
                                          <p:spTgt spid="83"/>
                                        </p:tgtEl>
                                      </p:cBhvr>
                                    </p:animEffect>
                                  </p:childTnLst>
                                </p:cTn>
                              </p:par>
                            </p:childTnLst>
                          </p:cTn>
                        </p:par>
                      </p:childTnLst>
                    </p:cTn>
                  </p:par>
                  <p:par>
                    <p:cTn id="69" nodeType="clickEffect" fill="hold">
                      <p:stCondLst>
                        <p:cond delay="indefinite"/>
                      </p:stCondLst>
                      <p:childTnLst>
                        <p:par>
                          <p:cTn id="70" nodeType="withEffect" fill="hold">
                            <p:stCondLst>
                              <p:cond delay="0"/>
                            </p:stCondLst>
                            <p:childTnLst>
                              <p:par>
                                <p:cTn id="71" nodeType="clickEffect" fill="hold" presetClass="exit" presetID="10">
                                  <p:stCondLst>
                                    <p:cond delay="0"/>
                                  </p:stCondLst>
                                  <p:childTnLst>
                                    <p:animEffect filter="fade" transition="out">
                                      <p:cBhvr additive="repl">
                                        <p:cTn id="72" dur="1000"/>
                                        <p:tgtEl>
                                          <p:spTgt spid="83"/>
                                        </p:tgtEl>
                                      </p:cBhvr>
                                    </p:animEffect>
                                    <p:set>
                                      <p:cBhvr>
                                        <p:cTn id="73" dur="1" fill="hold">
                                          <p:stCondLst>
                                            <p:cond delay="999"/>
                                          </p:stCondLst>
                                        </p:cTn>
                                        <p:tgtEl>
                                          <p:spTgt spid="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85"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86" name="Text Box 4"/>
          <p:cNvSpPr/>
          <p:nvPr/>
        </p:nvSpPr>
        <p:spPr>
          <a:xfrm>
            <a:off x="395280" y="2276640"/>
            <a:ext cx="6551640" cy="142128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Saltin et coll. </a:t>
            </a:r>
            <a:endParaRPr b="0" lang="en-US" sz="24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Calibri"/>
                <a:ea typeface="Calibri"/>
              </a:rPr>
              <a:t>Intermittent exercise: its physiology ans some practical implications</a:t>
            </a:r>
            <a:endParaRPr b="0" lang="en-US" sz="16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1600" strike="noStrike" u="none">
                <a:solidFill>
                  <a:srgbClr val="ffff00"/>
                </a:solidFill>
                <a:effectLst/>
                <a:uFillTx/>
                <a:latin typeface="Calibri"/>
                <a:ea typeface="Calibri"/>
              </a:rPr>
              <a:t>Advances in exercise physiology, Karger, Basel, 1960 ; 34 : 87-114</a:t>
            </a:r>
            <a:endParaRPr b="0" lang="en-US" sz="1600" strike="noStrike" u="none">
              <a:solidFill>
                <a:srgbClr val="ffff00"/>
              </a:solidFill>
              <a:effectLst/>
              <a:uFillTx/>
              <a:latin typeface="Times New Roman"/>
            </a:endParaRPr>
          </a:p>
        </p:txBody>
      </p:sp>
      <p:sp>
        <p:nvSpPr>
          <p:cNvPr id="87" name="Text Box 5"/>
          <p:cNvSpPr/>
          <p:nvPr/>
        </p:nvSpPr>
        <p:spPr>
          <a:xfrm>
            <a:off x="6804000" y="3213000"/>
            <a:ext cx="11527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400" strike="noStrike" u="none">
                <a:solidFill>
                  <a:srgbClr val="ffff00"/>
                </a:solidFill>
                <a:effectLst/>
                <a:uFillTx/>
                <a:latin typeface="Calibri"/>
                <a:ea typeface="Calibri"/>
              </a:rPr>
              <a:t>Bengt Saltin</a:t>
            </a:r>
            <a:endParaRPr b="0" lang="en-US" sz="1400" strike="noStrike" u="none">
              <a:solidFill>
                <a:srgbClr val="ffff00"/>
              </a:solidFill>
              <a:effectLst/>
              <a:uFillTx/>
              <a:latin typeface="Times New Roman"/>
            </a:endParaRPr>
          </a:p>
        </p:txBody>
      </p:sp>
      <p:pic>
        <p:nvPicPr>
          <p:cNvPr id="88" name="Picture 6" descr="images"/>
          <p:cNvPicPr/>
          <p:nvPr/>
        </p:nvPicPr>
        <p:blipFill>
          <a:blip r:embed="rId1"/>
          <a:stretch/>
        </p:blipFill>
        <p:spPr>
          <a:xfrm>
            <a:off x="6732720" y="1617840"/>
            <a:ext cx="1942920" cy="1546200"/>
          </a:xfrm>
          <a:prstGeom prst="rect">
            <a:avLst/>
          </a:prstGeom>
          <a:noFill/>
          <a:ln w="0">
            <a:noFill/>
          </a:ln>
        </p:spPr>
      </p:pic>
      <p:sp>
        <p:nvSpPr>
          <p:cNvPr id="89" name="Text Box 7"/>
          <p:cNvSpPr/>
          <p:nvPr/>
        </p:nvSpPr>
        <p:spPr>
          <a:xfrm>
            <a:off x="395280" y="3573360"/>
            <a:ext cx="8675640" cy="1014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L’intensité moyenne</a:t>
            </a:r>
            <a:endParaRPr b="0" lang="en-US" sz="3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Calibri"/>
                <a:ea typeface="Calibri"/>
              </a:rPr>
              <a:t>Moyenne des intensités d’exercice et de récupération</a:t>
            </a:r>
            <a:endParaRPr b="0" lang="en-US" sz="2000" strike="noStrike" u="none">
              <a:solidFill>
                <a:srgbClr val="ffff00"/>
              </a:solidFill>
              <a:effectLst/>
              <a:uFillTx/>
              <a:latin typeface="Times New Roman"/>
            </a:endParaRPr>
          </a:p>
        </p:txBody>
      </p:sp>
      <p:graphicFrame>
        <p:nvGraphicFramePr>
          <p:cNvPr id="90" name=""/>
          <p:cNvGraphicFramePr/>
          <p:nvPr/>
        </p:nvGraphicFramePr>
        <p:xfrm>
          <a:off x="539640" y="4941720"/>
          <a:ext cx="7561440" cy="1638360"/>
        </p:xfrm>
        <a:graphic>
          <a:graphicData uri="http://schemas.openxmlformats.org/drawingml/2006/table">
            <a:tbl>
              <a:tblPr/>
              <a:tblGrid>
                <a:gridCol w="2160720"/>
                <a:gridCol w="2808360"/>
                <a:gridCol w="2592360"/>
              </a:tblGrid>
              <a:tr h="409680">
                <a:tc gridSpan="3">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Exemple avec du 30 / 15 répété deux fois</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exercice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récupération</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Intensité moyenne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50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1600" strike="noStrike" u="none">
                          <a:solidFill>
                            <a:srgbClr val="ffff00"/>
                          </a:solidFill>
                          <a:effectLst/>
                          <a:uFillTx/>
                          <a:latin typeface="Arial"/>
                        </a:rPr>
                        <a:t>[(100 x 2 + 50)/3]</a:t>
                      </a:r>
                      <a:r>
                        <a:rPr b="1" lang="fr-CA" sz="2000" strike="noStrike" u="none">
                          <a:solidFill>
                            <a:srgbClr val="ffff00"/>
                          </a:solidFill>
                          <a:effectLst/>
                          <a:uFillTx/>
                          <a:latin typeface="Arial"/>
                        </a:rPr>
                        <a:t> 83%</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32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1600" strike="noStrike" u="none">
                          <a:solidFill>
                            <a:srgbClr val="ffff00"/>
                          </a:solidFill>
                          <a:effectLst/>
                          <a:uFillTx/>
                          <a:latin typeface="Arial"/>
                        </a:rPr>
                        <a:t>[(100 x 2 + 00)/3]</a:t>
                      </a:r>
                      <a:r>
                        <a:rPr b="1" lang="fr-CA" sz="2000" strike="noStrike" u="none">
                          <a:solidFill>
                            <a:srgbClr val="ffff00"/>
                          </a:solidFill>
                          <a:effectLst/>
                          <a:uFillTx/>
                          <a:latin typeface="Arial"/>
                        </a:rPr>
                        <a:t> 67%</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timing>
    <p:tnLst>
      <p:par>
        <p:cTn id="74" dur="indefinite" restart="never" nodeType="tmRoot">
          <p:childTnLst>
            <p:seq>
              <p:cTn id="75" dur="indefinite" nodeType="mainSeq">
                <p:childTnLst>
                  <p:par>
                    <p:cTn id="76" nodeType="clickEffect" fill="hold">
                      <p:stCondLst>
                        <p:cond delay="0"/>
                      </p:stCondLst>
                      <p:childTnLst>
                        <p:par>
                          <p:cTn id="77" nodeType="withEffect" fill="hold">
                            <p:stCondLst>
                              <p:cond delay="0"/>
                            </p:stCondLst>
                            <p:childTnLst>
                              <p:par>
                                <p:cTn id="78" nodeType="withEffect" fill="hold" presetClass="entr" presetID="10">
                                  <p:stCondLst>
                                    <p:cond delay="0"/>
                                  </p:stCondLst>
                                  <p:childTnLst>
                                    <p:set>
                                      <p:cBhvr>
                                        <p:cTn id="79" dur="1" fill="hold">
                                          <p:stCondLst>
                                            <p:cond delay="0"/>
                                          </p:stCondLst>
                                        </p:cTn>
                                        <p:tgtEl>
                                          <p:spTgt spid="90"/>
                                        </p:tgtEl>
                                        <p:attrNameLst>
                                          <p:attrName>style.visibility</p:attrName>
                                        </p:attrNameLst>
                                      </p:cBhvr>
                                      <p:to>
                                        <p:strVal val="visible"/>
                                      </p:to>
                                    </p:set>
                                    <p:animEffect filter="fade" transition="in">
                                      <p:cBhvr additive="repl">
                                        <p:cTn id="80" dur="1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 Box 2"/>
          <p:cNvSpPr/>
          <p:nvPr/>
        </p:nvSpPr>
        <p:spPr>
          <a:xfrm>
            <a:off x="304920" y="228600"/>
            <a:ext cx="8534160" cy="856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5000" strike="noStrike" u="none">
                <a:solidFill>
                  <a:srgbClr val="ffff00"/>
                </a:solidFill>
                <a:effectLst/>
                <a:uFillTx/>
                <a:latin typeface="Calibri"/>
                <a:ea typeface="Calibri"/>
              </a:rPr>
              <a:t>Historique</a:t>
            </a:r>
            <a:endParaRPr b="0" lang="en-US" sz="5000" strike="noStrike" u="none">
              <a:solidFill>
                <a:srgbClr val="ffff00"/>
              </a:solidFill>
              <a:effectLst/>
              <a:uFillTx/>
              <a:latin typeface="Times New Roman"/>
            </a:endParaRPr>
          </a:p>
        </p:txBody>
      </p:sp>
      <p:sp>
        <p:nvSpPr>
          <p:cNvPr id="92" name="Text Box 3"/>
          <p:cNvSpPr/>
          <p:nvPr/>
        </p:nvSpPr>
        <p:spPr>
          <a:xfrm>
            <a:off x="0" y="1295280"/>
            <a:ext cx="9144000" cy="551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L’entraînement par intervalles</a:t>
            </a:r>
            <a:endParaRPr b="0" lang="en-US" sz="3000" strike="noStrike" u="none">
              <a:solidFill>
                <a:srgbClr val="ffff00"/>
              </a:solidFill>
              <a:effectLst/>
              <a:uFillTx/>
              <a:latin typeface="Times New Roman"/>
            </a:endParaRPr>
          </a:p>
        </p:txBody>
      </p:sp>
      <p:sp>
        <p:nvSpPr>
          <p:cNvPr id="93" name="Text Box 4"/>
          <p:cNvSpPr/>
          <p:nvPr/>
        </p:nvSpPr>
        <p:spPr>
          <a:xfrm>
            <a:off x="395280" y="2276640"/>
            <a:ext cx="6551640" cy="142128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Calibri"/>
                <a:ea typeface="Calibri"/>
              </a:rPr>
              <a:t>Saltin et coll. </a:t>
            </a:r>
            <a:endParaRPr b="0" lang="en-US" sz="24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Calibri"/>
                <a:ea typeface="Calibri"/>
              </a:rPr>
              <a:t>Intermittent exercise: its physiology ans some practical implications</a:t>
            </a:r>
            <a:endParaRPr b="0" lang="en-US" sz="1600" strike="noStrike" u="none">
              <a:solidFill>
                <a:srgbClr val="ffff00"/>
              </a:solidFill>
              <a:effectLst/>
              <a:uFillTx/>
              <a:latin typeface="Times New Roman"/>
            </a:endParaRPr>
          </a:p>
          <a:p>
            <a:pPr>
              <a:lnSpc>
                <a:spcPct val="8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1600" strike="noStrike" u="none">
                <a:solidFill>
                  <a:srgbClr val="ffff00"/>
                </a:solidFill>
                <a:effectLst/>
                <a:uFillTx/>
                <a:latin typeface="Calibri"/>
                <a:ea typeface="Calibri"/>
              </a:rPr>
              <a:t>Advances in exercise physiology, Karger, Basel, 1960 ; 34 : 87-114</a:t>
            </a:r>
            <a:endParaRPr b="0" lang="en-US" sz="1600" strike="noStrike" u="none">
              <a:solidFill>
                <a:srgbClr val="ffff00"/>
              </a:solidFill>
              <a:effectLst/>
              <a:uFillTx/>
              <a:latin typeface="Times New Roman"/>
            </a:endParaRPr>
          </a:p>
        </p:txBody>
      </p:sp>
      <p:sp>
        <p:nvSpPr>
          <p:cNvPr id="94" name="Text Box 5"/>
          <p:cNvSpPr/>
          <p:nvPr/>
        </p:nvSpPr>
        <p:spPr>
          <a:xfrm>
            <a:off x="6804000" y="3213000"/>
            <a:ext cx="115272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000" strike="noStrike" u="none">
                <a:solidFill>
                  <a:srgbClr val="ffff00"/>
                </a:solidFill>
                <a:effectLst/>
                <a:uFillTx/>
                <a:latin typeface="Calibri"/>
                <a:ea typeface="Calibri"/>
              </a:rPr>
              <a:t>Bengt Saltin</a:t>
            </a:r>
            <a:endParaRPr b="0" lang="en-US" sz="1000" strike="noStrike" u="none">
              <a:solidFill>
                <a:srgbClr val="ffff00"/>
              </a:solidFill>
              <a:effectLst/>
              <a:uFillTx/>
              <a:latin typeface="Times New Roman"/>
            </a:endParaRPr>
          </a:p>
        </p:txBody>
      </p:sp>
      <p:pic>
        <p:nvPicPr>
          <p:cNvPr id="95" name="Picture 6" descr="images"/>
          <p:cNvPicPr/>
          <p:nvPr/>
        </p:nvPicPr>
        <p:blipFill>
          <a:blip r:embed="rId1"/>
          <a:stretch/>
        </p:blipFill>
        <p:spPr>
          <a:xfrm>
            <a:off x="6732720" y="2205000"/>
            <a:ext cx="1295280" cy="1030320"/>
          </a:xfrm>
          <a:prstGeom prst="rect">
            <a:avLst/>
          </a:prstGeom>
          <a:noFill/>
          <a:ln w="0">
            <a:noFill/>
          </a:ln>
        </p:spPr>
      </p:pic>
      <p:sp>
        <p:nvSpPr>
          <p:cNvPr id="96" name="Text Box 7"/>
          <p:cNvSpPr/>
          <p:nvPr/>
        </p:nvSpPr>
        <p:spPr>
          <a:xfrm>
            <a:off x="395280" y="3573360"/>
            <a:ext cx="8675640" cy="16246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ff"/>
                </a:solidFill>
                <a:effectLst/>
                <a:uFillTx/>
                <a:latin typeface="Calibri"/>
                <a:ea typeface="Calibri"/>
              </a:rPr>
              <a:t>L’amplitude</a:t>
            </a:r>
            <a:endParaRPr b="0" lang="en-US" sz="3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Calibri"/>
                <a:ea typeface="Calibri"/>
              </a:rPr>
              <a:t>différence entre l’intensité de l’exercice et l’intensité de récupération par rapport à l’intensité moyenne de l’exercice intermittent</a:t>
            </a:r>
            <a:endParaRPr b="0" lang="en-US" sz="2000" strike="noStrike" u="none">
              <a:solidFill>
                <a:srgbClr val="ffff00"/>
              </a:solidFill>
              <a:effectLst/>
              <a:uFillTx/>
              <a:latin typeface="Times New Roman"/>
            </a:endParaRPr>
          </a:p>
        </p:txBody>
      </p:sp>
      <p:graphicFrame>
        <p:nvGraphicFramePr>
          <p:cNvPr id="97" name=""/>
          <p:cNvGraphicFramePr/>
          <p:nvPr/>
        </p:nvGraphicFramePr>
        <p:xfrm>
          <a:off x="539640" y="5084640"/>
          <a:ext cx="8064720" cy="1521000"/>
        </p:xfrm>
        <a:graphic>
          <a:graphicData uri="http://schemas.openxmlformats.org/drawingml/2006/table">
            <a:tbl>
              <a:tblPr/>
              <a:tblGrid>
                <a:gridCol w="1295640"/>
                <a:gridCol w="1728720"/>
                <a:gridCol w="1512720"/>
                <a:gridCol w="3527640"/>
              </a:tblGrid>
              <a:tr h="701640">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exercice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récupération</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Intensité moyenne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Amplitude</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50%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75%</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[(100 - 50)/75]*100 =  67%</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50%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000" strike="noStrike" u="none">
                          <a:solidFill>
                            <a:srgbClr val="ffff00"/>
                          </a:solidFill>
                          <a:effectLst/>
                          <a:uFillTx/>
                          <a:latin typeface="Arial"/>
                        </a:rPr>
                        <a:t>[(100 - 00)/50]*100 =  200%</a:t>
                      </a:r>
                      <a:endParaRPr b="0" lang="en-US" sz="2000" strike="noStrike" u="none">
                        <a:solidFill>
                          <a:srgbClr val="ffff00"/>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timing>
    <p:tnLst>
      <p:par>
        <p:cTn id="81" dur="indefinite" restart="never" nodeType="tmRoot">
          <p:childTnLst>
            <p:seq>
              <p:cTn id="82" dur="indefinite" nodeType="mainSeq">
                <p:childTnLst>
                  <p:par>
                    <p:cTn id="83" nodeType="clickEffect" fill="hold">
                      <p:stCondLst>
                        <p:cond delay="indefinite"/>
                      </p:stCondLst>
                      <p:childTnLst>
                        <p:par>
                          <p:cTn id="84" nodeType="withEffect" fill="hold">
                            <p:stCondLst>
                              <p:cond delay="0"/>
                            </p:stCondLst>
                            <p:childTnLst>
                              <p:par>
                                <p:cTn id="85" nodeType="clickEffect" fill="hold" presetClass="entr" presetID="22" presetSubtype="1">
                                  <p:stCondLst>
                                    <p:cond delay="0"/>
                                  </p:stCondLst>
                                  <p:childTnLst>
                                    <p:set>
                                      <p:cBhvr>
                                        <p:cTn id="86" dur="1" fill="hold">
                                          <p:stCondLst>
                                            <p:cond delay="0"/>
                                          </p:stCondLst>
                                        </p:cTn>
                                        <p:tgtEl>
                                          <p:spTgt spid="97"/>
                                        </p:tgtEl>
                                        <p:attrNameLst>
                                          <p:attrName>style.visibility</p:attrName>
                                        </p:attrNameLst>
                                      </p:cBhvr>
                                      <p:to>
                                        <p:strVal val="visible"/>
                                      </p:to>
                                    </p:set>
                                    <p:animEffect filter="wipe(up)" transition="in">
                                      <p:cBhvr additive="repl">
                                        <p:cTn id="87"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8" name=""/>
          <p:cNvGraphicFramePr/>
          <p:nvPr/>
        </p:nvGraphicFramePr>
        <p:xfrm>
          <a:off x="250920" y="115920"/>
          <a:ext cx="8893080" cy="6130800"/>
        </p:xfrm>
        <a:graphic>
          <a:graphicData uri="http://schemas.openxmlformats.org/drawingml/2006/table">
            <a:tbl>
              <a:tblPr/>
              <a:tblGrid>
                <a:gridCol w="2073240"/>
                <a:gridCol w="1474560"/>
                <a:gridCol w="1995480"/>
                <a:gridCol w="1516320"/>
                <a:gridCol w="1833480"/>
              </a:tblGrid>
              <a:tr h="1234440">
                <a:tc gridSpan="5">
                  <a:txBody>
                    <a:bodyPr anchor="t">
                      <a:no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Exemple de différentes combinaisons sur le nombre total de répétitions pour une séance de 15 secondes d’exercice et de 15 secondes de récupération</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1615320">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Intensité exercice</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Intensité récupération</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Intensité moyenne</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Nombre répétitions</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r>
              <a:tr h="1392840">
                <a:tc>
                  <a:txBody>
                    <a:bodyPr anchor="t">
                      <a:noAutofit/>
                    </a:bodyPr>
                    <a:p>
                      <a:pPr algn="ctr">
                        <a:lnSpc>
                          <a:spcPct val="10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Billat et al. </a:t>
                      </a:r>
                      <a:r>
                        <a:rPr b="0" lang="fr-CA" sz="1500" strike="noStrike" u="none">
                          <a:solidFill>
                            <a:srgbClr val="ffff00"/>
                          </a:solidFill>
                          <a:effectLst/>
                          <a:uFillTx/>
                          <a:latin typeface="Calibri"/>
                          <a:ea typeface="Calibri"/>
                        </a:rPr>
                        <a:t>Int J Sports Med 2001 ; 22 : 201-208</a:t>
                      </a:r>
                      <a:endParaRPr b="0" lang="en-US" sz="1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90% </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100%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110%</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80%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70%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60%</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85%</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85%</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85%</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42</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36</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18</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r>
              <a:tr h="1852920">
                <a:tc>
                  <a:txBody>
                    <a:bodyPr anchor="t">
                      <a:noAutofit/>
                    </a:bodyPr>
                    <a:p>
                      <a:pPr algn="ctr">
                        <a:lnSpc>
                          <a:spcPct val="10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Dupont et al. </a:t>
                      </a:r>
                      <a:r>
                        <a:rPr b="0" lang="fr-CA" sz="1500" strike="noStrike" u="none">
                          <a:solidFill>
                            <a:srgbClr val="ffff00"/>
                          </a:solidFill>
                          <a:effectLst/>
                          <a:uFillTx/>
                          <a:latin typeface="Calibri"/>
                          <a:ea typeface="Calibri"/>
                        </a:rPr>
                        <a:t>Can J Appl Physiol 2002 ; 27 : 103-115</a:t>
                      </a:r>
                      <a:endParaRPr b="0" lang="en-US" sz="1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110%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120%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130%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140%</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00%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00%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00%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00%</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55%</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60%</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65%</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70%</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c>
                  <a:txBody>
                    <a:bodyPr anchor="t">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47</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23</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11</a:t>
                      </a:r>
                      <a:endParaRPr b="0" lang="en-US" sz="2500" strike="noStrike" u="none">
                        <a:solidFill>
                          <a:srgbClr val="ffff00"/>
                        </a:solidFill>
                        <a:effectLst/>
                        <a:uFillTx/>
                        <a:latin typeface="Times New Roman"/>
                      </a:endParaRPr>
                    </a:p>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500" strike="noStrike" u="none">
                          <a:solidFill>
                            <a:srgbClr val="ffff00"/>
                          </a:solidFill>
                          <a:effectLst/>
                          <a:uFillTx/>
                          <a:latin typeface="Calibri"/>
                          <a:ea typeface="Calibri"/>
                        </a:rPr>
                        <a:t>7</a:t>
                      </a:r>
                      <a:endParaRPr b="0" lang="en-US" sz="25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w="5760">
                      <a:solidFill>
                        <a:srgbClr val="00cc66"/>
                      </a:solidFill>
                      <a:prstDash val="solid"/>
                    </a:lnB>
                    <a:noFill/>
                  </a:tcPr>
                </a:tc>
              </a:tr>
              <a:tr h="630000">
                <a:tc gridSpan="5">
                  <a:txBody>
                    <a:bodyPr anchor="t">
                      <a:noAutofit/>
                    </a:bodyPr>
                    <a:p>
                      <a:pPr>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Calibri"/>
                          <a:ea typeface="Calibri"/>
                        </a:rPr>
                        <a:t>Intensité en % VAM</a:t>
                      </a:r>
                      <a:endParaRPr b="0" lang="en-US" sz="1600" strike="noStrike" u="none">
                        <a:solidFill>
                          <a:srgbClr val="ffff00"/>
                        </a:solidFill>
                        <a:effectLst/>
                        <a:uFillTx/>
                        <a:latin typeface="Times New Roman"/>
                      </a:endParaRPr>
                    </a:p>
                    <a:p>
                      <a:pPr>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Calibri"/>
                          <a:ea typeface="Calibri"/>
                        </a:rPr>
                        <a:t>Adapté de Dupont. Thèse de doctorat, Université Lille 2 (2003)</a:t>
                      </a:r>
                      <a:endParaRPr b="0" lang="en-US" sz="1600" strike="noStrike" u="none">
                        <a:solidFill>
                          <a:srgbClr val="ffff00"/>
                        </a:solidFill>
                        <a:effectLst/>
                        <a:uFillTx/>
                        <a:latin typeface="Times New Roman"/>
                      </a:endParaRPr>
                    </a:p>
                  </a:txBody>
                  <a:tcPr anchor="t" marL="91440" marR="91440">
                    <a:lnL>
                      <a:noFill/>
                    </a:lnL>
                    <a:lnR>
                      <a:noFill/>
                    </a:lnR>
                    <a:lnT w="5760">
                      <a:solidFill>
                        <a:srgbClr val="00cc66"/>
                      </a:solidFill>
                      <a:prstDash val="solid"/>
                    </a:lnT>
                    <a:lnB>
                      <a:noFill/>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 Box 2"/>
          <p:cNvSpPr/>
          <p:nvPr/>
        </p:nvSpPr>
        <p:spPr>
          <a:xfrm>
            <a:off x="0" y="1440"/>
            <a:ext cx="9144000" cy="1599480"/>
          </a:xfrm>
          <a:prstGeom prst="rect">
            <a:avLst/>
          </a:prstGeom>
          <a:noFill/>
          <a:ln w="0">
            <a:noFill/>
          </a:ln>
        </p:spPr>
        <p:style>
          <a:lnRef idx="0"/>
          <a:fillRef idx="0"/>
          <a:effectRef idx="0"/>
          <a:fontRef idx="minor"/>
        </p:style>
        <p:txBody>
          <a:bodyPr lIns="90000" rIns="90000" tIns="46800" bIns="46800" anchor="t">
            <a:spAutoFit/>
          </a:bodyPr>
          <a:p>
            <a:pPr>
              <a:lnSpc>
                <a:spcPct val="130000"/>
              </a:lnSpc>
              <a:spcBef>
                <a:spcPts val="23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800" strike="noStrike" u="none">
                <a:solidFill>
                  <a:srgbClr val="ffff00"/>
                </a:solidFill>
                <a:effectLst/>
                <a:uFillTx/>
                <a:latin typeface="Calibri"/>
                <a:ea typeface="Calibri"/>
              </a:rPr>
              <a:t>Principe de l’entraînement intermittent </a:t>
            </a:r>
            <a:endParaRPr b="0" lang="en-US" sz="3800" strike="noStrike" u="none">
              <a:solidFill>
                <a:srgbClr val="ffff00"/>
              </a:solidFill>
              <a:effectLst/>
              <a:uFillTx/>
              <a:latin typeface="Times New Roman"/>
            </a:endParaRPr>
          </a:p>
        </p:txBody>
      </p:sp>
      <p:graphicFrame>
        <p:nvGraphicFramePr>
          <p:cNvPr id="100" name="Object 3"/>
          <p:cNvGraphicFramePr/>
          <p:nvPr/>
        </p:nvGraphicFramePr>
        <p:xfrm>
          <a:off x="4838760" y="1550880"/>
          <a:ext cx="4217760" cy="1935360"/>
        </p:xfrm>
        <a:graphic>
          <a:graphicData uri="http://schemas.openxmlformats.org/presentationml/2006/ole">
            <p:oleObj progId="Excel.Sheet.12" r:id="rId1" spid="">
              <p:embed/>
              <p:pic>
                <p:nvPicPr>
                  <p:cNvPr id="101" name="Object 3" descr=""/>
                  <p:cNvPicPr/>
                  <p:nvPr/>
                </p:nvPicPr>
                <p:blipFill>
                  <a:blip r:embed="rId2"/>
                  <a:stretch/>
                </p:blipFill>
                <p:spPr>
                  <a:xfrm>
                    <a:off x="4838760" y="1550880"/>
                    <a:ext cx="4217760" cy="1935360"/>
                  </a:xfrm>
                  <a:prstGeom prst="rect">
                    <a:avLst/>
                  </a:prstGeom>
                  <a:noFill/>
                  <a:ln w="0">
                    <a:noFill/>
                  </a:ln>
                </p:spPr>
              </p:pic>
            </p:oleObj>
          </a:graphicData>
        </a:graphic>
      </p:graphicFrame>
      <p:sp>
        <p:nvSpPr>
          <p:cNvPr id="102" name="Text Box 4"/>
          <p:cNvSpPr/>
          <p:nvPr/>
        </p:nvSpPr>
        <p:spPr>
          <a:xfrm>
            <a:off x="0" y="4294080"/>
            <a:ext cx="9144000" cy="457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3" name="Text Box 5"/>
          <p:cNvSpPr/>
          <p:nvPr/>
        </p:nvSpPr>
        <p:spPr>
          <a:xfrm>
            <a:off x="0" y="3746520"/>
            <a:ext cx="9144000" cy="727920"/>
          </a:xfrm>
          <a:prstGeom prst="rect">
            <a:avLst/>
          </a:prstGeom>
          <a:noFill/>
          <a:ln w="0">
            <a:noFill/>
          </a:ln>
        </p:spPr>
        <p:style>
          <a:lnRef idx="0"/>
          <a:fillRef idx="0"/>
          <a:effectRef idx="0"/>
          <a:fontRef idx="minor"/>
        </p:style>
        <p:txBody>
          <a:bodyPr lIns="90000" rIns="90000" tIns="46800" bIns="46800" anchor="t">
            <a:spAutoFit/>
          </a:bodyPr>
          <a:p>
            <a:pPr>
              <a:lnSpc>
                <a:spcPct val="13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200" strike="noStrike" u="none">
                <a:solidFill>
                  <a:srgbClr val="ffff00"/>
                </a:solidFill>
                <a:effectLst/>
                <a:uFillTx/>
                <a:latin typeface="Calibri"/>
                <a:ea typeface="Calibri"/>
              </a:rPr>
              <a:t>Récupération active ou passive ?</a:t>
            </a:r>
            <a:endParaRPr b="0" lang="en-US" sz="3200" strike="noStrike" u="none">
              <a:solidFill>
                <a:srgbClr val="ffff00"/>
              </a:solidFill>
              <a:effectLst/>
              <a:uFillTx/>
              <a:latin typeface="Times New Roman"/>
            </a:endParaRPr>
          </a:p>
        </p:txBody>
      </p:sp>
      <p:sp>
        <p:nvSpPr>
          <p:cNvPr id="104" name="Text Box 6"/>
          <p:cNvSpPr/>
          <p:nvPr/>
        </p:nvSpPr>
        <p:spPr>
          <a:xfrm>
            <a:off x="0" y="1370160"/>
            <a:ext cx="4500720" cy="3470400"/>
          </a:xfrm>
          <a:prstGeom prst="rect">
            <a:avLst/>
          </a:prstGeom>
          <a:noFill/>
          <a:ln w="0">
            <a:noFill/>
          </a:ln>
        </p:spPr>
        <p:style>
          <a:lnRef idx="0"/>
          <a:fillRef idx="0"/>
          <a:effectRef idx="0"/>
          <a:fontRef idx="minor"/>
        </p:style>
        <p:txBody>
          <a:bodyPr lIns="90000" rIns="90000" tIns="46800" bIns="46800" anchor="t">
            <a:spAutoFit/>
          </a:bodyPr>
          <a:p>
            <a:pPr>
              <a:lnSpc>
                <a:spcPct val="13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200" strike="noStrike" u="none">
                <a:solidFill>
                  <a:srgbClr val="ffff00"/>
                </a:solidFill>
                <a:effectLst/>
                <a:uFillTx/>
                <a:latin typeface="Calibri"/>
                <a:ea typeface="Calibri"/>
              </a:rPr>
              <a:t>Notion de pause utile :</a:t>
            </a:r>
            <a:endParaRPr b="0" lang="en-US" sz="3200" strike="noStrike" u="none">
              <a:solidFill>
                <a:srgbClr val="ffff00"/>
              </a:solidFill>
              <a:effectLst/>
              <a:uFillTx/>
              <a:latin typeface="Times New Roman"/>
            </a:endParaRPr>
          </a:p>
          <a:p>
            <a:pPr>
              <a:lnSpc>
                <a:spcPct val="13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Reconstitution des réserves</a:t>
            </a:r>
            <a:endParaRPr b="0" lang="en-US" sz="2800" strike="noStrike" u="none">
              <a:solidFill>
                <a:srgbClr val="ffff00"/>
              </a:solidFill>
              <a:effectLst/>
              <a:uFillTx/>
              <a:latin typeface="Times New Roman"/>
            </a:endParaRPr>
          </a:p>
          <a:p>
            <a:pPr>
              <a:lnSpc>
                <a:spcPct val="13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 </a:t>
            </a:r>
            <a:endParaRPr b="0" lang="en-US" sz="2800" strike="noStrike" u="none">
              <a:solidFill>
                <a:srgbClr val="ffff00"/>
              </a:solidFill>
              <a:effectLst/>
              <a:uFillTx/>
              <a:latin typeface="Times New Roman"/>
            </a:endParaRPr>
          </a:p>
        </p:txBody>
      </p:sp>
      <p:sp>
        <p:nvSpPr>
          <p:cNvPr id="105" name="Text Box 7"/>
          <p:cNvSpPr/>
          <p:nvPr/>
        </p:nvSpPr>
        <p:spPr>
          <a:xfrm>
            <a:off x="755640" y="4471920"/>
            <a:ext cx="8388360" cy="1758600"/>
          </a:xfrm>
          <a:prstGeom prst="rect">
            <a:avLst/>
          </a:prstGeom>
          <a:noFill/>
          <a:ln w="0">
            <a:noFill/>
          </a:ln>
        </p:spPr>
        <p:style>
          <a:lnRef idx="0"/>
          <a:fillRef idx="0"/>
          <a:effectRef idx="0"/>
          <a:fontRef idx="minor"/>
        </p:style>
        <p:txBody>
          <a:bodyPr lIns="90000" rIns="90000" tIns="46800" bIns="46800" anchor="t">
            <a:spAutoFit/>
          </a:bodyPr>
          <a:p>
            <a:pPr>
              <a:lnSpc>
                <a:spcPct val="13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Élimination  des déchets de l’organisme</a:t>
            </a:r>
            <a:endParaRPr b="0" lang="en-US" sz="2800" strike="noStrike" u="none">
              <a:solidFill>
                <a:srgbClr val="ffff00"/>
              </a:solidFill>
              <a:effectLst/>
              <a:uFillTx/>
              <a:latin typeface="Times New Roman"/>
            </a:endParaRPr>
          </a:p>
          <a:p>
            <a:pPr>
              <a:lnSpc>
                <a:spcPct val="13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Le lactate </a:t>
            </a:r>
            <a:r>
              <a:rPr b="1" lang="fr-CA" sz="2000" strike="noStrike" u="none">
                <a:solidFill>
                  <a:srgbClr val="ffffff"/>
                </a:solidFill>
                <a:effectLst/>
                <a:uFillTx/>
                <a:latin typeface="Calibri"/>
                <a:ea typeface="Calibri"/>
              </a:rPr>
              <a:t>(</a:t>
            </a:r>
            <a:r>
              <a:rPr b="0" lang="fr-CA" sz="2000" strike="noStrike" u="none">
                <a:solidFill>
                  <a:srgbClr val="ffffff"/>
                </a:solidFill>
                <a:effectLst/>
                <a:uFillTx/>
                <a:latin typeface="Calibri"/>
                <a:ea typeface="Calibri"/>
              </a:rPr>
              <a:t>Klausen. </a:t>
            </a:r>
            <a:r>
              <a:rPr b="0" i="1" lang="fr-CA" sz="2000" strike="noStrike" u="none">
                <a:solidFill>
                  <a:srgbClr val="ffffff"/>
                </a:solidFill>
                <a:effectLst/>
                <a:uFillTx/>
                <a:latin typeface="Calibri"/>
                <a:ea typeface="Calibri"/>
              </a:rPr>
              <a:t>Scand J Clin Investig 1972 ; 30 : 415-419</a:t>
            </a:r>
            <a:r>
              <a:rPr b="0" lang="fr-CA"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88" dur="indefinite" restart="never" nodeType="tmRoot">
          <p:childTnLst>
            <p:seq>
              <p:cTn id="89" dur="indefinite" nodeType="mainSeq">
                <p:childTnLst>
                  <p:par>
                    <p:cTn id="90" nodeType="clickEffect" fill="hold">
                      <p:stCondLst>
                        <p:cond delay="indefinite"/>
                      </p:stCondLst>
                      <p:childTnLst>
                        <p:par>
                          <p:cTn id="91" nodeType="withEffect" fill="hold">
                            <p:stCondLst>
                              <p:cond delay="0"/>
                            </p:stCondLst>
                            <p:childTnLst>
                              <p:par>
                                <p:cTn id="92" nodeType="clickEffect" fill="hold" presetClass="entr" presetID="9">
                                  <p:stCondLst>
                                    <p:cond delay="0"/>
                                  </p:stCondLst>
                                  <p:childTnLst>
                                    <p:set>
                                      <p:cBhvr>
                                        <p:cTn id="93" dur="1" fill="hold">
                                          <p:stCondLst>
                                            <p:cond delay="0"/>
                                          </p:stCondLst>
                                        </p:cTn>
                                        <p:tgtEl>
                                          <p:spTgt spid="101"/>
                                        </p:tgtEl>
                                        <p:attrNameLst>
                                          <p:attrName>style.visibility</p:attrName>
                                        </p:attrNameLst>
                                      </p:cBhvr>
                                      <p:to>
                                        <p:strVal val="visible"/>
                                      </p:to>
                                    </p:set>
                                    <p:animEffect filter="dissolve" transition="in">
                                      <p:cBhvr additive="repl">
                                        <p:cTn id="94" dur="500"/>
                                        <p:tgtEl>
                                          <p:spTgt spid="101"/>
                                        </p:tgtEl>
                                      </p:cBhvr>
                                    </p:animEffect>
                                  </p:childTnLst>
                                </p:cTn>
                              </p:par>
                            </p:childTnLst>
                          </p:cTn>
                        </p:par>
                      </p:childTnLst>
                    </p:cTn>
                  </p:par>
                  <p:par>
                    <p:cTn id="95" nodeType="clickEffect" fill="hold">
                      <p:stCondLst>
                        <p:cond delay="indefinite"/>
                      </p:stCondLst>
                      <p:childTnLst>
                        <p:par>
                          <p:cTn id="96" nodeType="withEffect" fill="hold">
                            <p:stCondLst>
                              <p:cond delay="0"/>
                            </p:stCondLst>
                            <p:childTnLst>
                              <p:par>
                                <p:cTn id="97" nodeType="clickEffect" fill="hold" presetClass="entr" presetID="22" presetSubtype="8">
                                  <p:stCondLst>
                                    <p:cond delay="0"/>
                                  </p:stCondLst>
                                  <p:childTnLst>
                                    <p:set>
                                      <p:cBhvr>
                                        <p:cTn id="98" dur="1" fill="hold">
                                          <p:stCondLst>
                                            <p:cond delay="0"/>
                                          </p:stCondLst>
                                        </p:cTn>
                                        <p:tgtEl>
                                          <p:spTgt spid="103"/>
                                        </p:tgtEl>
                                        <p:attrNameLst>
                                          <p:attrName>style.visibility</p:attrName>
                                        </p:attrNameLst>
                                      </p:cBhvr>
                                      <p:to>
                                        <p:strVal val="visible"/>
                                      </p:to>
                                    </p:set>
                                    <p:animEffect filter="wipe(left)" transition="in">
                                      <p:cBhvr additive="repl">
                                        <p:cTn id="99" dur="1000"/>
                                        <p:tgtEl>
                                          <p:spTgt spid="103"/>
                                        </p:tgtEl>
                                      </p:cBhvr>
                                    </p:animEffect>
                                  </p:childTnLst>
                                </p:cTn>
                              </p:par>
                            </p:childTnLst>
                          </p:cTn>
                        </p:par>
                      </p:childTnLst>
                    </p:cTn>
                  </p:par>
                  <p:par>
                    <p:cTn id="100" nodeType="clickEffect" fill="hold">
                      <p:stCondLst>
                        <p:cond delay="indefinite"/>
                      </p:stCondLst>
                      <p:childTnLst>
                        <p:par>
                          <p:cTn id="101" nodeType="withEffect" fill="hold">
                            <p:stCondLst>
                              <p:cond delay="0"/>
                            </p:stCondLst>
                            <p:childTnLst>
                              <p:par>
                                <p:cTn id="102" nodeType="clickEffect" fill="hold" presetClass="entr" presetID="22" presetSubtype="1">
                                  <p:stCondLst>
                                    <p:cond delay="0"/>
                                  </p:stCondLst>
                                  <p:childTnLst>
                                    <p:set>
                                      <p:cBhvr>
                                        <p:cTn id="103" dur="1" fill="hold">
                                          <p:stCondLst>
                                            <p:cond delay="0"/>
                                          </p:stCondLst>
                                        </p:cTn>
                                        <p:tgtEl>
                                          <p:spTgt spid="105"/>
                                        </p:tgtEl>
                                        <p:attrNameLst>
                                          <p:attrName>style.visibility</p:attrName>
                                        </p:attrNameLst>
                                      </p:cBhvr>
                                      <p:to>
                                        <p:strVal val="visible"/>
                                      </p:to>
                                    </p:set>
                                    <p:animEffect filter="wipe(up)" transition="in">
                                      <p:cBhvr additive="repl">
                                        <p:cTn id="104" dur="2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Mésocycleé,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107" name="Flèche droite 2"/>
          <p:cNvSpPr/>
          <p:nvPr/>
        </p:nvSpPr>
        <p:spPr>
          <a:xfrm>
            <a:off x="552600" y="148428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05" dur="indefinite" restart="never" nodeType="tmRoot">
          <p:childTnLst>
            <p:seq>
              <p:cTn id="106" dur="indefinite" nodeType="mainSeq">
                <p:childTnLst>
                  <p:par>
                    <p:cTn id="107" nodeType="clickEffect" fill="hold">
                      <p:stCondLst>
                        <p:cond delay="indefinite"/>
                      </p:stCondLst>
                      <p:childTnLst>
                        <p:par>
                          <p:cTn id="108" nodeType="withEffect" fill="hold">
                            <p:stCondLst>
                              <p:cond delay="0"/>
                            </p:stCondLst>
                            <p:childTnLst>
                              <p:par>
                                <p:cTn id="109" nodeType="clickEffect" fill="hold" presetClass="entr" presetID="22" presetSubtype="8">
                                  <p:stCondLst>
                                    <p:cond delay="0"/>
                                  </p:stCondLst>
                                  <p:childTnLst>
                                    <p:set>
                                      <p:cBhvr>
                                        <p:cTn id="110" dur="1" fill="hold">
                                          <p:stCondLst>
                                            <p:cond delay="0"/>
                                          </p:stCondLst>
                                        </p:cTn>
                                        <p:tgtEl>
                                          <p:spTgt spid="107"/>
                                        </p:tgtEl>
                                        <p:attrNameLst>
                                          <p:attrName>style.visibility</p:attrName>
                                        </p:attrNameLst>
                                      </p:cBhvr>
                                      <p:to>
                                        <p:strVal val="visible"/>
                                      </p:to>
                                    </p:set>
                                    <p:animEffect filter="wipe(left)" transition="in">
                                      <p:cBhvr additive="repl">
                                        <p:cTn id="111"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Freeform 4"/>
          <p:cNvSpPr/>
          <p:nvPr/>
        </p:nvSpPr>
        <p:spPr>
          <a:xfrm>
            <a:off x="2819520" y="2330280"/>
            <a:ext cx="990360" cy="838440"/>
          </a:xfrm>
          <a:custGeom>
            <a:avLst/>
            <a:gdLst>
              <a:gd name="GluePoint1X" fmla="*/ 2147483646 w 6000"/>
              <a:gd name="GluePoint1Y" fmla="*/ 2147483646 h 3600"/>
              <a:gd name="GluePoint2X" fmla="*/ 2147483646 w 6000"/>
              <a:gd name="GluePoint2Y" fmla="*/ 2147483646 h 3600"/>
              <a:gd name="GluePoint3X" fmla="*/ 2147483646 w 6000"/>
              <a:gd name="GluePoint3Y" fmla="*/ 2147483646 h 3600"/>
              <a:gd name="GluePoint4X" fmla="*/ 2147483646 w 6000"/>
              <a:gd name="GluePoint4Y" fmla="*/ 2147483646 h 3600"/>
              <a:gd name="GluePoint5X" fmla="*/ 2147483646 w 6000"/>
              <a:gd name="GluePoint5Y" fmla="*/ 2147483646 h 3600"/>
              <a:gd name="GluePoint6X" fmla="*/ 2147483646 w 6000"/>
              <a:gd name="GluePoint6Y" fmla="*/ 2147483646 h 3600"/>
              <a:gd name="GluePoint7X" fmla="*/ 2147483646 w 6000"/>
              <a:gd name="GluePoint7Y" fmla="*/ 2147483646 h 3600"/>
              <a:gd name="GluePoint8X" fmla="*/ 2147483646 w 6000"/>
              <a:gd name="GluePoint8Y" fmla="*/ 2147483646 h 3600"/>
              <a:gd name="GluePoint9X" fmla="*/ 2147483646 w 6000"/>
              <a:gd name="GluePoint9Y" fmla="*/ 0 h 3600"/>
              <a:gd name="GluePoint10X" fmla="*/ 2147483646 w 6000"/>
              <a:gd name="GluePoint10Y" fmla="*/ 2147483646 h 3600"/>
              <a:gd name="GluePoint11X" fmla="*/ 2147483646 w 6000"/>
              <a:gd name="GluePoint11Y" fmla="*/ 2147483646 h 3600"/>
              <a:gd name="GluePoint12X" fmla="*/ 2147483646 w 6000"/>
              <a:gd name="GluePoint12Y" fmla="*/ 2147483646 h 3600"/>
              <a:gd name="GluePoint13X" fmla="*/ 0 w 6000"/>
              <a:gd name="GluePoint13Y" fmla="*/ 2147483646 h 3600"/>
              <a:gd name="GluePoint14X" fmla="*/ 2147483646 w 6000"/>
              <a:gd name="GluePoint14Y" fmla="*/ 2147483646 h 3600"/>
              <a:gd name="GluePoint15X" fmla="*/ 2147483646 w 6000"/>
              <a:gd name="GluePoint15Y" fmla="*/ 2147483646 h 3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6000" h="3600">
                <a:moveTo>
                  <a:pt x="5454" y="386"/>
                </a:moveTo>
                <a:lnTo>
                  <a:pt x="597" y="3300"/>
                </a:lnTo>
                <a:cubicBezTo>
                  <a:pt x="574" y="3314"/>
                  <a:pt x="543" y="3306"/>
                  <a:pt x="529" y="3283"/>
                </a:cubicBezTo>
                <a:cubicBezTo>
                  <a:pt x="514" y="3259"/>
                  <a:pt x="522" y="3228"/>
                  <a:pt x="546" y="3214"/>
                </a:cubicBezTo>
                <a:lnTo>
                  <a:pt x="5402" y="300"/>
                </a:lnTo>
                <a:cubicBezTo>
                  <a:pt x="5426" y="286"/>
                  <a:pt x="5457" y="293"/>
                  <a:pt x="5471" y="317"/>
                </a:cubicBezTo>
                <a:cubicBezTo>
                  <a:pt x="5485" y="341"/>
                  <a:pt x="5478" y="371"/>
                  <a:pt x="5454" y="386"/>
                </a:cubicBezTo>
                <a:close/>
                <a:moveTo>
                  <a:pt x="5108" y="68"/>
                </a:moveTo>
                <a:lnTo>
                  <a:pt x="6000" y="0"/>
                </a:lnTo>
                <a:lnTo>
                  <a:pt x="5520" y="754"/>
                </a:lnTo>
                <a:lnTo>
                  <a:pt x="5108" y="68"/>
                </a:lnTo>
                <a:close/>
                <a:moveTo>
                  <a:pt x="892" y="3531"/>
                </a:moveTo>
                <a:lnTo>
                  <a:pt x="0" y="3600"/>
                </a:lnTo>
                <a:lnTo>
                  <a:pt x="480" y="2845"/>
                </a:lnTo>
                <a:lnTo>
                  <a:pt x="892" y="3531"/>
                </a:lnTo>
                <a:close/>
              </a:path>
            </a:pathLst>
          </a:custGeom>
          <a:solidFill>
            <a:srgbClr val="ffff00"/>
          </a:solidFill>
          <a:ln w="32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9" name="Freeform 5"/>
          <p:cNvSpPr/>
          <p:nvPr/>
        </p:nvSpPr>
        <p:spPr>
          <a:xfrm>
            <a:off x="6095880" y="2406600"/>
            <a:ext cx="1067040" cy="762120"/>
          </a:xfrm>
          <a:custGeom>
            <a:avLst/>
            <a:gdLst>
              <a:gd name="GluePoint1X" fmla="*/ 2147483646 w 3000"/>
              <a:gd name="GluePoint1Y" fmla="*/ 2147483646 h 1620"/>
              <a:gd name="GluePoint2X" fmla="*/ 2147483646 w 3000"/>
              <a:gd name="GluePoint2Y" fmla="*/ 2147483646 h 1620"/>
              <a:gd name="GluePoint3X" fmla="*/ 2147483646 w 3000"/>
              <a:gd name="GluePoint3Y" fmla="*/ 2147483646 h 1620"/>
              <a:gd name="GluePoint4X" fmla="*/ 2147483646 w 3000"/>
              <a:gd name="GluePoint4Y" fmla="*/ 2147483646 h 1620"/>
              <a:gd name="GluePoint5X" fmla="*/ 2147483646 w 3000"/>
              <a:gd name="GluePoint5Y" fmla="*/ 2147483646 h 1620"/>
              <a:gd name="GluePoint6X" fmla="*/ 2147483646 w 3000"/>
              <a:gd name="GluePoint6Y" fmla="*/ 2147483646 h 1620"/>
              <a:gd name="GluePoint7X" fmla="*/ 2147483646 w 3000"/>
              <a:gd name="GluePoint7Y" fmla="*/ 2147483646 h 1620"/>
              <a:gd name="GluePoint8X" fmla="*/ 2147483646 w 3000"/>
              <a:gd name="GluePoint8Y" fmla="*/ 2147483646 h 1620"/>
              <a:gd name="GluePoint9X" fmla="*/ 0 w 3000"/>
              <a:gd name="GluePoint9Y" fmla="*/ 0 h 1620"/>
              <a:gd name="GluePoint10X" fmla="*/ 2147483646 w 3000"/>
              <a:gd name="GluePoint10Y" fmla="*/ 2147483646 h 1620"/>
              <a:gd name="GluePoint11X" fmla="*/ 2147483646 w 3000"/>
              <a:gd name="GluePoint11Y" fmla="*/ 2147483646 h 1620"/>
              <a:gd name="GluePoint12X" fmla="*/ 2147483646 w 3000"/>
              <a:gd name="GluePoint12Y" fmla="*/ 2147483646 h 1620"/>
              <a:gd name="GluePoint13X" fmla="*/ 2147483646 w 3000"/>
              <a:gd name="GluePoint13Y" fmla="*/ 2147483646 h 1620"/>
              <a:gd name="GluePoint14X" fmla="*/ 2147483646 w 3000"/>
              <a:gd name="GluePoint14Y" fmla="*/ 2147483646 h 1620"/>
              <a:gd name="GluePoint15X" fmla="*/ 2147483646 w 3000"/>
              <a:gd name="GluePoint15Y" fmla="*/ 2147483646 h 16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3000" h="1620">
                <a:moveTo>
                  <a:pt x="305" y="137"/>
                </a:moveTo>
                <a:lnTo>
                  <a:pt x="2719" y="1440"/>
                </a:lnTo>
                <a:cubicBezTo>
                  <a:pt x="2731" y="1446"/>
                  <a:pt x="2735" y="1461"/>
                  <a:pt x="2729" y="1474"/>
                </a:cubicBezTo>
                <a:cubicBezTo>
                  <a:pt x="2722" y="1486"/>
                  <a:pt x="2707" y="1490"/>
                  <a:pt x="2695" y="1484"/>
                </a:cubicBezTo>
                <a:lnTo>
                  <a:pt x="282" y="181"/>
                </a:lnTo>
                <a:cubicBezTo>
                  <a:pt x="269" y="174"/>
                  <a:pt x="265" y="159"/>
                  <a:pt x="271" y="147"/>
                </a:cubicBezTo>
                <a:cubicBezTo>
                  <a:pt x="278" y="134"/>
                  <a:pt x="293" y="130"/>
                  <a:pt x="305" y="137"/>
                </a:cubicBezTo>
                <a:close/>
                <a:moveTo>
                  <a:pt x="257" y="366"/>
                </a:moveTo>
                <a:lnTo>
                  <a:pt x="0" y="0"/>
                </a:lnTo>
                <a:lnTo>
                  <a:pt x="447" y="14"/>
                </a:lnTo>
                <a:lnTo>
                  <a:pt x="257" y="366"/>
                </a:lnTo>
                <a:close/>
                <a:moveTo>
                  <a:pt x="2743" y="1254"/>
                </a:moveTo>
                <a:lnTo>
                  <a:pt x="3000" y="1620"/>
                </a:lnTo>
                <a:lnTo>
                  <a:pt x="2553" y="1606"/>
                </a:lnTo>
                <a:lnTo>
                  <a:pt x="2743" y="1254"/>
                </a:lnTo>
                <a:close/>
              </a:path>
            </a:pathLst>
          </a:custGeom>
          <a:solidFill>
            <a:srgbClr val="ffff00"/>
          </a:solidFill>
          <a:ln w="32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0" name="Freeform 6"/>
          <p:cNvSpPr/>
          <p:nvPr/>
        </p:nvSpPr>
        <p:spPr>
          <a:xfrm>
            <a:off x="2960640" y="3859200"/>
            <a:ext cx="1081080" cy="612720"/>
          </a:xfrm>
          <a:custGeom>
            <a:avLst/>
            <a:gdLst>
              <a:gd name="GluePoint1X" fmla="*/ 2147483646 w 7200"/>
              <a:gd name="GluePoint1Y" fmla="*/ 2147483646 h 3600"/>
              <a:gd name="GluePoint2X" fmla="*/ 2147483646 w 7200"/>
              <a:gd name="GluePoint2Y" fmla="*/ 2147483646 h 3600"/>
              <a:gd name="GluePoint3X" fmla="*/ 2147483646 w 7200"/>
              <a:gd name="GluePoint3Y" fmla="*/ 2147483646 h 3600"/>
              <a:gd name="GluePoint4X" fmla="*/ 2147483646 w 7200"/>
              <a:gd name="GluePoint4Y" fmla="*/ 2147483646 h 3600"/>
              <a:gd name="GluePoint5X" fmla="*/ 2147483646 w 7200"/>
              <a:gd name="GluePoint5Y" fmla="*/ 2147483646 h 3600"/>
              <a:gd name="GluePoint6X" fmla="*/ 2147483646 w 7200"/>
              <a:gd name="GluePoint6Y" fmla="*/ 2147483646 h 3600"/>
              <a:gd name="GluePoint7X" fmla="*/ 2147483646 w 7200"/>
              <a:gd name="GluePoint7Y" fmla="*/ 2147483646 h 3600"/>
              <a:gd name="GluePoint8X" fmla="*/ 2147483646 w 7200"/>
              <a:gd name="GluePoint8Y" fmla="*/ 2147483646 h 3600"/>
              <a:gd name="GluePoint9X" fmla="*/ 0 w 7200"/>
              <a:gd name="GluePoint9Y" fmla="*/ 0 h 3600"/>
              <a:gd name="GluePoint10X" fmla="*/ 2147483646 w 7200"/>
              <a:gd name="GluePoint10Y" fmla="*/ 0 h 3600"/>
              <a:gd name="GluePoint11X" fmla="*/ 2147483646 w 7200"/>
              <a:gd name="GluePoint11Y" fmla="*/ 2147483646 h 3600"/>
              <a:gd name="GluePoint12X" fmla="*/ 2147483646 w 7200"/>
              <a:gd name="GluePoint12Y" fmla="*/ 2147483646 h 3600"/>
              <a:gd name="GluePoint13X" fmla="*/ 2147483646 w 7200"/>
              <a:gd name="GluePoint13Y" fmla="*/ 2147483646 h 3600"/>
              <a:gd name="GluePoint14X" fmla="*/ 2147483646 w 7200"/>
              <a:gd name="GluePoint14Y" fmla="*/ 2147483646 h 3600"/>
              <a:gd name="GluePoint15X" fmla="*/ 2147483646 w 7200"/>
              <a:gd name="GluePoint15Y" fmla="*/ 2147483646 h 3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7200" h="3600">
                <a:moveTo>
                  <a:pt x="618" y="253"/>
                </a:moveTo>
                <a:lnTo>
                  <a:pt x="6626" y="3257"/>
                </a:lnTo>
                <a:cubicBezTo>
                  <a:pt x="6651" y="3269"/>
                  <a:pt x="6661" y="3299"/>
                  <a:pt x="6648" y="3324"/>
                </a:cubicBezTo>
                <a:cubicBezTo>
                  <a:pt x="6636" y="3349"/>
                  <a:pt x="6606" y="3359"/>
                  <a:pt x="6581" y="3346"/>
                </a:cubicBezTo>
                <a:lnTo>
                  <a:pt x="574" y="343"/>
                </a:lnTo>
                <a:cubicBezTo>
                  <a:pt x="549" y="330"/>
                  <a:pt x="539" y="300"/>
                  <a:pt x="551" y="276"/>
                </a:cubicBezTo>
                <a:cubicBezTo>
                  <a:pt x="564" y="251"/>
                  <a:pt x="594" y="241"/>
                  <a:pt x="618" y="253"/>
                </a:cubicBezTo>
                <a:close/>
                <a:moveTo>
                  <a:pt x="536" y="715"/>
                </a:moveTo>
                <a:lnTo>
                  <a:pt x="0" y="0"/>
                </a:lnTo>
                <a:lnTo>
                  <a:pt x="894" y="0"/>
                </a:lnTo>
                <a:lnTo>
                  <a:pt x="536" y="715"/>
                </a:lnTo>
                <a:close/>
                <a:moveTo>
                  <a:pt x="6663" y="2884"/>
                </a:moveTo>
                <a:lnTo>
                  <a:pt x="7200" y="3600"/>
                </a:lnTo>
                <a:lnTo>
                  <a:pt x="6305" y="3600"/>
                </a:lnTo>
                <a:lnTo>
                  <a:pt x="6663" y="2884"/>
                </a:lnTo>
                <a:close/>
              </a:path>
            </a:pathLst>
          </a:custGeom>
          <a:solidFill>
            <a:srgbClr val="ffff00"/>
          </a:solidFill>
          <a:ln w="32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1" name="Freeform 7"/>
          <p:cNvSpPr/>
          <p:nvPr/>
        </p:nvSpPr>
        <p:spPr>
          <a:xfrm>
            <a:off x="5845320" y="3778200"/>
            <a:ext cx="1164960" cy="693720"/>
          </a:xfrm>
          <a:custGeom>
            <a:avLst/>
            <a:gdLst>
              <a:gd name="GluePoint1X" fmla="*/ 2147483646 w 3000"/>
              <a:gd name="GluePoint1Y" fmla="*/ 2147483646 h 1800"/>
              <a:gd name="GluePoint2X" fmla="*/ 2147483646 w 3000"/>
              <a:gd name="GluePoint2Y" fmla="*/ 2147483646 h 1800"/>
              <a:gd name="GluePoint3X" fmla="*/ 2147483646 w 3000"/>
              <a:gd name="GluePoint3Y" fmla="*/ 2147483646 h 1800"/>
              <a:gd name="GluePoint4X" fmla="*/ 2147483646 w 3000"/>
              <a:gd name="GluePoint4Y" fmla="*/ 2147483646 h 1800"/>
              <a:gd name="GluePoint5X" fmla="*/ 2147483646 w 3000"/>
              <a:gd name="GluePoint5Y" fmla="*/ 2147483646 h 1800"/>
              <a:gd name="GluePoint6X" fmla="*/ 2147483646 w 3000"/>
              <a:gd name="GluePoint6Y" fmla="*/ 2147483646 h 1800"/>
              <a:gd name="GluePoint7X" fmla="*/ 2147483646 w 3000"/>
              <a:gd name="GluePoint7Y" fmla="*/ 2147483646 h 1800"/>
              <a:gd name="GluePoint8X" fmla="*/ 2147483646 w 3000"/>
              <a:gd name="GluePoint8Y" fmla="*/ 2147483646 h 1800"/>
              <a:gd name="GluePoint9X" fmla="*/ 0 w 3000"/>
              <a:gd name="GluePoint9Y" fmla="*/ 2147483646 h 1800"/>
              <a:gd name="GluePoint10X" fmla="*/ 2147483646 w 3000"/>
              <a:gd name="GluePoint10Y" fmla="*/ 2147483646 h 1800"/>
              <a:gd name="GluePoint11X" fmla="*/ 2147483646 w 3000"/>
              <a:gd name="GluePoint11Y" fmla="*/ 2147483646 h 1800"/>
              <a:gd name="GluePoint12X" fmla="*/ 2147483646 w 3000"/>
              <a:gd name="GluePoint12Y" fmla="*/ 2147483646 h 1800"/>
              <a:gd name="GluePoint13X" fmla="*/ 2147483646 w 3000"/>
              <a:gd name="GluePoint13Y" fmla="*/ 0 h 1800"/>
              <a:gd name="GluePoint14X" fmla="*/ 2147483646 w 3000"/>
              <a:gd name="GluePoint14Y" fmla="*/ 2147483646 h 1800"/>
              <a:gd name="GluePoint15X" fmla="*/ 2147483646 w 3000"/>
              <a:gd name="GluePoint15Y" fmla="*/ 2147483646 h 1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3000" h="1800">
                <a:moveTo>
                  <a:pt x="273" y="1607"/>
                </a:moveTo>
                <a:lnTo>
                  <a:pt x="2701" y="150"/>
                </a:lnTo>
                <a:cubicBezTo>
                  <a:pt x="2713" y="143"/>
                  <a:pt x="2729" y="147"/>
                  <a:pt x="2736" y="159"/>
                </a:cubicBezTo>
                <a:cubicBezTo>
                  <a:pt x="2743" y="171"/>
                  <a:pt x="2739" y="186"/>
                  <a:pt x="2727" y="193"/>
                </a:cubicBezTo>
                <a:lnTo>
                  <a:pt x="299" y="1650"/>
                </a:lnTo>
                <a:cubicBezTo>
                  <a:pt x="287" y="1657"/>
                  <a:pt x="272" y="1653"/>
                  <a:pt x="265" y="1641"/>
                </a:cubicBezTo>
                <a:cubicBezTo>
                  <a:pt x="257" y="1630"/>
                  <a:pt x="261" y="1614"/>
                  <a:pt x="273" y="1607"/>
                </a:cubicBezTo>
                <a:close/>
                <a:moveTo>
                  <a:pt x="446" y="1766"/>
                </a:moveTo>
                <a:lnTo>
                  <a:pt x="0" y="1800"/>
                </a:lnTo>
                <a:lnTo>
                  <a:pt x="240" y="1423"/>
                </a:lnTo>
                <a:lnTo>
                  <a:pt x="446" y="1766"/>
                </a:lnTo>
                <a:close/>
                <a:moveTo>
                  <a:pt x="2554" y="34"/>
                </a:moveTo>
                <a:lnTo>
                  <a:pt x="3000" y="0"/>
                </a:lnTo>
                <a:lnTo>
                  <a:pt x="2760" y="377"/>
                </a:lnTo>
                <a:lnTo>
                  <a:pt x="2554" y="34"/>
                </a:lnTo>
                <a:close/>
              </a:path>
            </a:pathLst>
          </a:custGeom>
          <a:solidFill>
            <a:srgbClr val="ffff00"/>
          </a:solidFill>
          <a:ln w="32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pic>
        <p:nvPicPr>
          <p:cNvPr id="112" name="Group 11" descr=""/>
          <p:cNvPicPr/>
          <p:nvPr/>
        </p:nvPicPr>
        <p:blipFill>
          <a:blip r:embed="rId1"/>
          <a:stretch/>
        </p:blipFill>
        <p:spPr>
          <a:xfrm>
            <a:off x="3803760" y="1920960"/>
            <a:ext cx="2425680" cy="596880"/>
          </a:xfrm>
          <a:prstGeom prst="rect">
            <a:avLst/>
          </a:prstGeom>
          <a:noFill/>
          <a:ln w="0">
            <a:noFill/>
          </a:ln>
        </p:spPr>
      </p:pic>
      <p:sp>
        <p:nvSpPr>
          <p:cNvPr id="113" name="Rectangle 12"/>
          <p:cNvSpPr/>
          <p:nvPr/>
        </p:nvSpPr>
        <p:spPr>
          <a:xfrm>
            <a:off x="3886200" y="2025720"/>
            <a:ext cx="2286000" cy="3052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PERFORMANCE</a:t>
            </a:r>
            <a:endParaRPr b="0" lang="en-US" sz="2000" strike="noStrike" u="none">
              <a:solidFill>
                <a:srgbClr val="ffff00"/>
              </a:solidFill>
              <a:effectLst/>
              <a:uFillTx/>
              <a:latin typeface="Times New Roman"/>
            </a:endParaRPr>
          </a:p>
        </p:txBody>
      </p:sp>
      <p:pic>
        <p:nvPicPr>
          <p:cNvPr id="114" name="Group 16" descr=""/>
          <p:cNvPicPr/>
          <p:nvPr/>
        </p:nvPicPr>
        <p:blipFill>
          <a:blip r:embed="rId2"/>
          <a:stretch/>
        </p:blipFill>
        <p:spPr>
          <a:xfrm>
            <a:off x="6950160" y="3200400"/>
            <a:ext cx="1412640" cy="579600"/>
          </a:xfrm>
          <a:prstGeom prst="rect">
            <a:avLst/>
          </a:prstGeom>
          <a:noFill/>
          <a:ln w="0">
            <a:noFill/>
          </a:ln>
        </p:spPr>
      </p:pic>
      <p:sp>
        <p:nvSpPr>
          <p:cNvPr id="115" name="Rectangle 17"/>
          <p:cNvSpPr/>
          <p:nvPr/>
        </p:nvSpPr>
        <p:spPr>
          <a:xfrm>
            <a:off x="7010280" y="3321000"/>
            <a:ext cx="1371600" cy="3052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SPORTIF</a:t>
            </a:r>
            <a:endParaRPr b="0" lang="en-US" sz="2000" strike="noStrike" u="none">
              <a:solidFill>
                <a:srgbClr val="ffff00"/>
              </a:solidFill>
              <a:effectLst/>
              <a:uFillTx/>
              <a:latin typeface="Times New Roman"/>
            </a:endParaRPr>
          </a:p>
        </p:txBody>
      </p:sp>
      <p:sp>
        <p:nvSpPr>
          <p:cNvPr id="116" name="Rectangle 18"/>
          <p:cNvSpPr/>
          <p:nvPr/>
        </p:nvSpPr>
        <p:spPr>
          <a:xfrm>
            <a:off x="7809480" y="3327480"/>
            <a:ext cx="81720" cy="305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Calibri"/>
                <a:ea typeface="Calibri"/>
              </a:rPr>
              <a:t> </a:t>
            </a:r>
            <a:endParaRPr b="0" lang="en-US" sz="2000" strike="noStrike" u="none">
              <a:solidFill>
                <a:srgbClr val="ffff00"/>
              </a:solidFill>
              <a:effectLst/>
              <a:uFillTx/>
              <a:latin typeface="Times New Roman"/>
            </a:endParaRPr>
          </a:p>
        </p:txBody>
      </p:sp>
      <p:pic>
        <p:nvPicPr>
          <p:cNvPr id="117" name="Group 21" descr=""/>
          <p:cNvPicPr/>
          <p:nvPr/>
        </p:nvPicPr>
        <p:blipFill>
          <a:blip r:embed="rId3"/>
          <a:stretch/>
        </p:blipFill>
        <p:spPr>
          <a:xfrm>
            <a:off x="3902040" y="4505400"/>
            <a:ext cx="2174760" cy="584280"/>
          </a:xfrm>
          <a:prstGeom prst="rect">
            <a:avLst/>
          </a:prstGeom>
          <a:noFill/>
          <a:ln w="0">
            <a:noFill/>
          </a:ln>
        </p:spPr>
      </p:pic>
      <p:sp>
        <p:nvSpPr>
          <p:cNvPr id="118" name="Rectangle 22"/>
          <p:cNvSpPr/>
          <p:nvPr/>
        </p:nvSpPr>
        <p:spPr>
          <a:xfrm>
            <a:off x="3891960" y="4616280"/>
            <a:ext cx="1838160" cy="305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ENTRAÎNEUR</a:t>
            </a:r>
            <a:endParaRPr b="0" lang="en-US" sz="2000" strike="noStrike" u="none">
              <a:solidFill>
                <a:srgbClr val="ffff00"/>
              </a:solidFill>
              <a:effectLst/>
              <a:uFillTx/>
              <a:latin typeface="Times New Roman"/>
            </a:endParaRPr>
          </a:p>
        </p:txBody>
      </p:sp>
      <p:sp>
        <p:nvSpPr>
          <p:cNvPr id="119" name="Rectangle 23"/>
          <p:cNvSpPr/>
          <p:nvPr/>
        </p:nvSpPr>
        <p:spPr>
          <a:xfrm>
            <a:off x="5637600" y="4633920"/>
            <a:ext cx="81720" cy="305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Calibri"/>
                <a:ea typeface="Calibri"/>
              </a:rPr>
              <a:t> </a:t>
            </a:r>
            <a:endParaRPr b="0" lang="en-US" sz="2000" strike="noStrike" u="none">
              <a:solidFill>
                <a:srgbClr val="ffff00"/>
              </a:solidFill>
              <a:effectLst/>
              <a:uFillTx/>
              <a:latin typeface="Times New Roman"/>
            </a:endParaRPr>
          </a:p>
        </p:txBody>
      </p:sp>
      <p:pic>
        <p:nvPicPr>
          <p:cNvPr id="120" name="Group 26" descr=""/>
          <p:cNvPicPr/>
          <p:nvPr/>
        </p:nvPicPr>
        <p:blipFill>
          <a:blip r:embed="rId4"/>
          <a:stretch/>
        </p:blipFill>
        <p:spPr>
          <a:xfrm>
            <a:off x="3597120" y="3071880"/>
            <a:ext cx="2711520" cy="830160"/>
          </a:xfrm>
          <a:prstGeom prst="rect">
            <a:avLst/>
          </a:prstGeom>
          <a:noFill/>
          <a:ln w="0">
            <a:noFill/>
          </a:ln>
        </p:spPr>
      </p:pic>
      <p:sp>
        <p:nvSpPr>
          <p:cNvPr id="121" name="Rectangle 27"/>
          <p:cNvSpPr/>
          <p:nvPr/>
        </p:nvSpPr>
        <p:spPr>
          <a:xfrm>
            <a:off x="3564720" y="3176640"/>
            <a:ext cx="2505240" cy="6102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ENVIRONNEMENT</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MATERIEL</a:t>
            </a:r>
            <a:endParaRPr b="0" lang="en-US" sz="2000" strike="noStrike" u="none">
              <a:solidFill>
                <a:srgbClr val="ffff00"/>
              </a:solidFill>
              <a:effectLst/>
              <a:uFillTx/>
              <a:latin typeface="Times New Roman"/>
            </a:endParaRPr>
          </a:p>
        </p:txBody>
      </p:sp>
      <p:pic>
        <p:nvPicPr>
          <p:cNvPr id="122" name="Group 31" descr=""/>
          <p:cNvPicPr/>
          <p:nvPr/>
        </p:nvPicPr>
        <p:blipFill>
          <a:blip r:embed="rId5"/>
          <a:stretch/>
        </p:blipFill>
        <p:spPr>
          <a:xfrm>
            <a:off x="701640" y="3200400"/>
            <a:ext cx="2406600" cy="530280"/>
          </a:xfrm>
          <a:prstGeom prst="rect">
            <a:avLst/>
          </a:prstGeom>
          <a:noFill/>
          <a:ln w="0">
            <a:noFill/>
          </a:ln>
        </p:spPr>
      </p:pic>
      <p:sp>
        <p:nvSpPr>
          <p:cNvPr id="123" name="Rectangle 32"/>
          <p:cNvSpPr/>
          <p:nvPr/>
        </p:nvSpPr>
        <p:spPr>
          <a:xfrm>
            <a:off x="689760" y="3297240"/>
            <a:ext cx="2249280" cy="305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ENTRAINEMENT</a:t>
            </a:r>
            <a:endParaRPr b="0" lang="en-US" sz="2000" strike="noStrike" u="none">
              <a:solidFill>
                <a:srgbClr val="ffff00"/>
              </a:solidFill>
              <a:effectLst/>
              <a:uFillTx/>
              <a:latin typeface="Times New Roman"/>
            </a:endParaRPr>
          </a:p>
        </p:txBody>
      </p:sp>
      <p:sp>
        <p:nvSpPr>
          <p:cNvPr id="124" name="Rectangle 33"/>
          <p:cNvSpPr/>
          <p:nvPr/>
        </p:nvSpPr>
        <p:spPr>
          <a:xfrm>
            <a:off x="2665800" y="3327480"/>
            <a:ext cx="81720" cy="305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Calibri"/>
                <a:ea typeface="Calibri"/>
              </a:rPr>
              <a:t> </a:t>
            </a:r>
            <a:endParaRPr b="0" lang="en-US" sz="2000" strike="noStrike" u="none">
              <a:solidFill>
                <a:srgbClr val="ffff00"/>
              </a:solidFill>
              <a:effectLst/>
              <a:uFillTx/>
              <a:latin typeface="Times New Roman"/>
            </a:endParaRPr>
          </a:p>
        </p:txBody>
      </p:sp>
      <p:sp>
        <p:nvSpPr>
          <p:cNvPr id="125" name="Rectangle 34"/>
          <p:cNvSpPr/>
          <p:nvPr/>
        </p:nvSpPr>
        <p:spPr>
          <a:xfrm>
            <a:off x="940320" y="3616200"/>
            <a:ext cx="73440" cy="2746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 </a:t>
            </a:r>
            <a:endParaRPr b="0" lang="en-US" sz="1800" strike="noStrike" u="none">
              <a:solidFill>
                <a:srgbClr val="ffff00"/>
              </a:solidFill>
              <a:effectLst/>
              <a:uFillTx/>
              <a:latin typeface="Times New Roman"/>
            </a:endParaRPr>
          </a:p>
        </p:txBody>
      </p:sp>
      <p:sp>
        <p:nvSpPr>
          <p:cNvPr id="126" name="Freeform 35"/>
          <p:cNvSpPr/>
          <p:nvPr/>
        </p:nvSpPr>
        <p:spPr>
          <a:xfrm>
            <a:off x="4724280" y="3778200"/>
            <a:ext cx="76320" cy="689040"/>
          </a:xfrm>
          <a:custGeom>
            <a:avLst/>
            <a:gdLst>
              <a:gd name="GluePoint1X" fmla="*/ 2147483646 w 800"/>
              <a:gd name="GluePoint1Y" fmla="*/ 2147483646 h 3600"/>
              <a:gd name="GluePoint2X" fmla="*/ 2147483646 w 800"/>
              <a:gd name="GluePoint2Y" fmla="*/ 2147483646 h 3600"/>
              <a:gd name="GluePoint3X" fmla="*/ 2147483646 w 800"/>
              <a:gd name="GluePoint3Y" fmla="*/ 2147483646 h 3600"/>
              <a:gd name="GluePoint4X" fmla="*/ 2147483646 w 800"/>
              <a:gd name="GluePoint4Y" fmla="*/ 2147483646 h 3600"/>
              <a:gd name="GluePoint5X" fmla="*/ 2147483646 w 800"/>
              <a:gd name="GluePoint5Y" fmla="*/ 2147483646 h 3600"/>
              <a:gd name="GluePoint6X" fmla="*/ 2147483646 w 800"/>
              <a:gd name="GluePoint6Y" fmla="*/ 2147483646 h 3600"/>
              <a:gd name="GluePoint7X" fmla="*/ 2147483646 w 800"/>
              <a:gd name="GluePoint7Y" fmla="*/ 2147483646 h 3600"/>
              <a:gd name="GluePoint8X" fmla="*/ 2147483646 w 800"/>
              <a:gd name="GluePoint8Y" fmla="*/ 2147483646 h 3600"/>
              <a:gd name="GluePoint9X" fmla="*/ 2147483646 w 800"/>
              <a:gd name="GluePoint9Y" fmla="*/ 2147483646 h 3600"/>
              <a:gd name="GluePoint10X" fmla="*/ 0 w 800"/>
              <a:gd name="GluePoint10Y" fmla="*/ 2147483646 h 3600"/>
              <a:gd name="GluePoint11X" fmla="*/ 2147483646 w 800"/>
              <a:gd name="GluePoint11Y" fmla="*/ 2147483646 h 3600"/>
              <a:gd name="GluePoint12X" fmla="*/ 0 w 800"/>
              <a:gd name="GluePoint12Y" fmla="*/ 2147483646 h 3600"/>
              <a:gd name="GluePoint13X" fmla="*/ 2147483646 w 800"/>
              <a:gd name="GluePoint13Y" fmla="*/ 0 h 3600"/>
              <a:gd name="GluePoint14X" fmla="*/ 2147483646 w 800"/>
              <a:gd name="GluePoint14Y" fmla="*/ 2147483646 h 3600"/>
              <a:gd name="GluePoint15X" fmla="*/ 0 w 800"/>
              <a:gd name="GluePoint15Y" fmla="*/ 2147483646 h 3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800" h="3600">
                <a:moveTo>
                  <a:pt x="350" y="2933"/>
                </a:moveTo>
                <a:lnTo>
                  <a:pt x="350" y="666"/>
                </a:lnTo>
                <a:cubicBezTo>
                  <a:pt x="350" y="639"/>
                  <a:pt x="372" y="616"/>
                  <a:pt x="400" y="616"/>
                </a:cubicBezTo>
                <a:cubicBezTo>
                  <a:pt x="427" y="616"/>
                  <a:pt x="450" y="639"/>
                  <a:pt x="450" y="666"/>
                </a:cubicBezTo>
                <a:lnTo>
                  <a:pt x="450" y="2933"/>
                </a:lnTo>
                <a:cubicBezTo>
                  <a:pt x="450" y="2961"/>
                  <a:pt x="427" y="2983"/>
                  <a:pt x="400" y="2983"/>
                </a:cubicBezTo>
                <a:cubicBezTo>
                  <a:pt x="372" y="2983"/>
                  <a:pt x="350" y="2961"/>
                  <a:pt x="350" y="2933"/>
                </a:cubicBezTo>
                <a:close/>
                <a:moveTo>
                  <a:pt x="800" y="2800"/>
                </a:moveTo>
                <a:lnTo>
                  <a:pt x="400" y="3600"/>
                </a:lnTo>
                <a:lnTo>
                  <a:pt x="0" y="2800"/>
                </a:lnTo>
                <a:lnTo>
                  <a:pt x="800" y="2800"/>
                </a:lnTo>
                <a:close/>
                <a:moveTo>
                  <a:pt x="0" y="800"/>
                </a:moveTo>
                <a:lnTo>
                  <a:pt x="400" y="0"/>
                </a:lnTo>
                <a:lnTo>
                  <a:pt x="800" y="800"/>
                </a:lnTo>
                <a:lnTo>
                  <a:pt x="0" y="800"/>
                </a:lnTo>
                <a:close/>
              </a:path>
            </a:pathLst>
          </a:custGeom>
          <a:solidFill>
            <a:srgbClr val="ffff00"/>
          </a:solidFill>
          <a:ln w="32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7" name="Freeform 36"/>
          <p:cNvSpPr/>
          <p:nvPr/>
        </p:nvSpPr>
        <p:spPr>
          <a:xfrm>
            <a:off x="4724280" y="2482920"/>
            <a:ext cx="96840" cy="695160"/>
          </a:xfrm>
          <a:custGeom>
            <a:avLst/>
            <a:gdLst>
              <a:gd name="GluePoint1X" fmla="*/ 2147483646 w 800"/>
              <a:gd name="GluePoint1Y" fmla="*/ 2147483646 h 2810"/>
              <a:gd name="GluePoint2X" fmla="*/ 2147483646 w 800"/>
              <a:gd name="GluePoint2Y" fmla="*/ 2147483646 h 2810"/>
              <a:gd name="GluePoint3X" fmla="*/ 2147483646 w 800"/>
              <a:gd name="GluePoint3Y" fmla="*/ 2147483646 h 2810"/>
              <a:gd name="GluePoint4X" fmla="*/ 2147483646 w 800"/>
              <a:gd name="GluePoint4Y" fmla="*/ 2147483646 h 2810"/>
              <a:gd name="GluePoint5X" fmla="*/ 2147483646 w 800"/>
              <a:gd name="GluePoint5Y" fmla="*/ 2147483646 h 2810"/>
              <a:gd name="GluePoint6X" fmla="*/ 2147483646 w 800"/>
              <a:gd name="GluePoint6Y" fmla="*/ 2147483646 h 2810"/>
              <a:gd name="GluePoint7X" fmla="*/ 2147483646 w 800"/>
              <a:gd name="GluePoint7Y" fmla="*/ 2147483646 h 2810"/>
              <a:gd name="GluePoint8X" fmla="*/ 0 w 800"/>
              <a:gd name="GluePoint8Y" fmla="*/ 2147483646 h 2810"/>
              <a:gd name="GluePoint9X" fmla="*/ 2147483646 w 800"/>
              <a:gd name="GluePoint9Y" fmla="*/ 0 h 2810"/>
              <a:gd name="GluePoint10X" fmla="*/ 2147483646 w 800"/>
              <a:gd name="GluePoint10Y" fmla="*/ 2147483646 h 2810"/>
              <a:gd name="GluePoint11X" fmla="*/ 0 w 800"/>
              <a:gd name="GluePoint11Y" fmla="*/ 2147483646 h 28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800" h="2810">
                <a:moveTo>
                  <a:pt x="350" y="2760"/>
                </a:moveTo>
                <a:lnTo>
                  <a:pt x="350" y="666"/>
                </a:lnTo>
                <a:cubicBezTo>
                  <a:pt x="350" y="639"/>
                  <a:pt x="372" y="616"/>
                  <a:pt x="400" y="616"/>
                </a:cubicBezTo>
                <a:cubicBezTo>
                  <a:pt x="427" y="616"/>
                  <a:pt x="450" y="639"/>
                  <a:pt x="450" y="666"/>
                </a:cubicBezTo>
                <a:lnTo>
                  <a:pt x="450" y="2760"/>
                </a:lnTo>
                <a:cubicBezTo>
                  <a:pt x="450" y="2787"/>
                  <a:pt x="427" y="2810"/>
                  <a:pt x="400" y="2810"/>
                </a:cubicBezTo>
                <a:cubicBezTo>
                  <a:pt x="372" y="2810"/>
                  <a:pt x="350" y="2787"/>
                  <a:pt x="350" y="2760"/>
                </a:cubicBezTo>
                <a:close/>
                <a:moveTo>
                  <a:pt x="0" y="800"/>
                </a:moveTo>
                <a:lnTo>
                  <a:pt x="400" y="0"/>
                </a:lnTo>
                <a:lnTo>
                  <a:pt x="800" y="800"/>
                </a:lnTo>
                <a:lnTo>
                  <a:pt x="0" y="800"/>
                </a:lnTo>
                <a:close/>
              </a:path>
            </a:pathLst>
          </a:custGeom>
          <a:solidFill>
            <a:srgbClr val="ffff00"/>
          </a:solidFill>
          <a:ln w="381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8" name="Freeform 37"/>
          <p:cNvSpPr/>
          <p:nvPr/>
        </p:nvSpPr>
        <p:spPr>
          <a:xfrm>
            <a:off x="6248520" y="3473280"/>
            <a:ext cx="685800" cy="76320"/>
          </a:xfrm>
          <a:custGeom>
            <a:avLst/>
            <a:gdLst>
              <a:gd name="GluePoint1X" fmla="*/ 2147483646 w 2425"/>
              <a:gd name="GluePoint1Y" fmla="*/ 2147483646 h 400"/>
              <a:gd name="GluePoint2X" fmla="*/ 2147483646 w 2425"/>
              <a:gd name="GluePoint2Y" fmla="*/ 2147483646 h 400"/>
              <a:gd name="GluePoint3X" fmla="*/ 2147483646 w 2425"/>
              <a:gd name="GluePoint3Y" fmla="*/ 2147483646 h 400"/>
              <a:gd name="GluePoint4X" fmla="*/ 2147483646 w 2425"/>
              <a:gd name="GluePoint4Y" fmla="*/ 2147483646 h 400"/>
              <a:gd name="GluePoint5X" fmla="*/ 2147483646 w 2425"/>
              <a:gd name="GluePoint5Y" fmla="*/ 2147483646 h 400"/>
              <a:gd name="GluePoint6X" fmla="*/ 0 w 2425"/>
              <a:gd name="GluePoint6Y" fmla="*/ 2147483646 h 400"/>
              <a:gd name="GluePoint7X" fmla="*/ 2147483646 w 2425"/>
              <a:gd name="GluePoint7Y" fmla="*/ 2147483646 h 400"/>
              <a:gd name="GluePoint8X" fmla="*/ 2147483646 w 2425"/>
              <a:gd name="GluePoint8Y" fmla="*/ 0 h 400"/>
              <a:gd name="GluePoint9X" fmla="*/ 2147483646 w 2425"/>
              <a:gd name="GluePoint9Y" fmla="*/ 2147483646 h 400"/>
              <a:gd name="GluePoint10X" fmla="*/ 2147483646 w 2425"/>
              <a:gd name="GluePoint10Y" fmla="*/ 2147483646 h 400"/>
              <a:gd name="GluePoint11X" fmla="*/ 2147483646 w 2425"/>
              <a:gd name="GluePoint11Y" fmla="*/ 0 h 4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2425" h="400">
                <a:moveTo>
                  <a:pt x="25" y="175"/>
                </a:moveTo>
                <a:lnTo>
                  <a:pt x="2092" y="175"/>
                </a:lnTo>
                <a:cubicBezTo>
                  <a:pt x="2106" y="175"/>
                  <a:pt x="2117" y="186"/>
                  <a:pt x="2117" y="200"/>
                </a:cubicBezTo>
                <a:cubicBezTo>
                  <a:pt x="2117" y="214"/>
                  <a:pt x="2106" y="225"/>
                  <a:pt x="2092" y="225"/>
                </a:cubicBezTo>
                <a:lnTo>
                  <a:pt x="25" y="225"/>
                </a:lnTo>
                <a:cubicBezTo>
                  <a:pt x="11" y="225"/>
                  <a:pt x="0" y="214"/>
                  <a:pt x="0" y="200"/>
                </a:cubicBezTo>
                <a:cubicBezTo>
                  <a:pt x="0" y="186"/>
                  <a:pt x="11" y="175"/>
                  <a:pt x="25" y="175"/>
                </a:cubicBezTo>
                <a:close/>
                <a:moveTo>
                  <a:pt x="2025" y="0"/>
                </a:moveTo>
                <a:lnTo>
                  <a:pt x="2425" y="200"/>
                </a:lnTo>
                <a:lnTo>
                  <a:pt x="2025" y="400"/>
                </a:lnTo>
                <a:lnTo>
                  <a:pt x="2025" y="0"/>
                </a:lnTo>
                <a:close/>
              </a:path>
            </a:pathLst>
          </a:custGeom>
          <a:solidFill>
            <a:srgbClr val="000000"/>
          </a:solidFill>
          <a:ln w="38160">
            <a:solidFill>
              <a:srgbClr val="ffff00"/>
            </a:solidFill>
            <a:round/>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129" name="Freeform 38"/>
          <p:cNvSpPr/>
          <p:nvPr/>
        </p:nvSpPr>
        <p:spPr>
          <a:xfrm>
            <a:off x="3048120" y="3473280"/>
            <a:ext cx="609480" cy="136800"/>
          </a:xfrm>
          <a:custGeom>
            <a:avLst/>
            <a:gdLst>
              <a:gd name="GluePoint1X" fmla="*/ 2147483646 w 4850"/>
              <a:gd name="GluePoint1Y" fmla="*/ 2147483646 h 800"/>
              <a:gd name="GluePoint2X" fmla="*/ 2147483646 w 4850"/>
              <a:gd name="GluePoint2Y" fmla="*/ 2147483646 h 800"/>
              <a:gd name="GluePoint3X" fmla="*/ 2147483646 w 4850"/>
              <a:gd name="GluePoint3Y" fmla="*/ 2147483646 h 800"/>
              <a:gd name="GluePoint4X" fmla="*/ 2147483646 w 4850"/>
              <a:gd name="GluePoint4Y" fmla="*/ 2147483646 h 800"/>
              <a:gd name="GluePoint5X" fmla="*/ 2147483646 w 4850"/>
              <a:gd name="GluePoint5Y" fmla="*/ 2147483646 h 800"/>
              <a:gd name="GluePoint6X" fmla="*/ 2147483646 w 4850"/>
              <a:gd name="GluePoint6Y" fmla="*/ 2147483646 h 800"/>
              <a:gd name="GluePoint7X" fmla="*/ 2147483646 w 4850"/>
              <a:gd name="GluePoint7Y" fmla="*/ 2147483646 h 800"/>
              <a:gd name="GluePoint8X" fmla="*/ 2147483646 w 4850"/>
              <a:gd name="GluePoint8Y" fmla="*/ 2147483646 h 800"/>
              <a:gd name="GluePoint9X" fmla="*/ 0 w 4850"/>
              <a:gd name="GluePoint9Y" fmla="*/ 2147483646 h 800"/>
              <a:gd name="GluePoint10X" fmla="*/ 2147483646 w 4850"/>
              <a:gd name="GluePoint10Y" fmla="*/ 0 h 800"/>
              <a:gd name="GluePoint11X" fmla="*/ 2147483646 w 4850"/>
              <a:gd name="GluePoint11Y" fmla="*/ 2147483646 h 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4850" h="800">
                <a:moveTo>
                  <a:pt x="4800" y="450"/>
                </a:moveTo>
                <a:lnTo>
                  <a:pt x="666" y="450"/>
                </a:lnTo>
                <a:cubicBezTo>
                  <a:pt x="639" y="450"/>
                  <a:pt x="616" y="427"/>
                  <a:pt x="616" y="400"/>
                </a:cubicBezTo>
                <a:cubicBezTo>
                  <a:pt x="616" y="372"/>
                  <a:pt x="639" y="350"/>
                  <a:pt x="666" y="350"/>
                </a:cubicBezTo>
                <a:lnTo>
                  <a:pt x="4800" y="350"/>
                </a:lnTo>
                <a:cubicBezTo>
                  <a:pt x="4827" y="350"/>
                  <a:pt x="4850" y="372"/>
                  <a:pt x="4850" y="400"/>
                </a:cubicBezTo>
                <a:cubicBezTo>
                  <a:pt x="4850" y="427"/>
                  <a:pt x="4827" y="450"/>
                  <a:pt x="4800" y="450"/>
                </a:cubicBezTo>
                <a:close/>
                <a:moveTo>
                  <a:pt x="800" y="800"/>
                </a:moveTo>
                <a:lnTo>
                  <a:pt x="0" y="400"/>
                </a:lnTo>
                <a:lnTo>
                  <a:pt x="800" y="0"/>
                </a:lnTo>
                <a:lnTo>
                  <a:pt x="800" y="800"/>
                </a:lnTo>
                <a:close/>
              </a:path>
            </a:pathLst>
          </a:custGeom>
          <a:solidFill>
            <a:srgbClr val="ffff00"/>
          </a:solidFill>
          <a:ln w="381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0" name="Rectangle 41"/>
          <p:cNvSpPr/>
          <p:nvPr/>
        </p:nvSpPr>
        <p:spPr>
          <a:xfrm>
            <a:off x="108000" y="6021360"/>
            <a:ext cx="8948520" cy="1191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Approche systémique des principales interactions  intervenant dans la réalisation d’une performance et place des sciences du sport </a:t>
            </a:r>
            <a:endParaRPr b="0" lang="en-US" sz="2400" strike="noStrike" u="none">
              <a:solidFill>
                <a:srgbClr val="ffff00"/>
              </a:solidFill>
              <a:effectLst/>
              <a:uFillTx/>
              <a:latin typeface="Times New Roman"/>
            </a:endParaRPr>
          </a:p>
        </p:txBody>
      </p:sp>
      <p:sp>
        <p:nvSpPr>
          <p:cNvPr id="131" name="Rectangle 1"/>
          <p:cNvSpPr/>
          <p:nvPr/>
        </p:nvSpPr>
        <p:spPr>
          <a:xfrm>
            <a:off x="6372360" y="1052640"/>
            <a:ext cx="2663640" cy="804600"/>
          </a:xfrm>
          <a:prstGeom prst="wedgeRectCallout">
            <a:avLst>
              <a:gd name="adj1" fmla="val -70611"/>
              <a:gd name="adj2" fmla="val 203782"/>
            </a:avLst>
          </a:prstGeom>
          <a:solidFill>
            <a:srgbClr val="92d050"/>
          </a:solidFill>
          <a:ln w="25560">
            <a:solidFill>
              <a:srgbClr val="00cc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Sciences psycho-sociales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Ingénierie des matériels et matériaux sportifs</a:t>
            </a:r>
            <a:endParaRPr b="0" lang="en-US" sz="1800" strike="noStrike" u="none">
              <a:solidFill>
                <a:srgbClr val="ffff00"/>
              </a:solidFill>
              <a:effectLst/>
              <a:uFillTx/>
              <a:latin typeface="Times New Roman"/>
            </a:endParaRPr>
          </a:p>
        </p:txBody>
      </p:sp>
      <p:sp>
        <p:nvSpPr>
          <p:cNvPr id="132" name="Rectangle 36"/>
          <p:cNvSpPr/>
          <p:nvPr/>
        </p:nvSpPr>
        <p:spPr>
          <a:xfrm>
            <a:off x="297000" y="1123920"/>
            <a:ext cx="2663640" cy="1054080"/>
          </a:xfrm>
          <a:prstGeom prst="wedgeRectCallout">
            <a:avLst>
              <a:gd name="adj1" fmla="val -212"/>
              <a:gd name="adj2" fmla="val 150638"/>
            </a:avLst>
          </a:prstGeom>
          <a:solidFill>
            <a:srgbClr val="92d050"/>
          </a:solidFill>
          <a:ln w="25560">
            <a:solidFill>
              <a:srgbClr val="00956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Méthodologie : ajustement individuels et collectifs des exercices, séances, cycles…</a:t>
            </a:r>
            <a:endParaRPr b="0" lang="en-US" sz="1800" strike="noStrike" u="none">
              <a:solidFill>
                <a:srgbClr val="ffff00"/>
              </a:solidFill>
              <a:effectLst/>
              <a:uFillTx/>
              <a:latin typeface="Times New Roman"/>
            </a:endParaRPr>
          </a:p>
        </p:txBody>
      </p:sp>
      <p:sp>
        <p:nvSpPr>
          <p:cNvPr id="133" name="Rectangle 37"/>
          <p:cNvSpPr/>
          <p:nvPr/>
        </p:nvSpPr>
        <p:spPr>
          <a:xfrm>
            <a:off x="297000" y="4257720"/>
            <a:ext cx="2663640" cy="1079280"/>
          </a:xfrm>
          <a:prstGeom prst="wedgeRectCallout">
            <a:avLst>
              <a:gd name="adj1" fmla="val 87351"/>
              <a:gd name="adj2" fmla="val -4268"/>
            </a:avLst>
          </a:prstGeom>
          <a:solidFill>
            <a:srgbClr val="92d050"/>
          </a:solidFill>
          <a:ln w="25560">
            <a:solidFill>
              <a:srgbClr val="00956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Sciences pédagogiques et psychologiques,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Formation aux différentes sciences du sport</a:t>
            </a:r>
            <a:endParaRPr b="0" lang="en-US" sz="1800" strike="noStrike" u="none">
              <a:solidFill>
                <a:srgbClr val="ffff00"/>
              </a:solidFill>
              <a:effectLst/>
              <a:uFillTx/>
              <a:latin typeface="Times New Roman"/>
            </a:endParaRPr>
          </a:p>
        </p:txBody>
      </p:sp>
      <p:sp>
        <p:nvSpPr>
          <p:cNvPr id="134" name="Rectangle 38"/>
          <p:cNvSpPr/>
          <p:nvPr/>
        </p:nvSpPr>
        <p:spPr>
          <a:xfrm>
            <a:off x="3654360" y="849240"/>
            <a:ext cx="2130480" cy="804960"/>
          </a:xfrm>
          <a:prstGeom prst="wedgeRectCallout">
            <a:avLst>
              <a:gd name="adj1" fmla="val 4199"/>
              <a:gd name="adj2" fmla="val 88717"/>
            </a:avLst>
          </a:prstGeom>
          <a:solidFill>
            <a:srgbClr val="92d050"/>
          </a:solidFill>
          <a:ln w="25560">
            <a:solidFill>
              <a:srgbClr val="00956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Métrologie et Sciences de l’observation</a:t>
            </a:r>
            <a:endParaRPr b="0" lang="en-US" sz="1800" strike="noStrike" u="none">
              <a:solidFill>
                <a:srgbClr val="ffff00"/>
              </a:solidFill>
              <a:effectLst/>
              <a:uFillTx/>
              <a:latin typeface="Times New Roman"/>
            </a:endParaRPr>
          </a:p>
        </p:txBody>
      </p:sp>
      <p:sp>
        <p:nvSpPr>
          <p:cNvPr id="135" name="Rectangle 39"/>
          <p:cNvSpPr/>
          <p:nvPr/>
        </p:nvSpPr>
        <p:spPr>
          <a:xfrm>
            <a:off x="6183360" y="4475160"/>
            <a:ext cx="2960640" cy="1143000"/>
          </a:xfrm>
          <a:prstGeom prst="wedgeRectCallout">
            <a:avLst>
              <a:gd name="adj1" fmla="val -5050"/>
              <a:gd name="adj2" fmla="val -117439"/>
            </a:avLst>
          </a:prstGeom>
          <a:solidFill>
            <a:srgbClr val="92d050"/>
          </a:solidFill>
          <a:ln w="25560">
            <a:solidFill>
              <a:srgbClr val="00956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Sciences psycho-sociales, cognitives et neuro-motrices.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100000"/>
                </a:solidFill>
                <a:effectLst/>
                <a:uFillTx/>
                <a:latin typeface="Calibri"/>
                <a:ea typeface="Calibri"/>
              </a:rPr>
              <a:t>Physiologie, biologie,  et biomécanique</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12" dur="indefinite" restart="never" nodeType="tmRoot">
          <p:childTnLst>
            <p:seq>
              <p:cTn id="113" dur="indefinite" nodeType="mainSeq">
                <p:childTnLst>
                  <p:par>
                    <p:cTn id="114" nodeType="clickEffect" fill="hold">
                      <p:stCondLst>
                        <p:cond delay="indefinite"/>
                      </p:stCondLst>
                      <p:childTnLst>
                        <p:par>
                          <p:cTn id="115" nodeType="withEffect" fill="hold">
                            <p:stCondLst>
                              <p:cond delay="0"/>
                            </p:stCondLst>
                            <p:childTnLst>
                              <p:par>
                                <p:cTn id="116" nodeType="clickEffect" fill="hold" presetClass="entr" presetID="22" presetSubtype="4">
                                  <p:stCondLst>
                                    <p:cond delay="0"/>
                                  </p:stCondLst>
                                  <p:childTnLst>
                                    <p:set>
                                      <p:cBhvr>
                                        <p:cTn id="117" dur="1" fill="hold">
                                          <p:stCondLst>
                                            <p:cond delay="0"/>
                                          </p:stCondLst>
                                        </p:cTn>
                                        <p:tgtEl>
                                          <p:spTgt spid="109"/>
                                        </p:tgtEl>
                                        <p:attrNameLst>
                                          <p:attrName>style.visibility</p:attrName>
                                        </p:attrNameLst>
                                      </p:cBhvr>
                                      <p:to>
                                        <p:strVal val="visible"/>
                                      </p:to>
                                    </p:set>
                                    <p:animEffect filter="wipe(down)" transition="in">
                                      <p:cBhvr additive="repl">
                                        <p:cTn id="118" dur="500"/>
                                        <p:tgtEl>
                                          <p:spTgt spid="109"/>
                                        </p:tgtEl>
                                      </p:cBhvr>
                                    </p:animEffect>
                                  </p:childTnLst>
                                </p:cTn>
                              </p:par>
                            </p:childTnLst>
                          </p:cTn>
                        </p:par>
                        <p:par>
                          <p:cTn id="119" nodeType="afterEffect" fill="hold">
                            <p:stCondLst>
                              <p:cond delay="500"/>
                            </p:stCondLst>
                            <p:childTnLst>
                              <p:par>
                                <p:cTn id="120" nodeType="afterEffect" fill="hold" presetClass="entr" presetID="53" presetSubtype="16">
                                  <p:stCondLst>
                                    <p:cond delay="0"/>
                                  </p:stCondLst>
                                  <p:childTnLst>
                                    <p:set>
                                      <p:cBhvr>
                                        <p:cTn id="121" dur="1" fill="hold">
                                          <p:stCondLst>
                                            <p:cond delay="0"/>
                                          </p:stCondLst>
                                        </p:cTn>
                                        <p:tgtEl>
                                          <p:spTgt spid="114"/>
                                        </p:tgtEl>
                                        <p:attrNameLst>
                                          <p:attrName>style.visibility</p:attrName>
                                        </p:attrNameLst>
                                      </p:cBhvr>
                                      <p:to>
                                        <p:strVal val="visible"/>
                                      </p:to>
                                    </p:set>
                                    <p:anim calcmode="lin" valueType="num">
                                      <p:cBhvr additive="repl">
                                        <p:cTn id="122" dur="500" fill="hold"/>
                                        <p:tgtEl>
                                          <p:spTgt spid="114"/>
                                        </p:tgtEl>
                                        <p:attrNameLst>
                                          <p:attrName>ppt_w</p:attrName>
                                        </p:attrNameLst>
                                      </p:cBhvr>
                                      <p:tavLst>
                                        <p:tav tm="0">
                                          <p:val>
                                            <p:fltVal val="0"/>
                                          </p:val>
                                        </p:tav>
                                        <p:tav tm="100000">
                                          <p:val>
                                            <p:strVal val="#ppt_w"/>
                                          </p:val>
                                        </p:tav>
                                      </p:tavLst>
                                    </p:anim>
                                    <p:anim calcmode="lin" valueType="num">
                                      <p:cBhvr additive="repl">
                                        <p:cTn id="123" dur="500" fill="hold"/>
                                        <p:tgtEl>
                                          <p:spTgt spid="114"/>
                                        </p:tgtEl>
                                        <p:attrNameLst>
                                          <p:attrName>ppt_h</p:attrName>
                                        </p:attrNameLst>
                                      </p:cBhvr>
                                      <p:tavLst>
                                        <p:tav tm="0">
                                          <p:val>
                                            <p:fltVal val="0"/>
                                          </p:val>
                                        </p:tav>
                                        <p:tav tm="100000">
                                          <p:val>
                                            <p:strVal val="#ppt_h"/>
                                          </p:val>
                                        </p:tav>
                                      </p:tavLst>
                                    </p:anim>
                                    <p:animEffect filter="fade" transition="in">
                                      <p:cBhvr additive="repl">
                                        <p:cTn id="124" dur="500"/>
                                        <p:tgtEl>
                                          <p:spTgt spid="114"/>
                                        </p:tgtEl>
                                      </p:cBhvr>
                                    </p:animEffect>
                                  </p:childTnLst>
                                </p:cTn>
                              </p:par>
                            </p:childTnLst>
                          </p:cTn>
                        </p:par>
                      </p:childTnLst>
                    </p:cTn>
                  </p:par>
                  <p:par>
                    <p:cTn id="125" nodeType="clickEffect" fill="hold">
                      <p:stCondLst>
                        <p:cond delay="indefinite"/>
                      </p:stCondLst>
                      <p:childTnLst>
                        <p:par>
                          <p:cTn id="126" nodeType="withEffect" fill="hold">
                            <p:stCondLst>
                              <p:cond delay="0"/>
                            </p:stCondLst>
                            <p:childTnLst>
                              <p:par>
                                <p:cTn id="127" nodeType="clickEffect" fill="hold" presetClass="entr" presetID="22" presetSubtype="4">
                                  <p:stCondLst>
                                    <p:cond delay="0"/>
                                  </p:stCondLst>
                                  <p:childTnLst>
                                    <p:set>
                                      <p:cBhvr>
                                        <p:cTn id="128" dur="1" fill="hold">
                                          <p:stCondLst>
                                            <p:cond delay="0"/>
                                          </p:stCondLst>
                                        </p:cTn>
                                        <p:tgtEl>
                                          <p:spTgt spid="108"/>
                                        </p:tgtEl>
                                        <p:attrNameLst>
                                          <p:attrName>style.visibility</p:attrName>
                                        </p:attrNameLst>
                                      </p:cBhvr>
                                      <p:to>
                                        <p:strVal val="visible"/>
                                      </p:to>
                                    </p:set>
                                    <p:animEffect filter="wipe(down)" transition="in">
                                      <p:cBhvr additive="repl">
                                        <p:cTn id="129" dur="500"/>
                                        <p:tgtEl>
                                          <p:spTgt spid="108"/>
                                        </p:tgtEl>
                                      </p:cBhvr>
                                    </p:animEffect>
                                  </p:childTnLst>
                                </p:cTn>
                              </p:par>
                            </p:childTnLst>
                          </p:cTn>
                        </p:par>
                        <p:par>
                          <p:cTn id="130" nodeType="afterEffect" fill="hold">
                            <p:stCondLst>
                              <p:cond delay="500"/>
                            </p:stCondLst>
                            <p:childTnLst>
                              <p:par>
                                <p:cTn id="131" nodeType="afterEffect" fill="hold" presetClass="entr" presetID="53" presetSubtype="16">
                                  <p:stCondLst>
                                    <p:cond delay="0"/>
                                  </p:stCondLst>
                                  <p:childTnLst>
                                    <p:set>
                                      <p:cBhvr>
                                        <p:cTn id="132" dur="1" fill="hold">
                                          <p:stCondLst>
                                            <p:cond delay="0"/>
                                          </p:stCondLst>
                                        </p:cTn>
                                        <p:tgtEl>
                                          <p:spTgt spid="122"/>
                                        </p:tgtEl>
                                        <p:attrNameLst>
                                          <p:attrName>style.visibility</p:attrName>
                                        </p:attrNameLst>
                                      </p:cBhvr>
                                      <p:to>
                                        <p:strVal val="visible"/>
                                      </p:to>
                                    </p:set>
                                    <p:anim calcmode="lin" valueType="num">
                                      <p:cBhvr additive="repl">
                                        <p:cTn id="133" dur="1000" fill="hold"/>
                                        <p:tgtEl>
                                          <p:spTgt spid="122"/>
                                        </p:tgtEl>
                                        <p:attrNameLst>
                                          <p:attrName>ppt_w</p:attrName>
                                        </p:attrNameLst>
                                      </p:cBhvr>
                                      <p:tavLst>
                                        <p:tav tm="0">
                                          <p:val>
                                            <p:fltVal val="0"/>
                                          </p:val>
                                        </p:tav>
                                        <p:tav tm="100000">
                                          <p:val>
                                            <p:strVal val="#ppt_w"/>
                                          </p:val>
                                        </p:tav>
                                      </p:tavLst>
                                    </p:anim>
                                    <p:anim calcmode="lin" valueType="num">
                                      <p:cBhvr additive="repl">
                                        <p:cTn id="134" dur="1000" fill="hold"/>
                                        <p:tgtEl>
                                          <p:spTgt spid="122"/>
                                        </p:tgtEl>
                                        <p:attrNameLst>
                                          <p:attrName>ppt_h</p:attrName>
                                        </p:attrNameLst>
                                      </p:cBhvr>
                                      <p:tavLst>
                                        <p:tav tm="0">
                                          <p:val>
                                            <p:fltVal val="0"/>
                                          </p:val>
                                        </p:tav>
                                        <p:tav tm="100000">
                                          <p:val>
                                            <p:strVal val="#ppt_h"/>
                                          </p:val>
                                        </p:tav>
                                      </p:tavLst>
                                    </p:anim>
                                    <p:animEffect filter="fade" transition="in">
                                      <p:cBhvr additive="repl">
                                        <p:cTn id="135" dur="1000"/>
                                        <p:tgtEl>
                                          <p:spTgt spid="122"/>
                                        </p:tgtEl>
                                      </p:cBhvr>
                                    </p:animEffect>
                                  </p:childTnLst>
                                </p:cTn>
                              </p:par>
                            </p:childTnLst>
                          </p:cTn>
                        </p:par>
                        <p:par>
                          <p:cTn id="136" nodeType="afterEffect" fill="hold">
                            <p:stCondLst>
                              <p:cond delay="1500"/>
                            </p:stCondLst>
                            <p:childTnLst>
                              <p:par>
                                <p:cTn id="137" nodeType="afterEffect" fill="hold" presetClass="entr" presetID="53" presetSubtype="16">
                                  <p:stCondLst>
                                    <p:cond delay="0"/>
                                  </p:stCondLst>
                                  <p:childTnLst>
                                    <p:set>
                                      <p:cBhvr>
                                        <p:cTn id="138" dur="1" fill="hold">
                                          <p:stCondLst>
                                            <p:cond delay="0"/>
                                          </p:stCondLst>
                                        </p:cTn>
                                        <p:tgtEl>
                                          <p:spTgt spid="120"/>
                                        </p:tgtEl>
                                        <p:attrNameLst>
                                          <p:attrName>style.visibility</p:attrName>
                                        </p:attrNameLst>
                                      </p:cBhvr>
                                      <p:to>
                                        <p:strVal val="visible"/>
                                      </p:to>
                                    </p:set>
                                    <p:anim calcmode="lin" valueType="num">
                                      <p:cBhvr additive="repl">
                                        <p:cTn id="139" dur="1000" fill="hold"/>
                                        <p:tgtEl>
                                          <p:spTgt spid="120"/>
                                        </p:tgtEl>
                                        <p:attrNameLst>
                                          <p:attrName>ppt_w</p:attrName>
                                        </p:attrNameLst>
                                      </p:cBhvr>
                                      <p:tavLst>
                                        <p:tav tm="0">
                                          <p:val>
                                            <p:fltVal val="0"/>
                                          </p:val>
                                        </p:tav>
                                        <p:tav tm="100000">
                                          <p:val>
                                            <p:strVal val="#ppt_w"/>
                                          </p:val>
                                        </p:tav>
                                      </p:tavLst>
                                    </p:anim>
                                    <p:anim calcmode="lin" valueType="num">
                                      <p:cBhvr additive="repl">
                                        <p:cTn id="140" dur="1000" fill="hold"/>
                                        <p:tgtEl>
                                          <p:spTgt spid="120"/>
                                        </p:tgtEl>
                                        <p:attrNameLst>
                                          <p:attrName>ppt_h</p:attrName>
                                        </p:attrNameLst>
                                      </p:cBhvr>
                                      <p:tavLst>
                                        <p:tav tm="0">
                                          <p:val>
                                            <p:fltVal val="0"/>
                                          </p:val>
                                        </p:tav>
                                        <p:tav tm="100000">
                                          <p:val>
                                            <p:strVal val="#ppt_h"/>
                                          </p:val>
                                        </p:tav>
                                      </p:tavLst>
                                    </p:anim>
                                    <p:animEffect filter="fade" transition="in">
                                      <p:cBhvr additive="repl">
                                        <p:cTn id="141" dur="1000"/>
                                        <p:tgtEl>
                                          <p:spTgt spid="120"/>
                                        </p:tgtEl>
                                      </p:cBhvr>
                                    </p:animEffect>
                                  </p:childTnLst>
                                </p:cTn>
                              </p:par>
                              <p:par>
                                <p:cTn id="142" nodeType="withEffect" fill="hold" presetClass="entr" presetID="22" presetSubtype="2">
                                  <p:stCondLst>
                                    <p:cond delay="0"/>
                                  </p:stCondLst>
                                  <p:childTnLst>
                                    <p:set>
                                      <p:cBhvr>
                                        <p:cTn id="143" dur="1" fill="hold">
                                          <p:stCondLst>
                                            <p:cond delay="0"/>
                                          </p:stCondLst>
                                        </p:cTn>
                                        <p:tgtEl>
                                          <p:spTgt spid="129"/>
                                        </p:tgtEl>
                                        <p:attrNameLst>
                                          <p:attrName>style.visibility</p:attrName>
                                        </p:attrNameLst>
                                      </p:cBhvr>
                                      <p:to>
                                        <p:strVal val="visible"/>
                                      </p:to>
                                    </p:set>
                                    <p:animEffect filter="wipe(right)" transition="in">
                                      <p:cBhvr additive="repl">
                                        <p:cTn id="144" dur="500"/>
                                        <p:tgtEl>
                                          <p:spTgt spid="129"/>
                                        </p:tgtEl>
                                      </p:cBhvr>
                                    </p:animEffect>
                                  </p:childTnLst>
                                </p:cTn>
                              </p:par>
                              <p:par>
                                <p:cTn id="145" nodeType="withEffect" fill="hold" presetClass="entr" presetID="22" presetSubtype="8">
                                  <p:stCondLst>
                                    <p:cond delay="0"/>
                                  </p:stCondLst>
                                  <p:childTnLst>
                                    <p:set>
                                      <p:cBhvr>
                                        <p:cTn id="146" dur="1" fill="hold">
                                          <p:stCondLst>
                                            <p:cond delay="0"/>
                                          </p:stCondLst>
                                        </p:cTn>
                                        <p:tgtEl>
                                          <p:spTgt spid="128"/>
                                        </p:tgtEl>
                                        <p:attrNameLst>
                                          <p:attrName>style.visibility</p:attrName>
                                        </p:attrNameLst>
                                      </p:cBhvr>
                                      <p:to>
                                        <p:strVal val="visible"/>
                                      </p:to>
                                    </p:set>
                                    <p:animEffect filter="wipe(left)" transition="in">
                                      <p:cBhvr additive="repl">
                                        <p:cTn id="147" dur="500"/>
                                        <p:tgtEl>
                                          <p:spTgt spid="128"/>
                                        </p:tgtEl>
                                      </p:cBhvr>
                                    </p:animEffect>
                                  </p:childTnLst>
                                </p:cTn>
                              </p:par>
                              <p:par>
                                <p:cTn id="148" nodeType="withEffect" fill="hold" presetClass="entr" presetID="22" presetSubtype="4">
                                  <p:stCondLst>
                                    <p:cond delay="0"/>
                                  </p:stCondLst>
                                  <p:childTnLst>
                                    <p:set>
                                      <p:cBhvr>
                                        <p:cTn id="149" dur="1" fill="hold">
                                          <p:stCondLst>
                                            <p:cond delay="0"/>
                                          </p:stCondLst>
                                        </p:cTn>
                                        <p:tgtEl>
                                          <p:spTgt spid="127"/>
                                        </p:tgtEl>
                                        <p:attrNameLst>
                                          <p:attrName>style.visibility</p:attrName>
                                        </p:attrNameLst>
                                      </p:cBhvr>
                                      <p:to>
                                        <p:strVal val="visible"/>
                                      </p:to>
                                    </p:set>
                                    <p:animEffect filter="wipe(down)" transition="in">
                                      <p:cBhvr additive="repl">
                                        <p:cTn id="150" dur="500"/>
                                        <p:tgtEl>
                                          <p:spTgt spid="127"/>
                                        </p:tgtEl>
                                      </p:cBhvr>
                                    </p:animEffect>
                                  </p:childTnLst>
                                </p:cTn>
                              </p:par>
                            </p:childTnLst>
                          </p:cTn>
                        </p:par>
                      </p:childTnLst>
                    </p:cTn>
                  </p:par>
                  <p:par>
                    <p:cTn id="151" nodeType="clickEffect" fill="hold">
                      <p:stCondLst>
                        <p:cond delay="indefinite"/>
                      </p:stCondLst>
                      <p:childTnLst>
                        <p:par>
                          <p:cTn id="152" nodeType="withEffect" fill="hold">
                            <p:stCondLst>
                              <p:cond delay="0"/>
                            </p:stCondLst>
                            <p:childTnLst>
                              <p:par>
                                <p:cTn id="153" nodeType="clickEffect" fill="hold" presetClass="entr" presetID="53" presetSubtype="16">
                                  <p:stCondLst>
                                    <p:cond delay="0"/>
                                  </p:stCondLst>
                                  <p:childTnLst>
                                    <p:set>
                                      <p:cBhvr>
                                        <p:cTn id="154" dur="1" fill="hold">
                                          <p:stCondLst>
                                            <p:cond delay="0"/>
                                          </p:stCondLst>
                                        </p:cTn>
                                        <p:tgtEl>
                                          <p:spTgt spid="117"/>
                                        </p:tgtEl>
                                        <p:attrNameLst>
                                          <p:attrName>style.visibility</p:attrName>
                                        </p:attrNameLst>
                                      </p:cBhvr>
                                      <p:to>
                                        <p:strVal val="visible"/>
                                      </p:to>
                                    </p:set>
                                    <p:anim calcmode="lin" valueType="num">
                                      <p:cBhvr additive="repl">
                                        <p:cTn id="155" dur="500" fill="hold"/>
                                        <p:tgtEl>
                                          <p:spTgt spid="117"/>
                                        </p:tgtEl>
                                        <p:attrNameLst>
                                          <p:attrName>ppt_w</p:attrName>
                                        </p:attrNameLst>
                                      </p:cBhvr>
                                      <p:tavLst>
                                        <p:tav tm="0">
                                          <p:val>
                                            <p:fltVal val="0"/>
                                          </p:val>
                                        </p:tav>
                                        <p:tav tm="100000">
                                          <p:val>
                                            <p:strVal val="#ppt_w"/>
                                          </p:val>
                                        </p:tav>
                                      </p:tavLst>
                                    </p:anim>
                                    <p:anim calcmode="lin" valueType="num">
                                      <p:cBhvr additive="repl">
                                        <p:cTn id="156" dur="500" fill="hold"/>
                                        <p:tgtEl>
                                          <p:spTgt spid="117"/>
                                        </p:tgtEl>
                                        <p:attrNameLst>
                                          <p:attrName>ppt_h</p:attrName>
                                        </p:attrNameLst>
                                      </p:cBhvr>
                                      <p:tavLst>
                                        <p:tav tm="0">
                                          <p:val>
                                            <p:fltVal val="0"/>
                                          </p:val>
                                        </p:tav>
                                        <p:tav tm="100000">
                                          <p:val>
                                            <p:strVal val="#ppt_h"/>
                                          </p:val>
                                        </p:tav>
                                      </p:tavLst>
                                    </p:anim>
                                    <p:animEffect filter="fade" transition="in">
                                      <p:cBhvr additive="repl">
                                        <p:cTn id="157" dur="500"/>
                                        <p:tgtEl>
                                          <p:spTgt spid="117"/>
                                        </p:tgtEl>
                                      </p:cBhvr>
                                    </p:animEffect>
                                  </p:childTnLst>
                                </p:cTn>
                              </p:par>
                              <p:par>
                                <p:cTn id="158" nodeType="withEffect" fill="hold" presetClass="entr" presetID="22" presetSubtype="4">
                                  <p:stCondLst>
                                    <p:cond delay="0"/>
                                  </p:stCondLst>
                                  <p:childTnLst>
                                    <p:set>
                                      <p:cBhvr>
                                        <p:cTn id="159" dur="1" fill="hold">
                                          <p:stCondLst>
                                            <p:cond delay="0"/>
                                          </p:stCondLst>
                                        </p:cTn>
                                        <p:tgtEl>
                                          <p:spTgt spid="110"/>
                                        </p:tgtEl>
                                        <p:attrNameLst>
                                          <p:attrName>style.visibility</p:attrName>
                                        </p:attrNameLst>
                                      </p:cBhvr>
                                      <p:to>
                                        <p:strVal val="visible"/>
                                      </p:to>
                                    </p:set>
                                    <p:animEffect filter="wipe(down)" transition="in">
                                      <p:cBhvr additive="repl">
                                        <p:cTn id="160" dur="500"/>
                                        <p:tgtEl>
                                          <p:spTgt spid="110"/>
                                        </p:tgtEl>
                                      </p:cBhvr>
                                    </p:animEffect>
                                  </p:childTnLst>
                                </p:cTn>
                              </p:par>
                              <p:par>
                                <p:cTn id="161" nodeType="withEffect" fill="hold" presetClass="entr" presetID="22" presetSubtype="4">
                                  <p:stCondLst>
                                    <p:cond delay="0"/>
                                  </p:stCondLst>
                                  <p:childTnLst>
                                    <p:set>
                                      <p:cBhvr>
                                        <p:cTn id="162" dur="1" fill="hold">
                                          <p:stCondLst>
                                            <p:cond delay="0"/>
                                          </p:stCondLst>
                                        </p:cTn>
                                        <p:tgtEl>
                                          <p:spTgt spid="126"/>
                                        </p:tgtEl>
                                        <p:attrNameLst>
                                          <p:attrName>style.visibility</p:attrName>
                                        </p:attrNameLst>
                                      </p:cBhvr>
                                      <p:to>
                                        <p:strVal val="visible"/>
                                      </p:to>
                                    </p:set>
                                    <p:animEffect filter="wipe(down)" transition="in">
                                      <p:cBhvr additive="repl">
                                        <p:cTn id="163" dur="500"/>
                                        <p:tgtEl>
                                          <p:spTgt spid="126"/>
                                        </p:tgtEl>
                                      </p:cBhvr>
                                    </p:animEffect>
                                  </p:childTnLst>
                                </p:cTn>
                              </p:par>
                              <p:par>
                                <p:cTn id="164" nodeType="withEffect" fill="hold" presetClass="entr" presetID="22" presetSubtype="4">
                                  <p:stCondLst>
                                    <p:cond delay="0"/>
                                  </p:stCondLst>
                                  <p:childTnLst>
                                    <p:set>
                                      <p:cBhvr>
                                        <p:cTn id="165" dur="1" fill="hold">
                                          <p:stCondLst>
                                            <p:cond delay="0"/>
                                          </p:stCondLst>
                                        </p:cTn>
                                        <p:tgtEl>
                                          <p:spTgt spid="111"/>
                                        </p:tgtEl>
                                        <p:attrNameLst>
                                          <p:attrName>style.visibility</p:attrName>
                                        </p:attrNameLst>
                                      </p:cBhvr>
                                      <p:to>
                                        <p:strVal val="visible"/>
                                      </p:to>
                                    </p:set>
                                    <p:animEffect filter="wipe(down)" transition="in">
                                      <p:cBhvr additive="repl">
                                        <p:cTn id="166" dur="500"/>
                                        <p:tgtEl>
                                          <p:spTgt spid="111"/>
                                        </p:tgtEl>
                                      </p:cBhvr>
                                    </p:animEffect>
                                  </p:childTnLst>
                                </p:cTn>
                              </p:par>
                            </p:childTnLst>
                          </p:cTn>
                        </p:par>
                      </p:childTnLst>
                    </p:cTn>
                  </p:par>
                  <p:par>
                    <p:cTn id="167" nodeType="clickEffect" fill="hold">
                      <p:stCondLst>
                        <p:cond delay="indefinite"/>
                      </p:stCondLst>
                      <p:childTnLst>
                        <p:par>
                          <p:cTn id="168" nodeType="withEffect" fill="hold">
                            <p:stCondLst>
                              <p:cond delay="0"/>
                            </p:stCondLst>
                            <p:childTnLst>
                              <p:par>
                                <p:cTn id="169" nodeType="clickEffect" fill="hold" presetClass="entr" presetID="53" presetSubtype="16">
                                  <p:stCondLst>
                                    <p:cond delay="0"/>
                                  </p:stCondLst>
                                  <p:childTnLst>
                                    <p:set>
                                      <p:cBhvr>
                                        <p:cTn id="170" dur="1" fill="hold">
                                          <p:stCondLst>
                                            <p:cond delay="0"/>
                                          </p:stCondLst>
                                        </p:cTn>
                                        <p:tgtEl>
                                          <p:spTgt spid="135"/>
                                        </p:tgtEl>
                                        <p:attrNameLst>
                                          <p:attrName>style.visibility</p:attrName>
                                        </p:attrNameLst>
                                      </p:cBhvr>
                                      <p:to>
                                        <p:strVal val="visible"/>
                                      </p:to>
                                    </p:set>
                                    <p:anim calcmode="lin" valueType="num">
                                      <p:cBhvr additive="repl">
                                        <p:cTn id="171" dur="500" fill="hold"/>
                                        <p:tgtEl>
                                          <p:spTgt spid="135"/>
                                        </p:tgtEl>
                                        <p:attrNameLst>
                                          <p:attrName>ppt_w</p:attrName>
                                        </p:attrNameLst>
                                      </p:cBhvr>
                                      <p:tavLst>
                                        <p:tav tm="0">
                                          <p:val>
                                            <p:fltVal val="0"/>
                                          </p:val>
                                        </p:tav>
                                        <p:tav tm="100000">
                                          <p:val>
                                            <p:strVal val="#ppt_w"/>
                                          </p:val>
                                        </p:tav>
                                      </p:tavLst>
                                    </p:anim>
                                    <p:anim calcmode="lin" valueType="num">
                                      <p:cBhvr additive="repl">
                                        <p:cTn id="172" dur="500" fill="hold"/>
                                        <p:tgtEl>
                                          <p:spTgt spid="135"/>
                                        </p:tgtEl>
                                        <p:attrNameLst>
                                          <p:attrName>ppt_h</p:attrName>
                                        </p:attrNameLst>
                                      </p:cBhvr>
                                      <p:tavLst>
                                        <p:tav tm="0">
                                          <p:val>
                                            <p:fltVal val="0"/>
                                          </p:val>
                                        </p:tav>
                                        <p:tav tm="100000">
                                          <p:val>
                                            <p:strVal val="#ppt_h"/>
                                          </p:val>
                                        </p:tav>
                                      </p:tavLst>
                                    </p:anim>
                                    <p:animEffect filter="fade" transition="in">
                                      <p:cBhvr additive="repl">
                                        <p:cTn id="173" dur="500"/>
                                        <p:tgtEl>
                                          <p:spTgt spid="135"/>
                                        </p:tgtEl>
                                      </p:cBhvr>
                                    </p:animEffect>
                                  </p:childTnLst>
                                </p:cTn>
                              </p:par>
                            </p:childTnLst>
                          </p:cTn>
                        </p:par>
                      </p:childTnLst>
                    </p:cTn>
                  </p:par>
                  <p:par>
                    <p:cTn id="174" nodeType="clickEffect" fill="hold">
                      <p:stCondLst>
                        <p:cond delay="indefinite"/>
                      </p:stCondLst>
                      <p:childTnLst>
                        <p:par>
                          <p:cTn id="175" nodeType="withEffect" fill="hold">
                            <p:stCondLst>
                              <p:cond delay="0"/>
                            </p:stCondLst>
                            <p:childTnLst>
                              <p:par>
                                <p:cTn id="176" nodeType="clickEffect" fill="hold" presetClass="entr" presetID="53" presetSubtype="16">
                                  <p:stCondLst>
                                    <p:cond delay="0"/>
                                  </p:stCondLst>
                                  <p:childTnLst>
                                    <p:set>
                                      <p:cBhvr>
                                        <p:cTn id="177" dur="1" fill="hold">
                                          <p:stCondLst>
                                            <p:cond delay="0"/>
                                          </p:stCondLst>
                                        </p:cTn>
                                        <p:tgtEl>
                                          <p:spTgt spid="132"/>
                                        </p:tgtEl>
                                        <p:attrNameLst>
                                          <p:attrName>style.visibility</p:attrName>
                                        </p:attrNameLst>
                                      </p:cBhvr>
                                      <p:to>
                                        <p:strVal val="visible"/>
                                      </p:to>
                                    </p:set>
                                    <p:anim calcmode="lin" valueType="num">
                                      <p:cBhvr additive="repl">
                                        <p:cTn id="178" dur="500" fill="hold"/>
                                        <p:tgtEl>
                                          <p:spTgt spid="132"/>
                                        </p:tgtEl>
                                        <p:attrNameLst>
                                          <p:attrName>ppt_w</p:attrName>
                                        </p:attrNameLst>
                                      </p:cBhvr>
                                      <p:tavLst>
                                        <p:tav tm="0">
                                          <p:val>
                                            <p:fltVal val="0"/>
                                          </p:val>
                                        </p:tav>
                                        <p:tav tm="100000">
                                          <p:val>
                                            <p:strVal val="#ppt_w"/>
                                          </p:val>
                                        </p:tav>
                                      </p:tavLst>
                                    </p:anim>
                                    <p:anim calcmode="lin" valueType="num">
                                      <p:cBhvr additive="repl">
                                        <p:cTn id="179" dur="500" fill="hold"/>
                                        <p:tgtEl>
                                          <p:spTgt spid="132"/>
                                        </p:tgtEl>
                                        <p:attrNameLst>
                                          <p:attrName>ppt_h</p:attrName>
                                        </p:attrNameLst>
                                      </p:cBhvr>
                                      <p:tavLst>
                                        <p:tav tm="0">
                                          <p:val>
                                            <p:fltVal val="0"/>
                                          </p:val>
                                        </p:tav>
                                        <p:tav tm="100000">
                                          <p:val>
                                            <p:strVal val="#ppt_h"/>
                                          </p:val>
                                        </p:tav>
                                      </p:tavLst>
                                    </p:anim>
                                    <p:animEffect filter="fade" transition="in">
                                      <p:cBhvr additive="repl">
                                        <p:cTn id="180" dur="500"/>
                                        <p:tgtEl>
                                          <p:spTgt spid="132"/>
                                        </p:tgtEl>
                                      </p:cBhvr>
                                    </p:animEffect>
                                  </p:childTnLst>
                                </p:cTn>
                              </p:par>
                            </p:childTnLst>
                          </p:cTn>
                        </p:par>
                      </p:childTnLst>
                    </p:cTn>
                  </p:par>
                  <p:par>
                    <p:cTn id="181" nodeType="clickEffect" fill="hold">
                      <p:stCondLst>
                        <p:cond delay="indefinite"/>
                      </p:stCondLst>
                      <p:childTnLst>
                        <p:par>
                          <p:cTn id="182" nodeType="withEffect" fill="hold">
                            <p:stCondLst>
                              <p:cond delay="0"/>
                            </p:stCondLst>
                            <p:childTnLst>
                              <p:par>
                                <p:cTn id="183" nodeType="clickEffect" fill="hold" presetClass="entr" presetID="53" presetSubtype="16">
                                  <p:stCondLst>
                                    <p:cond delay="0"/>
                                  </p:stCondLst>
                                  <p:childTnLst>
                                    <p:set>
                                      <p:cBhvr>
                                        <p:cTn id="184" dur="1" fill="hold">
                                          <p:stCondLst>
                                            <p:cond delay="0"/>
                                          </p:stCondLst>
                                        </p:cTn>
                                        <p:tgtEl>
                                          <p:spTgt spid="131"/>
                                        </p:tgtEl>
                                        <p:attrNameLst>
                                          <p:attrName>style.visibility</p:attrName>
                                        </p:attrNameLst>
                                      </p:cBhvr>
                                      <p:to>
                                        <p:strVal val="visible"/>
                                      </p:to>
                                    </p:set>
                                    <p:anim calcmode="lin" valueType="num">
                                      <p:cBhvr additive="repl">
                                        <p:cTn id="185" dur="500" fill="hold"/>
                                        <p:tgtEl>
                                          <p:spTgt spid="131"/>
                                        </p:tgtEl>
                                        <p:attrNameLst>
                                          <p:attrName>ppt_w</p:attrName>
                                        </p:attrNameLst>
                                      </p:cBhvr>
                                      <p:tavLst>
                                        <p:tav tm="0">
                                          <p:val>
                                            <p:fltVal val="0"/>
                                          </p:val>
                                        </p:tav>
                                        <p:tav tm="100000">
                                          <p:val>
                                            <p:strVal val="#ppt_w"/>
                                          </p:val>
                                        </p:tav>
                                      </p:tavLst>
                                    </p:anim>
                                    <p:anim calcmode="lin" valueType="num">
                                      <p:cBhvr additive="repl">
                                        <p:cTn id="186" dur="500" fill="hold"/>
                                        <p:tgtEl>
                                          <p:spTgt spid="131"/>
                                        </p:tgtEl>
                                        <p:attrNameLst>
                                          <p:attrName>ppt_h</p:attrName>
                                        </p:attrNameLst>
                                      </p:cBhvr>
                                      <p:tavLst>
                                        <p:tav tm="0">
                                          <p:val>
                                            <p:fltVal val="0"/>
                                          </p:val>
                                        </p:tav>
                                        <p:tav tm="100000">
                                          <p:val>
                                            <p:strVal val="#ppt_h"/>
                                          </p:val>
                                        </p:tav>
                                      </p:tavLst>
                                    </p:anim>
                                    <p:animEffect filter="fade" transition="in">
                                      <p:cBhvr additive="repl">
                                        <p:cTn id="187" dur="500"/>
                                        <p:tgtEl>
                                          <p:spTgt spid="131"/>
                                        </p:tgtEl>
                                      </p:cBhvr>
                                    </p:animEffect>
                                  </p:childTnLst>
                                </p:cTn>
                              </p:par>
                            </p:childTnLst>
                          </p:cTn>
                        </p:par>
                      </p:childTnLst>
                    </p:cTn>
                  </p:par>
                  <p:par>
                    <p:cTn id="188" nodeType="clickEffect" fill="hold">
                      <p:stCondLst>
                        <p:cond delay="indefinite"/>
                      </p:stCondLst>
                      <p:childTnLst>
                        <p:par>
                          <p:cTn id="189" nodeType="withEffect" fill="hold">
                            <p:stCondLst>
                              <p:cond delay="0"/>
                            </p:stCondLst>
                            <p:childTnLst>
                              <p:par>
                                <p:cTn id="190" nodeType="clickEffect" fill="hold" presetClass="entr" presetID="53" presetSubtype="16">
                                  <p:stCondLst>
                                    <p:cond delay="0"/>
                                  </p:stCondLst>
                                  <p:childTnLst>
                                    <p:set>
                                      <p:cBhvr>
                                        <p:cTn id="191" dur="1" fill="hold">
                                          <p:stCondLst>
                                            <p:cond delay="0"/>
                                          </p:stCondLst>
                                        </p:cTn>
                                        <p:tgtEl>
                                          <p:spTgt spid="133"/>
                                        </p:tgtEl>
                                        <p:attrNameLst>
                                          <p:attrName>style.visibility</p:attrName>
                                        </p:attrNameLst>
                                      </p:cBhvr>
                                      <p:to>
                                        <p:strVal val="visible"/>
                                      </p:to>
                                    </p:set>
                                    <p:anim calcmode="lin" valueType="num">
                                      <p:cBhvr additive="repl">
                                        <p:cTn id="192" dur="500" fill="hold"/>
                                        <p:tgtEl>
                                          <p:spTgt spid="133"/>
                                        </p:tgtEl>
                                        <p:attrNameLst>
                                          <p:attrName>ppt_w</p:attrName>
                                        </p:attrNameLst>
                                      </p:cBhvr>
                                      <p:tavLst>
                                        <p:tav tm="0">
                                          <p:val>
                                            <p:fltVal val="0"/>
                                          </p:val>
                                        </p:tav>
                                        <p:tav tm="100000">
                                          <p:val>
                                            <p:strVal val="#ppt_w"/>
                                          </p:val>
                                        </p:tav>
                                      </p:tavLst>
                                    </p:anim>
                                    <p:anim calcmode="lin" valueType="num">
                                      <p:cBhvr additive="repl">
                                        <p:cTn id="193" dur="500" fill="hold"/>
                                        <p:tgtEl>
                                          <p:spTgt spid="133"/>
                                        </p:tgtEl>
                                        <p:attrNameLst>
                                          <p:attrName>ppt_h</p:attrName>
                                        </p:attrNameLst>
                                      </p:cBhvr>
                                      <p:tavLst>
                                        <p:tav tm="0">
                                          <p:val>
                                            <p:fltVal val="0"/>
                                          </p:val>
                                        </p:tav>
                                        <p:tav tm="100000">
                                          <p:val>
                                            <p:strVal val="#ppt_h"/>
                                          </p:val>
                                        </p:tav>
                                      </p:tavLst>
                                    </p:anim>
                                    <p:animEffect filter="fade" transition="in">
                                      <p:cBhvr additive="repl">
                                        <p:cTn id="194" dur="500"/>
                                        <p:tgtEl>
                                          <p:spTgt spid="133"/>
                                        </p:tgtEl>
                                      </p:cBhvr>
                                    </p:animEffect>
                                  </p:childTnLst>
                                </p:cTn>
                              </p:par>
                            </p:childTnLst>
                          </p:cTn>
                        </p:par>
                      </p:childTnLst>
                    </p:cTn>
                  </p:par>
                  <p:par>
                    <p:cTn id="195" nodeType="clickEffect" fill="hold">
                      <p:stCondLst>
                        <p:cond delay="indefinite"/>
                      </p:stCondLst>
                      <p:childTnLst>
                        <p:par>
                          <p:cTn id="196" nodeType="withEffect" fill="hold">
                            <p:stCondLst>
                              <p:cond delay="0"/>
                            </p:stCondLst>
                            <p:childTnLst>
                              <p:par>
                                <p:cTn id="197" nodeType="clickEffect" fill="hold" presetClass="entr" presetID="53" presetSubtype="16">
                                  <p:stCondLst>
                                    <p:cond delay="0"/>
                                  </p:stCondLst>
                                  <p:childTnLst>
                                    <p:set>
                                      <p:cBhvr>
                                        <p:cTn id="198" dur="1" fill="hold">
                                          <p:stCondLst>
                                            <p:cond delay="0"/>
                                          </p:stCondLst>
                                        </p:cTn>
                                        <p:tgtEl>
                                          <p:spTgt spid="134"/>
                                        </p:tgtEl>
                                        <p:attrNameLst>
                                          <p:attrName>style.visibility</p:attrName>
                                        </p:attrNameLst>
                                      </p:cBhvr>
                                      <p:to>
                                        <p:strVal val="visible"/>
                                      </p:to>
                                    </p:set>
                                    <p:anim calcmode="lin" valueType="num">
                                      <p:cBhvr additive="repl">
                                        <p:cTn id="199" dur="500" fill="hold"/>
                                        <p:tgtEl>
                                          <p:spTgt spid="134"/>
                                        </p:tgtEl>
                                        <p:attrNameLst>
                                          <p:attrName>ppt_w</p:attrName>
                                        </p:attrNameLst>
                                      </p:cBhvr>
                                      <p:tavLst>
                                        <p:tav tm="0">
                                          <p:val>
                                            <p:fltVal val="0"/>
                                          </p:val>
                                        </p:tav>
                                        <p:tav tm="100000">
                                          <p:val>
                                            <p:strVal val="#ppt_w"/>
                                          </p:val>
                                        </p:tav>
                                      </p:tavLst>
                                    </p:anim>
                                    <p:anim calcmode="lin" valueType="num">
                                      <p:cBhvr additive="repl">
                                        <p:cTn id="200" dur="500" fill="hold"/>
                                        <p:tgtEl>
                                          <p:spTgt spid="134"/>
                                        </p:tgtEl>
                                        <p:attrNameLst>
                                          <p:attrName>ppt_h</p:attrName>
                                        </p:attrNameLst>
                                      </p:cBhvr>
                                      <p:tavLst>
                                        <p:tav tm="0">
                                          <p:val>
                                            <p:fltVal val="0"/>
                                          </p:val>
                                        </p:tav>
                                        <p:tav tm="100000">
                                          <p:val>
                                            <p:strVal val="#ppt_h"/>
                                          </p:val>
                                        </p:tav>
                                      </p:tavLst>
                                    </p:anim>
                                    <p:animEffect filter="fade" transition="in">
                                      <p:cBhvr additive="repl">
                                        <p:cTn id="201" dur="5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Text Box 2"/>
          <p:cNvSpPr/>
          <p:nvPr/>
        </p:nvSpPr>
        <p:spPr>
          <a:xfrm>
            <a:off x="179280" y="2565360"/>
            <a:ext cx="8763120" cy="2562840"/>
          </a:xfrm>
          <a:prstGeom prst="rect">
            <a:avLst/>
          </a:prstGeom>
          <a:noFill/>
          <a:ln w="0">
            <a:noFill/>
          </a:ln>
        </p:spPr>
        <p:style>
          <a:lnRef idx="0"/>
          <a:fillRef idx="0"/>
          <a:effectRef idx="0"/>
          <a:fontRef idx="minor"/>
        </p:style>
        <p:txBody>
          <a:bodyPr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ff"/>
                </a:solidFill>
                <a:effectLst/>
                <a:uFillTx/>
                <a:latin typeface="Calibri"/>
                <a:ea typeface="Calibri"/>
              </a:rPr>
              <a:t>QUELQUES PRINCIPES DE </a:t>
            </a:r>
            <a:endParaRPr b="0" lang="en-US" sz="36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ff"/>
                </a:solidFill>
                <a:effectLst/>
                <a:uFillTx/>
                <a:latin typeface="Calibri"/>
                <a:ea typeface="Calibri"/>
              </a:rPr>
              <a:t>GESTION DE L’ENTRAÎNEMENT</a:t>
            </a:r>
            <a:endParaRPr b="0" lang="en-US" sz="36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Mésocycleé,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138" name="Flèche droite 2"/>
          <p:cNvSpPr/>
          <p:nvPr/>
        </p:nvSpPr>
        <p:spPr>
          <a:xfrm>
            <a:off x="569880" y="195588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02" dur="indefinite" restart="never" nodeType="tmRoot">
          <p:childTnLst>
            <p:seq>
              <p:cTn id="203" dur="indefinite" nodeType="mainSeq">
                <p:childTnLst>
                  <p:par>
                    <p:cTn id="204" nodeType="clickEffect" fill="hold">
                      <p:stCondLst>
                        <p:cond delay="indefinite"/>
                      </p:stCondLst>
                      <p:childTnLst>
                        <p:par>
                          <p:cTn id="205" nodeType="withEffect" fill="hold">
                            <p:stCondLst>
                              <p:cond delay="0"/>
                            </p:stCondLst>
                            <p:childTnLst>
                              <p:par>
                                <p:cTn id="206" nodeType="clickEffect" fill="hold" presetClass="entr" presetID="22" presetSubtype="8">
                                  <p:stCondLst>
                                    <p:cond delay="0"/>
                                  </p:stCondLst>
                                  <p:childTnLst>
                                    <p:set>
                                      <p:cBhvr>
                                        <p:cTn id="207" dur="1" fill="hold">
                                          <p:stCondLst>
                                            <p:cond delay="0"/>
                                          </p:stCondLst>
                                        </p:cTn>
                                        <p:tgtEl>
                                          <p:spTgt spid="138"/>
                                        </p:tgtEl>
                                        <p:attrNameLst>
                                          <p:attrName>style.visibility</p:attrName>
                                        </p:attrNameLst>
                                      </p:cBhvr>
                                      <p:to>
                                        <p:strVal val="visible"/>
                                      </p:to>
                                    </p:set>
                                    <p:animEffect filter="wipe(left)" transition="in">
                                      <p:cBhvr additive="repl">
                                        <p:cTn id="208"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2"/>
          <p:cNvSpPr/>
          <p:nvPr/>
        </p:nvSpPr>
        <p:spPr>
          <a:xfrm>
            <a:off x="34920" y="2362320"/>
            <a:ext cx="8686800" cy="1600200"/>
          </a:xfrm>
          <a:prstGeom prst="rect">
            <a:avLst/>
          </a:prstGeom>
          <a:noFill/>
          <a:ln w="0">
            <a:noFill/>
          </a:ln>
        </p:spPr>
        <p:style>
          <a:lnRef idx="0"/>
          <a:fillRef idx="0"/>
          <a:effectRef idx="0"/>
          <a:fontRef idx="minor"/>
        </p:style>
        <p:txBody>
          <a:bodyPr lIns="92160" rIns="92160" tIns="46080" bIns="46080" anchor="t">
            <a:noAutofit/>
          </a:bodyPr>
          <a:p>
            <a:pPr marL="343080" indent="-343080">
              <a:lnSpc>
                <a:spcPct val="80000"/>
              </a:lnSpc>
              <a:spcBef>
                <a:spcPts val="499"/>
              </a:spcBef>
              <a:buClr>
                <a:srgbClr val="ffffff"/>
              </a:buClr>
              <a:buFont typeface="Bookman Old Style"/>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343080" indent="-343080">
              <a:lnSpc>
                <a:spcPct val="8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343080" indent="-343080">
              <a:lnSpc>
                <a:spcPct val="90000"/>
              </a:lnSpc>
              <a:spcBef>
                <a:spcPts val="499"/>
              </a:spcBef>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	</a:t>
            </a:r>
            <a:r>
              <a:rPr b="1" lang="fr-FR" sz="2000" strike="noStrike" u="none">
                <a:solidFill>
                  <a:srgbClr val="ffffff"/>
                </a:solidFill>
                <a:effectLst/>
                <a:uFillTx/>
                <a:latin typeface="Bookman Old Style"/>
              </a:rPr>
              <a:t>	</a:t>
            </a:r>
            <a:r>
              <a:rPr b="1" lang="fr-FR" sz="3600" strike="noStrike" u="none">
                <a:solidFill>
                  <a:srgbClr val="ffffff"/>
                </a:solidFill>
                <a:effectLst/>
                <a:uFillTx/>
                <a:latin typeface="Bookman Old Style"/>
              </a:rPr>
              <a:t>Le concept du ... F.A.I.T.P.A.S.</a:t>
            </a:r>
            <a:r>
              <a:rPr b="1" lang="fr-FR" sz="2000" strike="noStrike" u="none">
                <a:solidFill>
                  <a:srgbClr val="ffffff"/>
                </a:solidFill>
                <a:effectLst/>
                <a:uFillTx/>
                <a:latin typeface="Bookman Old Style"/>
              </a:rPr>
              <a:t> </a:t>
            </a:r>
            <a:endParaRPr b="0" lang="en-US" sz="2000" strike="noStrike" u="none">
              <a:solidFill>
                <a:srgbClr val="ffff00"/>
              </a:solidFill>
              <a:effectLst/>
              <a:uFillTx/>
              <a:latin typeface="Times New Roman"/>
            </a:endParaRPr>
          </a:p>
          <a:p>
            <a:pPr marL="343080" indent="-343080">
              <a:lnSpc>
                <a:spcPct val="90000"/>
              </a:lnSpc>
              <a:spcBef>
                <a:spcPts val="499"/>
              </a:spcBef>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611280" y="188640"/>
            <a:ext cx="7772400" cy="1143000"/>
          </a:xfrm>
          <a:prstGeom prst="rect">
            <a:avLst/>
          </a:prstGeom>
          <a:noFill/>
          <a:ln w="0">
            <a:noFill/>
          </a:ln>
        </p:spPr>
        <p:txBody>
          <a:bodyPr lIns="92160" rIns="9216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LE F.A.I.T.P.A.S. ET LA GESTION DE L’ENTRAÎNEMENT</a:t>
            </a:r>
            <a:endParaRPr b="0" lang="en-US" sz="3600" strike="noStrike" u="none">
              <a:solidFill>
                <a:srgbClr val="f8f8f8"/>
              </a:solidFill>
              <a:effectLst/>
              <a:uFillTx/>
              <a:latin typeface="Times New Roman"/>
            </a:endParaRPr>
          </a:p>
        </p:txBody>
      </p:sp>
      <p:sp>
        <p:nvSpPr>
          <p:cNvPr id="141" name="PlaceHolder 2"/>
          <p:cNvSpPr>
            <a:spLocks noGrp="1"/>
          </p:cNvSpPr>
          <p:nvPr>
            <p:ph/>
          </p:nvPr>
        </p:nvSpPr>
        <p:spPr>
          <a:xfrm>
            <a:off x="107640" y="1628640"/>
            <a:ext cx="8785080" cy="3888000"/>
          </a:xfrm>
          <a:prstGeom prst="rect">
            <a:avLst/>
          </a:prstGeom>
          <a:noFill/>
          <a:ln w="0">
            <a:noFill/>
          </a:ln>
        </p:spPr>
        <p:txBody>
          <a:bodyPr lIns="92160" rIns="92160" tIns="46080" bIns="46080" anchor="t">
            <a:normAutofit fontScale="92500" lnSpcReduction="9999"/>
          </a:bodyPr>
          <a:p>
            <a:pPr indent="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5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F de fréquence</a:t>
            </a:r>
            <a:r>
              <a:rPr b="0" lang="fr-FR" sz="3600" strike="noStrike" u="none">
                <a:solidFill>
                  <a:srgbClr val="ffffff"/>
                </a:solidFill>
                <a:effectLst/>
                <a:uFillTx/>
                <a:latin typeface="Calibri"/>
                <a:ea typeface="Calibri"/>
              </a:rPr>
              <a:t> :</a:t>
            </a:r>
            <a:r>
              <a:rPr b="0" lang="fr-FR" sz="3600" strike="noStrike" u="none">
                <a:solidFill>
                  <a:srgbClr val="ffff00"/>
                </a:solidFill>
                <a:effectLst/>
                <a:uFillTx/>
                <a:latin typeface="Calibri"/>
                <a:ea typeface="Calibri"/>
              </a:rPr>
              <a:t> combien de fois s’entraîner par semaine ?  </a:t>
            </a:r>
            <a:endParaRPr b="0" lang="en-US" sz="3600" strike="noStrike" u="none">
              <a:solidFill>
                <a:srgbClr val="ffff00"/>
              </a:solidFill>
              <a:effectLst/>
              <a:uFillTx/>
              <a:latin typeface="Times New Roman"/>
            </a:endParaRPr>
          </a:p>
          <a:p>
            <a:pPr indent="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   </a:t>
            </a:r>
            <a:r>
              <a:rPr b="0" lang="fr-FR" sz="2800" strike="noStrike" u="none">
                <a:solidFill>
                  <a:srgbClr val="ffff00"/>
                </a:solidFill>
                <a:effectLst/>
                <a:uFillTx/>
                <a:latin typeface="Calibri"/>
                <a:ea typeface="Calibri"/>
              </a:rPr>
              <a:t>Minimum 2 fois (entretien et/ou développement modeste de la condition physique), </a:t>
            </a:r>
            <a:r>
              <a:rPr b="0" lang="fr-FR" sz="2800" strike="noStrike" u="none">
                <a:solidFill>
                  <a:srgbClr val="ffffff"/>
                </a:solidFill>
                <a:effectLst/>
                <a:uFillTx/>
                <a:latin typeface="Calibri"/>
                <a:ea typeface="Calibri"/>
              </a:rPr>
              <a:t>maximum inconnu à ce jour.</a:t>
            </a:r>
            <a:endParaRPr b="0" lang="en-US" sz="2800" strike="noStrike" u="none">
              <a:solidFill>
                <a:srgbClr val="ffff00"/>
              </a:solidFill>
              <a:effectLst/>
              <a:uFillTx/>
              <a:latin typeface="Times New Roman"/>
            </a:endParaRPr>
          </a:p>
          <a:p>
            <a:pPr indent="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   Anaérobie : Maximum 3 fois par semaine </a:t>
            </a:r>
            <a:endParaRPr b="0" lang="en-US" sz="2800" strike="noStrike" u="none">
              <a:solidFill>
                <a:srgbClr val="ffff00"/>
              </a:solidFill>
              <a:effectLst/>
              <a:uFillTx/>
              <a:latin typeface="Times New Roman"/>
            </a:endParaRPr>
          </a:p>
          <a:p>
            <a:pPr indent="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Tree>
  </p:cSld>
  <p:transition spd="slow">
    <p:dissolve/>
  </p:transition>
  <p:timing>
    <p:tnLst>
      <p:par>
        <p:cTn id="209" dur="indefinite" restart="never" nodeType="tmRoot">
          <p:childTnLst>
            <p:seq>
              <p:cTn id="210" dur="indefinite" nodeType="mainSeq">
                <p:childTnLst>
                  <p:par>
                    <p:cTn id="211" nodeType="clickEffect" fill="hold">
                      <p:stCondLst>
                        <p:cond delay="indefinite"/>
                      </p:stCondLst>
                      <p:childTnLst>
                        <p:par>
                          <p:cTn id="212" nodeType="withEffect" fill="hold">
                            <p:stCondLst>
                              <p:cond delay="0"/>
                            </p:stCondLst>
                            <p:childTnLst>
                              <p:par>
                                <p:cTn id="213" nodeType="clickEffect" fill="hold" presetClass="entr" presetID="2" presetSubtype="8">
                                  <p:stCondLst>
                                    <p:cond delay="0"/>
                                  </p:stCondLst>
                                  <p:childTnLst>
                                    <p:set>
                                      <p:cBhvr>
                                        <p:cTn id="214" dur="1" fill="hold">
                                          <p:stCondLst>
                                            <p:cond delay="0"/>
                                          </p:stCondLst>
                                        </p:cTn>
                                        <p:tgtEl>
                                          <p:spTgt spid="141">
                                            <p:txEl>
                                              <p:pRg st="1" end="1"/>
                                            </p:txEl>
                                          </p:spTgt>
                                        </p:tgtEl>
                                        <p:attrNameLst>
                                          <p:attrName>style.visibility</p:attrName>
                                        </p:attrNameLst>
                                      </p:cBhvr>
                                      <p:to>
                                        <p:strVal val="visible"/>
                                      </p:to>
                                    </p:set>
                                    <p:anim calcmode="lin" valueType="num">
                                      <p:cBhvr additive="base">
                                        <p:cTn id="215" dur="500" fill="hold"/>
                                        <p:tgtEl>
                                          <p:spTgt spid="141">
                                            <p:txEl>
                                              <p:pRg st="1" end="1"/>
                                            </p:txEl>
                                          </p:spTgt>
                                        </p:tgtEl>
                                        <p:attrNameLst>
                                          <p:attrName>ppt_x</p:attrName>
                                        </p:attrNameLst>
                                      </p:cBhvr>
                                      <p:tavLst>
                                        <p:tav tm="0">
                                          <p:val>
                                            <p:strVal val="0-#ppt_w/2"/>
                                          </p:val>
                                        </p:tav>
                                        <p:tav tm="100000">
                                          <p:val>
                                            <p:strVal val="#ppt_x"/>
                                          </p:val>
                                        </p:tav>
                                      </p:tavLst>
                                    </p:anim>
                                    <p:anim calcmode="lin" valueType="num">
                                      <p:cBhvr additive="base">
                                        <p:cTn id="216" dur="500" fill="hold"/>
                                        <p:tgtEl>
                                          <p:spTgt spid="14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7" nodeType="clickEffect" fill="hold">
                      <p:stCondLst>
                        <p:cond delay="indefinite"/>
                      </p:stCondLst>
                      <p:childTnLst>
                        <p:par>
                          <p:cTn id="218" nodeType="withEffect" fill="hold">
                            <p:stCondLst>
                              <p:cond delay="0"/>
                            </p:stCondLst>
                            <p:childTnLst>
                              <p:par>
                                <p:cTn id="219" nodeType="clickEffect" fill="hold" presetClass="entr" presetID="2" presetSubtype="8">
                                  <p:stCondLst>
                                    <p:cond delay="0"/>
                                  </p:stCondLst>
                                  <p:childTnLst>
                                    <p:set>
                                      <p:cBhvr>
                                        <p:cTn id="220" dur="1" fill="hold">
                                          <p:stCondLst>
                                            <p:cond delay="0"/>
                                          </p:stCondLst>
                                        </p:cTn>
                                        <p:tgtEl>
                                          <p:spTgt spid="141">
                                            <p:txEl>
                                              <p:pRg st="2" end="2"/>
                                            </p:txEl>
                                          </p:spTgt>
                                        </p:tgtEl>
                                        <p:attrNameLst>
                                          <p:attrName>style.visibility</p:attrName>
                                        </p:attrNameLst>
                                      </p:cBhvr>
                                      <p:to>
                                        <p:strVal val="visible"/>
                                      </p:to>
                                    </p:set>
                                    <p:anim calcmode="lin" valueType="num">
                                      <p:cBhvr additive="base">
                                        <p:cTn id="221" dur="500" fill="hold"/>
                                        <p:tgtEl>
                                          <p:spTgt spid="141">
                                            <p:txEl>
                                              <p:pRg st="2" end="2"/>
                                            </p:txEl>
                                          </p:spTgt>
                                        </p:tgtEl>
                                        <p:attrNameLst>
                                          <p:attrName>ppt_x</p:attrName>
                                        </p:attrNameLst>
                                      </p:cBhvr>
                                      <p:tavLst>
                                        <p:tav tm="0">
                                          <p:val>
                                            <p:strVal val="0-#ppt_w/2"/>
                                          </p:val>
                                        </p:tav>
                                        <p:tav tm="100000">
                                          <p:val>
                                            <p:strVal val="#ppt_x"/>
                                          </p:val>
                                        </p:tav>
                                      </p:tavLst>
                                    </p:anim>
                                    <p:anim calcmode="lin" valueType="num">
                                      <p:cBhvr additive="base">
                                        <p:cTn id="222" dur="500" fill="hold"/>
                                        <p:tgtEl>
                                          <p:spTgt spid="14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23" nodeType="clickEffect" fill="hold">
                      <p:stCondLst>
                        <p:cond delay="indefinite"/>
                      </p:stCondLst>
                      <p:childTnLst>
                        <p:par>
                          <p:cTn id="224" nodeType="withEffect" fill="hold">
                            <p:stCondLst>
                              <p:cond delay="0"/>
                            </p:stCondLst>
                            <p:childTnLst>
                              <p:par>
                                <p:cTn id="225" nodeType="clickEffect" fill="hold" presetClass="entr" presetID="2" presetSubtype="8">
                                  <p:stCondLst>
                                    <p:cond delay="0"/>
                                  </p:stCondLst>
                                  <p:childTnLst>
                                    <p:set>
                                      <p:cBhvr>
                                        <p:cTn id="226" dur="1" fill="hold">
                                          <p:stCondLst>
                                            <p:cond delay="0"/>
                                          </p:stCondLst>
                                        </p:cTn>
                                        <p:tgtEl>
                                          <p:spTgt spid="141">
                                            <p:txEl>
                                              <p:pRg st="3" end="3"/>
                                            </p:txEl>
                                          </p:spTgt>
                                        </p:tgtEl>
                                        <p:attrNameLst>
                                          <p:attrName>style.visibility</p:attrName>
                                        </p:attrNameLst>
                                      </p:cBhvr>
                                      <p:to>
                                        <p:strVal val="visible"/>
                                      </p:to>
                                    </p:set>
                                    <p:anim calcmode="lin" valueType="num">
                                      <p:cBhvr additive="base">
                                        <p:cTn id="227" dur="500" fill="hold"/>
                                        <p:tgtEl>
                                          <p:spTgt spid="141">
                                            <p:txEl>
                                              <p:pRg st="3" end="3"/>
                                            </p:txEl>
                                          </p:spTgt>
                                        </p:tgtEl>
                                        <p:attrNameLst>
                                          <p:attrName>ppt_x</p:attrName>
                                        </p:attrNameLst>
                                      </p:cBhvr>
                                      <p:tavLst>
                                        <p:tav tm="0">
                                          <p:val>
                                            <p:strVal val="0-#ppt_w/2"/>
                                          </p:val>
                                        </p:tav>
                                        <p:tav tm="100000">
                                          <p:val>
                                            <p:strVal val="#ppt_x"/>
                                          </p:val>
                                        </p:tav>
                                      </p:tavLst>
                                    </p:anim>
                                    <p:anim calcmode="lin" valueType="num">
                                      <p:cBhvr additive="base">
                                        <p:cTn id="228" dur="500" fill="hold"/>
                                        <p:tgtEl>
                                          <p:spTgt spid="14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 Box 2"/>
          <p:cNvSpPr/>
          <p:nvPr/>
        </p:nvSpPr>
        <p:spPr>
          <a:xfrm>
            <a:off x="0" y="228600"/>
            <a:ext cx="8244000" cy="7589880"/>
          </a:xfrm>
          <a:prstGeom prst="rect">
            <a:avLst/>
          </a:prstGeom>
          <a:noFill/>
          <a:ln w="0">
            <a:noFill/>
          </a:ln>
        </p:spPr>
        <p:style>
          <a:lnRef idx="0"/>
          <a:fillRef idx="0"/>
          <a:effectRef idx="0"/>
          <a:fontRef idx="minor"/>
        </p:style>
        <p:txBody>
          <a:bodyPr lIns="90000" rIns="90000" tIns="46800" bIns="46800" anchor="t">
            <a:spAutoFit/>
          </a:bodyPr>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ea typeface="Arial"/>
              </a:rPr>
              <a:t>On peut appréhender la fréquence de plusieurs </a:t>
            </a:r>
            <a:endParaRPr b="0" lang="en-US" sz="2400" strike="noStrike" u="none">
              <a:solidFill>
                <a:srgbClr val="ffff00"/>
              </a:solidFill>
              <a:effectLst/>
              <a:uFillTx/>
              <a:latin typeface="Times New Roman"/>
            </a:endParaRPr>
          </a:p>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ea typeface="Arial"/>
              </a:rPr>
              <a:t>façons, comme :</a:t>
            </a:r>
            <a:endParaRPr b="0" lang="en-US" sz="2400" strike="noStrike" u="none">
              <a:solidFill>
                <a:srgbClr val="ffff00"/>
              </a:solidFill>
              <a:effectLst/>
              <a:uFillTx/>
              <a:latin typeface="Times New Roman"/>
            </a:endParaRPr>
          </a:p>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Le</a:t>
            </a:r>
            <a:r>
              <a:rPr b="0" lang="fr-FR" sz="2400" strike="noStrike" u="none">
                <a:solidFill>
                  <a:srgbClr val="ffff00"/>
                </a:solidFill>
                <a:effectLst/>
                <a:uFillTx/>
                <a:latin typeface="Arial"/>
                <a:ea typeface="Arial"/>
              </a:rPr>
              <a:t> </a:t>
            </a:r>
            <a:r>
              <a:rPr b="1" lang="fr-FR" sz="2400" strike="noStrike" u="none">
                <a:solidFill>
                  <a:srgbClr val="ffff00"/>
                </a:solidFill>
                <a:effectLst/>
                <a:uFillTx/>
                <a:latin typeface="Bookman Old Style"/>
                <a:ea typeface="Arial"/>
              </a:rPr>
              <a:t>nombre de répétitions d’un exercice au sein </a:t>
            </a:r>
            <a:endParaRPr b="0" lang="en-US" sz="2400" strike="noStrike" u="none">
              <a:solidFill>
                <a:srgbClr val="ffff00"/>
              </a:solidFill>
              <a:effectLst/>
              <a:uFillTx/>
              <a:latin typeface="Times New Roman"/>
            </a:endParaRPr>
          </a:p>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d’une série</a:t>
            </a:r>
            <a:endParaRPr b="0" lang="en-US" sz="2400" strike="noStrike" u="none">
              <a:solidFill>
                <a:srgbClr val="ffff00"/>
              </a:solidFill>
              <a:effectLst/>
              <a:uFillTx/>
              <a:latin typeface="Times New Roman"/>
            </a:endParaRPr>
          </a:p>
          <a:p>
            <a:pPr marL="625320" indent="-62532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ea typeface="Arial"/>
              </a:rPr>
              <a:t>        </a:t>
            </a:r>
            <a:endParaRPr b="0" lang="en-US" sz="2400" strike="noStrike" u="none">
              <a:solidFill>
                <a:srgbClr val="ffff00"/>
              </a:solidFill>
              <a:effectLst/>
              <a:uFillTx/>
              <a:latin typeface="Times New Roman"/>
            </a:endParaRPr>
          </a:p>
          <a:p>
            <a:pPr marL="625320" indent="-62532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ea typeface="Arial"/>
              </a:rPr>
              <a:t>        </a:t>
            </a:r>
            <a:r>
              <a:rPr b="1" lang="fr-FR" sz="2400" strike="noStrike" u="none">
                <a:solidFill>
                  <a:srgbClr val="ffff00"/>
                </a:solidFill>
                <a:effectLst/>
                <a:uFillTx/>
                <a:latin typeface="Bookman Old Style"/>
                <a:ea typeface="Arial"/>
              </a:rPr>
              <a:t>Le nombre de séries au sein d’une séquence,</a:t>
            </a:r>
            <a:endParaRPr b="0" lang="en-US" sz="2400" strike="noStrike" u="none">
              <a:solidFill>
                <a:srgbClr val="ffff00"/>
              </a:solidFill>
              <a:effectLst/>
              <a:uFillTx/>
              <a:latin typeface="Times New Roman"/>
            </a:endParaRPr>
          </a:p>
          <a:p>
            <a:pPr marL="625320" indent="-62532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a:t>
            </a:r>
            <a:r>
              <a:rPr b="1" lang="fr-FR" sz="2400" strike="noStrike" u="none">
                <a:solidFill>
                  <a:srgbClr val="ffff00"/>
                </a:solidFill>
                <a:effectLst/>
                <a:uFillTx/>
                <a:latin typeface="Arial"/>
                <a:ea typeface="Arial"/>
              </a:rPr>
              <a:t>       </a:t>
            </a:r>
            <a:endParaRPr b="0" lang="en-US" sz="2400" strike="noStrike" u="none">
              <a:solidFill>
                <a:srgbClr val="ffff00"/>
              </a:solidFill>
              <a:effectLst/>
              <a:uFillTx/>
              <a:latin typeface="Times New Roman"/>
            </a:endParaRPr>
          </a:p>
          <a:p>
            <a:pPr marL="625320" indent="-62532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ea typeface="Arial"/>
              </a:rPr>
              <a:t>        </a:t>
            </a:r>
            <a:r>
              <a:rPr b="1" lang="fr-FR" sz="2400" strike="noStrike" u="none">
                <a:solidFill>
                  <a:srgbClr val="ffff00"/>
                </a:solidFill>
                <a:effectLst/>
                <a:uFillTx/>
                <a:latin typeface="Bookman Old Style"/>
                <a:ea typeface="Arial"/>
              </a:rPr>
              <a:t>Le nombre de séquences au sein d’une séance,</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a:t>
            </a:r>
            <a:r>
              <a:rPr b="1" lang="fr-FR" sz="2400" strike="noStrike" u="none">
                <a:solidFill>
                  <a:srgbClr val="ffff00"/>
                </a:solidFill>
                <a:effectLst/>
                <a:uFillTx/>
                <a:latin typeface="Arial"/>
                <a:ea typeface="Arial"/>
              </a:rPr>
              <a:t>  </a:t>
            </a:r>
            <a:r>
              <a:rPr b="1" lang="fr-FR" sz="2400" strike="noStrike" u="none">
                <a:solidFill>
                  <a:srgbClr val="ffff00"/>
                </a:solidFill>
                <a:effectLst/>
                <a:uFillTx/>
                <a:latin typeface="Bookman Old Style"/>
                <a:ea typeface="Times New Roman"/>
              </a:rPr>
              <a:t>    Le nombre de séances d’entraînement au sein </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Times New Roman"/>
              </a:rPr>
              <a:t>       d’un microcycle,</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Arial"/>
              </a:rPr>
              <a:t>      </a:t>
            </a:r>
            <a:r>
              <a:rPr b="1" lang="fr-FR" sz="2400" strike="noStrike" u="none">
                <a:solidFill>
                  <a:srgbClr val="ffff00"/>
                </a:solidFill>
                <a:effectLst/>
                <a:uFillTx/>
                <a:latin typeface="Bookman Old Style"/>
                <a:ea typeface="Times New Roman"/>
              </a:rPr>
              <a:t>Le nombre de microcycles au sein d’un mesocycle…</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ea typeface="Times New Roman"/>
              </a:rPr>
              <a:t>      Le nombre de mesocycles au sein d’une saison …</a:t>
            </a: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625320" indent="-625320" algn="just">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3" name="Group 4"/>
          <p:cNvGrpSpPr/>
          <p:nvPr/>
        </p:nvGrpSpPr>
        <p:grpSpPr>
          <a:xfrm>
            <a:off x="324000" y="1413000"/>
            <a:ext cx="8208720" cy="4389480"/>
            <a:chOff x="324000" y="1413000"/>
            <a:chExt cx="8208720" cy="4389480"/>
          </a:xfrm>
        </p:grpSpPr>
        <p:sp>
          <p:nvSpPr>
            <p:cNvPr id="144" name="AutoShape 5"/>
            <p:cNvSpPr/>
            <p:nvPr/>
          </p:nvSpPr>
          <p:spPr>
            <a:xfrm>
              <a:off x="324000" y="1413000"/>
              <a:ext cx="8208720" cy="438948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45" name="Line 6"/>
            <p:cNvSpPr/>
            <p:nvPr/>
          </p:nvSpPr>
          <p:spPr>
            <a:xfrm>
              <a:off x="456840" y="1429200"/>
              <a:ext cx="0" cy="435564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6" name="Line 7"/>
            <p:cNvSpPr/>
            <p:nvPr/>
          </p:nvSpPr>
          <p:spPr>
            <a:xfrm>
              <a:off x="456120" y="5784840"/>
              <a:ext cx="8049960" cy="720"/>
            </a:xfrm>
            <a:prstGeom prst="line">
              <a:avLst/>
            </a:prstGeom>
            <a:ln w="38160">
              <a:solidFill>
                <a:srgbClr val="ffffff"/>
              </a:solidFill>
              <a:miter/>
            </a:ln>
          </p:spPr>
          <p:style>
            <a:lnRef idx="0"/>
            <a:fillRef idx="0"/>
            <a:effectRef idx="0"/>
            <a:fontRef idx="minor"/>
          </p:style>
          <p:txBody>
            <a:bodyPr lIns="90000" rIns="90000" tIns="-46080" bIns="-46080" anchor="t">
              <a:noAutofit/>
            </a:bodyPr>
            <a:p>
              <a:endParaRPr b="0" lang="en-US" sz="2400" strike="noStrike" u="none">
                <a:solidFill>
                  <a:srgbClr val="ffff00"/>
                </a:solidFill>
                <a:effectLst/>
                <a:uFillTx/>
                <a:latin typeface="Times New Roman"/>
              </a:endParaRPr>
            </a:p>
          </p:txBody>
        </p:sp>
        <p:sp>
          <p:nvSpPr>
            <p:cNvPr id="147" name="Rectangle 8" descr="Rayures étroites horizontales"/>
            <p:cNvSpPr/>
            <p:nvPr/>
          </p:nvSpPr>
          <p:spPr>
            <a:xfrm>
              <a:off x="456120" y="5586840"/>
              <a:ext cx="659520" cy="198000"/>
            </a:xfrm>
            <a:prstGeom prst="rect">
              <a:avLst/>
            </a:prstGeom>
            <a:blipFill rotWithShape="0">
              <a:blip r:embed="rId1"/>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48" name="Line 9"/>
            <p:cNvSpPr/>
            <p:nvPr/>
          </p:nvSpPr>
          <p:spPr>
            <a:xfrm>
              <a:off x="456840" y="2419200"/>
              <a:ext cx="8049960" cy="0"/>
            </a:xfrm>
            <a:prstGeom prst="line">
              <a:avLst/>
            </a:prstGeom>
            <a:ln w="28440">
              <a:solidFill>
                <a:srgbClr val="ffff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9" name="Freeform 10"/>
            <p:cNvSpPr/>
            <p:nvPr/>
          </p:nvSpPr>
          <p:spPr>
            <a:xfrm>
              <a:off x="456120" y="2023560"/>
              <a:ext cx="6071760" cy="3068640"/>
            </a:xfrm>
            <a:custGeom>
              <a:avLst/>
              <a:gdLst>
                <a:gd name="textAreaLeft" fmla="*/ 0 w 6071760"/>
                <a:gd name="textAreaRight" fmla="*/ 6072120 w 6071760"/>
                <a:gd name="textAreaTop" fmla="*/ 0 h 3068640"/>
                <a:gd name="textAreaBottom" fmla="*/ 3069000 h 3068640"/>
                <a:gd name="GluePoint1X" fmla="*/ 0 w 5400"/>
                <a:gd name="GluePoint1Y" fmla="*/ 360 h 2790"/>
                <a:gd name="GluePoint2X" fmla="*/ 524 w 5400"/>
                <a:gd name="GluePoint2Y" fmla="*/ 1980 h 2790"/>
                <a:gd name="GluePoint3X" fmla="*/ 1049 w 5400"/>
                <a:gd name="GluePoint3Y" fmla="*/ 2700 h 2790"/>
                <a:gd name="GluePoint4X" fmla="*/ 1924 w 5400"/>
                <a:gd name="GluePoint4Y" fmla="*/ 1440 h 2790"/>
                <a:gd name="GluePoint5X" fmla="*/ 2974 w 5400"/>
                <a:gd name="GluePoint5Y" fmla="*/ 720 h 2790"/>
                <a:gd name="GluePoint6X" fmla="*/ 3671 w 5400"/>
                <a:gd name="GluePoint6Y" fmla="*/ 360 h 2790"/>
                <a:gd name="GluePoint7X" fmla="*/ 4725 w 5400"/>
                <a:gd name="GluePoint7Y" fmla="*/ 0 h 2790"/>
                <a:gd name="GluePoint8X" fmla="*/ 5773 w 5400"/>
                <a:gd name="GluePoint8Y" fmla="*/ 360 h 2790"/>
                <a:gd name="GluePoint9X" fmla="*/ 6645 w 5400"/>
                <a:gd name="GluePoint9Y" fmla="*/ 360 h 2790"/>
                <a:gd name="GluePoint10X" fmla="*/ 6995 w 5400"/>
                <a:gd name="GluePoint10Y" fmla="*/ 180 h 2790"/>
                <a:gd name="GluePoint11X" fmla="*/ 7521 w 5400"/>
                <a:gd name="GluePoint11Y" fmla="*/ 360 h 2790"/>
                <a:gd name="GluePoint12X" fmla="*/ 7868 w 5400"/>
                <a:gd name="GluePoint12Y" fmla="*/ 360 h 279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5400" h="2790">
                  <a:moveTo>
                    <a:pt x="0" y="360"/>
                  </a:moveTo>
                  <a:cubicBezTo>
                    <a:pt x="120" y="975"/>
                    <a:pt x="240" y="1590"/>
                    <a:pt x="360" y="1980"/>
                  </a:cubicBezTo>
                  <a:cubicBezTo>
                    <a:pt x="480" y="2370"/>
                    <a:pt x="560" y="2790"/>
                    <a:pt x="720" y="2700"/>
                  </a:cubicBezTo>
                  <a:cubicBezTo>
                    <a:pt x="880" y="2610"/>
                    <a:pt x="1100" y="1770"/>
                    <a:pt x="1320" y="1440"/>
                  </a:cubicBezTo>
                  <a:cubicBezTo>
                    <a:pt x="1540" y="1110"/>
                    <a:pt x="1840" y="900"/>
                    <a:pt x="2040" y="720"/>
                  </a:cubicBezTo>
                  <a:cubicBezTo>
                    <a:pt x="2240" y="540"/>
                    <a:pt x="2320" y="480"/>
                    <a:pt x="2520" y="360"/>
                  </a:cubicBezTo>
                  <a:cubicBezTo>
                    <a:pt x="2720" y="240"/>
                    <a:pt x="3000" y="0"/>
                    <a:pt x="3240" y="0"/>
                  </a:cubicBezTo>
                  <a:cubicBezTo>
                    <a:pt x="3480" y="0"/>
                    <a:pt x="3740" y="300"/>
                    <a:pt x="3960" y="360"/>
                  </a:cubicBezTo>
                  <a:cubicBezTo>
                    <a:pt x="4180" y="420"/>
                    <a:pt x="4420" y="390"/>
                    <a:pt x="4560" y="360"/>
                  </a:cubicBezTo>
                  <a:cubicBezTo>
                    <a:pt x="4700" y="330"/>
                    <a:pt x="4700" y="180"/>
                    <a:pt x="4800" y="180"/>
                  </a:cubicBezTo>
                  <a:cubicBezTo>
                    <a:pt x="4900" y="180"/>
                    <a:pt x="5060" y="330"/>
                    <a:pt x="5160" y="360"/>
                  </a:cubicBezTo>
                  <a:cubicBezTo>
                    <a:pt x="5260" y="390"/>
                    <a:pt x="5360" y="360"/>
                    <a:pt x="5400" y="360"/>
                  </a:cubicBezTo>
                </a:path>
              </a:pathLst>
            </a:custGeom>
            <a:noFill/>
            <a:ln w="284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0" name="Text Box 11"/>
            <p:cNvSpPr/>
            <p:nvPr/>
          </p:nvSpPr>
          <p:spPr>
            <a:xfrm>
              <a:off x="587880" y="2023560"/>
              <a:ext cx="1583640" cy="3956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Etat initial</a:t>
              </a:r>
              <a:endParaRPr b="0" lang="en-US" sz="1400" strike="noStrike" u="none">
                <a:solidFill>
                  <a:srgbClr val="ffff00"/>
                </a:solidFill>
                <a:effectLst/>
                <a:uFillTx/>
                <a:latin typeface="Times New Roman"/>
              </a:endParaRPr>
            </a:p>
          </p:txBody>
        </p:sp>
        <p:sp>
          <p:nvSpPr>
            <p:cNvPr id="151" name="Text Box 12"/>
            <p:cNvSpPr/>
            <p:nvPr/>
          </p:nvSpPr>
          <p:spPr>
            <a:xfrm>
              <a:off x="324000" y="5240520"/>
              <a:ext cx="5014800" cy="44640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Exercice                                 Récupération                                 </a:t>
              </a:r>
              <a:endParaRPr b="0" lang="en-US" sz="1400" strike="noStrike" u="none">
                <a:solidFill>
                  <a:srgbClr val="ffff00"/>
                </a:solidFill>
                <a:effectLst/>
                <a:uFillTx/>
                <a:latin typeface="Times New Roman"/>
              </a:endParaRPr>
            </a:p>
          </p:txBody>
        </p:sp>
        <p:sp>
          <p:nvSpPr>
            <p:cNvPr id="152" name="Rectangle 13" descr="20 %"/>
            <p:cNvSpPr/>
            <p:nvPr/>
          </p:nvSpPr>
          <p:spPr>
            <a:xfrm>
              <a:off x="1115640" y="5586840"/>
              <a:ext cx="5410800" cy="198000"/>
            </a:xfrm>
            <a:prstGeom prst="rect">
              <a:avLst/>
            </a:prstGeom>
            <a:blipFill rotWithShape="0">
              <a:blip r:embed="rId2"/>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53" name="Text Box 14"/>
            <p:cNvSpPr/>
            <p:nvPr/>
          </p:nvSpPr>
          <p:spPr>
            <a:xfrm>
              <a:off x="3227400" y="1627200"/>
              <a:ext cx="2111400" cy="39600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Surcompensation</a:t>
              </a:r>
              <a:endParaRPr b="0" lang="en-US" sz="1400" strike="noStrike" u="none">
                <a:solidFill>
                  <a:srgbClr val="ffff00"/>
                </a:solidFill>
                <a:effectLst/>
                <a:uFillTx/>
                <a:latin typeface="Times New Roman"/>
              </a:endParaRPr>
            </a:p>
          </p:txBody>
        </p:sp>
        <p:sp>
          <p:nvSpPr>
            <p:cNvPr id="154" name="Text Box 15"/>
            <p:cNvSpPr/>
            <p:nvPr/>
          </p:nvSpPr>
          <p:spPr>
            <a:xfrm>
              <a:off x="456120" y="2617200"/>
              <a:ext cx="1583640" cy="59364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Epuisement des réserves</a:t>
              </a:r>
              <a:endParaRPr b="0" lang="en-US" sz="1400" strike="noStrike" u="none">
                <a:solidFill>
                  <a:srgbClr val="ffff00"/>
                </a:solidFill>
                <a:effectLst/>
                <a:uFillTx/>
                <a:latin typeface="Times New Roman"/>
              </a:endParaRPr>
            </a:p>
          </p:txBody>
        </p:sp>
        <p:sp>
          <p:nvSpPr>
            <p:cNvPr id="155" name="Text Box 16"/>
            <p:cNvSpPr/>
            <p:nvPr/>
          </p:nvSpPr>
          <p:spPr>
            <a:xfrm>
              <a:off x="1907640" y="3409200"/>
              <a:ext cx="1583640" cy="5936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Reconstitution des réserves</a:t>
              </a:r>
              <a:endParaRPr b="0" lang="en-US" sz="1400" strike="noStrike" u="none">
                <a:solidFill>
                  <a:srgbClr val="ffff00"/>
                </a:solidFill>
                <a:effectLst/>
                <a:uFillTx/>
                <a:latin typeface="Times New Roman"/>
              </a:endParaRPr>
            </a:p>
          </p:txBody>
        </p:sp>
      </p:grpSp>
      <p:sp>
        <p:nvSpPr>
          <p:cNvPr id="156" name="ZoneTexte 1"/>
          <p:cNvSpPr/>
          <p:nvPr/>
        </p:nvSpPr>
        <p:spPr>
          <a:xfrm>
            <a:off x="-1293120" y="101520"/>
            <a:ext cx="117352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Modèle explicatif possible des améliorations liées à l’entraînement</a:t>
            </a:r>
            <a:endParaRPr b="0" lang="en-US" sz="2400" strike="noStrike" u="none">
              <a:solidFill>
                <a:srgbClr val="ffff00"/>
              </a:solidFill>
              <a:effectLst/>
              <a:uFillTx/>
              <a:latin typeface="Times New Roman"/>
            </a:endParaRPr>
          </a:p>
        </p:txBody>
      </p:sp>
      <p:sp>
        <p:nvSpPr>
          <p:cNvPr id="157" name="ZoneTexte 2"/>
          <p:cNvSpPr/>
          <p:nvPr/>
        </p:nvSpPr>
        <p:spPr>
          <a:xfrm>
            <a:off x="-1032840" y="635040"/>
            <a:ext cx="109746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Un seul entraînement par semaine : peu ou pas d’amélioration</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8" name="Group 4"/>
          <p:cNvGrpSpPr/>
          <p:nvPr/>
        </p:nvGrpSpPr>
        <p:grpSpPr>
          <a:xfrm>
            <a:off x="225360" y="2097000"/>
            <a:ext cx="8478720" cy="2987640"/>
            <a:chOff x="225360" y="2097000"/>
            <a:chExt cx="8478720" cy="2987640"/>
          </a:xfrm>
        </p:grpSpPr>
        <p:sp>
          <p:nvSpPr>
            <p:cNvPr id="159" name="AutoShape 5"/>
            <p:cNvSpPr/>
            <p:nvPr/>
          </p:nvSpPr>
          <p:spPr>
            <a:xfrm>
              <a:off x="225360" y="2097000"/>
              <a:ext cx="5587560" cy="298764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60" name="Line 6"/>
            <p:cNvSpPr/>
            <p:nvPr/>
          </p:nvSpPr>
          <p:spPr>
            <a:xfrm>
              <a:off x="315720" y="2108160"/>
              <a:ext cx="0" cy="296460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1" name="Line 7"/>
            <p:cNvSpPr/>
            <p:nvPr/>
          </p:nvSpPr>
          <p:spPr>
            <a:xfrm flipV="1">
              <a:off x="315000" y="5061240"/>
              <a:ext cx="8389080" cy="11160"/>
            </a:xfrm>
            <a:prstGeom prst="line">
              <a:avLst/>
            </a:prstGeom>
            <a:ln w="38160">
              <a:solidFill>
                <a:srgbClr val="ffffff"/>
              </a:solidFill>
              <a:miter/>
            </a:ln>
          </p:spPr>
          <p:style>
            <a:lnRef idx="0"/>
            <a:fillRef idx="0"/>
            <a:effectRef idx="0"/>
            <a:fontRef idx="minor"/>
          </p:style>
          <p:txBody>
            <a:bodyPr lIns="90000" rIns="90000" tIns="-35640" bIns="-35640" anchor="t">
              <a:noAutofit/>
            </a:bodyPr>
            <a:p>
              <a:endParaRPr b="0" lang="en-US" sz="2400" strike="noStrike" u="none">
                <a:solidFill>
                  <a:srgbClr val="ffff00"/>
                </a:solidFill>
                <a:effectLst/>
                <a:uFillTx/>
                <a:latin typeface="Times New Roman"/>
              </a:endParaRPr>
            </a:p>
          </p:txBody>
        </p:sp>
        <p:sp>
          <p:nvSpPr>
            <p:cNvPr id="162" name="Rectangle 8" descr="Rayures étroites horizontales"/>
            <p:cNvSpPr/>
            <p:nvPr/>
          </p:nvSpPr>
          <p:spPr>
            <a:xfrm>
              <a:off x="315000" y="4938120"/>
              <a:ext cx="448920" cy="134640"/>
            </a:xfrm>
            <a:prstGeom prst="rect">
              <a:avLst/>
            </a:prstGeom>
            <a:blipFill rotWithShape="0">
              <a:blip r:embed="rId1"/>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63" name="Line 9"/>
            <p:cNvSpPr/>
            <p:nvPr/>
          </p:nvSpPr>
          <p:spPr>
            <a:xfrm>
              <a:off x="315720" y="2781720"/>
              <a:ext cx="3719520" cy="0"/>
            </a:xfrm>
            <a:prstGeom prst="line">
              <a:avLst/>
            </a:prstGeom>
            <a:ln w="28440">
              <a:solidFill>
                <a:srgbClr val="ffff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4" name="Freeform 10"/>
            <p:cNvSpPr/>
            <p:nvPr/>
          </p:nvSpPr>
          <p:spPr>
            <a:xfrm>
              <a:off x="315000" y="2512440"/>
              <a:ext cx="4132800" cy="2088360"/>
            </a:xfrm>
            <a:custGeom>
              <a:avLst/>
              <a:gdLst>
                <a:gd name="textAreaLeft" fmla="*/ 0 w 4132800"/>
                <a:gd name="textAreaRight" fmla="*/ 4133160 w 4132800"/>
                <a:gd name="textAreaTop" fmla="*/ 0 h 2088360"/>
                <a:gd name="textAreaBottom" fmla="*/ 2088720 h 2088360"/>
                <a:gd name="GluePoint1X" fmla="*/ 0 w 5400"/>
                <a:gd name="GluePoint1Y" fmla="*/ 360 h 2790"/>
                <a:gd name="GluePoint2X" fmla="*/ 524 w 5400"/>
                <a:gd name="GluePoint2Y" fmla="*/ 1980 h 2790"/>
                <a:gd name="GluePoint3X" fmla="*/ 1049 w 5400"/>
                <a:gd name="GluePoint3Y" fmla="*/ 2700 h 2790"/>
                <a:gd name="GluePoint4X" fmla="*/ 1924 w 5400"/>
                <a:gd name="GluePoint4Y" fmla="*/ 1440 h 2790"/>
                <a:gd name="GluePoint5X" fmla="*/ 2974 w 5400"/>
                <a:gd name="GluePoint5Y" fmla="*/ 720 h 2790"/>
                <a:gd name="GluePoint6X" fmla="*/ 3671 w 5400"/>
                <a:gd name="GluePoint6Y" fmla="*/ 360 h 2790"/>
                <a:gd name="GluePoint7X" fmla="*/ 4725 w 5400"/>
                <a:gd name="GluePoint7Y" fmla="*/ 0 h 2790"/>
                <a:gd name="GluePoint8X" fmla="*/ 5773 w 5400"/>
                <a:gd name="GluePoint8Y" fmla="*/ 360 h 2790"/>
                <a:gd name="GluePoint9X" fmla="*/ 6645 w 5400"/>
                <a:gd name="GluePoint9Y" fmla="*/ 360 h 2790"/>
                <a:gd name="GluePoint10X" fmla="*/ 6995 w 5400"/>
                <a:gd name="GluePoint10Y" fmla="*/ 180 h 2790"/>
                <a:gd name="GluePoint11X" fmla="*/ 7521 w 5400"/>
                <a:gd name="GluePoint11Y" fmla="*/ 360 h 2790"/>
                <a:gd name="GluePoint12X" fmla="*/ 7868 w 5400"/>
                <a:gd name="GluePoint12Y" fmla="*/ 360 h 279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5400" h="2790">
                  <a:moveTo>
                    <a:pt x="0" y="360"/>
                  </a:moveTo>
                  <a:cubicBezTo>
                    <a:pt x="120" y="975"/>
                    <a:pt x="240" y="1590"/>
                    <a:pt x="360" y="1980"/>
                  </a:cubicBezTo>
                  <a:cubicBezTo>
                    <a:pt x="480" y="2370"/>
                    <a:pt x="560" y="2790"/>
                    <a:pt x="720" y="2700"/>
                  </a:cubicBezTo>
                  <a:cubicBezTo>
                    <a:pt x="880" y="2610"/>
                    <a:pt x="1100" y="1770"/>
                    <a:pt x="1320" y="1440"/>
                  </a:cubicBezTo>
                  <a:cubicBezTo>
                    <a:pt x="1540" y="1110"/>
                    <a:pt x="1840" y="900"/>
                    <a:pt x="2040" y="720"/>
                  </a:cubicBezTo>
                  <a:cubicBezTo>
                    <a:pt x="2240" y="540"/>
                    <a:pt x="2320" y="480"/>
                    <a:pt x="2520" y="360"/>
                  </a:cubicBezTo>
                  <a:cubicBezTo>
                    <a:pt x="2720" y="240"/>
                    <a:pt x="3000" y="0"/>
                    <a:pt x="3240" y="0"/>
                  </a:cubicBezTo>
                  <a:cubicBezTo>
                    <a:pt x="3480" y="0"/>
                    <a:pt x="3740" y="300"/>
                    <a:pt x="3960" y="360"/>
                  </a:cubicBezTo>
                  <a:cubicBezTo>
                    <a:pt x="4180" y="420"/>
                    <a:pt x="4420" y="390"/>
                    <a:pt x="4560" y="360"/>
                  </a:cubicBezTo>
                  <a:cubicBezTo>
                    <a:pt x="4700" y="330"/>
                    <a:pt x="4700" y="180"/>
                    <a:pt x="4800" y="180"/>
                  </a:cubicBezTo>
                  <a:cubicBezTo>
                    <a:pt x="4900" y="180"/>
                    <a:pt x="5060" y="330"/>
                    <a:pt x="5160" y="360"/>
                  </a:cubicBezTo>
                  <a:cubicBezTo>
                    <a:pt x="5260" y="390"/>
                    <a:pt x="5360" y="360"/>
                    <a:pt x="5400" y="360"/>
                  </a:cubicBezTo>
                </a:path>
              </a:pathLst>
            </a:custGeom>
            <a:noFill/>
            <a:ln w="284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5" name="Text Box 11"/>
            <p:cNvSpPr/>
            <p:nvPr/>
          </p:nvSpPr>
          <p:spPr>
            <a:xfrm>
              <a:off x="405000" y="2512440"/>
              <a:ext cx="1077840" cy="269280"/>
            </a:xfrm>
            <a:prstGeom prst="rect">
              <a:avLst/>
            </a:prstGeom>
            <a:noFill/>
            <a:ln w="0">
              <a:noFill/>
            </a:ln>
          </p:spPr>
          <p:style>
            <a:lnRef idx="0"/>
            <a:fillRef idx="0"/>
            <a:effectRef idx="0"/>
            <a:fontRef idx="minor"/>
          </p:style>
          <p:txBody>
            <a:bodyPr lIns="90000" rIns="90000" tIns="46800" bIns="46800" anchor="t">
              <a:normAutofit fontScale="775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Etat initial</a:t>
              </a:r>
              <a:endParaRPr b="0" lang="en-US" sz="1400" strike="noStrike" u="none">
                <a:solidFill>
                  <a:srgbClr val="ffff00"/>
                </a:solidFill>
                <a:effectLst/>
                <a:uFillTx/>
                <a:latin typeface="Times New Roman"/>
              </a:endParaRPr>
            </a:p>
          </p:txBody>
        </p:sp>
        <p:sp>
          <p:nvSpPr>
            <p:cNvPr id="166" name="Text Box 12"/>
            <p:cNvSpPr/>
            <p:nvPr/>
          </p:nvSpPr>
          <p:spPr>
            <a:xfrm>
              <a:off x="225360" y="4702320"/>
              <a:ext cx="4850640" cy="3038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Exercice                                 Récupération                                 </a:t>
              </a:r>
              <a:endParaRPr b="0" lang="en-US" sz="1400" strike="noStrike" u="none">
                <a:solidFill>
                  <a:srgbClr val="ffff00"/>
                </a:solidFill>
                <a:effectLst/>
                <a:uFillTx/>
                <a:latin typeface="Times New Roman"/>
              </a:endParaRPr>
            </a:p>
          </p:txBody>
        </p:sp>
        <p:sp>
          <p:nvSpPr>
            <p:cNvPr id="167" name="Rectangle 13" descr="20 %"/>
            <p:cNvSpPr/>
            <p:nvPr/>
          </p:nvSpPr>
          <p:spPr>
            <a:xfrm>
              <a:off x="764280" y="4938120"/>
              <a:ext cx="3231360" cy="123480"/>
            </a:xfrm>
            <a:prstGeom prst="rect">
              <a:avLst/>
            </a:prstGeom>
            <a:blipFill rotWithShape="0">
              <a:blip r:embed="rId2"/>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68" name="Text Box 14"/>
            <p:cNvSpPr/>
            <p:nvPr/>
          </p:nvSpPr>
          <p:spPr>
            <a:xfrm>
              <a:off x="2201400" y="2242800"/>
              <a:ext cx="1722240" cy="269280"/>
            </a:xfrm>
            <a:prstGeom prst="rect">
              <a:avLst/>
            </a:prstGeom>
            <a:noFill/>
            <a:ln w="0">
              <a:noFill/>
            </a:ln>
          </p:spPr>
          <p:style>
            <a:lnRef idx="0"/>
            <a:fillRef idx="0"/>
            <a:effectRef idx="0"/>
            <a:fontRef idx="minor"/>
          </p:style>
          <p:txBody>
            <a:bodyPr lIns="90000" rIns="90000" tIns="46800" bIns="46800" anchor="t">
              <a:normAutofit fontScale="775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Surcompensation</a:t>
              </a:r>
              <a:endParaRPr b="0" lang="en-US" sz="1400" strike="noStrike" u="none">
                <a:solidFill>
                  <a:srgbClr val="ffff00"/>
                </a:solidFill>
                <a:effectLst/>
                <a:uFillTx/>
                <a:latin typeface="Times New Roman"/>
              </a:endParaRPr>
            </a:p>
          </p:txBody>
        </p:sp>
        <p:sp>
          <p:nvSpPr>
            <p:cNvPr id="169" name="Text Box 15"/>
            <p:cNvSpPr/>
            <p:nvPr/>
          </p:nvSpPr>
          <p:spPr>
            <a:xfrm>
              <a:off x="315000" y="2916720"/>
              <a:ext cx="1376280" cy="403920"/>
            </a:xfrm>
            <a:prstGeom prst="rect">
              <a:avLst/>
            </a:prstGeom>
            <a:noFill/>
            <a:ln w="0">
              <a:noFill/>
            </a:ln>
          </p:spPr>
          <p:style>
            <a:lnRef idx="0"/>
            <a:fillRef idx="0"/>
            <a:effectRef idx="0"/>
            <a:fontRef idx="minor"/>
          </p:style>
          <p:txBody>
            <a:bodyPr lIns="90000" rIns="90000" tIns="46800" bIns="46800" anchor="t">
              <a:normAutofit fontScale="70000" lnSpcReduction="1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Epuisement des réserves</a:t>
              </a:r>
              <a:endParaRPr b="0" lang="en-US" sz="1400" strike="noStrike" u="none">
                <a:solidFill>
                  <a:srgbClr val="ffff00"/>
                </a:solidFill>
                <a:effectLst/>
                <a:uFillTx/>
                <a:latin typeface="Times New Roman"/>
              </a:endParaRPr>
            </a:p>
          </p:txBody>
        </p:sp>
        <p:sp>
          <p:nvSpPr>
            <p:cNvPr id="170" name="Text Box 16"/>
            <p:cNvSpPr/>
            <p:nvPr/>
          </p:nvSpPr>
          <p:spPr>
            <a:xfrm>
              <a:off x="1303200" y="3455640"/>
              <a:ext cx="1347480" cy="403920"/>
            </a:xfrm>
            <a:prstGeom prst="rect">
              <a:avLst/>
            </a:prstGeom>
            <a:noFill/>
            <a:ln w="0">
              <a:noFill/>
            </a:ln>
          </p:spPr>
          <p:style>
            <a:lnRef idx="0"/>
            <a:fillRef idx="0"/>
            <a:effectRef idx="0"/>
            <a:fontRef idx="minor"/>
          </p:style>
          <p:txBody>
            <a:bodyPr lIns="90000" rIns="90000" tIns="46800" bIns="46800" anchor="t">
              <a:normAutofit fontScale="700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Reconstitution des réserves</a:t>
              </a:r>
              <a:endParaRPr b="0" lang="en-US" sz="1400" strike="noStrike" u="none">
                <a:solidFill>
                  <a:srgbClr val="ffff00"/>
                </a:solidFill>
                <a:effectLst/>
                <a:uFillTx/>
                <a:latin typeface="Times New Roman"/>
              </a:endParaRPr>
            </a:p>
          </p:txBody>
        </p:sp>
      </p:grpSp>
      <p:sp>
        <p:nvSpPr>
          <p:cNvPr id="171" name="Freeform 10"/>
          <p:cNvSpPr/>
          <p:nvPr/>
        </p:nvSpPr>
        <p:spPr>
          <a:xfrm>
            <a:off x="3995640" y="2397240"/>
            <a:ext cx="4133880" cy="2089080"/>
          </a:xfrm>
          <a:custGeom>
            <a:avLst/>
            <a:gdLst>
              <a:gd name="textAreaLeft" fmla="*/ 0 w 4133880"/>
              <a:gd name="textAreaRight" fmla="*/ 4133880 w 4133880"/>
              <a:gd name="textAreaTop" fmla="*/ 0 h 2089080"/>
              <a:gd name="textAreaBottom" fmla="*/ 2089440 h 2089080"/>
              <a:gd name="GluePoint1X" fmla="*/ 0 w 5400"/>
              <a:gd name="GluePoint1Y" fmla="*/ 2147483646 h 2790"/>
              <a:gd name="GluePoint2X" fmla="*/ 2147483646 w 5400"/>
              <a:gd name="GluePoint2Y" fmla="*/ 2147483646 h 2790"/>
              <a:gd name="GluePoint3X" fmla="*/ 2147483646 w 5400"/>
              <a:gd name="GluePoint3Y" fmla="*/ 2147483646 h 2790"/>
              <a:gd name="GluePoint4X" fmla="*/ 2147483646 w 5400"/>
              <a:gd name="GluePoint4Y" fmla="*/ 2147483646 h 2790"/>
              <a:gd name="GluePoint5X" fmla="*/ 2147483646 w 5400"/>
              <a:gd name="GluePoint5Y" fmla="*/ 2147483646 h 2790"/>
              <a:gd name="GluePoint6X" fmla="*/ 2147483646 w 5400"/>
              <a:gd name="GluePoint6Y" fmla="*/ 2147483646 h 2790"/>
              <a:gd name="GluePoint7X" fmla="*/ 2147483646 w 5400"/>
              <a:gd name="GluePoint7Y" fmla="*/ 0 h 2790"/>
              <a:gd name="GluePoint8X" fmla="*/ 2147483646 w 5400"/>
              <a:gd name="GluePoint8Y" fmla="*/ 2147483646 h 2790"/>
              <a:gd name="GluePoint9X" fmla="*/ 2147483646 w 5400"/>
              <a:gd name="GluePoint9Y" fmla="*/ 2147483646 h 2790"/>
              <a:gd name="GluePoint10X" fmla="*/ 2147483646 w 5400"/>
              <a:gd name="GluePoint10Y" fmla="*/ 2147483646 h 2790"/>
              <a:gd name="GluePoint11X" fmla="*/ 2147483646 w 5400"/>
              <a:gd name="GluePoint11Y" fmla="*/ 2147483646 h 2790"/>
              <a:gd name="GluePoint12X" fmla="*/ 2147483646 w 5400"/>
              <a:gd name="GluePoint12Y" fmla="*/ 2147483646 h 279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5400" h="2790">
                <a:moveTo>
                  <a:pt x="0" y="360"/>
                </a:moveTo>
                <a:cubicBezTo>
                  <a:pt x="120" y="975"/>
                  <a:pt x="240" y="1590"/>
                  <a:pt x="360" y="1980"/>
                </a:cubicBezTo>
                <a:cubicBezTo>
                  <a:pt x="480" y="2370"/>
                  <a:pt x="560" y="2790"/>
                  <a:pt x="720" y="2700"/>
                </a:cubicBezTo>
                <a:cubicBezTo>
                  <a:pt x="880" y="2610"/>
                  <a:pt x="1100" y="1770"/>
                  <a:pt x="1320" y="1440"/>
                </a:cubicBezTo>
                <a:cubicBezTo>
                  <a:pt x="1540" y="1110"/>
                  <a:pt x="1840" y="900"/>
                  <a:pt x="2040" y="720"/>
                </a:cubicBezTo>
                <a:cubicBezTo>
                  <a:pt x="2240" y="540"/>
                  <a:pt x="2320" y="480"/>
                  <a:pt x="2520" y="360"/>
                </a:cubicBezTo>
                <a:cubicBezTo>
                  <a:pt x="2720" y="240"/>
                  <a:pt x="3000" y="0"/>
                  <a:pt x="3240" y="0"/>
                </a:cubicBezTo>
                <a:cubicBezTo>
                  <a:pt x="3480" y="0"/>
                  <a:pt x="3740" y="300"/>
                  <a:pt x="3960" y="360"/>
                </a:cubicBezTo>
                <a:cubicBezTo>
                  <a:pt x="4180" y="420"/>
                  <a:pt x="4420" y="390"/>
                  <a:pt x="4560" y="360"/>
                </a:cubicBezTo>
                <a:cubicBezTo>
                  <a:pt x="4700" y="330"/>
                  <a:pt x="4700" y="180"/>
                  <a:pt x="4800" y="180"/>
                </a:cubicBezTo>
                <a:cubicBezTo>
                  <a:pt x="4900" y="180"/>
                  <a:pt x="5060" y="330"/>
                  <a:pt x="5160" y="360"/>
                </a:cubicBezTo>
                <a:cubicBezTo>
                  <a:pt x="5260" y="390"/>
                  <a:pt x="5360" y="360"/>
                  <a:pt x="5400" y="360"/>
                </a:cubicBezTo>
              </a:path>
            </a:pathLst>
          </a:custGeom>
          <a:noFill/>
          <a:ln w="284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72" name="Line 6"/>
          <p:cNvSpPr/>
          <p:nvPr/>
        </p:nvSpPr>
        <p:spPr>
          <a:xfrm>
            <a:off x="3995640" y="2097000"/>
            <a:ext cx="0" cy="296568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73" name="Rectangle 13" descr="20 %"/>
          <p:cNvSpPr/>
          <p:nvPr/>
        </p:nvSpPr>
        <p:spPr>
          <a:xfrm>
            <a:off x="4416480" y="4927680"/>
            <a:ext cx="3684600" cy="135000"/>
          </a:xfrm>
          <a:prstGeom prst="rect">
            <a:avLst/>
          </a:prstGeom>
          <a:blipFill rotWithShape="0">
            <a:blip r:embed="rId3"/>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4" name="Rectangle 8" descr="Rayures étroites horizontales"/>
          <p:cNvSpPr/>
          <p:nvPr/>
        </p:nvSpPr>
        <p:spPr>
          <a:xfrm>
            <a:off x="4067280" y="4932360"/>
            <a:ext cx="449280" cy="133200"/>
          </a:xfrm>
          <a:prstGeom prst="rect">
            <a:avLst/>
          </a:prstGeom>
          <a:blipFill rotWithShape="0">
            <a:blip r:embed="rId4"/>
            <a:srcRect/>
            <a:tile tx="0" ty="0" sx="100000" sy="100000" algn="ctr"/>
          </a:blipFill>
          <a:ln w="2844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5" name="Text Box 14"/>
          <p:cNvSpPr/>
          <p:nvPr/>
        </p:nvSpPr>
        <p:spPr>
          <a:xfrm>
            <a:off x="6810480" y="2127240"/>
            <a:ext cx="2154240" cy="250920"/>
          </a:xfrm>
          <a:prstGeom prst="rect">
            <a:avLst/>
          </a:prstGeom>
          <a:noFill/>
          <a:ln w="0">
            <a:noFill/>
          </a:ln>
        </p:spPr>
        <p:style>
          <a:lnRef idx="0"/>
          <a:fillRef idx="0"/>
          <a:effectRef idx="0"/>
          <a:fontRef idx="minor"/>
        </p:style>
        <p:txBody>
          <a:bodyPr lIns="90000" rIns="90000" tIns="46800" bIns="46800" anchor="t">
            <a:normAutofit fontScale="700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Faible Surcompensation</a:t>
            </a:r>
            <a:endParaRPr b="0" lang="en-US" sz="1400" strike="noStrike" u="none">
              <a:solidFill>
                <a:srgbClr val="ffff00"/>
              </a:solidFill>
              <a:effectLst/>
              <a:uFillTx/>
              <a:latin typeface="Times New Roman"/>
            </a:endParaRPr>
          </a:p>
        </p:txBody>
      </p:sp>
      <p:sp>
        <p:nvSpPr>
          <p:cNvPr id="176" name="Text Box 12"/>
          <p:cNvSpPr/>
          <p:nvPr/>
        </p:nvSpPr>
        <p:spPr>
          <a:xfrm>
            <a:off x="3968640" y="4684680"/>
            <a:ext cx="4851360" cy="30492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Exercice                                 Récupération                                 </a:t>
            </a:r>
            <a:endParaRPr b="0" lang="en-US" sz="1400" strike="noStrike" u="none">
              <a:solidFill>
                <a:srgbClr val="ffff00"/>
              </a:solidFill>
              <a:effectLst/>
              <a:uFillTx/>
              <a:latin typeface="Times New Roman"/>
            </a:endParaRPr>
          </a:p>
        </p:txBody>
      </p:sp>
      <p:sp>
        <p:nvSpPr>
          <p:cNvPr id="177" name="ZoneTexte 1"/>
          <p:cNvSpPr/>
          <p:nvPr/>
        </p:nvSpPr>
        <p:spPr>
          <a:xfrm>
            <a:off x="-725040" y="260280"/>
            <a:ext cx="104896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Deux entraînements par semaine =  faibles améliorations</a:t>
            </a:r>
            <a:endParaRPr b="0" lang="en-US" sz="2800" strike="noStrike" u="none">
              <a:solidFill>
                <a:srgbClr val="ffff00"/>
              </a:solidFill>
              <a:effectLst/>
              <a:uFillTx/>
              <a:latin typeface="Times New Roman"/>
            </a:endParaRPr>
          </a:p>
        </p:txBody>
      </p:sp>
      <p:sp>
        <p:nvSpPr>
          <p:cNvPr id="178" name="ZoneTexte 2"/>
          <p:cNvSpPr/>
          <p:nvPr/>
        </p:nvSpPr>
        <p:spPr>
          <a:xfrm>
            <a:off x="-72720" y="1665360"/>
            <a:ext cx="10677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mardi</a:t>
            </a:r>
            <a:endParaRPr b="0" lang="en-US" sz="2400" strike="noStrike" u="none">
              <a:solidFill>
                <a:srgbClr val="ffff00"/>
              </a:solidFill>
              <a:effectLst/>
              <a:uFillTx/>
              <a:latin typeface="Times New Roman"/>
            </a:endParaRPr>
          </a:p>
        </p:txBody>
      </p:sp>
      <p:sp>
        <p:nvSpPr>
          <p:cNvPr id="179" name="ZoneTexte 22"/>
          <p:cNvSpPr/>
          <p:nvPr/>
        </p:nvSpPr>
        <p:spPr>
          <a:xfrm>
            <a:off x="3573360" y="1635120"/>
            <a:ext cx="92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jeudi</a:t>
            </a:r>
            <a:endParaRPr b="0" lang="en-US" sz="2400" strike="noStrike" u="none">
              <a:solidFill>
                <a:srgbClr val="ffff00"/>
              </a:solidFill>
              <a:effectLst/>
              <a:uFillTx/>
              <a:latin typeface="Times New Roman"/>
            </a:endParaRPr>
          </a:p>
        </p:txBody>
      </p:sp>
      <p:sp>
        <p:nvSpPr>
          <p:cNvPr id="180" name="Line 9"/>
          <p:cNvSpPr/>
          <p:nvPr/>
        </p:nvSpPr>
        <p:spPr>
          <a:xfrm>
            <a:off x="4035600" y="2647800"/>
            <a:ext cx="4093920" cy="0"/>
          </a:xfrm>
          <a:prstGeom prst="line">
            <a:avLst/>
          </a:prstGeom>
          <a:ln w="28440">
            <a:solidFill>
              <a:srgbClr val="ffff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1" name="Group 20"/>
          <p:cNvGrpSpPr/>
          <p:nvPr/>
        </p:nvGrpSpPr>
        <p:grpSpPr>
          <a:xfrm>
            <a:off x="76320" y="1766880"/>
            <a:ext cx="8888400" cy="4398840"/>
            <a:chOff x="76320" y="1766880"/>
            <a:chExt cx="8888400" cy="4398840"/>
          </a:xfrm>
        </p:grpSpPr>
        <p:sp>
          <p:nvSpPr>
            <p:cNvPr id="182" name="AutoShape 21"/>
            <p:cNvSpPr/>
            <p:nvPr/>
          </p:nvSpPr>
          <p:spPr>
            <a:xfrm>
              <a:off x="76320" y="1766880"/>
              <a:ext cx="8888400" cy="439884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83" name="Line 22"/>
            <p:cNvSpPr/>
            <p:nvPr/>
          </p:nvSpPr>
          <p:spPr>
            <a:xfrm>
              <a:off x="209520" y="1783080"/>
              <a:ext cx="0" cy="436572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4" name="Line 23"/>
            <p:cNvSpPr/>
            <p:nvPr/>
          </p:nvSpPr>
          <p:spPr>
            <a:xfrm>
              <a:off x="209520" y="6149160"/>
              <a:ext cx="806904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5" name="Rectangle 24" descr="Rayures étroites horizontales"/>
            <p:cNvSpPr/>
            <p:nvPr/>
          </p:nvSpPr>
          <p:spPr>
            <a:xfrm>
              <a:off x="208800" y="5950800"/>
              <a:ext cx="660960" cy="198360"/>
            </a:xfrm>
            <a:prstGeom prst="rect">
              <a:avLst/>
            </a:prstGeom>
            <a:blipFill rotWithShape="0">
              <a:blip r:embed="rId1"/>
              <a:srcRect/>
              <a:tile tx="0" ty="0" sx="100000" sy="100000" algn="ctr"/>
            </a:blipFill>
            <a:ln w="936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86" name="Line 25"/>
            <p:cNvSpPr/>
            <p:nvPr/>
          </p:nvSpPr>
          <p:spPr>
            <a:xfrm>
              <a:off x="209520" y="2775600"/>
              <a:ext cx="8729640" cy="1080"/>
            </a:xfrm>
            <a:prstGeom prst="line">
              <a:avLst/>
            </a:prstGeom>
            <a:ln w="28440">
              <a:solidFill>
                <a:srgbClr val="ffff00"/>
              </a:solidFill>
              <a:prstDash val="sysDot"/>
              <a:miter/>
            </a:ln>
          </p:spPr>
          <p:style>
            <a:lnRef idx="0"/>
            <a:fillRef idx="0"/>
            <a:effectRef idx="0"/>
            <a:fontRef idx="minor"/>
          </p:style>
          <p:txBody>
            <a:bodyPr lIns="90000" rIns="90000" tIns="-45720" bIns="-45720" anchor="t">
              <a:noAutofit/>
            </a:bodyPr>
            <a:p>
              <a:endParaRPr b="0" lang="en-US" sz="2400" strike="noStrike" u="none">
                <a:solidFill>
                  <a:srgbClr val="ffff00"/>
                </a:solidFill>
                <a:effectLst/>
                <a:uFillTx/>
                <a:latin typeface="Times New Roman"/>
              </a:endParaRPr>
            </a:p>
          </p:txBody>
        </p:sp>
        <p:sp>
          <p:nvSpPr>
            <p:cNvPr id="187" name="Text Box 26"/>
            <p:cNvSpPr/>
            <p:nvPr/>
          </p:nvSpPr>
          <p:spPr>
            <a:xfrm>
              <a:off x="340920" y="2378880"/>
              <a:ext cx="1587240" cy="3967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Etat initial</a:t>
              </a:r>
              <a:endParaRPr b="0" lang="en-US" sz="1400" strike="noStrike" u="none">
                <a:solidFill>
                  <a:srgbClr val="ffff00"/>
                </a:solidFill>
                <a:effectLst/>
                <a:uFillTx/>
                <a:latin typeface="Times New Roman"/>
              </a:endParaRPr>
            </a:p>
          </p:txBody>
        </p:sp>
        <p:sp>
          <p:nvSpPr>
            <p:cNvPr id="188" name="Text Box 27"/>
            <p:cNvSpPr/>
            <p:nvPr/>
          </p:nvSpPr>
          <p:spPr>
            <a:xfrm>
              <a:off x="76320" y="5603400"/>
              <a:ext cx="6349320" cy="447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Séance 1                                          Séance 2                                  Séance 3</a:t>
              </a:r>
              <a:endParaRPr b="0" lang="en-US" sz="1400" strike="noStrike" u="none">
                <a:solidFill>
                  <a:srgbClr val="ffff00"/>
                </a:solidFill>
                <a:effectLst/>
                <a:uFillTx/>
                <a:latin typeface="Times New Roman"/>
              </a:endParaRPr>
            </a:p>
          </p:txBody>
        </p:sp>
        <p:sp>
          <p:nvSpPr>
            <p:cNvPr id="189" name="Text Box 28"/>
            <p:cNvSpPr/>
            <p:nvPr/>
          </p:nvSpPr>
          <p:spPr>
            <a:xfrm>
              <a:off x="2986560" y="1981800"/>
              <a:ext cx="2116440" cy="3967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Surcompensation</a:t>
              </a:r>
              <a:endParaRPr b="0" lang="en-US" sz="1400" strike="noStrike" u="none">
                <a:solidFill>
                  <a:srgbClr val="ffff00"/>
                </a:solidFill>
                <a:effectLst/>
                <a:uFillTx/>
                <a:latin typeface="Times New Roman"/>
              </a:endParaRPr>
            </a:p>
          </p:txBody>
        </p:sp>
        <p:sp>
          <p:nvSpPr>
            <p:cNvPr id="190" name="Rectangle 29" descr="Rayures étroites horizontales"/>
            <p:cNvSpPr/>
            <p:nvPr/>
          </p:nvSpPr>
          <p:spPr>
            <a:xfrm>
              <a:off x="3118680" y="5950800"/>
              <a:ext cx="661320" cy="198360"/>
            </a:xfrm>
            <a:prstGeom prst="rect">
              <a:avLst/>
            </a:prstGeom>
            <a:blipFill rotWithShape="0">
              <a:blip r:embed="rId2"/>
              <a:srcRect/>
              <a:tile tx="0" ty="0" sx="100000" sy="100000" algn="ctr"/>
            </a:blipFill>
            <a:ln w="936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91" name="Rectangle 30" descr="Rayures étroites horizontales"/>
            <p:cNvSpPr/>
            <p:nvPr/>
          </p:nvSpPr>
          <p:spPr>
            <a:xfrm>
              <a:off x="5499720" y="5950800"/>
              <a:ext cx="661320" cy="198360"/>
            </a:xfrm>
            <a:prstGeom prst="rect">
              <a:avLst/>
            </a:prstGeom>
            <a:blipFill rotWithShape="0">
              <a:blip r:embed="rId3"/>
              <a:srcRect/>
              <a:tile tx="0" ty="0" sx="100000" sy="100000" algn="ctr"/>
            </a:blipFill>
            <a:ln w="9360">
              <a:solidFill>
                <a:srgbClr val="000000"/>
              </a:solidFill>
              <a:miter/>
            </a:ln>
          </p:spPr>
          <p:style>
            <a:lnRef idx="0"/>
            <a:fillRef idx="0"/>
            <a:effectRef idx="0"/>
            <a:fontRef idx="minor"/>
          </p:style>
          <p:txBody>
            <a:bodyPr lIns="90000" rIns="90000" tIns="46800" bIns="46800" anchor="t">
              <a:normAutofit fontScale="25000" lnSpcReduction="1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92" name="Freeform 31"/>
            <p:cNvSpPr/>
            <p:nvPr/>
          </p:nvSpPr>
          <p:spPr>
            <a:xfrm>
              <a:off x="208800" y="2576880"/>
              <a:ext cx="3306960" cy="2579760"/>
            </a:xfrm>
            <a:custGeom>
              <a:avLst/>
              <a:gdLst>
                <a:gd name="textAreaLeft" fmla="*/ 0 w 3306960"/>
                <a:gd name="textAreaRight" fmla="*/ 3307320 w 3306960"/>
                <a:gd name="textAreaTop" fmla="*/ 0 h 2579760"/>
                <a:gd name="textAreaBottom" fmla="*/ 2580120 h 2579760"/>
                <a:gd name="GluePoint1X" fmla="*/ 0 w 3240"/>
                <a:gd name="GluePoint1Y" fmla="*/ 240 h 2340"/>
                <a:gd name="GluePoint2X" fmla="*/ 163 w 3240"/>
                <a:gd name="GluePoint2Y" fmla="*/ 2220 h 2340"/>
                <a:gd name="GluePoint3X" fmla="*/ 422 w 3240"/>
                <a:gd name="GluePoint3Y" fmla="*/ 960 h 2340"/>
                <a:gd name="GluePoint4X" fmla="*/ 551 w 3240"/>
                <a:gd name="GluePoint4Y" fmla="*/ 420 h 2340"/>
                <a:gd name="GluePoint5X" fmla="*/ 681 w 3240"/>
                <a:gd name="GluePoint5Y" fmla="*/ 60 h 2340"/>
                <a:gd name="GluePoint6X" fmla="*/ 811 w 3240"/>
                <a:gd name="GluePoint6Y" fmla="*/ 60 h 2340"/>
                <a:gd name="GluePoint7X" fmla="*/ 876 w 3240"/>
                <a:gd name="GluePoint7Y" fmla="*/ 240 h 23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3240" h="2340">
                  <a:moveTo>
                    <a:pt x="0" y="240"/>
                  </a:moveTo>
                  <a:cubicBezTo>
                    <a:pt x="170" y="1170"/>
                    <a:pt x="340" y="2100"/>
                    <a:pt x="600" y="2220"/>
                  </a:cubicBezTo>
                  <a:cubicBezTo>
                    <a:pt x="860" y="2340"/>
                    <a:pt x="1320" y="1260"/>
                    <a:pt x="1560" y="960"/>
                  </a:cubicBezTo>
                  <a:cubicBezTo>
                    <a:pt x="1800" y="660"/>
                    <a:pt x="1880" y="570"/>
                    <a:pt x="2040" y="420"/>
                  </a:cubicBezTo>
                  <a:cubicBezTo>
                    <a:pt x="2200" y="270"/>
                    <a:pt x="2360" y="120"/>
                    <a:pt x="2520" y="60"/>
                  </a:cubicBezTo>
                  <a:cubicBezTo>
                    <a:pt x="2680" y="0"/>
                    <a:pt x="2880" y="30"/>
                    <a:pt x="3000" y="60"/>
                  </a:cubicBezTo>
                  <a:cubicBezTo>
                    <a:pt x="3120" y="90"/>
                    <a:pt x="3200" y="210"/>
                    <a:pt x="3240" y="240"/>
                  </a:cubicBezTo>
                </a:path>
              </a:pathLst>
            </a:custGeom>
            <a:noFill/>
            <a:ln w="1908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3" name="Freeform 32"/>
            <p:cNvSpPr/>
            <p:nvPr/>
          </p:nvSpPr>
          <p:spPr>
            <a:xfrm>
              <a:off x="2986560" y="2312640"/>
              <a:ext cx="3571560" cy="2447280"/>
            </a:xfrm>
            <a:custGeom>
              <a:avLst/>
              <a:gdLst>
                <a:gd name="textAreaLeft" fmla="*/ 0 w 3571560"/>
                <a:gd name="textAreaRight" fmla="*/ 3571920 w 3571560"/>
                <a:gd name="textAreaTop" fmla="*/ 0 h 2447280"/>
                <a:gd name="textAreaBottom" fmla="*/ 2447640 h 2447280"/>
                <a:gd name="GluePoint1X" fmla="*/ 0 w 3360"/>
                <a:gd name="GluePoint1Y" fmla="*/ 785 h 2070"/>
                <a:gd name="GluePoint2X" fmla="*/ 129 w 3360"/>
                <a:gd name="GluePoint2Y" fmla="*/ 4342 h 2070"/>
                <a:gd name="GluePoint3X" fmla="*/ 259 w 3360"/>
                <a:gd name="GluePoint3Y" fmla="*/ 6703 h 2070"/>
                <a:gd name="GluePoint4X" fmla="*/ 646 w 3360"/>
                <a:gd name="GluePoint4Y" fmla="*/ 3745 h 2070"/>
                <a:gd name="GluePoint5X" fmla="*/ 841 w 3360"/>
                <a:gd name="GluePoint5Y" fmla="*/ 1973 h 2070"/>
                <a:gd name="GluePoint6X" fmla="*/ 1163 w 3360"/>
                <a:gd name="GluePoint6Y" fmla="*/ 197 h 2070"/>
                <a:gd name="GluePoint7X" fmla="*/ 1552 w 3360"/>
                <a:gd name="GluePoint7Y" fmla="*/ 785 h 2070"/>
                <a:gd name="GluePoint8X" fmla="*/ 1810 w 3360"/>
                <a:gd name="GluePoint8Y" fmla="*/ 1379 h 20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3360" h="2070">
                  <a:moveTo>
                    <a:pt x="0" y="240"/>
                  </a:moveTo>
                  <a:cubicBezTo>
                    <a:pt x="80" y="630"/>
                    <a:pt x="160" y="1020"/>
                    <a:pt x="240" y="1320"/>
                  </a:cubicBezTo>
                  <a:cubicBezTo>
                    <a:pt x="320" y="1620"/>
                    <a:pt x="320" y="2070"/>
                    <a:pt x="480" y="2040"/>
                  </a:cubicBezTo>
                  <a:cubicBezTo>
                    <a:pt x="640" y="2010"/>
                    <a:pt x="1020" y="1380"/>
                    <a:pt x="1200" y="1140"/>
                  </a:cubicBezTo>
                  <a:cubicBezTo>
                    <a:pt x="1380" y="900"/>
                    <a:pt x="1400" y="780"/>
                    <a:pt x="1560" y="600"/>
                  </a:cubicBezTo>
                  <a:cubicBezTo>
                    <a:pt x="1720" y="420"/>
                    <a:pt x="1940" y="120"/>
                    <a:pt x="2160" y="60"/>
                  </a:cubicBezTo>
                  <a:cubicBezTo>
                    <a:pt x="2380" y="0"/>
                    <a:pt x="2680" y="180"/>
                    <a:pt x="2880" y="240"/>
                  </a:cubicBezTo>
                  <a:cubicBezTo>
                    <a:pt x="3080" y="300"/>
                    <a:pt x="3280" y="390"/>
                    <a:pt x="3360" y="420"/>
                  </a:cubicBezTo>
                </a:path>
              </a:pathLst>
            </a:custGeom>
            <a:noFill/>
            <a:ln w="1908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4" name="Line 33"/>
            <p:cNvSpPr/>
            <p:nvPr/>
          </p:nvSpPr>
          <p:spPr>
            <a:xfrm flipV="1">
              <a:off x="605520" y="4561200"/>
              <a:ext cx="5820120" cy="59508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5" name="Line 34"/>
            <p:cNvSpPr/>
            <p:nvPr/>
          </p:nvSpPr>
          <p:spPr>
            <a:xfrm flipV="1">
              <a:off x="2324880" y="2180160"/>
              <a:ext cx="5555880" cy="3967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6" name="Freeform 35"/>
            <p:cNvSpPr/>
            <p:nvPr/>
          </p:nvSpPr>
          <p:spPr>
            <a:xfrm>
              <a:off x="5367600" y="2180160"/>
              <a:ext cx="3571560" cy="2579760"/>
            </a:xfrm>
            <a:custGeom>
              <a:avLst/>
              <a:gdLst>
                <a:gd name="textAreaLeft" fmla="*/ 0 w 3571560"/>
                <a:gd name="textAreaRight" fmla="*/ 3571920 w 3571560"/>
                <a:gd name="textAreaTop" fmla="*/ 0 h 2579760"/>
                <a:gd name="textAreaBottom" fmla="*/ 2580120 h 2579760"/>
                <a:gd name="GluePoint1X" fmla="*/ 0 w 3240"/>
                <a:gd name="GluePoint1Y" fmla="*/ 180 h 2340"/>
                <a:gd name="GluePoint2X" fmla="*/ 360 w 3240"/>
                <a:gd name="GluePoint2Y" fmla="*/ 1620 h 2340"/>
                <a:gd name="GluePoint3X" fmla="*/ 840 w 3240"/>
                <a:gd name="GluePoint3Y" fmla="*/ 2160 h 2340"/>
                <a:gd name="GluePoint4X" fmla="*/ 1800 w 3240"/>
                <a:gd name="GluePoint4Y" fmla="*/ 540 h 2340"/>
                <a:gd name="GluePoint5X" fmla="*/ 2400 w 3240"/>
                <a:gd name="GluePoint5Y" fmla="*/ 0 h 2340"/>
                <a:gd name="GluePoint6X" fmla="*/ 3240 w 3240"/>
                <a:gd name="GluePoint6Y" fmla="*/ 540 h 23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240" h="2340">
                  <a:moveTo>
                    <a:pt x="0" y="180"/>
                  </a:moveTo>
                  <a:cubicBezTo>
                    <a:pt x="110" y="735"/>
                    <a:pt x="220" y="1290"/>
                    <a:pt x="360" y="1620"/>
                  </a:cubicBezTo>
                  <a:cubicBezTo>
                    <a:pt x="500" y="1950"/>
                    <a:pt x="600" y="2340"/>
                    <a:pt x="840" y="2160"/>
                  </a:cubicBezTo>
                  <a:cubicBezTo>
                    <a:pt x="1080" y="1980"/>
                    <a:pt x="1540" y="900"/>
                    <a:pt x="1800" y="540"/>
                  </a:cubicBezTo>
                  <a:cubicBezTo>
                    <a:pt x="2060" y="180"/>
                    <a:pt x="2160" y="0"/>
                    <a:pt x="2400" y="0"/>
                  </a:cubicBezTo>
                  <a:cubicBezTo>
                    <a:pt x="2640" y="0"/>
                    <a:pt x="3100" y="450"/>
                    <a:pt x="3240" y="540"/>
                  </a:cubicBezTo>
                </a:path>
              </a:pathLst>
            </a:custGeom>
            <a:noFill/>
            <a:ln w="1908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grpSp>
      <p:sp>
        <p:nvSpPr>
          <p:cNvPr id="197" name="ZoneTexte 1"/>
          <p:cNvSpPr/>
          <p:nvPr/>
        </p:nvSpPr>
        <p:spPr>
          <a:xfrm>
            <a:off x="-1195200" y="457200"/>
            <a:ext cx="116823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Trois entraînements et plus par semaine = améliorations plus importantes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p:nvPr>
        </p:nvSpPr>
        <p:spPr>
          <a:xfrm>
            <a:off x="178920" y="620640"/>
            <a:ext cx="8610840" cy="6121440"/>
          </a:xfrm>
          <a:prstGeom prst="rect">
            <a:avLst/>
          </a:prstGeom>
          <a:noFill/>
          <a:ln w="0">
            <a:noFill/>
          </a:ln>
        </p:spPr>
        <p:txBody>
          <a:bodyPr lIns="91440" rIns="91440" tIns="45720" bIns="45720" anchor="t">
            <a:normAutofit fontScale="92500" lnSpcReduction="19999"/>
          </a:bodyPr>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Times New Roman"/>
              </a:rPr>
              <a:t>«</a:t>
            </a:r>
            <a:r>
              <a:rPr b="1" lang="fr-FR" sz="2800" strike="noStrike" u="none">
                <a:solidFill>
                  <a:srgbClr val="ffffff"/>
                </a:solidFill>
                <a:effectLst/>
                <a:uFillTx/>
                <a:latin typeface="Calibri"/>
                <a:ea typeface="Calibri"/>
              </a:rPr>
              <a:t> A » d’assiduité :</a:t>
            </a:r>
            <a:r>
              <a:rPr b="0" lang="fr-FR" sz="2800" strike="noStrike" u="none">
                <a:solidFill>
                  <a:srgbClr val="ffff00"/>
                </a:solidFill>
                <a:effectLst/>
                <a:uFillTx/>
                <a:latin typeface="Calibri"/>
                <a:ea typeface="Calibri"/>
              </a:rPr>
              <a:t> </a:t>
            </a:r>
            <a:r>
              <a:rPr b="0" lang="fr-FR" sz="3200" strike="noStrike" u="none">
                <a:solidFill>
                  <a:srgbClr val="ffff00"/>
                </a:solidFill>
                <a:effectLst/>
                <a:uFillTx/>
                <a:latin typeface="Calibri"/>
                <a:ea typeface="Calibri"/>
              </a:rPr>
              <a:t>la condition physique optimale s’acquiert lentement : </a:t>
            </a:r>
            <a:endParaRPr b="0" lang="en-US" sz="3200" strike="noStrike" u="none">
              <a:solidFill>
                <a:srgbClr val="ffff00"/>
              </a:solidFill>
              <a:effectLst/>
              <a:uFillTx/>
              <a:latin typeface="Times New Roman"/>
            </a:endParaRPr>
          </a:p>
          <a:p>
            <a:pPr marL="343080" indent="-343080">
              <a:lnSpc>
                <a:spcPct val="15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 6 à 8 semaines en s’entraînant 4 à 6 fois par semaine, </a:t>
            </a:r>
            <a:endParaRPr b="0" lang="en-US" sz="3200" strike="noStrike" u="none">
              <a:solidFill>
                <a:srgbClr val="ffff00"/>
              </a:solidFill>
              <a:effectLst/>
              <a:uFillTx/>
              <a:latin typeface="Times New Roman"/>
            </a:endParaRPr>
          </a:p>
          <a:p>
            <a:pPr marL="343080" indent="-343080">
              <a:lnSpc>
                <a:spcPct val="15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 10 à 12 semaine en s ’entraînant 2 à 3 fois</a:t>
            </a:r>
            <a:endParaRPr b="0" lang="en-US" sz="3200" strike="noStrike" u="none">
              <a:solidFill>
                <a:srgbClr val="ffff00"/>
              </a:solidFill>
              <a:effectLst/>
              <a:uFillTx/>
              <a:latin typeface="Times New Roman"/>
            </a:endParaRPr>
          </a:p>
          <a:p>
            <a:pPr marL="343080" indent="-343080">
              <a:lnSpc>
                <a:spcPct val="15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 s’entretient aisément (1 à 2 entraînements  par semaine) </a:t>
            </a:r>
            <a:endParaRPr b="0" lang="en-US" sz="3200" strike="noStrike" u="none">
              <a:solidFill>
                <a:srgbClr val="ffff00"/>
              </a:solidFill>
              <a:effectLst/>
              <a:uFillTx/>
              <a:latin typeface="Times New Roman"/>
            </a:endParaRPr>
          </a:p>
          <a:p>
            <a:pPr marL="343080" indent="-343080">
              <a:lnSpc>
                <a:spcPct val="15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 et se perd très rapidement  (en 2 à 3 semaines). </a:t>
            </a:r>
            <a:r>
              <a:rPr b="0" lang="fr-FR" sz="3200" strike="noStrike" u="none">
                <a:solidFill>
                  <a:srgbClr val="ffff00"/>
                </a:solidFill>
                <a:effectLst/>
                <a:uFillTx/>
                <a:latin typeface="Calibri"/>
                <a:ea typeface="Calibri"/>
              </a:rPr>
              <a:t>	</a:t>
            </a:r>
            <a:endParaRPr b="0" lang="en-US" sz="3200" strike="noStrike" u="none">
              <a:solidFill>
                <a:srgbClr val="ffff00"/>
              </a:solidFill>
              <a:effectLst/>
              <a:uFillTx/>
              <a:latin typeface="Times New Roman"/>
            </a:endParaRPr>
          </a:p>
        </p:txBody>
      </p:sp>
    </p:spTree>
  </p:cSld>
  <p:transition spd="slow">
    <p:dissolve/>
  </p:transition>
  <p:timing>
    <p:tnLst>
      <p:par>
        <p:cTn id="229" dur="indefinite" restart="never" nodeType="tmRoot">
          <p:childTnLst>
            <p:seq>
              <p:cTn id="230" dur="indefinite" nodeType="mainSeq">
                <p:childTnLst>
                  <p:par>
                    <p:cTn id="231" nodeType="clickEffect" fill="hold">
                      <p:stCondLst>
                        <p:cond delay="0"/>
                      </p:stCondLst>
                      <p:childTnLst>
                        <p:par>
                          <p:cTn id="232" nodeType="withEffect" fill="hold">
                            <p:stCondLst>
                              <p:cond delay="0"/>
                            </p:stCondLst>
                            <p:childTnLst>
                              <p:par>
                                <p:cTn id="233" nodeType="afterEffect" fill="hold" presetClass="entr" presetID="9">
                                  <p:stCondLst>
                                    <p:cond delay="0"/>
                                  </p:stCondLst>
                                  <p:childTnLst>
                                    <p:set>
                                      <p:cBhvr>
                                        <p:cTn id="234" dur="1" fill="hold">
                                          <p:stCondLst>
                                            <p:cond delay="0"/>
                                          </p:stCondLst>
                                        </p:cTn>
                                        <p:tgtEl>
                                          <p:spTgt spid="198">
                                            <p:txEl>
                                              <p:pRg st="0" end="0"/>
                                            </p:txEl>
                                          </p:spTgt>
                                        </p:tgtEl>
                                        <p:attrNameLst>
                                          <p:attrName>style.visibility</p:attrName>
                                        </p:attrNameLst>
                                      </p:cBhvr>
                                      <p:to>
                                        <p:strVal val="visible"/>
                                      </p:to>
                                    </p:set>
                                    <p:animEffect filter="dissolve" transition="in">
                                      <p:cBhvr additive="repl">
                                        <p:cTn id="235" dur="500"/>
                                        <p:tgtEl>
                                          <p:spTgt spid="198">
                                            <p:txEl>
                                              <p:pRg st="0" end="0"/>
                                            </p:txEl>
                                          </p:spTgt>
                                        </p:tgtEl>
                                      </p:cBhvr>
                                    </p:animEffect>
                                  </p:childTnLst>
                                </p:cTn>
                              </p:par>
                            </p:childTnLst>
                          </p:cTn>
                        </p:par>
                        <p:par>
                          <p:cTn id="236" nodeType="afterEffect" fill="hold">
                            <p:stCondLst>
                              <p:cond delay="500"/>
                            </p:stCondLst>
                            <p:childTnLst>
                              <p:par>
                                <p:cTn id="237" nodeType="afterEffect" fill="hold" presetClass="entr" presetID="9">
                                  <p:stCondLst>
                                    <p:cond delay="0"/>
                                  </p:stCondLst>
                                  <p:childTnLst>
                                    <p:set>
                                      <p:cBhvr>
                                        <p:cTn id="238" dur="1" fill="hold">
                                          <p:stCondLst>
                                            <p:cond delay="0"/>
                                          </p:stCondLst>
                                        </p:cTn>
                                        <p:tgtEl>
                                          <p:spTgt spid="198">
                                            <p:txEl>
                                              <p:pRg st="1" end="1"/>
                                            </p:txEl>
                                          </p:spTgt>
                                        </p:tgtEl>
                                        <p:attrNameLst>
                                          <p:attrName>style.visibility</p:attrName>
                                        </p:attrNameLst>
                                      </p:cBhvr>
                                      <p:to>
                                        <p:strVal val="visible"/>
                                      </p:to>
                                    </p:set>
                                    <p:animEffect filter="dissolve" transition="in">
                                      <p:cBhvr additive="repl">
                                        <p:cTn id="239" dur="500"/>
                                        <p:tgtEl>
                                          <p:spTgt spid="198">
                                            <p:txEl>
                                              <p:pRg st="1" end="1"/>
                                            </p:txEl>
                                          </p:spTgt>
                                        </p:tgtEl>
                                      </p:cBhvr>
                                    </p:animEffect>
                                  </p:childTnLst>
                                </p:cTn>
                              </p:par>
                            </p:childTnLst>
                          </p:cTn>
                        </p:par>
                        <p:par>
                          <p:cTn id="240" nodeType="afterEffect" fill="hold">
                            <p:stCondLst>
                              <p:cond delay="1000"/>
                            </p:stCondLst>
                            <p:childTnLst>
                              <p:par>
                                <p:cTn id="241" nodeType="afterEffect" fill="hold" presetClass="entr" presetID="9">
                                  <p:stCondLst>
                                    <p:cond delay="0"/>
                                  </p:stCondLst>
                                  <p:childTnLst>
                                    <p:set>
                                      <p:cBhvr>
                                        <p:cTn id="242" dur="1" fill="hold">
                                          <p:stCondLst>
                                            <p:cond delay="0"/>
                                          </p:stCondLst>
                                        </p:cTn>
                                        <p:tgtEl>
                                          <p:spTgt spid="198">
                                            <p:txEl>
                                              <p:pRg st="2" end="2"/>
                                            </p:txEl>
                                          </p:spTgt>
                                        </p:tgtEl>
                                        <p:attrNameLst>
                                          <p:attrName>style.visibility</p:attrName>
                                        </p:attrNameLst>
                                      </p:cBhvr>
                                      <p:to>
                                        <p:strVal val="visible"/>
                                      </p:to>
                                    </p:set>
                                    <p:animEffect filter="dissolve" transition="in">
                                      <p:cBhvr additive="repl">
                                        <p:cTn id="243" dur="500"/>
                                        <p:tgtEl>
                                          <p:spTgt spid="198">
                                            <p:txEl>
                                              <p:pRg st="2" end="2"/>
                                            </p:txEl>
                                          </p:spTgt>
                                        </p:tgtEl>
                                      </p:cBhvr>
                                    </p:animEffect>
                                  </p:childTnLst>
                                </p:cTn>
                              </p:par>
                            </p:childTnLst>
                          </p:cTn>
                        </p:par>
                        <p:par>
                          <p:cTn id="244" nodeType="afterEffect" fill="hold">
                            <p:stCondLst>
                              <p:cond delay="1500"/>
                            </p:stCondLst>
                            <p:childTnLst>
                              <p:par>
                                <p:cTn id="245" nodeType="afterEffect" fill="hold" presetClass="entr" presetID="9">
                                  <p:stCondLst>
                                    <p:cond delay="0"/>
                                  </p:stCondLst>
                                  <p:childTnLst>
                                    <p:set>
                                      <p:cBhvr>
                                        <p:cTn id="246" dur="1" fill="hold">
                                          <p:stCondLst>
                                            <p:cond delay="0"/>
                                          </p:stCondLst>
                                        </p:cTn>
                                        <p:tgtEl>
                                          <p:spTgt spid="198">
                                            <p:txEl>
                                              <p:pRg st="3" end="3"/>
                                            </p:txEl>
                                          </p:spTgt>
                                        </p:tgtEl>
                                        <p:attrNameLst>
                                          <p:attrName>style.visibility</p:attrName>
                                        </p:attrNameLst>
                                      </p:cBhvr>
                                      <p:to>
                                        <p:strVal val="visible"/>
                                      </p:to>
                                    </p:set>
                                    <p:animEffect filter="dissolve" transition="in">
                                      <p:cBhvr additive="repl">
                                        <p:cTn id="247" dur="500"/>
                                        <p:tgtEl>
                                          <p:spTgt spid="198">
                                            <p:txEl>
                                              <p:pRg st="3" end="3"/>
                                            </p:txEl>
                                          </p:spTgt>
                                        </p:tgtEl>
                                      </p:cBhvr>
                                    </p:animEffect>
                                  </p:childTnLst>
                                </p:cTn>
                              </p:par>
                            </p:childTnLst>
                          </p:cTn>
                        </p:par>
                        <p:par>
                          <p:cTn id="248" nodeType="afterEffect" fill="hold">
                            <p:stCondLst>
                              <p:cond delay="2000"/>
                            </p:stCondLst>
                            <p:childTnLst>
                              <p:par>
                                <p:cTn id="249" nodeType="afterEffect" fill="hold" presetClass="entr" presetID="9">
                                  <p:stCondLst>
                                    <p:cond delay="0"/>
                                  </p:stCondLst>
                                  <p:childTnLst>
                                    <p:set>
                                      <p:cBhvr>
                                        <p:cTn id="250" dur="1" fill="hold">
                                          <p:stCondLst>
                                            <p:cond delay="0"/>
                                          </p:stCondLst>
                                        </p:cTn>
                                        <p:tgtEl>
                                          <p:spTgt spid="198">
                                            <p:txEl>
                                              <p:pRg st="4" end="4"/>
                                            </p:txEl>
                                          </p:spTgt>
                                        </p:tgtEl>
                                        <p:attrNameLst>
                                          <p:attrName>style.visibility</p:attrName>
                                        </p:attrNameLst>
                                      </p:cBhvr>
                                      <p:to>
                                        <p:strVal val="visible"/>
                                      </p:to>
                                    </p:set>
                                    <p:animEffect filter="dissolve" transition="in">
                                      <p:cBhvr additive="repl">
                                        <p:cTn id="251" dur="500"/>
                                        <p:tgtEl>
                                          <p:spTgt spid="19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Line 2"/>
          <p:cNvSpPr/>
          <p:nvPr/>
        </p:nvSpPr>
        <p:spPr>
          <a:xfrm>
            <a:off x="1143000" y="1295280"/>
            <a:ext cx="0" cy="4724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0" name="Line 3"/>
          <p:cNvSpPr/>
          <p:nvPr/>
        </p:nvSpPr>
        <p:spPr>
          <a:xfrm>
            <a:off x="1143000" y="6019920"/>
            <a:ext cx="80010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1" name="Text Box 4"/>
          <p:cNvSpPr/>
          <p:nvPr/>
        </p:nvSpPr>
        <p:spPr>
          <a:xfrm>
            <a:off x="1066680" y="6461280"/>
            <a:ext cx="82296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PERIODE D’ENTRAINEMENT  (mois)         PERIODE D’ARRET (semaines)</a:t>
            </a:r>
            <a:endParaRPr b="0" lang="en-US" sz="1800" strike="noStrike" u="none">
              <a:solidFill>
                <a:srgbClr val="ffff00"/>
              </a:solidFill>
              <a:effectLst/>
              <a:uFillTx/>
              <a:latin typeface="Times New Roman"/>
            </a:endParaRPr>
          </a:p>
        </p:txBody>
      </p:sp>
      <p:sp>
        <p:nvSpPr>
          <p:cNvPr id="202" name="Text Box 5"/>
          <p:cNvSpPr/>
          <p:nvPr/>
        </p:nvSpPr>
        <p:spPr>
          <a:xfrm>
            <a:off x="959040" y="5715000"/>
            <a:ext cx="81842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I          I            I            I            I            I            I           I           I           I           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1           2           3            4           5           6          1          2          3         4</a:t>
            </a:r>
            <a:endParaRPr b="0" lang="en-US" sz="1800" strike="noStrike" u="none">
              <a:solidFill>
                <a:srgbClr val="ffff00"/>
              </a:solidFill>
              <a:effectLst/>
              <a:uFillTx/>
              <a:latin typeface="Times New Roman"/>
            </a:endParaRPr>
          </a:p>
        </p:txBody>
      </p:sp>
      <p:sp>
        <p:nvSpPr>
          <p:cNvPr id="203" name="Text Box 6"/>
          <p:cNvSpPr/>
          <p:nvPr/>
        </p:nvSpPr>
        <p:spPr>
          <a:xfrm>
            <a:off x="611280" y="2590920"/>
            <a:ext cx="599760" cy="31114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Times New Roman"/>
              </a:rPr>
              <a:t>30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Times New Roman"/>
              </a:rPr>
              <a:t>20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Times New Roman"/>
              </a:rPr>
              <a:t>10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Times New Roman"/>
              </a:rPr>
              <a:t>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204" name="Line 7"/>
          <p:cNvSpPr/>
          <p:nvPr/>
        </p:nvSpPr>
        <p:spPr>
          <a:xfrm flipV="1">
            <a:off x="2743200" y="3657600"/>
            <a:ext cx="0" cy="2286000"/>
          </a:xfrm>
          <a:prstGeom prst="line">
            <a:avLst/>
          </a:prstGeom>
          <a:ln w="3816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5" name="Line 8"/>
          <p:cNvSpPr/>
          <p:nvPr/>
        </p:nvSpPr>
        <p:spPr>
          <a:xfrm flipV="1">
            <a:off x="1143000" y="3657600"/>
            <a:ext cx="1523880" cy="17524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6" name="Line 9"/>
          <p:cNvSpPr/>
          <p:nvPr/>
        </p:nvSpPr>
        <p:spPr>
          <a:xfrm flipV="1">
            <a:off x="5943600" y="1066320"/>
            <a:ext cx="0" cy="4800600"/>
          </a:xfrm>
          <a:prstGeom prst="line">
            <a:avLst/>
          </a:prstGeom>
          <a:ln w="3816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7" name="Line 10"/>
          <p:cNvSpPr/>
          <p:nvPr/>
        </p:nvSpPr>
        <p:spPr>
          <a:xfrm flipV="1">
            <a:off x="2666880" y="2971440"/>
            <a:ext cx="3276720" cy="685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8" name="Line 11"/>
          <p:cNvSpPr/>
          <p:nvPr/>
        </p:nvSpPr>
        <p:spPr>
          <a:xfrm flipV="1">
            <a:off x="1143000" y="3580920"/>
            <a:ext cx="1600200" cy="1752840"/>
          </a:xfrm>
          <a:prstGeom prst="line">
            <a:avLst/>
          </a:prstGeom>
          <a:ln w="38160">
            <a:solidFill>
              <a:srgbClr val="cccc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9" name="Line 12"/>
          <p:cNvSpPr/>
          <p:nvPr/>
        </p:nvSpPr>
        <p:spPr>
          <a:xfrm flipV="1">
            <a:off x="2743200" y="2133360"/>
            <a:ext cx="3124080" cy="1447560"/>
          </a:xfrm>
          <a:prstGeom prst="line">
            <a:avLst/>
          </a:prstGeom>
          <a:ln w="38160">
            <a:solidFill>
              <a:srgbClr val="cccc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0" name="Freeform 13"/>
          <p:cNvSpPr/>
          <p:nvPr/>
        </p:nvSpPr>
        <p:spPr>
          <a:xfrm>
            <a:off x="6019920" y="2057400"/>
            <a:ext cx="1600200" cy="3352680"/>
          </a:xfrm>
          <a:custGeom>
            <a:avLst/>
            <a:gdLst>
              <a:gd name="textAreaLeft" fmla="*/ 0 w 1600200"/>
              <a:gd name="textAreaRight" fmla="*/ 1600560 w 1600200"/>
              <a:gd name="textAreaTop" fmla="*/ 0 h 3352680"/>
              <a:gd name="textAreaBottom" fmla="*/ 3353040 h 3352680"/>
              <a:gd name="GluePoint1X" fmla="*/ 0 w 1008"/>
              <a:gd name="GluePoint1Y" fmla="*/ 0 h 2112"/>
              <a:gd name="GluePoint2X" fmla="*/ 2147483646 w 1008"/>
              <a:gd name="GluePoint2Y" fmla="*/ 2147483646 h 2112"/>
              <a:gd name="GluePoint3X" fmla="*/ 2147483646 w 1008"/>
              <a:gd name="GluePoint3Y" fmla="*/ 2147483646 h 2112"/>
              <a:gd name="GluePoint4X" fmla="*/ 2147483646 w 1008"/>
              <a:gd name="GluePoint4Y" fmla="*/ 2147483646 h 211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008" h="2112">
                <a:moveTo>
                  <a:pt x="0" y="0"/>
                </a:moveTo>
                <a:cubicBezTo>
                  <a:pt x="28" y="532"/>
                  <a:pt x="56" y="1064"/>
                  <a:pt x="144" y="1392"/>
                </a:cubicBezTo>
                <a:cubicBezTo>
                  <a:pt x="232" y="1720"/>
                  <a:pt x="384" y="1848"/>
                  <a:pt x="528" y="1968"/>
                </a:cubicBezTo>
                <a:cubicBezTo>
                  <a:pt x="672" y="2088"/>
                  <a:pt x="928" y="2088"/>
                  <a:pt x="1008" y="2112"/>
                </a:cubicBezTo>
              </a:path>
            </a:pathLst>
          </a:custGeom>
          <a:noFill/>
          <a:ln w="38160">
            <a:solidFill>
              <a:srgbClr val="ccccff"/>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1" name="Freeform 14"/>
          <p:cNvSpPr/>
          <p:nvPr/>
        </p:nvSpPr>
        <p:spPr>
          <a:xfrm>
            <a:off x="6019920" y="2057400"/>
            <a:ext cx="1841400" cy="1206360"/>
          </a:xfrm>
          <a:custGeom>
            <a:avLst/>
            <a:gdLst>
              <a:gd name="textAreaLeft" fmla="*/ 0 w 1841400"/>
              <a:gd name="textAreaRight" fmla="*/ 1841760 w 1841400"/>
              <a:gd name="textAreaTop" fmla="*/ 0 h 1206360"/>
              <a:gd name="textAreaBottom" fmla="*/ 1206720 h 1206360"/>
              <a:gd name="GluePoint1X" fmla="*/ 0 w 1160"/>
              <a:gd name="GluePoint1Y" fmla="*/ 0 h 760"/>
              <a:gd name="GluePoint2X" fmla="*/ 2147483646 w 1160"/>
              <a:gd name="GluePoint2Y" fmla="*/ 2147483646 h 760"/>
              <a:gd name="GluePoint3X" fmla="*/ 2147483646 w 1160"/>
              <a:gd name="GluePoint3Y" fmla="*/ 2147483646 h 760"/>
              <a:gd name="GluePoint4X" fmla="*/ 2147483646 w 1160"/>
              <a:gd name="GluePoint4Y" fmla="*/ 2147483646 h 76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0" h="760">
                <a:moveTo>
                  <a:pt x="0" y="0"/>
                </a:moveTo>
                <a:cubicBezTo>
                  <a:pt x="12" y="180"/>
                  <a:pt x="24" y="360"/>
                  <a:pt x="192" y="480"/>
                </a:cubicBezTo>
                <a:cubicBezTo>
                  <a:pt x="360" y="600"/>
                  <a:pt x="856" y="680"/>
                  <a:pt x="1008" y="720"/>
                </a:cubicBezTo>
                <a:cubicBezTo>
                  <a:pt x="1160" y="760"/>
                  <a:pt x="1132" y="740"/>
                  <a:pt x="1104" y="720"/>
                </a:cubicBezTo>
              </a:path>
            </a:pathLst>
          </a:custGeom>
          <a:noFill/>
          <a:ln w="38160">
            <a:solidFill>
              <a:srgbClr val="ccccff"/>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2" name="Freeform 15"/>
          <p:cNvSpPr/>
          <p:nvPr/>
        </p:nvSpPr>
        <p:spPr>
          <a:xfrm>
            <a:off x="5943600" y="2971800"/>
            <a:ext cx="2158920" cy="2247840"/>
          </a:xfrm>
          <a:custGeom>
            <a:avLst/>
            <a:gdLst>
              <a:gd name="textAreaLeft" fmla="*/ 0 w 2158920"/>
              <a:gd name="textAreaRight" fmla="*/ 2159280 w 2158920"/>
              <a:gd name="textAreaTop" fmla="*/ 0 h 2247840"/>
              <a:gd name="textAreaBottom" fmla="*/ 2248200 h 2247840"/>
              <a:gd name="GluePoint1X" fmla="*/ 0 w 1360"/>
              <a:gd name="GluePoint1Y" fmla="*/ 0 h 1416"/>
              <a:gd name="GluePoint2X" fmla="*/ 2147483646 w 1360"/>
              <a:gd name="GluePoint2Y" fmla="*/ 2147483646 h 1416"/>
              <a:gd name="GluePoint3X" fmla="*/ 2147483646 w 1360"/>
              <a:gd name="GluePoint3Y" fmla="*/ 2147483646 h 1416"/>
              <a:gd name="GluePoint4X" fmla="*/ 2147483646 w 1360"/>
              <a:gd name="GluePoint4Y" fmla="*/ 2147483646 h 1416"/>
              <a:gd name="GluePoint5X" fmla="*/ 2147483646 w 1360"/>
              <a:gd name="GluePoint5Y" fmla="*/ 2147483646 h 1416"/>
              <a:gd name="GluePoint6X" fmla="*/ 2147483646 w 1360"/>
              <a:gd name="GluePoint6Y" fmla="*/ 2147483646 h 14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60" h="1416">
                <a:moveTo>
                  <a:pt x="0" y="0"/>
                </a:moveTo>
                <a:cubicBezTo>
                  <a:pt x="84" y="328"/>
                  <a:pt x="168" y="656"/>
                  <a:pt x="288" y="864"/>
                </a:cubicBezTo>
                <a:cubicBezTo>
                  <a:pt x="408" y="1072"/>
                  <a:pt x="568" y="1160"/>
                  <a:pt x="720" y="1248"/>
                </a:cubicBezTo>
                <a:cubicBezTo>
                  <a:pt x="872" y="1336"/>
                  <a:pt x="1096" y="1368"/>
                  <a:pt x="1200" y="1392"/>
                </a:cubicBezTo>
                <a:cubicBezTo>
                  <a:pt x="1304" y="1416"/>
                  <a:pt x="1328" y="1392"/>
                  <a:pt x="1344" y="1392"/>
                </a:cubicBezTo>
                <a:cubicBezTo>
                  <a:pt x="1360" y="1392"/>
                  <a:pt x="1304" y="1392"/>
                  <a:pt x="1296" y="1392"/>
                </a:cubicBezTo>
              </a:path>
            </a:pathLst>
          </a:custGeom>
          <a:noFill/>
          <a:ln w="284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 name="Freeform 16"/>
          <p:cNvSpPr/>
          <p:nvPr/>
        </p:nvSpPr>
        <p:spPr>
          <a:xfrm>
            <a:off x="5943600" y="2971800"/>
            <a:ext cx="1828800" cy="952560"/>
          </a:xfrm>
          <a:custGeom>
            <a:avLst/>
            <a:gdLst>
              <a:gd name="textAreaLeft" fmla="*/ 0 w 1828800"/>
              <a:gd name="textAreaRight" fmla="*/ 1829160 w 1828800"/>
              <a:gd name="textAreaTop" fmla="*/ 0 h 952560"/>
              <a:gd name="textAreaBottom" fmla="*/ 952920 h 952560"/>
              <a:gd name="GluePoint1X" fmla="*/ 0 w 1152"/>
              <a:gd name="GluePoint1Y" fmla="*/ 0 h 600"/>
              <a:gd name="GluePoint2X" fmla="*/ 2147483646 w 1152"/>
              <a:gd name="GluePoint2Y" fmla="*/ 2147483646 h 600"/>
              <a:gd name="GluePoint3X" fmla="*/ 2147483646 w 1152"/>
              <a:gd name="GluePoint3Y" fmla="*/ 2147483646 h 600"/>
              <a:gd name="GluePoint4X" fmla="*/ 2147483646 w 1152"/>
              <a:gd name="GluePoint4Y" fmla="*/ 2147483646 h 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52" h="600">
                <a:moveTo>
                  <a:pt x="0" y="0"/>
                </a:moveTo>
                <a:cubicBezTo>
                  <a:pt x="88" y="168"/>
                  <a:pt x="176" y="336"/>
                  <a:pt x="336" y="432"/>
                </a:cubicBezTo>
                <a:cubicBezTo>
                  <a:pt x="496" y="528"/>
                  <a:pt x="824" y="552"/>
                  <a:pt x="960" y="576"/>
                </a:cubicBezTo>
                <a:cubicBezTo>
                  <a:pt x="1096" y="600"/>
                  <a:pt x="1120" y="576"/>
                  <a:pt x="1152" y="576"/>
                </a:cubicBezTo>
              </a:path>
            </a:pathLst>
          </a:custGeom>
          <a:noFill/>
          <a:ln w="2844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4" name="Oval 17"/>
          <p:cNvSpPr/>
          <p:nvPr/>
        </p:nvSpPr>
        <p:spPr>
          <a:xfrm>
            <a:off x="6934320" y="1447920"/>
            <a:ext cx="457200" cy="457200"/>
          </a:xfrm>
          <a:prstGeom prst="ellipse">
            <a:avLst/>
          </a:prstGeom>
          <a:noFill/>
          <a:ln w="1908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1</a:t>
            </a:r>
            <a:endParaRPr b="0" lang="en-US" sz="1800" strike="noStrike" u="none">
              <a:solidFill>
                <a:srgbClr val="ffff00"/>
              </a:solidFill>
              <a:effectLst/>
              <a:uFillTx/>
              <a:latin typeface="Times New Roman"/>
            </a:endParaRPr>
          </a:p>
        </p:txBody>
      </p:sp>
      <p:sp>
        <p:nvSpPr>
          <p:cNvPr id="215" name="Text Box 18"/>
          <p:cNvSpPr/>
          <p:nvPr/>
        </p:nvSpPr>
        <p:spPr>
          <a:xfrm>
            <a:off x="6026040" y="1905120"/>
            <a:ext cx="324468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Maintien de deux séances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d’activité physique par semaine</a:t>
            </a:r>
            <a:endParaRPr b="0" lang="en-US" sz="1600" strike="noStrike" u="none">
              <a:solidFill>
                <a:srgbClr val="ffff00"/>
              </a:solidFill>
              <a:effectLst/>
              <a:uFillTx/>
              <a:latin typeface="Times New Roman"/>
            </a:endParaRPr>
          </a:p>
        </p:txBody>
      </p:sp>
      <p:sp>
        <p:nvSpPr>
          <p:cNvPr id="216" name="Line 19"/>
          <p:cNvSpPr/>
          <p:nvPr/>
        </p:nvSpPr>
        <p:spPr>
          <a:xfrm flipH="1">
            <a:off x="6400440" y="2362320"/>
            <a:ext cx="304920" cy="53316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7" name="Line 20"/>
          <p:cNvSpPr/>
          <p:nvPr/>
        </p:nvSpPr>
        <p:spPr>
          <a:xfrm>
            <a:off x="6781680" y="2362320"/>
            <a:ext cx="0" cy="137160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8" name="Oval 21"/>
          <p:cNvSpPr/>
          <p:nvPr/>
        </p:nvSpPr>
        <p:spPr>
          <a:xfrm>
            <a:off x="6858000" y="3886200"/>
            <a:ext cx="457200" cy="457200"/>
          </a:xfrm>
          <a:prstGeom prst="ellipse">
            <a:avLst/>
          </a:prstGeom>
          <a:noFill/>
          <a:ln w="1908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2</a:t>
            </a:r>
            <a:endParaRPr b="0" lang="en-US" sz="1800" strike="noStrike" u="none">
              <a:solidFill>
                <a:srgbClr val="ffff00"/>
              </a:solidFill>
              <a:effectLst/>
              <a:uFillTx/>
              <a:latin typeface="Times New Roman"/>
            </a:endParaRPr>
          </a:p>
        </p:txBody>
      </p:sp>
      <p:sp>
        <p:nvSpPr>
          <p:cNvPr id="219" name="Text Box 22"/>
          <p:cNvSpPr/>
          <p:nvPr/>
        </p:nvSpPr>
        <p:spPr>
          <a:xfrm>
            <a:off x="7319520" y="4267080"/>
            <a:ext cx="156600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Arrêt total de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l’entraînement</a:t>
            </a:r>
            <a:endParaRPr b="0" lang="en-US" sz="1600" strike="noStrike" u="none">
              <a:solidFill>
                <a:srgbClr val="ffff00"/>
              </a:solidFill>
              <a:effectLst/>
              <a:uFillTx/>
              <a:latin typeface="Times New Roman"/>
            </a:endParaRPr>
          </a:p>
        </p:txBody>
      </p:sp>
      <p:sp>
        <p:nvSpPr>
          <p:cNvPr id="220" name="Line 23"/>
          <p:cNvSpPr/>
          <p:nvPr/>
        </p:nvSpPr>
        <p:spPr>
          <a:xfrm flipH="1">
            <a:off x="7009920" y="4419720"/>
            <a:ext cx="381240" cy="38088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1" name="Line 24"/>
          <p:cNvSpPr/>
          <p:nvPr/>
        </p:nvSpPr>
        <p:spPr>
          <a:xfrm flipH="1">
            <a:off x="7086240" y="4419720"/>
            <a:ext cx="304920" cy="83808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2" name="Text Box 25"/>
          <p:cNvSpPr/>
          <p:nvPr/>
        </p:nvSpPr>
        <p:spPr>
          <a:xfrm rot="20032800">
            <a:off x="1981440" y="2514600"/>
            <a:ext cx="3915360" cy="307440"/>
          </a:xfrm>
          <a:prstGeom prst="rect">
            <a:avLst/>
          </a:prstGeom>
          <a:noFill/>
          <a:ln w="9360">
            <a:solidFill>
              <a:srgbClr val="cccc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ccccff"/>
                </a:solidFill>
                <a:effectLst/>
                <a:uFillTx/>
                <a:latin typeface="Arial"/>
              </a:rPr>
              <a:t>FORCE, PUISSANCE, CAPACITE LACTIQUE</a:t>
            </a:r>
            <a:endParaRPr b="0" lang="en-US" sz="1400" strike="noStrike" u="none">
              <a:solidFill>
                <a:srgbClr val="ffff00"/>
              </a:solidFill>
              <a:effectLst/>
              <a:uFillTx/>
              <a:latin typeface="Times New Roman"/>
            </a:endParaRPr>
          </a:p>
        </p:txBody>
      </p:sp>
      <p:sp>
        <p:nvSpPr>
          <p:cNvPr id="223" name="Text Box 26"/>
          <p:cNvSpPr/>
          <p:nvPr/>
        </p:nvSpPr>
        <p:spPr>
          <a:xfrm rot="20845200">
            <a:off x="2903760" y="3504960"/>
            <a:ext cx="2784600" cy="3366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CAPACITE AEROBIE : VO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max</a:t>
            </a:r>
            <a:endParaRPr b="0" lang="en-US" sz="1400" strike="noStrike" u="none">
              <a:solidFill>
                <a:srgbClr val="ffff00"/>
              </a:solidFill>
              <a:effectLst/>
              <a:uFillTx/>
              <a:latin typeface="Times New Roman"/>
            </a:endParaRPr>
          </a:p>
        </p:txBody>
      </p:sp>
      <p:sp>
        <p:nvSpPr>
          <p:cNvPr id="224" name="Text Box 27"/>
          <p:cNvSpPr/>
          <p:nvPr/>
        </p:nvSpPr>
        <p:spPr>
          <a:xfrm>
            <a:off x="1061640" y="5180040"/>
            <a:ext cx="174384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Période de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développement</a:t>
            </a:r>
            <a:endParaRPr b="0" lang="en-US" sz="1800" strike="noStrike" u="none">
              <a:solidFill>
                <a:srgbClr val="ffff00"/>
              </a:solidFill>
              <a:effectLst/>
              <a:uFillTx/>
              <a:latin typeface="Times New Roman"/>
            </a:endParaRPr>
          </a:p>
        </p:txBody>
      </p:sp>
      <p:sp>
        <p:nvSpPr>
          <p:cNvPr id="225" name="Text Box 28"/>
          <p:cNvSpPr/>
          <p:nvPr/>
        </p:nvSpPr>
        <p:spPr>
          <a:xfrm>
            <a:off x="2743560" y="5181480"/>
            <a:ext cx="324360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Période de stabilisation ou de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sensible développement</a:t>
            </a:r>
            <a:endParaRPr b="0" lang="en-US" sz="1800" strike="noStrike" u="none">
              <a:solidFill>
                <a:srgbClr val="ffff00"/>
              </a:solidFill>
              <a:effectLst/>
              <a:uFillTx/>
              <a:latin typeface="Times New Roman"/>
            </a:endParaRPr>
          </a:p>
        </p:txBody>
      </p:sp>
      <p:sp>
        <p:nvSpPr>
          <p:cNvPr id="226" name="Text Box 29"/>
          <p:cNvSpPr/>
          <p:nvPr/>
        </p:nvSpPr>
        <p:spPr>
          <a:xfrm>
            <a:off x="6020640" y="5181480"/>
            <a:ext cx="259524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Période de maintien ou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 perte des acquis</a:t>
            </a:r>
            <a:endParaRPr b="0" lang="en-US" sz="1800" strike="noStrike" u="none">
              <a:solidFill>
                <a:srgbClr val="ffff00"/>
              </a:solidFill>
              <a:effectLst/>
              <a:uFillTx/>
              <a:latin typeface="Times New Roman"/>
            </a:endParaRPr>
          </a:p>
        </p:txBody>
      </p:sp>
      <p:sp>
        <p:nvSpPr>
          <p:cNvPr id="227" name="Text Box 30"/>
          <p:cNvSpPr/>
          <p:nvPr/>
        </p:nvSpPr>
        <p:spPr>
          <a:xfrm rot="16200000">
            <a:off x="-2017080" y="3307320"/>
            <a:ext cx="48909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AMELIORATION (% du niveau de départ)</a:t>
            </a:r>
            <a:endParaRPr b="0" lang="en-US" sz="2000" strike="noStrike" u="none">
              <a:solidFill>
                <a:srgbClr val="ffff00"/>
              </a:solidFill>
              <a:effectLst/>
              <a:uFillTx/>
              <a:latin typeface="Times New Roman"/>
            </a:endParaRPr>
          </a:p>
        </p:txBody>
      </p:sp>
      <p:sp>
        <p:nvSpPr>
          <p:cNvPr id="228" name="Text Box 31"/>
          <p:cNvSpPr/>
          <p:nvPr/>
        </p:nvSpPr>
        <p:spPr>
          <a:xfrm>
            <a:off x="152280" y="609480"/>
            <a:ext cx="868680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Les effets d’une longue période d’arrêt entre deux saisons d’entraînement</a:t>
            </a:r>
            <a:endParaRPr b="0" lang="en-US" sz="2000" strike="noStrike" u="none">
              <a:solidFill>
                <a:srgbClr val="ffff00"/>
              </a:solidFill>
              <a:effectLst/>
              <a:uFillTx/>
              <a:latin typeface="Times New Roman"/>
            </a:endParaRPr>
          </a:p>
        </p:txBody>
      </p:sp>
      <p:sp>
        <p:nvSpPr>
          <p:cNvPr id="229" name="Text Box 32"/>
          <p:cNvSpPr/>
          <p:nvPr/>
        </p:nvSpPr>
        <p:spPr>
          <a:xfrm>
            <a:off x="2135160" y="136440"/>
            <a:ext cx="4776480" cy="3988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2 - RECUPERATION A LONG TERME : </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p:nvPr>
        </p:nvSpPr>
        <p:spPr>
          <a:xfrm>
            <a:off x="304560" y="837720"/>
            <a:ext cx="8589960" cy="3095640"/>
          </a:xfrm>
          <a:prstGeom prst="rect">
            <a:avLst/>
          </a:prstGeom>
          <a:noFill/>
          <a:ln w="0">
            <a:noFill/>
          </a:ln>
        </p:spPr>
        <p:txBody>
          <a:bodyPr lIns="92160" rIns="92160" tIns="46080" bIns="46080" anchor="t">
            <a:normAutofit fontScale="85000" lnSpcReduction="19999"/>
          </a:bodyPr>
          <a:p>
            <a:pPr marL="343080" indent="-343080">
              <a:lnSpc>
                <a:spcPct val="150000"/>
              </a:lnSpc>
              <a:spcAft>
                <a:spcPts val="1576"/>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 I » d’intensité :</a:t>
            </a:r>
            <a:r>
              <a:rPr b="0" lang="fr-FR" sz="2800" strike="noStrike" u="none">
                <a:solidFill>
                  <a:srgbClr val="ffff00"/>
                </a:solidFill>
                <a:effectLst/>
                <a:uFillTx/>
                <a:latin typeface="Calibri"/>
                <a:ea typeface="Calibri"/>
              </a:rPr>
              <a:t> la gestion individuelle de l’intensité est aujourd’hui très accessible grâce à l</a:t>
            </a:r>
            <a:r>
              <a:rPr b="0" lang="fr-FR" sz="2800" strike="noStrike" u="none">
                <a:solidFill>
                  <a:srgbClr val="ccccff"/>
                </a:solidFill>
                <a:effectLst/>
                <a:uFillTx/>
                <a:latin typeface="Calibri"/>
                <a:ea typeface="Calibri"/>
              </a:rPr>
              <a:t>’</a:t>
            </a:r>
            <a:r>
              <a:rPr b="1" lang="fr-FR" sz="2800" strike="noStrike" u="none">
                <a:solidFill>
                  <a:srgbClr val="f8f8f8"/>
                </a:solidFill>
                <a:effectLst/>
                <a:uFillTx/>
                <a:latin typeface="Calibri"/>
                <a:ea typeface="Calibri"/>
              </a:rPr>
              <a:t>évaluation</a:t>
            </a:r>
            <a:r>
              <a:rPr b="0" lang="fr-FR" sz="2800" strike="noStrike" u="none">
                <a:solidFill>
                  <a:srgbClr val="ccccff"/>
                </a:solidFill>
                <a:effectLst/>
                <a:uFillTx/>
                <a:latin typeface="Calibri"/>
                <a:ea typeface="Calibri"/>
              </a:rPr>
              <a:t> </a:t>
            </a:r>
            <a:r>
              <a:rPr b="0" lang="fr-FR" sz="2800" strike="noStrike" u="none">
                <a:solidFill>
                  <a:srgbClr val="ffff00"/>
                </a:solidFill>
                <a:effectLst/>
                <a:uFillTx/>
                <a:latin typeface="Calibri"/>
                <a:ea typeface="Calibri"/>
              </a:rPr>
              <a:t>et aux </a:t>
            </a:r>
            <a:r>
              <a:rPr b="1" lang="fr-FR" sz="2800" strike="noStrike" u="none">
                <a:solidFill>
                  <a:srgbClr val="f8f8f8"/>
                </a:solidFill>
                <a:effectLst/>
                <a:uFillTx/>
                <a:latin typeface="Calibri"/>
                <a:ea typeface="Calibri"/>
              </a:rPr>
              <a:t>références</a:t>
            </a:r>
            <a:r>
              <a:rPr b="0" lang="fr-FR" sz="2800" strike="noStrike" u="none">
                <a:solidFill>
                  <a:srgbClr val="f8f8f8"/>
                </a:solidFill>
                <a:effectLst/>
                <a:uFillTx/>
                <a:latin typeface="Calibri"/>
                <a:ea typeface="Calibri"/>
              </a:rPr>
              <a:t> </a:t>
            </a:r>
            <a:r>
              <a:rPr b="0" lang="fr-FR" sz="2800" strike="noStrike" u="none">
                <a:solidFill>
                  <a:srgbClr val="ffff00"/>
                </a:solidFill>
                <a:effectLst/>
                <a:uFillTx/>
                <a:latin typeface="Calibri"/>
                <a:ea typeface="Calibri"/>
              </a:rPr>
              <a:t>qui en résultent : maximum, %  du maximum de la force, de la P.M.A., de la V.A.M., et des fréquences cardiaques qui les accompagnent.</a:t>
            </a:r>
            <a:endParaRPr b="0" lang="en-US" sz="2800" strike="noStrike" u="none">
              <a:solidFill>
                <a:srgbClr val="ffff00"/>
              </a:solidFill>
              <a:effectLst/>
              <a:uFillTx/>
              <a:latin typeface="Times New Roman"/>
            </a:endParaRPr>
          </a:p>
          <a:p>
            <a:pPr marL="343080" indent="0">
              <a:lnSpc>
                <a:spcPct val="150000"/>
              </a:lnSpc>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231" name="Text Box 3"/>
          <p:cNvSpPr/>
          <p:nvPr/>
        </p:nvSpPr>
        <p:spPr>
          <a:xfrm>
            <a:off x="-3600" y="4437000"/>
            <a:ext cx="917820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Times New Roman"/>
              </a:rPr>
              <a:t>« Seuls les exercices qui sollicitent fortement les réserves énergétiques et </a:t>
            </a:r>
            <a:endParaRPr b="0" lang="en-US" sz="24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Times New Roman"/>
              </a:rPr>
              <a:t>   qui entraînent une fatigue aiguë permettent une amélioration du </a:t>
            </a:r>
            <a:endParaRPr b="0" lang="en-US" sz="24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Times New Roman"/>
              </a:rPr>
              <a:t>   potentiel initial par des phénomènes de « surcompensation » </a:t>
            </a:r>
            <a:r>
              <a:rPr b="0" lang="fr-FR" sz="2400" strike="noStrike" u="none">
                <a:solidFill>
                  <a:srgbClr val="ffffff"/>
                </a:solidFill>
                <a:effectLst/>
                <a:uFillTx/>
                <a:latin typeface="Times New Roman"/>
              </a:rPr>
              <a:t>Matveiv</a:t>
            </a:r>
            <a:endParaRPr b="0" lang="en-US" sz="24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slow">
    <p:dissolve/>
  </p:transition>
  <p:timing>
    <p:tnLst>
      <p:par>
        <p:cTn id="252" dur="indefinite" restart="never" nodeType="tmRoot">
          <p:childTnLst>
            <p:seq>
              <p:cTn id="253" dur="indefinite" nodeType="mainSeq">
                <p:childTnLst>
                  <p:par>
                    <p:cTn id="254" nodeType="clickEffect" fill="hold">
                      <p:stCondLst>
                        <p:cond delay="0"/>
                      </p:stCondLst>
                      <p:childTnLst>
                        <p:par>
                          <p:cTn id="255" nodeType="withEffect" fill="hold">
                            <p:stCondLst>
                              <p:cond delay="0"/>
                            </p:stCondLst>
                            <p:childTnLst>
                              <p:par>
                                <p:cTn id="256" nodeType="afterEffect" fill="hold" presetClass="entr" presetID="9">
                                  <p:stCondLst>
                                    <p:cond delay="0"/>
                                  </p:stCondLst>
                                  <p:childTnLst>
                                    <p:set>
                                      <p:cBhvr>
                                        <p:cTn id="257" dur="1" fill="hold">
                                          <p:stCondLst>
                                            <p:cond delay="0"/>
                                          </p:stCondLst>
                                        </p:cTn>
                                        <p:tgtEl>
                                          <p:spTgt spid="230">
                                            <p:txEl>
                                              <p:pRg st="0" end="0"/>
                                            </p:txEl>
                                          </p:spTgt>
                                        </p:tgtEl>
                                        <p:attrNameLst>
                                          <p:attrName>style.visibility</p:attrName>
                                        </p:attrNameLst>
                                      </p:cBhvr>
                                      <p:to>
                                        <p:strVal val="visible"/>
                                      </p:to>
                                    </p:set>
                                    <p:animEffect filter="dissolve" transition="in">
                                      <p:cBhvr additive="repl">
                                        <p:cTn id="258" dur="500"/>
                                        <p:tgtEl>
                                          <p:spTgt spid="230">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Text Box 2"/>
          <p:cNvSpPr/>
          <p:nvPr/>
        </p:nvSpPr>
        <p:spPr>
          <a:xfrm>
            <a:off x="0" y="609480"/>
            <a:ext cx="9144000" cy="666792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2750"/>
              </a:spcBef>
              <a:buClr>
                <a:srgbClr val="ffffff"/>
              </a:buClr>
              <a:buFont typeface="Calibri"/>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4400" strike="noStrike" u="none">
                <a:solidFill>
                  <a:srgbClr val="ffffff"/>
                </a:solidFill>
                <a:effectLst/>
                <a:uFillTx/>
                <a:latin typeface="Calibri"/>
                <a:ea typeface="Calibri"/>
              </a:rPr>
              <a:t>Charge et volume de d’entraînement</a:t>
            </a:r>
            <a:endParaRPr b="0" lang="en-US" sz="44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Mesure de la charge externe</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Mesure de la charge interne</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Text Box 2"/>
          <p:cNvSpPr/>
          <p:nvPr/>
        </p:nvSpPr>
        <p:spPr>
          <a:xfrm>
            <a:off x="380880" y="685800"/>
            <a:ext cx="8382240" cy="50108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6000" strike="noStrike" u="none">
                <a:solidFill>
                  <a:srgbClr val="ffffff"/>
                </a:solidFill>
                <a:effectLst/>
                <a:uFillTx/>
                <a:latin typeface="Calibri"/>
                <a:ea typeface="Calibri"/>
              </a:rPr>
              <a:t>Charge d’entraînement</a:t>
            </a:r>
            <a:endParaRPr b="0" lang="en-US" sz="6000" strike="noStrike" u="none">
              <a:solidFill>
                <a:srgbClr val="ffff00"/>
              </a:solidFill>
              <a:effectLst/>
              <a:uFillTx/>
              <a:latin typeface="Times New Roman"/>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Verchoshanski (1992)</a:t>
            </a:r>
            <a:r>
              <a:rPr b="1" lang="fr-CA" sz="2400" strike="noStrike" u="none">
                <a:solidFill>
                  <a:srgbClr val="ffffff"/>
                </a:solidFill>
                <a:effectLst/>
                <a:uFillTx/>
                <a:latin typeface="Calibri"/>
                <a:ea typeface="Calibri"/>
              </a:rPr>
              <a:t> : mesure qualitative et quantitative du travail d’entraînement</a:t>
            </a:r>
            <a:endParaRPr b="0" lang="en-US" sz="2400" strike="noStrike" u="none">
              <a:solidFill>
                <a:srgbClr val="ffff00"/>
              </a:solidFill>
              <a:effectLst/>
              <a:uFillTx/>
              <a:latin typeface="Times New Roman"/>
            </a:endParaRPr>
          </a:p>
          <a:p>
            <a:pPr algn="just">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Platonov (1988)</a:t>
            </a:r>
            <a:r>
              <a:rPr b="1" lang="fr-CA" sz="2400" strike="noStrike" u="none">
                <a:solidFill>
                  <a:srgbClr val="ffffff"/>
                </a:solidFill>
                <a:effectLst/>
                <a:uFillTx/>
                <a:latin typeface="Calibri"/>
                <a:ea typeface="Calibri"/>
              </a:rPr>
              <a:t> : charge externe / charge interne</a:t>
            </a:r>
            <a:endParaRPr b="0" lang="en-US" sz="2400" strike="noStrike" u="none">
              <a:solidFill>
                <a:srgbClr val="ffff00"/>
              </a:solidFill>
              <a:effectLst/>
              <a:uFillTx/>
              <a:latin typeface="Times New Roman"/>
            </a:endParaRPr>
          </a:p>
        </p:txBody>
      </p:sp>
      <p:sp>
        <p:nvSpPr>
          <p:cNvPr id="234" name="Text Box 3"/>
          <p:cNvSpPr/>
          <p:nvPr/>
        </p:nvSpPr>
        <p:spPr>
          <a:xfrm>
            <a:off x="685800" y="4267080"/>
            <a:ext cx="8077320" cy="2113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2400" strike="noStrike" u="none">
                <a:solidFill>
                  <a:srgbClr val="00ffff"/>
                </a:solidFill>
                <a:effectLst/>
                <a:uFillTx/>
                <a:latin typeface="Calibri"/>
                <a:ea typeface="Calibri"/>
              </a:rPr>
              <a:t>Charge externe : </a:t>
            </a:r>
            <a:r>
              <a:rPr b="1" i="1" lang="fr-CA" sz="2400" strike="noStrike" u="none">
                <a:solidFill>
                  <a:srgbClr val="ffffff"/>
                </a:solidFill>
                <a:effectLst/>
                <a:uFillTx/>
                <a:latin typeface="Calibri"/>
                <a:ea typeface="Calibri"/>
              </a:rPr>
              <a:t>caractéristiques de l’exercice (intensité, volume, difficulté)</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2400" strike="noStrike" u="none">
                <a:solidFill>
                  <a:srgbClr val="00ffff"/>
                </a:solidFill>
                <a:effectLst/>
                <a:uFillTx/>
                <a:latin typeface="Calibri"/>
                <a:ea typeface="Calibri"/>
              </a:rPr>
              <a:t>Charge interne : </a:t>
            </a:r>
            <a:r>
              <a:rPr b="1" i="1" lang="fr-CA" sz="2400" strike="noStrike" u="none">
                <a:solidFill>
                  <a:srgbClr val="ffffff"/>
                </a:solidFill>
                <a:effectLst/>
                <a:uFillTx/>
                <a:latin typeface="Calibri"/>
                <a:ea typeface="Calibri"/>
              </a:rPr>
              <a:t>adaptations aiguës et chroniques (positives ou négatives) de l’organisme à la charge externe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59" dur="indefinite" restart="never" nodeType="tmRoot">
          <p:childTnLst>
            <p:seq>
              <p:cTn id="260" dur="indefinite" nodeType="mainSeq">
                <p:childTnLst>
                  <p:par>
                    <p:cTn id="261" nodeType="clickEffect" fill="hold">
                      <p:stCondLst>
                        <p:cond delay="indefinite"/>
                      </p:stCondLst>
                      <p:childTnLst>
                        <p:par>
                          <p:cTn id="262" nodeType="withEffect" fill="hold">
                            <p:stCondLst>
                              <p:cond delay="0"/>
                            </p:stCondLst>
                            <p:childTnLst>
                              <p:par>
                                <p:cTn id="263" nodeType="clickEffect" fill="hold" presetClass="entr" presetID="1">
                                  <p:stCondLst>
                                    <p:cond delay="0"/>
                                  </p:stCondLst>
                                  <p:childTnLst>
                                    <p:set>
                                      <p:cBhvr>
                                        <p:cTn id="264" dur="1" fill="hold">
                                          <p:stCondLst>
                                            <p:cond delay="499"/>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Text Box 2"/>
          <p:cNvSpPr/>
          <p:nvPr/>
        </p:nvSpPr>
        <p:spPr>
          <a:xfrm>
            <a:off x="533520" y="685800"/>
            <a:ext cx="8076960" cy="551160"/>
          </a:xfrm>
          <a:prstGeom prst="rect">
            <a:avLst/>
          </a:prstGeom>
          <a:noFill/>
          <a:ln w="38160">
            <a:solidFill>
              <a:srgbClr val="ffffff"/>
            </a:solidFill>
            <a:miter/>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Dosage optimal de l’entraînement</a:t>
            </a:r>
            <a:endParaRPr b="0" lang="en-US" sz="3000" strike="noStrike" u="none">
              <a:solidFill>
                <a:srgbClr val="ffff00"/>
              </a:solidFill>
              <a:effectLst/>
              <a:uFillTx/>
              <a:latin typeface="Times New Roman"/>
            </a:endParaRPr>
          </a:p>
        </p:txBody>
      </p:sp>
      <p:sp>
        <p:nvSpPr>
          <p:cNvPr id="236" name="Text Box 3"/>
          <p:cNvSpPr/>
          <p:nvPr/>
        </p:nvSpPr>
        <p:spPr>
          <a:xfrm>
            <a:off x="609480" y="2819520"/>
            <a:ext cx="3505320" cy="2798640"/>
          </a:xfrm>
          <a:prstGeom prst="rect">
            <a:avLst/>
          </a:prstGeom>
          <a:noFill/>
          <a:ln w="38160">
            <a:solidFill>
              <a:srgbClr val="ffcc00"/>
            </a:solidFill>
            <a:miter/>
          </a:ln>
        </p:spPr>
        <p:style>
          <a:lnRef idx="0"/>
          <a:fillRef idx="0"/>
          <a:effectRef idx="0"/>
          <a:fontRef idx="minor"/>
        </p:style>
        <p:txBody>
          <a:bodyPr lIns="90000" rIns="90000" tIns="46800" bIns="46800" anchor="t">
            <a:spAutoFit/>
          </a:bodyPr>
          <a:p>
            <a:pPr algn="ctr">
              <a:lnSpc>
                <a:spcPct val="138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Arial"/>
              </a:rPr>
              <a:t>Contrôle </a:t>
            </a:r>
            <a:endParaRPr b="0" lang="en-US" sz="2400" strike="noStrike" u="none">
              <a:solidFill>
                <a:srgbClr val="ffff00"/>
              </a:solidFill>
              <a:effectLst/>
              <a:uFillTx/>
              <a:latin typeface="Times New Roman"/>
            </a:endParaRPr>
          </a:p>
          <a:p>
            <a:pPr algn="ctr">
              <a:lnSpc>
                <a:spcPct val="138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Arial"/>
              </a:rPr>
              <a:t>de la </a:t>
            </a:r>
            <a:endParaRPr b="0" lang="en-US" sz="2400" strike="noStrike" u="none">
              <a:solidFill>
                <a:srgbClr val="ffff00"/>
              </a:solidFill>
              <a:effectLst/>
              <a:uFillTx/>
              <a:latin typeface="Times New Roman"/>
            </a:endParaRPr>
          </a:p>
          <a:p>
            <a:pPr algn="ctr">
              <a:lnSpc>
                <a:spcPct val="138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00"/>
                </a:solidFill>
                <a:effectLst/>
                <a:uFillTx/>
                <a:latin typeface="Arial"/>
              </a:rPr>
              <a:t>CHARGE</a:t>
            </a:r>
            <a:endParaRPr b="0" lang="en-US" sz="2600" strike="noStrike" u="none">
              <a:solidFill>
                <a:srgbClr val="ffff00"/>
              </a:solidFill>
              <a:effectLst/>
              <a:uFillTx/>
              <a:latin typeface="Times New Roman"/>
            </a:endParaRPr>
          </a:p>
          <a:p>
            <a:pPr algn="ctr">
              <a:lnSpc>
                <a:spcPct val="138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fff00"/>
                </a:solidFill>
                <a:effectLst/>
                <a:uFillTx/>
                <a:latin typeface="Arial"/>
              </a:rPr>
              <a:t> </a:t>
            </a:r>
            <a:r>
              <a:rPr b="1" lang="fr-CA" sz="2600" strike="noStrike" u="none">
                <a:solidFill>
                  <a:srgbClr val="ffff00"/>
                </a:solidFill>
                <a:effectLst/>
                <a:uFillTx/>
                <a:latin typeface="Arial"/>
              </a:rPr>
              <a:t>EXTERNE</a:t>
            </a:r>
            <a:endParaRPr b="0" lang="en-US" sz="2600" strike="noStrike" u="none">
              <a:solidFill>
                <a:srgbClr val="ffff00"/>
              </a:solidFill>
              <a:effectLst/>
              <a:uFillTx/>
              <a:latin typeface="Times New Roman"/>
            </a:endParaRPr>
          </a:p>
        </p:txBody>
      </p:sp>
      <p:sp>
        <p:nvSpPr>
          <p:cNvPr id="237" name="Text Box 4"/>
          <p:cNvSpPr/>
          <p:nvPr/>
        </p:nvSpPr>
        <p:spPr>
          <a:xfrm>
            <a:off x="4952880" y="2819520"/>
            <a:ext cx="3505320" cy="2798640"/>
          </a:xfrm>
          <a:prstGeom prst="rect">
            <a:avLst/>
          </a:prstGeom>
          <a:noFill/>
          <a:ln w="38160">
            <a:solidFill>
              <a:srgbClr val="ffcc00"/>
            </a:solidFill>
            <a:miter/>
          </a:ln>
        </p:spPr>
        <p:style>
          <a:lnRef idx="0"/>
          <a:fillRef idx="0"/>
          <a:effectRef idx="0"/>
          <a:fontRef idx="minor"/>
        </p:style>
        <p:txBody>
          <a:bodyPr lIns="90000" rIns="90000" tIns="46800" bIns="46800" anchor="t">
            <a:spAutoFit/>
          </a:bodyPr>
          <a:p>
            <a:pPr algn="ctr">
              <a:lnSpc>
                <a:spcPct val="138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Arial"/>
              </a:rPr>
              <a:t>Contrôle </a:t>
            </a:r>
            <a:endParaRPr b="0" lang="en-US" sz="2400" strike="noStrike" u="none">
              <a:solidFill>
                <a:srgbClr val="ffff00"/>
              </a:solidFill>
              <a:effectLst/>
              <a:uFillTx/>
              <a:latin typeface="Times New Roman"/>
            </a:endParaRPr>
          </a:p>
          <a:p>
            <a:pPr algn="ctr">
              <a:lnSpc>
                <a:spcPct val="138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ff00"/>
                </a:solidFill>
                <a:effectLst/>
                <a:uFillTx/>
                <a:latin typeface="Arial"/>
              </a:rPr>
              <a:t>de la </a:t>
            </a:r>
            <a:endParaRPr b="0" lang="en-US" sz="2400" strike="noStrike" u="none">
              <a:solidFill>
                <a:srgbClr val="ffff00"/>
              </a:solidFill>
              <a:effectLst/>
              <a:uFillTx/>
              <a:latin typeface="Times New Roman"/>
            </a:endParaRPr>
          </a:p>
          <a:p>
            <a:pPr algn="ctr">
              <a:lnSpc>
                <a:spcPct val="138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00"/>
                </a:solidFill>
                <a:effectLst/>
                <a:uFillTx/>
                <a:latin typeface="Arial"/>
              </a:rPr>
              <a:t>CHARGE</a:t>
            </a:r>
            <a:endParaRPr b="0" lang="en-US" sz="2600" strike="noStrike" u="none">
              <a:solidFill>
                <a:srgbClr val="ffff00"/>
              </a:solidFill>
              <a:effectLst/>
              <a:uFillTx/>
              <a:latin typeface="Times New Roman"/>
            </a:endParaRPr>
          </a:p>
          <a:p>
            <a:pPr algn="ctr">
              <a:lnSpc>
                <a:spcPct val="138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00"/>
                </a:solidFill>
                <a:effectLst/>
                <a:uFillTx/>
                <a:latin typeface="Arial"/>
              </a:rPr>
              <a:t>INTERNE</a:t>
            </a:r>
            <a:endParaRPr b="0" lang="en-US" sz="2600" strike="noStrike" u="none">
              <a:solidFill>
                <a:srgbClr val="ffff00"/>
              </a:solidFill>
              <a:effectLst/>
              <a:uFillTx/>
              <a:latin typeface="Times New Roman"/>
            </a:endParaRPr>
          </a:p>
        </p:txBody>
      </p:sp>
      <p:sp>
        <p:nvSpPr>
          <p:cNvPr id="238" name="Line 5"/>
          <p:cNvSpPr/>
          <p:nvPr/>
        </p:nvSpPr>
        <p:spPr>
          <a:xfrm flipH="1">
            <a:off x="2362320" y="1295280"/>
            <a:ext cx="2133360" cy="1295640"/>
          </a:xfrm>
          <a:prstGeom prst="line">
            <a:avLst/>
          </a:prstGeom>
          <a:ln w="31680">
            <a:solidFill>
              <a:srgbClr val="ffffff"/>
            </a:solidFill>
            <a:miter/>
            <a:tailEnd len="lg" type="stealth" w="lg"/>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 name="Line 6"/>
          <p:cNvSpPr/>
          <p:nvPr/>
        </p:nvSpPr>
        <p:spPr>
          <a:xfrm>
            <a:off x="4495680" y="1295280"/>
            <a:ext cx="2210040" cy="1371600"/>
          </a:xfrm>
          <a:prstGeom prst="line">
            <a:avLst/>
          </a:prstGeom>
          <a:ln w="31680">
            <a:solidFill>
              <a:srgbClr val="ffffff"/>
            </a:solidFill>
            <a:miter/>
            <a:tailEnd len="lg" type="stealth" w="lg"/>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Text Box 2"/>
          <p:cNvSpPr/>
          <p:nvPr/>
        </p:nvSpPr>
        <p:spPr>
          <a:xfrm>
            <a:off x="228600" y="1484280"/>
            <a:ext cx="8915400" cy="4548240"/>
          </a:xfrm>
          <a:prstGeom prst="rect">
            <a:avLst/>
          </a:prstGeom>
          <a:noFill/>
          <a:ln w="0">
            <a:noFill/>
          </a:ln>
        </p:spPr>
        <p:style>
          <a:lnRef idx="0"/>
          <a:fillRef idx="0"/>
          <a:effectRef idx="0"/>
          <a:fontRef idx="minor"/>
        </p:style>
        <p:txBody>
          <a:bodyPr lIns="90000" rIns="90000" tIns="46800" bIns="46800" anchor="t">
            <a:normAutofit lnSpcReduction="9999"/>
          </a:bodyPr>
          <a:p>
            <a:pPr algn="just">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Une </a:t>
            </a:r>
            <a:r>
              <a:rPr b="1" lang="fr-FR" sz="2400" strike="noStrike" u="none">
                <a:solidFill>
                  <a:srgbClr val="ffffff"/>
                </a:solidFill>
                <a:effectLst/>
                <a:uFillTx/>
                <a:latin typeface="Calibri"/>
                <a:ea typeface="Calibri"/>
              </a:rPr>
              <a:t>« charge »</a:t>
            </a:r>
            <a:r>
              <a:rPr b="1" lang="fr-FR" sz="2400" strike="noStrike" u="none">
                <a:solidFill>
                  <a:srgbClr val="ffff00"/>
                </a:solidFill>
                <a:effectLst/>
                <a:uFillTx/>
                <a:latin typeface="Calibri"/>
                <a:ea typeface="Calibri"/>
              </a:rPr>
              <a:t> est constituée par un exercice ou/et une série d’exercices définis par leur durée, leur intensité, le nombre de leurs répétitions, la durée et la nature des récupérations entre chacun d’eux dans le but d’augmenter l’adaptation à l’origine de l’amélioration de la performance. </a:t>
            </a:r>
            <a:endParaRPr b="0" lang="en-US" sz="2400" strike="noStrike" u="none">
              <a:solidFill>
                <a:srgbClr val="ffff00"/>
              </a:solidFill>
              <a:effectLst/>
              <a:uFillTx/>
              <a:latin typeface="Times New Roman"/>
            </a:endParaRPr>
          </a:p>
          <a:p>
            <a:pPr algn="just">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Lorsque cette charge est d’un niveau élevé, le concept vague de </a:t>
            </a:r>
            <a:r>
              <a:rPr b="1" lang="fr-FR" sz="2400" strike="noStrike" u="none">
                <a:solidFill>
                  <a:srgbClr val="ffffff"/>
                </a:solidFill>
                <a:effectLst/>
                <a:uFillTx/>
                <a:latin typeface="Calibri"/>
                <a:ea typeface="Calibri"/>
              </a:rPr>
              <a:t>«surcharge»</a:t>
            </a:r>
            <a:r>
              <a:rPr b="1" lang="fr-FR" sz="2400" strike="noStrike" u="none">
                <a:solidFill>
                  <a:srgbClr val="ffff00"/>
                </a:solidFill>
                <a:effectLst/>
                <a:uFillTx/>
                <a:latin typeface="Calibri"/>
                <a:ea typeface="Calibri"/>
              </a:rPr>
              <a:t> est aussi utilisé par les entraîneurs.</a:t>
            </a:r>
            <a:endParaRPr b="0" lang="en-US" sz="2400" strike="noStrike" u="none">
              <a:solidFill>
                <a:srgbClr val="ffff00"/>
              </a:solidFill>
              <a:effectLst/>
              <a:uFillTx/>
              <a:latin typeface="Times New Roman"/>
            </a:endParaRPr>
          </a:p>
        </p:txBody>
      </p:sp>
      <p:sp>
        <p:nvSpPr>
          <p:cNvPr id="241" name="Text Box 3"/>
          <p:cNvSpPr/>
          <p:nvPr/>
        </p:nvSpPr>
        <p:spPr>
          <a:xfrm>
            <a:off x="2988720" y="380880"/>
            <a:ext cx="35092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NOTION DE CHARGE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42" name="Object 2"/>
          <p:cNvGraphicFramePr/>
          <p:nvPr/>
        </p:nvGraphicFramePr>
        <p:xfrm>
          <a:off x="1535040" y="990720"/>
          <a:ext cx="6040440" cy="4105080"/>
        </p:xfrm>
        <a:graphic>
          <a:graphicData uri="http://schemas.openxmlformats.org/presentationml/2006/ole">
            <p:oleObj r:id="rId1" spid="">
              <p:embed/>
              <p:pic>
                <p:nvPicPr>
                  <p:cNvPr id="243" name="Object 2" descr=""/>
                  <p:cNvPicPr/>
                  <p:nvPr/>
                </p:nvPicPr>
                <p:blipFill>
                  <a:blip r:embed="rId2"/>
                  <a:stretch/>
                </p:blipFill>
                <p:spPr>
                  <a:xfrm>
                    <a:off x="1535040" y="990720"/>
                    <a:ext cx="6040440" cy="4105080"/>
                  </a:xfrm>
                  <a:prstGeom prst="rect">
                    <a:avLst/>
                  </a:prstGeom>
                  <a:noFill/>
                  <a:ln w="0">
                    <a:noFill/>
                  </a:ln>
                </p:spPr>
              </p:pic>
            </p:oleObj>
          </a:graphicData>
        </a:graphic>
      </p:graphicFrame>
      <p:sp>
        <p:nvSpPr>
          <p:cNvPr id="244" name="Rectangle 3"/>
          <p:cNvSpPr/>
          <p:nvPr/>
        </p:nvSpPr>
        <p:spPr>
          <a:xfrm rot="16200000">
            <a:off x="-357120" y="2643120"/>
            <a:ext cx="31165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cc00"/>
                </a:solidFill>
                <a:effectLst/>
                <a:uFillTx/>
                <a:latin typeface="Calibri"/>
                <a:ea typeface="Calibri"/>
              </a:rPr>
              <a:t>PERFORMANCE</a:t>
            </a:r>
            <a:endParaRPr b="0" lang="en-US" sz="2400" strike="noStrike" u="none">
              <a:solidFill>
                <a:srgbClr val="ffff00"/>
              </a:solidFill>
              <a:effectLst/>
              <a:uFillTx/>
              <a:latin typeface="Times New Roman"/>
            </a:endParaRPr>
          </a:p>
        </p:txBody>
      </p:sp>
      <p:sp>
        <p:nvSpPr>
          <p:cNvPr id="245" name="Rectangle 4"/>
          <p:cNvSpPr/>
          <p:nvPr/>
        </p:nvSpPr>
        <p:spPr>
          <a:xfrm>
            <a:off x="2062080" y="5505480"/>
            <a:ext cx="4343400" cy="4582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400" strike="noStrike" u="none">
                <a:solidFill>
                  <a:srgbClr val="ffcc00"/>
                </a:solidFill>
                <a:effectLst/>
                <a:uFillTx/>
                <a:latin typeface="Calibri"/>
                <a:ea typeface="Calibri"/>
              </a:rPr>
              <a:t>Charge d’entraînement</a:t>
            </a:r>
            <a:endParaRPr b="0" lang="en-US" sz="2400" strike="noStrike" u="none">
              <a:solidFill>
                <a:srgbClr val="ffff00"/>
              </a:solidFill>
              <a:effectLst/>
              <a:uFillTx/>
              <a:latin typeface="Times New Roman"/>
            </a:endParaRPr>
          </a:p>
        </p:txBody>
      </p:sp>
      <p:sp>
        <p:nvSpPr>
          <p:cNvPr id="246" name="Rectangle 5"/>
          <p:cNvSpPr/>
          <p:nvPr/>
        </p:nvSpPr>
        <p:spPr>
          <a:xfrm>
            <a:off x="3205080" y="1467000"/>
            <a:ext cx="2514600" cy="86112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8f8f8"/>
                </a:solidFill>
                <a:effectLst/>
                <a:uFillTx/>
                <a:latin typeface="Calibri"/>
                <a:ea typeface="Calibri"/>
              </a:rPr>
              <a:t>Entraînement </a:t>
            </a:r>
            <a:endParaRPr b="0" lang="en-US" sz="2000" strike="noStrike" u="none">
              <a:solidFill>
                <a:srgbClr val="ffff00"/>
              </a:solidFill>
              <a:effectLst/>
              <a:uFillTx/>
              <a:latin typeface="Times New Roman"/>
            </a:endParaRPr>
          </a:p>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8f8f8"/>
                </a:solidFill>
                <a:effectLst/>
                <a:uFillTx/>
                <a:latin typeface="Calibri"/>
                <a:ea typeface="Calibri"/>
              </a:rPr>
              <a:t>optimal</a:t>
            </a:r>
            <a:endParaRPr b="0" lang="en-US" sz="2000" strike="noStrike" u="none">
              <a:solidFill>
                <a:srgbClr val="ffff00"/>
              </a:solidFill>
              <a:effectLst/>
              <a:uFillTx/>
              <a:latin typeface="Times New Roman"/>
            </a:endParaRPr>
          </a:p>
        </p:txBody>
      </p:sp>
      <p:sp>
        <p:nvSpPr>
          <p:cNvPr id="247" name="Rectangle 6"/>
          <p:cNvSpPr/>
          <p:nvPr/>
        </p:nvSpPr>
        <p:spPr>
          <a:xfrm>
            <a:off x="5410080" y="3733920"/>
            <a:ext cx="2762280" cy="946440"/>
          </a:xfrm>
          <a:prstGeom prst="rect">
            <a:avLst/>
          </a:prstGeom>
          <a:noFill/>
          <a:ln w="28440">
            <a:solidFill>
              <a:srgbClr val="ffff00"/>
            </a:solidFill>
            <a:miter/>
          </a:ln>
        </p:spPr>
        <p:style>
          <a:lnRef idx="0"/>
          <a:fillRef idx="0"/>
          <a:effectRef idx="0"/>
          <a:fontRef idx="minor"/>
        </p:style>
        <p:txBody>
          <a:bodyPr lIns="92160" rIns="92160" tIns="46080" bIns="4608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00"/>
                </a:solidFill>
                <a:effectLst/>
                <a:uFillTx/>
                <a:latin typeface="Calibri"/>
                <a:ea typeface="Calibri"/>
              </a:rPr>
              <a:t>Surentraînement</a:t>
            </a:r>
            <a:endParaRPr b="0" lang="en-US" sz="2800" strike="noStrike" u="none">
              <a:solidFill>
                <a:srgbClr val="ffff00"/>
              </a:solidFill>
              <a:effectLst/>
              <a:uFillTx/>
              <a:latin typeface="Times New Roman"/>
            </a:endParaRPr>
          </a:p>
        </p:txBody>
      </p:sp>
      <p:sp>
        <p:nvSpPr>
          <p:cNvPr id="248" name="Rectangle 7"/>
          <p:cNvSpPr/>
          <p:nvPr/>
        </p:nvSpPr>
        <p:spPr>
          <a:xfrm>
            <a:off x="2138400" y="3116160"/>
            <a:ext cx="2133720" cy="10072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f8f8f8"/>
                </a:solidFill>
                <a:effectLst/>
                <a:uFillTx/>
                <a:latin typeface="Calibri"/>
                <a:ea typeface="Calibri"/>
              </a:rPr>
              <a:t>Sous entraînement</a:t>
            </a:r>
            <a:endParaRPr b="0" lang="en-US" sz="2000" strike="noStrike" u="none">
              <a:solidFill>
                <a:srgbClr val="ffff00"/>
              </a:solidFill>
              <a:effectLst/>
              <a:uFillTx/>
              <a:latin typeface="Times New Roman"/>
            </a:endParaRPr>
          </a:p>
        </p:txBody>
      </p:sp>
      <p:sp>
        <p:nvSpPr>
          <p:cNvPr id="249" name="Text Box 8"/>
          <p:cNvSpPr/>
          <p:nvPr/>
        </p:nvSpPr>
        <p:spPr>
          <a:xfrm>
            <a:off x="5943600" y="2438280"/>
            <a:ext cx="294948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000" strike="noStrike" u="none">
                <a:solidFill>
                  <a:srgbClr val="00ffff"/>
                </a:solidFill>
                <a:effectLst/>
                <a:uFillTx/>
                <a:latin typeface="Calibri"/>
                <a:ea typeface="Calibri"/>
              </a:rPr>
              <a:t>Dépassement = fatigue</a:t>
            </a:r>
            <a:endParaRPr b="0" lang="en-US" sz="2000" strike="noStrike" u="none">
              <a:solidFill>
                <a:srgbClr val="ffff00"/>
              </a:solidFill>
              <a:effectLst/>
              <a:uFillTx/>
              <a:latin typeface="Times New Roman"/>
            </a:endParaRPr>
          </a:p>
        </p:txBody>
      </p:sp>
      <p:sp>
        <p:nvSpPr>
          <p:cNvPr id="250" name="Line 9"/>
          <p:cNvSpPr/>
          <p:nvPr/>
        </p:nvSpPr>
        <p:spPr>
          <a:xfrm>
            <a:off x="6324480" y="3429000"/>
            <a:ext cx="152640" cy="228600"/>
          </a:xfrm>
          <a:prstGeom prst="line">
            <a:avLst/>
          </a:prstGeom>
          <a:ln w="19080">
            <a:solidFill>
              <a:srgbClr val="ffffff"/>
            </a:solidFill>
            <a:miter/>
            <a:tailEnd len="lg" type="triangle" w="lg"/>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1" name="Line 10"/>
          <p:cNvSpPr/>
          <p:nvPr/>
        </p:nvSpPr>
        <p:spPr>
          <a:xfrm flipV="1">
            <a:off x="1681200" y="2228400"/>
            <a:ext cx="0" cy="1600200"/>
          </a:xfrm>
          <a:prstGeom prst="line">
            <a:avLst/>
          </a:prstGeom>
          <a:ln w="50760">
            <a:solidFill>
              <a:srgbClr val="ffcc00"/>
            </a:solidFill>
            <a:miter/>
            <a:tailEnd len="lg" type="stealth"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2" name="Line 11"/>
          <p:cNvSpPr/>
          <p:nvPr/>
        </p:nvSpPr>
        <p:spPr>
          <a:xfrm>
            <a:off x="3205080" y="5200560"/>
            <a:ext cx="1981440" cy="0"/>
          </a:xfrm>
          <a:prstGeom prst="line">
            <a:avLst/>
          </a:prstGeom>
          <a:ln w="50760">
            <a:solidFill>
              <a:srgbClr val="ffcc00"/>
            </a:solidFill>
            <a:miter/>
            <a:tailEnd len="lg" type="stealth"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3" name="Connecteur droit 2"/>
          <p:cNvSpPr/>
          <p:nvPr/>
        </p:nvSpPr>
        <p:spPr>
          <a:xfrm>
            <a:off x="3924360" y="1989000"/>
            <a:ext cx="0" cy="2808360"/>
          </a:xfrm>
          <a:prstGeom prst="line">
            <a:avLst/>
          </a:prstGeom>
          <a:ln w="28440">
            <a:solidFill>
              <a:srgbClr val="00cc98"/>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4" name="Connecteur droit 4"/>
          <p:cNvSpPr/>
          <p:nvPr/>
        </p:nvSpPr>
        <p:spPr>
          <a:xfrm>
            <a:off x="4932360" y="1989000"/>
            <a:ext cx="0" cy="2808360"/>
          </a:xfrm>
          <a:prstGeom prst="line">
            <a:avLst/>
          </a:prstGeom>
          <a:ln w="19080">
            <a:solidFill>
              <a:srgbClr val="00cc98"/>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Rectangle 2"/>
          <p:cNvSpPr/>
          <p:nvPr/>
        </p:nvSpPr>
        <p:spPr>
          <a:xfrm>
            <a:off x="609480" y="2438280"/>
            <a:ext cx="8305920" cy="3895560"/>
          </a:xfrm>
          <a:prstGeom prst="rect">
            <a:avLst/>
          </a:prstGeom>
          <a:noFill/>
          <a:ln w="0">
            <a:noFill/>
          </a:ln>
        </p:spPr>
        <p:style>
          <a:lnRef idx="0"/>
          <a:fillRef idx="0"/>
          <a:effectRef idx="0"/>
          <a:fontRef idx="minor"/>
        </p:style>
        <p:txBody>
          <a:bodyPr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Par </a:t>
            </a:r>
            <a:r>
              <a:rPr b="1" lang="fr-FR" sz="2400" strike="noStrike" u="none">
                <a:solidFill>
                  <a:srgbClr val="ffffff"/>
                </a:solidFill>
                <a:effectLst/>
                <a:uFillTx/>
                <a:latin typeface="Calibri"/>
                <a:ea typeface="Calibri"/>
              </a:rPr>
              <a:t>« volume »</a:t>
            </a:r>
            <a:r>
              <a:rPr b="1" lang="fr-FR" sz="2400" strike="noStrike" u="none">
                <a:solidFill>
                  <a:srgbClr val="ffff00"/>
                </a:solidFill>
                <a:effectLst/>
                <a:uFillTx/>
                <a:latin typeface="Calibri"/>
                <a:ea typeface="Calibri"/>
              </a:rPr>
              <a:t> les entraîneurs entendent l’importance, les durées d’un exercice, d’une séance ou/et d’un microcycle d’entraînement.</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Généralement, le volume est synonyme de durée importante d’un exercice ou d’une séance réalisée à des intensités infra-maximales.</a:t>
            </a:r>
            <a:endParaRPr b="0" lang="en-US" sz="2400" strike="noStrike" u="none">
              <a:solidFill>
                <a:srgbClr val="ffff00"/>
              </a:solidFill>
              <a:effectLst/>
              <a:uFillTx/>
              <a:latin typeface="Times New Roman"/>
            </a:endParaRPr>
          </a:p>
        </p:txBody>
      </p:sp>
      <p:sp>
        <p:nvSpPr>
          <p:cNvPr id="256" name="Text Box 3"/>
          <p:cNvSpPr/>
          <p:nvPr/>
        </p:nvSpPr>
        <p:spPr>
          <a:xfrm>
            <a:off x="2515680" y="1143000"/>
            <a:ext cx="35092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NOTION DE VOLUME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Text Box 2"/>
          <p:cNvSpPr/>
          <p:nvPr/>
        </p:nvSpPr>
        <p:spPr>
          <a:xfrm>
            <a:off x="0" y="609480"/>
            <a:ext cx="9144000" cy="68220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2999"/>
              </a:spcBef>
              <a:buClr>
                <a:srgbClr val="ffffff"/>
              </a:buClr>
              <a:buFont typeface="Calibri"/>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4800" strike="noStrike" u="none">
                <a:solidFill>
                  <a:srgbClr val="ffffff"/>
                </a:solidFill>
                <a:effectLst/>
                <a:uFillTx/>
                <a:latin typeface="Calibri"/>
                <a:ea typeface="Calibri"/>
              </a:rPr>
              <a:t>La charge d’entraînement</a:t>
            </a:r>
            <a:endParaRPr b="0" lang="en-US" sz="48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Mesure de la charge externe</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Mesure de la charge interne</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ext Box 2"/>
          <p:cNvSpPr/>
          <p:nvPr/>
        </p:nvSpPr>
        <p:spPr>
          <a:xfrm>
            <a:off x="228600" y="228600"/>
            <a:ext cx="8686800" cy="16171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00ffff"/>
                </a:solidFill>
                <a:effectLst/>
                <a:uFillTx/>
                <a:latin typeface="Arial"/>
              </a:rPr>
              <a:t>Carl Foster (1998)</a:t>
            </a:r>
            <a:endParaRPr b="0" lang="en-US" sz="3000" strike="noStrike" u="none">
              <a:solidFill>
                <a:srgbClr val="ffff00"/>
              </a:solidFill>
              <a:effectLst/>
              <a:uFillTx/>
              <a:latin typeface="Times New Roman"/>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Arial"/>
              </a:rPr>
              <a:t>Charge d’entraînement</a:t>
            </a:r>
            <a:r>
              <a:rPr b="1" lang="fr-CA" sz="3000" strike="noStrike" u="none">
                <a:solidFill>
                  <a:srgbClr val="ffffff"/>
                </a:solidFill>
                <a:effectLst/>
                <a:uFillTx/>
                <a:latin typeface="Arial"/>
              </a:rPr>
              <a:t> = Volume x difficulté</a:t>
            </a:r>
            <a:endParaRPr b="0" lang="en-US" sz="3000" strike="noStrike" u="none">
              <a:solidFill>
                <a:srgbClr val="ffff00"/>
              </a:solidFill>
              <a:effectLst/>
              <a:uFillTx/>
              <a:latin typeface="Times New Roman"/>
            </a:endParaRPr>
          </a:p>
        </p:txBody>
      </p:sp>
      <p:sp>
        <p:nvSpPr>
          <p:cNvPr id="259" name="Text Box 3"/>
          <p:cNvSpPr/>
          <p:nvPr/>
        </p:nvSpPr>
        <p:spPr>
          <a:xfrm>
            <a:off x="304920" y="2438280"/>
            <a:ext cx="8534160" cy="11383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Arial"/>
              </a:rPr>
              <a:t> Volume = Durée d’effort</a:t>
            </a:r>
            <a:r>
              <a:rPr b="1" lang="fr-CA" sz="2400" strike="noStrike" u="none">
                <a:solidFill>
                  <a:srgbClr val="ffffff"/>
                </a:solidFill>
                <a:effectLst/>
                <a:uFillTx/>
                <a:latin typeface="Arial"/>
              </a:rPr>
              <a:t>       </a:t>
            </a:r>
            <a:r>
              <a:rPr b="0" lang="fr-CA" sz="2400" strike="noStrike" u="none">
                <a:solidFill>
                  <a:srgbClr val="ffffff"/>
                </a:solidFill>
                <a:effectLst/>
                <a:uFillTx/>
                <a:latin typeface="Arial"/>
              </a:rPr>
              <a:t>[minutes]</a:t>
            </a:r>
            <a:endParaRPr b="0" lang="en-US" sz="2400" strike="noStrike" u="none">
              <a:solidFill>
                <a:srgbClr val="ffff00"/>
              </a:solidFill>
              <a:effectLst/>
              <a:uFillTx/>
              <a:latin typeface="Times New Roman"/>
            </a:endParaRPr>
          </a:p>
          <a:p>
            <a:pPr>
              <a:lnSpc>
                <a:spcPct val="100000"/>
              </a:lnSpc>
              <a:spcBef>
                <a:spcPts val="1500"/>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Arial"/>
              </a:rPr>
              <a:t> Difficulté = Échelle de Borg </a:t>
            </a:r>
            <a:r>
              <a:rPr b="0" lang="fr-CA" sz="2400" strike="noStrike" u="none">
                <a:solidFill>
                  <a:srgbClr val="ffffff"/>
                </a:solidFill>
                <a:effectLst/>
                <a:uFillTx/>
                <a:latin typeface="Arial"/>
              </a:rPr>
              <a:t>[1 à 10]</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60" name=""/>
          <p:cNvGraphicFramePr/>
          <p:nvPr/>
        </p:nvGraphicFramePr>
        <p:xfrm>
          <a:off x="1523880" y="914400"/>
          <a:ext cx="6096240" cy="5638680"/>
        </p:xfrm>
        <a:graphic>
          <a:graphicData uri="http://schemas.openxmlformats.org/drawingml/2006/table">
            <a:tbl>
              <a:tblPr/>
              <a:tblGrid>
                <a:gridCol w="4038840"/>
                <a:gridCol w="2057400"/>
              </a:tblGrid>
              <a:tr h="5679720">
                <a:tc>
                  <a: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Rien du tout (repos)</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Très Léger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Léger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Modéré</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Légèrement dur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Dur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Très dur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Très très dur</a:t>
                      </a:r>
                      <a:endParaRPr b="0" lang="en-US" sz="2800" strike="noStrike" u="none">
                        <a:solidFill>
                          <a:srgbClr val="ffff00"/>
                        </a:solidFill>
                        <a:effectLst/>
                        <a:uFillTx/>
                        <a:latin typeface="Times New Roman"/>
                      </a:endParaRPr>
                    </a:p>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Maximal</a:t>
                      </a:r>
                      <a:endParaRPr b="0" lang="en-US" sz="2800" strike="noStrike" u="none">
                        <a:solidFill>
                          <a:srgbClr val="ffff00"/>
                        </a:solidFill>
                        <a:effectLst/>
                        <a:uFillTx/>
                        <a:latin typeface="Times New Roman"/>
                      </a:endParaRPr>
                    </a:p>
                  </a:txBody>
                  <a:tcPr anchor="t" marL="90000" marR="90000">
                    <a:lnL>
                      <a:noFill/>
                    </a:lnL>
                    <a:lnR>
                      <a:noFill/>
                    </a:lnR>
                    <a:lnT w="13680">
                      <a:solidFill>
                        <a:srgbClr val="66ccff"/>
                      </a:solidFill>
                      <a:prstDash val="solid"/>
                    </a:lnT>
                    <a:lnB w="13680">
                      <a:solidFill>
                        <a:srgbClr val="66ccff"/>
                      </a:solidFill>
                      <a:prstDash val="solid"/>
                    </a:lnB>
                    <a:noFill/>
                  </a:tcPr>
                </a:tc>
                <a:tc>
                  <a:txBody>
                    <a:bodyPr lIns="90000" rIns="90000" tIns="46800" bIns="46800" anchor="t">
                      <a:noAutofit/>
                    </a:bodyPr>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0</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1</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2</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3</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4</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5</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6</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7</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8</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9</a:t>
                      </a:r>
                      <a:endParaRPr b="0" lang="en-US" sz="2800" strike="noStrike" u="none">
                        <a:solidFill>
                          <a:srgbClr val="ffff00"/>
                        </a:solidFill>
                        <a:effectLst/>
                        <a:uFillTx/>
                        <a:latin typeface="Times New Roman"/>
                      </a:endParaRPr>
                    </a:p>
                    <a:p>
                      <a:pPr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Times New Roman"/>
                        </a:rPr>
                        <a:t>10</a:t>
                      </a:r>
                      <a:endParaRPr b="0" lang="en-US" sz="2800" strike="noStrike" u="none">
                        <a:solidFill>
                          <a:srgbClr val="ffff00"/>
                        </a:solidFill>
                        <a:effectLst/>
                        <a:uFillTx/>
                        <a:latin typeface="Times New Roman"/>
                      </a:endParaRPr>
                    </a:p>
                  </a:txBody>
                  <a:tcPr anchor="t" marL="90000" marR="90000">
                    <a:lnL>
                      <a:noFill/>
                    </a:lnL>
                    <a:lnR>
                      <a:noFill/>
                    </a:lnR>
                    <a:lnT w="13680">
                      <a:solidFill>
                        <a:srgbClr val="66ccff"/>
                      </a:solidFill>
                      <a:prstDash val="solid"/>
                    </a:lnT>
                    <a:lnB w="13680">
                      <a:solidFill>
                        <a:srgbClr val="66ccff"/>
                      </a:solidFill>
                      <a:prstDash val="solid"/>
                    </a:lnB>
                    <a:noFill/>
                  </a:tcPr>
                </a:tc>
              </a:tr>
            </a:tbl>
          </a:graphicData>
        </a:graphic>
      </p:graphicFrame>
      <p:sp>
        <p:nvSpPr>
          <p:cNvPr id="261" name="Text Box 9"/>
          <p:cNvSpPr/>
          <p:nvPr/>
        </p:nvSpPr>
        <p:spPr>
          <a:xfrm>
            <a:off x="611280" y="0"/>
            <a:ext cx="7993080" cy="916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5400" strike="noStrike" u="none">
                <a:solidFill>
                  <a:srgbClr val="ffff00"/>
                </a:solidFill>
                <a:effectLst/>
                <a:uFillTx/>
                <a:latin typeface="Arial"/>
              </a:rPr>
              <a:t>Échelle CR10 de Borg</a:t>
            </a:r>
            <a:endParaRPr b="0" lang="en-US" sz="5400" strike="noStrike" u="none">
              <a:solidFill>
                <a:srgbClr val="ffff00"/>
              </a:solidFill>
              <a:effectLst/>
              <a:uFillTx/>
              <a:latin typeface="Times New Roman"/>
            </a:endParaRPr>
          </a:p>
        </p:txBody>
      </p:sp>
      <p:sp>
        <p:nvSpPr>
          <p:cNvPr id="262" name="Line 10"/>
          <p:cNvSpPr/>
          <p:nvPr/>
        </p:nvSpPr>
        <p:spPr>
          <a:xfrm flipV="1">
            <a:off x="3132000" y="4220640"/>
            <a:ext cx="3240360" cy="57636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3" name="Line 11"/>
          <p:cNvSpPr/>
          <p:nvPr/>
        </p:nvSpPr>
        <p:spPr>
          <a:xfrm>
            <a:off x="3132000" y="4797360"/>
            <a:ext cx="3240360" cy="5032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4" name="Line 12"/>
          <p:cNvSpPr/>
          <p:nvPr/>
        </p:nvSpPr>
        <p:spPr>
          <a:xfrm>
            <a:off x="3203640" y="4797360"/>
            <a:ext cx="309708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ext Box 2"/>
          <p:cNvSpPr/>
          <p:nvPr/>
        </p:nvSpPr>
        <p:spPr>
          <a:xfrm>
            <a:off x="228600" y="228600"/>
            <a:ext cx="8686800" cy="20743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00ffff"/>
                </a:solidFill>
                <a:effectLst/>
                <a:uFillTx/>
                <a:latin typeface="Calibri"/>
                <a:ea typeface="Calibri"/>
              </a:rPr>
              <a:t>Carl Foster (1998)</a:t>
            </a:r>
            <a:endParaRPr b="0" lang="en-US" sz="3000" strike="noStrike" u="none">
              <a:solidFill>
                <a:srgbClr val="ffff00"/>
              </a:solidFill>
              <a:effectLst/>
              <a:uFillTx/>
              <a:latin typeface="Times New Roman"/>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Calibri"/>
                <a:ea typeface="Calibri"/>
              </a:rPr>
              <a:t>Charge d’entraînement</a:t>
            </a:r>
            <a:r>
              <a:rPr b="1" lang="fr-CA" sz="3000" strike="noStrike" u="none">
                <a:solidFill>
                  <a:srgbClr val="ffffff"/>
                </a:solidFill>
                <a:effectLst/>
                <a:uFillTx/>
                <a:latin typeface="Calibri"/>
                <a:ea typeface="Calibri"/>
              </a:rPr>
              <a:t> = Volume x difficulté</a:t>
            </a:r>
            <a:endParaRPr b="0" lang="en-US" sz="3000" strike="noStrike" u="none">
              <a:solidFill>
                <a:srgbClr val="ffff00"/>
              </a:solidFill>
              <a:effectLst/>
              <a:uFillTx/>
              <a:latin typeface="Times New Roman"/>
            </a:endParaRPr>
          </a:p>
        </p:txBody>
      </p:sp>
      <p:sp>
        <p:nvSpPr>
          <p:cNvPr id="266" name="Text Box 3"/>
          <p:cNvSpPr/>
          <p:nvPr/>
        </p:nvSpPr>
        <p:spPr>
          <a:xfrm>
            <a:off x="0" y="5029200"/>
            <a:ext cx="9144000" cy="4748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500" strike="noStrike" u="none">
                <a:solidFill>
                  <a:srgbClr val="ffff00"/>
                </a:solidFill>
                <a:effectLst/>
                <a:uFillTx/>
                <a:latin typeface="Calibri"/>
                <a:ea typeface="Calibri"/>
              </a:rPr>
              <a:t>Estimation subjective (stratégie)</a:t>
            </a:r>
            <a:endParaRPr b="0" lang="en-US" sz="2500" strike="noStrike" u="none">
              <a:solidFill>
                <a:srgbClr val="ffff00"/>
              </a:solidFill>
              <a:effectLst/>
              <a:uFillTx/>
              <a:latin typeface="Times New Roman"/>
            </a:endParaRPr>
          </a:p>
        </p:txBody>
      </p:sp>
      <p:sp>
        <p:nvSpPr>
          <p:cNvPr id="267" name="Text Box 4"/>
          <p:cNvSpPr/>
          <p:nvPr/>
        </p:nvSpPr>
        <p:spPr>
          <a:xfrm>
            <a:off x="304920" y="2438280"/>
            <a:ext cx="8534160" cy="11383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 Volume = Durée d’effort</a:t>
            </a:r>
            <a:r>
              <a:rPr b="1" lang="fr-CA" sz="2400" strike="noStrike" u="none">
                <a:solidFill>
                  <a:srgbClr val="ffffff"/>
                </a:solidFill>
                <a:effectLst/>
                <a:uFillTx/>
                <a:latin typeface="Calibri"/>
                <a:ea typeface="Calibri"/>
              </a:rPr>
              <a:t>       </a:t>
            </a:r>
            <a:r>
              <a:rPr b="0" lang="fr-CA" sz="2400" strike="noStrike" u="none">
                <a:solidFill>
                  <a:srgbClr val="ffffff"/>
                </a:solidFill>
                <a:effectLst/>
                <a:uFillTx/>
                <a:latin typeface="Calibri"/>
                <a:ea typeface="Calibri"/>
              </a:rPr>
              <a:t>[minutes]</a:t>
            </a:r>
            <a:endParaRPr b="0" lang="en-US" sz="2400" strike="noStrike" u="none">
              <a:solidFill>
                <a:srgbClr val="ffff00"/>
              </a:solidFill>
              <a:effectLst/>
              <a:uFillTx/>
              <a:latin typeface="Times New Roman"/>
            </a:endParaRPr>
          </a:p>
          <a:p>
            <a:pPr>
              <a:lnSpc>
                <a:spcPct val="100000"/>
              </a:lnSpc>
              <a:spcBef>
                <a:spcPts val="150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Calibri"/>
                <a:ea typeface="Calibri"/>
              </a:rPr>
              <a:t> Difficulté = Échelle de Borg </a:t>
            </a:r>
            <a:r>
              <a:rPr b="0" lang="fr-CA" sz="2400" strike="noStrike" u="none">
                <a:solidFill>
                  <a:srgbClr val="ffffff"/>
                </a:solidFill>
                <a:effectLst/>
                <a:uFillTx/>
                <a:latin typeface="Calibri"/>
                <a:ea typeface="Calibri"/>
              </a:rPr>
              <a:t>[1 à 10]</a:t>
            </a:r>
            <a:endParaRPr b="0" lang="en-US" sz="2400" strike="noStrike" u="none">
              <a:solidFill>
                <a:srgbClr val="ffff00"/>
              </a:solidFill>
              <a:effectLst/>
              <a:uFillTx/>
              <a:latin typeface="Times New Roman"/>
            </a:endParaRPr>
          </a:p>
        </p:txBody>
      </p:sp>
      <p:sp>
        <p:nvSpPr>
          <p:cNvPr id="268" name="Text Box 5"/>
          <p:cNvSpPr/>
          <p:nvPr/>
        </p:nvSpPr>
        <p:spPr>
          <a:xfrm>
            <a:off x="0" y="4114800"/>
            <a:ext cx="8763120" cy="551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LIMITES ?</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65" dur="indefinite" restart="never" nodeType="tmRoot">
          <p:childTnLst>
            <p:seq>
              <p:cTn id="266" dur="indefinite" nodeType="mainSeq">
                <p:childTnLst>
                  <p:par>
                    <p:cTn id="267" nodeType="clickEffect" fill="hold">
                      <p:stCondLst>
                        <p:cond delay="indefinite"/>
                      </p:stCondLst>
                      <p:childTnLst>
                        <p:par>
                          <p:cTn id="268" nodeType="withEffect" fill="hold">
                            <p:stCondLst>
                              <p:cond delay="0"/>
                            </p:stCondLst>
                            <p:childTnLst>
                              <p:par>
                                <p:cTn id="269" nodeType="clickEffect" fill="hold" presetClass="entr" presetID="1">
                                  <p:stCondLst>
                                    <p:cond delay="0"/>
                                  </p:stCondLst>
                                  <p:childTnLst>
                                    <p:set>
                                      <p:cBhvr>
                                        <p:cTn id="270" dur="1" fill="hold">
                                          <p:stCondLst>
                                            <p:cond delay="499"/>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 Box 2"/>
          <p:cNvSpPr/>
          <p:nvPr/>
        </p:nvSpPr>
        <p:spPr>
          <a:xfrm>
            <a:off x="0" y="609480"/>
            <a:ext cx="9144000" cy="4778640"/>
          </a:xfrm>
          <a:prstGeom prst="rect">
            <a:avLst/>
          </a:prstGeom>
          <a:noFill/>
          <a:ln w="0">
            <a:noFill/>
          </a:ln>
        </p:spPr>
        <p:style>
          <a:lnRef idx="0"/>
          <a:fillRef idx="0"/>
          <a:effectRef idx="0"/>
          <a:fontRef idx="minor"/>
        </p:style>
        <p:txBody>
          <a:bodyPr lIns="90000" rIns="90000" tIns="46800" bIns="46800" anchor="t">
            <a:spAutoFit/>
          </a:bodyPr>
          <a:p>
            <a:pPr marL="457200" indent="-457200"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spcBef>
                <a:spcPts val="2750"/>
              </a:spcBef>
              <a:buClr>
                <a:srgbClr val="ffffff"/>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4400" strike="noStrike" u="none">
                <a:solidFill>
                  <a:srgbClr val="ffffff"/>
                </a:solidFill>
                <a:effectLst/>
                <a:uFillTx/>
                <a:latin typeface="Times New Roman"/>
              </a:rPr>
              <a:t>La charge d’entraînement</a:t>
            </a:r>
            <a:endParaRPr b="0" lang="en-US" sz="4400" strike="noStrike" u="none">
              <a:solidFill>
                <a:srgbClr val="ffff00"/>
              </a:solidFill>
              <a:effectLst/>
              <a:uFillTx/>
              <a:latin typeface="Times New Roman"/>
            </a:endParaRPr>
          </a:p>
          <a:p>
            <a:pPr marL="457200" indent="-457200">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Times New Roman"/>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Times New Roman"/>
              </a:rPr>
              <a:t>Mesure de la charge externe</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Times New Roman"/>
              </a:rPr>
              <a:t>Mesure de la charge interne</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Text Box 2"/>
          <p:cNvSpPr/>
          <p:nvPr/>
        </p:nvSpPr>
        <p:spPr>
          <a:xfrm>
            <a:off x="228600" y="228600"/>
            <a:ext cx="8686800" cy="16171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00ffff"/>
                </a:solidFill>
                <a:effectLst/>
                <a:uFillTx/>
                <a:latin typeface="Arial"/>
              </a:rPr>
              <a:t>Eric Banister (1985)</a:t>
            </a:r>
            <a:endParaRPr b="0" lang="en-US" sz="3000" strike="noStrike" u="none">
              <a:solidFill>
                <a:srgbClr val="ffff00"/>
              </a:solidFill>
              <a:effectLst/>
              <a:uFillTx/>
              <a:latin typeface="Times New Roman"/>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Arial"/>
              </a:rPr>
              <a:t>Charge d’entraînement</a:t>
            </a:r>
            <a:r>
              <a:rPr b="1" lang="fr-CA" sz="3000" strike="noStrike" u="none">
                <a:solidFill>
                  <a:srgbClr val="ffffff"/>
                </a:solidFill>
                <a:effectLst/>
                <a:uFillTx/>
                <a:latin typeface="Arial"/>
              </a:rPr>
              <a:t> = Volume x Intensité</a:t>
            </a:r>
            <a:endParaRPr b="0" lang="en-US" sz="3000" strike="noStrike" u="none">
              <a:solidFill>
                <a:srgbClr val="ffff00"/>
              </a:solidFill>
              <a:effectLst/>
              <a:uFillTx/>
              <a:latin typeface="Times New Roman"/>
            </a:endParaRPr>
          </a:p>
        </p:txBody>
      </p:sp>
      <p:sp>
        <p:nvSpPr>
          <p:cNvPr id="271" name="Text Box 3"/>
          <p:cNvSpPr/>
          <p:nvPr/>
        </p:nvSpPr>
        <p:spPr>
          <a:xfrm>
            <a:off x="228600" y="4876920"/>
            <a:ext cx="8686800" cy="2014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500" strike="noStrike" u="none">
                <a:solidFill>
                  <a:srgbClr val="ffffff"/>
                </a:solidFill>
                <a:effectLst/>
                <a:uFillTx/>
                <a:latin typeface="Arial"/>
              </a:rPr>
              <a:t>Possession d’un CFM</a:t>
            </a:r>
            <a:endParaRPr b="0" lang="en-US" sz="2500" strike="noStrike" u="none">
              <a:solidFill>
                <a:srgbClr val="ffff00"/>
              </a:solidFill>
              <a:effectLst/>
              <a:uFillTx/>
              <a:latin typeface="Times New Roman"/>
            </a:endParaRPr>
          </a:p>
          <a:p>
            <a:pPr>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500" strike="noStrike" u="none">
                <a:solidFill>
                  <a:srgbClr val="ffffff"/>
                </a:solidFill>
                <a:effectLst/>
                <a:uFillTx/>
                <a:latin typeface="Arial"/>
              </a:rPr>
              <a:t>Long à calculer </a:t>
            </a:r>
            <a:endParaRPr b="0" lang="en-US" sz="2500" strike="noStrike" u="none">
              <a:solidFill>
                <a:srgbClr val="ffff00"/>
              </a:solidFill>
              <a:effectLst/>
              <a:uFillTx/>
              <a:latin typeface="Times New Roman"/>
            </a:endParaRPr>
          </a:p>
          <a:p>
            <a:pPr>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500" strike="noStrike" u="none">
                <a:solidFill>
                  <a:srgbClr val="ffffff"/>
                </a:solidFill>
                <a:effectLst/>
                <a:uFillTx/>
                <a:latin typeface="Arial"/>
              </a:rPr>
              <a:t>Peu précis ou impossible pour les intensités proches du maximal, maximales et supra-maximales</a:t>
            </a:r>
            <a:endParaRPr b="0" lang="en-US" sz="2500" strike="noStrike" u="none">
              <a:solidFill>
                <a:srgbClr val="ffff00"/>
              </a:solidFill>
              <a:effectLst/>
              <a:uFillTx/>
              <a:latin typeface="Times New Roman"/>
            </a:endParaRPr>
          </a:p>
        </p:txBody>
      </p:sp>
      <p:sp>
        <p:nvSpPr>
          <p:cNvPr id="272" name="Text Box 4"/>
          <p:cNvSpPr/>
          <p:nvPr/>
        </p:nvSpPr>
        <p:spPr>
          <a:xfrm>
            <a:off x="0" y="2438280"/>
            <a:ext cx="9144000" cy="13287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Arial"/>
              </a:rPr>
              <a:t> Volume = Durée d’effort</a:t>
            </a:r>
            <a:r>
              <a:rPr b="1" lang="fr-CA" sz="2400" strike="noStrike" u="none">
                <a:solidFill>
                  <a:srgbClr val="ffffff"/>
                </a:solidFill>
                <a:effectLst/>
                <a:uFillTx/>
                <a:latin typeface="Arial"/>
              </a:rPr>
              <a:t>       </a:t>
            </a:r>
            <a:r>
              <a:rPr b="0" lang="fr-CA" sz="2400" strike="noStrike" u="none">
                <a:solidFill>
                  <a:srgbClr val="ffffff"/>
                </a:solidFill>
                <a:effectLst/>
                <a:uFillTx/>
                <a:latin typeface="Arial"/>
              </a:rPr>
              <a:t>[minutes]</a:t>
            </a:r>
            <a:endParaRPr b="0" lang="en-US" sz="2400" strike="noStrike" u="none">
              <a:solidFill>
                <a:srgbClr val="ffff00"/>
              </a:solidFill>
              <a:effectLst/>
              <a:uFillTx/>
              <a:latin typeface="Times New Roman"/>
            </a:endParaRPr>
          </a:p>
          <a:p>
            <a:pPr>
              <a:lnSpc>
                <a:spcPct val="50000"/>
              </a:lnSpc>
              <a:spcBef>
                <a:spcPts val="1500"/>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ffff"/>
                </a:solidFill>
                <a:effectLst/>
                <a:uFillTx/>
                <a:latin typeface="Arial"/>
              </a:rPr>
              <a:t> Intensité = % </a:t>
            </a:r>
            <a:r>
              <a:rPr b="1" i="1" lang="fr-CA" sz="2800" strike="noStrike" u="none">
                <a:solidFill>
                  <a:srgbClr val="ffffff"/>
                </a:solidFill>
                <a:effectLst/>
                <a:uFillTx/>
                <a:latin typeface="Arial"/>
              </a:rPr>
              <a:t>fc</a:t>
            </a:r>
            <a:r>
              <a:rPr b="1" lang="fr-CA" sz="2800" strike="noStrike" u="none">
                <a:solidFill>
                  <a:srgbClr val="ffffff"/>
                </a:solidFill>
                <a:effectLst/>
                <a:uFillTx/>
                <a:latin typeface="Arial"/>
              </a:rPr>
              <a:t> de réserve  </a:t>
            </a:r>
            <a:r>
              <a:rPr b="0" lang="fr-CA" sz="2400" strike="noStrike" u="sng">
                <a:solidFill>
                  <a:srgbClr val="ffffff"/>
                </a:solidFill>
                <a:effectLst/>
                <a:uFillTx/>
                <a:latin typeface="Arial"/>
              </a:rPr>
              <a:t>(</a:t>
            </a:r>
            <a:r>
              <a:rPr b="0" i="1" lang="fr-CA" sz="2800" strike="noStrike" u="sng">
                <a:solidFill>
                  <a:srgbClr val="ffffff"/>
                </a:solidFill>
                <a:effectLst/>
                <a:uFillTx/>
                <a:latin typeface="Arial"/>
              </a:rPr>
              <a:t>fc</a:t>
            </a:r>
            <a:r>
              <a:rPr b="1" lang="fr-CA" sz="2800" strike="noStrike" u="sng">
                <a:solidFill>
                  <a:srgbClr val="ffffff"/>
                </a:solidFill>
                <a:effectLst/>
                <a:uFillTx/>
                <a:latin typeface="Arial"/>
              </a:rPr>
              <a:t> </a:t>
            </a:r>
            <a:r>
              <a:rPr b="0" lang="fr-CA" sz="2400" strike="noStrike" u="sng">
                <a:solidFill>
                  <a:srgbClr val="ffffff"/>
                </a:solidFill>
                <a:effectLst/>
                <a:uFillTx/>
                <a:latin typeface="Arial"/>
              </a:rPr>
              <a:t>maxi – </a:t>
            </a:r>
            <a:r>
              <a:rPr b="0" i="1" lang="fr-CA" sz="2800" strike="noStrike" u="sng">
                <a:solidFill>
                  <a:srgbClr val="ffffff"/>
                </a:solidFill>
                <a:effectLst/>
                <a:uFillTx/>
                <a:latin typeface="Arial"/>
              </a:rPr>
              <a:t>fc</a:t>
            </a:r>
            <a:r>
              <a:rPr b="1" lang="fr-CA" sz="2800" strike="noStrike" u="sng">
                <a:solidFill>
                  <a:srgbClr val="ffffff"/>
                </a:solidFill>
                <a:effectLst/>
                <a:uFillTx/>
                <a:latin typeface="Arial"/>
              </a:rPr>
              <a:t> </a:t>
            </a:r>
            <a:r>
              <a:rPr b="0" lang="fr-CA" sz="2400" strike="noStrike" u="sng">
                <a:solidFill>
                  <a:srgbClr val="ffffff"/>
                </a:solidFill>
                <a:effectLst/>
                <a:uFillTx/>
                <a:latin typeface="Arial"/>
              </a:rPr>
              <a:t>effort)</a:t>
            </a:r>
            <a:r>
              <a:rPr b="0" lang="fr-CA" sz="2400" strike="noStrike" u="none">
                <a:solidFill>
                  <a:srgbClr val="ffffff"/>
                </a:solidFill>
                <a:effectLst/>
                <a:uFillTx/>
                <a:latin typeface="Arial"/>
              </a:rPr>
              <a:t>  </a:t>
            </a:r>
            <a:endParaRPr b="0" lang="en-US" sz="2400" strike="noStrike" u="none">
              <a:solidFill>
                <a:srgbClr val="ffff00"/>
              </a:solidFill>
              <a:effectLst/>
              <a:uFillTx/>
              <a:latin typeface="Times New Roman"/>
            </a:endParaRPr>
          </a:p>
          <a:p>
            <a:pPr>
              <a:lnSpc>
                <a:spcPct val="5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400" strike="noStrike" u="none">
                <a:solidFill>
                  <a:srgbClr val="ffffff"/>
                </a:solidFill>
                <a:effectLst/>
                <a:uFillTx/>
                <a:latin typeface="Arial"/>
              </a:rPr>
              <a:t>                                                           (</a:t>
            </a:r>
            <a:r>
              <a:rPr b="0" i="1" lang="fr-CA" sz="2800" strike="noStrike" u="none">
                <a:solidFill>
                  <a:srgbClr val="ffffff"/>
                </a:solidFill>
                <a:effectLst/>
                <a:uFillTx/>
                <a:latin typeface="Arial"/>
              </a:rPr>
              <a:t>fc</a:t>
            </a:r>
            <a:r>
              <a:rPr b="1" lang="fr-CA" sz="2800" strike="noStrike" u="none">
                <a:solidFill>
                  <a:srgbClr val="ffffff"/>
                </a:solidFill>
                <a:effectLst/>
                <a:uFillTx/>
                <a:latin typeface="Arial"/>
              </a:rPr>
              <a:t> </a:t>
            </a:r>
            <a:r>
              <a:rPr b="0" lang="fr-CA" sz="2400" strike="noStrike" u="none">
                <a:solidFill>
                  <a:srgbClr val="ffffff"/>
                </a:solidFill>
                <a:effectLst/>
                <a:uFillTx/>
                <a:latin typeface="Arial"/>
              </a:rPr>
              <a:t>maxi – </a:t>
            </a:r>
            <a:r>
              <a:rPr b="0" i="1" lang="fr-CA" sz="2800" strike="noStrike" u="none">
                <a:solidFill>
                  <a:srgbClr val="ffffff"/>
                </a:solidFill>
                <a:effectLst/>
                <a:uFillTx/>
                <a:latin typeface="Arial"/>
              </a:rPr>
              <a:t>fc</a:t>
            </a:r>
            <a:r>
              <a:rPr b="1" lang="fr-CA" sz="2800" strike="noStrike" u="none">
                <a:solidFill>
                  <a:srgbClr val="ffffff"/>
                </a:solidFill>
                <a:effectLst/>
                <a:uFillTx/>
                <a:latin typeface="Arial"/>
              </a:rPr>
              <a:t> </a:t>
            </a:r>
            <a:r>
              <a:rPr b="0" lang="fr-CA" sz="2400" strike="noStrike" u="none">
                <a:solidFill>
                  <a:srgbClr val="ffffff"/>
                </a:solidFill>
                <a:effectLst/>
                <a:uFillTx/>
                <a:latin typeface="Arial"/>
              </a:rPr>
              <a:t>mini)</a:t>
            </a:r>
            <a:endParaRPr b="0" lang="en-US" sz="2400" strike="noStrike" u="none">
              <a:solidFill>
                <a:srgbClr val="ffff00"/>
              </a:solidFill>
              <a:effectLst/>
              <a:uFillTx/>
              <a:latin typeface="Times New Roman"/>
            </a:endParaRPr>
          </a:p>
        </p:txBody>
      </p:sp>
      <p:sp>
        <p:nvSpPr>
          <p:cNvPr id="273" name="Text Box 5"/>
          <p:cNvSpPr/>
          <p:nvPr/>
        </p:nvSpPr>
        <p:spPr>
          <a:xfrm>
            <a:off x="0" y="4114800"/>
            <a:ext cx="8763120" cy="551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Arial"/>
              </a:rPr>
              <a:t>LIMITES ?</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71" dur="indefinite" restart="never" nodeType="tmRoot">
          <p:childTnLst>
            <p:seq>
              <p:cTn id="272" dur="indefinite" nodeType="mainSeq">
                <p:childTnLst>
                  <p:par>
                    <p:cTn id="273" nodeType="clickEffect" fill="hold">
                      <p:stCondLst>
                        <p:cond delay="indefinite"/>
                      </p:stCondLst>
                      <p:childTnLst>
                        <p:par>
                          <p:cTn id="274" nodeType="withEffect" fill="hold">
                            <p:stCondLst>
                              <p:cond delay="0"/>
                            </p:stCondLst>
                            <p:childTnLst>
                              <p:par>
                                <p:cTn id="275" nodeType="clickEffect" fill="hold" presetClass="entr" presetID="1">
                                  <p:stCondLst>
                                    <p:cond delay="0"/>
                                  </p:stCondLst>
                                  <p:childTnLst>
                                    <p:set>
                                      <p:cBhvr>
                                        <p:cTn id="276" dur="1" fill="hold">
                                          <p:stCondLst>
                                            <p:cond delay="499"/>
                                          </p:stCondLst>
                                        </p:cTn>
                                        <p:tgtEl>
                                          <p:spTgt spid="273"/>
                                        </p:tgtEl>
                                        <p:attrNameLst>
                                          <p:attrName>style.visibility</p:attrName>
                                        </p:attrNameLst>
                                      </p:cBhvr>
                                      <p:to>
                                        <p:strVal val="visible"/>
                                      </p:to>
                                    </p:set>
                                  </p:childTnLst>
                                </p:cTn>
                              </p:par>
                            </p:childTnLst>
                          </p:cTn>
                        </p:par>
                      </p:childTnLst>
                    </p:cTn>
                  </p:par>
                  <p:par>
                    <p:cTn id="277" nodeType="clickEffect" fill="hold">
                      <p:stCondLst>
                        <p:cond delay="indefinite"/>
                      </p:stCondLst>
                      <p:childTnLst>
                        <p:par>
                          <p:cTn id="278" nodeType="withEffect" fill="hold">
                            <p:stCondLst>
                              <p:cond delay="0"/>
                            </p:stCondLst>
                            <p:childTnLst>
                              <p:par>
                                <p:cTn id="279" nodeType="clickEffect" fill="hold" presetClass="entr" presetID="1">
                                  <p:stCondLst>
                                    <p:cond delay="0"/>
                                  </p:stCondLst>
                                  <p:childTnLst>
                                    <p:set>
                                      <p:cBhvr>
                                        <p:cTn id="280" dur="1" fill="hold">
                                          <p:stCondLst>
                                            <p:cond delay="499"/>
                                          </p:stCondLst>
                                        </p:cTn>
                                        <p:tgtEl>
                                          <p:spTgt spid="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4" name="Picture 2" descr=""/>
          <p:cNvPicPr/>
          <p:nvPr/>
        </p:nvPicPr>
        <p:blipFill>
          <a:blip r:embed="rId1"/>
          <a:srcRect l="23922" t="11930" r="20816" b="9474"/>
          <a:stretch/>
        </p:blipFill>
        <p:spPr>
          <a:xfrm>
            <a:off x="800280" y="765000"/>
            <a:ext cx="7489800" cy="5991480"/>
          </a:xfrm>
          <a:prstGeom prst="rect">
            <a:avLst/>
          </a:prstGeom>
          <a:noFill/>
          <a:ln w="0">
            <a:noFill/>
          </a:ln>
        </p:spPr>
      </p:pic>
      <p:sp>
        <p:nvSpPr>
          <p:cNvPr id="275" name="ZoneTexte 1"/>
          <p:cNvSpPr/>
          <p:nvPr/>
        </p:nvSpPr>
        <p:spPr>
          <a:xfrm>
            <a:off x="-1289520" y="109440"/>
            <a:ext cx="112899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LES OUTILS DE MESURE DE LA CHARGE :  AVANT-HIER…</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6" name="Picture 2" descr=""/>
          <p:cNvPicPr/>
          <p:nvPr/>
        </p:nvPicPr>
        <p:blipFill>
          <a:blip r:embed="rId1"/>
          <a:srcRect l="42785" t="10528" r="20421" b="32562"/>
          <a:stretch/>
        </p:blipFill>
        <p:spPr>
          <a:xfrm>
            <a:off x="4599000" y="1484280"/>
            <a:ext cx="4221000" cy="3672000"/>
          </a:xfrm>
          <a:prstGeom prst="rect">
            <a:avLst/>
          </a:prstGeom>
          <a:noFill/>
          <a:ln w="0">
            <a:noFill/>
          </a:ln>
        </p:spPr>
      </p:pic>
      <p:sp>
        <p:nvSpPr>
          <p:cNvPr id="277" name="ZoneTexte 1"/>
          <p:cNvSpPr/>
          <p:nvPr/>
        </p:nvSpPr>
        <p:spPr>
          <a:xfrm>
            <a:off x="-527760" y="115920"/>
            <a:ext cx="99694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AUJOURD’HUI MAIS PRESQUE HIER…DÉJÀ !</a:t>
            </a:r>
            <a:endParaRPr b="0" lang="en-US" sz="3600" strike="noStrike" u="none">
              <a:solidFill>
                <a:srgbClr val="ffff00"/>
              </a:solidFill>
              <a:effectLst/>
              <a:uFillTx/>
              <a:latin typeface="Times New Roman"/>
            </a:endParaRPr>
          </a:p>
        </p:txBody>
      </p:sp>
      <p:pic>
        <p:nvPicPr>
          <p:cNvPr id="278" name="Picture 2" descr=""/>
          <p:cNvPicPr/>
          <p:nvPr/>
        </p:nvPicPr>
        <p:blipFill>
          <a:blip r:embed="rId2"/>
          <a:srcRect l="28799" t="15701" r="35589" b="32683"/>
          <a:stretch/>
        </p:blipFill>
        <p:spPr>
          <a:xfrm>
            <a:off x="317520" y="1484280"/>
            <a:ext cx="4054320" cy="3672000"/>
          </a:xfrm>
          <a:prstGeom prst="rect">
            <a:avLst/>
          </a:prstGeom>
          <a:noFill/>
          <a:ln w="9360">
            <a:solidFill>
              <a:srgbClr val="ffffff"/>
            </a:solidFill>
            <a:miter/>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9" name="Picture 2" descr=""/>
          <p:cNvPicPr/>
          <p:nvPr/>
        </p:nvPicPr>
        <p:blipFill>
          <a:blip r:embed="rId1"/>
          <a:srcRect l="20211" t="17175" r="19158" b="9331"/>
          <a:stretch/>
        </p:blipFill>
        <p:spPr>
          <a:xfrm>
            <a:off x="11160" y="527040"/>
            <a:ext cx="9113760" cy="6215040"/>
          </a:xfrm>
          <a:prstGeom prst="rect">
            <a:avLst/>
          </a:prstGeom>
          <a:noFill/>
          <a:ln w="0">
            <a:noFill/>
          </a:ln>
        </p:spPr>
      </p:pic>
      <p:sp>
        <p:nvSpPr>
          <p:cNvPr id="280" name="ZoneTexte 1"/>
          <p:cNvSpPr/>
          <p:nvPr/>
        </p:nvSpPr>
        <p:spPr>
          <a:xfrm>
            <a:off x="-1013400" y="34920"/>
            <a:ext cx="11166120" cy="429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Calibri"/>
                <a:ea typeface="Calibri"/>
              </a:rPr>
              <a:t>Un véritable laboratoire embarqué sur une ceinture ou intégré dans un maillot</a:t>
            </a:r>
            <a:endParaRPr b="0" lang="en-US" sz="2200" strike="noStrike" u="none">
              <a:solidFill>
                <a:srgbClr val="ffff00"/>
              </a:solidFill>
              <a:effectLst/>
              <a:uFillTx/>
              <a:latin typeface="Times New Roman"/>
            </a:endParaRPr>
          </a:p>
        </p:txBody>
      </p:sp>
      <p:sp>
        <p:nvSpPr>
          <p:cNvPr id="281" name="ZoneTexte 2"/>
          <p:cNvSpPr/>
          <p:nvPr/>
        </p:nvSpPr>
        <p:spPr>
          <a:xfrm>
            <a:off x="2473560" y="622440"/>
            <a:ext cx="3285720" cy="642600"/>
          </a:xfrm>
          <a:prstGeom prst="rect">
            <a:avLst/>
          </a:prstGeom>
          <a:solidFill>
            <a:srgbClr val="100000"/>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AUJOURD’HUI</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2" name="Picture 2" descr=""/>
          <p:cNvPicPr/>
          <p:nvPr/>
        </p:nvPicPr>
        <p:blipFill>
          <a:blip r:embed="rId1"/>
          <a:srcRect l="791" t="64414" r="79869" b="11859"/>
          <a:stretch/>
        </p:blipFill>
        <p:spPr>
          <a:xfrm>
            <a:off x="566640" y="907920"/>
            <a:ext cx="7931160" cy="547380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83" name="Group 14"/>
          <p:cNvGrpSpPr/>
          <p:nvPr/>
        </p:nvGrpSpPr>
        <p:grpSpPr>
          <a:xfrm>
            <a:off x="0" y="3145320"/>
            <a:ext cx="3600360" cy="3638160"/>
            <a:chOff x="0" y="3145320"/>
            <a:chExt cx="3600360" cy="3638160"/>
          </a:xfrm>
        </p:grpSpPr>
        <p:sp>
          <p:nvSpPr>
            <p:cNvPr id="284" name="Text Box 8"/>
            <p:cNvSpPr/>
            <p:nvPr/>
          </p:nvSpPr>
          <p:spPr>
            <a:xfrm>
              <a:off x="888840" y="3925080"/>
              <a:ext cx="1955880" cy="522360"/>
            </a:xfrm>
            <a:prstGeom prst="rect">
              <a:avLst/>
            </a:prstGeom>
            <a:gradFill rotWithShape="0">
              <a:gsLst>
                <a:gs pos="0">
                  <a:srgbClr val="5e765e"/>
                </a:gs>
                <a:gs pos="50000">
                  <a:srgbClr val="ccffcc"/>
                </a:gs>
                <a:gs pos="100000">
                  <a:srgbClr val="5e765e"/>
                </a:gs>
              </a:gsLst>
              <a:lin ang="5400000"/>
            </a:gradFill>
            <a:ln w="9360">
              <a:solidFill>
                <a:srgbClr val="ffffff"/>
              </a:solidFill>
              <a:miter/>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60606"/>
                  </a:solidFill>
                  <a:effectLst/>
                  <a:uFillTx/>
                  <a:latin typeface="Symbol"/>
                  <a:ea typeface="Symbol"/>
                </a:rPr>
                <a:t></a:t>
              </a:r>
              <a:r>
                <a:rPr b="1" lang="fr-FR" sz="1400" strike="noStrike" u="none">
                  <a:solidFill>
                    <a:srgbClr val="060606"/>
                  </a:solidFill>
                  <a:effectLst/>
                  <a:uFillTx/>
                  <a:latin typeface="Arial"/>
                  <a:ea typeface="Times New Roman"/>
                </a:rPr>
                <a:t> [Haptoglobine] très élevé </a:t>
              </a:r>
              <a:endParaRPr b="0" lang="en-US" sz="1400" strike="noStrike" u="none">
                <a:solidFill>
                  <a:srgbClr val="ffff00"/>
                </a:solidFill>
                <a:effectLst/>
                <a:uFillTx/>
                <a:latin typeface="Times New Roman"/>
              </a:endParaRPr>
            </a:p>
          </p:txBody>
        </p:sp>
        <p:sp>
          <p:nvSpPr>
            <p:cNvPr id="285" name="Text Box 7"/>
            <p:cNvSpPr/>
            <p:nvPr/>
          </p:nvSpPr>
          <p:spPr>
            <a:xfrm>
              <a:off x="400680" y="4701240"/>
              <a:ext cx="2889000" cy="652320"/>
            </a:xfrm>
            <a:prstGeom prst="rect">
              <a:avLst/>
            </a:prstGeom>
            <a:gradFill rotWithShape="0">
              <a:gsLst>
                <a:gs pos="0">
                  <a:srgbClr val="5e765e"/>
                </a:gs>
                <a:gs pos="50000">
                  <a:srgbClr val="ccffcc"/>
                </a:gs>
                <a:gs pos="100000">
                  <a:srgbClr val="5e765e"/>
                </a:gs>
              </a:gsLst>
              <a:lin ang="5400000"/>
            </a:gradFill>
            <a:ln w="9360">
              <a:solidFill>
                <a:srgbClr val="ffffff"/>
              </a:solidFill>
              <a:miter/>
            </a:ln>
          </p:spPr>
          <p:style>
            <a:lnRef idx="0"/>
            <a:fillRef idx="0"/>
            <a:effectRef idx="0"/>
            <a:fontRef idx="minor"/>
          </p:style>
          <p:txBody>
            <a:bodyPr lIns="90000" rIns="90000" tIns="46800" bIns="46800" anchor="t">
              <a:normAutofit fontScale="925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60606"/>
                  </a:solidFill>
                  <a:effectLst/>
                  <a:uFillTx/>
                  <a:latin typeface="Symbol"/>
                  <a:ea typeface="Symbol"/>
                </a:rPr>
                <a:t></a:t>
              </a:r>
              <a:r>
                <a:rPr b="1" lang="fr-FR" sz="1400" strike="noStrike" u="none">
                  <a:solidFill>
                    <a:srgbClr val="060606"/>
                  </a:solidFill>
                  <a:effectLst/>
                  <a:uFillTx/>
                  <a:latin typeface="Arial"/>
                  <a:ea typeface="Times New Roman"/>
                </a:rPr>
                <a:t> </a:t>
              </a:r>
              <a:r>
                <a:rPr b="1" lang="fr-FR" sz="1400" strike="noStrike" u="none">
                  <a:solidFill>
                    <a:srgbClr val="060606"/>
                  </a:solidFill>
                  <a:effectLst/>
                  <a:uFillTx/>
                  <a:latin typeface="Symbol"/>
                  <a:ea typeface="Symbol"/>
                </a:rPr>
                <a:t></a:t>
              </a:r>
              <a:r>
                <a:rPr b="1" lang="fr-FR" sz="1400" strike="noStrike" u="none">
                  <a:solidFill>
                    <a:srgbClr val="060606"/>
                  </a:solidFill>
                  <a:effectLst/>
                  <a:uFillTx/>
                  <a:latin typeface="Arial"/>
                  <a:ea typeface="Times New Roman"/>
                </a:rPr>
                <a:t> [Haptoglobine] </a:t>
              </a:r>
              <a:r>
                <a:rPr b="1" lang="fr-FR" sz="1400" strike="noStrike" u="none">
                  <a:solidFill>
                    <a:srgbClr val="060606"/>
                  </a:solidFill>
                  <a:effectLst/>
                  <a:uFillTx/>
                  <a:latin typeface="Wingdings"/>
                  <a:ea typeface="Wingdings"/>
                </a:rPr>
                <a:t></a:t>
              </a:r>
              <a:r>
                <a:rPr b="1" lang="fr-FR" sz="1400" strike="noStrike" u="none">
                  <a:solidFill>
                    <a:srgbClr val="060606"/>
                  </a:solidFill>
                  <a:effectLst/>
                  <a:uFillTx/>
                  <a:latin typeface="Arial"/>
                  <a:ea typeface="Times New Roman"/>
                </a:rPr>
                <a:t> </a:t>
              </a:r>
              <a:r>
                <a:rPr b="1" lang="fr-FR" sz="1400" strike="noStrike" u="none">
                  <a:solidFill>
                    <a:srgbClr val="060606"/>
                  </a:solidFill>
                  <a:effectLst/>
                  <a:uFillTx/>
                  <a:latin typeface="Symbol"/>
                  <a:ea typeface="Symbol"/>
                </a:rPr>
                <a:t></a:t>
              </a:r>
              <a:r>
                <a:rPr b="1" lang="fr-FR" sz="1400" strike="noStrike" u="none">
                  <a:solidFill>
                    <a:srgbClr val="060606"/>
                  </a:solidFill>
                  <a:effectLst/>
                  <a:uFillTx/>
                  <a:latin typeface="Arial"/>
                  <a:ea typeface="Times New Roman"/>
                </a:rPr>
                <a:t> </a:t>
              </a:r>
              <a:r>
                <a:rPr b="1" lang="fr-FR" sz="1400" strike="noStrike" u="none">
                  <a:solidFill>
                    <a:srgbClr val="060606"/>
                  </a:solidFill>
                  <a:effectLst/>
                  <a:uFillTx/>
                  <a:latin typeface="Symbol"/>
                  <a:ea typeface="Symbol"/>
                </a:rPr>
                <a:t></a:t>
              </a:r>
              <a:r>
                <a:rPr b="1" lang="fr-FR" sz="1400" strike="noStrike" u="none">
                  <a:solidFill>
                    <a:srgbClr val="060606"/>
                  </a:solidFill>
                  <a:effectLst/>
                  <a:uFillTx/>
                  <a:latin typeface="Arial"/>
                  <a:ea typeface="Times New Roman"/>
                </a:rPr>
                <a:t> [IgM]</a:t>
              </a:r>
              <a:r>
                <a:rPr b="1" lang="fr-FR" sz="1400" strike="noStrike" u="none">
                  <a:solidFill>
                    <a:srgbClr val="060606"/>
                  </a:solidFill>
                  <a:effectLst/>
                  <a:uFillTx/>
                  <a:latin typeface="Wingdings"/>
                  <a:ea typeface="Wingdings"/>
                </a:rPr>
                <a:t></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86" name="Line 6"/>
            <p:cNvSpPr/>
            <p:nvPr/>
          </p:nvSpPr>
          <p:spPr>
            <a:xfrm flipH="1">
              <a:off x="1822320" y="4432320"/>
              <a:ext cx="6840" cy="276120"/>
            </a:xfrm>
            <a:prstGeom prst="line">
              <a:avLst/>
            </a:prstGeom>
            <a:ln w="3816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7" name="Text Box 5"/>
            <p:cNvSpPr/>
            <p:nvPr/>
          </p:nvSpPr>
          <p:spPr>
            <a:xfrm>
              <a:off x="0" y="5815080"/>
              <a:ext cx="3600360" cy="968400"/>
            </a:xfrm>
            <a:prstGeom prst="rect">
              <a:avLst/>
            </a:prstGeom>
            <a:gradFill rotWithShape="0">
              <a:gsLst>
                <a:gs pos="0">
                  <a:srgbClr val="003b00"/>
                </a:gs>
                <a:gs pos="50000">
                  <a:srgbClr val="008000"/>
                </a:gs>
                <a:gs pos="100000">
                  <a:srgbClr val="003b00"/>
                </a:gs>
              </a:gsLst>
              <a:lin ang="5400000"/>
            </a:gradFill>
            <a:ln w="9360">
              <a:solidFill>
                <a:srgbClr val="ffffff"/>
              </a:solidFill>
              <a:miter/>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ea typeface="Times New Roman"/>
                </a:rPr>
                <a:t>État à surveiller (probable état inflammatoire musculaire lié à des microtraumatismes répétés et pouvant s’avérer délétère pour la fonction musculaire)</a:t>
              </a:r>
              <a:endParaRPr b="0" lang="en-US" sz="1200" strike="noStrike" u="none">
                <a:solidFill>
                  <a:srgbClr val="ffff00"/>
                </a:solidFill>
                <a:effectLst/>
                <a:uFillTx/>
                <a:latin typeface="Times New Roman"/>
              </a:endParaRPr>
            </a:p>
          </p:txBody>
        </p:sp>
        <p:sp>
          <p:nvSpPr>
            <p:cNvPr id="288" name="Line 4"/>
            <p:cNvSpPr/>
            <p:nvPr/>
          </p:nvSpPr>
          <p:spPr>
            <a:xfrm>
              <a:off x="1778760" y="5353560"/>
              <a:ext cx="0" cy="422640"/>
            </a:xfrm>
            <a:prstGeom prst="line">
              <a:avLst/>
            </a:prstGeom>
            <a:ln w="3816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9" name="Rectangle 9"/>
            <p:cNvSpPr/>
            <p:nvPr/>
          </p:nvSpPr>
          <p:spPr>
            <a:xfrm>
              <a:off x="1275120" y="3145320"/>
              <a:ext cx="1271880" cy="368280"/>
            </a:xfrm>
            <a:prstGeom prst="rect">
              <a:avLst/>
            </a:prstGeom>
            <a:noFill/>
            <a:ln w="9360">
              <a:solidFill>
                <a:srgbClr val="ffff00"/>
              </a:solidFill>
              <a:miter/>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Times New Roman"/>
                </a:rPr>
                <a:t>2</a:t>
              </a:r>
              <a:r>
                <a:rPr b="1" lang="fr-FR" sz="1800" strike="noStrike" u="none" baseline="30000">
                  <a:solidFill>
                    <a:srgbClr val="ffff00"/>
                  </a:solidFill>
                  <a:effectLst/>
                  <a:uFillTx/>
                  <a:latin typeface="Bookman Old Style"/>
                  <a:ea typeface="Times New Roman"/>
                </a:rPr>
                <a:t>eme</a:t>
              </a:r>
              <a:r>
                <a:rPr b="1" lang="fr-FR" sz="1800" strike="noStrike" u="none">
                  <a:solidFill>
                    <a:srgbClr val="ffff00"/>
                  </a:solidFill>
                  <a:effectLst/>
                  <a:uFillTx/>
                  <a:latin typeface="Bookman Old Style"/>
                  <a:ea typeface="Times New Roman"/>
                </a:rPr>
                <a:t> Cas :</a:t>
              </a:r>
              <a:endParaRPr b="0" lang="en-US" sz="1800" strike="noStrike" u="none">
                <a:solidFill>
                  <a:srgbClr val="ffff00"/>
                </a:solidFill>
                <a:effectLst/>
                <a:uFillTx/>
                <a:latin typeface="Times New Roman"/>
              </a:endParaRPr>
            </a:p>
          </p:txBody>
        </p:sp>
      </p:grpSp>
      <p:grpSp>
        <p:nvGrpSpPr>
          <p:cNvPr id="290" name="Group 15"/>
          <p:cNvGrpSpPr/>
          <p:nvPr/>
        </p:nvGrpSpPr>
        <p:grpSpPr>
          <a:xfrm>
            <a:off x="6156360" y="3145680"/>
            <a:ext cx="2952720" cy="2958120"/>
            <a:chOff x="6156360" y="3145680"/>
            <a:chExt cx="2952720" cy="2958120"/>
          </a:xfrm>
        </p:grpSpPr>
        <p:sp>
          <p:nvSpPr>
            <p:cNvPr id="291" name="Text Box 16"/>
            <p:cNvSpPr/>
            <p:nvPr/>
          </p:nvSpPr>
          <p:spPr>
            <a:xfrm>
              <a:off x="6634080" y="4217400"/>
              <a:ext cx="1883880" cy="483840"/>
            </a:xfrm>
            <a:prstGeom prst="rect">
              <a:avLst/>
            </a:prstGeom>
            <a:gradFill rotWithShape="0">
              <a:gsLst>
                <a:gs pos="0">
                  <a:srgbClr val="0087a9"/>
                </a:gs>
                <a:gs pos="50000">
                  <a:srgbClr val="00ccff"/>
                </a:gs>
                <a:gs pos="100000">
                  <a:srgbClr val="0087a9"/>
                </a:gs>
              </a:gsLst>
              <a:lin ang="5400000"/>
            </a:gradFill>
            <a:ln w="19080">
              <a:solidFill>
                <a:srgbClr val="ffffff"/>
              </a:solidFill>
              <a:miter/>
            </a:ln>
          </p:spPr>
          <p:style>
            <a:lnRef idx="0"/>
            <a:fillRef idx="0"/>
            <a:effectRef idx="0"/>
            <a:fontRef idx="minor"/>
          </p:style>
          <p:txBody>
            <a:bodyPr lIns="90000" rIns="90000" tIns="46800" bIns="46800" anchor="t">
              <a:normAutofit/>
            </a:bodyPr>
            <a:p>
              <a:pPr algn="ctr">
                <a:lnSpc>
                  <a:spcPct val="6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60606"/>
                  </a:solidFill>
                  <a:effectLst/>
                  <a:uFillTx/>
                  <a:latin typeface="Symbol"/>
                  <a:ea typeface="Symbol"/>
                </a:rPr>
                <a:t></a:t>
              </a:r>
              <a:r>
                <a:rPr b="1" lang="fr-FR" sz="1600" strike="noStrike" u="none">
                  <a:solidFill>
                    <a:srgbClr val="060606"/>
                  </a:solidFill>
                  <a:effectLst/>
                  <a:uFillTx/>
                  <a:latin typeface="Arial"/>
                  <a:ea typeface="Times New Roman"/>
                </a:rPr>
                <a:t> Ig </a:t>
              </a:r>
              <a:r>
                <a:rPr b="1" lang="fr-FR" sz="1600" strike="noStrike" u="none">
                  <a:solidFill>
                    <a:srgbClr val="060606"/>
                  </a:solidFill>
                  <a:effectLst/>
                  <a:uFillTx/>
                  <a:latin typeface="Wingdings"/>
                  <a:ea typeface="Wingdings"/>
                </a:rPr>
                <a:t></a:t>
              </a:r>
              <a:endParaRPr b="0" lang="en-US" sz="1600" strike="noStrike" u="none">
                <a:solidFill>
                  <a:srgbClr val="ffff00"/>
                </a:solidFill>
                <a:effectLst/>
                <a:uFillTx/>
                <a:latin typeface="Times New Roman"/>
              </a:endParaRPr>
            </a:p>
          </p:txBody>
        </p:sp>
        <p:sp>
          <p:nvSpPr>
            <p:cNvPr id="292" name="Text Box 17"/>
            <p:cNvSpPr/>
            <p:nvPr/>
          </p:nvSpPr>
          <p:spPr>
            <a:xfrm>
              <a:off x="6156360" y="5158080"/>
              <a:ext cx="2952720" cy="945720"/>
            </a:xfrm>
            <a:prstGeom prst="rect">
              <a:avLst/>
            </a:prstGeom>
            <a:gradFill rotWithShape="0">
              <a:gsLst>
                <a:gs pos="0">
                  <a:srgbClr val="0044a9"/>
                </a:gs>
                <a:gs pos="50000">
                  <a:srgbClr val="0066ff"/>
                </a:gs>
                <a:gs pos="100000">
                  <a:srgbClr val="0044a9"/>
                </a:gs>
              </a:gsLst>
              <a:lin ang="5400000"/>
            </a:gradFill>
            <a:ln w="19080">
              <a:solidFill>
                <a:srgbClr val="ffff00"/>
              </a:solidFill>
              <a:miter/>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ea typeface="Times New Roman"/>
                </a:rPr>
                <a:t>Chercher d’éventuelles infections des sphères respiratoires</a:t>
              </a:r>
              <a:endParaRPr b="0" lang="en-US" sz="1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ea typeface="Times New Roman"/>
                </a:rPr>
                <a:t>Si  baisses récurrentes : état de fatigue proche du surentraînement</a:t>
              </a:r>
              <a:endParaRPr b="0" lang="en-US" sz="1200" strike="noStrike" u="none">
                <a:solidFill>
                  <a:srgbClr val="ffff00"/>
                </a:solidFill>
                <a:effectLst/>
                <a:uFillTx/>
                <a:latin typeface="Times New Roman"/>
              </a:endParaRPr>
            </a:p>
          </p:txBody>
        </p:sp>
        <p:sp>
          <p:nvSpPr>
            <p:cNvPr id="293" name="Line 18"/>
            <p:cNvSpPr/>
            <p:nvPr/>
          </p:nvSpPr>
          <p:spPr>
            <a:xfrm>
              <a:off x="7589520" y="4701600"/>
              <a:ext cx="9360" cy="461520"/>
            </a:xfrm>
            <a:prstGeom prst="line">
              <a:avLst/>
            </a:prstGeom>
            <a:ln w="3816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4" name="Rectangle 19"/>
            <p:cNvSpPr/>
            <p:nvPr/>
          </p:nvSpPr>
          <p:spPr>
            <a:xfrm>
              <a:off x="7053480" y="3145680"/>
              <a:ext cx="1271880" cy="368280"/>
            </a:xfrm>
            <a:prstGeom prst="rect">
              <a:avLst/>
            </a:prstGeom>
            <a:noFill/>
            <a:ln w="9360">
              <a:solidFill>
                <a:srgbClr val="ffff00"/>
              </a:solidFill>
              <a:miter/>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Times New Roman"/>
                </a:rPr>
                <a:t>3</a:t>
              </a:r>
              <a:r>
                <a:rPr b="1" lang="fr-FR" sz="1800" strike="noStrike" u="none" baseline="30000">
                  <a:solidFill>
                    <a:srgbClr val="ffff00"/>
                  </a:solidFill>
                  <a:effectLst/>
                  <a:uFillTx/>
                  <a:latin typeface="Bookman Old Style"/>
                  <a:ea typeface="Times New Roman"/>
                </a:rPr>
                <a:t>eme</a:t>
              </a:r>
              <a:r>
                <a:rPr b="1" lang="fr-FR" sz="1800" strike="noStrike" u="none">
                  <a:solidFill>
                    <a:srgbClr val="ffff00"/>
                  </a:solidFill>
                  <a:effectLst/>
                  <a:uFillTx/>
                  <a:latin typeface="Bookman Old Style"/>
                  <a:ea typeface="Times New Roman"/>
                </a:rPr>
                <a:t> Cas :</a:t>
              </a:r>
              <a:endParaRPr b="0" lang="en-US" sz="1800" strike="noStrike" u="none">
                <a:solidFill>
                  <a:srgbClr val="ffff00"/>
                </a:solidFill>
                <a:effectLst/>
                <a:uFillTx/>
                <a:latin typeface="Times New Roman"/>
              </a:endParaRPr>
            </a:p>
          </p:txBody>
        </p:sp>
      </p:grpSp>
      <p:grpSp>
        <p:nvGrpSpPr>
          <p:cNvPr id="295" name="Group 20"/>
          <p:cNvGrpSpPr/>
          <p:nvPr/>
        </p:nvGrpSpPr>
        <p:grpSpPr>
          <a:xfrm>
            <a:off x="2700360" y="1721160"/>
            <a:ext cx="4392360" cy="2371320"/>
            <a:chOff x="2700360" y="1721160"/>
            <a:chExt cx="4392360" cy="2371320"/>
          </a:xfrm>
        </p:grpSpPr>
        <p:sp>
          <p:nvSpPr>
            <p:cNvPr id="296" name="Text Box 21"/>
            <p:cNvSpPr/>
            <p:nvPr/>
          </p:nvSpPr>
          <p:spPr>
            <a:xfrm>
              <a:off x="2700360" y="2230200"/>
              <a:ext cx="1286640" cy="334440"/>
            </a:xfrm>
            <a:prstGeom prst="rect">
              <a:avLst/>
            </a:prstGeom>
            <a:gradFill rotWithShape="0">
              <a:gsLst>
                <a:gs pos="0">
                  <a:srgbClr val="767676"/>
                </a:gs>
                <a:gs pos="50000">
                  <a:srgbClr val="ffffff"/>
                </a:gs>
                <a:gs pos="100000">
                  <a:srgbClr val="767676"/>
                </a:gs>
              </a:gsLst>
              <a:lin ang="5400000"/>
            </a:gradFill>
            <a:ln w="5724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282828"/>
                  </a:solidFill>
                  <a:effectLst/>
                  <a:uFillTx/>
                  <a:latin typeface="Symbol"/>
                  <a:ea typeface="Symbol"/>
                </a:rPr>
                <a:t></a:t>
              </a:r>
              <a:r>
                <a:rPr b="1" lang="fr-FR" sz="1400" strike="noStrike" u="none">
                  <a:solidFill>
                    <a:srgbClr val="282828"/>
                  </a:solidFill>
                  <a:effectLst/>
                  <a:uFillTx/>
                  <a:latin typeface="Arial"/>
                  <a:ea typeface="Times New Roman"/>
                </a:rPr>
                <a:t> Urée </a:t>
              </a:r>
              <a:r>
                <a:rPr b="1" lang="fr-FR" sz="1400" strike="noStrike" u="none">
                  <a:solidFill>
                    <a:srgbClr val="282828"/>
                  </a:solidFill>
                  <a:effectLst/>
                  <a:uFillTx/>
                  <a:latin typeface="Wingdings"/>
                  <a:ea typeface="Wingdings"/>
                </a:rPr>
                <a:t></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97" name="Text Box 22"/>
            <p:cNvSpPr/>
            <p:nvPr/>
          </p:nvSpPr>
          <p:spPr>
            <a:xfrm>
              <a:off x="4093560" y="2230200"/>
              <a:ext cx="1871640" cy="311400"/>
            </a:xfrm>
            <a:prstGeom prst="rect">
              <a:avLst/>
            </a:prstGeom>
            <a:gradFill rotWithShape="0">
              <a:gsLst>
                <a:gs pos="0">
                  <a:srgbClr val="767676"/>
                </a:gs>
                <a:gs pos="50000">
                  <a:srgbClr val="ffffff"/>
                </a:gs>
                <a:gs pos="100000">
                  <a:srgbClr val="767676"/>
                </a:gs>
              </a:gsLst>
              <a:lin ang="5400000"/>
            </a:gradFill>
            <a:ln w="5724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282828"/>
                  </a:solidFill>
                  <a:effectLst/>
                  <a:uFillTx/>
                  <a:latin typeface="Symbol"/>
                  <a:ea typeface="Symbol"/>
                </a:rPr>
                <a:t></a:t>
              </a:r>
              <a:r>
                <a:rPr b="1" lang="fr-FR" sz="1400" strike="noStrike" u="none">
                  <a:solidFill>
                    <a:srgbClr val="282828"/>
                  </a:solidFill>
                  <a:effectLst/>
                  <a:uFillTx/>
                  <a:latin typeface="Arial"/>
                  <a:ea typeface="Times New Roman"/>
                </a:rPr>
                <a:t> Haptoglobine </a:t>
              </a:r>
              <a:r>
                <a:rPr b="1" lang="fr-FR" sz="1400" strike="noStrike" u="none">
                  <a:solidFill>
                    <a:srgbClr val="282828"/>
                  </a:solidFill>
                  <a:effectLst/>
                  <a:uFillTx/>
                  <a:latin typeface="Wingdings"/>
                  <a:ea typeface="Wingdings"/>
                </a:rPr>
                <a:t></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98" name="Text Box 23"/>
            <p:cNvSpPr/>
            <p:nvPr/>
          </p:nvSpPr>
          <p:spPr>
            <a:xfrm>
              <a:off x="6084360" y="2230200"/>
              <a:ext cx="1008360" cy="311400"/>
            </a:xfrm>
            <a:prstGeom prst="rect">
              <a:avLst/>
            </a:prstGeom>
            <a:gradFill rotWithShape="0">
              <a:gsLst>
                <a:gs pos="0">
                  <a:srgbClr val="767676"/>
                </a:gs>
                <a:gs pos="50000">
                  <a:srgbClr val="ffffff"/>
                </a:gs>
                <a:gs pos="100000">
                  <a:srgbClr val="767676"/>
                </a:gs>
              </a:gsLst>
              <a:lin ang="5400000"/>
            </a:gradFill>
            <a:ln w="5724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282828"/>
                  </a:solidFill>
                  <a:effectLst/>
                  <a:uFillTx/>
                  <a:latin typeface="Symbol"/>
                  <a:ea typeface="Symbol"/>
                </a:rPr>
                <a:t></a:t>
              </a:r>
              <a:r>
                <a:rPr b="1" lang="fr-FR" sz="1400" strike="noStrike" u="none">
                  <a:solidFill>
                    <a:srgbClr val="282828"/>
                  </a:solidFill>
                  <a:effectLst/>
                  <a:uFillTx/>
                  <a:latin typeface="Arial"/>
                  <a:ea typeface="Times New Roman"/>
                </a:rPr>
                <a:t> Ig </a:t>
              </a:r>
              <a:r>
                <a:rPr b="1" lang="fr-FR" sz="1400" strike="noStrike" u="none">
                  <a:solidFill>
                    <a:srgbClr val="282828"/>
                  </a:solidFill>
                  <a:effectLst/>
                  <a:uFillTx/>
                  <a:latin typeface="Wingdings"/>
                  <a:ea typeface="Wingdings"/>
                </a:rPr>
                <a:t></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99" name="Line 24"/>
            <p:cNvSpPr/>
            <p:nvPr/>
          </p:nvSpPr>
          <p:spPr>
            <a:xfrm>
              <a:off x="3590640" y="2541600"/>
              <a:ext cx="0" cy="37908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0" name="Line 25"/>
            <p:cNvSpPr/>
            <p:nvPr/>
          </p:nvSpPr>
          <p:spPr>
            <a:xfrm>
              <a:off x="4949640" y="2565000"/>
              <a:ext cx="1080" cy="54612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1" name="Line 26"/>
            <p:cNvSpPr/>
            <p:nvPr/>
          </p:nvSpPr>
          <p:spPr>
            <a:xfrm>
              <a:off x="6481440" y="2541600"/>
              <a:ext cx="0" cy="37908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2" name="Line 27"/>
            <p:cNvSpPr/>
            <p:nvPr/>
          </p:nvSpPr>
          <p:spPr>
            <a:xfrm>
              <a:off x="3590640" y="2922840"/>
              <a:ext cx="2890440" cy="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3" name="Line 28"/>
            <p:cNvSpPr/>
            <p:nvPr/>
          </p:nvSpPr>
          <p:spPr>
            <a:xfrm>
              <a:off x="4951080" y="3098520"/>
              <a:ext cx="0" cy="154440"/>
            </a:xfrm>
            <a:prstGeom prst="line">
              <a:avLst/>
            </a:prstGeom>
            <a:ln w="255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4" name="Text Box 29"/>
            <p:cNvSpPr/>
            <p:nvPr/>
          </p:nvSpPr>
          <p:spPr>
            <a:xfrm>
              <a:off x="3128760" y="3076560"/>
              <a:ext cx="3642840" cy="1015920"/>
            </a:xfrm>
            <a:prstGeom prst="rect">
              <a:avLst/>
            </a:prstGeom>
            <a:gradFill rotWithShape="0">
              <a:gsLst>
                <a:gs pos="0">
                  <a:srgbClr val="767676"/>
                </a:gs>
                <a:gs pos="50000">
                  <a:srgbClr val="ffffff"/>
                </a:gs>
                <a:gs pos="100000">
                  <a:srgbClr val="767676"/>
                </a:gs>
              </a:gsLst>
              <a:lin ang="5400000"/>
            </a:gradFill>
            <a:ln w="5724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60606"/>
                  </a:solidFill>
                  <a:effectLst/>
                  <a:uFillTx/>
                  <a:latin typeface="Arial"/>
                  <a:ea typeface="Times New Roman"/>
                </a:rPr>
                <a:t>État de fatigue à la limite du surentraînement : période de récupération active très fortement conseillée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305" name="Rectangle 30"/>
            <p:cNvSpPr/>
            <p:nvPr/>
          </p:nvSpPr>
          <p:spPr>
            <a:xfrm>
              <a:off x="4386600" y="1721160"/>
              <a:ext cx="1123200" cy="368280"/>
            </a:xfrm>
            <a:prstGeom prst="rect">
              <a:avLst/>
            </a:prstGeom>
            <a:noFill/>
            <a:ln w="9360">
              <a:solidFill>
                <a:srgbClr val="ffff00"/>
              </a:solidFill>
              <a:miter/>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Times New Roman"/>
                </a:rPr>
                <a:t>1</a:t>
              </a:r>
              <a:r>
                <a:rPr b="1" lang="fr-FR" sz="1800" strike="noStrike" u="none" baseline="30000">
                  <a:solidFill>
                    <a:srgbClr val="ffff00"/>
                  </a:solidFill>
                  <a:effectLst/>
                  <a:uFillTx/>
                  <a:latin typeface="Bookman Old Style"/>
                  <a:ea typeface="Times New Roman"/>
                </a:rPr>
                <a:t>er</a:t>
              </a:r>
              <a:r>
                <a:rPr b="1" lang="fr-FR" sz="1800" strike="noStrike" u="none">
                  <a:solidFill>
                    <a:srgbClr val="ffff00"/>
                  </a:solidFill>
                  <a:effectLst/>
                  <a:uFillTx/>
                  <a:latin typeface="Bookman Old Style"/>
                  <a:ea typeface="Times New Roman"/>
                </a:rPr>
                <a:t> Cas :</a:t>
              </a:r>
              <a:endParaRPr b="0" lang="en-US" sz="1800" strike="noStrike" u="none">
                <a:solidFill>
                  <a:srgbClr val="ffff00"/>
                </a:solidFill>
                <a:effectLst/>
                <a:uFillTx/>
                <a:latin typeface="Times New Roman"/>
              </a:endParaRPr>
            </a:p>
          </p:txBody>
        </p:sp>
      </p:grpSp>
      <p:sp>
        <p:nvSpPr>
          <p:cNvPr id="306" name="Text Box 31"/>
          <p:cNvSpPr/>
          <p:nvPr/>
        </p:nvSpPr>
        <p:spPr>
          <a:xfrm>
            <a:off x="2593800" y="1125360"/>
            <a:ext cx="4057920" cy="459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ARBRES DECISIONNELS</a:t>
            </a:r>
            <a:endParaRPr b="0" lang="en-US" sz="2400" strike="noStrike" u="none">
              <a:solidFill>
                <a:srgbClr val="ffff00"/>
              </a:solidFill>
              <a:effectLst/>
              <a:uFillTx/>
              <a:latin typeface="Times New Roman"/>
            </a:endParaRPr>
          </a:p>
        </p:txBody>
      </p:sp>
      <p:sp>
        <p:nvSpPr>
          <p:cNvPr id="307" name="ZoneTexte 4"/>
          <p:cNvSpPr/>
          <p:nvPr/>
        </p:nvSpPr>
        <p:spPr>
          <a:xfrm>
            <a:off x="298440" y="87480"/>
            <a:ext cx="7821720" cy="825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AUTRES MESURES DE LA CHARGE INTERNE :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MESURES BIOLOGIQUES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81" dur="indefinite" restart="never" nodeType="tmRoot">
          <p:childTnLst>
            <p:seq>
              <p:cTn id="282" dur="indefinite" nodeType="mainSeq">
                <p:childTnLst>
                  <p:par>
                    <p:cTn id="283" nodeType="clickEffect" fill="hold">
                      <p:stCondLst>
                        <p:cond delay="indefinite"/>
                      </p:stCondLst>
                      <p:childTnLst>
                        <p:par>
                          <p:cTn id="284" nodeType="withEffect" fill="hold">
                            <p:stCondLst>
                              <p:cond delay="0"/>
                            </p:stCondLst>
                            <p:childTnLst>
                              <p:par>
                                <p:cTn id="285" nodeType="clickEffect" fill="hold" presetClass="entr" presetID="53">
                                  <p:stCondLst>
                                    <p:cond delay="0"/>
                                  </p:stCondLst>
                                  <p:childTnLst>
                                    <p:set>
                                      <p:cBhvr>
                                        <p:cTn id="286" dur="1" fill="hold">
                                          <p:stCondLst>
                                            <p:cond delay="0"/>
                                          </p:stCondLst>
                                        </p:cTn>
                                        <p:tgtEl>
                                          <p:spTgt spid="295"/>
                                        </p:tgtEl>
                                        <p:attrNameLst>
                                          <p:attrName>style.visibility</p:attrName>
                                        </p:attrNameLst>
                                      </p:cBhvr>
                                      <p:to>
                                        <p:strVal val="visible"/>
                                      </p:to>
                                    </p:set>
                                    <p:anim calcmode="lin" valueType="num">
                                      <p:cBhvr additive="repl">
                                        <p:cTn id="287" dur="500" fill="hold"/>
                                        <p:tgtEl>
                                          <p:spTgt spid="295"/>
                                        </p:tgtEl>
                                        <p:attrNameLst>
                                          <p:attrName>ppt_w</p:attrName>
                                        </p:attrNameLst>
                                      </p:cBhvr>
                                      <p:tavLst>
                                        <p:tav tm="0">
                                          <p:val>
                                            <p:fltVal val="0"/>
                                          </p:val>
                                        </p:tav>
                                        <p:tav tm="100000">
                                          <p:val>
                                            <p:strVal val="#ppt_w"/>
                                          </p:val>
                                        </p:tav>
                                      </p:tavLst>
                                    </p:anim>
                                    <p:anim calcmode="lin" valueType="num">
                                      <p:cBhvr additive="repl">
                                        <p:cTn id="288" dur="500" fill="hold"/>
                                        <p:tgtEl>
                                          <p:spTgt spid="295"/>
                                        </p:tgtEl>
                                        <p:attrNameLst>
                                          <p:attrName>ppt_h</p:attrName>
                                        </p:attrNameLst>
                                      </p:cBhvr>
                                      <p:tavLst>
                                        <p:tav tm="0">
                                          <p:val>
                                            <p:fltVal val="0"/>
                                          </p:val>
                                        </p:tav>
                                        <p:tav tm="100000">
                                          <p:val>
                                            <p:strVal val="#ppt_h"/>
                                          </p:val>
                                        </p:tav>
                                      </p:tavLst>
                                    </p:anim>
                                    <p:animEffect filter="fade" transition="in">
                                      <p:cBhvr additive="repl">
                                        <p:cTn id="289" dur="500"/>
                                        <p:tgtEl>
                                          <p:spTgt spid="295"/>
                                        </p:tgtEl>
                                      </p:cBhvr>
                                    </p:animEffect>
                                  </p:childTnLst>
                                </p:cTn>
                              </p:par>
                            </p:childTnLst>
                          </p:cTn>
                        </p:par>
                      </p:childTnLst>
                    </p:cTn>
                  </p:par>
                  <p:par>
                    <p:cTn id="290" nodeType="clickEffect" fill="hold">
                      <p:stCondLst>
                        <p:cond delay="indefinite"/>
                      </p:stCondLst>
                      <p:childTnLst>
                        <p:par>
                          <p:cTn id="291" nodeType="withEffect" fill="hold">
                            <p:stCondLst>
                              <p:cond delay="0"/>
                            </p:stCondLst>
                            <p:childTnLst>
                              <p:par>
                                <p:cTn id="292" nodeType="clickEffect" fill="hold" presetClass="entr" presetID="53">
                                  <p:stCondLst>
                                    <p:cond delay="0"/>
                                  </p:stCondLst>
                                  <p:childTnLst>
                                    <p:set>
                                      <p:cBhvr>
                                        <p:cTn id="293" dur="1" fill="hold">
                                          <p:stCondLst>
                                            <p:cond delay="0"/>
                                          </p:stCondLst>
                                        </p:cTn>
                                        <p:tgtEl>
                                          <p:spTgt spid="283"/>
                                        </p:tgtEl>
                                        <p:attrNameLst>
                                          <p:attrName>style.visibility</p:attrName>
                                        </p:attrNameLst>
                                      </p:cBhvr>
                                      <p:to>
                                        <p:strVal val="visible"/>
                                      </p:to>
                                    </p:set>
                                    <p:anim calcmode="lin" valueType="num">
                                      <p:cBhvr additive="repl">
                                        <p:cTn id="294" dur="500" fill="hold"/>
                                        <p:tgtEl>
                                          <p:spTgt spid="283"/>
                                        </p:tgtEl>
                                        <p:attrNameLst>
                                          <p:attrName>ppt_w</p:attrName>
                                        </p:attrNameLst>
                                      </p:cBhvr>
                                      <p:tavLst>
                                        <p:tav tm="0">
                                          <p:val>
                                            <p:fltVal val="0"/>
                                          </p:val>
                                        </p:tav>
                                        <p:tav tm="100000">
                                          <p:val>
                                            <p:strVal val="#ppt_w"/>
                                          </p:val>
                                        </p:tav>
                                      </p:tavLst>
                                    </p:anim>
                                    <p:anim calcmode="lin" valueType="num">
                                      <p:cBhvr additive="repl">
                                        <p:cTn id="295" dur="500" fill="hold"/>
                                        <p:tgtEl>
                                          <p:spTgt spid="283"/>
                                        </p:tgtEl>
                                        <p:attrNameLst>
                                          <p:attrName>ppt_h</p:attrName>
                                        </p:attrNameLst>
                                      </p:cBhvr>
                                      <p:tavLst>
                                        <p:tav tm="0">
                                          <p:val>
                                            <p:fltVal val="0"/>
                                          </p:val>
                                        </p:tav>
                                        <p:tav tm="100000">
                                          <p:val>
                                            <p:strVal val="#ppt_h"/>
                                          </p:val>
                                        </p:tav>
                                      </p:tavLst>
                                    </p:anim>
                                    <p:animEffect filter="fade" transition="in">
                                      <p:cBhvr additive="repl">
                                        <p:cTn id="296" dur="500"/>
                                        <p:tgtEl>
                                          <p:spTgt spid="283"/>
                                        </p:tgtEl>
                                      </p:cBhvr>
                                    </p:animEffect>
                                  </p:childTnLst>
                                </p:cTn>
                              </p:par>
                            </p:childTnLst>
                          </p:cTn>
                        </p:par>
                      </p:childTnLst>
                    </p:cTn>
                  </p:par>
                  <p:par>
                    <p:cTn id="297" nodeType="clickEffect" fill="hold">
                      <p:stCondLst>
                        <p:cond delay="indefinite"/>
                      </p:stCondLst>
                      <p:childTnLst>
                        <p:par>
                          <p:cTn id="298" nodeType="withEffect" fill="hold">
                            <p:stCondLst>
                              <p:cond delay="0"/>
                            </p:stCondLst>
                            <p:childTnLst>
                              <p:par>
                                <p:cTn id="299" nodeType="clickEffect" fill="hold" presetClass="entr" presetID="53">
                                  <p:stCondLst>
                                    <p:cond delay="0"/>
                                  </p:stCondLst>
                                  <p:childTnLst>
                                    <p:set>
                                      <p:cBhvr>
                                        <p:cTn id="300" dur="1" fill="hold">
                                          <p:stCondLst>
                                            <p:cond delay="0"/>
                                          </p:stCondLst>
                                        </p:cTn>
                                        <p:tgtEl>
                                          <p:spTgt spid="290"/>
                                        </p:tgtEl>
                                        <p:attrNameLst>
                                          <p:attrName>style.visibility</p:attrName>
                                        </p:attrNameLst>
                                      </p:cBhvr>
                                      <p:to>
                                        <p:strVal val="visible"/>
                                      </p:to>
                                    </p:set>
                                    <p:anim calcmode="lin" valueType="num">
                                      <p:cBhvr additive="repl">
                                        <p:cTn id="301" dur="500" fill="hold"/>
                                        <p:tgtEl>
                                          <p:spTgt spid="290"/>
                                        </p:tgtEl>
                                        <p:attrNameLst>
                                          <p:attrName>ppt_w</p:attrName>
                                        </p:attrNameLst>
                                      </p:cBhvr>
                                      <p:tavLst>
                                        <p:tav tm="0">
                                          <p:val>
                                            <p:fltVal val="0"/>
                                          </p:val>
                                        </p:tav>
                                        <p:tav tm="100000">
                                          <p:val>
                                            <p:strVal val="#ppt_w"/>
                                          </p:val>
                                        </p:tav>
                                      </p:tavLst>
                                    </p:anim>
                                    <p:anim calcmode="lin" valueType="num">
                                      <p:cBhvr additive="repl">
                                        <p:cTn id="302" dur="500" fill="hold"/>
                                        <p:tgtEl>
                                          <p:spTgt spid="290"/>
                                        </p:tgtEl>
                                        <p:attrNameLst>
                                          <p:attrName>ppt_h</p:attrName>
                                        </p:attrNameLst>
                                      </p:cBhvr>
                                      <p:tavLst>
                                        <p:tav tm="0">
                                          <p:val>
                                            <p:fltVal val="0"/>
                                          </p:val>
                                        </p:tav>
                                        <p:tav tm="100000">
                                          <p:val>
                                            <p:strVal val="#ppt_h"/>
                                          </p:val>
                                        </p:tav>
                                      </p:tavLst>
                                    </p:anim>
                                    <p:animEffect filter="fade" transition="in">
                                      <p:cBhvr additive="repl">
                                        <p:cTn id="303"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ZoneTexte 1"/>
          <p:cNvSpPr/>
          <p:nvPr/>
        </p:nvSpPr>
        <p:spPr>
          <a:xfrm>
            <a:off x="-1012680" y="312840"/>
            <a:ext cx="1096992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rPr>
              <a:t>DIFFERENTES FORMES DE PREPARATIONS PHYSIQUES</a:t>
            </a:r>
            <a:endParaRPr b="0" lang="en-US" sz="2800" strike="noStrike" u="none">
              <a:solidFill>
                <a:srgbClr val="ffff00"/>
              </a:solidFill>
              <a:effectLst/>
              <a:uFillTx/>
              <a:latin typeface="Times New Roman"/>
            </a:endParaRPr>
          </a:p>
        </p:txBody>
      </p:sp>
      <p:cxnSp>
        <p:nvCxnSpPr>
          <p:cNvPr id="309" name="Connecteur droit avec flèche 3"/>
          <p:cNvCxnSpPr/>
          <p:nvPr/>
        </p:nvCxnSpPr>
        <p:spPr>
          <a:xfrm flipH="1">
            <a:off x="1547280" y="785880"/>
            <a:ext cx="953280" cy="627840"/>
          </a:xfrm>
          <a:prstGeom prst="straightConnector1">
            <a:avLst/>
          </a:prstGeom>
          <a:ln w="28440">
            <a:solidFill>
              <a:srgbClr val="ffff00"/>
            </a:solidFill>
            <a:miter/>
            <a:tailEnd len="med" type="arrow" w="med"/>
          </a:ln>
        </p:spPr>
      </p:cxnSp>
      <p:sp>
        <p:nvSpPr>
          <p:cNvPr id="310" name="ZoneTexte 4"/>
          <p:cNvSpPr/>
          <p:nvPr/>
        </p:nvSpPr>
        <p:spPr>
          <a:xfrm>
            <a:off x="142920" y="1413000"/>
            <a:ext cx="2428920" cy="161856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TYPE ATHLETIQUE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Le joueur « athlète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cxnSp>
        <p:nvCxnSpPr>
          <p:cNvPr id="311" name="Connecteur droit avec flèche 6"/>
          <p:cNvCxnSpPr/>
          <p:nvPr/>
        </p:nvCxnSpPr>
        <p:spPr>
          <a:xfrm>
            <a:off x="4142880" y="857160"/>
            <a:ext cx="1080" cy="556560"/>
          </a:xfrm>
          <a:prstGeom prst="straightConnector1">
            <a:avLst/>
          </a:prstGeom>
          <a:ln w="28440">
            <a:solidFill>
              <a:srgbClr val="ffff00"/>
            </a:solidFill>
            <a:miter/>
            <a:tailEnd len="med" type="arrow" w="med"/>
          </a:ln>
        </p:spPr>
      </p:cxnSp>
      <p:sp>
        <p:nvSpPr>
          <p:cNvPr id="312" name="ZoneTexte 7"/>
          <p:cNvSpPr/>
          <p:nvPr/>
        </p:nvSpPr>
        <p:spPr>
          <a:xfrm>
            <a:off x="2771640" y="1413000"/>
            <a:ext cx="2737080" cy="131364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TYPE INTEGRE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Jeu programmé : boucle fermée, automatismes</a:t>
            </a:r>
            <a:endParaRPr b="0" lang="en-US" sz="2000" strike="noStrike" u="none">
              <a:solidFill>
                <a:srgbClr val="ffff00"/>
              </a:solidFill>
              <a:effectLst/>
              <a:uFillTx/>
              <a:latin typeface="Times New Roman"/>
            </a:endParaRPr>
          </a:p>
        </p:txBody>
      </p:sp>
      <p:cxnSp>
        <p:nvCxnSpPr>
          <p:cNvPr id="313" name="Connecteur droit avec flèche 9"/>
          <p:cNvCxnSpPr/>
          <p:nvPr/>
        </p:nvCxnSpPr>
        <p:spPr>
          <a:xfrm>
            <a:off x="5928840" y="856800"/>
            <a:ext cx="554760" cy="484920"/>
          </a:xfrm>
          <a:prstGeom prst="straightConnector1">
            <a:avLst/>
          </a:prstGeom>
          <a:ln w="28440">
            <a:solidFill>
              <a:srgbClr val="ffff00"/>
            </a:solidFill>
            <a:miter/>
            <a:tailEnd len="med" type="arrow" w="med"/>
          </a:ln>
        </p:spPr>
      </p:cxnSp>
      <p:sp>
        <p:nvSpPr>
          <p:cNvPr id="314" name="ZoneTexte 10"/>
          <p:cNvSpPr/>
          <p:nvPr/>
        </p:nvSpPr>
        <p:spPr>
          <a:xfrm>
            <a:off x="5651640" y="1413000"/>
            <a:ext cx="3384360" cy="161856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TYPE CONTEXTUALISE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Jeu à thème : boucle ouverte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rPr>
              <a:t>auto adaptation, créativité</a:t>
            </a:r>
            <a:endParaRPr b="0" lang="en-US" sz="2000" strike="noStrike" u="none">
              <a:solidFill>
                <a:srgbClr val="ffff00"/>
              </a:solidFill>
              <a:effectLst/>
              <a:uFillTx/>
              <a:latin typeface="Times New Roman"/>
            </a:endParaRPr>
          </a:p>
        </p:txBody>
      </p:sp>
      <p:sp>
        <p:nvSpPr>
          <p:cNvPr id="315" name="ZoneTexte 8"/>
          <p:cNvSpPr/>
          <p:nvPr/>
        </p:nvSpPr>
        <p:spPr>
          <a:xfrm>
            <a:off x="-266400" y="2428920"/>
            <a:ext cx="3247560" cy="436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Exercices sans ballon</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Avantages : </a:t>
            </a:r>
            <a:endParaRPr b="0" lang="en-US" sz="20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meilleurs contrôle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de tous les paramètres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de l’exercice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(intensité, durée, nbre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de répétions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récupération</a:t>
            </a:r>
            <a:endParaRPr b="0" lang="en-US" sz="18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Permet de mieux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développer la qualité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visée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Limite : </a:t>
            </a:r>
            <a:r>
              <a:rPr b="0" lang="fr-FR" sz="1800" strike="noStrike" u="none">
                <a:solidFill>
                  <a:srgbClr val="ffffff"/>
                </a:solidFill>
                <a:effectLst/>
                <a:uFillTx/>
                <a:latin typeface="Calibri"/>
              </a:rPr>
              <a:t>Eloigné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  conditions du terrain</a:t>
            </a:r>
            <a:endParaRPr b="0" lang="en-US" sz="1800" strike="noStrike" u="none">
              <a:solidFill>
                <a:srgbClr val="ffff00"/>
              </a:solidFill>
              <a:effectLst/>
              <a:uFillTx/>
              <a:latin typeface="Times New Roman"/>
            </a:endParaRPr>
          </a:p>
        </p:txBody>
      </p:sp>
      <p:sp>
        <p:nvSpPr>
          <p:cNvPr id="316" name="ZoneTexte 13"/>
          <p:cNvSpPr/>
          <p:nvPr/>
        </p:nvSpPr>
        <p:spPr>
          <a:xfrm>
            <a:off x="2438280" y="2459160"/>
            <a:ext cx="3729240" cy="44535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Exercices avec ballon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1 joueur, 2  joueurs ou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partenaires, 2 joueurs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ou + adversaires.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Avantages :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boucles fermées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Amélioration des gammes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technico-tactiques intégrées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à la préparation physique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Limite : </a:t>
            </a:r>
            <a:r>
              <a:rPr b="0" lang="fr-FR" sz="1800" strike="noStrike" u="none">
                <a:solidFill>
                  <a:srgbClr val="ffffff"/>
                </a:solidFill>
                <a:effectLst/>
                <a:uFillTx/>
                <a:latin typeface="Calibri"/>
              </a:rPr>
              <a:t>Intensités difficiles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à contrôler … souvent infra</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maximales.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317" name="ZoneTexte 17"/>
          <p:cNvSpPr/>
          <p:nvPr/>
        </p:nvSpPr>
        <p:spPr>
          <a:xfrm>
            <a:off x="5888160" y="2428920"/>
            <a:ext cx="3255840" cy="6921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Séquences de jeu dans les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conditions de match.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Paramètres  à maîtriser : nbe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de joueurs, surface de jeu,</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durée, thème, règles…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Avantages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Boucles ouvertes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Amélioration des gammes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technico-tactiques intégrées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au jeu + intensités proches de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celles du match.</a:t>
            </a:r>
            <a:endParaRPr b="0" lang="en-US" sz="18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rPr>
              <a:t>Limites : </a:t>
            </a:r>
            <a:r>
              <a:rPr b="0" lang="fr-FR" sz="1800" strike="noStrike" u="none">
                <a:solidFill>
                  <a:srgbClr val="ffffff"/>
                </a:solidFill>
                <a:effectLst/>
                <a:uFillTx/>
                <a:latin typeface="Calibri"/>
              </a:rPr>
              <a:t>Intensités difficiles</a:t>
            </a:r>
            <a:endParaRPr b="0" lang="en-US" sz="18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à contrôler  et correction des </a:t>
            </a:r>
            <a:endParaRPr b="0" lang="en-US" sz="18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rPr>
              <a:t>gestes techniques </a:t>
            </a:r>
            <a:r>
              <a:rPr b="0" i="1" lang="fr-FR" sz="1800" strike="noStrike" u="none">
                <a:solidFill>
                  <a:srgbClr val="ffffff"/>
                </a:solidFill>
                <a:effectLst/>
                <a:uFillTx/>
                <a:latin typeface="Calibri"/>
              </a:rPr>
              <a:t>a posteriori</a:t>
            </a:r>
            <a:r>
              <a:rPr b="1" lang="fr-FR" sz="2000" strike="noStrike" u="none">
                <a:solidFill>
                  <a:srgbClr val="000000"/>
                </a:solidFill>
                <a:effectLst/>
                <a:uFillTx/>
                <a:latin typeface="Calibri"/>
              </a:rPr>
              <a:t>.</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304" dur="indefinite" restart="never" nodeType="tmRoot">
          <p:childTnLst>
            <p:seq>
              <p:cTn id="305" dur="indefinite" nodeType="mainSeq">
                <p:childTnLst>
                  <p:par>
                    <p:cTn id="306" nodeType="clickEffect" fill="hold">
                      <p:stCondLst>
                        <p:cond delay="indefinite"/>
                      </p:stCondLst>
                      <p:childTnLst>
                        <p:par>
                          <p:cTn id="307" nodeType="withEffect" fill="hold">
                            <p:stCondLst>
                              <p:cond delay="0"/>
                            </p:stCondLst>
                            <p:childTnLst>
                              <p:par>
                                <p:cTn id="308" nodeType="clickEffect" fill="hold" presetClass="entr" presetID="53" presetSubtype="16">
                                  <p:stCondLst>
                                    <p:cond delay="0"/>
                                  </p:stCondLst>
                                  <p:childTnLst>
                                    <p:set>
                                      <p:cBhvr>
                                        <p:cTn id="309" dur="1" fill="hold">
                                          <p:stCondLst>
                                            <p:cond delay="0"/>
                                          </p:stCondLst>
                                        </p:cTn>
                                        <p:tgtEl>
                                          <p:spTgt spid="310"/>
                                        </p:tgtEl>
                                        <p:attrNameLst>
                                          <p:attrName>style.visibility</p:attrName>
                                        </p:attrNameLst>
                                      </p:cBhvr>
                                      <p:to>
                                        <p:strVal val="visible"/>
                                      </p:to>
                                    </p:set>
                                    <p:anim calcmode="lin" valueType="num">
                                      <p:cBhvr additive="repl">
                                        <p:cTn id="310" dur="500" fill="hold"/>
                                        <p:tgtEl>
                                          <p:spTgt spid="310"/>
                                        </p:tgtEl>
                                        <p:attrNameLst>
                                          <p:attrName>ppt_w</p:attrName>
                                        </p:attrNameLst>
                                      </p:cBhvr>
                                      <p:tavLst>
                                        <p:tav tm="0">
                                          <p:val>
                                            <p:fltVal val="0"/>
                                          </p:val>
                                        </p:tav>
                                        <p:tav tm="100000">
                                          <p:val>
                                            <p:strVal val="#ppt_w"/>
                                          </p:val>
                                        </p:tav>
                                      </p:tavLst>
                                    </p:anim>
                                    <p:anim calcmode="lin" valueType="num">
                                      <p:cBhvr additive="repl">
                                        <p:cTn id="311" dur="500" fill="hold"/>
                                        <p:tgtEl>
                                          <p:spTgt spid="310"/>
                                        </p:tgtEl>
                                        <p:attrNameLst>
                                          <p:attrName>ppt_h</p:attrName>
                                        </p:attrNameLst>
                                      </p:cBhvr>
                                      <p:tavLst>
                                        <p:tav tm="0">
                                          <p:val>
                                            <p:fltVal val="0"/>
                                          </p:val>
                                        </p:tav>
                                        <p:tav tm="100000">
                                          <p:val>
                                            <p:strVal val="#ppt_h"/>
                                          </p:val>
                                        </p:tav>
                                      </p:tavLst>
                                    </p:anim>
                                    <p:animEffect filter="fade" transition="in">
                                      <p:cBhvr additive="repl">
                                        <p:cTn id="312" dur="500"/>
                                        <p:tgtEl>
                                          <p:spTgt spid="310"/>
                                        </p:tgtEl>
                                      </p:cBhvr>
                                    </p:animEffect>
                                  </p:childTnLst>
                                </p:cTn>
                              </p:par>
                              <p:par>
                                <p:cTn id="313" nodeType="withEffect" fill="hold" presetClass="entr" presetID="53" presetSubtype="16">
                                  <p:stCondLst>
                                    <p:cond delay="0"/>
                                  </p:stCondLst>
                                  <p:childTnLst>
                                    <p:set>
                                      <p:cBhvr>
                                        <p:cTn id="314" dur="1" fill="hold">
                                          <p:stCondLst>
                                            <p:cond delay="0"/>
                                          </p:stCondLst>
                                        </p:cTn>
                                        <p:tgtEl>
                                          <p:spTgt spid="315"/>
                                        </p:tgtEl>
                                        <p:attrNameLst>
                                          <p:attrName>style.visibility</p:attrName>
                                        </p:attrNameLst>
                                      </p:cBhvr>
                                      <p:to>
                                        <p:strVal val="visible"/>
                                      </p:to>
                                    </p:set>
                                    <p:anim calcmode="lin" valueType="num">
                                      <p:cBhvr additive="repl">
                                        <p:cTn id="315" dur="500" fill="hold"/>
                                        <p:tgtEl>
                                          <p:spTgt spid="315"/>
                                        </p:tgtEl>
                                        <p:attrNameLst>
                                          <p:attrName>ppt_w</p:attrName>
                                        </p:attrNameLst>
                                      </p:cBhvr>
                                      <p:tavLst>
                                        <p:tav tm="0">
                                          <p:val>
                                            <p:fltVal val="0"/>
                                          </p:val>
                                        </p:tav>
                                        <p:tav tm="100000">
                                          <p:val>
                                            <p:strVal val="#ppt_w"/>
                                          </p:val>
                                        </p:tav>
                                      </p:tavLst>
                                    </p:anim>
                                    <p:anim calcmode="lin" valueType="num">
                                      <p:cBhvr additive="repl">
                                        <p:cTn id="316" dur="500" fill="hold"/>
                                        <p:tgtEl>
                                          <p:spTgt spid="315"/>
                                        </p:tgtEl>
                                        <p:attrNameLst>
                                          <p:attrName>ppt_h</p:attrName>
                                        </p:attrNameLst>
                                      </p:cBhvr>
                                      <p:tavLst>
                                        <p:tav tm="0">
                                          <p:val>
                                            <p:fltVal val="0"/>
                                          </p:val>
                                        </p:tav>
                                        <p:tav tm="100000">
                                          <p:val>
                                            <p:strVal val="#ppt_h"/>
                                          </p:val>
                                        </p:tav>
                                      </p:tavLst>
                                    </p:anim>
                                    <p:animEffect filter="fade" transition="in">
                                      <p:cBhvr additive="repl">
                                        <p:cTn id="317" dur="500"/>
                                        <p:tgtEl>
                                          <p:spTgt spid="315"/>
                                        </p:tgtEl>
                                      </p:cBhvr>
                                    </p:animEffect>
                                  </p:childTnLst>
                                </p:cTn>
                              </p:par>
                            </p:childTnLst>
                          </p:cTn>
                        </p:par>
                      </p:childTnLst>
                    </p:cTn>
                  </p:par>
                  <p:par>
                    <p:cTn id="318" nodeType="clickEffect" fill="hold">
                      <p:stCondLst>
                        <p:cond delay="indefinite"/>
                      </p:stCondLst>
                      <p:childTnLst>
                        <p:par>
                          <p:cTn id="319" nodeType="withEffect" fill="hold">
                            <p:stCondLst>
                              <p:cond delay="0"/>
                            </p:stCondLst>
                            <p:childTnLst>
                              <p:par>
                                <p:cTn id="320" nodeType="clickEffect" fill="hold" presetClass="entr" presetID="53" presetSubtype="16">
                                  <p:stCondLst>
                                    <p:cond delay="0"/>
                                  </p:stCondLst>
                                  <p:childTnLst>
                                    <p:set>
                                      <p:cBhvr>
                                        <p:cTn id="321" dur="1" fill="hold">
                                          <p:stCondLst>
                                            <p:cond delay="0"/>
                                          </p:stCondLst>
                                        </p:cTn>
                                        <p:tgtEl>
                                          <p:spTgt spid="312"/>
                                        </p:tgtEl>
                                        <p:attrNameLst>
                                          <p:attrName>style.visibility</p:attrName>
                                        </p:attrNameLst>
                                      </p:cBhvr>
                                      <p:to>
                                        <p:strVal val="visible"/>
                                      </p:to>
                                    </p:set>
                                    <p:anim calcmode="lin" valueType="num">
                                      <p:cBhvr additive="repl">
                                        <p:cTn id="322" dur="500" fill="hold"/>
                                        <p:tgtEl>
                                          <p:spTgt spid="312"/>
                                        </p:tgtEl>
                                        <p:attrNameLst>
                                          <p:attrName>ppt_w</p:attrName>
                                        </p:attrNameLst>
                                      </p:cBhvr>
                                      <p:tavLst>
                                        <p:tav tm="0">
                                          <p:val>
                                            <p:fltVal val="0"/>
                                          </p:val>
                                        </p:tav>
                                        <p:tav tm="100000">
                                          <p:val>
                                            <p:strVal val="#ppt_w"/>
                                          </p:val>
                                        </p:tav>
                                      </p:tavLst>
                                    </p:anim>
                                    <p:anim calcmode="lin" valueType="num">
                                      <p:cBhvr additive="repl">
                                        <p:cTn id="323" dur="500" fill="hold"/>
                                        <p:tgtEl>
                                          <p:spTgt spid="312"/>
                                        </p:tgtEl>
                                        <p:attrNameLst>
                                          <p:attrName>ppt_h</p:attrName>
                                        </p:attrNameLst>
                                      </p:cBhvr>
                                      <p:tavLst>
                                        <p:tav tm="0">
                                          <p:val>
                                            <p:fltVal val="0"/>
                                          </p:val>
                                        </p:tav>
                                        <p:tav tm="100000">
                                          <p:val>
                                            <p:strVal val="#ppt_h"/>
                                          </p:val>
                                        </p:tav>
                                      </p:tavLst>
                                    </p:anim>
                                    <p:animEffect filter="fade" transition="in">
                                      <p:cBhvr additive="repl">
                                        <p:cTn id="324" dur="500"/>
                                        <p:tgtEl>
                                          <p:spTgt spid="312"/>
                                        </p:tgtEl>
                                      </p:cBhvr>
                                    </p:animEffect>
                                  </p:childTnLst>
                                </p:cTn>
                              </p:par>
                              <p:par>
                                <p:cTn id="325" nodeType="withEffect" fill="hold" presetClass="entr" presetID="53" presetSubtype="16">
                                  <p:stCondLst>
                                    <p:cond delay="0"/>
                                  </p:stCondLst>
                                  <p:childTnLst>
                                    <p:set>
                                      <p:cBhvr>
                                        <p:cTn id="326" dur="1" fill="hold">
                                          <p:stCondLst>
                                            <p:cond delay="0"/>
                                          </p:stCondLst>
                                        </p:cTn>
                                        <p:tgtEl>
                                          <p:spTgt spid="316"/>
                                        </p:tgtEl>
                                        <p:attrNameLst>
                                          <p:attrName>style.visibility</p:attrName>
                                        </p:attrNameLst>
                                      </p:cBhvr>
                                      <p:to>
                                        <p:strVal val="visible"/>
                                      </p:to>
                                    </p:set>
                                    <p:anim calcmode="lin" valueType="num">
                                      <p:cBhvr additive="repl">
                                        <p:cTn id="327" dur="500" fill="hold"/>
                                        <p:tgtEl>
                                          <p:spTgt spid="316"/>
                                        </p:tgtEl>
                                        <p:attrNameLst>
                                          <p:attrName>ppt_w</p:attrName>
                                        </p:attrNameLst>
                                      </p:cBhvr>
                                      <p:tavLst>
                                        <p:tav tm="0">
                                          <p:val>
                                            <p:fltVal val="0"/>
                                          </p:val>
                                        </p:tav>
                                        <p:tav tm="100000">
                                          <p:val>
                                            <p:strVal val="#ppt_w"/>
                                          </p:val>
                                        </p:tav>
                                      </p:tavLst>
                                    </p:anim>
                                    <p:anim calcmode="lin" valueType="num">
                                      <p:cBhvr additive="repl">
                                        <p:cTn id="328" dur="500" fill="hold"/>
                                        <p:tgtEl>
                                          <p:spTgt spid="316"/>
                                        </p:tgtEl>
                                        <p:attrNameLst>
                                          <p:attrName>ppt_h</p:attrName>
                                        </p:attrNameLst>
                                      </p:cBhvr>
                                      <p:tavLst>
                                        <p:tav tm="0">
                                          <p:val>
                                            <p:fltVal val="0"/>
                                          </p:val>
                                        </p:tav>
                                        <p:tav tm="100000">
                                          <p:val>
                                            <p:strVal val="#ppt_h"/>
                                          </p:val>
                                        </p:tav>
                                      </p:tavLst>
                                    </p:anim>
                                    <p:animEffect filter="fade" transition="in">
                                      <p:cBhvr additive="repl">
                                        <p:cTn id="329" dur="500"/>
                                        <p:tgtEl>
                                          <p:spTgt spid="316"/>
                                        </p:tgtEl>
                                      </p:cBhvr>
                                    </p:animEffect>
                                  </p:childTnLst>
                                </p:cTn>
                              </p:par>
                            </p:childTnLst>
                          </p:cTn>
                        </p:par>
                      </p:childTnLst>
                    </p:cTn>
                  </p:par>
                  <p:par>
                    <p:cTn id="330" nodeType="clickEffect" fill="hold">
                      <p:stCondLst>
                        <p:cond delay="indefinite"/>
                      </p:stCondLst>
                      <p:childTnLst>
                        <p:par>
                          <p:cTn id="331" nodeType="withEffect" fill="hold">
                            <p:stCondLst>
                              <p:cond delay="0"/>
                            </p:stCondLst>
                            <p:childTnLst>
                              <p:par>
                                <p:cTn id="332" nodeType="clickEffect" fill="hold" presetClass="entr" presetID="53" presetSubtype="16">
                                  <p:stCondLst>
                                    <p:cond delay="0"/>
                                  </p:stCondLst>
                                  <p:childTnLst>
                                    <p:set>
                                      <p:cBhvr>
                                        <p:cTn id="333" dur="1" fill="hold">
                                          <p:stCondLst>
                                            <p:cond delay="0"/>
                                          </p:stCondLst>
                                        </p:cTn>
                                        <p:tgtEl>
                                          <p:spTgt spid="314"/>
                                        </p:tgtEl>
                                        <p:attrNameLst>
                                          <p:attrName>style.visibility</p:attrName>
                                        </p:attrNameLst>
                                      </p:cBhvr>
                                      <p:to>
                                        <p:strVal val="visible"/>
                                      </p:to>
                                    </p:set>
                                    <p:anim calcmode="lin" valueType="num">
                                      <p:cBhvr additive="repl">
                                        <p:cTn id="334" dur="500" fill="hold"/>
                                        <p:tgtEl>
                                          <p:spTgt spid="314"/>
                                        </p:tgtEl>
                                        <p:attrNameLst>
                                          <p:attrName>ppt_w</p:attrName>
                                        </p:attrNameLst>
                                      </p:cBhvr>
                                      <p:tavLst>
                                        <p:tav tm="0">
                                          <p:val>
                                            <p:fltVal val="0"/>
                                          </p:val>
                                        </p:tav>
                                        <p:tav tm="100000">
                                          <p:val>
                                            <p:strVal val="#ppt_w"/>
                                          </p:val>
                                        </p:tav>
                                      </p:tavLst>
                                    </p:anim>
                                    <p:anim calcmode="lin" valueType="num">
                                      <p:cBhvr additive="repl">
                                        <p:cTn id="335" dur="500" fill="hold"/>
                                        <p:tgtEl>
                                          <p:spTgt spid="314"/>
                                        </p:tgtEl>
                                        <p:attrNameLst>
                                          <p:attrName>ppt_h</p:attrName>
                                        </p:attrNameLst>
                                      </p:cBhvr>
                                      <p:tavLst>
                                        <p:tav tm="0">
                                          <p:val>
                                            <p:fltVal val="0"/>
                                          </p:val>
                                        </p:tav>
                                        <p:tav tm="100000">
                                          <p:val>
                                            <p:strVal val="#ppt_h"/>
                                          </p:val>
                                        </p:tav>
                                      </p:tavLst>
                                    </p:anim>
                                    <p:animEffect filter="fade" transition="in">
                                      <p:cBhvr additive="repl">
                                        <p:cTn id="336" dur="500"/>
                                        <p:tgtEl>
                                          <p:spTgt spid="314"/>
                                        </p:tgtEl>
                                      </p:cBhvr>
                                    </p:animEffect>
                                  </p:childTnLst>
                                </p:cTn>
                              </p:par>
                              <p:par>
                                <p:cTn id="337" nodeType="withEffect" fill="hold" presetClass="entr" presetID="53" presetSubtype="16">
                                  <p:stCondLst>
                                    <p:cond delay="0"/>
                                  </p:stCondLst>
                                  <p:childTnLst>
                                    <p:set>
                                      <p:cBhvr>
                                        <p:cTn id="338" dur="1" fill="hold">
                                          <p:stCondLst>
                                            <p:cond delay="0"/>
                                          </p:stCondLst>
                                        </p:cTn>
                                        <p:tgtEl>
                                          <p:spTgt spid="317"/>
                                        </p:tgtEl>
                                        <p:attrNameLst>
                                          <p:attrName>style.visibility</p:attrName>
                                        </p:attrNameLst>
                                      </p:cBhvr>
                                      <p:to>
                                        <p:strVal val="visible"/>
                                      </p:to>
                                    </p:set>
                                    <p:anim calcmode="lin" valueType="num">
                                      <p:cBhvr additive="repl">
                                        <p:cTn id="339" dur="500" fill="hold"/>
                                        <p:tgtEl>
                                          <p:spTgt spid="317"/>
                                        </p:tgtEl>
                                        <p:attrNameLst>
                                          <p:attrName>ppt_w</p:attrName>
                                        </p:attrNameLst>
                                      </p:cBhvr>
                                      <p:tavLst>
                                        <p:tav tm="0">
                                          <p:val>
                                            <p:fltVal val="0"/>
                                          </p:val>
                                        </p:tav>
                                        <p:tav tm="100000">
                                          <p:val>
                                            <p:strVal val="#ppt_w"/>
                                          </p:val>
                                        </p:tav>
                                      </p:tavLst>
                                    </p:anim>
                                    <p:anim calcmode="lin" valueType="num">
                                      <p:cBhvr additive="repl">
                                        <p:cTn id="340" dur="500" fill="hold"/>
                                        <p:tgtEl>
                                          <p:spTgt spid="317"/>
                                        </p:tgtEl>
                                        <p:attrNameLst>
                                          <p:attrName>ppt_h</p:attrName>
                                        </p:attrNameLst>
                                      </p:cBhvr>
                                      <p:tavLst>
                                        <p:tav tm="0">
                                          <p:val>
                                            <p:fltVal val="0"/>
                                          </p:val>
                                        </p:tav>
                                        <p:tav tm="100000">
                                          <p:val>
                                            <p:strVal val="#ppt_h"/>
                                          </p:val>
                                        </p:tav>
                                      </p:tavLst>
                                    </p:anim>
                                    <p:animEffect filter="fade" transition="in">
                                      <p:cBhvr additive="repl">
                                        <p:cTn id="341" dur="5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ZoneTexte 4"/>
          <p:cNvSpPr/>
          <p:nvPr/>
        </p:nvSpPr>
        <p:spPr>
          <a:xfrm>
            <a:off x="460440" y="765000"/>
            <a:ext cx="8208720" cy="448308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20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rPr>
              <a:t>PREPARATION PHYSIQUE TYPE ATHLETIQUE </a:t>
            </a:r>
            <a:r>
              <a:rPr b="1" lang="fr-FR" sz="2400" strike="noStrike" u="none">
                <a:solidFill>
                  <a:srgbClr val="ffffff"/>
                </a:solidFill>
                <a:effectLst/>
                <a:uFillTx/>
                <a:latin typeface="Calibri"/>
              </a:rPr>
              <a:t>: </a:t>
            </a:r>
            <a:endParaRPr b="0" lang="en-US" sz="2400" strike="noStrike" u="none">
              <a:solidFill>
                <a:srgbClr val="ffff00"/>
              </a:solidFill>
              <a:effectLst/>
              <a:uFillTx/>
              <a:latin typeface="Times New Roman"/>
            </a:endParaRPr>
          </a:p>
          <a:p>
            <a:pPr marL="457200" indent="-457200">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rPr>
              <a:t>Le joueur athlète. A envisager pour les joueurs qui peuvent s’entraîner plus de trois fois par semaine (clubs professionnels)</a:t>
            </a:r>
            <a:endParaRPr b="0" lang="en-US" sz="2400" strike="noStrike" u="none">
              <a:solidFill>
                <a:srgbClr val="ffff00"/>
              </a:solidFill>
              <a:effectLst/>
              <a:uFillTx/>
              <a:latin typeface="Times New Roman"/>
            </a:endParaRPr>
          </a:p>
        </p:txBody>
      </p:sp>
      <p:cxnSp>
        <p:nvCxnSpPr>
          <p:cNvPr id="319" name="Connecteur droit avec flèche 2"/>
          <p:cNvCxnSpPr/>
          <p:nvPr/>
        </p:nvCxnSpPr>
        <p:spPr>
          <a:xfrm flipH="1">
            <a:off x="1475640" y="3213000"/>
            <a:ext cx="2159640" cy="1224720"/>
          </a:xfrm>
          <a:prstGeom prst="straightConnector1">
            <a:avLst/>
          </a:prstGeom>
          <a:ln w="38160">
            <a:solidFill>
              <a:srgbClr val="ffff00"/>
            </a:solidFill>
            <a:miter/>
            <a:tailEnd len="med" type="triangle" w="med"/>
          </a:ln>
        </p:spPr>
      </p:cxnSp>
      <p:sp>
        <p:nvSpPr>
          <p:cNvPr id="320" name="ZoneTexte 4"/>
          <p:cNvSpPr/>
          <p:nvPr/>
        </p:nvSpPr>
        <p:spPr>
          <a:xfrm>
            <a:off x="-47880" y="4441680"/>
            <a:ext cx="3371400" cy="7038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Musculation + Pliométrie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 Force maximale</a:t>
            </a:r>
            <a:endParaRPr b="0" lang="en-US" sz="2000" strike="noStrike" u="none">
              <a:solidFill>
                <a:srgbClr val="ffff00"/>
              </a:solidFill>
              <a:effectLst/>
              <a:uFillTx/>
              <a:latin typeface="Times New Roman"/>
            </a:endParaRPr>
          </a:p>
        </p:txBody>
      </p:sp>
      <p:cxnSp>
        <p:nvCxnSpPr>
          <p:cNvPr id="321" name="Connecteur droit avec flèche 6"/>
          <p:cNvCxnSpPr/>
          <p:nvPr/>
        </p:nvCxnSpPr>
        <p:spPr>
          <a:xfrm>
            <a:off x="3634920" y="3212640"/>
            <a:ext cx="1080" cy="2088360"/>
          </a:xfrm>
          <a:prstGeom prst="straightConnector1">
            <a:avLst/>
          </a:prstGeom>
          <a:ln w="28440">
            <a:solidFill>
              <a:srgbClr val="ffff00"/>
            </a:solidFill>
            <a:miter/>
            <a:tailEnd len="med" type="arrow" w="med"/>
          </a:ln>
        </p:spPr>
      </p:cxnSp>
      <p:cxnSp>
        <p:nvCxnSpPr>
          <p:cNvPr id="322" name="Connecteur droit avec flèche 8"/>
          <p:cNvCxnSpPr/>
          <p:nvPr/>
        </p:nvCxnSpPr>
        <p:spPr>
          <a:xfrm>
            <a:off x="3635280" y="3213000"/>
            <a:ext cx="2161080" cy="1224720"/>
          </a:xfrm>
          <a:prstGeom prst="straightConnector1">
            <a:avLst/>
          </a:prstGeom>
          <a:ln w="28440">
            <a:solidFill>
              <a:srgbClr val="ffff00"/>
            </a:solidFill>
            <a:miter/>
            <a:tailEnd len="med" type="arrow" w="med"/>
          </a:ln>
        </p:spPr>
      </p:cxnSp>
      <p:sp>
        <p:nvSpPr>
          <p:cNvPr id="323" name="ZoneTexte 10"/>
          <p:cNvSpPr/>
          <p:nvPr/>
        </p:nvSpPr>
        <p:spPr>
          <a:xfrm>
            <a:off x="3897720" y="4437000"/>
            <a:ext cx="5273280" cy="7038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Courses Capacités anaérobie et aérobie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Vitesse aérobie maximale, % FCmax</a:t>
            </a:r>
            <a:endParaRPr b="0" lang="en-US" sz="2000" strike="noStrike" u="none">
              <a:solidFill>
                <a:srgbClr val="ffff00"/>
              </a:solidFill>
              <a:effectLst/>
              <a:uFillTx/>
              <a:latin typeface="Times New Roman"/>
            </a:endParaRPr>
          </a:p>
        </p:txBody>
      </p:sp>
      <p:sp>
        <p:nvSpPr>
          <p:cNvPr id="324" name="ZoneTexte 11"/>
          <p:cNvSpPr/>
          <p:nvPr/>
        </p:nvSpPr>
        <p:spPr>
          <a:xfrm>
            <a:off x="1889640" y="5403960"/>
            <a:ext cx="4028400" cy="7038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Sprints + répétition de sprints</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vitesse max étalon  </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342" dur="indefinite" restart="never" nodeType="tmRoot">
          <p:childTnLst>
            <p:seq>
              <p:cTn id="343" dur="indefinite" nodeType="mainSeq">
                <p:childTnLst>
                  <p:par>
                    <p:cTn id="344" nodeType="clickEffect" fill="hold">
                      <p:stCondLst>
                        <p:cond delay="indefinite"/>
                      </p:stCondLst>
                      <p:childTnLst>
                        <p:par>
                          <p:cTn id="345" nodeType="withEffect" fill="hold">
                            <p:stCondLst>
                              <p:cond delay="0"/>
                            </p:stCondLst>
                            <p:childTnLst>
                              <p:par>
                                <p:cTn id="346" nodeType="clickEffect" fill="hold" presetClass="entr" presetID="53" presetSubtype="16">
                                  <p:stCondLst>
                                    <p:cond delay="0"/>
                                  </p:stCondLst>
                                  <p:childTnLst>
                                    <p:set>
                                      <p:cBhvr>
                                        <p:cTn id="347" dur="1" fill="hold">
                                          <p:stCondLst>
                                            <p:cond delay="0"/>
                                          </p:stCondLst>
                                        </p:cTn>
                                        <p:tgtEl>
                                          <p:spTgt spid="318"/>
                                        </p:tgtEl>
                                        <p:attrNameLst>
                                          <p:attrName>style.visibility</p:attrName>
                                        </p:attrNameLst>
                                      </p:cBhvr>
                                      <p:to>
                                        <p:strVal val="visible"/>
                                      </p:to>
                                    </p:set>
                                    <p:anim calcmode="lin" valueType="num">
                                      <p:cBhvr additive="repl">
                                        <p:cTn id="348" dur="500" fill="hold"/>
                                        <p:tgtEl>
                                          <p:spTgt spid="318"/>
                                        </p:tgtEl>
                                        <p:attrNameLst>
                                          <p:attrName>ppt_w</p:attrName>
                                        </p:attrNameLst>
                                      </p:cBhvr>
                                      <p:tavLst>
                                        <p:tav tm="0">
                                          <p:val>
                                            <p:fltVal val="0"/>
                                          </p:val>
                                        </p:tav>
                                        <p:tav tm="100000">
                                          <p:val>
                                            <p:strVal val="#ppt_w"/>
                                          </p:val>
                                        </p:tav>
                                      </p:tavLst>
                                    </p:anim>
                                    <p:anim calcmode="lin" valueType="num">
                                      <p:cBhvr additive="repl">
                                        <p:cTn id="349" dur="500" fill="hold"/>
                                        <p:tgtEl>
                                          <p:spTgt spid="318"/>
                                        </p:tgtEl>
                                        <p:attrNameLst>
                                          <p:attrName>ppt_h</p:attrName>
                                        </p:attrNameLst>
                                      </p:cBhvr>
                                      <p:tavLst>
                                        <p:tav tm="0">
                                          <p:val>
                                            <p:fltVal val="0"/>
                                          </p:val>
                                        </p:tav>
                                        <p:tav tm="100000">
                                          <p:val>
                                            <p:strVal val="#ppt_h"/>
                                          </p:val>
                                        </p:tav>
                                      </p:tavLst>
                                    </p:anim>
                                    <p:animEffect filter="fade" transition="in">
                                      <p:cBhvr additive="repl">
                                        <p:cTn id="350" dur="500"/>
                                        <p:tgtEl>
                                          <p:spTgt spid="318"/>
                                        </p:tgtEl>
                                      </p:cBhvr>
                                    </p:animEffect>
                                  </p:childTnLst>
                                </p:cTn>
                              </p:par>
                            </p:childTnLst>
                          </p:cTn>
                        </p:par>
                      </p:childTnLst>
                    </p:cTn>
                  </p:par>
                  <p:par>
                    <p:cTn id="351" nodeType="clickEffect" fill="hold">
                      <p:stCondLst>
                        <p:cond delay="indefinite"/>
                      </p:stCondLst>
                      <p:childTnLst>
                        <p:par>
                          <p:cTn id="352" nodeType="withEffect" fill="hold">
                            <p:stCondLst>
                              <p:cond delay="0"/>
                            </p:stCondLst>
                            <p:childTnLst>
                              <p:par>
                                <p:cTn id="353" nodeType="clickEffect" fill="hold" presetClass="entr" presetID="53" presetSubtype="16">
                                  <p:stCondLst>
                                    <p:cond delay="0"/>
                                  </p:stCondLst>
                                  <p:childTnLst>
                                    <p:set>
                                      <p:cBhvr>
                                        <p:cTn id="354" dur="1" fill="hold">
                                          <p:stCondLst>
                                            <p:cond delay="0"/>
                                          </p:stCondLst>
                                        </p:cTn>
                                        <p:tgtEl>
                                          <p:spTgt spid="319"/>
                                        </p:tgtEl>
                                        <p:attrNameLst>
                                          <p:attrName>style.visibility</p:attrName>
                                        </p:attrNameLst>
                                      </p:cBhvr>
                                      <p:to>
                                        <p:strVal val="visible"/>
                                      </p:to>
                                    </p:set>
                                    <p:anim calcmode="lin" valueType="num">
                                      <p:cBhvr additive="repl">
                                        <p:cTn id="355" dur="500" fill="hold"/>
                                        <p:tgtEl>
                                          <p:spTgt spid="319"/>
                                        </p:tgtEl>
                                        <p:attrNameLst>
                                          <p:attrName>ppt_w</p:attrName>
                                        </p:attrNameLst>
                                      </p:cBhvr>
                                      <p:tavLst>
                                        <p:tav tm="0">
                                          <p:val>
                                            <p:fltVal val="0"/>
                                          </p:val>
                                        </p:tav>
                                        <p:tav tm="100000">
                                          <p:val>
                                            <p:strVal val="#ppt_w"/>
                                          </p:val>
                                        </p:tav>
                                      </p:tavLst>
                                    </p:anim>
                                    <p:anim calcmode="lin" valueType="num">
                                      <p:cBhvr additive="repl">
                                        <p:cTn id="356" dur="500" fill="hold"/>
                                        <p:tgtEl>
                                          <p:spTgt spid="319"/>
                                        </p:tgtEl>
                                        <p:attrNameLst>
                                          <p:attrName>ppt_h</p:attrName>
                                        </p:attrNameLst>
                                      </p:cBhvr>
                                      <p:tavLst>
                                        <p:tav tm="0">
                                          <p:val>
                                            <p:fltVal val="0"/>
                                          </p:val>
                                        </p:tav>
                                        <p:tav tm="100000">
                                          <p:val>
                                            <p:strVal val="#ppt_h"/>
                                          </p:val>
                                        </p:tav>
                                      </p:tavLst>
                                    </p:anim>
                                    <p:animEffect filter="fade" transition="in">
                                      <p:cBhvr additive="repl">
                                        <p:cTn id="357" dur="500"/>
                                        <p:tgtEl>
                                          <p:spTgt spid="319"/>
                                        </p:tgtEl>
                                      </p:cBhvr>
                                    </p:animEffect>
                                  </p:childTnLst>
                                </p:cTn>
                              </p:par>
                              <p:par>
                                <p:cTn id="358" nodeType="withEffect" fill="hold" presetClass="entr" presetID="53" presetSubtype="16">
                                  <p:stCondLst>
                                    <p:cond delay="0"/>
                                  </p:stCondLst>
                                  <p:childTnLst>
                                    <p:set>
                                      <p:cBhvr>
                                        <p:cTn id="359" dur="1" fill="hold">
                                          <p:stCondLst>
                                            <p:cond delay="0"/>
                                          </p:stCondLst>
                                        </p:cTn>
                                        <p:tgtEl>
                                          <p:spTgt spid="320"/>
                                        </p:tgtEl>
                                        <p:attrNameLst>
                                          <p:attrName>style.visibility</p:attrName>
                                        </p:attrNameLst>
                                      </p:cBhvr>
                                      <p:to>
                                        <p:strVal val="visible"/>
                                      </p:to>
                                    </p:set>
                                    <p:anim calcmode="lin" valueType="num">
                                      <p:cBhvr additive="repl">
                                        <p:cTn id="360" dur="500" fill="hold"/>
                                        <p:tgtEl>
                                          <p:spTgt spid="320"/>
                                        </p:tgtEl>
                                        <p:attrNameLst>
                                          <p:attrName>ppt_w</p:attrName>
                                        </p:attrNameLst>
                                      </p:cBhvr>
                                      <p:tavLst>
                                        <p:tav tm="0">
                                          <p:val>
                                            <p:fltVal val="0"/>
                                          </p:val>
                                        </p:tav>
                                        <p:tav tm="100000">
                                          <p:val>
                                            <p:strVal val="#ppt_w"/>
                                          </p:val>
                                        </p:tav>
                                      </p:tavLst>
                                    </p:anim>
                                    <p:anim calcmode="lin" valueType="num">
                                      <p:cBhvr additive="repl">
                                        <p:cTn id="361" dur="500" fill="hold"/>
                                        <p:tgtEl>
                                          <p:spTgt spid="320"/>
                                        </p:tgtEl>
                                        <p:attrNameLst>
                                          <p:attrName>ppt_h</p:attrName>
                                        </p:attrNameLst>
                                      </p:cBhvr>
                                      <p:tavLst>
                                        <p:tav tm="0">
                                          <p:val>
                                            <p:fltVal val="0"/>
                                          </p:val>
                                        </p:tav>
                                        <p:tav tm="100000">
                                          <p:val>
                                            <p:strVal val="#ppt_h"/>
                                          </p:val>
                                        </p:tav>
                                      </p:tavLst>
                                    </p:anim>
                                    <p:animEffect filter="fade" transition="in">
                                      <p:cBhvr additive="repl">
                                        <p:cTn id="362" dur="500"/>
                                        <p:tgtEl>
                                          <p:spTgt spid="320"/>
                                        </p:tgtEl>
                                      </p:cBhvr>
                                    </p:animEffect>
                                  </p:childTnLst>
                                </p:cTn>
                              </p:par>
                              <p:par>
                                <p:cTn id="363" nodeType="withEffect" fill="hold" presetClass="entr" presetID="53" presetSubtype="16">
                                  <p:stCondLst>
                                    <p:cond delay="0"/>
                                  </p:stCondLst>
                                  <p:childTnLst>
                                    <p:set>
                                      <p:cBhvr>
                                        <p:cTn id="364" dur="1" fill="hold">
                                          <p:stCondLst>
                                            <p:cond delay="0"/>
                                          </p:stCondLst>
                                        </p:cTn>
                                        <p:tgtEl>
                                          <p:spTgt spid="321"/>
                                        </p:tgtEl>
                                        <p:attrNameLst>
                                          <p:attrName>style.visibility</p:attrName>
                                        </p:attrNameLst>
                                      </p:cBhvr>
                                      <p:to>
                                        <p:strVal val="visible"/>
                                      </p:to>
                                    </p:set>
                                    <p:anim calcmode="lin" valueType="num">
                                      <p:cBhvr additive="repl">
                                        <p:cTn id="365" dur="500" fill="hold"/>
                                        <p:tgtEl>
                                          <p:spTgt spid="321"/>
                                        </p:tgtEl>
                                        <p:attrNameLst>
                                          <p:attrName>ppt_w</p:attrName>
                                        </p:attrNameLst>
                                      </p:cBhvr>
                                      <p:tavLst>
                                        <p:tav tm="0">
                                          <p:val>
                                            <p:fltVal val="0"/>
                                          </p:val>
                                        </p:tav>
                                        <p:tav tm="100000">
                                          <p:val>
                                            <p:strVal val="#ppt_w"/>
                                          </p:val>
                                        </p:tav>
                                      </p:tavLst>
                                    </p:anim>
                                    <p:anim calcmode="lin" valueType="num">
                                      <p:cBhvr additive="repl">
                                        <p:cTn id="366" dur="500" fill="hold"/>
                                        <p:tgtEl>
                                          <p:spTgt spid="321"/>
                                        </p:tgtEl>
                                        <p:attrNameLst>
                                          <p:attrName>ppt_h</p:attrName>
                                        </p:attrNameLst>
                                      </p:cBhvr>
                                      <p:tavLst>
                                        <p:tav tm="0">
                                          <p:val>
                                            <p:fltVal val="0"/>
                                          </p:val>
                                        </p:tav>
                                        <p:tav tm="100000">
                                          <p:val>
                                            <p:strVal val="#ppt_h"/>
                                          </p:val>
                                        </p:tav>
                                      </p:tavLst>
                                    </p:anim>
                                    <p:animEffect filter="fade" transition="in">
                                      <p:cBhvr additive="repl">
                                        <p:cTn id="367" dur="500"/>
                                        <p:tgtEl>
                                          <p:spTgt spid="321"/>
                                        </p:tgtEl>
                                      </p:cBhvr>
                                    </p:animEffect>
                                  </p:childTnLst>
                                </p:cTn>
                              </p:par>
                              <p:par>
                                <p:cTn id="368" nodeType="withEffect" fill="hold" presetClass="entr" presetID="53" presetSubtype="16">
                                  <p:stCondLst>
                                    <p:cond delay="0"/>
                                  </p:stCondLst>
                                  <p:childTnLst>
                                    <p:set>
                                      <p:cBhvr>
                                        <p:cTn id="369" dur="1" fill="hold">
                                          <p:stCondLst>
                                            <p:cond delay="0"/>
                                          </p:stCondLst>
                                        </p:cTn>
                                        <p:tgtEl>
                                          <p:spTgt spid="322"/>
                                        </p:tgtEl>
                                        <p:attrNameLst>
                                          <p:attrName>style.visibility</p:attrName>
                                        </p:attrNameLst>
                                      </p:cBhvr>
                                      <p:to>
                                        <p:strVal val="visible"/>
                                      </p:to>
                                    </p:set>
                                    <p:anim calcmode="lin" valueType="num">
                                      <p:cBhvr additive="repl">
                                        <p:cTn id="370" dur="500" fill="hold"/>
                                        <p:tgtEl>
                                          <p:spTgt spid="322"/>
                                        </p:tgtEl>
                                        <p:attrNameLst>
                                          <p:attrName>ppt_w</p:attrName>
                                        </p:attrNameLst>
                                      </p:cBhvr>
                                      <p:tavLst>
                                        <p:tav tm="0">
                                          <p:val>
                                            <p:fltVal val="0"/>
                                          </p:val>
                                        </p:tav>
                                        <p:tav tm="100000">
                                          <p:val>
                                            <p:strVal val="#ppt_w"/>
                                          </p:val>
                                        </p:tav>
                                      </p:tavLst>
                                    </p:anim>
                                    <p:anim calcmode="lin" valueType="num">
                                      <p:cBhvr additive="repl">
                                        <p:cTn id="371" dur="500" fill="hold"/>
                                        <p:tgtEl>
                                          <p:spTgt spid="322"/>
                                        </p:tgtEl>
                                        <p:attrNameLst>
                                          <p:attrName>ppt_h</p:attrName>
                                        </p:attrNameLst>
                                      </p:cBhvr>
                                      <p:tavLst>
                                        <p:tav tm="0">
                                          <p:val>
                                            <p:fltVal val="0"/>
                                          </p:val>
                                        </p:tav>
                                        <p:tav tm="100000">
                                          <p:val>
                                            <p:strVal val="#ppt_h"/>
                                          </p:val>
                                        </p:tav>
                                      </p:tavLst>
                                    </p:anim>
                                    <p:animEffect filter="fade" transition="in">
                                      <p:cBhvr additive="repl">
                                        <p:cTn id="372" dur="500"/>
                                        <p:tgtEl>
                                          <p:spTgt spid="322"/>
                                        </p:tgtEl>
                                      </p:cBhvr>
                                    </p:animEffect>
                                  </p:childTnLst>
                                </p:cTn>
                              </p:par>
                              <p:par>
                                <p:cTn id="373" nodeType="withEffect" fill="hold" presetClass="entr" presetID="53" presetSubtype="16">
                                  <p:stCondLst>
                                    <p:cond delay="0"/>
                                  </p:stCondLst>
                                  <p:childTnLst>
                                    <p:set>
                                      <p:cBhvr>
                                        <p:cTn id="374" dur="1" fill="hold">
                                          <p:stCondLst>
                                            <p:cond delay="0"/>
                                          </p:stCondLst>
                                        </p:cTn>
                                        <p:tgtEl>
                                          <p:spTgt spid="323"/>
                                        </p:tgtEl>
                                        <p:attrNameLst>
                                          <p:attrName>style.visibility</p:attrName>
                                        </p:attrNameLst>
                                      </p:cBhvr>
                                      <p:to>
                                        <p:strVal val="visible"/>
                                      </p:to>
                                    </p:set>
                                    <p:anim calcmode="lin" valueType="num">
                                      <p:cBhvr additive="repl">
                                        <p:cTn id="375" dur="500" fill="hold"/>
                                        <p:tgtEl>
                                          <p:spTgt spid="323"/>
                                        </p:tgtEl>
                                        <p:attrNameLst>
                                          <p:attrName>ppt_w</p:attrName>
                                        </p:attrNameLst>
                                      </p:cBhvr>
                                      <p:tavLst>
                                        <p:tav tm="0">
                                          <p:val>
                                            <p:fltVal val="0"/>
                                          </p:val>
                                        </p:tav>
                                        <p:tav tm="100000">
                                          <p:val>
                                            <p:strVal val="#ppt_w"/>
                                          </p:val>
                                        </p:tav>
                                      </p:tavLst>
                                    </p:anim>
                                    <p:anim calcmode="lin" valueType="num">
                                      <p:cBhvr additive="repl">
                                        <p:cTn id="376" dur="500" fill="hold"/>
                                        <p:tgtEl>
                                          <p:spTgt spid="323"/>
                                        </p:tgtEl>
                                        <p:attrNameLst>
                                          <p:attrName>ppt_h</p:attrName>
                                        </p:attrNameLst>
                                      </p:cBhvr>
                                      <p:tavLst>
                                        <p:tav tm="0">
                                          <p:val>
                                            <p:fltVal val="0"/>
                                          </p:val>
                                        </p:tav>
                                        <p:tav tm="100000">
                                          <p:val>
                                            <p:strVal val="#ppt_h"/>
                                          </p:val>
                                        </p:tav>
                                      </p:tavLst>
                                    </p:anim>
                                    <p:animEffect filter="fade" transition="in">
                                      <p:cBhvr additive="repl">
                                        <p:cTn id="377" dur="500"/>
                                        <p:tgtEl>
                                          <p:spTgt spid="323"/>
                                        </p:tgtEl>
                                      </p:cBhvr>
                                    </p:animEffect>
                                  </p:childTnLst>
                                </p:cTn>
                              </p:par>
                              <p:par>
                                <p:cTn id="378" nodeType="withEffect" fill="hold" presetClass="entr" presetID="53" presetSubtype="16">
                                  <p:stCondLst>
                                    <p:cond delay="0"/>
                                  </p:stCondLst>
                                  <p:childTnLst>
                                    <p:set>
                                      <p:cBhvr>
                                        <p:cTn id="379" dur="1" fill="hold">
                                          <p:stCondLst>
                                            <p:cond delay="0"/>
                                          </p:stCondLst>
                                        </p:cTn>
                                        <p:tgtEl>
                                          <p:spTgt spid="324"/>
                                        </p:tgtEl>
                                        <p:attrNameLst>
                                          <p:attrName>style.visibility</p:attrName>
                                        </p:attrNameLst>
                                      </p:cBhvr>
                                      <p:to>
                                        <p:strVal val="visible"/>
                                      </p:to>
                                    </p:set>
                                    <p:anim calcmode="lin" valueType="num">
                                      <p:cBhvr additive="repl">
                                        <p:cTn id="380" dur="500" fill="hold"/>
                                        <p:tgtEl>
                                          <p:spTgt spid="324"/>
                                        </p:tgtEl>
                                        <p:attrNameLst>
                                          <p:attrName>ppt_w</p:attrName>
                                        </p:attrNameLst>
                                      </p:cBhvr>
                                      <p:tavLst>
                                        <p:tav tm="0">
                                          <p:val>
                                            <p:fltVal val="0"/>
                                          </p:val>
                                        </p:tav>
                                        <p:tav tm="100000">
                                          <p:val>
                                            <p:strVal val="#ppt_w"/>
                                          </p:val>
                                        </p:tav>
                                      </p:tavLst>
                                    </p:anim>
                                    <p:anim calcmode="lin" valueType="num">
                                      <p:cBhvr additive="repl">
                                        <p:cTn id="381" dur="500" fill="hold"/>
                                        <p:tgtEl>
                                          <p:spTgt spid="324"/>
                                        </p:tgtEl>
                                        <p:attrNameLst>
                                          <p:attrName>ppt_h</p:attrName>
                                        </p:attrNameLst>
                                      </p:cBhvr>
                                      <p:tavLst>
                                        <p:tav tm="0">
                                          <p:val>
                                            <p:fltVal val="0"/>
                                          </p:val>
                                        </p:tav>
                                        <p:tav tm="100000">
                                          <p:val>
                                            <p:strVal val="#ppt_h"/>
                                          </p:val>
                                        </p:tav>
                                      </p:tavLst>
                                    </p:anim>
                                    <p:animEffect filter="fade" transition="in">
                                      <p:cBhvr additive="repl">
                                        <p:cTn id="382"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p:nvPr>
        </p:nvSpPr>
        <p:spPr>
          <a:xfrm>
            <a:off x="0" y="304560"/>
            <a:ext cx="9144000" cy="2476440"/>
          </a:xfrm>
          <a:prstGeom prst="rect">
            <a:avLst/>
          </a:prstGeom>
          <a:noFill/>
          <a:ln w="0">
            <a:noFill/>
          </a:ln>
        </p:spPr>
        <p:txBody>
          <a:bodyPr lIns="91440" rIns="91440" tIns="45720" bIns="45720" anchor="t">
            <a:normAutofit fontScale="92500" lnSpcReduction="19999"/>
          </a:bodyPr>
          <a:p>
            <a:pPr marL="343080" indent="-343080">
              <a:lnSpc>
                <a:spcPct val="150000"/>
              </a:lnSpc>
              <a:spcBef>
                <a:spcPts val="601"/>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 T » de temps</a:t>
            </a:r>
            <a:r>
              <a:rPr b="1" lang="fr-FR" sz="3600" strike="noStrike" u="none">
                <a:solidFill>
                  <a:srgbClr val="99ff33"/>
                </a:solidFill>
                <a:effectLst/>
                <a:uFillTx/>
                <a:latin typeface="Calibri"/>
                <a:ea typeface="Calibri"/>
              </a:rPr>
              <a:t> </a:t>
            </a:r>
            <a:r>
              <a:rPr b="1" lang="fr-FR" sz="2400" strike="noStrike" u="none">
                <a:solidFill>
                  <a:srgbClr val="ffff00"/>
                </a:solidFill>
                <a:effectLst/>
                <a:uFillTx/>
                <a:latin typeface="Calibri"/>
                <a:ea typeface="Calibri"/>
              </a:rPr>
              <a:t>: -1- durée d ’un exercice nécessaire pour mobiliser une des sources énergétiques (alactique, lactique, aérobie) et  durée de la récupération pour reconstituer les réserves  énergétiques sollicitées.       </a:t>
            </a:r>
            <a:r>
              <a:rPr b="1"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p:txBody>
      </p:sp>
      <p:sp>
        <p:nvSpPr>
          <p:cNvPr id="326" name="Text Box 3"/>
          <p:cNvSpPr/>
          <p:nvPr/>
        </p:nvSpPr>
        <p:spPr>
          <a:xfrm>
            <a:off x="179280" y="3429000"/>
            <a:ext cx="8964720" cy="3165480"/>
          </a:xfrm>
          <a:prstGeom prst="rect">
            <a:avLst/>
          </a:prstGeom>
          <a:noFill/>
          <a:ln w="0">
            <a:noFill/>
          </a:ln>
        </p:spPr>
        <p:style>
          <a:lnRef idx="0"/>
          <a:fillRef idx="0"/>
          <a:effectRef idx="0"/>
          <a:fontRef idx="minor"/>
        </p:style>
        <p:txBody>
          <a:bodyPr lIns="90000" rIns="90000" tIns="46800" bIns="46800" anchor="t">
            <a:spAutoFit/>
          </a:bodyPr>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	</a:t>
            </a:r>
            <a:r>
              <a:rPr b="1" lang="fr-FR" sz="2400" strike="noStrike" u="none">
                <a:solidFill>
                  <a:srgbClr val="ffff00"/>
                </a:solidFill>
                <a:effectLst/>
                <a:uFillTx/>
                <a:latin typeface="Calibri"/>
                <a:ea typeface="Calibri"/>
              </a:rPr>
              <a:t>                     -2- Durée d’une séance d’entraînement : quatre séances hebdomadaires bien gérées de trente minutes valent mieux que deux séances d ’une heure ou qu ’une séance de deux heures.</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slow">
    <p:dissolve/>
  </p:transition>
  <p:timing>
    <p:tnLst>
      <p:par>
        <p:cTn id="383" dur="indefinite" restart="never" nodeType="tmRoot">
          <p:childTnLst>
            <p:seq>
              <p:cTn id="384" dur="indefinite" nodeType="mainSeq">
                <p:childTnLst>
                  <p:par>
                    <p:cTn id="385" nodeType="clickEffect" fill="hold">
                      <p:stCondLst>
                        <p:cond delay="0"/>
                      </p:stCondLst>
                      <p:childTnLst>
                        <p:par>
                          <p:cTn id="386" nodeType="withEffect" fill="hold">
                            <p:stCondLst>
                              <p:cond delay="0"/>
                            </p:stCondLst>
                            <p:childTnLst>
                              <p:par>
                                <p:cTn id="387" nodeType="afterEffect" fill="hold" presetClass="entr" presetID="5" presetSubtype="10">
                                  <p:stCondLst>
                                    <p:cond delay="0"/>
                                  </p:stCondLst>
                                  <p:childTnLst>
                                    <p:set>
                                      <p:cBhvr>
                                        <p:cTn id="388" dur="1" fill="hold">
                                          <p:stCondLst>
                                            <p:cond delay="0"/>
                                          </p:stCondLst>
                                        </p:cTn>
                                        <p:tgtEl>
                                          <p:spTgt spid="325">
                                            <p:txEl>
                                              <p:pRg st="0" end="0"/>
                                            </p:txEl>
                                          </p:spTgt>
                                        </p:tgtEl>
                                        <p:attrNameLst>
                                          <p:attrName>style.visibility</p:attrName>
                                        </p:attrNameLst>
                                      </p:cBhvr>
                                      <p:to>
                                        <p:strVal val="visible"/>
                                      </p:to>
                                    </p:set>
                                    <p:animEffect filter="checkerboard(across)" transition="in">
                                      <p:cBhvr additive="repl">
                                        <p:cTn id="389" dur="500"/>
                                        <p:tgtEl>
                                          <p:spTgt spid="325">
                                            <p:txEl>
                                              <p:pRg st="0" end="0"/>
                                            </p:txEl>
                                          </p:spTgt>
                                        </p:tgtEl>
                                      </p:cBhvr>
                                    </p:animEffect>
                                  </p:childTnLst>
                                </p:cTn>
                              </p:par>
                            </p:childTnLst>
                          </p:cTn>
                        </p:par>
                      </p:childTnLst>
                    </p:cTn>
                  </p:par>
                  <p:par>
                    <p:cTn id="390" nodeType="clickEffect" fill="hold">
                      <p:stCondLst>
                        <p:cond delay="indefinite"/>
                      </p:stCondLst>
                      <p:childTnLst>
                        <p:par>
                          <p:cTn id="391" nodeType="withEffect" fill="hold">
                            <p:stCondLst>
                              <p:cond delay="0"/>
                            </p:stCondLst>
                            <p:childTnLst>
                              <p:par>
                                <p:cTn id="392" nodeType="clickEffect" fill="hold" presetClass="entr" presetID="9">
                                  <p:stCondLst>
                                    <p:cond delay="0"/>
                                  </p:stCondLst>
                                  <p:childTnLst>
                                    <p:set>
                                      <p:cBhvr>
                                        <p:cTn id="393" dur="1" fill="hold">
                                          <p:stCondLst>
                                            <p:cond delay="0"/>
                                          </p:stCondLst>
                                        </p:cTn>
                                        <p:tgtEl>
                                          <p:spTgt spid="326"/>
                                        </p:tgtEl>
                                        <p:attrNameLst>
                                          <p:attrName>style.visibility</p:attrName>
                                        </p:attrNameLst>
                                      </p:cBhvr>
                                      <p:to>
                                        <p:strVal val="visible"/>
                                      </p:to>
                                    </p:set>
                                    <p:animEffect filter="dissolve" transition="in">
                                      <p:cBhvr additive="repl">
                                        <p:cTn id="394" dur="5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27" name=""/>
          <p:cNvGraphicFramePr/>
          <p:nvPr/>
        </p:nvGraphicFramePr>
        <p:xfrm>
          <a:off x="0" y="1622520"/>
          <a:ext cx="9144000" cy="4809960"/>
        </p:xfrm>
        <a:graphic>
          <a:graphicData uri="http://schemas.openxmlformats.org/drawingml/2006/table">
            <a:tbl>
              <a:tblPr/>
              <a:tblGrid>
                <a:gridCol w="1827360"/>
                <a:gridCol w="1304640"/>
                <a:gridCol w="1592280"/>
                <a:gridCol w="1371600"/>
                <a:gridCol w="1524240"/>
                <a:gridCol w="1523880"/>
              </a:tblGrid>
              <a:tr h="91476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Sources énergétiques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Substrats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Délais d’intervention optimale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Capacité</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Puissance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Endurance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124632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Phosphagènes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ATP</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PCr</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Nul</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Très faible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Maximale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300 % PAM</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1 à 6 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Dépend du % de la puissance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6 à 30 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130356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Glycolyse lactique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Glycogène</a:t>
                      </a:r>
                      <a:endParaRPr b="0" lang="en-US" sz="1800" strike="noStrike" u="none">
                        <a:solidFill>
                          <a:srgbClr val="ffff00"/>
                        </a:solidFill>
                        <a:effectLst/>
                        <a:uFillTx/>
                        <a:latin typeface="Times New Roman"/>
                      </a:endParaRPr>
                    </a:p>
                    <a:p>
                      <a:pPr algn="ctr">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ffff00"/>
                          </a:solidFill>
                          <a:effectLst/>
                          <a:uFillTx/>
                          <a:latin typeface="Arial"/>
                        </a:rPr>
                        <a:t>(Glucose)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6 à 20 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Limitée par [H</a:t>
                      </a:r>
                      <a:r>
                        <a:rPr b="0" lang="fr-FR" sz="1800" strike="noStrike" u="none" baseline="30000">
                          <a:solidFill>
                            <a:srgbClr val="ffff00"/>
                          </a:solidFill>
                          <a:effectLst/>
                          <a:uFillTx/>
                          <a:latin typeface="Arial"/>
                        </a:rPr>
                        <a:t>+</a:t>
                      </a:r>
                      <a:r>
                        <a:rPr b="0" lang="fr-FR" sz="1800" strike="noStrike" u="none">
                          <a:solidFill>
                            <a:srgbClr val="ffff00"/>
                          </a:solidFill>
                          <a:effectLst/>
                          <a:uFillTx/>
                          <a:latin typeface="Arial"/>
                        </a:rPr>
                        <a:t>]</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Très élevée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150 à 200 % PAM</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10 à 50 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Dépend du % de la puissance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….3 min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136080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Aérobie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Glycogène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Glucose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AGL-TG</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 aminés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20-30 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Très importante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Elevée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Limitée par VO</a:t>
                      </a:r>
                      <a:r>
                        <a:rPr b="0" i="1" lang="fr-FR" sz="1800" strike="noStrike" u="none" baseline="-25000">
                          <a:solidFill>
                            <a:srgbClr val="f8f8f8"/>
                          </a:solidFill>
                          <a:effectLst/>
                          <a:uFillTx/>
                          <a:latin typeface="Arial"/>
                        </a:rPr>
                        <a:t>2</a:t>
                      </a:r>
                      <a:r>
                        <a:rPr b="0" i="1" lang="fr-FR" sz="1800" strike="noStrike" u="none">
                          <a:solidFill>
                            <a:srgbClr val="f8f8f8"/>
                          </a:solidFill>
                          <a:effectLst/>
                          <a:uFillTx/>
                          <a:latin typeface="Arial"/>
                        </a:rPr>
                        <a:t>max</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00"/>
                          </a:solidFill>
                          <a:effectLst/>
                          <a:uFillTx/>
                          <a:latin typeface="Arial"/>
                        </a:rPr>
                        <a:t>2 à 7 min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Dépend du % de PAM (VAM)</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8f8f8"/>
                          </a:solidFill>
                          <a:effectLst/>
                          <a:uFillTx/>
                          <a:latin typeface="Arial"/>
                        </a:rPr>
                        <a:t>3 min à ….</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sp>
        <p:nvSpPr>
          <p:cNvPr id="328" name="Text Box 39"/>
          <p:cNvSpPr/>
          <p:nvPr/>
        </p:nvSpPr>
        <p:spPr>
          <a:xfrm>
            <a:off x="450360" y="523800"/>
            <a:ext cx="83098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REFERENCES POUR L’EXERCICE ET L’ENTRAÎNEMENT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p:nvPr>
        </p:nvSpPr>
        <p:spPr>
          <a:xfrm>
            <a:off x="595440" y="692280"/>
            <a:ext cx="8153280" cy="3200400"/>
          </a:xfrm>
          <a:prstGeom prst="rect">
            <a:avLst/>
          </a:prstGeom>
          <a:noFill/>
          <a:ln w="0">
            <a:noFill/>
          </a:ln>
        </p:spPr>
        <p:txBody>
          <a:bodyPr lIns="92160" rIns="92160" tIns="46080" bIns="46080" anchor="t">
            <a:normAutofit/>
          </a:bodyPr>
          <a:p>
            <a:pPr indent="0">
              <a:lnSpc>
                <a:spcPct val="150000"/>
              </a:lnSpc>
              <a:spcBef>
                <a:spcPts val="601"/>
              </a:spcBef>
              <a:spcAft>
                <a:spcPts val="1349"/>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 P » de progressivité</a:t>
            </a:r>
            <a:r>
              <a:rPr b="1" lang="fr-FR" sz="3200" strike="noStrike" u="none">
                <a:solidFill>
                  <a:srgbClr val="ffffff"/>
                </a:solidFill>
                <a:effectLst/>
                <a:uFillTx/>
                <a:latin typeface="Calibri"/>
                <a:ea typeface="Calibri"/>
              </a:rPr>
              <a:t> : </a:t>
            </a:r>
            <a:r>
              <a:rPr b="1" lang="fr-FR" sz="2400" strike="noStrike" u="none">
                <a:solidFill>
                  <a:srgbClr val="ffff00"/>
                </a:solidFill>
                <a:effectLst/>
                <a:uFillTx/>
                <a:latin typeface="Calibri"/>
                <a:ea typeface="Calibri"/>
              </a:rPr>
              <a:t>Une augmentation progressive, du volume et de l’intensité sont indispensables aux réactions d’adaptations physiologiques recherchées par la préparation physique. </a:t>
            </a:r>
            <a:endParaRPr b="0" lang="en-US" sz="2400" strike="noStrike" u="none">
              <a:solidFill>
                <a:srgbClr val="ffff00"/>
              </a:solidFill>
              <a:effectLst/>
              <a:uFillTx/>
              <a:latin typeface="Times New Roman"/>
            </a:endParaRPr>
          </a:p>
        </p:txBody>
      </p:sp>
      <p:sp>
        <p:nvSpPr>
          <p:cNvPr id="330" name="Text Box 3"/>
          <p:cNvSpPr/>
          <p:nvPr/>
        </p:nvSpPr>
        <p:spPr>
          <a:xfrm>
            <a:off x="627120" y="3429000"/>
            <a:ext cx="8121600" cy="265428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La gestion des intensités requises dépend aussi de </a:t>
            </a:r>
            <a:r>
              <a:rPr b="1" lang="fr-FR" sz="2400" strike="noStrike" u="none">
                <a:solidFill>
                  <a:srgbClr val="f8f8f8"/>
                </a:solidFill>
                <a:effectLst/>
                <a:uFillTx/>
                <a:latin typeface="Calibri"/>
                <a:ea typeface="Calibri"/>
              </a:rPr>
              <a:t>l’évaluation préalable </a:t>
            </a:r>
            <a:r>
              <a:rPr b="1" lang="fr-FR" sz="2400" strike="noStrike" u="none">
                <a:solidFill>
                  <a:srgbClr val="ffff00"/>
                </a:solidFill>
                <a:effectLst/>
                <a:uFillTx/>
                <a:latin typeface="Calibri"/>
                <a:ea typeface="Calibri"/>
              </a:rPr>
              <a:t>et ensuite </a:t>
            </a:r>
            <a:r>
              <a:rPr b="1" lang="fr-FR" sz="2400" strike="noStrike" u="none">
                <a:solidFill>
                  <a:srgbClr val="f8f8f8"/>
                </a:solidFill>
                <a:effectLst/>
                <a:uFillTx/>
                <a:latin typeface="Calibri"/>
                <a:ea typeface="Calibri"/>
              </a:rPr>
              <a:t>répétée </a:t>
            </a:r>
            <a:r>
              <a:rPr b="1" lang="fr-FR" sz="2400" strike="noStrike" u="none">
                <a:solidFill>
                  <a:srgbClr val="ffff00"/>
                </a:solidFill>
                <a:effectLst/>
                <a:uFillTx/>
                <a:latin typeface="Calibri"/>
                <a:ea typeface="Calibri"/>
              </a:rPr>
              <a:t>à périodes régulières des capacités physiques et physiologiques.</a:t>
            </a:r>
            <a:endParaRPr b="0" lang="en-US" sz="2400" strike="noStrike" u="none">
              <a:solidFill>
                <a:srgbClr val="ffff00"/>
              </a:solidFill>
              <a:effectLst/>
              <a:uFillTx/>
              <a:latin typeface="Times New Roman"/>
            </a:endParaRPr>
          </a:p>
        </p:txBody>
      </p:sp>
    </p:spTree>
  </p:cSld>
  <p:transition spd="slow">
    <p:dissolve/>
  </p:transition>
  <p:timing>
    <p:tnLst>
      <p:par>
        <p:cTn id="395" dur="indefinite" restart="never" nodeType="tmRoot">
          <p:childTnLst>
            <p:seq>
              <p:cTn id="396" dur="indefinite" nodeType="mainSeq">
                <p:childTnLst>
                  <p:par>
                    <p:cTn id="397" nodeType="clickEffect" fill="hold">
                      <p:stCondLst>
                        <p:cond delay="0"/>
                      </p:stCondLst>
                      <p:childTnLst>
                        <p:par>
                          <p:cTn id="398" nodeType="withEffect" fill="hold">
                            <p:stCondLst>
                              <p:cond delay="0"/>
                            </p:stCondLst>
                            <p:childTnLst>
                              <p:par>
                                <p:cTn id="399" nodeType="afterEffect" fill="hold" presetClass="entr" presetID="9">
                                  <p:stCondLst>
                                    <p:cond delay="0"/>
                                  </p:stCondLst>
                                  <p:childTnLst>
                                    <p:set>
                                      <p:cBhvr>
                                        <p:cTn id="400" dur="1" fill="hold">
                                          <p:stCondLst>
                                            <p:cond delay="0"/>
                                          </p:stCondLst>
                                        </p:cTn>
                                        <p:tgtEl>
                                          <p:spTgt spid="329">
                                            <p:txEl>
                                              <p:pRg st="0" end="0"/>
                                            </p:txEl>
                                          </p:spTgt>
                                        </p:tgtEl>
                                        <p:attrNameLst>
                                          <p:attrName>style.visibility</p:attrName>
                                        </p:attrNameLst>
                                      </p:cBhvr>
                                      <p:to>
                                        <p:strVal val="visible"/>
                                      </p:to>
                                    </p:set>
                                    <p:animEffect filter="dissolve" transition="in">
                                      <p:cBhvr additive="repl">
                                        <p:cTn id="401" dur="500"/>
                                        <p:tgtEl>
                                          <p:spTgt spid="329">
                                            <p:txEl>
                                              <p:pRg st="0" end="0"/>
                                            </p:txEl>
                                          </p:spTgt>
                                        </p:tgtEl>
                                      </p:cBhvr>
                                    </p:animEffect>
                                  </p:childTnLst>
                                </p:cTn>
                              </p:par>
                            </p:childTnLst>
                          </p:cTn>
                        </p:par>
                      </p:childTnLst>
                    </p:cTn>
                  </p:par>
                  <p:par>
                    <p:cTn id="402" nodeType="clickEffect" fill="hold">
                      <p:stCondLst>
                        <p:cond delay="indefinite"/>
                      </p:stCondLst>
                      <p:childTnLst>
                        <p:par>
                          <p:cTn id="403" nodeType="withEffect" fill="hold">
                            <p:stCondLst>
                              <p:cond delay="0"/>
                            </p:stCondLst>
                            <p:childTnLst>
                              <p:par>
                                <p:cTn id="404" nodeType="clickEffect" fill="hold" presetClass="entr" presetID="2" presetSubtype="8">
                                  <p:stCondLst>
                                    <p:cond delay="0"/>
                                  </p:stCondLst>
                                  <p:childTnLst>
                                    <p:set>
                                      <p:cBhvr>
                                        <p:cTn id="405" dur="1" fill="hold">
                                          <p:stCondLst>
                                            <p:cond delay="0"/>
                                          </p:stCondLst>
                                        </p:cTn>
                                        <p:tgtEl>
                                          <p:spTgt spid="330"/>
                                        </p:tgtEl>
                                        <p:attrNameLst>
                                          <p:attrName>style.visibility</p:attrName>
                                        </p:attrNameLst>
                                      </p:cBhvr>
                                      <p:to>
                                        <p:strVal val="visible"/>
                                      </p:to>
                                    </p:set>
                                    <p:anim calcmode="lin" valueType="num">
                                      <p:cBhvr additive="base">
                                        <p:cTn id="406" dur="500" fill="hold"/>
                                        <p:tgtEl>
                                          <p:spTgt spid="330"/>
                                        </p:tgtEl>
                                        <p:attrNameLst>
                                          <p:attrName>ppt_x</p:attrName>
                                        </p:attrNameLst>
                                      </p:cBhvr>
                                      <p:tavLst>
                                        <p:tav tm="0">
                                          <p:val>
                                            <p:strVal val="0-#ppt_w/2"/>
                                          </p:val>
                                        </p:tav>
                                        <p:tav tm="100000">
                                          <p:val>
                                            <p:strVal val="#ppt_x"/>
                                          </p:val>
                                        </p:tav>
                                      </p:tavLst>
                                    </p:anim>
                                    <p:anim calcmode="lin" valueType="num">
                                      <p:cBhvr additive="base">
                                        <p:cTn id="407" dur="500" fill="hold"/>
                                        <p:tgtEl>
                                          <p:spTgt spid="3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Line 2"/>
          <p:cNvSpPr/>
          <p:nvPr/>
        </p:nvSpPr>
        <p:spPr>
          <a:xfrm flipV="1">
            <a:off x="1614600" y="964800"/>
            <a:ext cx="0" cy="3543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2" name="Rectangle 3"/>
          <p:cNvSpPr/>
          <p:nvPr/>
        </p:nvSpPr>
        <p:spPr>
          <a:xfrm>
            <a:off x="1766880" y="2301840"/>
            <a:ext cx="152280" cy="2171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3" name="Rectangle 4"/>
          <p:cNvSpPr/>
          <p:nvPr/>
        </p:nvSpPr>
        <p:spPr>
          <a:xfrm>
            <a:off x="2224080" y="195912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4" name="Rectangle 5"/>
          <p:cNvSpPr/>
          <p:nvPr/>
        </p:nvSpPr>
        <p:spPr>
          <a:xfrm>
            <a:off x="2452680" y="195264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5" name="Rectangle 6"/>
          <p:cNvSpPr/>
          <p:nvPr/>
        </p:nvSpPr>
        <p:spPr>
          <a:xfrm>
            <a:off x="26812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6" name="Rectangle 7"/>
          <p:cNvSpPr/>
          <p:nvPr/>
        </p:nvSpPr>
        <p:spPr>
          <a:xfrm>
            <a:off x="19954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7" name="Rectangle 8"/>
          <p:cNvSpPr/>
          <p:nvPr/>
        </p:nvSpPr>
        <p:spPr>
          <a:xfrm>
            <a:off x="2916360" y="1700280"/>
            <a:ext cx="142920" cy="277344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8" name="Rectangle 9"/>
          <p:cNvSpPr/>
          <p:nvPr/>
        </p:nvSpPr>
        <p:spPr>
          <a:xfrm>
            <a:off x="3367080" y="218772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39" name="Rectangle 10"/>
          <p:cNvSpPr/>
          <p:nvPr/>
        </p:nvSpPr>
        <p:spPr>
          <a:xfrm>
            <a:off x="3824280" y="173052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0" name="Rectangle 11"/>
          <p:cNvSpPr/>
          <p:nvPr/>
        </p:nvSpPr>
        <p:spPr>
          <a:xfrm>
            <a:off x="4052880" y="172260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1" name="Rectangle 12"/>
          <p:cNvSpPr/>
          <p:nvPr/>
        </p:nvSpPr>
        <p:spPr>
          <a:xfrm>
            <a:off x="4281480" y="2416320"/>
            <a:ext cx="15228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2" name="Rectangle 13"/>
          <p:cNvSpPr/>
          <p:nvPr/>
        </p:nvSpPr>
        <p:spPr>
          <a:xfrm>
            <a:off x="3595680" y="2530440"/>
            <a:ext cx="15228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3" name="Rectangle 14"/>
          <p:cNvSpPr/>
          <p:nvPr/>
        </p:nvSpPr>
        <p:spPr>
          <a:xfrm>
            <a:off x="4890960" y="2073240"/>
            <a:ext cx="152640" cy="24004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4" name="Rectangle 15"/>
          <p:cNvSpPr/>
          <p:nvPr/>
        </p:nvSpPr>
        <p:spPr>
          <a:xfrm>
            <a:off x="53481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5" name="Rectangle 16"/>
          <p:cNvSpPr/>
          <p:nvPr/>
        </p:nvSpPr>
        <p:spPr>
          <a:xfrm>
            <a:off x="55767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6" name="Rectangle 17"/>
          <p:cNvSpPr/>
          <p:nvPr/>
        </p:nvSpPr>
        <p:spPr>
          <a:xfrm>
            <a:off x="5805360" y="2416320"/>
            <a:ext cx="15264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7" name="Rectangle 18"/>
          <p:cNvSpPr/>
          <p:nvPr/>
        </p:nvSpPr>
        <p:spPr>
          <a:xfrm>
            <a:off x="5119560" y="2530440"/>
            <a:ext cx="15264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8" name="Rectangle 19"/>
          <p:cNvSpPr/>
          <p:nvPr/>
        </p:nvSpPr>
        <p:spPr>
          <a:xfrm>
            <a:off x="6033960" y="1293840"/>
            <a:ext cx="152640" cy="316692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49" name="Rectangle 20"/>
          <p:cNvSpPr/>
          <p:nvPr/>
        </p:nvSpPr>
        <p:spPr>
          <a:xfrm>
            <a:off x="6415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0" name="Rectangle 21"/>
          <p:cNvSpPr/>
          <p:nvPr/>
        </p:nvSpPr>
        <p:spPr>
          <a:xfrm>
            <a:off x="66438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1" name="Rectangle 22"/>
          <p:cNvSpPr/>
          <p:nvPr/>
        </p:nvSpPr>
        <p:spPr>
          <a:xfrm>
            <a:off x="68724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2" name="Rectangle 23"/>
          <p:cNvSpPr/>
          <p:nvPr/>
        </p:nvSpPr>
        <p:spPr>
          <a:xfrm>
            <a:off x="7101000" y="1482840"/>
            <a:ext cx="152280" cy="2990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3" name="Rectangle 24"/>
          <p:cNvSpPr/>
          <p:nvPr/>
        </p:nvSpPr>
        <p:spPr>
          <a:xfrm>
            <a:off x="73296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4" name="Rectangle 25"/>
          <p:cNvSpPr/>
          <p:nvPr/>
        </p:nvSpPr>
        <p:spPr>
          <a:xfrm>
            <a:off x="7558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5" name="Rectangle 26"/>
          <p:cNvSpPr/>
          <p:nvPr/>
        </p:nvSpPr>
        <p:spPr>
          <a:xfrm>
            <a:off x="7939080" y="218268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56" name="Text Box 27"/>
          <p:cNvSpPr/>
          <p:nvPr/>
        </p:nvSpPr>
        <p:spPr>
          <a:xfrm>
            <a:off x="1619280" y="3556080"/>
            <a:ext cx="6769080" cy="37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1</a:t>
            </a:r>
            <a:r>
              <a:rPr b="0" lang="fr-FR" sz="1600" strike="noStrike" u="none" baseline="30000">
                <a:solidFill>
                  <a:srgbClr val="000000"/>
                </a:solidFill>
                <a:effectLst/>
                <a:uFillTx/>
                <a:latin typeface="Arial"/>
                <a:ea typeface="Times New Roman"/>
              </a:rPr>
              <a:t>er</a:t>
            </a:r>
            <a:r>
              <a:rPr b="0" lang="fr-FR" sz="1600" strike="noStrike" u="none">
                <a:solidFill>
                  <a:srgbClr val="000000"/>
                </a:solidFill>
                <a:effectLst/>
                <a:uFillTx/>
                <a:latin typeface="Arial"/>
                <a:ea typeface="Times New Roman"/>
              </a:rPr>
              <a:t> microcycle     2</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microcycle  3</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microcyle    Microcycle de récup. </a:t>
            </a:r>
            <a:endParaRPr b="0" lang="en-US" sz="1600" strike="noStrike" u="none">
              <a:solidFill>
                <a:srgbClr val="ffff00"/>
              </a:solidFill>
              <a:effectLst/>
              <a:uFillTx/>
              <a:latin typeface="Times New Roman"/>
            </a:endParaRPr>
          </a:p>
        </p:txBody>
      </p:sp>
      <p:sp>
        <p:nvSpPr>
          <p:cNvPr id="357" name="Line 28"/>
          <p:cNvSpPr/>
          <p:nvPr/>
        </p:nvSpPr>
        <p:spPr>
          <a:xfrm>
            <a:off x="1614600" y="4487760"/>
            <a:ext cx="647676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8" name="Text Box 29"/>
          <p:cNvSpPr/>
          <p:nvPr/>
        </p:nvSpPr>
        <p:spPr>
          <a:xfrm>
            <a:off x="1001880" y="981000"/>
            <a:ext cx="761760" cy="3086280"/>
          </a:xfrm>
          <a:prstGeom prst="rect">
            <a:avLst/>
          </a:prstGeom>
          <a:noFill/>
          <a:ln w="0">
            <a:noFill/>
          </a:ln>
        </p:spPr>
        <p:style>
          <a:lnRef idx="0"/>
          <a:fillRef idx="0"/>
          <a:effectRef idx="0"/>
          <a:fontRef idx="minor"/>
        </p:style>
        <p:txBody>
          <a:bodyPr lIns="90000" rIns="90000" tIns="46800" bIns="46800" anchor="t">
            <a:normAutofit/>
          </a:bodyPr>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100 -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90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80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70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60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50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40   -  </a:t>
            </a:r>
            <a:endParaRPr b="0" lang="en-US" sz="1600" strike="noStrike" u="none">
              <a:solidFill>
                <a:srgbClr val="ffff00"/>
              </a:solidFill>
              <a:effectLst/>
              <a:uFillTx/>
              <a:latin typeface="Times New Roman"/>
            </a:endParaRPr>
          </a:p>
        </p:txBody>
      </p:sp>
      <p:sp>
        <p:nvSpPr>
          <p:cNvPr id="359" name="Text Box 30"/>
          <p:cNvSpPr/>
          <p:nvPr/>
        </p:nvSpPr>
        <p:spPr>
          <a:xfrm>
            <a:off x="1614600" y="4781520"/>
            <a:ext cx="6629400" cy="376200"/>
          </a:xfrm>
          <a:prstGeom prst="rect">
            <a:avLst/>
          </a:prstGeom>
          <a:noFill/>
          <a:ln w="0">
            <a:noFill/>
          </a:ln>
        </p:spPr>
        <p:style>
          <a:lnRef idx="0"/>
          <a:fillRef idx="0"/>
          <a:effectRef idx="0"/>
          <a:fontRef idx="minor"/>
        </p:style>
        <p:txBody>
          <a:bodyPr lIns="90000" rIns="90000" tIns="46800" bIns="46800" anchor="t">
            <a:normAutofit fontScale="250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L  M  M  J  V  S  D   L  M M  J  V  S  D  L  M  M  J  V  S  D  L  M M  J   V  S  D 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JOURS DE LA SEMAINE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p:txBody>
      </p:sp>
      <p:sp>
        <p:nvSpPr>
          <p:cNvPr id="360" name="Line 31"/>
          <p:cNvSpPr/>
          <p:nvPr/>
        </p:nvSpPr>
        <p:spPr>
          <a:xfrm flipV="1">
            <a:off x="1614600" y="1267920"/>
            <a:ext cx="6629400" cy="25560"/>
          </a:xfrm>
          <a:prstGeom prst="line">
            <a:avLst/>
          </a:prstGeom>
          <a:ln w="28440">
            <a:solidFill>
              <a:srgbClr val="ffffff"/>
            </a:solidFill>
            <a:prstDash val="sysDot"/>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361" name="Text Box 32"/>
          <p:cNvSpPr/>
          <p:nvPr/>
        </p:nvSpPr>
        <p:spPr>
          <a:xfrm>
            <a:off x="900000" y="333360"/>
            <a:ext cx="1727280" cy="57636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Pourcentages</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du maximum</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362" name="Rectangle 33"/>
          <p:cNvSpPr/>
          <p:nvPr/>
        </p:nvSpPr>
        <p:spPr>
          <a:xfrm>
            <a:off x="1085760" y="1349280"/>
            <a:ext cx="7086600" cy="422928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63" name="Rectangle 34"/>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179064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64" name="Rectangle 35"/>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65" name="Rectangle 36"/>
          <p:cNvSpPr/>
          <p:nvPr/>
        </p:nvSpPr>
        <p:spPr>
          <a:xfrm>
            <a:off x="1221480" y="5927040"/>
            <a:ext cx="7105680" cy="3682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Notion de progressivité </a:t>
            </a:r>
            <a:r>
              <a:rPr b="0" lang="fr-FR" sz="1800" strike="noStrike" u="none">
                <a:solidFill>
                  <a:srgbClr val="ffff00"/>
                </a:solidFill>
                <a:effectLst/>
                <a:uFillTx/>
                <a:latin typeface="Arial"/>
                <a:ea typeface="Times New Roman"/>
              </a:rPr>
              <a:t>de plusieurs séances au sein de microcycles</a:t>
            </a:r>
            <a:endParaRPr b="0" lang="en-US" sz="1800" strike="noStrike" u="none">
              <a:solidFill>
                <a:srgbClr val="ffff00"/>
              </a:solidFill>
              <a:effectLst/>
              <a:uFillTx/>
              <a:latin typeface="Times New Roman"/>
            </a:endParaRPr>
          </a:p>
        </p:txBody>
      </p:sp>
      <p:sp>
        <p:nvSpPr>
          <p:cNvPr id="366" name="Line 37"/>
          <p:cNvSpPr/>
          <p:nvPr/>
        </p:nvSpPr>
        <p:spPr>
          <a:xfrm flipV="1">
            <a:off x="1763640" y="1197000"/>
            <a:ext cx="51120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7" name="Line 38"/>
          <p:cNvSpPr/>
          <p:nvPr/>
        </p:nvSpPr>
        <p:spPr>
          <a:xfrm flipV="1">
            <a:off x="2198520" y="2421000"/>
            <a:ext cx="51102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p:nvPr>
        </p:nvSpPr>
        <p:spPr>
          <a:xfrm>
            <a:off x="107640" y="404640"/>
            <a:ext cx="8915400" cy="3810240"/>
          </a:xfrm>
          <a:prstGeom prst="rect">
            <a:avLst/>
          </a:prstGeom>
          <a:noFill/>
          <a:ln w="0">
            <a:noFill/>
          </a:ln>
        </p:spPr>
        <p:txBody>
          <a:bodyPr lIns="91440" rIns="91440" tIns="45720" bIns="45720" anchor="t">
            <a:normAutofit fontScale="77500" lnSpcReduction="19999"/>
          </a:bodyPr>
          <a:p>
            <a:pPr marL="187200" indent="-187200">
              <a:lnSpc>
                <a:spcPct val="140000"/>
              </a:lnSpc>
              <a:spcBef>
                <a:spcPts val="601"/>
              </a:spcBef>
              <a:buNone/>
              <a:tabLst>
                <a:tab algn="l" pos="0"/>
                <a:tab algn="l" pos="225360"/>
                <a:tab algn="l" pos="450720"/>
                <a:tab algn="l" pos="676440"/>
                <a:tab algn="l" pos="901800"/>
                <a:tab algn="l" pos="1127160"/>
                <a:tab algn="l" pos="1352520"/>
                <a:tab algn="l" pos="1577880"/>
                <a:tab algn="l" pos="1803240"/>
                <a:tab algn="l" pos="2028960"/>
                <a:tab algn="l" pos="2254320"/>
                <a:tab algn="l" pos="2479680"/>
                <a:tab algn="l" pos="2705040"/>
                <a:tab algn="l" pos="2930400"/>
                <a:tab algn="l" pos="3156120"/>
                <a:tab algn="l" pos="3381480"/>
                <a:tab algn="l" pos="3606840"/>
                <a:tab algn="l" pos="3832200"/>
                <a:tab algn="l" pos="4057560"/>
                <a:tab algn="l" pos="4282920"/>
                <a:tab algn="l" pos="4508640"/>
              </a:tabLst>
            </a:pPr>
            <a:r>
              <a:rPr b="1" lang="fr-FR" sz="3600" strike="noStrike" u="none">
                <a:solidFill>
                  <a:srgbClr val="ffffff"/>
                </a:solidFill>
                <a:effectLst/>
                <a:uFillTx/>
                <a:latin typeface="Calibri"/>
                <a:ea typeface="Calibri"/>
              </a:rPr>
              <a:t>« A » d’alternance</a:t>
            </a:r>
            <a:r>
              <a:rPr b="1" lang="fr-FR" sz="3600" strike="noStrike" u="none">
                <a:solidFill>
                  <a:srgbClr val="99ff33"/>
                </a:solidFill>
                <a:effectLst/>
                <a:uFillTx/>
                <a:latin typeface="Calibri"/>
                <a:ea typeface="Calibri"/>
              </a:rPr>
              <a:t> </a:t>
            </a:r>
            <a:r>
              <a:rPr b="1" lang="fr-FR" sz="2400" strike="noStrike" u="none">
                <a:solidFill>
                  <a:srgbClr val="ffff00"/>
                </a:solidFill>
                <a:effectLst/>
                <a:uFillTx/>
                <a:latin typeface="Calibri"/>
                <a:ea typeface="Calibri"/>
              </a:rPr>
              <a:t>des exercices, des séances  d ’entraînement et de la récupération. </a:t>
            </a:r>
            <a:endParaRPr b="0" lang="en-US" sz="2400" strike="noStrike" u="none">
              <a:solidFill>
                <a:srgbClr val="ffff00"/>
              </a:solidFill>
              <a:effectLst/>
              <a:uFillTx/>
              <a:latin typeface="Times New Roman"/>
            </a:endParaRPr>
          </a:p>
          <a:p>
            <a:pPr marL="187200" indent="-187200">
              <a:lnSpc>
                <a:spcPct val="140000"/>
              </a:lnSpc>
              <a:spcBef>
                <a:spcPts val="601"/>
              </a:spcBef>
              <a:buNone/>
              <a:tabLst>
                <a:tab algn="l" pos="0"/>
                <a:tab algn="l" pos="225360"/>
                <a:tab algn="l" pos="450720"/>
                <a:tab algn="l" pos="676440"/>
                <a:tab algn="l" pos="901800"/>
                <a:tab algn="l" pos="1127160"/>
                <a:tab algn="l" pos="1352520"/>
                <a:tab algn="l" pos="1577880"/>
                <a:tab algn="l" pos="1803240"/>
                <a:tab algn="l" pos="2028960"/>
                <a:tab algn="l" pos="2254320"/>
                <a:tab algn="l" pos="2479680"/>
                <a:tab algn="l" pos="2705040"/>
                <a:tab algn="l" pos="2930400"/>
                <a:tab algn="l" pos="3156120"/>
                <a:tab algn="l" pos="3381480"/>
                <a:tab algn="l" pos="3606840"/>
                <a:tab algn="l" pos="3832200"/>
                <a:tab algn="l" pos="4057560"/>
                <a:tab algn="l" pos="4282920"/>
                <a:tab algn="l" pos="4508640"/>
              </a:tabLst>
            </a:pPr>
            <a:r>
              <a:rPr b="1" lang="fr-FR" sz="2400" strike="noStrike" u="none">
                <a:solidFill>
                  <a:srgbClr val="ffff00"/>
                </a:solidFill>
                <a:effectLst/>
                <a:uFillTx/>
                <a:latin typeface="Calibri"/>
                <a:ea typeface="Calibri"/>
              </a:rPr>
              <a:t>  La récupération fait partie intégrante de l’entraînement : ce qui est mobilisé au cours de l’exercice se régénère et s’améliore au cours de la récupération (effets réparateurs, épurateurs et de surcompensation).</a:t>
            </a:r>
            <a:endParaRPr b="0" lang="en-US" sz="2400" strike="noStrike" u="none">
              <a:solidFill>
                <a:srgbClr val="ffff00"/>
              </a:solidFill>
              <a:effectLst/>
              <a:uFillTx/>
              <a:latin typeface="Times New Roman"/>
            </a:endParaRPr>
          </a:p>
          <a:p>
            <a:pPr marL="187200" indent="-187200">
              <a:lnSpc>
                <a:spcPct val="140000"/>
              </a:lnSpc>
              <a:spcBef>
                <a:spcPts val="601"/>
              </a:spcBef>
              <a:buNone/>
              <a:tabLst>
                <a:tab algn="l" pos="0"/>
                <a:tab algn="l" pos="225360"/>
                <a:tab algn="l" pos="450720"/>
                <a:tab algn="l" pos="676440"/>
                <a:tab algn="l" pos="901800"/>
                <a:tab algn="l" pos="1127160"/>
                <a:tab algn="l" pos="1352520"/>
                <a:tab algn="l" pos="1577880"/>
                <a:tab algn="l" pos="1803240"/>
                <a:tab algn="l" pos="2028960"/>
                <a:tab algn="l" pos="2254320"/>
                <a:tab algn="l" pos="2479680"/>
                <a:tab algn="l" pos="2705040"/>
                <a:tab algn="l" pos="2930400"/>
                <a:tab algn="l" pos="3156120"/>
                <a:tab algn="l" pos="3381480"/>
                <a:tab algn="l" pos="3606840"/>
                <a:tab algn="l" pos="3832200"/>
                <a:tab algn="l" pos="4057560"/>
                <a:tab algn="l" pos="4282920"/>
                <a:tab algn="l" pos="4508640"/>
              </a:tabLst>
            </a:pPr>
            <a:r>
              <a:rPr b="1" lang="fr-FR" sz="2400" strike="noStrike" u="none">
                <a:solidFill>
                  <a:srgbClr val="ffffff"/>
                </a:solidFill>
                <a:effectLst/>
                <a:uFillTx/>
                <a:latin typeface="Calibri"/>
                <a:ea typeface="Calibri"/>
              </a:rPr>
              <a:t>Les exercices par intervalles comprenant des intensités supérieures s’avèrent plus efficaces pour le développement de la condition physique aussi bien liée à la santé qu’à la performance </a:t>
            </a:r>
            <a:endParaRPr b="0" lang="en-US" sz="2400" strike="noStrike" u="none">
              <a:solidFill>
                <a:srgbClr val="ffff00"/>
              </a:solidFill>
              <a:effectLst/>
              <a:uFillTx/>
              <a:latin typeface="Times New Roman"/>
            </a:endParaRPr>
          </a:p>
          <a:p>
            <a:pPr marL="187200" indent="-187200">
              <a:lnSpc>
                <a:spcPct val="140000"/>
              </a:lnSpc>
              <a:spcBef>
                <a:spcPts val="601"/>
              </a:spcBef>
              <a:buNone/>
              <a:tabLst>
                <a:tab algn="l" pos="0"/>
                <a:tab algn="l" pos="225360"/>
                <a:tab algn="l" pos="450720"/>
                <a:tab algn="l" pos="676440"/>
                <a:tab algn="l" pos="901800"/>
                <a:tab algn="l" pos="1127160"/>
                <a:tab algn="l" pos="1352520"/>
                <a:tab algn="l" pos="1577880"/>
                <a:tab algn="l" pos="1803240"/>
                <a:tab algn="l" pos="2028960"/>
                <a:tab algn="l" pos="2254320"/>
                <a:tab algn="l" pos="2479680"/>
                <a:tab algn="l" pos="2705040"/>
                <a:tab algn="l" pos="2930400"/>
                <a:tab algn="l" pos="3156120"/>
                <a:tab algn="l" pos="3381480"/>
                <a:tab algn="l" pos="3606840"/>
                <a:tab algn="l" pos="3832200"/>
                <a:tab algn="l" pos="4057560"/>
                <a:tab algn="l" pos="4282920"/>
                <a:tab algn="l" pos="4508640"/>
              </a:tabLst>
            </a:pPr>
            <a:endParaRPr b="0" lang="en-US" sz="2400" strike="noStrike" u="none">
              <a:solidFill>
                <a:srgbClr val="ffff00"/>
              </a:solidFill>
              <a:effectLst/>
              <a:uFillTx/>
              <a:latin typeface="Times New Roman"/>
            </a:endParaRPr>
          </a:p>
        </p:txBody>
      </p:sp>
    </p:spTree>
  </p:cSld>
  <p:transition spd="slow">
    <p:dissolve/>
  </p:transition>
  <p:timing>
    <p:tnLst>
      <p:par>
        <p:cTn id="408" dur="indefinite" restart="never" nodeType="tmRoot">
          <p:childTnLst>
            <p:seq>
              <p:cTn id="409" dur="indefinite" nodeType="mainSeq">
                <p:childTnLst>
                  <p:par>
                    <p:cTn id="410" nodeType="clickEffect" fill="hold">
                      <p:stCondLst>
                        <p:cond delay="0"/>
                      </p:stCondLst>
                      <p:childTnLst>
                        <p:par>
                          <p:cTn id="411" nodeType="withEffect" fill="hold">
                            <p:stCondLst>
                              <p:cond delay="0"/>
                            </p:stCondLst>
                            <p:childTnLst>
                              <p:par>
                                <p:cTn id="412" nodeType="afterEffect" fill="hold" presetClass="entr" presetID="22" presetSubtype="8">
                                  <p:stCondLst>
                                    <p:cond delay="0"/>
                                  </p:stCondLst>
                                  <p:iterate type="wd">
                                    <p:tmAbs val="300"/>
                                  </p:iterate>
                                  <p:childTnLst>
                                    <p:set>
                                      <p:cBhvr>
                                        <p:cTn id="413" dur="1" fill="hold">
                                          <p:stCondLst>
                                            <p:cond delay="0"/>
                                          </p:stCondLst>
                                        </p:cTn>
                                        <p:tgtEl>
                                          <p:spTgt spid="368">
                                            <p:txEl>
                                              <p:pRg st="0" end="0"/>
                                            </p:txEl>
                                          </p:spTgt>
                                        </p:tgtEl>
                                        <p:attrNameLst>
                                          <p:attrName>style.visibility</p:attrName>
                                        </p:attrNameLst>
                                      </p:cBhvr>
                                      <p:to>
                                        <p:strVal val="visible"/>
                                      </p:to>
                                    </p:set>
                                    <p:animEffect filter="wipe(left)" transition="in">
                                      <p:cBhvr additive="repl">
                                        <p:cTn id="414" dur="300"/>
                                        <p:tgtEl>
                                          <p:spTgt spid="368">
                                            <p:txEl>
                                              <p:pRg st="0" end="0"/>
                                            </p:txEl>
                                          </p:spTgt>
                                        </p:tgtEl>
                                      </p:cBhvr>
                                    </p:animEffect>
                                  </p:childTnLst>
                                </p:cTn>
                              </p:par>
                            </p:childTnLst>
                          </p:cTn>
                        </p:par>
                        <p:par>
                          <p:cTn id="415" nodeType="afterEffect" fill="hold">
                            <p:stCondLst>
                              <p:cond delay="4800"/>
                            </p:stCondLst>
                            <p:childTnLst>
                              <p:par>
                                <p:cTn id="416" nodeType="afterEffect" fill="hold" presetClass="entr" presetID="22" presetSubtype="8">
                                  <p:stCondLst>
                                    <p:cond delay="0"/>
                                  </p:stCondLst>
                                  <p:iterate type="wd">
                                    <p:tmAbs val="300"/>
                                  </p:iterate>
                                  <p:childTnLst>
                                    <p:set>
                                      <p:cBhvr>
                                        <p:cTn id="417" dur="1" fill="hold">
                                          <p:stCondLst>
                                            <p:cond delay="0"/>
                                          </p:stCondLst>
                                        </p:cTn>
                                        <p:tgtEl>
                                          <p:spTgt spid="368">
                                            <p:txEl>
                                              <p:pRg st="1" end="1"/>
                                            </p:txEl>
                                          </p:spTgt>
                                        </p:tgtEl>
                                        <p:attrNameLst>
                                          <p:attrName>style.visibility</p:attrName>
                                        </p:attrNameLst>
                                      </p:cBhvr>
                                      <p:to>
                                        <p:strVal val="visible"/>
                                      </p:to>
                                    </p:set>
                                    <p:animEffect filter="wipe(left)" transition="in">
                                      <p:cBhvr additive="repl">
                                        <p:cTn id="418" dur="300"/>
                                        <p:tgtEl>
                                          <p:spTgt spid="368">
                                            <p:txEl>
                                              <p:pRg st="1" end="1"/>
                                            </p:txEl>
                                          </p:spTgt>
                                        </p:tgtEl>
                                      </p:cBhvr>
                                    </p:animEffect>
                                  </p:childTnLst>
                                </p:cTn>
                              </p:par>
                            </p:childTnLst>
                          </p:cTn>
                        </p:par>
                        <p:par>
                          <p:cTn id="419" nodeType="afterEffect" fill="hold">
                            <p:stCondLst>
                              <p:cond delay="15300"/>
                            </p:stCondLst>
                            <p:childTnLst>
                              <p:par>
                                <p:cTn id="420" nodeType="afterEffect" fill="hold" presetClass="entr" presetID="22" presetSubtype="8">
                                  <p:stCondLst>
                                    <p:cond delay="0"/>
                                  </p:stCondLst>
                                  <p:iterate type="wd">
                                    <p:tmAbs val="300"/>
                                  </p:iterate>
                                  <p:childTnLst>
                                    <p:set>
                                      <p:cBhvr>
                                        <p:cTn id="421" dur="1" fill="hold">
                                          <p:stCondLst>
                                            <p:cond delay="0"/>
                                          </p:stCondLst>
                                        </p:cTn>
                                        <p:tgtEl>
                                          <p:spTgt spid="368">
                                            <p:txEl>
                                              <p:pRg st="2" end="2"/>
                                            </p:txEl>
                                          </p:spTgt>
                                        </p:tgtEl>
                                        <p:attrNameLst>
                                          <p:attrName>style.visibility</p:attrName>
                                        </p:attrNameLst>
                                      </p:cBhvr>
                                      <p:to>
                                        <p:strVal val="visible"/>
                                      </p:to>
                                    </p:set>
                                    <p:animEffect filter="wipe(left)" transition="in">
                                      <p:cBhvr additive="repl">
                                        <p:cTn id="422" dur="300"/>
                                        <p:tgtEl>
                                          <p:spTgt spid="36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Line 2"/>
          <p:cNvSpPr/>
          <p:nvPr/>
        </p:nvSpPr>
        <p:spPr>
          <a:xfrm flipV="1">
            <a:off x="1614600" y="964800"/>
            <a:ext cx="0" cy="3543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0" name="Rectangle 3"/>
          <p:cNvSpPr/>
          <p:nvPr/>
        </p:nvSpPr>
        <p:spPr>
          <a:xfrm>
            <a:off x="1766880" y="2301840"/>
            <a:ext cx="152280" cy="2171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1" name="Rectangle 4"/>
          <p:cNvSpPr/>
          <p:nvPr/>
        </p:nvSpPr>
        <p:spPr>
          <a:xfrm>
            <a:off x="2224080" y="195912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2" name="Rectangle 5"/>
          <p:cNvSpPr/>
          <p:nvPr/>
        </p:nvSpPr>
        <p:spPr>
          <a:xfrm>
            <a:off x="2452680" y="195264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3" name="Rectangle 6"/>
          <p:cNvSpPr/>
          <p:nvPr/>
        </p:nvSpPr>
        <p:spPr>
          <a:xfrm>
            <a:off x="26812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4" name="Rectangle 7"/>
          <p:cNvSpPr/>
          <p:nvPr/>
        </p:nvSpPr>
        <p:spPr>
          <a:xfrm>
            <a:off x="19954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5" name="Rectangle 8"/>
          <p:cNvSpPr/>
          <p:nvPr/>
        </p:nvSpPr>
        <p:spPr>
          <a:xfrm>
            <a:off x="2916360" y="1700280"/>
            <a:ext cx="142920" cy="277344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6" name="Rectangle 9"/>
          <p:cNvSpPr/>
          <p:nvPr/>
        </p:nvSpPr>
        <p:spPr>
          <a:xfrm>
            <a:off x="3367080" y="218772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7" name="Rectangle 10"/>
          <p:cNvSpPr/>
          <p:nvPr/>
        </p:nvSpPr>
        <p:spPr>
          <a:xfrm>
            <a:off x="3824280" y="173052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8" name="Rectangle 11"/>
          <p:cNvSpPr/>
          <p:nvPr/>
        </p:nvSpPr>
        <p:spPr>
          <a:xfrm>
            <a:off x="4052880" y="172260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79" name="Rectangle 12"/>
          <p:cNvSpPr/>
          <p:nvPr/>
        </p:nvSpPr>
        <p:spPr>
          <a:xfrm>
            <a:off x="4281480" y="2416320"/>
            <a:ext cx="15228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0" name="Rectangle 13"/>
          <p:cNvSpPr/>
          <p:nvPr/>
        </p:nvSpPr>
        <p:spPr>
          <a:xfrm>
            <a:off x="3595680" y="2530440"/>
            <a:ext cx="15228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1" name="Rectangle 14"/>
          <p:cNvSpPr/>
          <p:nvPr/>
        </p:nvSpPr>
        <p:spPr>
          <a:xfrm>
            <a:off x="4890960" y="2073240"/>
            <a:ext cx="152640" cy="24004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2" name="Rectangle 15"/>
          <p:cNvSpPr/>
          <p:nvPr/>
        </p:nvSpPr>
        <p:spPr>
          <a:xfrm>
            <a:off x="53481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3" name="Rectangle 16"/>
          <p:cNvSpPr/>
          <p:nvPr/>
        </p:nvSpPr>
        <p:spPr>
          <a:xfrm>
            <a:off x="55767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4" name="Rectangle 17"/>
          <p:cNvSpPr/>
          <p:nvPr/>
        </p:nvSpPr>
        <p:spPr>
          <a:xfrm>
            <a:off x="5805360" y="2416320"/>
            <a:ext cx="15264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5" name="Rectangle 18"/>
          <p:cNvSpPr/>
          <p:nvPr/>
        </p:nvSpPr>
        <p:spPr>
          <a:xfrm>
            <a:off x="5119560" y="2530440"/>
            <a:ext cx="15264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6" name="Rectangle 19"/>
          <p:cNvSpPr/>
          <p:nvPr/>
        </p:nvSpPr>
        <p:spPr>
          <a:xfrm>
            <a:off x="6033960" y="1293840"/>
            <a:ext cx="152640" cy="316692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7" name="Rectangle 20"/>
          <p:cNvSpPr/>
          <p:nvPr/>
        </p:nvSpPr>
        <p:spPr>
          <a:xfrm>
            <a:off x="6415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8" name="Rectangle 21"/>
          <p:cNvSpPr/>
          <p:nvPr/>
        </p:nvSpPr>
        <p:spPr>
          <a:xfrm>
            <a:off x="66438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89" name="Rectangle 22"/>
          <p:cNvSpPr/>
          <p:nvPr/>
        </p:nvSpPr>
        <p:spPr>
          <a:xfrm>
            <a:off x="68724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90" name="Rectangle 23"/>
          <p:cNvSpPr/>
          <p:nvPr/>
        </p:nvSpPr>
        <p:spPr>
          <a:xfrm>
            <a:off x="7101000" y="1482840"/>
            <a:ext cx="152280" cy="2990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91" name="Rectangle 24"/>
          <p:cNvSpPr/>
          <p:nvPr/>
        </p:nvSpPr>
        <p:spPr>
          <a:xfrm>
            <a:off x="73296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92" name="Rectangle 25"/>
          <p:cNvSpPr/>
          <p:nvPr/>
        </p:nvSpPr>
        <p:spPr>
          <a:xfrm>
            <a:off x="7558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93" name="Rectangle 26"/>
          <p:cNvSpPr/>
          <p:nvPr/>
        </p:nvSpPr>
        <p:spPr>
          <a:xfrm>
            <a:off x="7939080" y="218268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94" name="Text Box 27"/>
          <p:cNvSpPr/>
          <p:nvPr/>
        </p:nvSpPr>
        <p:spPr>
          <a:xfrm>
            <a:off x="1619280" y="3556080"/>
            <a:ext cx="6769080" cy="37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1</a:t>
            </a:r>
            <a:r>
              <a:rPr b="0" lang="fr-FR" sz="1600" strike="noStrike" u="none" baseline="30000">
                <a:solidFill>
                  <a:srgbClr val="000000"/>
                </a:solidFill>
                <a:effectLst/>
                <a:uFillTx/>
                <a:latin typeface="Arial"/>
                <a:ea typeface="Times New Roman"/>
              </a:rPr>
              <a:t>er</a:t>
            </a:r>
            <a:r>
              <a:rPr b="0" lang="fr-FR" sz="1600" strike="noStrike" u="none">
                <a:solidFill>
                  <a:srgbClr val="000000"/>
                </a:solidFill>
                <a:effectLst/>
                <a:uFillTx/>
                <a:latin typeface="Arial"/>
                <a:ea typeface="Times New Roman"/>
              </a:rPr>
              <a:t> microcycle     2</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microcycle  3</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microcyle    Microcycle de récup. </a:t>
            </a:r>
            <a:endParaRPr b="0" lang="en-US" sz="1600" strike="noStrike" u="none">
              <a:solidFill>
                <a:srgbClr val="ffff00"/>
              </a:solidFill>
              <a:effectLst/>
              <a:uFillTx/>
              <a:latin typeface="Times New Roman"/>
            </a:endParaRPr>
          </a:p>
        </p:txBody>
      </p:sp>
      <p:sp>
        <p:nvSpPr>
          <p:cNvPr id="395" name="Line 28"/>
          <p:cNvSpPr/>
          <p:nvPr/>
        </p:nvSpPr>
        <p:spPr>
          <a:xfrm>
            <a:off x="1614600" y="4487760"/>
            <a:ext cx="647676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6" name="Text Box 29"/>
          <p:cNvSpPr/>
          <p:nvPr/>
        </p:nvSpPr>
        <p:spPr>
          <a:xfrm>
            <a:off x="1001880" y="981000"/>
            <a:ext cx="761760" cy="3086280"/>
          </a:xfrm>
          <a:prstGeom prst="rect">
            <a:avLst/>
          </a:prstGeom>
          <a:noFill/>
          <a:ln w="0">
            <a:noFill/>
          </a:ln>
        </p:spPr>
        <p:style>
          <a:lnRef idx="0"/>
          <a:fillRef idx="0"/>
          <a:effectRef idx="0"/>
          <a:fontRef idx="minor"/>
        </p:style>
        <p:txBody>
          <a:bodyPr lIns="90000" rIns="90000" tIns="46800" bIns="46800" anchor="t">
            <a:normAutofit/>
          </a:bodyPr>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100 -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90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80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70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60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50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40   -  </a:t>
            </a:r>
            <a:endParaRPr b="0" lang="en-US" sz="1600" strike="noStrike" u="none">
              <a:solidFill>
                <a:srgbClr val="ffff00"/>
              </a:solidFill>
              <a:effectLst/>
              <a:uFillTx/>
              <a:latin typeface="Times New Roman"/>
            </a:endParaRPr>
          </a:p>
        </p:txBody>
      </p:sp>
      <p:sp>
        <p:nvSpPr>
          <p:cNvPr id="397" name="Text Box 30"/>
          <p:cNvSpPr/>
          <p:nvPr/>
        </p:nvSpPr>
        <p:spPr>
          <a:xfrm>
            <a:off x="1614600" y="4781520"/>
            <a:ext cx="6629400" cy="376200"/>
          </a:xfrm>
          <a:prstGeom prst="rect">
            <a:avLst/>
          </a:prstGeom>
          <a:noFill/>
          <a:ln w="0">
            <a:noFill/>
          </a:ln>
        </p:spPr>
        <p:style>
          <a:lnRef idx="0"/>
          <a:fillRef idx="0"/>
          <a:effectRef idx="0"/>
          <a:fontRef idx="minor"/>
        </p:style>
        <p:txBody>
          <a:bodyPr lIns="90000" rIns="90000" tIns="46800" bIns="46800" anchor="t">
            <a:normAutofit fontScale="250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L  M  M  J  V  S  D   L  M M  J  V  S  D  L  M  M  J  V  S  D  L  M M  J   V  S  D 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JOURS DE LA SEMAINE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p:txBody>
      </p:sp>
      <p:sp>
        <p:nvSpPr>
          <p:cNvPr id="398" name="Line 31"/>
          <p:cNvSpPr/>
          <p:nvPr/>
        </p:nvSpPr>
        <p:spPr>
          <a:xfrm flipV="1">
            <a:off x="1614600" y="1267920"/>
            <a:ext cx="6629400" cy="25560"/>
          </a:xfrm>
          <a:prstGeom prst="line">
            <a:avLst/>
          </a:prstGeom>
          <a:ln w="28440">
            <a:solidFill>
              <a:srgbClr val="ffffff"/>
            </a:solidFill>
            <a:prstDash val="sysDot"/>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399" name="Text Box 32"/>
          <p:cNvSpPr/>
          <p:nvPr/>
        </p:nvSpPr>
        <p:spPr>
          <a:xfrm>
            <a:off x="900000" y="333360"/>
            <a:ext cx="1727280" cy="57636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Pourcentages</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du maximum</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400" name="Rectangle 33"/>
          <p:cNvSpPr/>
          <p:nvPr/>
        </p:nvSpPr>
        <p:spPr>
          <a:xfrm>
            <a:off x="1085760" y="1349280"/>
            <a:ext cx="7086600" cy="422928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01" name="Rectangle 34"/>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179064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02" name="Rectangle 35"/>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03" name="Rectangle 36"/>
          <p:cNvSpPr/>
          <p:nvPr/>
        </p:nvSpPr>
        <p:spPr>
          <a:xfrm>
            <a:off x="1221480" y="5927040"/>
            <a:ext cx="7105680" cy="3682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Notion de progressivité </a:t>
            </a:r>
            <a:r>
              <a:rPr b="0" lang="fr-FR" sz="1800" strike="noStrike" u="none">
                <a:solidFill>
                  <a:srgbClr val="ffff00"/>
                </a:solidFill>
                <a:effectLst/>
                <a:uFillTx/>
                <a:latin typeface="Arial"/>
                <a:ea typeface="Times New Roman"/>
              </a:rPr>
              <a:t>de plusieurs séances au sein de microcycles</a:t>
            </a:r>
            <a:endParaRPr b="0" lang="en-US" sz="1800" strike="noStrike" u="none">
              <a:solidFill>
                <a:srgbClr val="ffff00"/>
              </a:solidFill>
              <a:effectLst/>
              <a:uFillTx/>
              <a:latin typeface="Times New Roman"/>
            </a:endParaRPr>
          </a:p>
        </p:txBody>
      </p:sp>
      <p:sp>
        <p:nvSpPr>
          <p:cNvPr id="404" name="Line 37"/>
          <p:cNvSpPr/>
          <p:nvPr/>
        </p:nvSpPr>
        <p:spPr>
          <a:xfrm flipV="1">
            <a:off x="1763640" y="1197000"/>
            <a:ext cx="51120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05" name="Line 38"/>
          <p:cNvSpPr/>
          <p:nvPr/>
        </p:nvSpPr>
        <p:spPr>
          <a:xfrm flipV="1">
            <a:off x="2198520" y="2421000"/>
            <a:ext cx="51102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Text Box 2"/>
          <p:cNvSpPr/>
          <p:nvPr/>
        </p:nvSpPr>
        <p:spPr>
          <a:xfrm>
            <a:off x="-940680" y="687240"/>
            <a:ext cx="10928880" cy="5817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La récupération : définition et caractéristiques</a:t>
            </a:r>
            <a:endParaRPr b="0" lang="en-US" sz="3200" strike="noStrike" u="none">
              <a:solidFill>
                <a:srgbClr val="ffff00"/>
              </a:solidFill>
              <a:effectLst/>
              <a:uFillTx/>
              <a:latin typeface="Times New Roman"/>
            </a:endParaRPr>
          </a:p>
        </p:txBody>
      </p:sp>
      <p:sp>
        <p:nvSpPr>
          <p:cNvPr id="407" name="Text Box 3"/>
          <p:cNvSpPr/>
          <p:nvPr/>
        </p:nvSpPr>
        <p:spPr>
          <a:xfrm>
            <a:off x="-1483560" y="2133720"/>
            <a:ext cx="12301560" cy="40215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La récupération après un exercice peut être définie comme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la durée nécessaire pour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a:t>
            </a:r>
            <a:endParaRPr b="0" lang="en-US" sz="2800" strike="noStrike" u="none">
              <a:solidFill>
                <a:srgbClr val="ffff00"/>
              </a:solidFill>
              <a:effectLst/>
              <a:uFillTx/>
              <a:latin typeface="Times New Roman"/>
            </a:endParaRPr>
          </a:p>
          <a:p>
            <a:pPr>
              <a:lnSpc>
                <a:spcPct val="14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reconstituer voire augmenter les réserves utilisées </a:t>
            </a:r>
            <a:endParaRPr b="0" lang="en-US" sz="2800" strike="noStrike" u="none">
              <a:solidFill>
                <a:srgbClr val="ffff00"/>
              </a:solidFill>
              <a:effectLst/>
              <a:uFillTx/>
              <a:latin typeface="Times New Roman"/>
            </a:endParaRPr>
          </a:p>
          <a:p>
            <a:pPr>
              <a:lnSpc>
                <a:spcPct val="14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éliminer les déchets et transformer les métabolites </a:t>
            </a:r>
            <a:endParaRPr b="0" lang="en-US" sz="28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produits au cours du travail musculaire...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afin de retrouver l’état d’homéostasie précédant l’exercice.</a:t>
            </a:r>
            <a:r>
              <a:rPr b="0" lang="fr-FR" sz="2800" strike="noStrike" u="none">
                <a:solidFill>
                  <a:srgbClr val="ffff00"/>
                </a:solidFill>
                <a:effectLst/>
                <a:uFillTx/>
                <a:latin typeface="Calibri"/>
                <a:ea typeface="Calibri"/>
              </a:rPr>
              <a:t> </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423" dur="indefinite" restart="never" nodeType="tmRoot">
          <p:childTnLst>
            <p:seq>
              <p:cTn id="424" dur="indefinite" nodeType="mainSeq">
                <p:childTnLst>
                  <p:par>
                    <p:cTn id="425" nodeType="clickEffect" fill="hold">
                      <p:stCondLst>
                        <p:cond delay="0"/>
                      </p:stCondLst>
                      <p:childTnLst>
                        <p:par>
                          <p:cTn id="426" nodeType="withEffect" fill="hold">
                            <p:stCondLst>
                              <p:cond delay="0"/>
                            </p:stCondLst>
                            <p:childTnLst>
                              <p:par>
                                <p:cTn id="427" nodeType="afterEffect" fill="hold" presetClass="entr" presetID="9">
                                  <p:stCondLst>
                                    <p:cond delay="1000"/>
                                  </p:stCondLst>
                                  <p:childTnLst>
                                    <p:set>
                                      <p:cBhvr>
                                        <p:cTn id="428" dur="1" fill="hold">
                                          <p:stCondLst>
                                            <p:cond delay="0"/>
                                          </p:stCondLst>
                                        </p:cTn>
                                        <p:tgtEl>
                                          <p:spTgt spid="407">
                                            <p:txEl>
                                              <p:pRg st="0" end="0"/>
                                            </p:txEl>
                                          </p:spTgt>
                                        </p:tgtEl>
                                        <p:attrNameLst>
                                          <p:attrName>style.visibility</p:attrName>
                                        </p:attrNameLst>
                                      </p:cBhvr>
                                      <p:to>
                                        <p:strVal val="visible"/>
                                      </p:to>
                                    </p:set>
                                    <p:animEffect filter="dissolve" transition="in">
                                      <p:cBhvr additive="repl">
                                        <p:cTn id="429" dur="500"/>
                                        <p:tgtEl>
                                          <p:spTgt spid="407">
                                            <p:txEl>
                                              <p:pRg st="0" end="0"/>
                                            </p:txEl>
                                          </p:spTgt>
                                        </p:tgtEl>
                                      </p:cBhvr>
                                    </p:animEffect>
                                  </p:childTnLst>
                                </p:cTn>
                              </p:par>
                            </p:childTnLst>
                          </p:cTn>
                        </p:par>
                        <p:par>
                          <p:cTn id="430" nodeType="afterEffect" fill="hold">
                            <p:stCondLst>
                              <p:cond delay="1500"/>
                            </p:stCondLst>
                            <p:childTnLst>
                              <p:par>
                                <p:cTn id="431" nodeType="afterEffect" fill="hold" presetClass="entr" presetID="9">
                                  <p:stCondLst>
                                    <p:cond delay="1000"/>
                                  </p:stCondLst>
                                  <p:childTnLst>
                                    <p:set>
                                      <p:cBhvr>
                                        <p:cTn id="432" dur="1" fill="hold">
                                          <p:stCondLst>
                                            <p:cond delay="0"/>
                                          </p:stCondLst>
                                        </p:cTn>
                                        <p:tgtEl>
                                          <p:spTgt spid="407">
                                            <p:txEl>
                                              <p:pRg st="1" end="1"/>
                                            </p:txEl>
                                          </p:spTgt>
                                        </p:tgtEl>
                                        <p:attrNameLst>
                                          <p:attrName>style.visibility</p:attrName>
                                        </p:attrNameLst>
                                      </p:cBhvr>
                                      <p:to>
                                        <p:strVal val="visible"/>
                                      </p:to>
                                    </p:set>
                                    <p:animEffect filter="dissolve" transition="in">
                                      <p:cBhvr additive="repl">
                                        <p:cTn id="433" dur="500"/>
                                        <p:tgtEl>
                                          <p:spTgt spid="407">
                                            <p:txEl>
                                              <p:pRg st="1" end="1"/>
                                            </p:txEl>
                                          </p:spTgt>
                                        </p:tgtEl>
                                      </p:cBhvr>
                                    </p:animEffect>
                                  </p:childTnLst>
                                </p:cTn>
                              </p:par>
                              <p:animClr clrSpc="rgb">
                                <p:cBhvr>
                                  <p:cTn id="434" dur="1" fill="hold">
                                    <p:stCondLst>
                                      <p:cond delay="1000"/>
                                    </p:stCondLst>
                                  </p:cTn>
                                  <p:tgtEl>
                                    <p:spTgt spid="407">
                                      <p:txEl>
                                        <p:pRg st="0" end="0"/>
                                      </p:txEl>
                                    </p:spTgt>
                                  </p:tgtEl>
                                  <p:attrNameLst>
                                    <p:attrName>ppt_c</p:attrName>
                                  </p:attrNameLst>
                                </p:cBhvr>
                                <p:to>
                                  <a:srgbClr val="ccccff"/>
                                </p:to>
                              </p:animClr>
                            </p:childTnLst>
                          </p:cTn>
                        </p:par>
                        <p:par>
                          <p:cTn id="435" nodeType="afterEffect" fill="hold">
                            <p:stCondLst>
                              <p:cond delay="3000"/>
                            </p:stCondLst>
                            <p:childTnLst>
                              <p:par>
                                <p:cTn id="436" nodeType="afterEffect" fill="hold" presetClass="entr" presetID="9">
                                  <p:stCondLst>
                                    <p:cond delay="1000"/>
                                  </p:stCondLst>
                                  <p:childTnLst>
                                    <p:set>
                                      <p:cBhvr>
                                        <p:cTn id="437" dur="1" fill="hold">
                                          <p:stCondLst>
                                            <p:cond delay="0"/>
                                          </p:stCondLst>
                                        </p:cTn>
                                        <p:tgtEl>
                                          <p:spTgt spid="407">
                                            <p:txEl>
                                              <p:pRg st="2" end="2"/>
                                            </p:txEl>
                                          </p:spTgt>
                                        </p:tgtEl>
                                        <p:attrNameLst>
                                          <p:attrName>style.visibility</p:attrName>
                                        </p:attrNameLst>
                                      </p:cBhvr>
                                      <p:to>
                                        <p:strVal val="visible"/>
                                      </p:to>
                                    </p:set>
                                    <p:animEffect filter="dissolve" transition="in">
                                      <p:cBhvr additive="repl">
                                        <p:cTn id="438" dur="500"/>
                                        <p:tgtEl>
                                          <p:spTgt spid="407">
                                            <p:txEl>
                                              <p:pRg st="2" end="2"/>
                                            </p:txEl>
                                          </p:spTgt>
                                        </p:tgtEl>
                                      </p:cBhvr>
                                    </p:animEffect>
                                  </p:childTnLst>
                                </p:cTn>
                              </p:par>
                              <p:animClr clrSpc="rgb">
                                <p:cBhvr>
                                  <p:cTn id="439" dur="1" fill="hold">
                                    <p:stCondLst>
                                      <p:cond delay="1000"/>
                                    </p:stCondLst>
                                  </p:cTn>
                                  <p:tgtEl>
                                    <p:spTgt spid="407">
                                      <p:txEl>
                                        <p:pRg st="1" end="1"/>
                                      </p:txEl>
                                    </p:spTgt>
                                  </p:tgtEl>
                                  <p:attrNameLst>
                                    <p:attrName>ppt_c</p:attrName>
                                  </p:attrNameLst>
                                </p:cBhvr>
                                <p:to>
                                  <a:srgbClr val="ccccff"/>
                                </p:to>
                              </p:animClr>
                            </p:childTnLst>
                          </p:cTn>
                        </p:par>
                        <p:par>
                          <p:cTn id="440" nodeType="afterEffect" fill="hold">
                            <p:stCondLst>
                              <p:cond delay="4500"/>
                            </p:stCondLst>
                            <p:childTnLst>
                              <p:par>
                                <p:cTn id="441" nodeType="afterEffect" fill="hold" presetClass="entr" presetID="9">
                                  <p:stCondLst>
                                    <p:cond delay="1000"/>
                                  </p:stCondLst>
                                  <p:childTnLst>
                                    <p:set>
                                      <p:cBhvr>
                                        <p:cTn id="442" dur="1" fill="hold">
                                          <p:stCondLst>
                                            <p:cond delay="0"/>
                                          </p:stCondLst>
                                        </p:cTn>
                                        <p:tgtEl>
                                          <p:spTgt spid="407">
                                            <p:txEl>
                                              <p:pRg st="3" end="3"/>
                                            </p:txEl>
                                          </p:spTgt>
                                        </p:tgtEl>
                                        <p:attrNameLst>
                                          <p:attrName>style.visibility</p:attrName>
                                        </p:attrNameLst>
                                      </p:cBhvr>
                                      <p:to>
                                        <p:strVal val="visible"/>
                                      </p:to>
                                    </p:set>
                                    <p:animEffect filter="dissolve" transition="in">
                                      <p:cBhvr additive="repl">
                                        <p:cTn id="443" dur="500"/>
                                        <p:tgtEl>
                                          <p:spTgt spid="407">
                                            <p:txEl>
                                              <p:pRg st="3" end="3"/>
                                            </p:txEl>
                                          </p:spTgt>
                                        </p:tgtEl>
                                      </p:cBhvr>
                                    </p:animEffect>
                                  </p:childTnLst>
                                </p:cTn>
                              </p:par>
                              <p:animClr clrSpc="rgb">
                                <p:cBhvr>
                                  <p:cTn id="444" dur="1" fill="hold">
                                    <p:stCondLst>
                                      <p:cond delay="1000"/>
                                    </p:stCondLst>
                                  </p:cTn>
                                  <p:tgtEl>
                                    <p:spTgt spid="407">
                                      <p:txEl>
                                        <p:pRg st="2" end="2"/>
                                      </p:txEl>
                                    </p:spTgt>
                                  </p:tgtEl>
                                  <p:attrNameLst>
                                    <p:attrName>ppt_c</p:attrName>
                                  </p:attrNameLst>
                                </p:cBhvr>
                                <p:to>
                                  <a:srgbClr val="ccccff"/>
                                </p:to>
                              </p:animClr>
                            </p:childTnLst>
                          </p:cTn>
                        </p:par>
                        <p:par>
                          <p:cTn id="445" nodeType="afterEffect" fill="hold">
                            <p:stCondLst>
                              <p:cond delay="6000"/>
                            </p:stCondLst>
                            <p:childTnLst>
                              <p:par>
                                <p:cTn id="446" nodeType="afterEffect" fill="hold" presetClass="entr" presetID="9">
                                  <p:stCondLst>
                                    <p:cond delay="1000"/>
                                  </p:stCondLst>
                                  <p:childTnLst>
                                    <p:set>
                                      <p:cBhvr>
                                        <p:cTn id="447" dur="1" fill="hold">
                                          <p:stCondLst>
                                            <p:cond delay="0"/>
                                          </p:stCondLst>
                                        </p:cTn>
                                        <p:tgtEl>
                                          <p:spTgt spid="407">
                                            <p:txEl>
                                              <p:pRg st="4" end="4"/>
                                            </p:txEl>
                                          </p:spTgt>
                                        </p:tgtEl>
                                        <p:attrNameLst>
                                          <p:attrName>style.visibility</p:attrName>
                                        </p:attrNameLst>
                                      </p:cBhvr>
                                      <p:to>
                                        <p:strVal val="visible"/>
                                      </p:to>
                                    </p:set>
                                    <p:animEffect filter="dissolve" transition="in">
                                      <p:cBhvr additive="repl">
                                        <p:cTn id="448" dur="500"/>
                                        <p:tgtEl>
                                          <p:spTgt spid="407">
                                            <p:txEl>
                                              <p:pRg st="4" end="4"/>
                                            </p:txEl>
                                          </p:spTgt>
                                        </p:tgtEl>
                                      </p:cBhvr>
                                    </p:animEffect>
                                  </p:childTnLst>
                                </p:cTn>
                              </p:par>
                              <p:animClr clrSpc="rgb">
                                <p:cBhvr>
                                  <p:cTn id="449" dur="1" fill="hold">
                                    <p:stCondLst>
                                      <p:cond delay="1000"/>
                                    </p:stCondLst>
                                  </p:cTn>
                                  <p:tgtEl>
                                    <p:spTgt spid="407">
                                      <p:txEl>
                                        <p:pRg st="3" end="3"/>
                                      </p:txEl>
                                    </p:spTgt>
                                  </p:tgtEl>
                                  <p:attrNameLst>
                                    <p:attrName>ppt_c</p:attrName>
                                  </p:attrNameLst>
                                </p:cBhvr>
                                <p:to>
                                  <a:srgbClr val="ccccff"/>
                                </p:to>
                              </p:animClr>
                            </p:childTnLst>
                          </p:cTn>
                        </p:par>
                        <p:par>
                          <p:cTn id="450" nodeType="afterEffect" fill="hold">
                            <p:stCondLst>
                              <p:cond delay="7500"/>
                            </p:stCondLst>
                            <p:childTnLst>
                              <p:par>
                                <p:cTn id="451" nodeType="afterEffect" fill="hold" presetClass="entr" presetID="9">
                                  <p:stCondLst>
                                    <p:cond delay="1000"/>
                                  </p:stCondLst>
                                  <p:childTnLst>
                                    <p:set>
                                      <p:cBhvr>
                                        <p:cTn id="452" dur="1" fill="hold">
                                          <p:stCondLst>
                                            <p:cond delay="0"/>
                                          </p:stCondLst>
                                        </p:cTn>
                                        <p:tgtEl>
                                          <p:spTgt spid="407">
                                            <p:txEl>
                                              <p:pRg st="5" end="5"/>
                                            </p:txEl>
                                          </p:spTgt>
                                        </p:tgtEl>
                                        <p:attrNameLst>
                                          <p:attrName>style.visibility</p:attrName>
                                        </p:attrNameLst>
                                      </p:cBhvr>
                                      <p:to>
                                        <p:strVal val="visible"/>
                                      </p:to>
                                    </p:set>
                                    <p:animEffect filter="dissolve" transition="in">
                                      <p:cBhvr additive="repl">
                                        <p:cTn id="453" dur="500"/>
                                        <p:tgtEl>
                                          <p:spTgt spid="407">
                                            <p:txEl>
                                              <p:pRg st="5" end="5"/>
                                            </p:txEl>
                                          </p:spTgt>
                                        </p:tgtEl>
                                      </p:cBhvr>
                                    </p:animEffect>
                                  </p:childTnLst>
                                </p:cTn>
                              </p:par>
                              <p:animClr clrSpc="rgb">
                                <p:cBhvr>
                                  <p:cTn id="454" dur="1" fill="hold">
                                    <p:stCondLst>
                                      <p:cond delay="1000"/>
                                    </p:stCondLst>
                                  </p:cTn>
                                  <p:tgtEl>
                                    <p:spTgt spid="407">
                                      <p:txEl>
                                        <p:pRg st="4" end="4"/>
                                      </p:txEl>
                                    </p:spTgt>
                                  </p:tgtEl>
                                  <p:attrNameLst>
                                    <p:attrName>ppt_c</p:attrName>
                                  </p:attrNameLst>
                                </p:cBhvr>
                                <p:to>
                                  <a:srgbClr val="ccccff"/>
                                </p:to>
                              </p:animClr>
                            </p:childTnLst>
                          </p:cTn>
                        </p:par>
                        <p:par>
                          <p:cTn id="455" nodeType="afterEffect" fill="hold">
                            <p:stCondLst>
                              <p:cond delay="9000"/>
                            </p:stCondLst>
                            <p:childTnLst>
                              <p:par>
                                <p:cTn id="456" nodeType="afterEffect" fill="hold" presetClass="entr" presetID="9">
                                  <p:stCondLst>
                                    <p:cond delay="1000"/>
                                  </p:stCondLst>
                                  <p:childTnLst>
                                    <p:set>
                                      <p:cBhvr>
                                        <p:cTn id="457" dur="1" fill="hold">
                                          <p:stCondLst>
                                            <p:cond delay="0"/>
                                          </p:stCondLst>
                                        </p:cTn>
                                        <p:tgtEl>
                                          <p:spTgt spid="407">
                                            <p:txEl>
                                              <p:pRg st="6" end="6"/>
                                            </p:txEl>
                                          </p:spTgt>
                                        </p:tgtEl>
                                        <p:attrNameLst>
                                          <p:attrName>style.visibility</p:attrName>
                                        </p:attrNameLst>
                                      </p:cBhvr>
                                      <p:to>
                                        <p:strVal val="visible"/>
                                      </p:to>
                                    </p:set>
                                    <p:animEffect filter="dissolve" transition="in">
                                      <p:cBhvr additive="repl">
                                        <p:cTn id="458" dur="500"/>
                                        <p:tgtEl>
                                          <p:spTgt spid="407">
                                            <p:txEl>
                                              <p:pRg st="6" end="6"/>
                                            </p:txEl>
                                          </p:spTgt>
                                        </p:tgtEl>
                                      </p:cBhvr>
                                    </p:animEffect>
                                  </p:childTnLst>
                                </p:cTn>
                              </p:par>
                              <p:animClr clrSpc="rgb">
                                <p:cBhvr>
                                  <p:cTn id="459" dur="1" fill="hold">
                                    <p:stCondLst>
                                      <p:cond delay="1000"/>
                                    </p:stCondLst>
                                  </p:cTn>
                                  <p:tgtEl>
                                    <p:spTgt spid="407">
                                      <p:txEl>
                                        <p:pRg st="5" end="5"/>
                                      </p:txEl>
                                    </p:spTgt>
                                  </p:tgtEl>
                                  <p:attrNameLst>
                                    <p:attrName>ppt_c</p:attrName>
                                  </p:attrNameLst>
                                </p:cBhvr>
                                <p:to>
                                  <a:srgbClr val="ccccff"/>
                                </p:to>
                              </p:animClr>
                            </p:childTnLst>
                          </p:cTn>
                        </p:par>
                        <p:par>
                          <p:cTn id="460" nodeType="afterEffect" fill="hold">
                            <p:stCondLst>
                              <p:cond delay="10500"/>
                            </p:stCondLst>
                            <p:childTnLst>
                              <p:par>
                                <p:cTn id="461" nodeType="afterEffect" fill="hold" presetClass="entr" presetID="9">
                                  <p:stCondLst>
                                    <p:cond delay="1000"/>
                                  </p:stCondLst>
                                  <p:childTnLst>
                                    <p:set>
                                      <p:cBhvr>
                                        <p:cTn id="462" dur="1" fill="hold">
                                          <p:stCondLst>
                                            <p:cond delay="0"/>
                                          </p:stCondLst>
                                        </p:cTn>
                                        <p:tgtEl>
                                          <p:spTgt spid="407">
                                            <p:txEl>
                                              <p:pRg st="7" end="7"/>
                                            </p:txEl>
                                          </p:spTgt>
                                        </p:tgtEl>
                                        <p:attrNameLst>
                                          <p:attrName>style.visibility</p:attrName>
                                        </p:attrNameLst>
                                      </p:cBhvr>
                                      <p:to>
                                        <p:strVal val="visible"/>
                                      </p:to>
                                    </p:set>
                                    <p:animEffect filter="dissolve" transition="in">
                                      <p:cBhvr additive="repl">
                                        <p:cTn id="463" dur="500"/>
                                        <p:tgtEl>
                                          <p:spTgt spid="407">
                                            <p:txEl>
                                              <p:pRg st="7" end="7"/>
                                            </p:txEl>
                                          </p:spTgt>
                                        </p:tgtEl>
                                      </p:cBhvr>
                                    </p:animEffect>
                                  </p:childTnLst>
                                </p:cTn>
                              </p:par>
                              <p:animClr clrSpc="rgb">
                                <p:cBhvr>
                                  <p:cTn id="464" dur="1" fill="hold">
                                    <p:stCondLst>
                                      <p:cond delay="1000"/>
                                    </p:stCondLst>
                                  </p:cTn>
                                  <p:tgtEl>
                                    <p:spTgt spid="407">
                                      <p:txEl>
                                        <p:pRg st="6" end="6"/>
                                      </p:txEl>
                                    </p:spTgt>
                                  </p:tgtEl>
                                  <p:attrNameLst>
                                    <p:attrName>ppt_c</p:attrName>
                                  </p:attrNameLst>
                                </p:cBhvr>
                                <p:to>
                                  <a:srgbClr val="ccccff"/>
                                </p:to>
                              </p:animClr>
                            </p:childTnLst>
                          </p:cTn>
                        </p:par>
                      </p:childTnLst>
                    </p:cTn>
                  </p:par>
                  <p:par>
                    <p:cTn id="465" fill="hold">
                      <p:stCondLst>
                        <p:cond delay="indefinite"/>
                      </p:stCondLst>
                      <p:childTnLst>
                        <p:par>
                          <p:cTn id="466" fill="hold">
                            <p:stCondLst>
                              <p:cond delay="0"/>
                            </p:stCondLst>
                            <p:childTnLst>
                              <p:animClr clrSpc="rgb">
                                <p:cBhvr>
                                  <p:cTn id="467" dur="1" fill="hold"/>
                                  <p:tgtEl>
                                    <p:spTgt spid="407">
                                      <p:txEl>
                                        <p:pRg st="7" end="7"/>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Text Box 2"/>
          <p:cNvSpPr/>
          <p:nvPr/>
        </p:nvSpPr>
        <p:spPr>
          <a:xfrm>
            <a:off x="0" y="0"/>
            <a:ext cx="9144000" cy="15573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La récupération est un processus qui dépend de nombreux facteurs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a:t>
            </a:r>
            <a:r>
              <a:rPr b="0" lang="fr-FR" sz="1800" strike="noStrike" u="sng">
                <a:solidFill>
                  <a:srgbClr val="ffff00"/>
                </a:solidFill>
                <a:effectLst/>
                <a:uFillTx/>
                <a:latin typeface="Arial"/>
              </a:rPr>
              <a:t>de l’âge</a:t>
            </a:r>
            <a:r>
              <a:rPr b="0" lang="fr-FR" sz="1800" strike="noStrike" u="none">
                <a:solidFill>
                  <a:srgbClr val="ffff00"/>
                </a:solidFill>
                <a:effectLst/>
                <a:uFillTx/>
                <a:latin typeface="Arial"/>
              </a:rPr>
              <a:t> :</a:t>
            </a:r>
            <a:r>
              <a:rPr b="0" lang="fr-FR" sz="2000" strike="noStrike" u="none">
                <a:solidFill>
                  <a:srgbClr val="ffff00"/>
                </a:solidFill>
                <a:effectLst/>
                <a:uFillTx/>
                <a:latin typeface="Arial"/>
              </a:rPr>
              <a:t> </a:t>
            </a:r>
            <a:r>
              <a:rPr b="0" lang="fr-FR" sz="1600" strike="noStrike" u="none">
                <a:solidFill>
                  <a:srgbClr val="ffff00"/>
                </a:solidFill>
                <a:effectLst/>
                <a:uFillTx/>
                <a:latin typeface="Arial"/>
              </a:rPr>
              <a:t>+ lente chez les athlètes plus âgés (&gt; 30 ans).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                    + rapide chez l’enfant (Nudel 1989, Rowland, 1990)</a:t>
            </a:r>
            <a:endParaRPr b="0" lang="en-US" sz="16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 du sexe</a:t>
            </a:r>
            <a:r>
              <a:rPr b="0" lang="fr-FR" sz="2000" strike="noStrike" u="none">
                <a:solidFill>
                  <a:srgbClr val="ffff00"/>
                </a:solidFill>
                <a:effectLst/>
                <a:uFillTx/>
                <a:latin typeface="Arial"/>
              </a:rPr>
              <a:t> :  </a:t>
            </a:r>
            <a:r>
              <a:rPr b="0" lang="fr-FR" sz="1600" strike="noStrike" u="none">
                <a:solidFill>
                  <a:srgbClr val="ffff00"/>
                </a:solidFill>
                <a:effectLst/>
                <a:uFillTx/>
                <a:latin typeface="Arial"/>
              </a:rPr>
              <a:t>+ lente chez la femme (Noakes 1991, Vander et al. 1990; Rowland, 1990)</a:t>
            </a:r>
            <a:endParaRPr b="0" lang="en-US" sz="1600" strike="noStrike" u="none">
              <a:solidFill>
                <a:srgbClr val="ffff00"/>
              </a:solidFill>
              <a:effectLst/>
              <a:uFillTx/>
              <a:latin typeface="Times New Roman"/>
            </a:endParaRPr>
          </a:p>
        </p:txBody>
      </p:sp>
      <p:sp>
        <p:nvSpPr>
          <p:cNvPr id="409" name="Text Box 3"/>
          <p:cNvSpPr/>
          <p:nvPr/>
        </p:nvSpPr>
        <p:spPr>
          <a:xfrm>
            <a:off x="23400" y="1676520"/>
            <a:ext cx="8709840" cy="612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 des facteurs environnementaux :</a:t>
            </a:r>
            <a:r>
              <a:rPr b="0" lang="fr-FR" sz="1800" strike="noStrike" u="none">
                <a:solidFill>
                  <a:srgbClr val="ffff00"/>
                </a:solidFill>
                <a:effectLst/>
                <a:uFillTx/>
                <a:latin typeface="Arial"/>
              </a:rPr>
              <a:t> </a:t>
            </a:r>
            <a:r>
              <a:rPr b="0" lang="fr-FR" sz="1600" strike="noStrike" u="none">
                <a:solidFill>
                  <a:srgbClr val="ffff00"/>
                </a:solidFill>
                <a:effectLst/>
                <a:uFillTx/>
                <a:latin typeface="Arial"/>
              </a:rPr>
              <a:t>+ difficile en altitude et en ambiance très froide.(</a:t>
            </a:r>
            <a:r>
              <a:rPr b="0" lang="fr-FR" sz="1600" strike="noStrike" u="none">
                <a:solidFill>
                  <a:srgbClr val="ffff00"/>
                </a:solidFill>
                <a:effectLst/>
                <a:uFillTx/>
                <a:latin typeface="Symbol"/>
                <a:ea typeface="Symbol"/>
              </a:rPr>
              <a:t></a:t>
            </a:r>
            <a:r>
              <a:rPr b="0" lang="fr-FR" sz="1600" strike="noStrike" u="none">
                <a:solidFill>
                  <a:srgbClr val="ffff00"/>
                </a:solidFill>
                <a:effectLst/>
                <a:uFillTx/>
                <a:latin typeface="Arial"/>
              </a:rPr>
              <a:t> HGH,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testostérone : Levine et al., 1994; Stokkan et Reiter, 1994…)</a:t>
            </a:r>
            <a:endParaRPr b="0" lang="en-US" sz="1600" strike="noStrike" u="none">
              <a:solidFill>
                <a:srgbClr val="ffff00"/>
              </a:solidFill>
              <a:effectLst/>
              <a:uFillTx/>
              <a:latin typeface="Times New Roman"/>
            </a:endParaRPr>
          </a:p>
        </p:txBody>
      </p:sp>
      <p:sp>
        <p:nvSpPr>
          <p:cNvPr id="410" name="Text Box 4"/>
          <p:cNvSpPr/>
          <p:nvPr/>
        </p:nvSpPr>
        <p:spPr>
          <a:xfrm>
            <a:off x="6840" y="2438280"/>
            <a:ext cx="90457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sng">
                <a:solidFill>
                  <a:srgbClr val="ffff00"/>
                </a:solidFill>
                <a:effectLst/>
                <a:uFillTx/>
                <a:latin typeface="Arial"/>
              </a:rPr>
              <a:t> </a:t>
            </a:r>
            <a:r>
              <a:rPr b="0" lang="fr-FR" sz="1800" strike="noStrike" u="sng">
                <a:solidFill>
                  <a:srgbClr val="ffff00"/>
                </a:solidFill>
                <a:effectLst/>
                <a:uFillTx/>
                <a:latin typeface="Arial"/>
              </a:rPr>
              <a:t>du type des fibres musculaires sollicitées :</a:t>
            </a:r>
            <a:r>
              <a:rPr b="0" lang="fr-FR" sz="1800" strike="noStrike" u="none">
                <a:solidFill>
                  <a:srgbClr val="ffff00"/>
                </a:solidFill>
                <a:effectLst/>
                <a:uFillTx/>
                <a:latin typeface="Arial"/>
              </a:rPr>
              <a:t> </a:t>
            </a:r>
            <a:r>
              <a:rPr b="0" lang="fr-FR" sz="1600" strike="noStrike" u="none">
                <a:solidFill>
                  <a:srgbClr val="ffff00"/>
                </a:solidFill>
                <a:effectLst/>
                <a:uFillTx/>
                <a:latin typeface="Arial"/>
              </a:rPr>
              <a:t>+ lente lorsque les fibres du type rapides ont été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surtout sollicitées et déplétées (Fox 1984; Noakes, 1991).</a:t>
            </a:r>
            <a:endParaRPr b="0" lang="en-US" sz="1600" strike="noStrike" u="none">
              <a:solidFill>
                <a:srgbClr val="ffff00"/>
              </a:solidFill>
              <a:effectLst/>
              <a:uFillTx/>
              <a:latin typeface="Times New Roman"/>
            </a:endParaRPr>
          </a:p>
        </p:txBody>
      </p:sp>
      <p:sp>
        <p:nvSpPr>
          <p:cNvPr id="411" name="Text Box 5"/>
          <p:cNvSpPr/>
          <p:nvPr/>
        </p:nvSpPr>
        <p:spPr>
          <a:xfrm>
            <a:off x="2520" y="3276720"/>
            <a:ext cx="9055800" cy="612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-du type d’exercice :</a:t>
            </a:r>
            <a:r>
              <a:rPr b="0" lang="fr-FR" sz="1800" strike="noStrike" u="none">
                <a:solidFill>
                  <a:srgbClr val="ffff00"/>
                </a:solidFill>
                <a:effectLst/>
                <a:uFillTx/>
                <a:latin typeface="Arial"/>
              </a:rPr>
              <a:t> </a:t>
            </a:r>
            <a:r>
              <a:rPr b="0" lang="fr-FR" sz="1600" strike="noStrike" u="none">
                <a:solidFill>
                  <a:srgbClr val="ffff00"/>
                </a:solidFill>
                <a:effectLst/>
                <a:uFillTx/>
                <a:latin typeface="Arial"/>
              </a:rPr>
              <a:t>+ lente avec des exercices à dominante aérobie qu’après des exercices de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sprint (Fox 1984; Noakes, 1991).</a:t>
            </a:r>
            <a:endParaRPr b="0" lang="en-US" sz="1600" strike="noStrike" u="none">
              <a:solidFill>
                <a:srgbClr val="ffff00"/>
              </a:solidFill>
              <a:effectLst/>
              <a:uFillTx/>
              <a:latin typeface="Times New Roman"/>
            </a:endParaRPr>
          </a:p>
        </p:txBody>
      </p:sp>
      <p:sp>
        <p:nvSpPr>
          <p:cNvPr id="412" name="Text Box 6"/>
          <p:cNvSpPr/>
          <p:nvPr/>
        </p:nvSpPr>
        <p:spPr>
          <a:xfrm>
            <a:off x="52560" y="4005360"/>
            <a:ext cx="9075240" cy="1099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 de facteurs psychologiques :</a:t>
            </a:r>
            <a:r>
              <a:rPr b="0" lang="fr-FR" sz="1800" strike="noStrike" u="none">
                <a:solidFill>
                  <a:srgbClr val="ffff00"/>
                </a:solidFill>
                <a:effectLst/>
                <a:uFillTx/>
                <a:latin typeface="Arial"/>
              </a:rPr>
              <a:t> </a:t>
            </a:r>
            <a:r>
              <a:rPr b="0" lang="fr-FR" sz="1600" strike="noStrike" u="none">
                <a:solidFill>
                  <a:srgbClr val="ffff00"/>
                </a:solidFill>
                <a:effectLst/>
                <a:uFillTx/>
                <a:latin typeface="Arial"/>
              </a:rPr>
              <a:t>+ lente lorsque l’entraînement est ressenti comme stressant.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Le stress d’un sportif peut être communicatif… + lente aussi avec des entraînements intenses mais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trop monotones…:</a:t>
            </a:r>
            <a:r>
              <a:rPr b="0" lang="fr-FR" sz="1600" strike="noStrike" u="none">
                <a:solidFill>
                  <a:srgbClr val="ffff00"/>
                </a:solidFill>
                <a:effectLst/>
                <a:uFillTx/>
                <a:latin typeface="Symbol"/>
                <a:ea typeface="Symbol"/>
              </a:rPr>
              <a:t></a:t>
            </a:r>
            <a:r>
              <a:rPr b="0" lang="fr-FR" sz="1600" strike="noStrike" u="none">
                <a:solidFill>
                  <a:srgbClr val="ffff00"/>
                </a:solidFill>
                <a:effectLst/>
                <a:uFillTx/>
                <a:latin typeface="Arial"/>
              </a:rPr>
              <a:t> des réponses inflammatoire et immunitaire, (Bloomfield et al. 1996;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Norfors et Harvig, 1997)</a:t>
            </a:r>
            <a:endParaRPr b="0" lang="en-US" sz="1600" strike="noStrike" u="none">
              <a:solidFill>
                <a:srgbClr val="ffff00"/>
              </a:solidFill>
              <a:effectLst/>
              <a:uFillTx/>
              <a:latin typeface="Times New Roman"/>
            </a:endParaRPr>
          </a:p>
        </p:txBody>
      </p:sp>
      <p:sp>
        <p:nvSpPr>
          <p:cNvPr id="413" name="Text Box 7"/>
          <p:cNvSpPr/>
          <p:nvPr/>
        </p:nvSpPr>
        <p:spPr>
          <a:xfrm>
            <a:off x="31320" y="5149800"/>
            <a:ext cx="79700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 de la multiplication de traumatismes localisés, de la fatigue chronique et du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surentraînement :</a:t>
            </a:r>
            <a:r>
              <a:rPr b="0" lang="fr-FR" sz="1800" strike="noStrike" u="none">
                <a:solidFill>
                  <a:srgbClr val="ffff00"/>
                </a:solidFill>
                <a:effectLst/>
                <a:uFillTx/>
                <a:latin typeface="Arial"/>
              </a:rPr>
              <a:t> </a:t>
            </a:r>
            <a:r>
              <a:rPr b="0" lang="fr-FR" sz="1600" strike="noStrike" u="none">
                <a:solidFill>
                  <a:srgbClr val="ffff00"/>
                </a:solidFill>
                <a:effectLst/>
                <a:uFillTx/>
                <a:latin typeface="Arial"/>
              </a:rPr>
              <a:t>(Berg, 1994; Kuipers, 1994).</a:t>
            </a:r>
            <a:endParaRPr b="0" lang="en-US" sz="1600" strike="noStrike" u="none">
              <a:solidFill>
                <a:srgbClr val="ffff00"/>
              </a:solidFill>
              <a:effectLst/>
              <a:uFillTx/>
              <a:latin typeface="Times New Roman"/>
            </a:endParaRPr>
          </a:p>
        </p:txBody>
      </p:sp>
      <p:sp>
        <p:nvSpPr>
          <p:cNvPr id="414" name="Text Box 8"/>
          <p:cNvSpPr/>
          <p:nvPr/>
        </p:nvSpPr>
        <p:spPr>
          <a:xfrm>
            <a:off x="9720" y="5979960"/>
            <a:ext cx="9228960" cy="855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sng">
                <a:solidFill>
                  <a:srgbClr val="ffff00"/>
                </a:solidFill>
                <a:effectLst/>
                <a:uFillTx/>
                <a:latin typeface="Arial"/>
              </a:rPr>
              <a:t>du décalage horaire</a:t>
            </a:r>
            <a:r>
              <a:rPr b="0" lang="fr-FR" sz="1600" strike="noStrike" u="none">
                <a:solidFill>
                  <a:srgbClr val="ffff00"/>
                </a:solidFill>
                <a:effectLst/>
                <a:uFillTx/>
                <a:latin typeface="Arial"/>
              </a:rPr>
              <a:t> lors de compétitions se déroulant à plusieurs fuseaux du lieu d’entraînement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habituel (Lot et Rhodes, 1989; O’Connor et Morgan, 1990)</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468" dur="indefinite" restart="never" nodeType="tmRoot">
          <p:childTnLst>
            <p:seq>
              <p:cTn id="469" dur="indefinite" nodeType="mainSeq">
                <p:childTnLst>
                  <p:par>
                    <p:cTn id="470" nodeType="clickEffect" fill="hold">
                      <p:stCondLst>
                        <p:cond delay="0"/>
                      </p:stCondLst>
                      <p:childTnLst>
                        <p:par>
                          <p:cTn id="471" nodeType="withEffect" fill="hold">
                            <p:stCondLst>
                              <p:cond delay="0"/>
                            </p:stCondLst>
                            <p:childTnLst>
                              <p:par>
                                <p:cTn id="472" nodeType="afterEffect" fill="hold" presetClass="entr" presetID="9">
                                  <p:stCondLst>
                                    <p:cond delay="0"/>
                                  </p:stCondLst>
                                  <p:childTnLst>
                                    <p:set>
                                      <p:cBhvr>
                                        <p:cTn id="473" dur="1" fill="hold">
                                          <p:stCondLst>
                                            <p:cond delay="0"/>
                                          </p:stCondLst>
                                        </p:cTn>
                                        <p:tgtEl>
                                          <p:spTgt spid="408">
                                            <p:txEl>
                                              <p:pRg st="0" end="0"/>
                                            </p:txEl>
                                          </p:spTgt>
                                        </p:tgtEl>
                                        <p:attrNameLst>
                                          <p:attrName>style.visibility</p:attrName>
                                        </p:attrNameLst>
                                      </p:cBhvr>
                                      <p:to>
                                        <p:strVal val="visible"/>
                                      </p:to>
                                    </p:set>
                                    <p:animEffect filter="dissolve" transition="in">
                                      <p:cBhvr additive="repl">
                                        <p:cTn id="474" dur="500"/>
                                        <p:tgtEl>
                                          <p:spTgt spid="408">
                                            <p:txEl>
                                              <p:pRg st="0" end="0"/>
                                            </p:txEl>
                                          </p:spTgt>
                                        </p:tgtEl>
                                      </p:cBhvr>
                                    </p:animEffect>
                                  </p:childTnLst>
                                </p:cTn>
                              </p:par>
                            </p:childTnLst>
                          </p:cTn>
                        </p:par>
                        <p:par>
                          <p:cTn id="475" nodeType="afterEffect" fill="hold">
                            <p:stCondLst>
                              <p:cond delay="500"/>
                            </p:stCondLst>
                            <p:childTnLst>
                              <p:par>
                                <p:cTn id="476" nodeType="afterEffect" fill="hold" presetClass="entr" presetID="9">
                                  <p:stCondLst>
                                    <p:cond delay="0"/>
                                  </p:stCondLst>
                                  <p:childTnLst>
                                    <p:set>
                                      <p:cBhvr>
                                        <p:cTn id="477" dur="1" fill="hold">
                                          <p:stCondLst>
                                            <p:cond delay="0"/>
                                          </p:stCondLst>
                                        </p:cTn>
                                        <p:tgtEl>
                                          <p:spTgt spid="408">
                                            <p:txEl>
                                              <p:pRg st="2" end="2"/>
                                            </p:txEl>
                                          </p:spTgt>
                                        </p:tgtEl>
                                        <p:attrNameLst>
                                          <p:attrName>style.visibility</p:attrName>
                                        </p:attrNameLst>
                                      </p:cBhvr>
                                      <p:to>
                                        <p:strVal val="visible"/>
                                      </p:to>
                                    </p:set>
                                    <p:animEffect filter="dissolve" transition="in">
                                      <p:cBhvr additive="repl">
                                        <p:cTn id="478" dur="500"/>
                                        <p:tgtEl>
                                          <p:spTgt spid="408">
                                            <p:txEl>
                                              <p:pRg st="2" end="2"/>
                                            </p:txEl>
                                          </p:spTgt>
                                        </p:tgtEl>
                                      </p:cBhvr>
                                    </p:animEffect>
                                  </p:childTnLst>
                                </p:cTn>
                              </p:par>
                              <p:animClr clrSpc="rgb">
                                <p:cBhvr>
                                  <p:cTn id="479" dur="1" fill="hold">
                                    <p:stCondLst>
                                      <p:cond delay="0"/>
                                    </p:stCondLst>
                                  </p:cTn>
                                  <p:tgtEl>
                                    <p:spTgt spid="408">
                                      <p:txEl>
                                        <p:pRg st="0" end="0"/>
                                      </p:txEl>
                                    </p:spTgt>
                                  </p:tgtEl>
                                  <p:attrNameLst>
                                    <p:attrName>ppt_c</p:attrName>
                                  </p:attrNameLst>
                                </p:cBhvr>
                                <p:to>
                                  <a:srgbClr val="ccccff"/>
                                </p:to>
                              </p:animClr>
                            </p:childTnLst>
                          </p:cTn>
                        </p:par>
                        <p:par>
                          <p:cTn id="480" nodeType="afterEffect" fill="hold">
                            <p:stCondLst>
                              <p:cond delay="1000"/>
                            </p:stCondLst>
                            <p:childTnLst>
                              <p:par>
                                <p:cTn id="481" nodeType="afterEffect" fill="hold" presetClass="entr" presetID="9">
                                  <p:stCondLst>
                                    <p:cond delay="0"/>
                                  </p:stCondLst>
                                  <p:childTnLst>
                                    <p:set>
                                      <p:cBhvr>
                                        <p:cTn id="482" dur="1" fill="hold">
                                          <p:stCondLst>
                                            <p:cond delay="0"/>
                                          </p:stCondLst>
                                        </p:cTn>
                                        <p:tgtEl>
                                          <p:spTgt spid="408">
                                            <p:txEl>
                                              <p:pRg st="3" end="3"/>
                                            </p:txEl>
                                          </p:spTgt>
                                        </p:tgtEl>
                                        <p:attrNameLst>
                                          <p:attrName>style.visibility</p:attrName>
                                        </p:attrNameLst>
                                      </p:cBhvr>
                                      <p:to>
                                        <p:strVal val="visible"/>
                                      </p:to>
                                    </p:set>
                                    <p:animEffect filter="dissolve" transition="in">
                                      <p:cBhvr additive="repl">
                                        <p:cTn id="483" dur="500"/>
                                        <p:tgtEl>
                                          <p:spTgt spid="408">
                                            <p:txEl>
                                              <p:pRg st="3" end="3"/>
                                            </p:txEl>
                                          </p:spTgt>
                                        </p:tgtEl>
                                      </p:cBhvr>
                                    </p:animEffect>
                                  </p:childTnLst>
                                </p:cTn>
                              </p:par>
                              <p:animClr clrSpc="rgb">
                                <p:cBhvr>
                                  <p:cTn id="484" dur="1" fill="hold">
                                    <p:stCondLst>
                                      <p:cond delay="0"/>
                                    </p:stCondLst>
                                  </p:cTn>
                                  <p:tgtEl>
                                    <p:spTgt spid="408">
                                      <p:txEl>
                                        <p:pRg st="2" end="2"/>
                                      </p:txEl>
                                    </p:spTgt>
                                  </p:tgtEl>
                                  <p:attrNameLst>
                                    <p:attrName>ppt_c</p:attrName>
                                  </p:attrNameLst>
                                </p:cBhvr>
                                <p:to>
                                  <a:srgbClr val="ccccff"/>
                                </p:to>
                              </p:animClr>
                            </p:childTnLst>
                          </p:cTn>
                        </p:par>
                        <p:par>
                          <p:cTn id="485" nodeType="afterEffect" fill="hold">
                            <p:stCondLst>
                              <p:cond delay="1500"/>
                            </p:stCondLst>
                            <p:childTnLst>
                              <p:par>
                                <p:cTn id="486" nodeType="afterEffect" fill="hold" presetClass="entr" presetID="9">
                                  <p:stCondLst>
                                    <p:cond delay="0"/>
                                  </p:stCondLst>
                                  <p:childTnLst>
                                    <p:set>
                                      <p:cBhvr>
                                        <p:cTn id="487" dur="1" fill="hold">
                                          <p:stCondLst>
                                            <p:cond delay="0"/>
                                          </p:stCondLst>
                                        </p:cTn>
                                        <p:tgtEl>
                                          <p:spTgt spid="408">
                                            <p:txEl>
                                              <p:pRg st="4" end="4"/>
                                            </p:txEl>
                                          </p:spTgt>
                                        </p:tgtEl>
                                        <p:attrNameLst>
                                          <p:attrName>style.visibility</p:attrName>
                                        </p:attrNameLst>
                                      </p:cBhvr>
                                      <p:to>
                                        <p:strVal val="visible"/>
                                      </p:to>
                                    </p:set>
                                    <p:animEffect filter="dissolve" transition="in">
                                      <p:cBhvr additive="repl">
                                        <p:cTn id="488" dur="500"/>
                                        <p:tgtEl>
                                          <p:spTgt spid="408">
                                            <p:txEl>
                                              <p:pRg st="4" end="4"/>
                                            </p:txEl>
                                          </p:spTgt>
                                        </p:tgtEl>
                                      </p:cBhvr>
                                    </p:animEffect>
                                  </p:childTnLst>
                                </p:cTn>
                              </p:par>
                              <p:animClr clrSpc="rgb">
                                <p:cBhvr>
                                  <p:cTn id="489" dur="1" fill="hold">
                                    <p:stCondLst>
                                      <p:cond delay="0"/>
                                    </p:stCondLst>
                                  </p:cTn>
                                  <p:tgtEl>
                                    <p:spTgt spid="408">
                                      <p:txEl>
                                        <p:pRg st="3" end="3"/>
                                      </p:txEl>
                                    </p:spTgt>
                                  </p:tgtEl>
                                  <p:attrNameLst>
                                    <p:attrName>ppt_c</p:attrName>
                                  </p:attrNameLst>
                                </p:cBhvr>
                                <p:to>
                                  <a:srgbClr val="ccccff"/>
                                </p:to>
                              </p:animClr>
                            </p:childTnLst>
                          </p:cTn>
                        </p:par>
                      </p:childTnLst>
                    </p:cTn>
                  </p:par>
                  <p:par>
                    <p:cTn id="490" nodeType="clickEffect" fill="hold">
                      <p:stCondLst>
                        <p:cond delay="indefinite"/>
                      </p:stCondLst>
                      <p:childTnLst>
                        <p:par>
                          <p:cTn id="491" nodeType="withEffect" fill="hold">
                            <p:stCondLst>
                              <p:cond delay="0"/>
                            </p:stCondLst>
                            <p:childTnLst>
                              <p:par>
                                <p:cTn id="492" nodeType="clickEffect" fill="hold" presetClass="entr" presetID="9">
                                  <p:stCondLst>
                                    <p:cond delay="0"/>
                                  </p:stCondLst>
                                  <p:childTnLst>
                                    <p:set>
                                      <p:cBhvr>
                                        <p:cTn id="493" dur="1" fill="hold">
                                          <p:stCondLst>
                                            <p:cond delay="0"/>
                                          </p:stCondLst>
                                        </p:cTn>
                                        <p:tgtEl>
                                          <p:spTgt spid="409"/>
                                        </p:tgtEl>
                                        <p:attrNameLst>
                                          <p:attrName>style.visibility</p:attrName>
                                        </p:attrNameLst>
                                      </p:cBhvr>
                                      <p:to>
                                        <p:strVal val="visible"/>
                                      </p:to>
                                    </p:set>
                                    <p:animEffect filter="dissolve" transition="in">
                                      <p:cBhvr additive="repl">
                                        <p:cTn id="494" dur="500"/>
                                        <p:tgtEl>
                                          <p:spTgt spid="409"/>
                                        </p:tgtEl>
                                      </p:cBhvr>
                                    </p:animEffect>
                                  </p:childTnLst>
                                </p:cTn>
                              </p:par>
                              <p:animClr clrSpc="rgb">
                                <p:cBhvr>
                                  <p:cTn id="495" dur="1" fill="hold">
                                    <p:stCondLst>
                                      <p:cond delay="0"/>
                                    </p:stCondLst>
                                  </p:cTn>
                                  <p:tgtEl>
                                    <p:spTgt spid="408">
                                      <p:txEl>
                                        <p:pRg st="4" end="4"/>
                                      </p:txEl>
                                    </p:spTgt>
                                  </p:tgtEl>
                                  <p:attrNameLst>
                                    <p:attrName>ppt_c</p:attrName>
                                  </p:attrNameLst>
                                </p:cBhvr>
                                <p:to>
                                  <a:srgbClr val="ccccff"/>
                                </p:to>
                              </p:animClr>
                            </p:childTnLst>
                          </p:cTn>
                        </p:par>
                      </p:childTnLst>
                    </p:cTn>
                  </p:par>
                  <p:par>
                    <p:cTn id="496" nodeType="clickEffect" fill="hold">
                      <p:stCondLst>
                        <p:cond delay="indefinite"/>
                      </p:stCondLst>
                      <p:childTnLst>
                        <p:par>
                          <p:cTn id="497" nodeType="withEffect" fill="hold">
                            <p:stCondLst>
                              <p:cond delay="0"/>
                            </p:stCondLst>
                            <p:childTnLst>
                              <p:par>
                                <p:cTn id="498" nodeType="clickEffect" fill="hold" presetClass="entr" presetID="9">
                                  <p:stCondLst>
                                    <p:cond delay="0"/>
                                  </p:stCondLst>
                                  <p:childTnLst>
                                    <p:set>
                                      <p:cBhvr>
                                        <p:cTn id="499" dur="1" fill="hold">
                                          <p:stCondLst>
                                            <p:cond delay="0"/>
                                          </p:stCondLst>
                                        </p:cTn>
                                        <p:tgtEl>
                                          <p:spTgt spid="410"/>
                                        </p:tgtEl>
                                        <p:attrNameLst>
                                          <p:attrName>style.visibility</p:attrName>
                                        </p:attrNameLst>
                                      </p:cBhvr>
                                      <p:to>
                                        <p:strVal val="visible"/>
                                      </p:to>
                                    </p:set>
                                    <p:animEffect filter="dissolve" transition="in">
                                      <p:cBhvr additive="repl">
                                        <p:cTn id="500" dur="500"/>
                                        <p:tgtEl>
                                          <p:spTgt spid="410"/>
                                        </p:tgtEl>
                                      </p:cBhvr>
                                    </p:animEffect>
                                  </p:childTnLst>
                                </p:cTn>
                              </p:par>
                            </p:childTnLst>
                          </p:cTn>
                        </p:par>
                      </p:childTnLst>
                    </p:cTn>
                  </p:par>
                  <p:par>
                    <p:cTn id="501" nodeType="clickEffect" fill="hold">
                      <p:stCondLst>
                        <p:cond delay="indefinite"/>
                      </p:stCondLst>
                      <p:childTnLst>
                        <p:par>
                          <p:cTn id="502" nodeType="withEffect" fill="hold">
                            <p:stCondLst>
                              <p:cond delay="0"/>
                            </p:stCondLst>
                            <p:childTnLst>
                              <p:par>
                                <p:cTn id="503" nodeType="clickEffect" fill="hold" presetClass="entr" presetID="9">
                                  <p:stCondLst>
                                    <p:cond delay="0"/>
                                  </p:stCondLst>
                                  <p:childTnLst>
                                    <p:set>
                                      <p:cBhvr>
                                        <p:cTn id="504" dur="1" fill="hold">
                                          <p:stCondLst>
                                            <p:cond delay="0"/>
                                          </p:stCondLst>
                                        </p:cTn>
                                        <p:tgtEl>
                                          <p:spTgt spid="411"/>
                                        </p:tgtEl>
                                        <p:attrNameLst>
                                          <p:attrName>style.visibility</p:attrName>
                                        </p:attrNameLst>
                                      </p:cBhvr>
                                      <p:to>
                                        <p:strVal val="visible"/>
                                      </p:to>
                                    </p:set>
                                    <p:animEffect filter="dissolve" transition="in">
                                      <p:cBhvr additive="repl">
                                        <p:cTn id="505" dur="500"/>
                                        <p:tgtEl>
                                          <p:spTgt spid="411"/>
                                        </p:tgtEl>
                                      </p:cBhvr>
                                    </p:animEffect>
                                  </p:childTnLst>
                                </p:cTn>
                              </p:par>
                            </p:childTnLst>
                          </p:cTn>
                        </p:par>
                      </p:childTnLst>
                    </p:cTn>
                  </p:par>
                  <p:par>
                    <p:cTn id="506" nodeType="clickEffect" fill="hold">
                      <p:stCondLst>
                        <p:cond delay="indefinite"/>
                      </p:stCondLst>
                      <p:childTnLst>
                        <p:par>
                          <p:cTn id="507" nodeType="withEffect" fill="hold">
                            <p:stCondLst>
                              <p:cond delay="0"/>
                            </p:stCondLst>
                            <p:childTnLst>
                              <p:par>
                                <p:cTn id="508" nodeType="clickEffect" fill="hold" presetClass="entr" presetID="9">
                                  <p:stCondLst>
                                    <p:cond delay="0"/>
                                  </p:stCondLst>
                                  <p:childTnLst>
                                    <p:set>
                                      <p:cBhvr>
                                        <p:cTn id="509" dur="1" fill="hold">
                                          <p:stCondLst>
                                            <p:cond delay="0"/>
                                          </p:stCondLst>
                                        </p:cTn>
                                        <p:tgtEl>
                                          <p:spTgt spid="412"/>
                                        </p:tgtEl>
                                        <p:attrNameLst>
                                          <p:attrName>style.visibility</p:attrName>
                                        </p:attrNameLst>
                                      </p:cBhvr>
                                      <p:to>
                                        <p:strVal val="visible"/>
                                      </p:to>
                                    </p:set>
                                    <p:animEffect filter="dissolve" transition="in">
                                      <p:cBhvr additive="repl">
                                        <p:cTn id="510" dur="500"/>
                                        <p:tgtEl>
                                          <p:spTgt spid="412"/>
                                        </p:tgtEl>
                                      </p:cBhvr>
                                    </p:animEffect>
                                  </p:childTnLst>
                                </p:cTn>
                              </p:par>
                            </p:childTnLst>
                          </p:cTn>
                        </p:par>
                      </p:childTnLst>
                    </p:cTn>
                  </p:par>
                  <p:par>
                    <p:cTn id="511" nodeType="clickEffect" fill="hold">
                      <p:stCondLst>
                        <p:cond delay="indefinite"/>
                      </p:stCondLst>
                      <p:childTnLst>
                        <p:par>
                          <p:cTn id="512" nodeType="withEffect" fill="hold">
                            <p:stCondLst>
                              <p:cond delay="0"/>
                            </p:stCondLst>
                            <p:childTnLst>
                              <p:par>
                                <p:cTn id="513" nodeType="clickEffect" fill="hold" presetClass="entr" presetID="9">
                                  <p:stCondLst>
                                    <p:cond delay="0"/>
                                  </p:stCondLst>
                                  <p:childTnLst>
                                    <p:set>
                                      <p:cBhvr>
                                        <p:cTn id="514" dur="1" fill="hold">
                                          <p:stCondLst>
                                            <p:cond delay="0"/>
                                          </p:stCondLst>
                                        </p:cTn>
                                        <p:tgtEl>
                                          <p:spTgt spid="413"/>
                                        </p:tgtEl>
                                        <p:attrNameLst>
                                          <p:attrName>style.visibility</p:attrName>
                                        </p:attrNameLst>
                                      </p:cBhvr>
                                      <p:to>
                                        <p:strVal val="visible"/>
                                      </p:to>
                                    </p:set>
                                    <p:animEffect filter="dissolve" transition="in">
                                      <p:cBhvr additive="repl">
                                        <p:cTn id="515" dur="500"/>
                                        <p:tgtEl>
                                          <p:spTgt spid="413"/>
                                        </p:tgtEl>
                                      </p:cBhvr>
                                    </p:animEffect>
                                  </p:childTnLst>
                                </p:cTn>
                              </p:par>
                            </p:childTnLst>
                          </p:cTn>
                        </p:par>
                      </p:childTnLst>
                    </p:cTn>
                  </p:par>
                  <p:par>
                    <p:cTn id="516" nodeType="clickEffect" fill="hold">
                      <p:stCondLst>
                        <p:cond delay="indefinite"/>
                      </p:stCondLst>
                      <p:childTnLst>
                        <p:par>
                          <p:cTn id="517" nodeType="withEffect" fill="hold">
                            <p:stCondLst>
                              <p:cond delay="0"/>
                            </p:stCondLst>
                            <p:childTnLst>
                              <p:par>
                                <p:cTn id="518" nodeType="clickEffect" fill="hold" presetClass="entr" presetID="9">
                                  <p:stCondLst>
                                    <p:cond delay="0"/>
                                  </p:stCondLst>
                                  <p:childTnLst>
                                    <p:set>
                                      <p:cBhvr>
                                        <p:cTn id="519" dur="1" fill="hold">
                                          <p:stCondLst>
                                            <p:cond delay="0"/>
                                          </p:stCondLst>
                                        </p:cTn>
                                        <p:tgtEl>
                                          <p:spTgt spid="414"/>
                                        </p:tgtEl>
                                        <p:attrNameLst>
                                          <p:attrName>style.visibility</p:attrName>
                                        </p:attrNameLst>
                                      </p:cBhvr>
                                      <p:to>
                                        <p:strVal val="visible"/>
                                      </p:to>
                                    </p:set>
                                    <p:animEffect filter="dissolve" transition="in">
                                      <p:cBhvr additive="repl">
                                        <p:cTn id="520"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Line 2"/>
          <p:cNvSpPr/>
          <p:nvPr/>
        </p:nvSpPr>
        <p:spPr>
          <a:xfrm>
            <a:off x="1295280" y="685800"/>
            <a:ext cx="0" cy="41911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6" name="Line 3"/>
          <p:cNvSpPr/>
          <p:nvPr/>
        </p:nvSpPr>
        <p:spPr>
          <a:xfrm>
            <a:off x="1295280" y="4876920"/>
            <a:ext cx="7848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7" name="Text Box 4"/>
          <p:cNvSpPr/>
          <p:nvPr/>
        </p:nvSpPr>
        <p:spPr>
          <a:xfrm rot="16200000">
            <a:off x="-1436040" y="2506680"/>
            <a:ext cx="3332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Niveau de récupération</a:t>
            </a:r>
            <a:endParaRPr b="0" lang="en-US" sz="2400" strike="noStrike" u="none">
              <a:solidFill>
                <a:srgbClr val="ffff00"/>
              </a:solidFill>
              <a:effectLst/>
              <a:uFillTx/>
              <a:latin typeface="Times New Roman"/>
            </a:endParaRPr>
          </a:p>
        </p:txBody>
      </p:sp>
      <p:sp>
        <p:nvSpPr>
          <p:cNvPr id="418" name="Text Box 5"/>
          <p:cNvSpPr/>
          <p:nvPr/>
        </p:nvSpPr>
        <p:spPr>
          <a:xfrm>
            <a:off x="534960" y="762120"/>
            <a:ext cx="968400" cy="4208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100 %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50 %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0 %   -</a:t>
            </a:r>
            <a:endParaRPr b="0" lang="en-US" sz="1800" strike="noStrike" u="none">
              <a:solidFill>
                <a:srgbClr val="ffff00"/>
              </a:solidFill>
              <a:effectLst/>
              <a:uFillTx/>
              <a:latin typeface="Times New Roman"/>
            </a:endParaRPr>
          </a:p>
        </p:txBody>
      </p:sp>
      <p:sp>
        <p:nvSpPr>
          <p:cNvPr id="419" name="Freeform 6"/>
          <p:cNvSpPr/>
          <p:nvPr/>
        </p:nvSpPr>
        <p:spPr>
          <a:xfrm>
            <a:off x="1371600" y="990720"/>
            <a:ext cx="7315200" cy="3429000"/>
          </a:xfrm>
          <a:custGeom>
            <a:avLst/>
            <a:gdLst>
              <a:gd name="textAreaLeft" fmla="*/ 0 w 7315200"/>
              <a:gd name="textAreaRight" fmla="*/ 7315560 w 7315200"/>
              <a:gd name="textAreaTop" fmla="*/ 0 h 3429000"/>
              <a:gd name="textAreaBottom" fmla="*/ 3429360 h 3429000"/>
              <a:gd name="GluePoint1X" fmla="*/ 0 w 4656"/>
              <a:gd name="GluePoint1Y" fmla="*/ 2147483646 h 2304"/>
              <a:gd name="GluePoint2X" fmla="*/ 2147483646 w 4656"/>
              <a:gd name="GluePoint2Y" fmla="*/ 2147483646 h 2304"/>
              <a:gd name="GluePoint3X" fmla="*/ 2147483646 w 4656"/>
              <a:gd name="GluePoint3Y" fmla="*/ 2147483646 h 2304"/>
              <a:gd name="GluePoint4X" fmla="*/ 2147483646 w 4656"/>
              <a:gd name="GluePoint4Y" fmla="*/ 2147483646 h 2304"/>
              <a:gd name="GluePoint5X" fmla="*/ 2147483646 w 4656"/>
              <a:gd name="GluePoint5Y" fmla="*/ 2147483646 h 2304"/>
              <a:gd name="GluePoint6X" fmla="*/ 2147483646 w 4656"/>
              <a:gd name="GluePoint6Y" fmla="*/ 0 h 23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656" h="2304">
                <a:moveTo>
                  <a:pt x="0" y="2304"/>
                </a:moveTo>
                <a:cubicBezTo>
                  <a:pt x="64" y="2056"/>
                  <a:pt x="128" y="1808"/>
                  <a:pt x="240" y="1584"/>
                </a:cubicBezTo>
                <a:cubicBezTo>
                  <a:pt x="352" y="1360"/>
                  <a:pt x="456" y="1152"/>
                  <a:pt x="672" y="960"/>
                </a:cubicBezTo>
                <a:cubicBezTo>
                  <a:pt x="888" y="768"/>
                  <a:pt x="1208" y="560"/>
                  <a:pt x="1536" y="432"/>
                </a:cubicBezTo>
                <a:cubicBezTo>
                  <a:pt x="1864" y="304"/>
                  <a:pt x="2120" y="264"/>
                  <a:pt x="2640" y="192"/>
                </a:cubicBezTo>
                <a:cubicBezTo>
                  <a:pt x="3160" y="120"/>
                  <a:pt x="4320" y="32"/>
                  <a:pt x="4656" y="0"/>
                </a:cubicBezTo>
              </a:path>
            </a:pathLst>
          </a:custGeom>
          <a:noFill/>
          <a:ln w="38160">
            <a:solidFill>
              <a:srgbClr val="ffff0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0" name="Line 7"/>
          <p:cNvSpPr/>
          <p:nvPr/>
        </p:nvSpPr>
        <p:spPr>
          <a:xfrm>
            <a:off x="1371600" y="990720"/>
            <a:ext cx="7467480" cy="0"/>
          </a:xfrm>
          <a:prstGeom prst="line">
            <a:avLst/>
          </a:prstGeom>
          <a:ln w="936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1" name="Line 8"/>
          <p:cNvSpPr/>
          <p:nvPr/>
        </p:nvSpPr>
        <p:spPr>
          <a:xfrm>
            <a:off x="3962520" y="838080"/>
            <a:ext cx="0" cy="4038840"/>
          </a:xfrm>
          <a:prstGeom prst="line">
            <a:avLst/>
          </a:prstGeom>
          <a:ln w="936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2" name="Line 9"/>
          <p:cNvSpPr/>
          <p:nvPr/>
        </p:nvSpPr>
        <p:spPr>
          <a:xfrm>
            <a:off x="6553080" y="838080"/>
            <a:ext cx="0" cy="4038840"/>
          </a:xfrm>
          <a:prstGeom prst="line">
            <a:avLst/>
          </a:prstGeom>
          <a:ln w="936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3" name="Text Box 10"/>
          <p:cNvSpPr/>
          <p:nvPr/>
        </p:nvSpPr>
        <p:spPr>
          <a:xfrm>
            <a:off x="1072800" y="4952880"/>
            <a:ext cx="81828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Symbol"/>
                <a:ea typeface="Symbol"/>
              </a:rPr>
              <a:t></a:t>
            </a:r>
            <a:r>
              <a:rPr b="0" lang="fr-FR" sz="2000" strike="noStrike" u="none">
                <a:solidFill>
                  <a:srgbClr val="ffff00"/>
                </a:solidFill>
                <a:effectLst/>
                <a:uFillTx/>
                <a:latin typeface="Arial"/>
              </a:rPr>
              <a:t> 30 min……….………6 h………………..…….24 h……………48 h et +</a:t>
            </a:r>
            <a:endParaRPr b="0" lang="en-US" sz="2000" strike="noStrike" u="none">
              <a:solidFill>
                <a:srgbClr val="ffff00"/>
              </a:solidFill>
              <a:effectLst/>
              <a:uFillTx/>
              <a:latin typeface="Times New Roman"/>
            </a:endParaRPr>
          </a:p>
        </p:txBody>
      </p:sp>
      <p:sp>
        <p:nvSpPr>
          <p:cNvPr id="424" name="Text Box 11"/>
          <p:cNvSpPr/>
          <p:nvPr/>
        </p:nvSpPr>
        <p:spPr>
          <a:xfrm>
            <a:off x="2440080" y="2743200"/>
            <a:ext cx="8755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70 %</a:t>
            </a:r>
            <a:endParaRPr b="0" lang="en-US" sz="2400" strike="noStrike" u="none">
              <a:solidFill>
                <a:srgbClr val="ffff00"/>
              </a:solidFill>
              <a:effectLst/>
              <a:uFillTx/>
              <a:latin typeface="Times New Roman"/>
            </a:endParaRPr>
          </a:p>
        </p:txBody>
      </p:sp>
      <p:sp>
        <p:nvSpPr>
          <p:cNvPr id="425" name="Text Box 12"/>
          <p:cNvSpPr/>
          <p:nvPr/>
        </p:nvSpPr>
        <p:spPr>
          <a:xfrm>
            <a:off x="4573800" y="2743200"/>
            <a:ext cx="11379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+ 20 %</a:t>
            </a:r>
            <a:endParaRPr b="0" lang="en-US" sz="2400" strike="noStrike" u="none">
              <a:solidFill>
                <a:srgbClr val="ffff00"/>
              </a:solidFill>
              <a:effectLst/>
              <a:uFillTx/>
              <a:latin typeface="Times New Roman"/>
            </a:endParaRPr>
          </a:p>
        </p:txBody>
      </p:sp>
      <p:sp>
        <p:nvSpPr>
          <p:cNvPr id="426" name="Text Box 13"/>
          <p:cNvSpPr/>
          <p:nvPr/>
        </p:nvSpPr>
        <p:spPr>
          <a:xfrm>
            <a:off x="7240680" y="2743200"/>
            <a:ext cx="11379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+ 10 %</a:t>
            </a:r>
            <a:endParaRPr b="0" lang="en-US" sz="2400" strike="noStrike" u="none">
              <a:solidFill>
                <a:srgbClr val="ffff00"/>
              </a:solidFill>
              <a:effectLst/>
              <a:uFillTx/>
              <a:latin typeface="Times New Roman"/>
            </a:endParaRPr>
          </a:p>
        </p:txBody>
      </p:sp>
      <p:sp>
        <p:nvSpPr>
          <p:cNvPr id="427" name="Text Box 14"/>
          <p:cNvSpPr/>
          <p:nvPr/>
        </p:nvSpPr>
        <p:spPr>
          <a:xfrm>
            <a:off x="1334520" y="3809880"/>
            <a:ext cx="260784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Reconstitution des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réserves énergétiques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musculaires</a:t>
            </a:r>
            <a:endParaRPr b="0" lang="en-US" sz="1800" strike="noStrike" u="none">
              <a:solidFill>
                <a:srgbClr val="ffff00"/>
              </a:solidFill>
              <a:effectLst/>
              <a:uFillTx/>
              <a:latin typeface="Times New Roman"/>
            </a:endParaRPr>
          </a:p>
        </p:txBody>
      </p:sp>
      <p:sp>
        <p:nvSpPr>
          <p:cNvPr id="428" name="Text Box 15"/>
          <p:cNvSpPr/>
          <p:nvPr/>
        </p:nvSpPr>
        <p:spPr>
          <a:xfrm>
            <a:off x="3963240" y="3809880"/>
            <a:ext cx="260784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Reconstitution des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réserves énergétiques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de l’organisme entier</a:t>
            </a:r>
            <a:endParaRPr b="0" lang="en-US" sz="1800" strike="noStrike" u="none">
              <a:solidFill>
                <a:srgbClr val="ffff00"/>
              </a:solidFill>
              <a:effectLst/>
              <a:uFillTx/>
              <a:latin typeface="Times New Roman"/>
            </a:endParaRPr>
          </a:p>
        </p:txBody>
      </p:sp>
      <p:sp>
        <p:nvSpPr>
          <p:cNvPr id="429" name="Text Box 16"/>
          <p:cNvSpPr/>
          <p:nvPr/>
        </p:nvSpPr>
        <p:spPr>
          <a:xfrm>
            <a:off x="6630480" y="3809880"/>
            <a:ext cx="222624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Récupération au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niveau du système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nerveux central</a:t>
            </a:r>
            <a:endParaRPr b="0" lang="en-US" sz="1800" strike="noStrike" u="none">
              <a:solidFill>
                <a:srgbClr val="ffff00"/>
              </a:solidFill>
              <a:effectLst/>
              <a:uFillTx/>
              <a:latin typeface="Times New Roman"/>
            </a:endParaRPr>
          </a:p>
        </p:txBody>
      </p:sp>
      <p:sp>
        <p:nvSpPr>
          <p:cNvPr id="430" name="Text Box 17"/>
          <p:cNvSpPr/>
          <p:nvPr/>
        </p:nvSpPr>
        <p:spPr>
          <a:xfrm>
            <a:off x="1008000" y="5715000"/>
            <a:ext cx="81457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Exemple de dynamique de la courbe de récupération après exercices,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entraînement ou compétition. D’après Bompa (1999).</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Text Box 2"/>
          <p:cNvSpPr/>
          <p:nvPr/>
        </p:nvSpPr>
        <p:spPr>
          <a:xfrm>
            <a:off x="852120" y="2147760"/>
            <a:ext cx="7444440" cy="18867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Arial"/>
              </a:rPr>
              <a:t>Les différentes formes de récupération après :</a:t>
            </a:r>
            <a:endParaRPr b="0" lang="en-US" sz="28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Arial"/>
              </a:rPr>
              <a:t>          - un exercice</a:t>
            </a:r>
            <a:endParaRPr b="0" lang="en-US" sz="28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Arial"/>
              </a:rPr>
              <a:t>          - un entraînement</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Text Box 2"/>
          <p:cNvSpPr/>
          <p:nvPr/>
        </p:nvSpPr>
        <p:spPr>
          <a:xfrm>
            <a:off x="155880" y="3124080"/>
            <a:ext cx="2472120" cy="1008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Les moyens utilisés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pour accélérer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la récupération</a:t>
            </a:r>
            <a:endParaRPr b="0" lang="en-US" sz="2000" strike="noStrike" u="none">
              <a:solidFill>
                <a:srgbClr val="ffff00"/>
              </a:solidFill>
              <a:effectLst/>
              <a:uFillTx/>
              <a:latin typeface="Times New Roman"/>
            </a:endParaRPr>
          </a:p>
        </p:txBody>
      </p:sp>
      <p:sp>
        <p:nvSpPr>
          <p:cNvPr id="433" name="Line 3"/>
          <p:cNvSpPr/>
          <p:nvPr/>
        </p:nvSpPr>
        <p:spPr>
          <a:xfrm flipV="1">
            <a:off x="2666880" y="1294920"/>
            <a:ext cx="990720" cy="221004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4" name="Line 4"/>
          <p:cNvSpPr/>
          <p:nvPr/>
        </p:nvSpPr>
        <p:spPr>
          <a:xfrm>
            <a:off x="2666880" y="3505320"/>
            <a:ext cx="685800" cy="0"/>
          </a:xfrm>
          <a:prstGeom prst="line">
            <a:avLst/>
          </a:prstGeom>
          <a:ln w="28440">
            <a:solidFill>
              <a:srgbClr val="ffff00"/>
            </a:solidFill>
            <a:miter/>
            <a:headEnd len="med" type="diamond"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5" name="Line 5"/>
          <p:cNvSpPr/>
          <p:nvPr/>
        </p:nvSpPr>
        <p:spPr>
          <a:xfrm>
            <a:off x="2666880" y="3505320"/>
            <a:ext cx="990720" cy="213336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6" name="Text Box 6"/>
          <p:cNvSpPr/>
          <p:nvPr/>
        </p:nvSpPr>
        <p:spPr>
          <a:xfrm>
            <a:off x="3737880" y="914400"/>
            <a:ext cx="1387080" cy="3988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Naturels</a:t>
            </a:r>
            <a:endParaRPr b="0" lang="en-US" sz="2000" strike="noStrike" u="none">
              <a:solidFill>
                <a:srgbClr val="ffff00"/>
              </a:solidFill>
              <a:effectLst/>
              <a:uFillTx/>
              <a:latin typeface="Times New Roman"/>
            </a:endParaRPr>
          </a:p>
        </p:txBody>
      </p:sp>
      <p:sp>
        <p:nvSpPr>
          <p:cNvPr id="437" name="Text Box 7"/>
          <p:cNvSpPr/>
          <p:nvPr/>
        </p:nvSpPr>
        <p:spPr>
          <a:xfrm>
            <a:off x="3541320" y="3211560"/>
            <a:ext cx="1864440" cy="7038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Physio-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thérapeutiques</a:t>
            </a:r>
            <a:endParaRPr b="0" lang="en-US" sz="2000" strike="noStrike" u="none">
              <a:solidFill>
                <a:srgbClr val="ffff00"/>
              </a:solidFill>
              <a:effectLst/>
              <a:uFillTx/>
              <a:latin typeface="Times New Roman"/>
            </a:endParaRPr>
          </a:p>
        </p:txBody>
      </p:sp>
      <p:sp>
        <p:nvSpPr>
          <p:cNvPr id="438" name="Text Box 8"/>
          <p:cNvSpPr/>
          <p:nvPr/>
        </p:nvSpPr>
        <p:spPr>
          <a:xfrm>
            <a:off x="3737880" y="5562720"/>
            <a:ext cx="2222280" cy="3988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Psychologiques</a:t>
            </a:r>
            <a:endParaRPr b="0" lang="en-US" sz="2000" strike="noStrike" u="none">
              <a:solidFill>
                <a:srgbClr val="ffff00"/>
              </a:solidFill>
              <a:effectLst/>
              <a:uFillTx/>
              <a:latin typeface="Times New Roman"/>
            </a:endParaRPr>
          </a:p>
        </p:txBody>
      </p:sp>
      <p:sp>
        <p:nvSpPr>
          <p:cNvPr id="439" name="Line 9"/>
          <p:cNvSpPr/>
          <p:nvPr/>
        </p:nvSpPr>
        <p:spPr>
          <a:xfrm flipV="1">
            <a:off x="5257800" y="533160"/>
            <a:ext cx="990720" cy="6094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40" name="Text Box 10"/>
          <p:cNvSpPr/>
          <p:nvPr/>
        </p:nvSpPr>
        <p:spPr>
          <a:xfrm>
            <a:off x="6249600" y="0"/>
            <a:ext cx="21121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Exercices aérobies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 faible intensité</a:t>
            </a:r>
            <a:endParaRPr b="0" lang="en-US" sz="1800" strike="noStrike" u="none">
              <a:solidFill>
                <a:srgbClr val="ffff00"/>
              </a:solidFill>
              <a:effectLst/>
              <a:uFillTx/>
              <a:latin typeface="Times New Roman"/>
            </a:endParaRPr>
          </a:p>
        </p:txBody>
      </p:sp>
      <p:sp>
        <p:nvSpPr>
          <p:cNvPr id="441" name="Text Box 11"/>
          <p:cNvSpPr/>
          <p:nvPr/>
        </p:nvSpPr>
        <p:spPr>
          <a:xfrm>
            <a:off x="6249600" y="914400"/>
            <a:ext cx="11340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Stet</a:t>
            </a:r>
            <a:r>
              <a:rPr b="0" lang="fr-FR" sz="1800" strike="noStrike" u="none">
                <a:solidFill>
                  <a:srgbClr val="f8f8f8"/>
                </a:solidFill>
                <a:effectLst/>
                <a:uFillTx/>
                <a:latin typeface="Arial"/>
              </a:rPr>
              <a:t>ching</a:t>
            </a:r>
            <a:endParaRPr b="0" lang="en-US" sz="1800" strike="noStrike" u="none">
              <a:solidFill>
                <a:srgbClr val="ffff00"/>
              </a:solidFill>
              <a:effectLst/>
              <a:uFillTx/>
              <a:latin typeface="Times New Roman"/>
            </a:endParaRPr>
          </a:p>
        </p:txBody>
      </p:sp>
      <p:sp>
        <p:nvSpPr>
          <p:cNvPr id="442" name="Line 12"/>
          <p:cNvSpPr/>
          <p:nvPr/>
        </p:nvSpPr>
        <p:spPr>
          <a:xfrm>
            <a:off x="5257800" y="1143000"/>
            <a:ext cx="99072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43" name="Line 13"/>
          <p:cNvSpPr/>
          <p:nvPr/>
        </p:nvSpPr>
        <p:spPr>
          <a:xfrm>
            <a:off x="5257800" y="1143000"/>
            <a:ext cx="990720" cy="457200"/>
          </a:xfrm>
          <a:prstGeom prst="line">
            <a:avLst/>
          </a:prstGeom>
          <a:ln w="9360">
            <a:solidFill>
              <a:srgbClr val="ffff00"/>
            </a:solidFill>
            <a:miter/>
            <a:headEnd len="med" type="diamond"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44" name="Text Box 14"/>
          <p:cNvSpPr/>
          <p:nvPr/>
        </p:nvSpPr>
        <p:spPr>
          <a:xfrm>
            <a:off x="6310080" y="1407960"/>
            <a:ext cx="1768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Repos-sommeil</a:t>
            </a:r>
            <a:endParaRPr b="0" lang="en-US" sz="1800" strike="noStrike" u="none">
              <a:solidFill>
                <a:srgbClr val="ffff00"/>
              </a:solidFill>
              <a:effectLst/>
              <a:uFillTx/>
              <a:latin typeface="Times New Roman"/>
            </a:endParaRPr>
          </a:p>
        </p:txBody>
      </p:sp>
      <p:sp>
        <p:nvSpPr>
          <p:cNvPr id="445" name="Line 15"/>
          <p:cNvSpPr/>
          <p:nvPr/>
        </p:nvSpPr>
        <p:spPr>
          <a:xfrm flipV="1">
            <a:off x="5410080" y="2285640"/>
            <a:ext cx="762120" cy="12193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46" name="Text Box 16"/>
          <p:cNvSpPr/>
          <p:nvPr/>
        </p:nvSpPr>
        <p:spPr>
          <a:xfrm>
            <a:off x="6249600" y="1981080"/>
            <a:ext cx="11084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Massage</a:t>
            </a:r>
            <a:endParaRPr b="0" lang="en-US" sz="1800" strike="noStrike" u="none">
              <a:solidFill>
                <a:srgbClr val="ffff00"/>
              </a:solidFill>
              <a:effectLst/>
              <a:uFillTx/>
              <a:latin typeface="Times New Roman"/>
            </a:endParaRPr>
          </a:p>
        </p:txBody>
      </p:sp>
      <p:sp>
        <p:nvSpPr>
          <p:cNvPr id="447" name="Line 17"/>
          <p:cNvSpPr/>
          <p:nvPr/>
        </p:nvSpPr>
        <p:spPr>
          <a:xfrm flipV="1">
            <a:off x="5410080" y="2742840"/>
            <a:ext cx="762120" cy="762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48" name="Text Box 18"/>
          <p:cNvSpPr/>
          <p:nvPr/>
        </p:nvSpPr>
        <p:spPr>
          <a:xfrm>
            <a:off x="6249600" y="2438280"/>
            <a:ext cx="17182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Chaleur et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thermothérapie</a:t>
            </a:r>
            <a:endParaRPr b="0" lang="en-US" sz="1800" strike="noStrike" u="none">
              <a:solidFill>
                <a:srgbClr val="ffff00"/>
              </a:solidFill>
              <a:effectLst/>
              <a:uFillTx/>
              <a:latin typeface="Times New Roman"/>
            </a:endParaRPr>
          </a:p>
        </p:txBody>
      </p:sp>
      <p:sp>
        <p:nvSpPr>
          <p:cNvPr id="449" name="Text Box 19"/>
          <p:cNvSpPr/>
          <p:nvPr/>
        </p:nvSpPr>
        <p:spPr>
          <a:xfrm>
            <a:off x="6249600" y="3048120"/>
            <a:ext cx="22773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Froid et cryothérapie</a:t>
            </a:r>
            <a:endParaRPr b="0" lang="en-US" sz="1800" strike="noStrike" u="none">
              <a:solidFill>
                <a:srgbClr val="ffff00"/>
              </a:solidFill>
              <a:effectLst/>
              <a:uFillTx/>
              <a:latin typeface="Times New Roman"/>
            </a:endParaRPr>
          </a:p>
        </p:txBody>
      </p:sp>
      <p:sp>
        <p:nvSpPr>
          <p:cNvPr id="450" name="Line 20"/>
          <p:cNvSpPr/>
          <p:nvPr/>
        </p:nvSpPr>
        <p:spPr>
          <a:xfrm flipV="1">
            <a:off x="5410080" y="3276360"/>
            <a:ext cx="838440" cy="2286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1" name="Line 21"/>
          <p:cNvSpPr/>
          <p:nvPr/>
        </p:nvSpPr>
        <p:spPr>
          <a:xfrm>
            <a:off x="5410080" y="3505320"/>
            <a:ext cx="838440" cy="75960"/>
          </a:xfrm>
          <a:prstGeom prst="line">
            <a:avLst/>
          </a:prstGeom>
          <a:ln w="9360">
            <a:solidFill>
              <a:srgbClr val="ffff00"/>
            </a:solidFill>
            <a:miter/>
            <a:tailEnd len="med" type="triangle" w="med"/>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452" name="Text Box 22"/>
          <p:cNvSpPr/>
          <p:nvPr/>
        </p:nvSpPr>
        <p:spPr>
          <a:xfrm>
            <a:off x="6249600" y="3429000"/>
            <a:ext cx="18705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Bains contrastés</a:t>
            </a:r>
            <a:endParaRPr b="0" lang="en-US" sz="1800" strike="noStrike" u="none">
              <a:solidFill>
                <a:srgbClr val="ffff00"/>
              </a:solidFill>
              <a:effectLst/>
              <a:uFillTx/>
              <a:latin typeface="Times New Roman"/>
            </a:endParaRPr>
          </a:p>
        </p:txBody>
      </p:sp>
      <p:sp>
        <p:nvSpPr>
          <p:cNvPr id="453" name="Line 23"/>
          <p:cNvSpPr/>
          <p:nvPr/>
        </p:nvSpPr>
        <p:spPr>
          <a:xfrm>
            <a:off x="5410080" y="3505320"/>
            <a:ext cx="838440" cy="4572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4" name="Text Box 24"/>
          <p:cNvSpPr/>
          <p:nvPr/>
        </p:nvSpPr>
        <p:spPr>
          <a:xfrm>
            <a:off x="6249600" y="3809880"/>
            <a:ext cx="1921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Oxygénothérapie</a:t>
            </a:r>
            <a:endParaRPr b="0" lang="en-US" sz="1800" strike="noStrike" u="none">
              <a:solidFill>
                <a:srgbClr val="ffff00"/>
              </a:solidFill>
              <a:effectLst/>
              <a:uFillTx/>
              <a:latin typeface="Times New Roman"/>
            </a:endParaRPr>
          </a:p>
        </p:txBody>
      </p:sp>
      <p:sp>
        <p:nvSpPr>
          <p:cNvPr id="455" name="Line 25"/>
          <p:cNvSpPr/>
          <p:nvPr/>
        </p:nvSpPr>
        <p:spPr>
          <a:xfrm>
            <a:off x="5410080" y="3505320"/>
            <a:ext cx="838440" cy="8380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6" name="Text Box 26"/>
          <p:cNvSpPr/>
          <p:nvPr/>
        </p:nvSpPr>
        <p:spPr>
          <a:xfrm>
            <a:off x="6249240" y="4114800"/>
            <a:ext cx="30146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Réflexothérapie-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acupuncture et acupressure</a:t>
            </a:r>
            <a:endParaRPr b="0" lang="en-US" sz="1800" strike="noStrike" u="none">
              <a:solidFill>
                <a:srgbClr val="ffff00"/>
              </a:solidFill>
              <a:effectLst/>
              <a:uFillTx/>
              <a:latin typeface="Times New Roman"/>
            </a:endParaRPr>
          </a:p>
        </p:txBody>
      </p:sp>
      <p:sp>
        <p:nvSpPr>
          <p:cNvPr id="457" name="Line 27"/>
          <p:cNvSpPr/>
          <p:nvPr/>
        </p:nvSpPr>
        <p:spPr>
          <a:xfrm>
            <a:off x="5410080" y="3505320"/>
            <a:ext cx="838440" cy="1371600"/>
          </a:xfrm>
          <a:prstGeom prst="line">
            <a:avLst/>
          </a:prstGeom>
          <a:ln w="9360">
            <a:solidFill>
              <a:srgbClr val="ffff00"/>
            </a:solidFill>
            <a:miter/>
            <a:headEnd len="med" type="diamond"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8" name="Text Box 28"/>
          <p:cNvSpPr/>
          <p:nvPr/>
        </p:nvSpPr>
        <p:spPr>
          <a:xfrm>
            <a:off x="6249600" y="4724280"/>
            <a:ext cx="1743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Chémothérapie</a:t>
            </a:r>
            <a:endParaRPr b="0" lang="en-US" sz="1800" strike="noStrike" u="none">
              <a:solidFill>
                <a:srgbClr val="ffff00"/>
              </a:solidFill>
              <a:effectLst/>
              <a:uFillTx/>
              <a:latin typeface="Times New Roman"/>
            </a:endParaRPr>
          </a:p>
        </p:txBody>
      </p:sp>
      <p:sp>
        <p:nvSpPr>
          <p:cNvPr id="459" name="Text Box 29"/>
          <p:cNvSpPr/>
          <p:nvPr/>
        </p:nvSpPr>
        <p:spPr>
          <a:xfrm>
            <a:off x="6249600" y="6019920"/>
            <a:ext cx="11340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Stet</a:t>
            </a:r>
            <a:r>
              <a:rPr b="0" lang="fr-FR" sz="1800" strike="noStrike" u="none">
                <a:solidFill>
                  <a:srgbClr val="f8f8f8"/>
                </a:solidFill>
                <a:effectLst/>
                <a:uFillTx/>
                <a:latin typeface="Arial"/>
              </a:rPr>
              <a:t>ching</a:t>
            </a:r>
            <a:endParaRPr b="0" lang="en-US" sz="1800" strike="noStrike" u="none">
              <a:solidFill>
                <a:srgbClr val="ffff00"/>
              </a:solidFill>
              <a:effectLst/>
              <a:uFillTx/>
              <a:latin typeface="Times New Roman"/>
            </a:endParaRPr>
          </a:p>
        </p:txBody>
      </p:sp>
      <p:sp>
        <p:nvSpPr>
          <p:cNvPr id="460" name="Text Box 30"/>
          <p:cNvSpPr/>
          <p:nvPr/>
        </p:nvSpPr>
        <p:spPr>
          <a:xfrm>
            <a:off x="6249600" y="5257800"/>
            <a:ext cx="16804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Techniques de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relaxation</a:t>
            </a:r>
            <a:endParaRPr b="0" lang="en-US" sz="1800" strike="noStrike" u="none">
              <a:solidFill>
                <a:srgbClr val="ffff00"/>
              </a:solidFill>
              <a:effectLst/>
              <a:uFillTx/>
              <a:latin typeface="Times New Roman"/>
            </a:endParaRPr>
          </a:p>
        </p:txBody>
      </p:sp>
      <p:sp>
        <p:nvSpPr>
          <p:cNvPr id="461" name="Line 31"/>
          <p:cNvSpPr/>
          <p:nvPr/>
        </p:nvSpPr>
        <p:spPr>
          <a:xfrm flipV="1">
            <a:off x="5943600" y="5486040"/>
            <a:ext cx="304920" cy="3049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62" name="Line 32"/>
          <p:cNvSpPr/>
          <p:nvPr/>
        </p:nvSpPr>
        <p:spPr>
          <a:xfrm>
            <a:off x="5943600" y="5791320"/>
            <a:ext cx="304920" cy="304560"/>
          </a:xfrm>
          <a:prstGeom prst="line">
            <a:avLst/>
          </a:prstGeom>
          <a:ln w="9360">
            <a:solidFill>
              <a:srgbClr val="ffff00"/>
            </a:solidFill>
            <a:miter/>
            <a:headEnd len="med" type="diamond"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63" name="Rectangle 33"/>
          <p:cNvSpPr/>
          <p:nvPr/>
        </p:nvSpPr>
        <p:spPr>
          <a:xfrm>
            <a:off x="152280" y="5791320"/>
            <a:ext cx="762120" cy="152280"/>
          </a:xfrm>
          <a:prstGeom prst="rec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4" name="Text Box 34"/>
          <p:cNvSpPr/>
          <p:nvPr/>
        </p:nvSpPr>
        <p:spPr>
          <a:xfrm>
            <a:off x="901440" y="5699160"/>
            <a:ext cx="162252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Après exercices</a:t>
            </a:r>
            <a:endParaRPr b="0" lang="en-US" sz="1600" strike="noStrike" u="none">
              <a:solidFill>
                <a:srgbClr val="ffff00"/>
              </a:solidFill>
              <a:effectLst/>
              <a:uFillTx/>
              <a:latin typeface="Times New Roman"/>
            </a:endParaRPr>
          </a:p>
        </p:txBody>
      </p:sp>
      <p:sp>
        <p:nvSpPr>
          <p:cNvPr id="465" name="Rectangle 35"/>
          <p:cNvSpPr/>
          <p:nvPr/>
        </p:nvSpPr>
        <p:spPr>
          <a:xfrm>
            <a:off x="152280" y="6324480"/>
            <a:ext cx="762120" cy="152640"/>
          </a:xfrm>
          <a:prstGeom prst="rect">
            <a:avLst/>
          </a:prstGeom>
          <a:solidFill>
            <a:srgbClr val="f8f8f8"/>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6" name="Text Box 36"/>
          <p:cNvSpPr/>
          <p:nvPr/>
        </p:nvSpPr>
        <p:spPr>
          <a:xfrm>
            <a:off x="919440" y="6095880"/>
            <a:ext cx="293004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Après séances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et après compétitions</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521" dur="indefinite" restart="never" nodeType="tmRoot">
          <p:childTnLst>
            <p:seq>
              <p:cTn id="522" dur="indefinite" nodeType="mainSeq">
                <p:childTnLst>
                  <p:par>
                    <p:cTn id="523" nodeType="clickEffect" fill="hold">
                      <p:stCondLst>
                        <p:cond delay="0"/>
                      </p:stCondLst>
                      <p:childTnLst>
                        <p:par>
                          <p:cTn id="524" nodeType="withEffect" fill="hold">
                            <p:stCondLst>
                              <p:cond delay="0"/>
                            </p:stCondLst>
                            <p:childTnLst>
                              <p:par>
                                <p:cTn id="525" nodeType="afterEffect" fill="hold" presetClass="entr" presetID="9">
                                  <p:stCondLst>
                                    <p:cond delay="0"/>
                                  </p:stCondLst>
                                  <p:childTnLst>
                                    <p:set>
                                      <p:cBhvr>
                                        <p:cTn id="526" dur="1" fill="hold">
                                          <p:stCondLst>
                                            <p:cond delay="0"/>
                                          </p:stCondLst>
                                        </p:cTn>
                                        <p:tgtEl>
                                          <p:spTgt spid="432"/>
                                        </p:tgtEl>
                                        <p:attrNameLst>
                                          <p:attrName>style.visibility</p:attrName>
                                        </p:attrNameLst>
                                      </p:cBhvr>
                                      <p:to>
                                        <p:strVal val="visible"/>
                                      </p:to>
                                    </p:set>
                                    <p:animEffect filter="dissolve" transition="in">
                                      <p:cBhvr additive="repl">
                                        <p:cTn id="527" dur="500"/>
                                        <p:tgtEl>
                                          <p:spTgt spid="432"/>
                                        </p:tgtEl>
                                      </p:cBhvr>
                                    </p:animEffect>
                                  </p:childTnLst>
                                </p:cTn>
                              </p:par>
                            </p:childTnLst>
                          </p:cTn>
                        </p:par>
                        <p:par>
                          <p:cTn id="528" nodeType="afterEffect" fill="hold">
                            <p:stCondLst>
                              <p:cond delay="500"/>
                            </p:stCondLst>
                            <p:childTnLst>
                              <p:par>
                                <p:cTn id="529" nodeType="afterEffect" fill="hold" presetClass="entr" presetID="17" presetSubtype="4">
                                  <p:stCondLst>
                                    <p:cond delay="1000"/>
                                  </p:stCondLst>
                                  <p:childTnLst>
                                    <p:set>
                                      <p:cBhvr>
                                        <p:cTn id="530" dur="1" fill="hold">
                                          <p:stCondLst>
                                            <p:cond delay="0"/>
                                          </p:stCondLst>
                                        </p:cTn>
                                        <p:tgtEl>
                                          <p:spTgt spid="433"/>
                                        </p:tgtEl>
                                        <p:attrNameLst>
                                          <p:attrName>style.visibility</p:attrName>
                                        </p:attrNameLst>
                                      </p:cBhvr>
                                      <p:to>
                                        <p:strVal val="visible"/>
                                      </p:to>
                                    </p:set>
                                    <p:anim calcmode="lin" valueType="num">
                                      <p:cBhvr additive="repl">
                                        <p:cTn id="531" dur="500" fill="hold"/>
                                        <p:tgtEl>
                                          <p:spTgt spid="433"/>
                                        </p:tgtEl>
                                        <p:attrNameLst>
                                          <p:attrName>ppt_x</p:attrName>
                                        </p:attrNameLst>
                                      </p:cBhvr>
                                      <p:tavLst>
                                        <p:tav tm="0">
                                          <p:val>
                                            <p:strVal val="#ppt_x"/>
                                          </p:val>
                                        </p:tav>
                                        <p:tav tm="100000">
                                          <p:val>
                                            <p:strVal val="#ppt_x"/>
                                          </p:val>
                                        </p:tav>
                                      </p:tavLst>
                                    </p:anim>
                                    <p:anim calcmode="lin" valueType="num">
                                      <p:cBhvr additive="repl">
                                        <p:cTn id="532" dur="500" fill="hold"/>
                                        <p:tgtEl>
                                          <p:spTgt spid="433"/>
                                        </p:tgtEl>
                                        <p:attrNameLst>
                                          <p:attrName>ppt_y</p:attrName>
                                        </p:attrNameLst>
                                      </p:cBhvr>
                                      <p:tavLst>
                                        <p:tav tm="0">
                                          <p:val>
                                            <p:strVal val="#ppt_y+#ppt_h/2"/>
                                          </p:val>
                                        </p:tav>
                                        <p:tav tm="100000">
                                          <p:val>
                                            <p:strVal val="#ppt_y"/>
                                          </p:val>
                                        </p:tav>
                                      </p:tavLst>
                                    </p:anim>
                                    <p:anim calcmode="lin" valueType="num">
                                      <p:cBhvr additive="repl">
                                        <p:cTn id="533" dur="500" fill="hold"/>
                                        <p:tgtEl>
                                          <p:spTgt spid="433"/>
                                        </p:tgtEl>
                                        <p:attrNameLst>
                                          <p:attrName>ppt_w</p:attrName>
                                        </p:attrNameLst>
                                      </p:cBhvr>
                                      <p:tavLst>
                                        <p:tav tm="0">
                                          <p:val>
                                            <p:strVal val="#ppt_w"/>
                                          </p:val>
                                        </p:tav>
                                        <p:tav tm="100000">
                                          <p:val>
                                            <p:strVal val="#ppt_w"/>
                                          </p:val>
                                        </p:tav>
                                      </p:tavLst>
                                    </p:anim>
                                    <p:anim calcmode="lin" valueType="num">
                                      <p:cBhvr additive="repl">
                                        <p:cTn id="534" dur="500" fill="hold"/>
                                        <p:tgtEl>
                                          <p:spTgt spid="433"/>
                                        </p:tgtEl>
                                        <p:attrNameLst>
                                          <p:attrName>ppt_h</p:attrName>
                                        </p:attrNameLst>
                                      </p:cBhvr>
                                      <p:tavLst>
                                        <p:tav tm="0">
                                          <p:val>
                                            <p:fltVal val="0"/>
                                          </p:val>
                                        </p:tav>
                                        <p:tav tm="100000">
                                          <p:val>
                                            <p:strVal val="#ppt_h"/>
                                          </p:val>
                                        </p:tav>
                                      </p:tavLst>
                                    </p:anim>
                                  </p:childTnLst>
                                </p:cTn>
                              </p:par>
                            </p:childTnLst>
                          </p:cTn>
                        </p:par>
                        <p:par>
                          <p:cTn id="535" nodeType="afterEffect" fill="hold">
                            <p:stCondLst>
                              <p:cond delay="2000"/>
                            </p:stCondLst>
                            <p:childTnLst>
                              <p:par>
                                <p:cTn id="536" nodeType="afterEffect" fill="hold" presetClass="entr" presetID="9">
                                  <p:stCondLst>
                                    <p:cond delay="0"/>
                                  </p:stCondLst>
                                  <p:childTnLst>
                                    <p:set>
                                      <p:cBhvr>
                                        <p:cTn id="537" dur="1" fill="hold">
                                          <p:stCondLst>
                                            <p:cond delay="0"/>
                                          </p:stCondLst>
                                        </p:cTn>
                                        <p:tgtEl>
                                          <p:spTgt spid="436"/>
                                        </p:tgtEl>
                                        <p:attrNameLst>
                                          <p:attrName>style.visibility</p:attrName>
                                        </p:attrNameLst>
                                      </p:cBhvr>
                                      <p:to>
                                        <p:strVal val="visible"/>
                                      </p:to>
                                    </p:set>
                                    <p:animEffect filter="dissolve" transition="in">
                                      <p:cBhvr additive="repl">
                                        <p:cTn id="538" dur="500"/>
                                        <p:tgtEl>
                                          <p:spTgt spid="436"/>
                                        </p:tgtEl>
                                      </p:cBhvr>
                                    </p:animEffect>
                                  </p:childTnLst>
                                </p:cTn>
                              </p:par>
                            </p:childTnLst>
                          </p:cTn>
                        </p:par>
                        <p:par>
                          <p:cTn id="539" nodeType="afterEffect" fill="hold">
                            <p:stCondLst>
                              <p:cond delay="2500"/>
                            </p:stCondLst>
                            <p:childTnLst>
                              <p:par>
                                <p:cTn id="540" nodeType="afterEffect" fill="hold" presetClass="entr" presetID="17" presetSubtype="8">
                                  <p:stCondLst>
                                    <p:cond delay="1000"/>
                                  </p:stCondLst>
                                  <p:childTnLst>
                                    <p:set>
                                      <p:cBhvr>
                                        <p:cTn id="541" dur="1" fill="hold">
                                          <p:stCondLst>
                                            <p:cond delay="0"/>
                                          </p:stCondLst>
                                        </p:cTn>
                                        <p:tgtEl>
                                          <p:spTgt spid="434"/>
                                        </p:tgtEl>
                                        <p:attrNameLst>
                                          <p:attrName>style.visibility</p:attrName>
                                        </p:attrNameLst>
                                      </p:cBhvr>
                                      <p:to>
                                        <p:strVal val="visible"/>
                                      </p:to>
                                    </p:set>
                                    <p:anim calcmode="lin" valueType="num">
                                      <p:cBhvr additive="repl">
                                        <p:cTn id="542" dur="500" fill="hold"/>
                                        <p:tgtEl>
                                          <p:spTgt spid="434"/>
                                        </p:tgtEl>
                                        <p:attrNameLst>
                                          <p:attrName>ppt_x</p:attrName>
                                        </p:attrNameLst>
                                      </p:cBhvr>
                                      <p:tavLst>
                                        <p:tav tm="0">
                                          <p:val>
                                            <p:strVal val="#ppt_x-#ppt_w/2"/>
                                          </p:val>
                                        </p:tav>
                                        <p:tav tm="100000">
                                          <p:val>
                                            <p:strVal val="#ppt_x"/>
                                          </p:val>
                                        </p:tav>
                                      </p:tavLst>
                                    </p:anim>
                                    <p:anim calcmode="lin" valueType="num">
                                      <p:cBhvr additive="repl">
                                        <p:cTn id="543" dur="500" fill="hold"/>
                                        <p:tgtEl>
                                          <p:spTgt spid="434"/>
                                        </p:tgtEl>
                                        <p:attrNameLst>
                                          <p:attrName>ppt_y</p:attrName>
                                        </p:attrNameLst>
                                      </p:cBhvr>
                                      <p:tavLst>
                                        <p:tav tm="0">
                                          <p:val>
                                            <p:strVal val="#ppt_y"/>
                                          </p:val>
                                        </p:tav>
                                        <p:tav tm="100000">
                                          <p:val>
                                            <p:strVal val="#ppt_y"/>
                                          </p:val>
                                        </p:tav>
                                      </p:tavLst>
                                    </p:anim>
                                    <p:anim calcmode="lin" valueType="num">
                                      <p:cBhvr additive="repl">
                                        <p:cTn id="544" dur="500" fill="hold"/>
                                        <p:tgtEl>
                                          <p:spTgt spid="434"/>
                                        </p:tgtEl>
                                        <p:attrNameLst>
                                          <p:attrName>ppt_w</p:attrName>
                                        </p:attrNameLst>
                                      </p:cBhvr>
                                      <p:tavLst>
                                        <p:tav tm="0">
                                          <p:val>
                                            <p:fltVal val="0"/>
                                          </p:val>
                                        </p:tav>
                                        <p:tav tm="100000">
                                          <p:val>
                                            <p:strVal val="#ppt_w"/>
                                          </p:val>
                                        </p:tav>
                                      </p:tavLst>
                                    </p:anim>
                                    <p:anim calcmode="lin" valueType="num">
                                      <p:cBhvr additive="repl">
                                        <p:cTn id="545" dur="500" fill="hold"/>
                                        <p:tgtEl>
                                          <p:spTgt spid="434"/>
                                        </p:tgtEl>
                                        <p:attrNameLst>
                                          <p:attrName>ppt_h</p:attrName>
                                        </p:attrNameLst>
                                      </p:cBhvr>
                                      <p:tavLst>
                                        <p:tav tm="0">
                                          <p:val>
                                            <p:strVal val="#ppt_h"/>
                                          </p:val>
                                        </p:tav>
                                        <p:tav tm="100000">
                                          <p:val>
                                            <p:strVal val="#ppt_h"/>
                                          </p:val>
                                        </p:tav>
                                      </p:tavLst>
                                    </p:anim>
                                  </p:childTnLst>
                                </p:cTn>
                              </p:par>
                            </p:childTnLst>
                          </p:cTn>
                        </p:par>
                        <p:par>
                          <p:cTn id="546" nodeType="afterEffect" fill="hold">
                            <p:stCondLst>
                              <p:cond delay="4000"/>
                            </p:stCondLst>
                            <p:childTnLst>
                              <p:par>
                                <p:cTn id="547" nodeType="afterEffect" fill="hold" presetClass="entr" presetID="9">
                                  <p:stCondLst>
                                    <p:cond delay="0"/>
                                  </p:stCondLst>
                                  <p:childTnLst>
                                    <p:set>
                                      <p:cBhvr>
                                        <p:cTn id="548" dur="1" fill="hold">
                                          <p:stCondLst>
                                            <p:cond delay="0"/>
                                          </p:stCondLst>
                                        </p:cTn>
                                        <p:tgtEl>
                                          <p:spTgt spid="437"/>
                                        </p:tgtEl>
                                        <p:attrNameLst>
                                          <p:attrName>style.visibility</p:attrName>
                                        </p:attrNameLst>
                                      </p:cBhvr>
                                      <p:to>
                                        <p:strVal val="visible"/>
                                      </p:to>
                                    </p:set>
                                    <p:animEffect filter="dissolve" transition="in">
                                      <p:cBhvr additive="repl">
                                        <p:cTn id="549" dur="500"/>
                                        <p:tgtEl>
                                          <p:spTgt spid="437"/>
                                        </p:tgtEl>
                                      </p:cBhvr>
                                    </p:animEffect>
                                  </p:childTnLst>
                                </p:cTn>
                              </p:par>
                            </p:childTnLst>
                          </p:cTn>
                        </p:par>
                        <p:par>
                          <p:cTn id="550" nodeType="afterEffect" fill="hold">
                            <p:stCondLst>
                              <p:cond delay="4500"/>
                            </p:stCondLst>
                            <p:childTnLst>
                              <p:par>
                                <p:cTn id="551" nodeType="afterEffect" fill="hold" presetClass="entr" presetID="17" presetSubtype="1">
                                  <p:stCondLst>
                                    <p:cond delay="1000"/>
                                  </p:stCondLst>
                                  <p:childTnLst>
                                    <p:set>
                                      <p:cBhvr>
                                        <p:cTn id="552" dur="1" fill="hold">
                                          <p:stCondLst>
                                            <p:cond delay="0"/>
                                          </p:stCondLst>
                                        </p:cTn>
                                        <p:tgtEl>
                                          <p:spTgt spid="435"/>
                                        </p:tgtEl>
                                        <p:attrNameLst>
                                          <p:attrName>style.visibility</p:attrName>
                                        </p:attrNameLst>
                                      </p:cBhvr>
                                      <p:to>
                                        <p:strVal val="visible"/>
                                      </p:to>
                                    </p:set>
                                    <p:anim calcmode="lin" valueType="num">
                                      <p:cBhvr additive="repl">
                                        <p:cTn id="553" dur="500" fill="hold"/>
                                        <p:tgtEl>
                                          <p:spTgt spid="435"/>
                                        </p:tgtEl>
                                        <p:attrNameLst>
                                          <p:attrName>ppt_x</p:attrName>
                                        </p:attrNameLst>
                                      </p:cBhvr>
                                      <p:tavLst>
                                        <p:tav tm="0">
                                          <p:val>
                                            <p:strVal val="#ppt_x"/>
                                          </p:val>
                                        </p:tav>
                                        <p:tav tm="100000">
                                          <p:val>
                                            <p:strVal val="#ppt_x"/>
                                          </p:val>
                                        </p:tav>
                                      </p:tavLst>
                                    </p:anim>
                                    <p:anim calcmode="lin" valueType="num">
                                      <p:cBhvr additive="repl">
                                        <p:cTn id="554" dur="500" fill="hold"/>
                                        <p:tgtEl>
                                          <p:spTgt spid="435"/>
                                        </p:tgtEl>
                                        <p:attrNameLst>
                                          <p:attrName>ppt_y</p:attrName>
                                        </p:attrNameLst>
                                      </p:cBhvr>
                                      <p:tavLst>
                                        <p:tav tm="0">
                                          <p:val>
                                            <p:strVal val="#ppt_y-#ppt_h/2"/>
                                          </p:val>
                                        </p:tav>
                                        <p:tav tm="100000">
                                          <p:val>
                                            <p:strVal val="#ppt_y"/>
                                          </p:val>
                                        </p:tav>
                                      </p:tavLst>
                                    </p:anim>
                                    <p:anim calcmode="lin" valueType="num">
                                      <p:cBhvr additive="repl">
                                        <p:cTn id="555" dur="500" fill="hold"/>
                                        <p:tgtEl>
                                          <p:spTgt spid="435"/>
                                        </p:tgtEl>
                                        <p:attrNameLst>
                                          <p:attrName>ppt_w</p:attrName>
                                        </p:attrNameLst>
                                      </p:cBhvr>
                                      <p:tavLst>
                                        <p:tav tm="0">
                                          <p:val>
                                            <p:strVal val="#ppt_w"/>
                                          </p:val>
                                        </p:tav>
                                        <p:tav tm="100000">
                                          <p:val>
                                            <p:strVal val="#ppt_w"/>
                                          </p:val>
                                        </p:tav>
                                      </p:tavLst>
                                    </p:anim>
                                    <p:anim calcmode="lin" valueType="num">
                                      <p:cBhvr additive="repl">
                                        <p:cTn id="556" dur="500" fill="hold"/>
                                        <p:tgtEl>
                                          <p:spTgt spid="435"/>
                                        </p:tgtEl>
                                        <p:attrNameLst>
                                          <p:attrName>ppt_h</p:attrName>
                                        </p:attrNameLst>
                                      </p:cBhvr>
                                      <p:tavLst>
                                        <p:tav tm="0">
                                          <p:val>
                                            <p:fltVal val="0"/>
                                          </p:val>
                                        </p:tav>
                                        <p:tav tm="100000">
                                          <p:val>
                                            <p:strVal val="#ppt_h"/>
                                          </p:val>
                                        </p:tav>
                                      </p:tavLst>
                                    </p:anim>
                                  </p:childTnLst>
                                </p:cTn>
                              </p:par>
                            </p:childTnLst>
                          </p:cTn>
                        </p:par>
                        <p:par>
                          <p:cTn id="557" nodeType="afterEffect" fill="hold">
                            <p:stCondLst>
                              <p:cond delay="6000"/>
                            </p:stCondLst>
                            <p:childTnLst>
                              <p:par>
                                <p:cTn id="558" nodeType="afterEffect" fill="hold" presetClass="entr" presetID="9">
                                  <p:stCondLst>
                                    <p:cond delay="0"/>
                                  </p:stCondLst>
                                  <p:childTnLst>
                                    <p:set>
                                      <p:cBhvr>
                                        <p:cTn id="559" dur="1" fill="hold">
                                          <p:stCondLst>
                                            <p:cond delay="0"/>
                                          </p:stCondLst>
                                        </p:cTn>
                                        <p:tgtEl>
                                          <p:spTgt spid="438"/>
                                        </p:tgtEl>
                                        <p:attrNameLst>
                                          <p:attrName>style.visibility</p:attrName>
                                        </p:attrNameLst>
                                      </p:cBhvr>
                                      <p:to>
                                        <p:strVal val="visible"/>
                                      </p:to>
                                    </p:set>
                                    <p:animEffect filter="dissolve" transition="in">
                                      <p:cBhvr additive="repl">
                                        <p:cTn id="560" dur="500"/>
                                        <p:tgtEl>
                                          <p:spTgt spid="438"/>
                                        </p:tgtEl>
                                      </p:cBhvr>
                                    </p:animEffect>
                                  </p:childTnLst>
                                </p:cTn>
                              </p:par>
                            </p:childTnLst>
                          </p:cTn>
                        </p:par>
                        <p:par>
                          <p:cTn id="561" nodeType="afterEffect" fill="hold">
                            <p:stCondLst>
                              <p:cond delay="6500"/>
                            </p:stCondLst>
                            <p:childTnLst>
                              <p:par>
                                <p:cTn id="562" nodeType="afterEffect" fill="hold" presetClass="entr" presetID="9">
                                  <p:stCondLst>
                                    <p:cond delay="2000"/>
                                  </p:stCondLst>
                                  <p:childTnLst>
                                    <p:set>
                                      <p:cBhvr>
                                        <p:cTn id="563" dur="1" fill="hold">
                                          <p:stCondLst>
                                            <p:cond delay="0"/>
                                          </p:stCondLst>
                                        </p:cTn>
                                        <p:tgtEl>
                                          <p:spTgt spid="463"/>
                                        </p:tgtEl>
                                        <p:attrNameLst>
                                          <p:attrName>style.visibility</p:attrName>
                                        </p:attrNameLst>
                                      </p:cBhvr>
                                      <p:to>
                                        <p:strVal val="visible"/>
                                      </p:to>
                                    </p:set>
                                    <p:animEffect filter="dissolve" transition="in">
                                      <p:cBhvr additive="repl">
                                        <p:cTn id="564" dur="500"/>
                                        <p:tgtEl>
                                          <p:spTgt spid="463"/>
                                        </p:tgtEl>
                                      </p:cBhvr>
                                    </p:animEffect>
                                  </p:childTnLst>
                                </p:cTn>
                              </p:par>
                            </p:childTnLst>
                          </p:cTn>
                        </p:par>
                        <p:par>
                          <p:cTn id="565" nodeType="afterEffect" fill="hold">
                            <p:stCondLst>
                              <p:cond delay="9000"/>
                            </p:stCondLst>
                            <p:childTnLst>
                              <p:par>
                                <p:cTn id="566" nodeType="afterEffect" fill="hold" presetClass="entr" presetID="9">
                                  <p:stCondLst>
                                    <p:cond delay="0"/>
                                  </p:stCondLst>
                                  <p:childTnLst>
                                    <p:set>
                                      <p:cBhvr>
                                        <p:cTn id="567" dur="1" fill="hold">
                                          <p:stCondLst>
                                            <p:cond delay="0"/>
                                          </p:stCondLst>
                                        </p:cTn>
                                        <p:tgtEl>
                                          <p:spTgt spid="464"/>
                                        </p:tgtEl>
                                        <p:attrNameLst>
                                          <p:attrName>style.visibility</p:attrName>
                                        </p:attrNameLst>
                                      </p:cBhvr>
                                      <p:to>
                                        <p:strVal val="visible"/>
                                      </p:to>
                                    </p:set>
                                    <p:animEffect filter="dissolve" transition="in">
                                      <p:cBhvr additive="repl">
                                        <p:cTn id="568" dur="500"/>
                                        <p:tgtEl>
                                          <p:spTgt spid="464"/>
                                        </p:tgtEl>
                                      </p:cBhvr>
                                    </p:animEffect>
                                  </p:childTnLst>
                                </p:cTn>
                              </p:par>
                            </p:childTnLst>
                          </p:cTn>
                        </p:par>
                        <p:par>
                          <p:cTn id="569" nodeType="afterEffect" fill="hold">
                            <p:stCondLst>
                              <p:cond delay="9500"/>
                            </p:stCondLst>
                            <p:childTnLst>
                              <p:par>
                                <p:cTn id="570" nodeType="afterEffect" fill="hold" presetClass="entr" presetID="9">
                                  <p:stCondLst>
                                    <p:cond delay="0"/>
                                  </p:stCondLst>
                                  <p:childTnLst>
                                    <p:set>
                                      <p:cBhvr>
                                        <p:cTn id="571" dur="1" fill="hold">
                                          <p:stCondLst>
                                            <p:cond delay="0"/>
                                          </p:stCondLst>
                                        </p:cTn>
                                        <p:tgtEl>
                                          <p:spTgt spid="465"/>
                                        </p:tgtEl>
                                        <p:attrNameLst>
                                          <p:attrName>style.visibility</p:attrName>
                                        </p:attrNameLst>
                                      </p:cBhvr>
                                      <p:to>
                                        <p:strVal val="visible"/>
                                      </p:to>
                                    </p:set>
                                    <p:animEffect filter="dissolve" transition="in">
                                      <p:cBhvr additive="repl">
                                        <p:cTn id="572" dur="500"/>
                                        <p:tgtEl>
                                          <p:spTgt spid="465"/>
                                        </p:tgtEl>
                                      </p:cBhvr>
                                    </p:animEffect>
                                  </p:childTnLst>
                                </p:cTn>
                              </p:par>
                            </p:childTnLst>
                          </p:cTn>
                        </p:par>
                        <p:par>
                          <p:cTn id="573" nodeType="afterEffect" fill="hold">
                            <p:stCondLst>
                              <p:cond delay="10000"/>
                            </p:stCondLst>
                            <p:childTnLst>
                              <p:par>
                                <p:cTn id="574" nodeType="afterEffect" fill="hold" presetClass="entr" presetID="9">
                                  <p:stCondLst>
                                    <p:cond delay="0"/>
                                  </p:stCondLst>
                                  <p:childTnLst>
                                    <p:set>
                                      <p:cBhvr>
                                        <p:cTn id="575" dur="1" fill="hold">
                                          <p:stCondLst>
                                            <p:cond delay="0"/>
                                          </p:stCondLst>
                                        </p:cTn>
                                        <p:tgtEl>
                                          <p:spTgt spid="466"/>
                                        </p:tgtEl>
                                        <p:attrNameLst>
                                          <p:attrName>style.visibility</p:attrName>
                                        </p:attrNameLst>
                                      </p:cBhvr>
                                      <p:to>
                                        <p:strVal val="visible"/>
                                      </p:to>
                                    </p:set>
                                    <p:animEffect filter="dissolve" transition="in">
                                      <p:cBhvr additive="repl">
                                        <p:cTn id="576" dur="500"/>
                                        <p:tgtEl>
                                          <p:spTgt spid="466"/>
                                        </p:tgtEl>
                                      </p:cBhvr>
                                    </p:animEffect>
                                  </p:childTnLst>
                                </p:cTn>
                              </p:par>
                            </p:childTnLst>
                          </p:cTn>
                        </p:par>
                        <p:par>
                          <p:cTn id="577" nodeType="afterEffect" fill="hold">
                            <p:stCondLst>
                              <p:cond delay="10500"/>
                            </p:stCondLst>
                            <p:childTnLst>
                              <p:par>
                                <p:cTn id="578" nodeType="afterEffect" fill="hold" presetClass="entr" presetID="17" presetSubtype="4">
                                  <p:stCondLst>
                                    <p:cond delay="1000"/>
                                  </p:stCondLst>
                                  <p:childTnLst>
                                    <p:set>
                                      <p:cBhvr>
                                        <p:cTn id="579" dur="1" fill="hold">
                                          <p:stCondLst>
                                            <p:cond delay="0"/>
                                          </p:stCondLst>
                                        </p:cTn>
                                        <p:tgtEl>
                                          <p:spTgt spid="439"/>
                                        </p:tgtEl>
                                        <p:attrNameLst>
                                          <p:attrName>style.visibility</p:attrName>
                                        </p:attrNameLst>
                                      </p:cBhvr>
                                      <p:to>
                                        <p:strVal val="visible"/>
                                      </p:to>
                                    </p:set>
                                    <p:anim calcmode="lin" valueType="num">
                                      <p:cBhvr additive="repl">
                                        <p:cTn id="580" dur="500" fill="hold"/>
                                        <p:tgtEl>
                                          <p:spTgt spid="439"/>
                                        </p:tgtEl>
                                        <p:attrNameLst>
                                          <p:attrName>ppt_x</p:attrName>
                                        </p:attrNameLst>
                                      </p:cBhvr>
                                      <p:tavLst>
                                        <p:tav tm="0">
                                          <p:val>
                                            <p:strVal val="#ppt_x"/>
                                          </p:val>
                                        </p:tav>
                                        <p:tav tm="100000">
                                          <p:val>
                                            <p:strVal val="#ppt_x"/>
                                          </p:val>
                                        </p:tav>
                                      </p:tavLst>
                                    </p:anim>
                                    <p:anim calcmode="lin" valueType="num">
                                      <p:cBhvr additive="repl">
                                        <p:cTn id="581" dur="500" fill="hold"/>
                                        <p:tgtEl>
                                          <p:spTgt spid="439"/>
                                        </p:tgtEl>
                                        <p:attrNameLst>
                                          <p:attrName>ppt_y</p:attrName>
                                        </p:attrNameLst>
                                      </p:cBhvr>
                                      <p:tavLst>
                                        <p:tav tm="0">
                                          <p:val>
                                            <p:strVal val="#ppt_y+#ppt_h/2"/>
                                          </p:val>
                                        </p:tav>
                                        <p:tav tm="100000">
                                          <p:val>
                                            <p:strVal val="#ppt_y"/>
                                          </p:val>
                                        </p:tav>
                                      </p:tavLst>
                                    </p:anim>
                                    <p:anim calcmode="lin" valueType="num">
                                      <p:cBhvr additive="repl">
                                        <p:cTn id="582" dur="500" fill="hold"/>
                                        <p:tgtEl>
                                          <p:spTgt spid="439"/>
                                        </p:tgtEl>
                                        <p:attrNameLst>
                                          <p:attrName>ppt_w</p:attrName>
                                        </p:attrNameLst>
                                      </p:cBhvr>
                                      <p:tavLst>
                                        <p:tav tm="0">
                                          <p:val>
                                            <p:strVal val="#ppt_w"/>
                                          </p:val>
                                        </p:tav>
                                        <p:tav tm="100000">
                                          <p:val>
                                            <p:strVal val="#ppt_w"/>
                                          </p:val>
                                        </p:tav>
                                      </p:tavLst>
                                    </p:anim>
                                    <p:anim calcmode="lin" valueType="num">
                                      <p:cBhvr additive="repl">
                                        <p:cTn id="583" dur="500" fill="hold"/>
                                        <p:tgtEl>
                                          <p:spTgt spid="439"/>
                                        </p:tgtEl>
                                        <p:attrNameLst>
                                          <p:attrName>ppt_h</p:attrName>
                                        </p:attrNameLst>
                                      </p:cBhvr>
                                      <p:tavLst>
                                        <p:tav tm="0">
                                          <p:val>
                                            <p:fltVal val="0"/>
                                          </p:val>
                                        </p:tav>
                                        <p:tav tm="100000">
                                          <p:val>
                                            <p:strVal val="#ppt_h"/>
                                          </p:val>
                                        </p:tav>
                                      </p:tavLst>
                                    </p:anim>
                                  </p:childTnLst>
                                </p:cTn>
                              </p:par>
                            </p:childTnLst>
                          </p:cTn>
                        </p:par>
                        <p:par>
                          <p:cTn id="584" nodeType="afterEffect" fill="hold">
                            <p:stCondLst>
                              <p:cond delay="12000"/>
                            </p:stCondLst>
                            <p:childTnLst>
                              <p:par>
                                <p:cTn id="585" nodeType="afterEffect" fill="hold" presetClass="entr" presetID="9">
                                  <p:stCondLst>
                                    <p:cond delay="0"/>
                                  </p:stCondLst>
                                  <p:childTnLst>
                                    <p:set>
                                      <p:cBhvr>
                                        <p:cTn id="586" dur="1" fill="hold">
                                          <p:stCondLst>
                                            <p:cond delay="0"/>
                                          </p:stCondLst>
                                        </p:cTn>
                                        <p:tgtEl>
                                          <p:spTgt spid="440"/>
                                        </p:tgtEl>
                                        <p:attrNameLst>
                                          <p:attrName>style.visibility</p:attrName>
                                        </p:attrNameLst>
                                      </p:cBhvr>
                                      <p:to>
                                        <p:strVal val="visible"/>
                                      </p:to>
                                    </p:set>
                                    <p:animEffect filter="dissolve" transition="in">
                                      <p:cBhvr additive="repl">
                                        <p:cTn id="587" dur="500"/>
                                        <p:tgtEl>
                                          <p:spTgt spid="440"/>
                                        </p:tgtEl>
                                      </p:cBhvr>
                                    </p:animEffect>
                                  </p:childTnLst>
                                </p:cTn>
                              </p:par>
                            </p:childTnLst>
                          </p:cTn>
                        </p:par>
                        <p:par>
                          <p:cTn id="588" nodeType="afterEffect" fill="hold">
                            <p:stCondLst>
                              <p:cond delay="12500"/>
                            </p:stCondLst>
                            <p:childTnLst>
                              <p:par>
                                <p:cTn id="589" nodeType="afterEffect" fill="hold" presetClass="entr" presetID="17" presetSubtype="8">
                                  <p:stCondLst>
                                    <p:cond delay="1000"/>
                                  </p:stCondLst>
                                  <p:childTnLst>
                                    <p:set>
                                      <p:cBhvr>
                                        <p:cTn id="590" dur="1" fill="hold">
                                          <p:stCondLst>
                                            <p:cond delay="0"/>
                                          </p:stCondLst>
                                        </p:cTn>
                                        <p:tgtEl>
                                          <p:spTgt spid="442"/>
                                        </p:tgtEl>
                                        <p:attrNameLst>
                                          <p:attrName>style.visibility</p:attrName>
                                        </p:attrNameLst>
                                      </p:cBhvr>
                                      <p:to>
                                        <p:strVal val="visible"/>
                                      </p:to>
                                    </p:set>
                                    <p:anim calcmode="lin" valueType="num">
                                      <p:cBhvr additive="repl">
                                        <p:cTn id="591" dur="500" fill="hold"/>
                                        <p:tgtEl>
                                          <p:spTgt spid="442"/>
                                        </p:tgtEl>
                                        <p:attrNameLst>
                                          <p:attrName>ppt_x</p:attrName>
                                        </p:attrNameLst>
                                      </p:cBhvr>
                                      <p:tavLst>
                                        <p:tav tm="0">
                                          <p:val>
                                            <p:strVal val="#ppt_x-#ppt_w/2"/>
                                          </p:val>
                                        </p:tav>
                                        <p:tav tm="100000">
                                          <p:val>
                                            <p:strVal val="#ppt_x"/>
                                          </p:val>
                                        </p:tav>
                                      </p:tavLst>
                                    </p:anim>
                                    <p:anim calcmode="lin" valueType="num">
                                      <p:cBhvr additive="repl">
                                        <p:cTn id="592" dur="500" fill="hold"/>
                                        <p:tgtEl>
                                          <p:spTgt spid="442"/>
                                        </p:tgtEl>
                                        <p:attrNameLst>
                                          <p:attrName>ppt_y</p:attrName>
                                        </p:attrNameLst>
                                      </p:cBhvr>
                                      <p:tavLst>
                                        <p:tav tm="0">
                                          <p:val>
                                            <p:strVal val="#ppt_y"/>
                                          </p:val>
                                        </p:tav>
                                        <p:tav tm="100000">
                                          <p:val>
                                            <p:strVal val="#ppt_y"/>
                                          </p:val>
                                        </p:tav>
                                      </p:tavLst>
                                    </p:anim>
                                    <p:anim calcmode="lin" valueType="num">
                                      <p:cBhvr additive="repl">
                                        <p:cTn id="593" dur="500" fill="hold"/>
                                        <p:tgtEl>
                                          <p:spTgt spid="442"/>
                                        </p:tgtEl>
                                        <p:attrNameLst>
                                          <p:attrName>ppt_w</p:attrName>
                                        </p:attrNameLst>
                                      </p:cBhvr>
                                      <p:tavLst>
                                        <p:tav tm="0">
                                          <p:val>
                                            <p:fltVal val="0"/>
                                          </p:val>
                                        </p:tav>
                                        <p:tav tm="100000">
                                          <p:val>
                                            <p:strVal val="#ppt_w"/>
                                          </p:val>
                                        </p:tav>
                                      </p:tavLst>
                                    </p:anim>
                                    <p:anim calcmode="lin" valueType="num">
                                      <p:cBhvr additive="repl">
                                        <p:cTn id="594" dur="500" fill="hold"/>
                                        <p:tgtEl>
                                          <p:spTgt spid="442"/>
                                        </p:tgtEl>
                                        <p:attrNameLst>
                                          <p:attrName>ppt_h</p:attrName>
                                        </p:attrNameLst>
                                      </p:cBhvr>
                                      <p:tavLst>
                                        <p:tav tm="0">
                                          <p:val>
                                            <p:strVal val="#ppt_h"/>
                                          </p:val>
                                        </p:tav>
                                        <p:tav tm="100000">
                                          <p:val>
                                            <p:strVal val="#ppt_h"/>
                                          </p:val>
                                        </p:tav>
                                      </p:tavLst>
                                    </p:anim>
                                  </p:childTnLst>
                                </p:cTn>
                              </p:par>
                            </p:childTnLst>
                          </p:cTn>
                        </p:par>
                        <p:par>
                          <p:cTn id="595" nodeType="afterEffect" fill="hold">
                            <p:stCondLst>
                              <p:cond delay="14000"/>
                            </p:stCondLst>
                            <p:childTnLst>
                              <p:par>
                                <p:cTn id="596" nodeType="afterEffect" fill="hold" presetClass="entr" presetID="9">
                                  <p:stCondLst>
                                    <p:cond delay="0"/>
                                  </p:stCondLst>
                                  <p:iterate type="lt">
                                    <p:tmAbs val="75"/>
                                  </p:iterate>
                                  <p:childTnLst>
                                    <p:set>
                                      <p:cBhvr>
                                        <p:cTn id="597" dur="1" fill="hold">
                                          <p:stCondLst>
                                            <p:cond delay="0"/>
                                          </p:stCondLst>
                                        </p:cTn>
                                        <p:tgtEl>
                                          <p:spTgt spid="441"/>
                                        </p:tgtEl>
                                        <p:attrNameLst>
                                          <p:attrName>style.visibility</p:attrName>
                                        </p:attrNameLst>
                                      </p:cBhvr>
                                      <p:to>
                                        <p:strVal val="visible"/>
                                      </p:to>
                                    </p:set>
                                    <p:animEffect filter="dissolve" transition="in">
                                      <p:cBhvr additive="repl">
                                        <p:cTn id="598" dur="75"/>
                                        <p:tgtEl>
                                          <p:spTgt spid="441"/>
                                        </p:tgtEl>
                                      </p:cBhvr>
                                    </p:animEffect>
                                  </p:childTnLst>
                                </p:cTn>
                              </p:par>
                            </p:childTnLst>
                          </p:cTn>
                        </p:par>
                        <p:par>
                          <p:cTn id="599" nodeType="afterEffect" fill="hold">
                            <p:stCondLst>
                              <p:cond delay="14675"/>
                            </p:stCondLst>
                            <p:childTnLst>
                              <p:par>
                                <p:cTn id="600" nodeType="afterEffect" fill="hold" presetClass="entr" presetID="17" presetSubtype="1">
                                  <p:stCondLst>
                                    <p:cond delay="2000"/>
                                  </p:stCondLst>
                                  <p:childTnLst>
                                    <p:set>
                                      <p:cBhvr>
                                        <p:cTn id="601" dur="1" fill="hold">
                                          <p:stCondLst>
                                            <p:cond delay="0"/>
                                          </p:stCondLst>
                                        </p:cTn>
                                        <p:tgtEl>
                                          <p:spTgt spid="443"/>
                                        </p:tgtEl>
                                        <p:attrNameLst>
                                          <p:attrName>style.visibility</p:attrName>
                                        </p:attrNameLst>
                                      </p:cBhvr>
                                      <p:to>
                                        <p:strVal val="visible"/>
                                      </p:to>
                                    </p:set>
                                    <p:anim calcmode="lin" valueType="num">
                                      <p:cBhvr additive="repl">
                                        <p:cTn id="602" dur="500" fill="hold"/>
                                        <p:tgtEl>
                                          <p:spTgt spid="443"/>
                                        </p:tgtEl>
                                        <p:attrNameLst>
                                          <p:attrName>ppt_x</p:attrName>
                                        </p:attrNameLst>
                                      </p:cBhvr>
                                      <p:tavLst>
                                        <p:tav tm="0">
                                          <p:val>
                                            <p:strVal val="#ppt_x"/>
                                          </p:val>
                                        </p:tav>
                                        <p:tav tm="100000">
                                          <p:val>
                                            <p:strVal val="#ppt_x"/>
                                          </p:val>
                                        </p:tav>
                                      </p:tavLst>
                                    </p:anim>
                                    <p:anim calcmode="lin" valueType="num">
                                      <p:cBhvr additive="repl">
                                        <p:cTn id="603" dur="500" fill="hold"/>
                                        <p:tgtEl>
                                          <p:spTgt spid="443"/>
                                        </p:tgtEl>
                                        <p:attrNameLst>
                                          <p:attrName>ppt_y</p:attrName>
                                        </p:attrNameLst>
                                      </p:cBhvr>
                                      <p:tavLst>
                                        <p:tav tm="0">
                                          <p:val>
                                            <p:strVal val="#ppt_y-#ppt_h/2"/>
                                          </p:val>
                                        </p:tav>
                                        <p:tav tm="100000">
                                          <p:val>
                                            <p:strVal val="#ppt_y"/>
                                          </p:val>
                                        </p:tav>
                                      </p:tavLst>
                                    </p:anim>
                                    <p:anim calcmode="lin" valueType="num">
                                      <p:cBhvr additive="repl">
                                        <p:cTn id="604" dur="500" fill="hold"/>
                                        <p:tgtEl>
                                          <p:spTgt spid="443"/>
                                        </p:tgtEl>
                                        <p:attrNameLst>
                                          <p:attrName>ppt_w</p:attrName>
                                        </p:attrNameLst>
                                      </p:cBhvr>
                                      <p:tavLst>
                                        <p:tav tm="0">
                                          <p:val>
                                            <p:strVal val="#ppt_w"/>
                                          </p:val>
                                        </p:tav>
                                        <p:tav tm="100000">
                                          <p:val>
                                            <p:strVal val="#ppt_w"/>
                                          </p:val>
                                        </p:tav>
                                      </p:tavLst>
                                    </p:anim>
                                    <p:anim calcmode="lin" valueType="num">
                                      <p:cBhvr additive="repl">
                                        <p:cTn id="605" dur="500" fill="hold"/>
                                        <p:tgtEl>
                                          <p:spTgt spid="443"/>
                                        </p:tgtEl>
                                        <p:attrNameLst>
                                          <p:attrName>ppt_h</p:attrName>
                                        </p:attrNameLst>
                                      </p:cBhvr>
                                      <p:tavLst>
                                        <p:tav tm="0">
                                          <p:val>
                                            <p:fltVal val="0"/>
                                          </p:val>
                                        </p:tav>
                                        <p:tav tm="100000">
                                          <p:val>
                                            <p:strVal val="#ppt_h"/>
                                          </p:val>
                                        </p:tav>
                                      </p:tavLst>
                                    </p:anim>
                                  </p:childTnLst>
                                </p:cTn>
                              </p:par>
                            </p:childTnLst>
                          </p:cTn>
                        </p:par>
                        <p:par>
                          <p:cTn id="606" nodeType="afterEffect" fill="hold">
                            <p:stCondLst>
                              <p:cond delay="17175"/>
                            </p:stCondLst>
                            <p:childTnLst>
                              <p:par>
                                <p:cTn id="607" nodeType="afterEffect" fill="hold" presetClass="entr" presetID="9">
                                  <p:stCondLst>
                                    <p:cond delay="0"/>
                                  </p:stCondLst>
                                  <p:childTnLst>
                                    <p:set>
                                      <p:cBhvr>
                                        <p:cTn id="608" dur="1" fill="hold">
                                          <p:stCondLst>
                                            <p:cond delay="0"/>
                                          </p:stCondLst>
                                        </p:cTn>
                                        <p:tgtEl>
                                          <p:spTgt spid="444"/>
                                        </p:tgtEl>
                                        <p:attrNameLst>
                                          <p:attrName>style.visibility</p:attrName>
                                        </p:attrNameLst>
                                      </p:cBhvr>
                                      <p:to>
                                        <p:strVal val="visible"/>
                                      </p:to>
                                    </p:set>
                                    <p:animEffect filter="dissolve" transition="in">
                                      <p:cBhvr additive="repl">
                                        <p:cTn id="609" dur="500"/>
                                        <p:tgtEl>
                                          <p:spTgt spid="444"/>
                                        </p:tgtEl>
                                      </p:cBhvr>
                                    </p:animEffect>
                                  </p:childTnLst>
                                </p:cTn>
                              </p:par>
                            </p:childTnLst>
                          </p:cTn>
                        </p:par>
                      </p:childTnLst>
                    </p:cTn>
                  </p:par>
                  <p:par>
                    <p:cTn id="610" nodeType="clickEffect" fill="hold">
                      <p:stCondLst>
                        <p:cond delay="indefinite"/>
                      </p:stCondLst>
                      <p:childTnLst>
                        <p:par>
                          <p:cTn id="611" nodeType="withEffect" fill="hold">
                            <p:stCondLst>
                              <p:cond delay="0"/>
                            </p:stCondLst>
                            <p:childTnLst>
                              <p:par>
                                <p:cTn id="612" nodeType="clickEffect" fill="hold" presetClass="entr" presetID="17" presetSubtype="4">
                                  <p:stCondLst>
                                    <p:cond delay="0"/>
                                  </p:stCondLst>
                                  <p:childTnLst>
                                    <p:set>
                                      <p:cBhvr>
                                        <p:cTn id="613" dur="1" fill="hold">
                                          <p:stCondLst>
                                            <p:cond delay="0"/>
                                          </p:stCondLst>
                                        </p:cTn>
                                        <p:tgtEl>
                                          <p:spTgt spid="445"/>
                                        </p:tgtEl>
                                        <p:attrNameLst>
                                          <p:attrName>style.visibility</p:attrName>
                                        </p:attrNameLst>
                                      </p:cBhvr>
                                      <p:to>
                                        <p:strVal val="visible"/>
                                      </p:to>
                                    </p:set>
                                    <p:anim calcmode="lin" valueType="num">
                                      <p:cBhvr additive="repl">
                                        <p:cTn id="614" dur="500" fill="hold"/>
                                        <p:tgtEl>
                                          <p:spTgt spid="445"/>
                                        </p:tgtEl>
                                        <p:attrNameLst>
                                          <p:attrName>ppt_x</p:attrName>
                                        </p:attrNameLst>
                                      </p:cBhvr>
                                      <p:tavLst>
                                        <p:tav tm="0">
                                          <p:val>
                                            <p:strVal val="#ppt_x"/>
                                          </p:val>
                                        </p:tav>
                                        <p:tav tm="100000">
                                          <p:val>
                                            <p:strVal val="#ppt_x"/>
                                          </p:val>
                                        </p:tav>
                                      </p:tavLst>
                                    </p:anim>
                                    <p:anim calcmode="lin" valueType="num">
                                      <p:cBhvr additive="repl">
                                        <p:cTn id="615" dur="500" fill="hold"/>
                                        <p:tgtEl>
                                          <p:spTgt spid="445"/>
                                        </p:tgtEl>
                                        <p:attrNameLst>
                                          <p:attrName>ppt_y</p:attrName>
                                        </p:attrNameLst>
                                      </p:cBhvr>
                                      <p:tavLst>
                                        <p:tav tm="0">
                                          <p:val>
                                            <p:strVal val="#ppt_y+#ppt_h/2"/>
                                          </p:val>
                                        </p:tav>
                                        <p:tav tm="100000">
                                          <p:val>
                                            <p:strVal val="#ppt_y"/>
                                          </p:val>
                                        </p:tav>
                                      </p:tavLst>
                                    </p:anim>
                                    <p:anim calcmode="lin" valueType="num">
                                      <p:cBhvr additive="repl">
                                        <p:cTn id="616" dur="500" fill="hold"/>
                                        <p:tgtEl>
                                          <p:spTgt spid="445"/>
                                        </p:tgtEl>
                                        <p:attrNameLst>
                                          <p:attrName>ppt_w</p:attrName>
                                        </p:attrNameLst>
                                      </p:cBhvr>
                                      <p:tavLst>
                                        <p:tav tm="0">
                                          <p:val>
                                            <p:strVal val="#ppt_w"/>
                                          </p:val>
                                        </p:tav>
                                        <p:tav tm="100000">
                                          <p:val>
                                            <p:strVal val="#ppt_w"/>
                                          </p:val>
                                        </p:tav>
                                      </p:tavLst>
                                    </p:anim>
                                    <p:anim calcmode="lin" valueType="num">
                                      <p:cBhvr additive="repl">
                                        <p:cTn id="617" dur="500" fill="hold"/>
                                        <p:tgtEl>
                                          <p:spTgt spid="445"/>
                                        </p:tgtEl>
                                        <p:attrNameLst>
                                          <p:attrName>ppt_h</p:attrName>
                                        </p:attrNameLst>
                                      </p:cBhvr>
                                      <p:tavLst>
                                        <p:tav tm="0">
                                          <p:val>
                                            <p:fltVal val="0"/>
                                          </p:val>
                                        </p:tav>
                                        <p:tav tm="100000">
                                          <p:val>
                                            <p:strVal val="#ppt_h"/>
                                          </p:val>
                                        </p:tav>
                                      </p:tavLst>
                                    </p:anim>
                                  </p:childTnLst>
                                </p:cTn>
                              </p:par>
                            </p:childTnLst>
                          </p:cTn>
                        </p:par>
                        <p:par>
                          <p:cTn id="618" nodeType="afterEffect" fill="hold">
                            <p:stCondLst>
                              <p:cond delay="500"/>
                            </p:stCondLst>
                            <p:childTnLst>
                              <p:par>
                                <p:cTn id="619" nodeType="afterEffect" fill="hold" presetClass="entr" presetID="9">
                                  <p:stCondLst>
                                    <p:cond delay="0"/>
                                  </p:stCondLst>
                                  <p:childTnLst>
                                    <p:set>
                                      <p:cBhvr>
                                        <p:cTn id="620" dur="1" fill="hold">
                                          <p:stCondLst>
                                            <p:cond delay="0"/>
                                          </p:stCondLst>
                                        </p:cTn>
                                        <p:tgtEl>
                                          <p:spTgt spid="446"/>
                                        </p:tgtEl>
                                        <p:attrNameLst>
                                          <p:attrName>style.visibility</p:attrName>
                                        </p:attrNameLst>
                                      </p:cBhvr>
                                      <p:to>
                                        <p:strVal val="visible"/>
                                      </p:to>
                                    </p:set>
                                    <p:animEffect filter="dissolve" transition="in">
                                      <p:cBhvr additive="repl">
                                        <p:cTn id="621" dur="500"/>
                                        <p:tgtEl>
                                          <p:spTgt spid="446"/>
                                        </p:tgtEl>
                                      </p:cBhvr>
                                    </p:animEffect>
                                  </p:childTnLst>
                                </p:cTn>
                              </p:par>
                            </p:childTnLst>
                          </p:cTn>
                        </p:par>
                        <p:par>
                          <p:cTn id="622" nodeType="afterEffect" fill="hold">
                            <p:stCondLst>
                              <p:cond delay="1000"/>
                            </p:stCondLst>
                            <p:childTnLst>
                              <p:par>
                                <p:cTn id="623" nodeType="afterEffect" fill="hold" presetClass="entr" presetID="17" presetSubtype="4">
                                  <p:stCondLst>
                                    <p:cond delay="2000"/>
                                  </p:stCondLst>
                                  <p:childTnLst>
                                    <p:set>
                                      <p:cBhvr>
                                        <p:cTn id="624" dur="1" fill="hold">
                                          <p:stCondLst>
                                            <p:cond delay="0"/>
                                          </p:stCondLst>
                                        </p:cTn>
                                        <p:tgtEl>
                                          <p:spTgt spid="447"/>
                                        </p:tgtEl>
                                        <p:attrNameLst>
                                          <p:attrName>style.visibility</p:attrName>
                                        </p:attrNameLst>
                                      </p:cBhvr>
                                      <p:to>
                                        <p:strVal val="visible"/>
                                      </p:to>
                                    </p:set>
                                    <p:anim calcmode="lin" valueType="num">
                                      <p:cBhvr additive="repl">
                                        <p:cTn id="625" dur="500" fill="hold"/>
                                        <p:tgtEl>
                                          <p:spTgt spid="447"/>
                                        </p:tgtEl>
                                        <p:attrNameLst>
                                          <p:attrName>ppt_x</p:attrName>
                                        </p:attrNameLst>
                                      </p:cBhvr>
                                      <p:tavLst>
                                        <p:tav tm="0">
                                          <p:val>
                                            <p:strVal val="#ppt_x"/>
                                          </p:val>
                                        </p:tav>
                                        <p:tav tm="100000">
                                          <p:val>
                                            <p:strVal val="#ppt_x"/>
                                          </p:val>
                                        </p:tav>
                                      </p:tavLst>
                                    </p:anim>
                                    <p:anim calcmode="lin" valueType="num">
                                      <p:cBhvr additive="repl">
                                        <p:cTn id="626" dur="500" fill="hold"/>
                                        <p:tgtEl>
                                          <p:spTgt spid="447"/>
                                        </p:tgtEl>
                                        <p:attrNameLst>
                                          <p:attrName>ppt_y</p:attrName>
                                        </p:attrNameLst>
                                      </p:cBhvr>
                                      <p:tavLst>
                                        <p:tav tm="0">
                                          <p:val>
                                            <p:strVal val="#ppt_y+#ppt_h/2"/>
                                          </p:val>
                                        </p:tav>
                                        <p:tav tm="100000">
                                          <p:val>
                                            <p:strVal val="#ppt_y"/>
                                          </p:val>
                                        </p:tav>
                                      </p:tavLst>
                                    </p:anim>
                                    <p:anim calcmode="lin" valueType="num">
                                      <p:cBhvr additive="repl">
                                        <p:cTn id="627" dur="500" fill="hold"/>
                                        <p:tgtEl>
                                          <p:spTgt spid="447"/>
                                        </p:tgtEl>
                                        <p:attrNameLst>
                                          <p:attrName>ppt_w</p:attrName>
                                        </p:attrNameLst>
                                      </p:cBhvr>
                                      <p:tavLst>
                                        <p:tav tm="0">
                                          <p:val>
                                            <p:strVal val="#ppt_w"/>
                                          </p:val>
                                        </p:tav>
                                        <p:tav tm="100000">
                                          <p:val>
                                            <p:strVal val="#ppt_w"/>
                                          </p:val>
                                        </p:tav>
                                      </p:tavLst>
                                    </p:anim>
                                    <p:anim calcmode="lin" valueType="num">
                                      <p:cBhvr additive="repl">
                                        <p:cTn id="628" dur="500" fill="hold"/>
                                        <p:tgtEl>
                                          <p:spTgt spid="447"/>
                                        </p:tgtEl>
                                        <p:attrNameLst>
                                          <p:attrName>ppt_h</p:attrName>
                                        </p:attrNameLst>
                                      </p:cBhvr>
                                      <p:tavLst>
                                        <p:tav tm="0">
                                          <p:val>
                                            <p:fltVal val="0"/>
                                          </p:val>
                                        </p:tav>
                                        <p:tav tm="100000">
                                          <p:val>
                                            <p:strVal val="#ppt_h"/>
                                          </p:val>
                                        </p:tav>
                                      </p:tavLst>
                                    </p:anim>
                                  </p:childTnLst>
                                </p:cTn>
                              </p:par>
                            </p:childTnLst>
                          </p:cTn>
                        </p:par>
                        <p:par>
                          <p:cTn id="629" nodeType="afterEffect" fill="hold">
                            <p:stCondLst>
                              <p:cond delay="3500"/>
                            </p:stCondLst>
                            <p:childTnLst>
                              <p:par>
                                <p:cTn id="630" nodeType="afterEffect" fill="hold" presetClass="entr" presetID="9">
                                  <p:stCondLst>
                                    <p:cond delay="0"/>
                                  </p:stCondLst>
                                  <p:childTnLst>
                                    <p:set>
                                      <p:cBhvr>
                                        <p:cTn id="631" dur="1" fill="hold">
                                          <p:stCondLst>
                                            <p:cond delay="0"/>
                                          </p:stCondLst>
                                        </p:cTn>
                                        <p:tgtEl>
                                          <p:spTgt spid="448"/>
                                        </p:tgtEl>
                                        <p:attrNameLst>
                                          <p:attrName>style.visibility</p:attrName>
                                        </p:attrNameLst>
                                      </p:cBhvr>
                                      <p:to>
                                        <p:strVal val="visible"/>
                                      </p:to>
                                    </p:set>
                                    <p:animEffect filter="dissolve" transition="in">
                                      <p:cBhvr additive="repl">
                                        <p:cTn id="632" dur="500"/>
                                        <p:tgtEl>
                                          <p:spTgt spid="448"/>
                                        </p:tgtEl>
                                      </p:cBhvr>
                                    </p:animEffect>
                                  </p:childTnLst>
                                </p:cTn>
                              </p:par>
                            </p:childTnLst>
                          </p:cTn>
                        </p:par>
                        <p:par>
                          <p:cTn id="633" nodeType="afterEffect" fill="hold">
                            <p:stCondLst>
                              <p:cond delay="4000"/>
                            </p:stCondLst>
                            <p:childTnLst>
                              <p:par>
                                <p:cTn id="634" nodeType="afterEffect" fill="hold" presetClass="entr" presetID="17" presetSubtype="8">
                                  <p:stCondLst>
                                    <p:cond delay="2000"/>
                                  </p:stCondLst>
                                  <p:childTnLst>
                                    <p:set>
                                      <p:cBhvr>
                                        <p:cTn id="635" dur="1" fill="hold">
                                          <p:stCondLst>
                                            <p:cond delay="0"/>
                                          </p:stCondLst>
                                        </p:cTn>
                                        <p:tgtEl>
                                          <p:spTgt spid="450"/>
                                        </p:tgtEl>
                                        <p:attrNameLst>
                                          <p:attrName>style.visibility</p:attrName>
                                        </p:attrNameLst>
                                      </p:cBhvr>
                                      <p:to>
                                        <p:strVal val="visible"/>
                                      </p:to>
                                    </p:set>
                                    <p:anim calcmode="lin" valueType="num">
                                      <p:cBhvr additive="repl">
                                        <p:cTn id="636" dur="500" fill="hold"/>
                                        <p:tgtEl>
                                          <p:spTgt spid="450"/>
                                        </p:tgtEl>
                                        <p:attrNameLst>
                                          <p:attrName>ppt_x</p:attrName>
                                        </p:attrNameLst>
                                      </p:cBhvr>
                                      <p:tavLst>
                                        <p:tav tm="0">
                                          <p:val>
                                            <p:strVal val="#ppt_x-#ppt_w/2"/>
                                          </p:val>
                                        </p:tav>
                                        <p:tav tm="100000">
                                          <p:val>
                                            <p:strVal val="#ppt_x"/>
                                          </p:val>
                                        </p:tav>
                                      </p:tavLst>
                                    </p:anim>
                                    <p:anim calcmode="lin" valueType="num">
                                      <p:cBhvr additive="repl">
                                        <p:cTn id="637" dur="500" fill="hold"/>
                                        <p:tgtEl>
                                          <p:spTgt spid="450"/>
                                        </p:tgtEl>
                                        <p:attrNameLst>
                                          <p:attrName>ppt_y</p:attrName>
                                        </p:attrNameLst>
                                      </p:cBhvr>
                                      <p:tavLst>
                                        <p:tav tm="0">
                                          <p:val>
                                            <p:strVal val="#ppt_y"/>
                                          </p:val>
                                        </p:tav>
                                        <p:tav tm="100000">
                                          <p:val>
                                            <p:strVal val="#ppt_y"/>
                                          </p:val>
                                        </p:tav>
                                      </p:tavLst>
                                    </p:anim>
                                    <p:anim calcmode="lin" valueType="num">
                                      <p:cBhvr additive="repl">
                                        <p:cTn id="638" dur="500" fill="hold"/>
                                        <p:tgtEl>
                                          <p:spTgt spid="450"/>
                                        </p:tgtEl>
                                        <p:attrNameLst>
                                          <p:attrName>ppt_w</p:attrName>
                                        </p:attrNameLst>
                                      </p:cBhvr>
                                      <p:tavLst>
                                        <p:tav tm="0">
                                          <p:val>
                                            <p:fltVal val="0"/>
                                          </p:val>
                                        </p:tav>
                                        <p:tav tm="100000">
                                          <p:val>
                                            <p:strVal val="#ppt_w"/>
                                          </p:val>
                                        </p:tav>
                                      </p:tavLst>
                                    </p:anim>
                                    <p:anim calcmode="lin" valueType="num">
                                      <p:cBhvr additive="repl">
                                        <p:cTn id="639" dur="500" fill="hold"/>
                                        <p:tgtEl>
                                          <p:spTgt spid="450"/>
                                        </p:tgtEl>
                                        <p:attrNameLst>
                                          <p:attrName>ppt_h</p:attrName>
                                        </p:attrNameLst>
                                      </p:cBhvr>
                                      <p:tavLst>
                                        <p:tav tm="0">
                                          <p:val>
                                            <p:strVal val="#ppt_h"/>
                                          </p:val>
                                        </p:tav>
                                        <p:tav tm="100000">
                                          <p:val>
                                            <p:strVal val="#ppt_h"/>
                                          </p:val>
                                        </p:tav>
                                      </p:tavLst>
                                    </p:anim>
                                  </p:childTnLst>
                                </p:cTn>
                              </p:par>
                            </p:childTnLst>
                          </p:cTn>
                        </p:par>
                        <p:par>
                          <p:cTn id="640" nodeType="afterEffect" fill="hold">
                            <p:stCondLst>
                              <p:cond delay="6500"/>
                            </p:stCondLst>
                            <p:childTnLst>
                              <p:par>
                                <p:cTn id="641" nodeType="afterEffect" fill="hold" presetClass="entr" presetID="9">
                                  <p:stCondLst>
                                    <p:cond delay="0"/>
                                  </p:stCondLst>
                                  <p:childTnLst>
                                    <p:set>
                                      <p:cBhvr>
                                        <p:cTn id="642" dur="1" fill="hold">
                                          <p:stCondLst>
                                            <p:cond delay="0"/>
                                          </p:stCondLst>
                                        </p:cTn>
                                        <p:tgtEl>
                                          <p:spTgt spid="449"/>
                                        </p:tgtEl>
                                        <p:attrNameLst>
                                          <p:attrName>style.visibility</p:attrName>
                                        </p:attrNameLst>
                                      </p:cBhvr>
                                      <p:to>
                                        <p:strVal val="visible"/>
                                      </p:to>
                                    </p:set>
                                    <p:animEffect filter="dissolve" transition="in">
                                      <p:cBhvr additive="repl">
                                        <p:cTn id="643" dur="500"/>
                                        <p:tgtEl>
                                          <p:spTgt spid="449"/>
                                        </p:tgtEl>
                                      </p:cBhvr>
                                    </p:animEffect>
                                  </p:childTnLst>
                                </p:cTn>
                              </p:par>
                            </p:childTnLst>
                          </p:cTn>
                        </p:par>
                        <p:par>
                          <p:cTn id="644" nodeType="afterEffect" fill="hold">
                            <p:stCondLst>
                              <p:cond delay="7000"/>
                            </p:stCondLst>
                            <p:childTnLst>
                              <p:par>
                                <p:cTn id="645" nodeType="afterEffect" fill="hold" presetClass="entr" presetID="17" presetSubtype="8">
                                  <p:stCondLst>
                                    <p:cond delay="2000"/>
                                  </p:stCondLst>
                                  <p:childTnLst>
                                    <p:set>
                                      <p:cBhvr>
                                        <p:cTn id="646" dur="1" fill="hold">
                                          <p:stCondLst>
                                            <p:cond delay="0"/>
                                          </p:stCondLst>
                                        </p:cTn>
                                        <p:tgtEl>
                                          <p:spTgt spid="451"/>
                                        </p:tgtEl>
                                        <p:attrNameLst>
                                          <p:attrName>style.visibility</p:attrName>
                                        </p:attrNameLst>
                                      </p:cBhvr>
                                      <p:to>
                                        <p:strVal val="visible"/>
                                      </p:to>
                                    </p:set>
                                    <p:anim calcmode="lin" valueType="num">
                                      <p:cBhvr additive="repl">
                                        <p:cTn id="647" dur="500" fill="hold"/>
                                        <p:tgtEl>
                                          <p:spTgt spid="451"/>
                                        </p:tgtEl>
                                        <p:attrNameLst>
                                          <p:attrName>ppt_x</p:attrName>
                                        </p:attrNameLst>
                                      </p:cBhvr>
                                      <p:tavLst>
                                        <p:tav tm="0">
                                          <p:val>
                                            <p:strVal val="#ppt_x-#ppt_w/2"/>
                                          </p:val>
                                        </p:tav>
                                        <p:tav tm="100000">
                                          <p:val>
                                            <p:strVal val="#ppt_x"/>
                                          </p:val>
                                        </p:tav>
                                      </p:tavLst>
                                    </p:anim>
                                    <p:anim calcmode="lin" valueType="num">
                                      <p:cBhvr additive="repl">
                                        <p:cTn id="648" dur="500" fill="hold"/>
                                        <p:tgtEl>
                                          <p:spTgt spid="451"/>
                                        </p:tgtEl>
                                        <p:attrNameLst>
                                          <p:attrName>ppt_y</p:attrName>
                                        </p:attrNameLst>
                                      </p:cBhvr>
                                      <p:tavLst>
                                        <p:tav tm="0">
                                          <p:val>
                                            <p:strVal val="#ppt_y"/>
                                          </p:val>
                                        </p:tav>
                                        <p:tav tm="100000">
                                          <p:val>
                                            <p:strVal val="#ppt_y"/>
                                          </p:val>
                                        </p:tav>
                                      </p:tavLst>
                                    </p:anim>
                                    <p:anim calcmode="lin" valueType="num">
                                      <p:cBhvr additive="repl">
                                        <p:cTn id="649" dur="500" fill="hold"/>
                                        <p:tgtEl>
                                          <p:spTgt spid="451"/>
                                        </p:tgtEl>
                                        <p:attrNameLst>
                                          <p:attrName>ppt_w</p:attrName>
                                        </p:attrNameLst>
                                      </p:cBhvr>
                                      <p:tavLst>
                                        <p:tav tm="0">
                                          <p:val>
                                            <p:fltVal val="0"/>
                                          </p:val>
                                        </p:tav>
                                        <p:tav tm="100000">
                                          <p:val>
                                            <p:strVal val="#ppt_w"/>
                                          </p:val>
                                        </p:tav>
                                      </p:tavLst>
                                    </p:anim>
                                    <p:anim calcmode="lin" valueType="num">
                                      <p:cBhvr additive="repl">
                                        <p:cTn id="650" dur="500" fill="hold"/>
                                        <p:tgtEl>
                                          <p:spTgt spid="451"/>
                                        </p:tgtEl>
                                        <p:attrNameLst>
                                          <p:attrName>ppt_h</p:attrName>
                                        </p:attrNameLst>
                                      </p:cBhvr>
                                      <p:tavLst>
                                        <p:tav tm="0">
                                          <p:val>
                                            <p:strVal val="#ppt_h"/>
                                          </p:val>
                                        </p:tav>
                                        <p:tav tm="100000">
                                          <p:val>
                                            <p:strVal val="#ppt_h"/>
                                          </p:val>
                                        </p:tav>
                                      </p:tavLst>
                                    </p:anim>
                                  </p:childTnLst>
                                </p:cTn>
                              </p:par>
                            </p:childTnLst>
                          </p:cTn>
                        </p:par>
                        <p:par>
                          <p:cTn id="651" nodeType="afterEffect" fill="hold">
                            <p:stCondLst>
                              <p:cond delay="9500"/>
                            </p:stCondLst>
                            <p:childTnLst>
                              <p:par>
                                <p:cTn id="652" nodeType="afterEffect" fill="hold" presetClass="entr" presetID="9">
                                  <p:stCondLst>
                                    <p:cond delay="0"/>
                                  </p:stCondLst>
                                  <p:childTnLst>
                                    <p:set>
                                      <p:cBhvr>
                                        <p:cTn id="653" dur="1" fill="hold">
                                          <p:stCondLst>
                                            <p:cond delay="0"/>
                                          </p:stCondLst>
                                        </p:cTn>
                                        <p:tgtEl>
                                          <p:spTgt spid="452"/>
                                        </p:tgtEl>
                                        <p:attrNameLst>
                                          <p:attrName>style.visibility</p:attrName>
                                        </p:attrNameLst>
                                      </p:cBhvr>
                                      <p:to>
                                        <p:strVal val="visible"/>
                                      </p:to>
                                    </p:set>
                                    <p:animEffect filter="dissolve" transition="in">
                                      <p:cBhvr additive="repl">
                                        <p:cTn id="654" dur="500"/>
                                        <p:tgtEl>
                                          <p:spTgt spid="452"/>
                                        </p:tgtEl>
                                      </p:cBhvr>
                                    </p:animEffect>
                                  </p:childTnLst>
                                </p:cTn>
                              </p:par>
                            </p:childTnLst>
                          </p:cTn>
                        </p:par>
                        <p:par>
                          <p:cTn id="655" nodeType="afterEffect" fill="hold">
                            <p:stCondLst>
                              <p:cond delay="10000"/>
                            </p:stCondLst>
                            <p:childTnLst>
                              <p:par>
                                <p:cTn id="656" nodeType="afterEffect" fill="hold" presetClass="entr" presetID="17" presetSubtype="1">
                                  <p:stCondLst>
                                    <p:cond delay="2000"/>
                                  </p:stCondLst>
                                  <p:childTnLst>
                                    <p:set>
                                      <p:cBhvr>
                                        <p:cTn id="657" dur="1" fill="hold">
                                          <p:stCondLst>
                                            <p:cond delay="0"/>
                                          </p:stCondLst>
                                        </p:cTn>
                                        <p:tgtEl>
                                          <p:spTgt spid="453"/>
                                        </p:tgtEl>
                                        <p:attrNameLst>
                                          <p:attrName>style.visibility</p:attrName>
                                        </p:attrNameLst>
                                      </p:cBhvr>
                                      <p:to>
                                        <p:strVal val="visible"/>
                                      </p:to>
                                    </p:set>
                                    <p:anim calcmode="lin" valueType="num">
                                      <p:cBhvr additive="repl">
                                        <p:cTn id="658" dur="500" fill="hold"/>
                                        <p:tgtEl>
                                          <p:spTgt spid="453"/>
                                        </p:tgtEl>
                                        <p:attrNameLst>
                                          <p:attrName>ppt_x</p:attrName>
                                        </p:attrNameLst>
                                      </p:cBhvr>
                                      <p:tavLst>
                                        <p:tav tm="0">
                                          <p:val>
                                            <p:strVal val="#ppt_x"/>
                                          </p:val>
                                        </p:tav>
                                        <p:tav tm="100000">
                                          <p:val>
                                            <p:strVal val="#ppt_x"/>
                                          </p:val>
                                        </p:tav>
                                      </p:tavLst>
                                    </p:anim>
                                    <p:anim calcmode="lin" valueType="num">
                                      <p:cBhvr additive="repl">
                                        <p:cTn id="659" dur="500" fill="hold"/>
                                        <p:tgtEl>
                                          <p:spTgt spid="453"/>
                                        </p:tgtEl>
                                        <p:attrNameLst>
                                          <p:attrName>ppt_y</p:attrName>
                                        </p:attrNameLst>
                                      </p:cBhvr>
                                      <p:tavLst>
                                        <p:tav tm="0">
                                          <p:val>
                                            <p:strVal val="#ppt_y-#ppt_h/2"/>
                                          </p:val>
                                        </p:tav>
                                        <p:tav tm="100000">
                                          <p:val>
                                            <p:strVal val="#ppt_y"/>
                                          </p:val>
                                        </p:tav>
                                      </p:tavLst>
                                    </p:anim>
                                    <p:anim calcmode="lin" valueType="num">
                                      <p:cBhvr additive="repl">
                                        <p:cTn id="660" dur="500" fill="hold"/>
                                        <p:tgtEl>
                                          <p:spTgt spid="453"/>
                                        </p:tgtEl>
                                        <p:attrNameLst>
                                          <p:attrName>ppt_w</p:attrName>
                                        </p:attrNameLst>
                                      </p:cBhvr>
                                      <p:tavLst>
                                        <p:tav tm="0">
                                          <p:val>
                                            <p:strVal val="#ppt_w"/>
                                          </p:val>
                                        </p:tav>
                                        <p:tav tm="100000">
                                          <p:val>
                                            <p:strVal val="#ppt_w"/>
                                          </p:val>
                                        </p:tav>
                                      </p:tavLst>
                                    </p:anim>
                                    <p:anim calcmode="lin" valueType="num">
                                      <p:cBhvr additive="repl">
                                        <p:cTn id="661" dur="500" fill="hold"/>
                                        <p:tgtEl>
                                          <p:spTgt spid="453"/>
                                        </p:tgtEl>
                                        <p:attrNameLst>
                                          <p:attrName>ppt_h</p:attrName>
                                        </p:attrNameLst>
                                      </p:cBhvr>
                                      <p:tavLst>
                                        <p:tav tm="0">
                                          <p:val>
                                            <p:fltVal val="0"/>
                                          </p:val>
                                        </p:tav>
                                        <p:tav tm="100000">
                                          <p:val>
                                            <p:strVal val="#ppt_h"/>
                                          </p:val>
                                        </p:tav>
                                      </p:tavLst>
                                    </p:anim>
                                  </p:childTnLst>
                                </p:cTn>
                              </p:par>
                            </p:childTnLst>
                          </p:cTn>
                        </p:par>
                        <p:par>
                          <p:cTn id="662" nodeType="afterEffect" fill="hold">
                            <p:stCondLst>
                              <p:cond delay="12500"/>
                            </p:stCondLst>
                            <p:childTnLst>
                              <p:par>
                                <p:cTn id="663" nodeType="afterEffect" fill="hold" presetClass="entr" presetID="9">
                                  <p:stCondLst>
                                    <p:cond delay="0"/>
                                  </p:stCondLst>
                                  <p:childTnLst>
                                    <p:set>
                                      <p:cBhvr>
                                        <p:cTn id="664" dur="1" fill="hold">
                                          <p:stCondLst>
                                            <p:cond delay="0"/>
                                          </p:stCondLst>
                                        </p:cTn>
                                        <p:tgtEl>
                                          <p:spTgt spid="454"/>
                                        </p:tgtEl>
                                        <p:attrNameLst>
                                          <p:attrName>style.visibility</p:attrName>
                                        </p:attrNameLst>
                                      </p:cBhvr>
                                      <p:to>
                                        <p:strVal val="visible"/>
                                      </p:to>
                                    </p:set>
                                    <p:animEffect filter="dissolve" transition="in">
                                      <p:cBhvr additive="repl">
                                        <p:cTn id="665" dur="500"/>
                                        <p:tgtEl>
                                          <p:spTgt spid="454"/>
                                        </p:tgtEl>
                                      </p:cBhvr>
                                    </p:animEffect>
                                  </p:childTnLst>
                                </p:cTn>
                              </p:par>
                            </p:childTnLst>
                          </p:cTn>
                        </p:par>
                        <p:par>
                          <p:cTn id="666" nodeType="afterEffect" fill="hold">
                            <p:stCondLst>
                              <p:cond delay="13000"/>
                            </p:stCondLst>
                            <p:childTnLst>
                              <p:par>
                                <p:cTn id="667" nodeType="afterEffect" fill="hold" presetClass="entr" presetID="17" presetSubtype="1">
                                  <p:stCondLst>
                                    <p:cond delay="2000"/>
                                  </p:stCondLst>
                                  <p:childTnLst>
                                    <p:set>
                                      <p:cBhvr>
                                        <p:cTn id="668" dur="1" fill="hold">
                                          <p:stCondLst>
                                            <p:cond delay="0"/>
                                          </p:stCondLst>
                                        </p:cTn>
                                        <p:tgtEl>
                                          <p:spTgt spid="455"/>
                                        </p:tgtEl>
                                        <p:attrNameLst>
                                          <p:attrName>style.visibility</p:attrName>
                                        </p:attrNameLst>
                                      </p:cBhvr>
                                      <p:to>
                                        <p:strVal val="visible"/>
                                      </p:to>
                                    </p:set>
                                    <p:anim calcmode="lin" valueType="num">
                                      <p:cBhvr additive="repl">
                                        <p:cTn id="669" dur="500" fill="hold"/>
                                        <p:tgtEl>
                                          <p:spTgt spid="455"/>
                                        </p:tgtEl>
                                        <p:attrNameLst>
                                          <p:attrName>ppt_x</p:attrName>
                                        </p:attrNameLst>
                                      </p:cBhvr>
                                      <p:tavLst>
                                        <p:tav tm="0">
                                          <p:val>
                                            <p:strVal val="#ppt_x"/>
                                          </p:val>
                                        </p:tav>
                                        <p:tav tm="100000">
                                          <p:val>
                                            <p:strVal val="#ppt_x"/>
                                          </p:val>
                                        </p:tav>
                                      </p:tavLst>
                                    </p:anim>
                                    <p:anim calcmode="lin" valueType="num">
                                      <p:cBhvr additive="repl">
                                        <p:cTn id="670" dur="500" fill="hold"/>
                                        <p:tgtEl>
                                          <p:spTgt spid="455"/>
                                        </p:tgtEl>
                                        <p:attrNameLst>
                                          <p:attrName>ppt_y</p:attrName>
                                        </p:attrNameLst>
                                      </p:cBhvr>
                                      <p:tavLst>
                                        <p:tav tm="0">
                                          <p:val>
                                            <p:strVal val="#ppt_y-#ppt_h/2"/>
                                          </p:val>
                                        </p:tav>
                                        <p:tav tm="100000">
                                          <p:val>
                                            <p:strVal val="#ppt_y"/>
                                          </p:val>
                                        </p:tav>
                                      </p:tavLst>
                                    </p:anim>
                                    <p:anim calcmode="lin" valueType="num">
                                      <p:cBhvr additive="repl">
                                        <p:cTn id="671" dur="500" fill="hold"/>
                                        <p:tgtEl>
                                          <p:spTgt spid="455"/>
                                        </p:tgtEl>
                                        <p:attrNameLst>
                                          <p:attrName>ppt_w</p:attrName>
                                        </p:attrNameLst>
                                      </p:cBhvr>
                                      <p:tavLst>
                                        <p:tav tm="0">
                                          <p:val>
                                            <p:strVal val="#ppt_w"/>
                                          </p:val>
                                        </p:tav>
                                        <p:tav tm="100000">
                                          <p:val>
                                            <p:strVal val="#ppt_w"/>
                                          </p:val>
                                        </p:tav>
                                      </p:tavLst>
                                    </p:anim>
                                    <p:anim calcmode="lin" valueType="num">
                                      <p:cBhvr additive="repl">
                                        <p:cTn id="672" dur="500" fill="hold"/>
                                        <p:tgtEl>
                                          <p:spTgt spid="455"/>
                                        </p:tgtEl>
                                        <p:attrNameLst>
                                          <p:attrName>ppt_h</p:attrName>
                                        </p:attrNameLst>
                                      </p:cBhvr>
                                      <p:tavLst>
                                        <p:tav tm="0">
                                          <p:val>
                                            <p:fltVal val="0"/>
                                          </p:val>
                                        </p:tav>
                                        <p:tav tm="100000">
                                          <p:val>
                                            <p:strVal val="#ppt_h"/>
                                          </p:val>
                                        </p:tav>
                                      </p:tavLst>
                                    </p:anim>
                                  </p:childTnLst>
                                </p:cTn>
                              </p:par>
                            </p:childTnLst>
                          </p:cTn>
                        </p:par>
                        <p:par>
                          <p:cTn id="673" nodeType="afterEffect" fill="hold">
                            <p:stCondLst>
                              <p:cond delay="15500"/>
                            </p:stCondLst>
                            <p:childTnLst>
                              <p:par>
                                <p:cTn id="674" nodeType="afterEffect" fill="hold" presetClass="entr" presetID="9">
                                  <p:stCondLst>
                                    <p:cond delay="0"/>
                                  </p:stCondLst>
                                  <p:childTnLst>
                                    <p:set>
                                      <p:cBhvr>
                                        <p:cTn id="675" dur="1" fill="hold">
                                          <p:stCondLst>
                                            <p:cond delay="0"/>
                                          </p:stCondLst>
                                        </p:cTn>
                                        <p:tgtEl>
                                          <p:spTgt spid="456"/>
                                        </p:tgtEl>
                                        <p:attrNameLst>
                                          <p:attrName>style.visibility</p:attrName>
                                        </p:attrNameLst>
                                      </p:cBhvr>
                                      <p:to>
                                        <p:strVal val="visible"/>
                                      </p:to>
                                    </p:set>
                                    <p:animEffect filter="dissolve" transition="in">
                                      <p:cBhvr additive="repl">
                                        <p:cTn id="676" dur="500"/>
                                        <p:tgtEl>
                                          <p:spTgt spid="456"/>
                                        </p:tgtEl>
                                      </p:cBhvr>
                                    </p:animEffect>
                                  </p:childTnLst>
                                </p:cTn>
                              </p:par>
                            </p:childTnLst>
                          </p:cTn>
                        </p:par>
                        <p:par>
                          <p:cTn id="677" nodeType="afterEffect" fill="hold">
                            <p:stCondLst>
                              <p:cond delay="16000"/>
                            </p:stCondLst>
                            <p:childTnLst>
                              <p:par>
                                <p:cTn id="678" nodeType="afterEffect" fill="hold" presetClass="entr" presetID="17" presetSubtype="1">
                                  <p:stCondLst>
                                    <p:cond delay="2000"/>
                                  </p:stCondLst>
                                  <p:childTnLst>
                                    <p:set>
                                      <p:cBhvr>
                                        <p:cTn id="679" dur="1" fill="hold">
                                          <p:stCondLst>
                                            <p:cond delay="0"/>
                                          </p:stCondLst>
                                        </p:cTn>
                                        <p:tgtEl>
                                          <p:spTgt spid="457"/>
                                        </p:tgtEl>
                                        <p:attrNameLst>
                                          <p:attrName>style.visibility</p:attrName>
                                        </p:attrNameLst>
                                      </p:cBhvr>
                                      <p:to>
                                        <p:strVal val="visible"/>
                                      </p:to>
                                    </p:set>
                                    <p:anim calcmode="lin" valueType="num">
                                      <p:cBhvr additive="repl">
                                        <p:cTn id="680" dur="500" fill="hold"/>
                                        <p:tgtEl>
                                          <p:spTgt spid="457"/>
                                        </p:tgtEl>
                                        <p:attrNameLst>
                                          <p:attrName>ppt_x</p:attrName>
                                        </p:attrNameLst>
                                      </p:cBhvr>
                                      <p:tavLst>
                                        <p:tav tm="0">
                                          <p:val>
                                            <p:strVal val="#ppt_x"/>
                                          </p:val>
                                        </p:tav>
                                        <p:tav tm="100000">
                                          <p:val>
                                            <p:strVal val="#ppt_x"/>
                                          </p:val>
                                        </p:tav>
                                      </p:tavLst>
                                    </p:anim>
                                    <p:anim calcmode="lin" valueType="num">
                                      <p:cBhvr additive="repl">
                                        <p:cTn id="681" dur="500" fill="hold"/>
                                        <p:tgtEl>
                                          <p:spTgt spid="457"/>
                                        </p:tgtEl>
                                        <p:attrNameLst>
                                          <p:attrName>ppt_y</p:attrName>
                                        </p:attrNameLst>
                                      </p:cBhvr>
                                      <p:tavLst>
                                        <p:tav tm="0">
                                          <p:val>
                                            <p:strVal val="#ppt_y-#ppt_h/2"/>
                                          </p:val>
                                        </p:tav>
                                        <p:tav tm="100000">
                                          <p:val>
                                            <p:strVal val="#ppt_y"/>
                                          </p:val>
                                        </p:tav>
                                      </p:tavLst>
                                    </p:anim>
                                    <p:anim calcmode="lin" valueType="num">
                                      <p:cBhvr additive="repl">
                                        <p:cTn id="682" dur="500" fill="hold"/>
                                        <p:tgtEl>
                                          <p:spTgt spid="457"/>
                                        </p:tgtEl>
                                        <p:attrNameLst>
                                          <p:attrName>ppt_w</p:attrName>
                                        </p:attrNameLst>
                                      </p:cBhvr>
                                      <p:tavLst>
                                        <p:tav tm="0">
                                          <p:val>
                                            <p:strVal val="#ppt_w"/>
                                          </p:val>
                                        </p:tav>
                                        <p:tav tm="100000">
                                          <p:val>
                                            <p:strVal val="#ppt_w"/>
                                          </p:val>
                                        </p:tav>
                                      </p:tavLst>
                                    </p:anim>
                                    <p:anim calcmode="lin" valueType="num">
                                      <p:cBhvr additive="repl">
                                        <p:cTn id="683" dur="500" fill="hold"/>
                                        <p:tgtEl>
                                          <p:spTgt spid="457"/>
                                        </p:tgtEl>
                                        <p:attrNameLst>
                                          <p:attrName>ppt_h</p:attrName>
                                        </p:attrNameLst>
                                      </p:cBhvr>
                                      <p:tavLst>
                                        <p:tav tm="0">
                                          <p:val>
                                            <p:fltVal val="0"/>
                                          </p:val>
                                        </p:tav>
                                        <p:tav tm="100000">
                                          <p:val>
                                            <p:strVal val="#ppt_h"/>
                                          </p:val>
                                        </p:tav>
                                      </p:tavLst>
                                    </p:anim>
                                  </p:childTnLst>
                                </p:cTn>
                              </p:par>
                            </p:childTnLst>
                          </p:cTn>
                        </p:par>
                        <p:par>
                          <p:cTn id="684" nodeType="afterEffect" fill="hold">
                            <p:stCondLst>
                              <p:cond delay="18500"/>
                            </p:stCondLst>
                            <p:childTnLst>
                              <p:par>
                                <p:cTn id="685" nodeType="afterEffect" fill="hold" presetClass="entr" presetID="9">
                                  <p:stCondLst>
                                    <p:cond delay="0"/>
                                  </p:stCondLst>
                                  <p:childTnLst>
                                    <p:set>
                                      <p:cBhvr>
                                        <p:cTn id="686" dur="1" fill="hold">
                                          <p:stCondLst>
                                            <p:cond delay="0"/>
                                          </p:stCondLst>
                                        </p:cTn>
                                        <p:tgtEl>
                                          <p:spTgt spid="458"/>
                                        </p:tgtEl>
                                        <p:attrNameLst>
                                          <p:attrName>style.visibility</p:attrName>
                                        </p:attrNameLst>
                                      </p:cBhvr>
                                      <p:to>
                                        <p:strVal val="visible"/>
                                      </p:to>
                                    </p:set>
                                    <p:animEffect filter="dissolve" transition="in">
                                      <p:cBhvr additive="repl">
                                        <p:cTn id="687" dur="500"/>
                                        <p:tgtEl>
                                          <p:spTgt spid="458"/>
                                        </p:tgtEl>
                                      </p:cBhvr>
                                    </p:animEffect>
                                  </p:childTnLst>
                                </p:cTn>
                              </p:par>
                            </p:childTnLst>
                          </p:cTn>
                        </p:par>
                      </p:childTnLst>
                    </p:cTn>
                  </p:par>
                  <p:par>
                    <p:cTn id="688" nodeType="clickEffect" fill="hold">
                      <p:stCondLst>
                        <p:cond delay="indefinite"/>
                      </p:stCondLst>
                      <p:childTnLst>
                        <p:par>
                          <p:cTn id="689" nodeType="withEffect" fill="hold">
                            <p:stCondLst>
                              <p:cond delay="0"/>
                            </p:stCondLst>
                            <p:childTnLst>
                              <p:par>
                                <p:cTn id="690" nodeType="clickEffect" fill="hold" presetClass="entr" presetID="17" presetSubtype="4">
                                  <p:stCondLst>
                                    <p:cond delay="0"/>
                                  </p:stCondLst>
                                  <p:childTnLst>
                                    <p:set>
                                      <p:cBhvr>
                                        <p:cTn id="691" dur="1" fill="hold">
                                          <p:stCondLst>
                                            <p:cond delay="0"/>
                                          </p:stCondLst>
                                        </p:cTn>
                                        <p:tgtEl>
                                          <p:spTgt spid="461"/>
                                        </p:tgtEl>
                                        <p:attrNameLst>
                                          <p:attrName>style.visibility</p:attrName>
                                        </p:attrNameLst>
                                      </p:cBhvr>
                                      <p:to>
                                        <p:strVal val="visible"/>
                                      </p:to>
                                    </p:set>
                                    <p:anim calcmode="lin" valueType="num">
                                      <p:cBhvr additive="repl">
                                        <p:cTn id="692" dur="500" fill="hold"/>
                                        <p:tgtEl>
                                          <p:spTgt spid="461"/>
                                        </p:tgtEl>
                                        <p:attrNameLst>
                                          <p:attrName>ppt_x</p:attrName>
                                        </p:attrNameLst>
                                      </p:cBhvr>
                                      <p:tavLst>
                                        <p:tav tm="0">
                                          <p:val>
                                            <p:strVal val="#ppt_x"/>
                                          </p:val>
                                        </p:tav>
                                        <p:tav tm="100000">
                                          <p:val>
                                            <p:strVal val="#ppt_x"/>
                                          </p:val>
                                        </p:tav>
                                      </p:tavLst>
                                    </p:anim>
                                    <p:anim calcmode="lin" valueType="num">
                                      <p:cBhvr additive="repl">
                                        <p:cTn id="693" dur="500" fill="hold"/>
                                        <p:tgtEl>
                                          <p:spTgt spid="461"/>
                                        </p:tgtEl>
                                        <p:attrNameLst>
                                          <p:attrName>ppt_y</p:attrName>
                                        </p:attrNameLst>
                                      </p:cBhvr>
                                      <p:tavLst>
                                        <p:tav tm="0">
                                          <p:val>
                                            <p:strVal val="#ppt_y+#ppt_h/2"/>
                                          </p:val>
                                        </p:tav>
                                        <p:tav tm="100000">
                                          <p:val>
                                            <p:strVal val="#ppt_y"/>
                                          </p:val>
                                        </p:tav>
                                      </p:tavLst>
                                    </p:anim>
                                    <p:anim calcmode="lin" valueType="num">
                                      <p:cBhvr additive="repl">
                                        <p:cTn id="694" dur="500" fill="hold"/>
                                        <p:tgtEl>
                                          <p:spTgt spid="461"/>
                                        </p:tgtEl>
                                        <p:attrNameLst>
                                          <p:attrName>ppt_w</p:attrName>
                                        </p:attrNameLst>
                                      </p:cBhvr>
                                      <p:tavLst>
                                        <p:tav tm="0">
                                          <p:val>
                                            <p:strVal val="#ppt_w"/>
                                          </p:val>
                                        </p:tav>
                                        <p:tav tm="100000">
                                          <p:val>
                                            <p:strVal val="#ppt_w"/>
                                          </p:val>
                                        </p:tav>
                                      </p:tavLst>
                                    </p:anim>
                                    <p:anim calcmode="lin" valueType="num">
                                      <p:cBhvr additive="repl">
                                        <p:cTn id="695" dur="500" fill="hold"/>
                                        <p:tgtEl>
                                          <p:spTgt spid="461"/>
                                        </p:tgtEl>
                                        <p:attrNameLst>
                                          <p:attrName>ppt_h</p:attrName>
                                        </p:attrNameLst>
                                      </p:cBhvr>
                                      <p:tavLst>
                                        <p:tav tm="0">
                                          <p:val>
                                            <p:fltVal val="0"/>
                                          </p:val>
                                        </p:tav>
                                        <p:tav tm="100000">
                                          <p:val>
                                            <p:strVal val="#ppt_h"/>
                                          </p:val>
                                        </p:tav>
                                      </p:tavLst>
                                    </p:anim>
                                  </p:childTnLst>
                                </p:cTn>
                              </p:par>
                            </p:childTnLst>
                          </p:cTn>
                        </p:par>
                        <p:par>
                          <p:cTn id="696" nodeType="afterEffect" fill="hold">
                            <p:stCondLst>
                              <p:cond delay="500"/>
                            </p:stCondLst>
                            <p:childTnLst>
                              <p:par>
                                <p:cTn id="697" nodeType="afterEffect" fill="hold" presetClass="entr" presetID="9">
                                  <p:stCondLst>
                                    <p:cond delay="0"/>
                                  </p:stCondLst>
                                  <p:childTnLst>
                                    <p:set>
                                      <p:cBhvr>
                                        <p:cTn id="698" dur="1" fill="hold">
                                          <p:stCondLst>
                                            <p:cond delay="0"/>
                                          </p:stCondLst>
                                        </p:cTn>
                                        <p:tgtEl>
                                          <p:spTgt spid="460"/>
                                        </p:tgtEl>
                                        <p:attrNameLst>
                                          <p:attrName>style.visibility</p:attrName>
                                        </p:attrNameLst>
                                      </p:cBhvr>
                                      <p:to>
                                        <p:strVal val="visible"/>
                                      </p:to>
                                    </p:set>
                                    <p:animEffect filter="dissolve" transition="in">
                                      <p:cBhvr additive="repl">
                                        <p:cTn id="699" dur="500"/>
                                        <p:tgtEl>
                                          <p:spTgt spid="460"/>
                                        </p:tgtEl>
                                      </p:cBhvr>
                                    </p:animEffect>
                                  </p:childTnLst>
                                </p:cTn>
                              </p:par>
                            </p:childTnLst>
                          </p:cTn>
                        </p:par>
                        <p:par>
                          <p:cTn id="700" nodeType="afterEffect" fill="hold">
                            <p:stCondLst>
                              <p:cond delay="1000"/>
                            </p:stCondLst>
                            <p:childTnLst>
                              <p:par>
                                <p:cTn id="701" nodeType="afterEffect" fill="hold" presetClass="entr" presetID="17" presetSubtype="10">
                                  <p:stCondLst>
                                    <p:cond delay="2000"/>
                                  </p:stCondLst>
                                  <p:childTnLst>
                                    <p:set>
                                      <p:cBhvr>
                                        <p:cTn id="702" dur="1" fill="hold">
                                          <p:stCondLst>
                                            <p:cond delay="0"/>
                                          </p:stCondLst>
                                        </p:cTn>
                                        <p:tgtEl>
                                          <p:spTgt spid="462"/>
                                        </p:tgtEl>
                                        <p:attrNameLst>
                                          <p:attrName>style.visibility</p:attrName>
                                        </p:attrNameLst>
                                      </p:cBhvr>
                                      <p:to>
                                        <p:strVal val="visible"/>
                                      </p:to>
                                    </p:set>
                                    <p:anim calcmode="lin" valueType="num">
                                      <p:cBhvr additive="repl">
                                        <p:cTn id="703" dur="500" fill="hold"/>
                                        <p:tgtEl>
                                          <p:spTgt spid="462"/>
                                        </p:tgtEl>
                                        <p:attrNameLst>
                                          <p:attrName>ppt_w</p:attrName>
                                        </p:attrNameLst>
                                      </p:cBhvr>
                                      <p:tavLst>
                                        <p:tav tm="0">
                                          <p:val>
                                            <p:fltVal val="0"/>
                                          </p:val>
                                        </p:tav>
                                        <p:tav tm="100000">
                                          <p:val>
                                            <p:strVal val="#ppt_w"/>
                                          </p:val>
                                        </p:tav>
                                      </p:tavLst>
                                    </p:anim>
                                    <p:anim calcmode="lin" valueType="num">
                                      <p:cBhvr additive="repl">
                                        <p:cTn id="704" dur="500" fill="hold"/>
                                        <p:tgtEl>
                                          <p:spTgt spid="462"/>
                                        </p:tgtEl>
                                        <p:attrNameLst>
                                          <p:attrName>ppt_h</p:attrName>
                                        </p:attrNameLst>
                                      </p:cBhvr>
                                      <p:tavLst>
                                        <p:tav tm="0">
                                          <p:val>
                                            <p:strVal val="#ppt_h"/>
                                          </p:val>
                                        </p:tav>
                                        <p:tav tm="100000">
                                          <p:val>
                                            <p:strVal val="#ppt_h"/>
                                          </p:val>
                                        </p:tav>
                                      </p:tavLst>
                                    </p:anim>
                                  </p:childTnLst>
                                </p:cTn>
                              </p:par>
                            </p:childTnLst>
                          </p:cTn>
                        </p:par>
                        <p:par>
                          <p:cTn id="705" nodeType="afterEffect" fill="hold">
                            <p:stCondLst>
                              <p:cond delay="3500"/>
                            </p:stCondLst>
                            <p:childTnLst>
                              <p:par>
                                <p:cTn id="706" nodeType="afterEffect" fill="hold" presetClass="entr" presetID="9">
                                  <p:stCondLst>
                                    <p:cond delay="0"/>
                                  </p:stCondLst>
                                  <p:childTnLst>
                                    <p:set>
                                      <p:cBhvr>
                                        <p:cTn id="707" dur="1" fill="hold">
                                          <p:stCondLst>
                                            <p:cond delay="0"/>
                                          </p:stCondLst>
                                        </p:cTn>
                                        <p:tgtEl>
                                          <p:spTgt spid="459"/>
                                        </p:tgtEl>
                                        <p:attrNameLst>
                                          <p:attrName>style.visibility</p:attrName>
                                        </p:attrNameLst>
                                      </p:cBhvr>
                                      <p:to>
                                        <p:strVal val="visible"/>
                                      </p:to>
                                    </p:set>
                                    <p:animEffect filter="dissolve" transition="in">
                                      <p:cBhvr additive="repl">
                                        <p:cTn id="708"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 Box 2"/>
          <p:cNvSpPr/>
          <p:nvPr/>
        </p:nvSpPr>
        <p:spPr>
          <a:xfrm>
            <a:off x="1231920" y="3025800"/>
            <a:ext cx="6749640" cy="1971360"/>
          </a:xfrm>
          <a:prstGeom prst="rect">
            <a:avLst/>
          </a:prstGeom>
          <a:noFill/>
          <a:ln w="0">
            <a:noFill/>
          </a:ln>
        </p:spPr>
        <p:style>
          <a:lnRef idx="0"/>
          <a:fillRef idx="0"/>
          <a:effectRef idx="0"/>
          <a:fontRef idx="minor"/>
        </p:style>
        <p:txBody>
          <a:bodyPr wrap="none" lIns="90000" rIns="90000" tIns="46800" bIns="46800" anchor="t">
            <a:spAutoFit/>
          </a:bodyPr>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UTILISATION ET RECONSTITUTION </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DES RESERVES EN PHOSPHAGENES (ATP-PCr) </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APRES UN EXERCICE COURT </a:t>
            </a:r>
            <a:r>
              <a:rPr b="1" lang="fr-FR" sz="2800" strike="noStrike" u="none">
                <a:solidFill>
                  <a:srgbClr val="ffffff"/>
                </a:solidFill>
                <a:effectLst/>
                <a:uFillTx/>
                <a:latin typeface="Arial"/>
              </a:rPr>
              <a:t>( &lt; 6-7s) </a:t>
            </a:r>
            <a:endParaRPr b="0" lang="en-US" sz="28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ET INTENSE (SUPRA MAXIMAL &gt; 140 % - 250 % PAM))</a:t>
            </a:r>
            <a:endParaRPr b="0" lang="en-US" sz="2000" strike="noStrike" u="none">
              <a:solidFill>
                <a:srgbClr val="ffff00"/>
              </a:solidFill>
              <a:effectLst/>
              <a:uFillTx/>
              <a:latin typeface="Times New Roman"/>
            </a:endParaRPr>
          </a:p>
        </p:txBody>
      </p:sp>
      <p:sp>
        <p:nvSpPr>
          <p:cNvPr id="468" name="Text Box 3"/>
          <p:cNvSpPr/>
          <p:nvPr/>
        </p:nvSpPr>
        <p:spPr>
          <a:xfrm>
            <a:off x="875520" y="1628640"/>
            <a:ext cx="75099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 EXERCICE COURT ET RECUPERATION</a:t>
            </a:r>
            <a:endParaRPr b="0" lang="en-US" sz="2800" strike="noStrike" u="none">
              <a:solidFill>
                <a:srgbClr val="ffff00"/>
              </a:solidFill>
              <a:effectLst/>
              <a:uFillTx/>
              <a:latin typeface="Times New Roman"/>
            </a:endParaRPr>
          </a:p>
        </p:txBody>
      </p:sp>
      <p:sp>
        <p:nvSpPr>
          <p:cNvPr id="469" name="Text Box 4"/>
          <p:cNvSpPr/>
          <p:nvPr/>
        </p:nvSpPr>
        <p:spPr>
          <a:xfrm rot="19464000">
            <a:off x="400680" y="405360"/>
            <a:ext cx="11361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RAPPEL</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709" dur="indefinite" restart="never" nodeType="tmRoot">
          <p:childTnLst>
            <p:seq>
              <p:cTn id="710" dur="indefinite" nodeType="mainSeq">
                <p:childTnLst>
                  <p:par>
                    <p:cTn id="711" nodeType="clickEffect" fill="hold">
                      <p:stCondLst>
                        <p:cond delay="0"/>
                      </p:stCondLst>
                      <p:childTnLst>
                        <p:par>
                          <p:cTn id="712" nodeType="withEffect" fill="hold">
                            <p:stCondLst>
                              <p:cond delay="0"/>
                            </p:stCondLst>
                            <p:childTnLst>
                              <p:par>
                                <p:cTn id="713" nodeType="afterEffect" fill="hold" presetClass="entr" presetID="9">
                                  <p:stCondLst>
                                    <p:cond delay="0"/>
                                  </p:stCondLst>
                                  <p:iterate type="wd">
                                    <p:tmAbs val="300"/>
                                  </p:iterate>
                                  <p:childTnLst>
                                    <p:set>
                                      <p:cBhvr>
                                        <p:cTn id="714" dur="1" fill="hold">
                                          <p:stCondLst>
                                            <p:cond delay="0"/>
                                          </p:stCondLst>
                                        </p:cTn>
                                        <p:tgtEl>
                                          <p:spTgt spid="468"/>
                                        </p:tgtEl>
                                        <p:attrNameLst>
                                          <p:attrName>style.visibility</p:attrName>
                                        </p:attrNameLst>
                                      </p:cBhvr>
                                      <p:to>
                                        <p:strVal val="visible"/>
                                      </p:to>
                                    </p:set>
                                    <p:animEffect filter="dissolve" transition="in">
                                      <p:cBhvr additive="repl">
                                        <p:cTn id="715" dur="300"/>
                                        <p:tgtEl>
                                          <p:spTgt spid="468"/>
                                        </p:tgtEl>
                                      </p:cBhvr>
                                    </p:animEffect>
                                  </p:childTnLst>
                                </p:cTn>
                              </p:par>
                            </p:childTnLst>
                          </p:cTn>
                        </p:par>
                        <p:par>
                          <p:cTn id="716" nodeType="afterEffect" fill="hold">
                            <p:stCondLst>
                              <p:cond delay="1500"/>
                            </p:stCondLst>
                            <p:childTnLst>
                              <p:par>
                                <p:cTn id="717" nodeType="afterEffect" fill="hold" presetClass="entr" presetID="9">
                                  <p:stCondLst>
                                    <p:cond delay="0"/>
                                  </p:stCondLst>
                                  <p:childTnLst>
                                    <p:set>
                                      <p:cBhvr>
                                        <p:cTn id="718" dur="1" fill="hold">
                                          <p:stCondLst>
                                            <p:cond delay="0"/>
                                          </p:stCondLst>
                                        </p:cTn>
                                        <p:tgtEl>
                                          <p:spTgt spid="467"/>
                                        </p:tgtEl>
                                        <p:attrNameLst>
                                          <p:attrName>style.visibility</p:attrName>
                                        </p:attrNameLst>
                                      </p:cBhvr>
                                      <p:to>
                                        <p:strVal val="visible"/>
                                      </p:to>
                                    </p:set>
                                    <p:animEffect filter="dissolve" transition="in">
                                      <p:cBhvr additive="repl">
                                        <p:cTn id="719"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Line 2"/>
          <p:cNvSpPr/>
          <p:nvPr/>
        </p:nvSpPr>
        <p:spPr>
          <a:xfrm>
            <a:off x="1371600" y="1295280"/>
            <a:ext cx="0" cy="4114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1" name="Text Box 3"/>
          <p:cNvSpPr/>
          <p:nvPr/>
        </p:nvSpPr>
        <p:spPr>
          <a:xfrm rot="16206000">
            <a:off x="-1414800" y="2935440"/>
            <a:ext cx="3533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Concentration musculaire (%)</a:t>
            </a:r>
            <a:endParaRPr b="0" lang="en-US" sz="2000" strike="noStrike" u="none">
              <a:solidFill>
                <a:srgbClr val="ffff00"/>
              </a:solidFill>
              <a:effectLst/>
              <a:uFillTx/>
              <a:latin typeface="Times New Roman"/>
            </a:endParaRPr>
          </a:p>
        </p:txBody>
      </p:sp>
      <p:sp>
        <p:nvSpPr>
          <p:cNvPr id="472" name="Text Box 4"/>
          <p:cNvSpPr/>
          <p:nvPr/>
        </p:nvSpPr>
        <p:spPr>
          <a:xfrm>
            <a:off x="230400" y="955800"/>
            <a:ext cx="1679400" cy="5031720"/>
          </a:xfrm>
          <a:prstGeom prst="rect">
            <a:avLst/>
          </a:prstGeom>
          <a:noFill/>
          <a:ln w="0">
            <a:noFill/>
          </a:ln>
        </p:spPr>
        <p:style>
          <a:lnRef idx="0"/>
          <a:fillRef idx="0"/>
          <a:effectRef idx="0"/>
          <a:fontRef idx="minor"/>
        </p:style>
        <p:txBody>
          <a:bodyPr wrap="none" lIns="90000" rIns="90000" tIns="46800" bIns="46800" anchor="t">
            <a:spAutoFit/>
          </a:bodyPr>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100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40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20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0     –</a:t>
            </a:r>
            <a:endParaRPr b="0" lang="en-US" sz="1800" strike="noStrike" u="none">
              <a:solidFill>
                <a:srgbClr val="ffff00"/>
              </a:solidFill>
              <a:effectLst/>
              <a:uFillTx/>
              <a:latin typeface="Times New Roman"/>
            </a:endParaRPr>
          </a:p>
          <a:p>
            <a:pPr marL="457200" indent="-457200">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473" name="Line 5"/>
          <p:cNvSpPr/>
          <p:nvPr/>
        </p:nvSpPr>
        <p:spPr>
          <a:xfrm>
            <a:off x="1371600" y="5562720"/>
            <a:ext cx="5867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4" name="Text Box 6"/>
          <p:cNvSpPr/>
          <p:nvPr/>
        </p:nvSpPr>
        <p:spPr>
          <a:xfrm>
            <a:off x="1828800" y="5486400"/>
            <a:ext cx="572148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Exercice</a:t>
            </a:r>
            <a:r>
              <a:rPr b="0" lang="fr-FR" sz="1800" strike="noStrike" u="none">
                <a:solidFill>
                  <a:srgbClr val="ffff00"/>
                </a:solidFill>
                <a:effectLst/>
                <a:uFillTx/>
                <a:latin typeface="Arial"/>
              </a:rPr>
              <a:t> I                I                I                I                I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a:t>
            </a:r>
            <a:r>
              <a:rPr b="1" lang="fr-FR" sz="1800" strike="noStrike" u="none">
                <a:solidFill>
                  <a:srgbClr val="ffff00"/>
                </a:solidFill>
                <a:effectLst/>
                <a:uFillTx/>
                <a:latin typeface="Arial"/>
              </a:rPr>
              <a:t>30s</a:t>
            </a:r>
            <a:r>
              <a:rPr b="0" lang="fr-FR" sz="1800" strike="noStrike" u="none">
                <a:solidFill>
                  <a:srgbClr val="ffff00"/>
                </a:solidFill>
                <a:effectLst/>
                <a:uFillTx/>
                <a:latin typeface="Arial"/>
              </a:rPr>
              <a:t>      0               2              4                6               8</a:t>
            </a:r>
            <a:endParaRPr b="0" lang="en-US" sz="1800" strike="noStrike" u="none">
              <a:solidFill>
                <a:srgbClr val="ffff00"/>
              </a:solidFill>
              <a:effectLst/>
              <a:uFillTx/>
              <a:latin typeface="Times New Roman"/>
            </a:endParaRPr>
          </a:p>
        </p:txBody>
      </p:sp>
      <p:sp>
        <p:nvSpPr>
          <p:cNvPr id="475" name="Line 7"/>
          <p:cNvSpPr/>
          <p:nvPr/>
        </p:nvSpPr>
        <p:spPr>
          <a:xfrm>
            <a:off x="7467480" y="1371600"/>
            <a:ext cx="0" cy="4038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6" name="Text Box 8"/>
          <p:cNvSpPr/>
          <p:nvPr/>
        </p:nvSpPr>
        <p:spPr>
          <a:xfrm>
            <a:off x="7393320" y="1219320"/>
            <a:ext cx="637560" cy="426060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7.1</a:t>
            </a: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7.0</a:t>
            </a: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6.9</a:t>
            </a: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6.8</a:t>
            </a: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6.7</a:t>
            </a: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5000"/>
              </a:lnSpc>
              <a:buClr>
                <a:srgbClr val="f8f8f8"/>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8f8f8"/>
                </a:solidFill>
                <a:effectLst/>
                <a:uFillTx/>
                <a:latin typeface="Arial"/>
              </a:rPr>
              <a:t> 6.6</a:t>
            </a:r>
            <a:endParaRPr b="0" lang="en-US" sz="1800" strike="noStrike" u="none">
              <a:solidFill>
                <a:srgbClr val="ffff00"/>
              </a:solidFill>
              <a:effectLst/>
              <a:uFillTx/>
              <a:latin typeface="Times New Roman"/>
            </a:endParaRPr>
          </a:p>
        </p:txBody>
      </p:sp>
      <p:sp>
        <p:nvSpPr>
          <p:cNvPr id="477" name="Text Box 9"/>
          <p:cNvSpPr/>
          <p:nvPr/>
        </p:nvSpPr>
        <p:spPr>
          <a:xfrm>
            <a:off x="6019920" y="147780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78" name="Text Box 10"/>
          <p:cNvSpPr/>
          <p:nvPr/>
        </p:nvSpPr>
        <p:spPr>
          <a:xfrm>
            <a:off x="4403880" y="190512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79" name="Text Box 11"/>
          <p:cNvSpPr/>
          <p:nvPr/>
        </p:nvSpPr>
        <p:spPr>
          <a:xfrm>
            <a:off x="3733920" y="243828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80" name="Text Box 12"/>
          <p:cNvSpPr/>
          <p:nvPr/>
        </p:nvSpPr>
        <p:spPr>
          <a:xfrm>
            <a:off x="2971800" y="358128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81" name="Text Box 13"/>
          <p:cNvSpPr/>
          <p:nvPr/>
        </p:nvSpPr>
        <p:spPr>
          <a:xfrm>
            <a:off x="2743200" y="441972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82" name="Text Box 14"/>
          <p:cNvSpPr/>
          <p:nvPr/>
        </p:nvSpPr>
        <p:spPr>
          <a:xfrm>
            <a:off x="1828800" y="1219320"/>
            <a:ext cx="4730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483" name="Line 15"/>
          <p:cNvSpPr/>
          <p:nvPr/>
        </p:nvSpPr>
        <p:spPr>
          <a:xfrm>
            <a:off x="1981080" y="1295280"/>
            <a:ext cx="914400" cy="320040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4" name="Line 16"/>
          <p:cNvSpPr/>
          <p:nvPr/>
        </p:nvSpPr>
        <p:spPr>
          <a:xfrm flipV="1">
            <a:off x="2895480" y="3657600"/>
            <a:ext cx="228600" cy="83808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5" name="Line 17"/>
          <p:cNvSpPr/>
          <p:nvPr/>
        </p:nvSpPr>
        <p:spPr>
          <a:xfrm flipV="1">
            <a:off x="3124080" y="2514240"/>
            <a:ext cx="762120" cy="114300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6" name="Line 18"/>
          <p:cNvSpPr/>
          <p:nvPr/>
        </p:nvSpPr>
        <p:spPr>
          <a:xfrm flipV="1">
            <a:off x="3886200" y="1981080"/>
            <a:ext cx="685800" cy="53352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7" name="Line 19"/>
          <p:cNvSpPr/>
          <p:nvPr/>
        </p:nvSpPr>
        <p:spPr>
          <a:xfrm flipV="1">
            <a:off x="4572000" y="1600200"/>
            <a:ext cx="1523880" cy="38088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8" name="Text Box 20"/>
          <p:cNvSpPr/>
          <p:nvPr/>
        </p:nvSpPr>
        <p:spPr>
          <a:xfrm>
            <a:off x="6313320" y="1154160"/>
            <a:ext cx="6192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PCr</a:t>
            </a:r>
            <a:endParaRPr b="0" lang="en-US" sz="2000" strike="noStrike" u="none">
              <a:solidFill>
                <a:srgbClr val="ffff00"/>
              </a:solidFill>
              <a:effectLst/>
              <a:uFillTx/>
              <a:latin typeface="Times New Roman"/>
            </a:endParaRPr>
          </a:p>
        </p:txBody>
      </p:sp>
      <p:sp>
        <p:nvSpPr>
          <p:cNvPr id="489" name="Line 21"/>
          <p:cNvSpPr/>
          <p:nvPr/>
        </p:nvSpPr>
        <p:spPr>
          <a:xfrm>
            <a:off x="1295280" y="1295280"/>
            <a:ext cx="6172200" cy="0"/>
          </a:xfrm>
          <a:prstGeom prst="line">
            <a:avLst/>
          </a:prstGeom>
          <a:ln cap="rnd" w="9360">
            <a:solidFill>
              <a:srgbClr val="ffff00"/>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0" name="Text Box 22"/>
          <p:cNvSpPr/>
          <p:nvPr/>
        </p:nvSpPr>
        <p:spPr>
          <a:xfrm>
            <a:off x="6153840" y="20574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Marlett"/>
                <a:ea typeface="Marlett"/>
              </a:rPr>
              <a:t></a:t>
            </a:r>
            <a:endParaRPr b="0" lang="en-US" sz="1400" strike="noStrike" u="none">
              <a:solidFill>
                <a:srgbClr val="ffff00"/>
              </a:solidFill>
              <a:effectLst/>
              <a:uFillTx/>
              <a:latin typeface="Times New Roman"/>
            </a:endParaRPr>
          </a:p>
        </p:txBody>
      </p:sp>
      <p:sp>
        <p:nvSpPr>
          <p:cNvPr id="491" name="Text Box 23"/>
          <p:cNvSpPr/>
          <p:nvPr/>
        </p:nvSpPr>
        <p:spPr>
          <a:xfrm>
            <a:off x="4477680" y="17524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Marlett"/>
                <a:ea typeface="Marlett"/>
              </a:rPr>
              <a:t></a:t>
            </a:r>
            <a:endParaRPr b="0" lang="en-US" sz="1400" strike="noStrike" u="none">
              <a:solidFill>
                <a:srgbClr val="ffff00"/>
              </a:solidFill>
              <a:effectLst/>
              <a:uFillTx/>
              <a:latin typeface="Times New Roman"/>
            </a:endParaRPr>
          </a:p>
        </p:txBody>
      </p:sp>
      <p:sp>
        <p:nvSpPr>
          <p:cNvPr id="492" name="Text Box 24"/>
          <p:cNvSpPr/>
          <p:nvPr/>
        </p:nvSpPr>
        <p:spPr>
          <a:xfrm>
            <a:off x="3715560" y="16002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Marlett"/>
                <a:ea typeface="Marlett"/>
              </a:rPr>
              <a:t></a:t>
            </a:r>
            <a:endParaRPr b="0" lang="en-US" sz="1400" strike="noStrike" u="none">
              <a:solidFill>
                <a:srgbClr val="ffff00"/>
              </a:solidFill>
              <a:effectLst/>
              <a:uFillTx/>
              <a:latin typeface="Times New Roman"/>
            </a:endParaRPr>
          </a:p>
        </p:txBody>
      </p:sp>
      <p:sp>
        <p:nvSpPr>
          <p:cNvPr id="493" name="Text Box 25"/>
          <p:cNvSpPr/>
          <p:nvPr/>
        </p:nvSpPr>
        <p:spPr>
          <a:xfrm>
            <a:off x="2877480" y="12193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Marlett"/>
                <a:ea typeface="Marlett"/>
              </a:rPr>
              <a:t></a:t>
            </a:r>
            <a:endParaRPr b="0" lang="en-US" sz="1400" strike="noStrike" u="none">
              <a:solidFill>
                <a:srgbClr val="ffff00"/>
              </a:solidFill>
              <a:effectLst/>
              <a:uFillTx/>
              <a:latin typeface="Times New Roman"/>
            </a:endParaRPr>
          </a:p>
        </p:txBody>
      </p:sp>
      <p:sp>
        <p:nvSpPr>
          <p:cNvPr id="494" name="Line 26"/>
          <p:cNvSpPr/>
          <p:nvPr/>
        </p:nvSpPr>
        <p:spPr>
          <a:xfrm>
            <a:off x="3048120" y="1295280"/>
            <a:ext cx="838080" cy="457200"/>
          </a:xfrm>
          <a:prstGeom prst="line">
            <a:avLst/>
          </a:prstGeom>
          <a:ln cap="rnd" w="28440">
            <a:solidFill>
              <a:srgbClr val="ffff00"/>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5" name="Line 27"/>
          <p:cNvSpPr/>
          <p:nvPr/>
        </p:nvSpPr>
        <p:spPr>
          <a:xfrm>
            <a:off x="3886200" y="1752480"/>
            <a:ext cx="762120" cy="152640"/>
          </a:xfrm>
          <a:prstGeom prst="line">
            <a:avLst/>
          </a:prstGeom>
          <a:ln cap="rnd" w="28440">
            <a:solidFill>
              <a:srgbClr val="ffff00"/>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6" name="Line 28"/>
          <p:cNvSpPr/>
          <p:nvPr/>
        </p:nvSpPr>
        <p:spPr>
          <a:xfrm>
            <a:off x="4648320" y="1905120"/>
            <a:ext cx="1600200" cy="228600"/>
          </a:xfrm>
          <a:prstGeom prst="line">
            <a:avLst/>
          </a:prstGeom>
          <a:ln w="28440">
            <a:solidFill>
              <a:srgbClr val="ffff00"/>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7" name="Text Box 29"/>
          <p:cNvSpPr/>
          <p:nvPr/>
        </p:nvSpPr>
        <p:spPr>
          <a:xfrm>
            <a:off x="6386400" y="1965240"/>
            <a:ext cx="463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La</a:t>
            </a:r>
            <a:endParaRPr b="0" lang="en-US" sz="2000" strike="noStrike" u="none">
              <a:solidFill>
                <a:srgbClr val="ffff00"/>
              </a:solidFill>
              <a:effectLst/>
              <a:uFillTx/>
              <a:latin typeface="Times New Roman"/>
            </a:endParaRPr>
          </a:p>
        </p:txBody>
      </p:sp>
      <p:sp>
        <p:nvSpPr>
          <p:cNvPr id="498" name="Text Box 30"/>
          <p:cNvSpPr/>
          <p:nvPr/>
        </p:nvSpPr>
        <p:spPr>
          <a:xfrm>
            <a:off x="3811680" y="4267080"/>
            <a:ext cx="3394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8f8f8"/>
                </a:solidFill>
                <a:effectLst/>
                <a:uFillTx/>
                <a:latin typeface="Wingdings 2"/>
                <a:ea typeface="Wingdings 2"/>
              </a:rPr>
              <a:t></a:t>
            </a:r>
            <a:endParaRPr b="0" lang="en-US" sz="1400" strike="noStrike" u="none">
              <a:solidFill>
                <a:srgbClr val="ffff00"/>
              </a:solidFill>
              <a:effectLst/>
              <a:uFillTx/>
              <a:latin typeface="Times New Roman"/>
            </a:endParaRPr>
          </a:p>
        </p:txBody>
      </p:sp>
      <p:sp>
        <p:nvSpPr>
          <p:cNvPr id="499" name="Text Box 31"/>
          <p:cNvSpPr/>
          <p:nvPr/>
        </p:nvSpPr>
        <p:spPr>
          <a:xfrm>
            <a:off x="2745000" y="3581280"/>
            <a:ext cx="3394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8f8f8"/>
                </a:solidFill>
                <a:effectLst/>
                <a:uFillTx/>
                <a:latin typeface="Wingdings 2"/>
                <a:ea typeface="Wingdings 2"/>
              </a:rPr>
              <a:t></a:t>
            </a:r>
            <a:endParaRPr b="0" lang="en-US" sz="1400" strike="noStrike" u="none">
              <a:solidFill>
                <a:srgbClr val="ffff00"/>
              </a:solidFill>
              <a:effectLst/>
              <a:uFillTx/>
              <a:latin typeface="Times New Roman"/>
            </a:endParaRPr>
          </a:p>
        </p:txBody>
      </p:sp>
      <p:sp>
        <p:nvSpPr>
          <p:cNvPr id="500" name="Text Box 32"/>
          <p:cNvSpPr/>
          <p:nvPr/>
        </p:nvSpPr>
        <p:spPr>
          <a:xfrm>
            <a:off x="4878360" y="4038480"/>
            <a:ext cx="3394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8f8f8"/>
                </a:solidFill>
                <a:effectLst/>
                <a:uFillTx/>
                <a:latin typeface="Wingdings 2"/>
                <a:ea typeface="Wingdings 2"/>
              </a:rPr>
              <a:t></a:t>
            </a:r>
            <a:endParaRPr b="0" lang="en-US" sz="1400" strike="noStrike" u="none">
              <a:solidFill>
                <a:srgbClr val="ffff00"/>
              </a:solidFill>
              <a:effectLst/>
              <a:uFillTx/>
              <a:latin typeface="Times New Roman"/>
            </a:endParaRPr>
          </a:p>
        </p:txBody>
      </p:sp>
      <p:sp>
        <p:nvSpPr>
          <p:cNvPr id="501" name="Text Box 33"/>
          <p:cNvSpPr/>
          <p:nvPr/>
        </p:nvSpPr>
        <p:spPr>
          <a:xfrm>
            <a:off x="6174000" y="3429000"/>
            <a:ext cx="3394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8f8f8"/>
                </a:solidFill>
                <a:effectLst/>
                <a:uFillTx/>
                <a:latin typeface="Wingdings 2"/>
                <a:ea typeface="Wingdings 2"/>
              </a:rPr>
              <a:t></a:t>
            </a:r>
            <a:endParaRPr b="0" lang="en-US" sz="1400" strike="noStrike" u="none">
              <a:solidFill>
                <a:srgbClr val="ffff00"/>
              </a:solidFill>
              <a:effectLst/>
              <a:uFillTx/>
              <a:latin typeface="Times New Roman"/>
            </a:endParaRPr>
          </a:p>
        </p:txBody>
      </p:sp>
      <p:sp>
        <p:nvSpPr>
          <p:cNvPr id="502" name="Text Box 34"/>
          <p:cNvSpPr/>
          <p:nvPr/>
        </p:nvSpPr>
        <p:spPr>
          <a:xfrm>
            <a:off x="1906560" y="1295280"/>
            <a:ext cx="3394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8f8f8"/>
                </a:solidFill>
                <a:effectLst/>
                <a:uFillTx/>
                <a:latin typeface="Wingdings 2"/>
                <a:ea typeface="Wingdings 2"/>
              </a:rPr>
              <a:t></a:t>
            </a:r>
            <a:endParaRPr b="0" lang="en-US" sz="1400" strike="noStrike" u="none">
              <a:solidFill>
                <a:srgbClr val="ffff00"/>
              </a:solidFill>
              <a:effectLst/>
              <a:uFillTx/>
              <a:latin typeface="Times New Roman"/>
            </a:endParaRPr>
          </a:p>
        </p:txBody>
      </p:sp>
      <p:sp>
        <p:nvSpPr>
          <p:cNvPr id="503" name="Line 35"/>
          <p:cNvSpPr/>
          <p:nvPr/>
        </p:nvSpPr>
        <p:spPr>
          <a:xfrm>
            <a:off x="2057400" y="1447920"/>
            <a:ext cx="914400" cy="2286000"/>
          </a:xfrm>
          <a:prstGeom prst="line">
            <a:avLst/>
          </a:prstGeom>
          <a:ln w="936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4" name="Line 36"/>
          <p:cNvSpPr/>
          <p:nvPr/>
        </p:nvSpPr>
        <p:spPr>
          <a:xfrm>
            <a:off x="2971800" y="3733920"/>
            <a:ext cx="990720" cy="685800"/>
          </a:xfrm>
          <a:prstGeom prst="line">
            <a:avLst/>
          </a:prstGeom>
          <a:ln w="936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5" name="Line 37"/>
          <p:cNvSpPr/>
          <p:nvPr/>
        </p:nvSpPr>
        <p:spPr>
          <a:xfrm flipV="1">
            <a:off x="3962520" y="4190760"/>
            <a:ext cx="1066680" cy="228600"/>
          </a:xfrm>
          <a:prstGeom prst="line">
            <a:avLst/>
          </a:prstGeom>
          <a:ln w="936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6" name="Line 38"/>
          <p:cNvSpPr/>
          <p:nvPr/>
        </p:nvSpPr>
        <p:spPr>
          <a:xfrm flipV="1">
            <a:off x="5029200" y="3581280"/>
            <a:ext cx="1295280" cy="60984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7" name="Text Box 39"/>
          <p:cNvSpPr/>
          <p:nvPr/>
        </p:nvSpPr>
        <p:spPr>
          <a:xfrm>
            <a:off x="6539040" y="3363840"/>
            <a:ext cx="5061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8f8f8"/>
                </a:solidFill>
                <a:effectLst/>
                <a:uFillTx/>
                <a:latin typeface="Arial"/>
              </a:rPr>
              <a:t>pH</a:t>
            </a:r>
            <a:endParaRPr b="0" lang="en-US" sz="2000" strike="noStrike" u="none">
              <a:solidFill>
                <a:srgbClr val="ffff00"/>
              </a:solidFill>
              <a:effectLst/>
              <a:uFillTx/>
              <a:latin typeface="Times New Roman"/>
            </a:endParaRPr>
          </a:p>
        </p:txBody>
      </p:sp>
      <p:sp>
        <p:nvSpPr>
          <p:cNvPr id="508" name="Text Box 40"/>
          <p:cNvSpPr/>
          <p:nvPr/>
        </p:nvSpPr>
        <p:spPr>
          <a:xfrm>
            <a:off x="2518560" y="6170760"/>
            <a:ext cx="41450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Duré de la récupération (min)</a:t>
            </a:r>
            <a:endParaRPr b="0" lang="en-US" sz="2400" strike="noStrike" u="none">
              <a:solidFill>
                <a:srgbClr val="ffff00"/>
              </a:solidFill>
              <a:effectLst/>
              <a:uFillTx/>
              <a:latin typeface="Times New Roman"/>
            </a:endParaRPr>
          </a:p>
        </p:txBody>
      </p:sp>
      <p:sp>
        <p:nvSpPr>
          <p:cNvPr id="509" name="Text Box 41"/>
          <p:cNvSpPr/>
          <p:nvPr/>
        </p:nvSpPr>
        <p:spPr>
          <a:xfrm rot="16222800">
            <a:off x="7525080" y="3142440"/>
            <a:ext cx="18072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8f8f8"/>
                </a:solidFill>
                <a:effectLst/>
                <a:uFillTx/>
                <a:latin typeface="Arial"/>
              </a:rPr>
              <a:t>pH musculaire</a:t>
            </a:r>
            <a:endParaRPr b="0" lang="en-US" sz="2000" strike="noStrike" u="none">
              <a:solidFill>
                <a:srgbClr val="ffff00"/>
              </a:solidFill>
              <a:effectLst/>
              <a:uFillTx/>
              <a:latin typeface="Times New Roman"/>
            </a:endParaRPr>
          </a:p>
        </p:txBody>
      </p:sp>
      <p:sp>
        <p:nvSpPr>
          <p:cNvPr id="510" name="Text Box 42"/>
          <p:cNvSpPr/>
          <p:nvPr/>
        </p:nvSpPr>
        <p:spPr>
          <a:xfrm>
            <a:off x="1058760" y="274680"/>
            <a:ext cx="64198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D’après Bogdanis et al. (1995); J Physiol; 482: 467 - 80</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Text Box 2"/>
          <p:cNvSpPr/>
          <p:nvPr/>
        </p:nvSpPr>
        <p:spPr>
          <a:xfrm>
            <a:off x="391320" y="1171440"/>
            <a:ext cx="83610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CINETIQUE DE LA RESYNTHESE DES PHOSPHAGENES</a:t>
            </a:r>
            <a:endParaRPr b="0" lang="en-US" sz="2400" strike="noStrike" u="none">
              <a:solidFill>
                <a:srgbClr val="ffff00"/>
              </a:solidFill>
              <a:effectLst/>
              <a:uFillTx/>
              <a:latin typeface="Times New Roman"/>
            </a:endParaRPr>
          </a:p>
        </p:txBody>
      </p:sp>
      <p:sp>
        <p:nvSpPr>
          <p:cNvPr id="512" name="Text Box 3"/>
          <p:cNvSpPr/>
          <p:nvPr/>
        </p:nvSpPr>
        <p:spPr>
          <a:xfrm>
            <a:off x="152280" y="2209680"/>
            <a:ext cx="8991720" cy="2838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 PCr utilisée au cours de l ’exercice est reconstituée comme suit: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70 % en </a:t>
            </a:r>
            <a:r>
              <a:rPr b="1" lang="fr-FR" sz="2000" strike="noStrike" u="sng">
                <a:solidFill>
                  <a:srgbClr val="ffff00"/>
                </a:solidFill>
                <a:effectLst/>
                <a:uFillTx/>
                <a:latin typeface="Arial"/>
              </a:rPr>
              <a:t>30 s</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84 % en </a:t>
            </a:r>
            <a:r>
              <a:rPr b="1" lang="fr-FR" sz="2000" strike="noStrike" u="sng">
                <a:solidFill>
                  <a:srgbClr val="ffff00"/>
                </a:solidFill>
                <a:effectLst/>
                <a:uFillTx/>
                <a:latin typeface="Arial"/>
              </a:rPr>
              <a:t>2 min</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89 % en </a:t>
            </a:r>
            <a:r>
              <a:rPr b="1" lang="fr-FR" sz="2000" strike="noStrike" u="sng">
                <a:solidFill>
                  <a:srgbClr val="ffff00"/>
                </a:solidFill>
                <a:effectLst/>
                <a:uFillTx/>
                <a:latin typeface="Arial"/>
              </a:rPr>
              <a:t>4 min</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97 % à 100 % </a:t>
            </a:r>
            <a:r>
              <a:rPr b="1" lang="fr-FR" sz="2000" strike="noStrike" u="sng">
                <a:solidFill>
                  <a:srgbClr val="ffff00"/>
                </a:solidFill>
                <a:effectLst/>
                <a:uFillTx/>
                <a:latin typeface="Arial"/>
              </a:rPr>
              <a:t>en 6 à 8 min</a:t>
            </a:r>
            <a:endParaRPr b="0" lang="en-US" sz="2000" strike="noStrike" u="none">
              <a:solidFill>
                <a:srgbClr val="ffff00"/>
              </a:solidFill>
              <a:effectLst/>
              <a:uFillTx/>
              <a:latin typeface="Times New Roman"/>
            </a:endParaRPr>
          </a:p>
        </p:txBody>
      </p:sp>
      <p:sp>
        <p:nvSpPr>
          <p:cNvPr id="513" name="Text Box 4"/>
          <p:cNvSpPr/>
          <p:nvPr/>
        </p:nvSpPr>
        <p:spPr>
          <a:xfrm rot="19464000">
            <a:off x="400680" y="405360"/>
            <a:ext cx="11361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RAPPEL</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720" dur="indefinite" restart="never" nodeType="tmRoot">
          <p:childTnLst>
            <p:seq>
              <p:cTn id="721" dur="indefinite" nodeType="mainSeq">
                <p:childTnLst>
                  <p:par>
                    <p:cTn id="722" nodeType="clickEffect" fill="hold">
                      <p:stCondLst>
                        <p:cond delay="0"/>
                      </p:stCondLst>
                      <p:childTnLst>
                        <p:par>
                          <p:cTn id="723" nodeType="withEffect" fill="hold">
                            <p:stCondLst>
                              <p:cond delay="0"/>
                            </p:stCondLst>
                            <p:childTnLst>
                              <p:par>
                                <p:cTn id="724" nodeType="afterEffect" fill="hold" presetClass="entr" presetID="9">
                                  <p:stCondLst>
                                    <p:cond delay="0"/>
                                  </p:stCondLst>
                                  <p:iterate type="wd">
                                    <p:tmAbs val="300"/>
                                  </p:iterate>
                                  <p:childTnLst>
                                    <p:set>
                                      <p:cBhvr>
                                        <p:cTn id="725" dur="1" fill="hold">
                                          <p:stCondLst>
                                            <p:cond delay="0"/>
                                          </p:stCondLst>
                                        </p:cTn>
                                        <p:tgtEl>
                                          <p:spTgt spid="511"/>
                                        </p:tgtEl>
                                        <p:attrNameLst>
                                          <p:attrName>style.visibility</p:attrName>
                                        </p:attrNameLst>
                                      </p:cBhvr>
                                      <p:to>
                                        <p:strVal val="visible"/>
                                      </p:to>
                                    </p:set>
                                    <p:animEffect filter="dissolve" transition="in">
                                      <p:cBhvr additive="repl">
                                        <p:cTn id="726" dur="3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Text Box 2"/>
          <p:cNvSpPr/>
          <p:nvPr/>
        </p:nvSpPr>
        <p:spPr>
          <a:xfrm>
            <a:off x="383040" y="1220760"/>
            <a:ext cx="8416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CINETIQUE DU METABOLISME DU LACTATE POST EXERCICE</a:t>
            </a:r>
            <a:endParaRPr b="0" lang="en-US" sz="2000" strike="noStrike" u="none">
              <a:solidFill>
                <a:srgbClr val="ffff00"/>
              </a:solidFill>
              <a:effectLst/>
              <a:uFillTx/>
              <a:latin typeface="Times New Roman"/>
            </a:endParaRPr>
          </a:p>
        </p:txBody>
      </p:sp>
      <p:sp>
        <p:nvSpPr>
          <p:cNvPr id="515" name="Text Box 3"/>
          <p:cNvSpPr/>
          <p:nvPr/>
        </p:nvSpPr>
        <p:spPr>
          <a:xfrm>
            <a:off x="38880" y="2130480"/>
            <a:ext cx="92314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Métabolisme du lactate après un </a:t>
            </a:r>
            <a:r>
              <a:rPr b="1" i="1" lang="fr-FR" sz="2400" strike="noStrike" u="none">
                <a:solidFill>
                  <a:srgbClr val="ffffff"/>
                </a:solidFill>
                <a:effectLst/>
                <a:uFillTx/>
                <a:latin typeface="Arial"/>
              </a:rPr>
              <a:t>exercice épuisant de deux minutes</a:t>
            </a:r>
            <a:endParaRPr b="0" lang="en-US" sz="2400" strike="noStrike" u="none">
              <a:solidFill>
                <a:srgbClr val="ffff00"/>
              </a:solidFill>
              <a:effectLst/>
              <a:uFillTx/>
              <a:latin typeface="Times New Roman"/>
            </a:endParaRPr>
          </a:p>
        </p:txBody>
      </p:sp>
      <p:sp>
        <p:nvSpPr>
          <p:cNvPr id="516" name="Text Box 4"/>
          <p:cNvSpPr/>
          <p:nvPr/>
        </p:nvSpPr>
        <p:spPr>
          <a:xfrm>
            <a:off x="838080" y="2895480"/>
            <a:ext cx="4819680" cy="1739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 RECUPERATION PASSIVE: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50 % en environ 25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75 % en environ 50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88 % en environ 1h 15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100 % en environ 1h 30 min</a:t>
            </a:r>
            <a:endParaRPr b="0" lang="en-US" sz="1800" strike="noStrike" u="none">
              <a:solidFill>
                <a:srgbClr val="ffff00"/>
              </a:solidFill>
              <a:effectLst/>
              <a:uFillTx/>
              <a:latin typeface="Times New Roman"/>
            </a:endParaRPr>
          </a:p>
        </p:txBody>
      </p:sp>
      <p:sp>
        <p:nvSpPr>
          <p:cNvPr id="517" name="Text Box 5"/>
          <p:cNvSpPr/>
          <p:nvPr/>
        </p:nvSpPr>
        <p:spPr>
          <a:xfrm>
            <a:off x="977400" y="4761000"/>
            <a:ext cx="6023880" cy="14655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 RECUPERATION ACTIVE (entre 40 et 60 % de VAM)</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00"/>
                </a:solidFill>
                <a:effectLst/>
                <a:uFillTx/>
                <a:latin typeface="Arial"/>
              </a:rPr>
              <a:t>           50 % en environ 6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00"/>
                </a:solidFill>
                <a:effectLst/>
                <a:uFillTx/>
                <a:latin typeface="Arial"/>
              </a:rPr>
              <a:t>           75 % en environ 12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00"/>
                </a:solidFill>
                <a:effectLst/>
                <a:uFillTx/>
                <a:latin typeface="Arial"/>
              </a:rPr>
              <a:t>          100 % en environ 20 min</a:t>
            </a:r>
            <a:endParaRPr b="0" lang="en-US" sz="1800" strike="noStrike" u="none">
              <a:solidFill>
                <a:srgbClr val="ffff00"/>
              </a:solidFill>
              <a:effectLst/>
              <a:uFillTx/>
              <a:latin typeface="Times New Roman"/>
            </a:endParaRPr>
          </a:p>
        </p:txBody>
      </p:sp>
      <p:sp>
        <p:nvSpPr>
          <p:cNvPr id="518" name="ZoneTexte 1"/>
          <p:cNvSpPr/>
          <p:nvPr/>
        </p:nvSpPr>
        <p:spPr>
          <a:xfrm>
            <a:off x="535320" y="336600"/>
            <a:ext cx="77958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2- EXERCICES LACTIQUES ET RECUPERATION</a:t>
            </a:r>
            <a:endParaRPr b="0" lang="en-US" sz="2400" strike="noStrike" u="none">
              <a:solidFill>
                <a:srgbClr val="ffff00"/>
              </a:solidFill>
              <a:effectLst/>
              <a:uFillTx/>
              <a:latin typeface="Times New Roman"/>
            </a:endParaRPr>
          </a:p>
        </p:txBody>
      </p:sp>
      <p:sp>
        <p:nvSpPr>
          <p:cNvPr id="519" name="Text Box 4"/>
          <p:cNvSpPr/>
          <p:nvPr/>
        </p:nvSpPr>
        <p:spPr>
          <a:xfrm rot="19464000">
            <a:off x="400680" y="405360"/>
            <a:ext cx="11361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RAPPEL</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727" dur="indefinite" restart="never" nodeType="tmRoot">
          <p:childTnLst>
            <p:seq>
              <p:cTn id="728" dur="indefinite" nodeType="mainSeq">
                <p:childTnLst>
                  <p:par>
                    <p:cTn id="729" nodeType="clickEffect" fill="hold">
                      <p:stCondLst>
                        <p:cond delay="0"/>
                      </p:stCondLst>
                      <p:childTnLst>
                        <p:par>
                          <p:cTn id="730" nodeType="withEffect" fill="hold">
                            <p:stCondLst>
                              <p:cond delay="0"/>
                            </p:stCondLst>
                            <p:childTnLst>
                              <p:par>
                                <p:cTn id="731" nodeType="afterEffect" fill="hold" presetClass="entr" presetID="9">
                                  <p:stCondLst>
                                    <p:cond delay="0"/>
                                  </p:stCondLst>
                                  <p:childTnLst>
                                    <p:set>
                                      <p:cBhvr>
                                        <p:cTn id="732" dur="1" fill="hold">
                                          <p:stCondLst>
                                            <p:cond delay="0"/>
                                          </p:stCondLst>
                                        </p:cTn>
                                        <p:tgtEl>
                                          <p:spTgt spid="514"/>
                                        </p:tgtEl>
                                        <p:attrNameLst>
                                          <p:attrName>style.visibility</p:attrName>
                                        </p:attrNameLst>
                                      </p:cBhvr>
                                      <p:to>
                                        <p:strVal val="visible"/>
                                      </p:to>
                                    </p:set>
                                    <p:animEffect filter="dissolve" transition="in">
                                      <p:cBhvr additive="repl">
                                        <p:cTn id="733" dur="500"/>
                                        <p:tgtEl>
                                          <p:spTgt spid="514"/>
                                        </p:tgtEl>
                                      </p:cBhvr>
                                    </p:animEffect>
                                  </p:childTnLst>
                                </p:cTn>
                              </p:par>
                            </p:childTnLst>
                          </p:cTn>
                        </p:par>
                        <p:par>
                          <p:cTn id="734" nodeType="afterEffect" fill="hold">
                            <p:stCondLst>
                              <p:cond delay="500"/>
                            </p:stCondLst>
                            <p:childTnLst>
                              <p:par>
                                <p:cTn id="735" nodeType="afterEffect" fill="hold" presetClass="entr" presetID="9">
                                  <p:stCondLst>
                                    <p:cond delay="0"/>
                                  </p:stCondLst>
                                  <p:iterate type="wd">
                                    <p:tmAbs val="300"/>
                                  </p:iterate>
                                  <p:childTnLst>
                                    <p:set>
                                      <p:cBhvr>
                                        <p:cTn id="736" dur="1" fill="hold">
                                          <p:stCondLst>
                                            <p:cond delay="0"/>
                                          </p:stCondLst>
                                        </p:cTn>
                                        <p:tgtEl>
                                          <p:spTgt spid="515"/>
                                        </p:tgtEl>
                                        <p:attrNameLst>
                                          <p:attrName>style.visibility</p:attrName>
                                        </p:attrNameLst>
                                      </p:cBhvr>
                                      <p:to>
                                        <p:strVal val="visible"/>
                                      </p:to>
                                    </p:set>
                                    <p:animEffect filter="dissolve" transition="in">
                                      <p:cBhvr additive="repl">
                                        <p:cTn id="737" dur="300"/>
                                        <p:tgtEl>
                                          <p:spTgt spid="515"/>
                                        </p:tgtEl>
                                      </p:cBhvr>
                                    </p:animEffect>
                                  </p:childTnLst>
                                </p:cTn>
                              </p:par>
                            </p:childTnLst>
                          </p:cTn>
                        </p:par>
                        <p:par>
                          <p:cTn id="738" nodeType="afterEffect" fill="hold">
                            <p:stCondLst>
                              <p:cond delay="3500"/>
                            </p:stCondLst>
                            <p:childTnLst>
                              <p:par>
                                <p:cTn id="739" nodeType="afterEffect" fill="hold" presetClass="entr" presetID="9">
                                  <p:stCondLst>
                                    <p:cond delay="0"/>
                                  </p:stCondLst>
                                  <p:iterate type="wd">
                                    <p:tmAbs val="300"/>
                                  </p:iterate>
                                  <p:childTnLst>
                                    <p:set>
                                      <p:cBhvr>
                                        <p:cTn id="740" dur="1" fill="hold">
                                          <p:stCondLst>
                                            <p:cond delay="0"/>
                                          </p:stCondLst>
                                        </p:cTn>
                                        <p:tgtEl>
                                          <p:spTgt spid="516"/>
                                        </p:tgtEl>
                                        <p:attrNameLst>
                                          <p:attrName>style.visibility</p:attrName>
                                        </p:attrNameLst>
                                      </p:cBhvr>
                                      <p:to>
                                        <p:strVal val="visible"/>
                                      </p:to>
                                    </p:set>
                                    <p:animEffect filter="dissolve" transition="in">
                                      <p:cBhvr additive="repl">
                                        <p:cTn id="741" dur="300"/>
                                        <p:tgtEl>
                                          <p:spTgt spid="516"/>
                                        </p:tgtEl>
                                      </p:cBhvr>
                                    </p:animEffect>
                                  </p:childTnLst>
                                </p:cTn>
                              </p:par>
                            </p:childTnLst>
                          </p:cTn>
                        </p:par>
                      </p:childTnLst>
                    </p:cTn>
                  </p:par>
                  <p:par>
                    <p:cTn id="742" nodeType="clickEffect" fill="hold">
                      <p:stCondLst>
                        <p:cond delay="indefinite"/>
                      </p:stCondLst>
                      <p:childTnLst>
                        <p:par>
                          <p:cTn id="743" nodeType="withEffect" fill="hold">
                            <p:stCondLst>
                              <p:cond delay="0"/>
                            </p:stCondLst>
                            <p:childTnLst>
                              <p:par>
                                <p:cTn id="744" nodeType="clickEffect" fill="hold" presetClass="entr" presetID="9">
                                  <p:stCondLst>
                                    <p:cond delay="0"/>
                                  </p:stCondLst>
                                  <p:iterate type="wd">
                                    <p:tmAbs val="300"/>
                                  </p:iterate>
                                  <p:childTnLst>
                                    <p:set>
                                      <p:cBhvr>
                                        <p:cTn id="745" dur="1" fill="hold">
                                          <p:stCondLst>
                                            <p:cond delay="0"/>
                                          </p:stCondLst>
                                        </p:cTn>
                                        <p:tgtEl>
                                          <p:spTgt spid="517"/>
                                        </p:tgtEl>
                                        <p:attrNameLst>
                                          <p:attrName>style.visibility</p:attrName>
                                        </p:attrNameLst>
                                      </p:cBhvr>
                                      <p:to>
                                        <p:strVal val="visible"/>
                                      </p:to>
                                    </p:set>
                                    <p:animEffect filter="dissolve" transition="in">
                                      <p:cBhvr additive="repl">
                                        <p:cTn id="746" dur="3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p:nvPr>
        </p:nvSpPr>
        <p:spPr>
          <a:xfrm>
            <a:off x="0" y="1066320"/>
            <a:ext cx="9144000" cy="3124440"/>
          </a:xfrm>
          <a:prstGeom prst="rect">
            <a:avLst/>
          </a:prstGeom>
          <a:noFill/>
          <a:ln w="0">
            <a:noFill/>
          </a:ln>
        </p:spPr>
        <p:txBody>
          <a:bodyPr lIns="92160" rIns="92160" tIns="46080" bIns="46080" anchor="t">
            <a:normAutofit/>
          </a:bodyPr>
          <a:p>
            <a:pPr marL="343080" indent="-343080">
              <a:lnSpc>
                <a:spcPct val="12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La RECONSTITUTION des RESERVES nécessite un DELAI POST- EXERCICE de 12 h (Machlum et coll.,1977) à 46H (Piehl, 1974) dont la DUREE  dépend :</a:t>
            </a:r>
            <a:endParaRPr b="0" lang="en-US" sz="2000" strike="noStrike" u="none">
              <a:solidFill>
                <a:srgbClr val="ffff00"/>
              </a:solidFill>
              <a:effectLst/>
              <a:uFillTx/>
              <a:latin typeface="Times New Roman"/>
            </a:endParaRPr>
          </a:p>
          <a:p>
            <a:pPr lvl="1" marL="743040" indent="0" algn="just">
              <a:lnSpc>
                <a:spcPct val="12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lvl="1" marL="743040" indent="-285840" algn="just">
              <a:lnSpc>
                <a:spcPct val="12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de l'importance de la déplétion:</a:t>
            </a:r>
            <a:endParaRPr b="0" lang="en-US" sz="2000" strike="noStrike" u="none">
              <a:solidFill>
                <a:srgbClr val="ffff00"/>
              </a:solidFill>
              <a:effectLst/>
              <a:uFillTx/>
              <a:latin typeface="Times New Roman"/>
            </a:endParaRPr>
          </a:p>
          <a:p>
            <a:pPr lvl="1" marL="743040" indent="-285840" algn="just">
              <a:lnSpc>
                <a:spcPct val="12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du niveau d'entraînement;</a:t>
            </a:r>
            <a:endParaRPr b="0" lang="en-US" sz="2000" strike="noStrike" u="none">
              <a:solidFill>
                <a:srgbClr val="ffff00"/>
              </a:solidFill>
              <a:effectLst/>
              <a:uFillTx/>
              <a:latin typeface="Times New Roman"/>
            </a:endParaRPr>
          </a:p>
          <a:p>
            <a:pPr lvl="1" marL="743040" indent="-285840" algn="just">
              <a:lnSpc>
                <a:spcPct val="12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et du régime alimentaire;</a:t>
            </a:r>
            <a:endParaRPr b="0" lang="en-US" sz="2000" strike="noStrike" u="none">
              <a:solidFill>
                <a:srgbClr val="ffff00"/>
              </a:solidFill>
              <a:effectLst/>
              <a:uFillTx/>
              <a:latin typeface="Times New Roman"/>
            </a:endParaRPr>
          </a:p>
        </p:txBody>
      </p:sp>
      <p:sp>
        <p:nvSpPr>
          <p:cNvPr id="521" name="Text Box 3"/>
          <p:cNvSpPr/>
          <p:nvPr/>
        </p:nvSpPr>
        <p:spPr>
          <a:xfrm>
            <a:off x="291960" y="4334040"/>
            <a:ext cx="8406360" cy="2481120"/>
          </a:xfrm>
          <a:prstGeom prst="rect">
            <a:avLst/>
          </a:prstGeom>
          <a:noFill/>
          <a:ln w="0">
            <a:noFill/>
          </a:ln>
        </p:spPr>
        <p:style>
          <a:lnRef idx="0"/>
          <a:fillRef idx="0"/>
          <a:effectRef idx="0"/>
          <a:fontRef idx="minor"/>
        </p:style>
        <p:txBody>
          <a:bodyPr wrap="none" lIns="90000" rIns="90000" tIns="46800" bIns="46800" anchor="t">
            <a:spAutoFit/>
          </a:bodyPr>
          <a:p>
            <a:pPr lvl="1" marL="190440">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Une récupération active modérée mais de longue durée (4 h à 20% de </a:t>
            </a:r>
            <a:endParaRPr b="0" lang="en-US" sz="2000" strike="noStrike" u="none">
              <a:solidFill>
                <a:srgbClr val="ffff00"/>
              </a:solidFill>
              <a:effectLst/>
              <a:uFillTx/>
              <a:latin typeface="Times New Roman"/>
            </a:endParaRPr>
          </a:p>
          <a:p>
            <a:pPr lvl="1" marL="190440">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VO2max ) après un exercice épuisant ( Bonen, 1985) ou pendant les </a:t>
            </a:r>
            <a:endParaRPr b="0" lang="en-US" sz="2000" strike="noStrike" u="none">
              <a:solidFill>
                <a:srgbClr val="ffff00"/>
              </a:solidFill>
              <a:effectLst/>
              <a:uFillTx/>
              <a:latin typeface="Times New Roman"/>
            </a:endParaRPr>
          </a:p>
          <a:p>
            <a:pPr lvl="1" marL="190440">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premiers jours après un marathon (20 à 40 min à 52-60% de VO2max) </a:t>
            </a:r>
            <a:endParaRPr b="0" lang="en-US" sz="2000" strike="noStrike" u="none">
              <a:solidFill>
                <a:srgbClr val="ffff00"/>
              </a:solidFill>
              <a:effectLst/>
              <a:uFillTx/>
              <a:latin typeface="Times New Roman"/>
            </a:endParaRPr>
          </a:p>
          <a:p>
            <a:pPr lvl="1" marL="190440">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freinent de près de 30 % le réplétion en glycogène intramusculaire.</a:t>
            </a:r>
            <a:endParaRPr b="0" lang="en-US" sz="2000" strike="noStrike" u="none">
              <a:solidFill>
                <a:srgbClr val="ffff00"/>
              </a:solidFill>
              <a:effectLst/>
              <a:uFillTx/>
              <a:latin typeface="Times New Roman"/>
            </a:endParaRPr>
          </a:p>
          <a:p>
            <a:pPr lvl="1" marL="190440">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(Sherman, 1983)</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522" name="Text Box 4"/>
          <p:cNvSpPr/>
          <p:nvPr/>
        </p:nvSpPr>
        <p:spPr>
          <a:xfrm rot="19464000">
            <a:off x="400680" y="405360"/>
            <a:ext cx="11361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RAPPEL</a:t>
            </a:r>
            <a:endParaRPr b="0" lang="en-US" sz="1800" strike="noStrike" u="none">
              <a:solidFill>
                <a:srgbClr val="ffff00"/>
              </a:solidFill>
              <a:effectLst/>
              <a:uFillTx/>
              <a:latin typeface="Times New Roman"/>
            </a:endParaRPr>
          </a:p>
        </p:txBody>
      </p:sp>
      <p:sp>
        <p:nvSpPr>
          <p:cNvPr id="523" name="ZoneTexte 1"/>
          <p:cNvSpPr/>
          <p:nvPr/>
        </p:nvSpPr>
        <p:spPr>
          <a:xfrm>
            <a:off x="1307160" y="254160"/>
            <a:ext cx="6110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3- EXERCICES AEROBIES INTENSES</a:t>
            </a:r>
            <a:endParaRPr b="0" lang="en-US" sz="2400" strike="noStrike" u="none">
              <a:solidFill>
                <a:srgbClr val="ffff00"/>
              </a:solidFill>
              <a:effectLst/>
              <a:uFillTx/>
              <a:latin typeface="Times New Roman"/>
            </a:endParaRPr>
          </a:p>
        </p:txBody>
      </p:sp>
    </p:spTree>
  </p:cSld>
  <p:timing>
    <p:tnLst>
      <p:par>
        <p:cTn id="747" dur="indefinite" restart="never" nodeType="tmRoot">
          <p:childTnLst>
            <p:seq>
              <p:cTn id="748" dur="indefinite" nodeType="mainSeq">
                <p:childTnLst>
                  <p:par>
                    <p:cTn id="749" nodeType="clickEffect" fill="hold">
                      <p:stCondLst>
                        <p:cond delay="0"/>
                      </p:stCondLst>
                      <p:childTnLst>
                        <p:par>
                          <p:cTn id="750" nodeType="withEffect" fill="hold">
                            <p:stCondLst>
                              <p:cond delay="0"/>
                            </p:stCondLst>
                            <p:childTnLst>
                              <p:par>
                                <p:cTn id="751" nodeType="afterEffect" fill="hold" presetClass="entr" presetID="53">
                                  <p:stCondLst>
                                    <p:cond delay="0"/>
                                  </p:stCondLst>
                                  <p:childTnLst>
                                    <p:set>
                                      <p:cBhvr>
                                        <p:cTn id="752" dur="1" fill="hold">
                                          <p:stCondLst>
                                            <p:cond delay="0"/>
                                          </p:stCondLst>
                                        </p:cTn>
                                        <p:tgtEl>
                                          <p:spTgt spid="520">
                                            <p:txEl>
                                              <p:pRg st="0" end="0"/>
                                            </p:txEl>
                                          </p:spTgt>
                                        </p:tgtEl>
                                        <p:attrNameLst>
                                          <p:attrName>style.visibility</p:attrName>
                                        </p:attrNameLst>
                                      </p:cBhvr>
                                      <p:to>
                                        <p:strVal val="visible"/>
                                      </p:to>
                                    </p:set>
                                    <p:anim calcmode="lin" valueType="num">
                                      <p:cBhvr additive="repl">
                                        <p:cTn id="753" dur="1000" fill="hold"/>
                                        <p:tgtEl>
                                          <p:spTgt spid="520">
                                            <p:txEl>
                                              <p:pRg st="0" end="0"/>
                                            </p:txEl>
                                          </p:spTgt>
                                        </p:tgtEl>
                                        <p:attrNameLst>
                                          <p:attrName>ppt_w</p:attrName>
                                        </p:attrNameLst>
                                      </p:cBhvr>
                                      <p:tavLst>
                                        <p:tav tm="0">
                                          <p:val>
                                            <p:fltVal val="0"/>
                                          </p:val>
                                        </p:tav>
                                        <p:tav tm="100000">
                                          <p:val>
                                            <p:strVal val="#ppt_w"/>
                                          </p:val>
                                        </p:tav>
                                      </p:tavLst>
                                    </p:anim>
                                    <p:anim calcmode="lin" valueType="num">
                                      <p:cBhvr additive="repl">
                                        <p:cTn id="754" dur="1000" fill="hold"/>
                                        <p:tgtEl>
                                          <p:spTgt spid="520">
                                            <p:txEl>
                                              <p:pRg st="0" end="0"/>
                                            </p:txEl>
                                          </p:spTgt>
                                        </p:tgtEl>
                                        <p:attrNameLst>
                                          <p:attrName>ppt_h</p:attrName>
                                        </p:attrNameLst>
                                      </p:cBhvr>
                                      <p:tavLst>
                                        <p:tav tm="0">
                                          <p:val>
                                            <p:fltVal val="0"/>
                                          </p:val>
                                        </p:tav>
                                        <p:tav tm="100000">
                                          <p:val>
                                            <p:strVal val="#ppt_h"/>
                                          </p:val>
                                        </p:tav>
                                      </p:tavLst>
                                    </p:anim>
                                    <p:animEffect filter="fade" transition="in">
                                      <p:cBhvr additive="repl">
                                        <p:cTn id="755" dur="1000"/>
                                        <p:tgtEl>
                                          <p:spTgt spid="520">
                                            <p:txEl>
                                              <p:pRg st="0" end="0"/>
                                            </p:txEl>
                                          </p:spTgt>
                                        </p:tgtEl>
                                      </p:cBhvr>
                                    </p:animEffect>
                                  </p:childTnLst>
                                </p:cTn>
                              </p:par>
                            </p:childTnLst>
                          </p:cTn>
                        </p:par>
                      </p:childTnLst>
                    </p:cTn>
                  </p:par>
                  <p:par>
                    <p:cTn id="756" nodeType="clickEffect" fill="hold">
                      <p:stCondLst>
                        <p:cond delay="indefinite"/>
                      </p:stCondLst>
                      <p:childTnLst>
                        <p:par>
                          <p:cTn id="757" nodeType="withEffect" fill="hold">
                            <p:stCondLst>
                              <p:cond delay="0"/>
                            </p:stCondLst>
                            <p:childTnLst>
                              <p:par>
                                <p:cTn id="758" nodeType="clickEffect" fill="hold" presetClass="entr" presetID="22" presetSubtype="8">
                                  <p:stCondLst>
                                    <p:cond delay="0"/>
                                  </p:stCondLst>
                                  <p:childTnLst>
                                    <p:set>
                                      <p:cBhvr>
                                        <p:cTn id="759" dur="1" fill="hold">
                                          <p:stCondLst>
                                            <p:cond delay="0"/>
                                          </p:stCondLst>
                                        </p:cTn>
                                        <p:tgtEl>
                                          <p:spTgt spid="520">
                                            <p:txEl>
                                              <p:pRg st="2" end="2"/>
                                            </p:txEl>
                                          </p:spTgt>
                                        </p:tgtEl>
                                        <p:attrNameLst>
                                          <p:attrName>style.visibility</p:attrName>
                                        </p:attrNameLst>
                                      </p:cBhvr>
                                      <p:to>
                                        <p:strVal val="visible"/>
                                      </p:to>
                                    </p:set>
                                    <p:animEffect filter="wipe(left)" transition="in">
                                      <p:cBhvr additive="repl">
                                        <p:cTn id="760" dur="500"/>
                                        <p:tgtEl>
                                          <p:spTgt spid="520">
                                            <p:txEl>
                                              <p:pRg st="2" end="2"/>
                                            </p:txEl>
                                          </p:spTgt>
                                        </p:tgtEl>
                                      </p:cBhvr>
                                    </p:animEffect>
                                  </p:childTnLst>
                                </p:cTn>
                              </p:par>
                            </p:childTnLst>
                          </p:cTn>
                        </p:par>
                      </p:childTnLst>
                    </p:cTn>
                  </p:par>
                  <p:par>
                    <p:cTn id="761" nodeType="clickEffect" fill="hold">
                      <p:stCondLst>
                        <p:cond delay="indefinite"/>
                      </p:stCondLst>
                      <p:childTnLst>
                        <p:par>
                          <p:cTn id="762" nodeType="withEffect" fill="hold">
                            <p:stCondLst>
                              <p:cond delay="0"/>
                            </p:stCondLst>
                            <p:childTnLst>
                              <p:par>
                                <p:cTn id="763" nodeType="clickEffect" fill="hold" presetClass="entr" presetID="22" presetSubtype="8">
                                  <p:stCondLst>
                                    <p:cond delay="0"/>
                                  </p:stCondLst>
                                  <p:childTnLst>
                                    <p:set>
                                      <p:cBhvr>
                                        <p:cTn id="764" dur="1" fill="hold">
                                          <p:stCondLst>
                                            <p:cond delay="0"/>
                                          </p:stCondLst>
                                        </p:cTn>
                                        <p:tgtEl>
                                          <p:spTgt spid="520">
                                            <p:txEl>
                                              <p:pRg st="3" end="3"/>
                                            </p:txEl>
                                          </p:spTgt>
                                        </p:tgtEl>
                                        <p:attrNameLst>
                                          <p:attrName>style.visibility</p:attrName>
                                        </p:attrNameLst>
                                      </p:cBhvr>
                                      <p:to>
                                        <p:strVal val="visible"/>
                                      </p:to>
                                    </p:set>
                                    <p:animEffect filter="wipe(left)" transition="in">
                                      <p:cBhvr additive="repl">
                                        <p:cTn id="765" dur="500"/>
                                        <p:tgtEl>
                                          <p:spTgt spid="520">
                                            <p:txEl>
                                              <p:pRg st="3" end="3"/>
                                            </p:txEl>
                                          </p:spTgt>
                                        </p:tgtEl>
                                      </p:cBhvr>
                                    </p:animEffect>
                                  </p:childTnLst>
                                </p:cTn>
                              </p:par>
                            </p:childTnLst>
                          </p:cTn>
                        </p:par>
                      </p:childTnLst>
                    </p:cTn>
                  </p:par>
                  <p:par>
                    <p:cTn id="766" nodeType="clickEffect" fill="hold">
                      <p:stCondLst>
                        <p:cond delay="indefinite"/>
                      </p:stCondLst>
                      <p:childTnLst>
                        <p:par>
                          <p:cTn id="767" nodeType="withEffect" fill="hold">
                            <p:stCondLst>
                              <p:cond delay="0"/>
                            </p:stCondLst>
                            <p:childTnLst>
                              <p:par>
                                <p:cTn id="768" nodeType="clickEffect" fill="hold" presetClass="entr" presetID="22" presetSubtype="8">
                                  <p:stCondLst>
                                    <p:cond delay="0"/>
                                  </p:stCondLst>
                                  <p:childTnLst>
                                    <p:set>
                                      <p:cBhvr>
                                        <p:cTn id="769" dur="1" fill="hold">
                                          <p:stCondLst>
                                            <p:cond delay="0"/>
                                          </p:stCondLst>
                                        </p:cTn>
                                        <p:tgtEl>
                                          <p:spTgt spid="520">
                                            <p:txEl>
                                              <p:pRg st="4" end="4"/>
                                            </p:txEl>
                                          </p:spTgt>
                                        </p:tgtEl>
                                        <p:attrNameLst>
                                          <p:attrName>style.visibility</p:attrName>
                                        </p:attrNameLst>
                                      </p:cBhvr>
                                      <p:to>
                                        <p:strVal val="visible"/>
                                      </p:to>
                                    </p:set>
                                    <p:animEffect filter="wipe(left)" transition="in">
                                      <p:cBhvr additive="repl">
                                        <p:cTn id="770" dur="500"/>
                                        <p:tgtEl>
                                          <p:spTgt spid="520">
                                            <p:txEl>
                                              <p:pRg st="4" end="4"/>
                                            </p:txEl>
                                          </p:spTgt>
                                        </p:tgtEl>
                                      </p:cBhvr>
                                    </p:animEffect>
                                  </p:childTnLst>
                                </p:cTn>
                              </p:par>
                            </p:childTnLst>
                          </p:cTn>
                        </p:par>
                      </p:childTnLst>
                    </p:cTn>
                  </p:par>
                  <p:par>
                    <p:cTn id="771" nodeType="clickEffect" fill="hold">
                      <p:stCondLst>
                        <p:cond delay="indefinite"/>
                      </p:stCondLst>
                      <p:childTnLst>
                        <p:par>
                          <p:cTn id="772" nodeType="withEffect" fill="hold">
                            <p:stCondLst>
                              <p:cond delay="0"/>
                            </p:stCondLst>
                            <p:childTnLst>
                              <p:par>
                                <p:cTn id="773" nodeType="clickEffect" fill="hold" presetClass="entr" presetID="53">
                                  <p:stCondLst>
                                    <p:cond delay="0"/>
                                  </p:stCondLst>
                                  <p:childTnLst>
                                    <p:set>
                                      <p:cBhvr>
                                        <p:cTn id="774" dur="1" fill="hold">
                                          <p:stCondLst>
                                            <p:cond delay="0"/>
                                          </p:stCondLst>
                                        </p:cTn>
                                        <p:tgtEl>
                                          <p:spTgt spid="521"/>
                                        </p:tgtEl>
                                        <p:attrNameLst>
                                          <p:attrName>style.visibility</p:attrName>
                                        </p:attrNameLst>
                                      </p:cBhvr>
                                      <p:to>
                                        <p:strVal val="visible"/>
                                      </p:to>
                                    </p:set>
                                    <p:anim calcmode="lin" valueType="num">
                                      <p:cBhvr additive="repl">
                                        <p:cTn id="775" dur="1000" fill="hold"/>
                                        <p:tgtEl>
                                          <p:spTgt spid="521"/>
                                        </p:tgtEl>
                                        <p:attrNameLst>
                                          <p:attrName>ppt_w</p:attrName>
                                        </p:attrNameLst>
                                      </p:cBhvr>
                                      <p:tavLst>
                                        <p:tav tm="0">
                                          <p:val>
                                            <p:fltVal val="0"/>
                                          </p:val>
                                        </p:tav>
                                        <p:tav tm="100000">
                                          <p:val>
                                            <p:strVal val="#ppt_w"/>
                                          </p:val>
                                        </p:tav>
                                      </p:tavLst>
                                    </p:anim>
                                    <p:anim calcmode="lin" valueType="num">
                                      <p:cBhvr additive="repl">
                                        <p:cTn id="776" dur="1000" fill="hold"/>
                                        <p:tgtEl>
                                          <p:spTgt spid="521"/>
                                        </p:tgtEl>
                                        <p:attrNameLst>
                                          <p:attrName>ppt_h</p:attrName>
                                        </p:attrNameLst>
                                      </p:cBhvr>
                                      <p:tavLst>
                                        <p:tav tm="0">
                                          <p:val>
                                            <p:fltVal val="0"/>
                                          </p:val>
                                        </p:tav>
                                        <p:tav tm="100000">
                                          <p:val>
                                            <p:strVal val="#ppt_h"/>
                                          </p:val>
                                        </p:tav>
                                      </p:tavLst>
                                    </p:anim>
                                    <p:animEffect filter="fade" transition="in">
                                      <p:cBhvr additive="repl">
                                        <p:cTn id="777"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Text Box 2"/>
          <p:cNvSpPr/>
          <p:nvPr/>
        </p:nvSpPr>
        <p:spPr>
          <a:xfrm>
            <a:off x="1147320" y="303120"/>
            <a:ext cx="6991560" cy="1191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Quelques conseils pour optimiser la reconstitution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des réserves musculaires en glycogène après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un exercice intensif prolongé ou un match </a:t>
            </a:r>
            <a:endParaRPr b="0" lang="en-US" sz="2400" strike="noStrike" u="none">
              <a:solidFill>
                <a:srgbClr val="ffff00"/>
              </a:solidFill>
              <a:effectLst/>
              <a:uFillTx/>
              <a:latin typeface="Times New Roman"/>
            </a:endParaRPr>
          </a:p>
        </p:txBody>
      </p:sp>
      <p:sp>
        <p:nvSpPr>
          <p:cNvPr id="525" name="Text Box 3"/>
          <p:cNvSpPr/>
          <p:nvPr/>
        </p:nvSpPr>
        <p:spPr>
          <a:xfrm>
            <a:off x="27720" y="2320920"/>
            <a:ext cx="5415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 Respecter un repos complet pendant 24 h </a:t>
            </a:r>
            <a:endParaRPr b="0" lang="en-US" sz="2000" strike="noStrike" u="none">
              <a:solidFill>
                <a:srgbClr val="ffff00"/>
              </a:solidFill>
              <a:effectLst/>
              <a:uFillTx/>
              <a:latin typeface="Times New Roman"/>
            </a:endParaRPr>
          </a:p>
        </p:txBody>
      </p:sp>
      <p:sp>
        <p:nvSpPr>
          <p:cNvPr id="526" name="Text Box 4"/>
          <p:cNvSpPr/>
          <p:nvPr/>
        </p:nvSpPr>
        <p:spPr>
          <a:xfrm>
            <a:off x="33840" y="2895480"/>
            <a:ext cx="8796960" cy="1008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2 – Immédiatement après l’effort (entraînement et compétition), ingérer des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sucres  à index glycémique élevé pendant la première heure de la phase de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récupération</a:t>
            </a:r>
            <a:endParaRPr b="0" lang="en-US" sz="2000" strike="noStrike" u="none">
              <a:solidFill>
                <a:srgbClr val="ffff00"/>
              </a:solidFill>
              <a:effectLst/>
              <a:uFillTx/>
              <a:latin typeface="Times New Roman"/>
            </a:endParaRPr>
          </a:p>
        </p:txBody>
      </p:sp>
      <p:sp>
        <p:nvSpPr>
          <p:cNvPr id="527" name="Text Box 5"/>
          <p:cNvSpPr/>
          <p:nvPr/>
        </p:nvSpPr>
        <p:spPr>
          <a:xfrm>
            <a:off x="3960" y="4202280"/>
            <a:ext cx="92620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3 – Ensuite, les rations glucidiques seront constituées de sucres à index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glycémique moyen ou faible (pâtes, semoule : couscous !,pomme de terre, riz…)</a:t>
            </a:r>
            <a:endParaRPr b="0" lang="en-US" sz="2000" strike="noStrike" u="none">
              <a:solidFill>
                <a:srgbClr val="ffff00"/>
              </a:solidFill>
              <a:effectLst/>
              <a:uFillTx/>
              <a:latin typeface="Times New Roman"/>
            </a:endParaRPr>
          </a:p>
        </p:txBody>
      </p:sp>
      <p:sp>
        <p:nvSpPr>
          <p:cNvPr id="528" name="Text Box 6"/>
          <p:cNvSpPr/>
          <p:nvPr/>
        </p:nvSpPr>
        <p:spPr>
          <a:xfrm>
            <a:off x="-3240" y="5116680"/>
            <a:ext cx="905076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4 – Un régime hyperglucidique (70 %) est conseillé pour augmenter les stocks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de glycogène (surcompensation).</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778" dur="indefinite" restart="never" nodeType="tmRoot">
          <p:childTnLst>
            <p:seq>
              <p:cTn id="779" dur="indefinite" nodeType="mainSeq">
                <p:childTnLst>
                  <p:par>
                    <p:cTn id="780" nodeType="clickEffect" fill="hold">
                      <p:stCondLst>
                        <p:cond delay="indefinite"/>
                      </p:stCondLst>
                      <p:childTnLst>
                        <p:par>
                          <p:cTn id="781" nodeType="withEffect" fill="hold">
                            <p:stCondLst>
                              <p:cond delay="0"/>
                            </p:stCondLst>
                            <p:childTnLst>
                              <p:par>
                                <p:cTn id="782" nodeType="clickEffect" fill="hold" presetClass="entr" presetID="9">
                                  <p:stCondLst>
                                    <p:cond delay="0"/>
                                  </p:stCondLst>
                                  <p:childTnLst>
                                    <p:set>
                                      <p:cBhvr>
                                        <p:cTn id="783" dur="1" fill="hold">
                                          <p:stCondLst>
                                            <p:cond delay="0"/>
                                          </p:stCondLst>
                                        </p:cTn>
                                        <p:tgtEl>
                                          <p:spTgt spid="525"/>
                                        </p:tgtEl>
                                        <p:attrNameLst>
                                          <p:attrName>style.visibility</p:attrName>
                                        </p:attrNameLst>
                                      </p:cBhvr>
                                      <p:to>
                                        <p:strVal val="visible"/>
                                      </p:to>
                                    </p:set>
                                    <p:animEffect filter="dissolve" transition="in">
                                      <p:cBhvr additive="repl">
                                        <p:cTn id="784" dur="500"/>
                                        <p:tgtEl>
                                          <p:spTgt spid="525"/>
                                        </p:tgtEl>
                                      </p:cBhvr>
                                    </p:animEffect>
                                  </p:childTnLst>
                                </p:cTn>
                              </p:par>
                            </p:childTnLst>
                          </p:cTn>
                        </p:par>
                      </p:childTnLst>
                    </p:cTn>
                  </p:par>
                  <p:par>
                    <p:cTn id="785" nodeType="clickEffect" fill="hold">
                      <p:stCondLst>
                        <p:cond delay="indefinite"/>
                      </p:stCondLst>
                      <p:childTnLst>
                        <p:par>
                          <p:cTn id="786" nodeType="withEffect" fill="hold">
                            <p:stCondLst>
                              <p:cond delay="0"/>
                            </p:stCondLst>
                            <p:childTnLst>
                              <p:par>
                                <p:cTn id="787" nodeType="clickEffect" fill="hold" presetClass="entr" presetID="9">
                                  <p:stCondLst>
                                    <p:cond delay="0"/>
                                  </p:stCondLst>
                                  <p:childTnLst>
                                    <p:set>
                                      <p:cBhvr>
                                        <p:cTn id="788" dur="1" fill="hold">
                                          <p:stCondLst>
                                            <p:cond delay="0"/>
                                          </p:stCondLst>
                                        </p:cTn>
                                        <p:tgtEl>
                                          <p:spTgt spid="526"/>
                                        </p:tgtEl>
                                        <p:attrNameLst>
                                          <p:attrName>style.visibility</p:attrName>
                                        </p:attrNameLst>
                                      </p:cBhvr>
                                      <p:to>
                                        <p:strVal val="visible"/>
                                      </p:to>
                                    </p:set>
                                    <p:animEffect filter="dissolve" transition="in">
                                      <p:cBhvr additive="repl">
                                        <p:cTn id="789" dur="500"/>
                                        <p:tgtEl>
                                          <p:spTgt spid="526"/>
                                        </p:tgtEl>
                                      </p:cBhvr>
                                    </p:animEffect>
                                  </p:childTnLst>
                                </p:cTn>
                              </p:par>
                            </p:childTnLst>
                          </p:cTn>
                        </p:par>
                      </p:childTnLst>
                    </p:cTn>
                  </p:par>
                  <p:par>
                    <p:cTn id="790" nodeType="clickEffect" fill="hold">
                      <p:stCondLst>
                        <p:cond delay="indefinite"/>
                      </p:stCondLst>
                      <p:childTnLst>
                        <p:par>
                          <p:cTn id="791" nodeType="withEffect" fill="hold">
                            <p:stCondLst>
                              <p:cond delay="0"/>
                            </p:stCondLst>
                            <p:childTnLst>
                              <p:par>
                                <p:cTn id="792" nodeType="clickEffect" fill="hold" presetClass="entr" presetID="9">
                                  <p:stCondLst>
                                    <p:cond delay="0"/>
                                  </p:stCondLst>
                                  <p:childTnLst>
                                    <p:set>
                                      <p:cBhvr>
                                        <p:cTn id="793" dur="1" fill="hold">
                                          <p:stCondLst>
                                            <p:cond delay="0"/>
                                          </p:stCondLst>
                                        </p:cTn>
                                        <p:tgtEl>
                                          <p:spTgt spid="527"/>
                                        </p:tgtEl>
                                        <p:attrNameLst>
                                          <p:attrName>style.visibility</p:attrName>
                                        </p:attrNameLst>
                                      </p:cBhvr>
                                      <p:to>
                                        <p:strVal val="visible"/>
                                      </p:to>
                                    </p:set>
                                    <p:animEffect filter="dissolve" transition="in">
                                      <p:cBhvr additive="repl">
                                        <p:cTn id="794" dur="500"/>
                                        <p:tgtEl>
                                          <p:spTgt spid="527"/>
                                        </p:tgtEl>
                                      </p:cBhvr>
                                    </p:animEffect>
                                  </p:childTnLst>
                                </p:cTn>
                              </p:par>
                            </p:childTnLst>
                          </p:cTn>
                        </p:par>
                      </p:childTnLst>
                    </p:cTn>
                  </p:par>
                  <p:par>
                    <p:cTn id="795" nodeType="clickEffect" fill="hold">
                      <p:stCondLst>
                        <p:cond delay="indefinite"/>
                      </p:stCondLst>
                      <p:childTnLst>
                        <p:par>
                          <p:cTn id="796" nodeType="withEffect" fill="hold">
                            <p:stCondLst>
                              <p:cond delay="0"/>
                            </p:stCondLst>
                            <p:childTnLst>
                              <p:par>
                                <p:cTn id="797" nodeType="clickEffect" fill="hold" presetClass="entr" presetID="9">
                                  <p:stCondLst>
                                    <p:cond delay="0"/>
                                  </p:stCondLst>
                                  <p:childTnLst>
                                    <p:set>
                                      <p:cBhvr>
                                        <p:cTn id="798" dur="1" fill="hold">
                                          <p:stCondLst>
                                            <p:cond delay="0"/>
                                          </p:stCondLst>
                                        </p:cTn>
                                        <p:tgtEl>
                                          <p:spTgt spid="528"/>
                                        </p:tgtEl>
                                        <p:attrNameLst>
                                          <p:attrName>style.visibility</p:attrName>
                                        </p:attrNameLst>
                                      </p:cBhvr>
                                      <p:to>
                                        <p:strVal val="visible"/>
                                      </p:to>
                                    </p:set>
                                    <p:animEffect filter="dissolve" transition="in">
                                      <p:cBhvr additive="repl">
                                        <p:cTn id="799" dur="5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p:nvPr>
        </p:nvSpPr>
        <p:spPr>
          <a:xfrm>
            <a:off x="0" y="380880"/>
            <a:ext cx="9144000" cy="6019920"/>
          </a:xfrm>
          <a:prstGeom prst="rect">
            <a:avLst/>
          </a:prstGeom>
          <a:noFill/>
          <a:ln w="0">
            <a:noFill/>
          </a:ln>
        </p:spPr>
        <p:txBody>
          <a:bodyPr lIns="92160" rIns="92160" tIns="46080" bIns="46080" anchor="t">
            <a:normAutofit fontScale="92500" lnSpcReduction="19999"/>
          </a:bodyPr>
          <a:p>
            <a:pPr marL="343080" indent="-343080">
              <a:lnSpc>
                <a:spcPct val="130000"/>
              </a:lnSpc>
              <a:spcBef>
                <a:spcPts val="601"/>
              </a:spcBef>
              <a:spcAft>
                <a:spcPts val="1349"/>
              </a:spcAft>
              <a:buNone/>
              <a:tabLst>
                <a:tab algn="l" pos="0"/>
                <a:tab algn="l" pos="100080"/>
                <a:tab algn="l" pos="376200"/>
                <a:tab algn="l" pos="752400"/>
                <a:tab algn="l" pos="1128600"/>
                <a:tab algn="l" pos="1504800"/>
                <a:tab algn="l" pos="1881360"/>
                <a:tab algn="l" pos="2257560"/>
                <a:tab algn="l" pos="2633760"/>
                <a:tab algn="l" pos="3009960"/>
                <a:tab algn="l" pos="3386160"/>
                <a:tab algn="l" pos="3762360"/>
                <a:tab algn="l" pos="4138560"/>
                <a:tab algn="l" pos="4514760"/>
                <a:tab algn="l" pos="4890960"/>
                <a:tab algn="l" pos="5267160"/>
                <a:tab algn="l" pos="5643720"/>
                <a:tab algn="l" pos="6019920"/>
                <a:tab algn="l" pos="6396120"/>
                <a:tab algn="l" pos="6772320"/>
                <a:tab algn="l" pos="7148520"/>
                <a:tab algn="l" pos="7524720"/>
              </a:tabLst>
            </a:pPr>
            <a:r>
              <a:rPr b="1" lang="fr-FR" sz="3200" strike="noStrike" u="none">
                <a:solidFill>
                  <a:srgbClr val="f8f8f8"/>
                </a:solidFill>
                <a:effectLst/>
                <a:uFillTx/>
                <a:latin typeface="Calibri"/>
                <a:ea typeface="Calibri"/>
              </a:rPr>
              <a:t>« S « </a:t>
            </a:r>
            <a:r>
              <a:rPr b="1" lang="fr-FR" sz="3200" strike="noStrike" u="none">
                <a:solidFill>
                  <a:srgbClr val="99ff33"/>
                </a:solidFill>
                <a:effectLst/>
                <a:uFillTx/>
                <a:latin typeface="Calibri"/>
                <a:ea typeface="Calibri"/>
              </a:rPr>
              <a:t> </a:t>
            </a:r>
            <a:r>
              <a:rPr b="1" lang="fr-FR" sz="3200" strike="noStrike" u="none">
                <a:solidFill>
                  <a:srgbClr val="ffffff"/>
                </a:solidFill>
                <a:effectLst/>
                <a:uFillTx/>
                <a:latin typeface="Calibri"/>
                <a:ea typeface="Calibri"/>
              </a:rPr>
              <a:t>de spécificité</a:t>
            </a:r>
            <a:r>
              <a:rPr b="1" lang="fr-FR" sz="3200" strike="noStrike" u="none">
                <a:solidFill>
                  <a:srgbClr val="ffffff"/>
                </a:solidFill>
                <a:effectLst/>
                <a:uFillTx/>
                <a:latin typeface="Calibri"/>
                <a:ea typeface="Calibri"/>
              </a:rPr>
              <a:t>.</a:t>
            </a:r>
            <a:r>
              <a:rPr b="1" lang="fr-FR" sz="3200" strike="noStrike" u="none">
                <a:solidFill>
                  <a:srgbClr val="ffff00"/>
                </a:solidFill>
                <a:effectLst/>
                <a:uFillTx/>
                <a:latin typeface="Calibri"/>
                <a:ea typeface="Calibri"/>
              </a:rPr>
              <a:t> </a:t>
            </a:r>
            <a:r>
              <a:rPr b="1" lang="fr-FR" sz="2400" strike="noStrike" u="none">
                <a:solidFill>
                  <a:srgbClr val="ffff00"/>
                </a:solidFill>
                <a:effectLst/>
                <a:uFillTx/>
                <a:latin typeface="Calibri"/>
                <a:ea typeface="Calibri"/>
              </a:rPr>
              <a:t>Les intensités des entraînements doivent être spécifiquement adaptées à la période de la saison, aux capacités propres du joueur et du poste qu’il occupe sur le terrain :</a:t>
            </a:r>
            <a:endParaRPr b="0" lang="en-US" sz="2400" strike="noStrike" u="none">
              <a:solidFill>
                <a:srgbClr val="ffff00"/>
              </a:solidFill>
              <a:effectLst/>
              <a:uFillTx/>
              <a:latin typeface="Times New Roman"/>
            </a:endParaRPr>
          </a:p>
          <a:p>
            <a:pPr marL="343080" indent="-343080">
              <a:lnSpc>
                <a:spcPct val="130000"/>
              </a:lnSpc>
              <a:spcBef>
                <a:spcPts val="499"/>
              </a:spcBef>
              <a:spcAft>
                <a:spcPts val="1125"/>
              </a:spcAft>
              <a:buNone/>
              <a:tabLst>
                <a:tab algn="l" pos="0"/>
                <a:tab algn="l" pos="100080"/>
                <a:tab algn="l" pos="376200"/>
                <a:tab algn="l" pos="752400"/>
                <a:tab algn="l" pos="1128600"/>
                <a:tab algn="l" pos="1504800"/>
                <a:tab algn="l" pos="1881360"/>
                <a:tab algn="l" pos="2257560"/>
                <a:tab algn="l" pos="2633760"/>
                <a:tab algn="l" pos="3009960"/>
                <a:tab algn="l" pos="3386160"/>
                <a:tab algn="l" pos="3762360"/>
                <a:tab algn="l" pos="4138560"/>
                <a:tab algn="l" pos="4514760"/>
                <a:tab algn="l" pos="4890960"/>
                <a:tab algn="l" pos="5267160"/>
                <a:tab algn="l" pos="5643720"/>
                <a:tab algn="l" pos="6019920"/>
                <a:tab algn="l" pos="6396120"/>
                <a:tab algn="l" pos="6772320"/>
                <a:tab algn="l" pos="7148520"/>
                <a:tab algn="l" pos="7524720"/>
              </a:tabLst>
            </a:pPr>
            <a:r>
              <a:rPr b="1" i="1" lang="fr-FR" sz="2000" strike="noStrike" u="none">
                <a:solidFill>
                  <a:srgbClr val="ffffff"/>
                </a:solidFill>
                <a:effectLst/>
                <a:uFillTx/>
                <a:latin typeface="Calibri"/>
                <a:ea typeface="Calibri"/>
              </a:rPr>
              <a:t>MILIEUX : Plus de travail de la puissance aérobie et de reproduction de sprints courts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avec changements de direction</a:t>
            </a:r>
            <a:endParaRPr b="0" lang="en-US" sz="2000" strike="noStrike" u="none">
              <a:solidFill>
                <a:srgbClr val="ffff00"/>
              </a:solidFill>
              <a:effectLst/>
              <a:uFillTx/>
              <a:latin typeface="Times New Roman"/>
            </a:endParaRPr>
          </a:p>
          <a:p>
            <a:pPr marL="343080" indent="-343080">
              <a:lnSpc>
                <a:spcPct val="130000"/>
              </a:lnSpc>
              <a:spcBef>
                <a:spcPts val="499"/>
              </a:spcBef>
              <a:spcAft>
                <a:spcPts val="1125"/>
              </a:spcAft>
              <a:buNone/>
              <a:tabLst>
                <a:tab algn="l" pos="0"/>
                <a:tab algn="l" pos="100080"/>
                <a:tab algn="l" pos="376200"/>
                <a:tab algn="l" pos="752400"/>
                <a:tab algn="l" pos="1128600"/>
                <a:tab algn="l" pos="1504800"/>
                <a:tab algn="l" pos="1881360"/>
                <a:tab algn="l" pos="2257560"/>
                <a:tab algn="l" pos="2633760"/>
                <a:tab algn="l" pos="3009960"/>
                <a:tab algn="l" pos="3386160"/>
                <a:tab algn="l" pos="3762360"/>
                <a:tab algn="l" pos="4138560"/>
                <a:tab algn="l" pos="4514760"/>
                <a:tab algn="l" pos="4890960"/>
                <a:tab algn="l" pos="5267160"/>
                <a:tab algn="l" pos="5643720"/>
                <a:tab algn="l" pos="6019920"/>
                <a:tab algn="l" pos="6396120"/>
                <a:tab algn="l" pos="6772320"/>
                <a:tab algn="l" pos="7148520"/>
                <a:tab algn="l" pos="7524720"/>
              </a:tabLst>
            </a:pPr>
            <a:r>
              <a:rPr b="1" i="1" lang="fr-FR" sz="2000" strike="noStrike" u="none">
                <a:solidFill>
                  <a:srgbClr val="ffffff"/>
                </a:solidFill>
                <a:effectLst/>
                <a:uFillTx/>
                <a:latin typeface="Calibri"/>
                <a:ea typeface="Calibri"/>
              </a:rPr>
              <a:t>ATTAQUANTS : Travail spécifique de la vitesse + Plus de reproduction de sprints plus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  longs</a:t>
            </a:r>
            <a:endParaRPr b="0" lang="en-US" sz="2000" strike="noStrike" u="none">
              <a:solidFill>
                <a:srgbClr val="ffff00"/>
              </a:solidFill>
              <a:effectLst/>
              <a:uFillTx/>
              <a:latin typeface="Times New Roman"/>
            </a:endParaRPr>
          </a:p>
          <a:p>
            <a:pPr marL="343080" indent="-343080">
              <a:lnSpc>
                <a:spcPct val="130000"/>
              </a:lnSpc>
              <a:spcBef>
                <a:spcPts val="601"/>
              </a:spcBef>
              <a:spcAft>
                <a:spcPts val="1349"/>
              </a:spcAft>
              <a:buNone/>
              <a:tabLst>
                <a:tab algn="l" pos="0"/>
                <a:tab algn="l" pos="100080"/>
                <a:tab algn="l" pos="376200"/>
                <a:tab algn="l" pos="752400"/>
                <a:tab algn="l" pos="1128600"/>
                <a:tab algn="l" pos="1504800"/>
                <a:tab algn="l" pos="1881360"/>
                <a:tab algn="l" pos="2257560"/>
                <a:tab algn="l" pos="2633760"/>
                <a:tab algn="l" pos="3009960"/>
                <a:tab algn="l" pos="3386160"/>
                <a:tab algn="l" pos="3762360"/>
                <a:tab algn="l" pos="4138560"/>
                <a:tab algn="l" pos="4514760"/>
                <a:tab algn="l" pos="4890960"/>
                <a:tab algn="l" pos="5267160"/>
                <a:tab algn="l" pos="5643720"/>
                <a:tab algn="l" pos="6019920"/>
                <a:tab algn="l" pos="6396120"/>
                <a:tab algn="l" pos="6772320"/>
                <a:tab algn="l" pos="7148520"/>
                <a:tab algn="l" pos="7524720"/>
              </a:tabLst>
            </a:pPr>
            <a:r>
              <a:rPr b="1" i="1" lang="fr-FR" sz="2000" strike="noStrike" u="none">
                <a:solidFill>
                  <a:srgbClr val="ffffff"/>
                </a:solidFill>
                <a:effectLst/>
                <a:uFillTx/>
                <a:latin typeface="Calibri"/>
                <a:ea typeface="Calibri"/>
              </a:rPr>
              <a:t>DEFENSEURS </a:t>
            </a:r>
            <a:r>
              <a:rPr b="1" lang="fr-FR" sz="2000" strike="noStrike" u="none">
                <a:solidFill>
                  <a:srgbClr val="ffff00"/>
                </a:solidFill>
                <a:effectLst/>
                <a:uFillTx/>
                <a:latin typeface="Calibri"/>
                <a:ea typeface="Calibri"/>
              </a:rPr>
              <a:t>: </a:t>
            </a:r>
            <a:r>
              <a:rPr b="1" i="1" lang="fr-FR" sz="2000" strike="noStrike" u="none">
                <a:solidFill>
                  <a:srgbClr val="ffffff"/>
                </a:solidFill>
                <a:effectLst/>
                <a:uFillTx/>
                <a:latin typeface="Calibri"/>
                <a:ea typeface="Calibri"/>
              </a:rPr>
              <a:t>Travail mixte puissance  + vitesse + puissance aérobie</a:t>
            </a:r>
            <a:r>
              <a:rPr b="1" lang="fr-FR" sz="2400" strike="noStrike" u="none">
                <a:solidFill>
                  <a:srgbClr val="ffff00"/>
                </a:solidFill>
                <a:effectLst/>
                <a:uFillTx/>
                <a:latin typeface="Calibri"/>
                <a:ea typeface="Calibri"/>
              </a:rPr>
              <a:t>	</a:t>
            </a:r>
            <a:r>
              <a:rPr b="1"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marL="343080" indent="-343080">
              <a:lnSpc>
                <a:spcPct val="130000"/>
              </a:lnSpc>
              <a:spcBef>
                <a:spcPts val="601"/>
              </a:spcBef>
              <a:spcAft>
                <a:spcPts val="1349"/>
              </a:spcAft>
              <a:buNone/>
              <a:tabLst>
                <a:tab algn="l" pos="0"/>
                <a:tab algn="l" pos="100080"/>
                <a:tab algn="l" pos="376200"/>
                <a:tab algn="l" pos="752400"/>
                <a:tab algn="l" pos="1128600"/>
                <a:tab algn="l" pos="1504800"/>
                <a:tab algn="l" pos="1881360"/>
                <a:tab algn="l" pos="2257560"/>
                <a:tab algn="l" pos="2633760"/>
                <a:tab algn="l" pos="3009960"/>
                <a:tab algn="l" pos="3386160"/>
                <a:tab algn="l" pos="3762360"/>
                <a:tab algn="l" pos="4138560"/>
                <a:tab algn="l" pos="4514760"/>
                <a:tab algn="l" pos="4890960"/>
                <a:tab algn="l" pos="5267160"/>
                <a:tab algn="l" pos="5643720"/>
                <a:tab algn="l" pos="6019920"/>
                <a:tab algn="l" pos="6396120"/>
                <a:tab algn="l" pos="6772320"/>
                <a:tab algn="l" pos="7148520"/>
                <a:tab algn="l" pos="7524720"/>
              </a:tabLst>
            </a:pPr>
            <a:r>
              <a:rPr b="1" lang="fr-FR" sz="2400" strike="noStrike" u="none">
                <a:solidFill>
                  <a:srgbClr val="ffff00"/>
                </a:solidFill>
                <a:effectLst/>
                <a:uFillTx/>
                <a:latin typeface="Calibri"/>
                <a:ea typeface="Calibri"/>
              </a:rPr>
              <a:t>	</a:t>
            </a:r>
            <a:r>
              <a:rPr b="1" lang="fr-FR" sz="2400" strike="noStrike" u="none">
                <a:solidFill>
                  <a:srgbClr val="ffff00"/>
                </a:solidFill>
                <a:effectLst/>
                <a:uFillTx/>
                <a:latin typeface="Calibri"/>
                <a:ea typeface="Calibri"/>
              </a:rPr>
              <a:t>	</a:t>
            </a:r>
            <a:r>
              <a:rPr b="1" lang="fr-FR" sz="2400" strike="noStrike" u="none">
                <a:solidFill>
                  <a:srgbClr val="ffff00"/>
                </a:solidFill>
                <a:effectLst/>
                <a:uFillTx/>
                <a:latin typeface="Calibri"/>
                <a:ea typeface="Calibri"/>
              </a:rPr>
              <a:t>Encore une fois, avant d’entreprendre un programme de développement de la condition physique, </a:t>
            </a:r>
            <a:r>
              <a:rPr b="1" i="1" lang="fr-FR" sz="2400" strike="noStrike" u="none">
                <a:solidFill>
                  <a:srgbClr val="ffffff"/>
                </a:solidFill>
                <a:effectLst/>
                <a:uFillTx/>
                <a:latin typeface="Calibri"/>
                <a:ea typeface="Calibri"/>
              </a:rPr>
              <a:t>l’évaluation des capacités physiques et physiologiques </a:t>
            </a:r>
            <a:r>
              <a:rPr b="1" lang="fr-FR" sz="2400" strike="noStrike" u="none">
                <a:solidFill>
                  <a:srgbClr val="ffff00"/>
                </a:solidFill>
                <a:effectLst/>
                <a:uFillTx/>
                <a:latin typeface="Calibri"/>
                <a:ea typeface="Calibri"/>
              </a:rPr>
              <a:t>s’avère indispensable</a:t>
            </a:r>
            <a:endParaRPr b="0" lang="en-US" sz="2400" strike="noStrike" u="none">
              <a:solidFill>
                <a:srgbClr val="ffff00"/>
              </a:solidFill>
              <a:effectLst/>
              <a:uFillTx/>
              <a:latin typeface="Times New Roman"/>
            </a:endParaRPr>
          </a:p>
        </p:txBody>
      </p:sp>
    </p:spTree>
  </p:cSld>
  <p:transition spd="slow">
    <p:dissolve/>
  </p:transition>
  <p:timing>
    <p:tnLst>
      <p:par>
        <p:cTn id="800" dur="indefinite" restart="never" nodeType="tmRoot">
          <p:childTnLst>
            <p:seq>
              <p:cTn id="801" dur="indefinite" nodeType="mainSeq">
                <p:childTnLst>
                  <p:par>
                    <p:cTn id="802" nodeType="clickEffect" fill="hold">
                      <p:stCondLst>
                        <p:cond delay="0"/>
                      </p:stCondLst>
                      <p:childTnLst>
                        <p:par>
                          <p:cTn id="803" nodeType="withEffect" fill="hold">
                            <p:stCondLst>
                              <p:cond delay="0"/>
                            </p:stCondLst>
                            <p:childTnLst>
                              <p:par>
                                <p:cTn id="804" nodeType="afterEffect" fill="hold" presetClass="entr" presetID="22" presetSubtype="1" repeatCount="1000">
                                  <p:stCondLst>
                                    <p:cond delay="0"/>
                                  </p:stCondLst>
                                  <p:childTnLst>
                                    <p:set>
                                      <p:cBhvr>
                                        <p:cTn id="805" dur="1" fill="hold">
                                          <p:stCondLst>
                                            <p:cond delay="0"/>
                                          </p:stCondLst>
                                        </p:cTn>
                                        <p:tgtEl>
                                          <p:spTgt spid="529">
                                            <p:txEl>
                                              <p:pRg st="0" end="0"/>
                                            </p:txEl>
                                          </p:spTgt>
                                        </p:tgtEl>
                                        <p:attrNameLst>
                                          <p:attrName>style.visibility</p:attrName>
                                        </p:attrNameLst>
                                      </p:cBhvr>
                                      <p:to>
                                        <p:strVal val="visible"/>
                                      </p:to>
                                    </p:set>
                                    <p:animEffect filter="wipe(up)" transition="in">
                                      <p:cBhvr additive="repl">
                                        <p:cTn id="806" dur="1000"/>
                                        <p:tgtEl>
                                          <p:spTgt spid="529">
                                            <p:txEl>
                                              <p:pRg st="0" end="0"/>
                                            </p:txEl>
                                          </p:spTgt>
                                        </p:tgtEl>
                                      </p:cBhvr>
                                    </p:animEffect>
                                  </p:childTnLst>
                                </p:cTn>
                              </p:par>
                            </p:childTnLst>
                          </p:cTn>
                        </p:par>
                      </p:childTnLst>
                    </p:cTn>
                  </p:par>
                  <p:par>
                    <p:cTn id="807" nodeType="clickEffect" fill="hold">
                      <p:stCondLst>
                        <p:cond delay="indefinite"/>
                      </p:stCondLst>
                      <p:childTnLst>
                        <p:par>
                          <p:cTn id="808" nodeType="withEffect" fill="hold">
                            <p:stCondLst>
                              <p:cond delay="0"/>
                            </p:stCondLst>
                            <p:childTnLst>
                              <p:par>
                                <p:cTn id="809" nodeType="clickEffect" fill="hold" presetClass="entr" presetID="22" presetSubtype="1" repeatCount="1000">
                                  <p:stCondLst>
                                    <p:cond delay="0"/>
                                  </p:stCondLst>
                                  <p:childTnLst>
                                    <p:set>
                                      <p:cBhvr>
                                        <p:cTn id="810" dur="1" fill="hold">
                                          <p:stCondLst>
                                            <p:cond delay="0"/>
                                          </p:stCondLst>
                                        </p:cTn>
                                        <p:tgtEl>
                                          <p:spTgt spid="529">
                                            <p:txEl>
                                              <p:pRg st="1" end="1"/>
                                            </p:txEl>
                                          </p:spTgt>
                                        </p:tgtEl>
                                        <p:attrNameLst>
                                          <p:attrName>style.visibility</p:attrName>
                                        </p:attrNameLst>
                                      </p:cBhvr>
                                      <p:to>
                                        <p:strVal val="visible"/>
                                      </p:to>
                                    </p:set>
                                    <p:animEffect filter="wipe(up)" transition="in">
                                      <p:cBhvr additive="repl">
                                        <p:cTn id="811" dur="1500"/>
                                        <p:tgtEl>
                                          <p:spTgt spid="529">
                                            <p:txEl>
                                              <p:pRg st="1" end="1"/>
                                            </p:txEl>
                                          </p:spTgt>
                                        </p:tgtEl>
                                      </p:cBhvr>
                                    </p:animEffect>
                                  </p:childTnLst>
                                </p:cTn>
                              </p:par>
                              <p:par>
                                <p:cTn id="812" nodeType="withEffect" fill="hold" presetClass="entr" presetID="22" presetSubtype="1" repeatCount="1000">
                                  <p:stCondLst>
                                    <p:cond delay="0"/>
                                  </p:stCondLst>
                                  <p:childTnLst>
                                    <p:set>
                                      <p:cBhvr>
                                        <p:cTn id="813" dur="1" fill="hold">
                                          <p:stCondLst>
                                            <p:cond delay="0"/>
                                          </p:stCondLst>
                                        </p:cTn>
                                        <p:tgtEl>
                                          <p:spTgt spid="529">
                                            <p:txEl>
                                              <p:pRg st="2" end="2"/>
                                            </p:txEl>
                                          </p:spTgt>
                                        </p:tgtEl>
                                        <p:attrNameLst>
                                          <p:attrName>style.visibility</p:attrName>
                                        </p:attrNameLst>
                                      </p:cBhvr>
                                      <p:to>
                                        <p:strVal val="visible"/>
                                      </p:to>
                                    </p:set>
                                    <p:animEffect filter="wipe(up)" transition="in">
                                      <p:cBhvr additive="repl">
                                        <p:cTn id="814" dur="1500"/>
                                        <p:tgtEl>
                                          <p:spTgt spid="529">
                                            <p:txEl>
                                              <p:pRg st="2" end="2"/>
                                            </p:txEl>
                                          </p:spTgt>
                                        </p:tgtEl>
                                      </p:cBhvr>
                                    </p:animEffect>
                                  </p:childTnLst>
                                </p:cTn>
                              </p:par>
                              <p:par>
                                <p:cTn id="815" nodeType="withEffect" fill="hold" presetClass="entr" presetID="22" presetSubtype="1" repeatCount="1000">
                                  <p:stCondLst>
                                    <p:cond delay="0"/>
                                  </p:stCondLst>
                                  <p:childTnLst>
                                    <p:set>
                                      <p:cBhvr>
                                        <p:cTn id="816" dur="1" fill="hold">
                                          <p:stCondLst>
                                            <p:cond delay="0"/>
                                          </p:stCondLst>
                                        </p:cTn>
                                        <p:tgtEl>
                                          <p:spTgt spid="529">
                                            <p:txEl>
                                              <p:pRg st="3" end="3"/>
                                            </p:txEl>
                                          </p:spTgt>
                                        </p:tgtEl>
                                        <p:attrNameLst>
                                          <p:attrName>style.visibility</p:attrName>
                                        </p:attrNameLst>
                                      </p:cBhvr>
                                      <p:to>
                                        <p:strVal val="visible"/>
                                      </p:to>
                                    </p:set>
                                    <p:animEffect filter="wipe(up)" transition="in">
                                      <p:cBhvr additive="repl">
                                        <p:cTn id="817" dur="1500"/>
                                        <p:tgtEl>
                                          <p:spTgt spid="529">
                                            <p:txEl>
                                              <p:pRg st="3" end="3"/>
                                            </p:txEl>
                                          </p:spTgt>
                                        </p:tgtEl>
                                      </p:cBhvr>
                                    </p:animEffect>
                                  </p:childTnLst>
                                </p:cTn>
                              </p:par>
                            </p:childTnLst>
                          </p:cTn>
                        </p:par>
                      </p:childTnLst>
                    </p:cTn>
                  </p:par>
                  <p:par>
                    <p:cTn id="818" nodeType="clickEffect" fill="hold">
                      <p:stCondLst>
                        <p:cond delay="indefinite"/>
                      </p:stCondLst>
                      <p:childTnLst>
                        <p:par>
                          <p:cTn id="819" nodeType="withEffect" fill="hold">
                            <p:stCondLst>
                              <p:cond delay="0"/>
                            </p:stCondLst>
                            <p:childTnLst>
                              <p:par>
                                <p:cTn id="820" nodeType="clickEffect" fill="hold" presetClass="entr" presetID="53" presetSubtype="16">
                                  <p:stCondLst>
                                    <p:cond delay="0"/>
                                  </p:stCondLst>
                                  <p:childTnLst>
                                    <p:set>
                                      <p:cBhvr>
                                        <p:cTn id="821" dur="1" fill="hold">
                                          <p:stCondLst>
                                            <p:cond delay="0"/>
                                          </p:stCondLst>
                                        </p:cTn>
                                        <p:tgtEl>
                                          <p:spTgt spid="529">
                                            <p:txEl>
                                              <p:pRg st="4" end="4"/>
                                            </p:txEl>
                                          </p:spTgt>
                                        </p:tgtEl>
                                        <p:attrNameLst>
                                          <p:attrName>style.visibility</p:attrName>
                                        </p:attrNameLst>
                                      </p:cBhvr>
                                      <p:to>
                                        <p:strVal val="visible"/>
                                      </p:to>
                                    </p:set>
                                    <p:anim calcmode="lin" valueType="num">
                                      <p:cBhvr additive="repl">
                                        <p:cTn id="822" dur="500" fill="hold"/>
                                        <p:tgtEl>
                                          <p:spTgt spid="529">
                                            <p:txEl>
                                              <p:pRg st="4" end="4"/>
                                            </p:txEl>
                                          </p:spTgt>
                                        </p:tgtEl>
                                        <p:attrNameLst>
                                          <p:attrName>ppt_w</p:attrName>
                                        </p:attrNameLst>
                                      </p:cBhvr>
                                      <p:tavLst>
                                        <p:tav tm="0">
                                          <p:val>
                                            <p:fltVal val="0"/>
                                          </p:val>
                                        </p:tav>
                                        <p:tav tm="100000">
                                          <p:val>
                                            <p:strVal val="#ppt_w"/>
                                          </p:val>
                                        </p:tav>
                                      </p:tavLst>
                                    </p:anim>
                                    <p:anim calcmode="lin" valueType="num">
                                      <p:cBhvr additive="repl">
                                        <p:cTn id="823" dur="500" fill="hold"/>
                                        <p:tgtEl>
                                          <p:spTgt spid="529">
                                            <p:txEl>
                                              <p:pRg st="4" end="4"/>
                                            </p:txEl>
                                          </p:spTgt>
                                        </p:tgtEl>
                                        <p:attrNameLst>
                                          <p:attrName>ppt_h</p:attrName>
                                        </p:attrNameLst>
                                      </p:cBhvr>
                                      <p:tavLst>
                                        <p:tav tm="0">
                                          <p:val>
                                            <p:fltVal val="0"/>
                                          </p:val>
                                        </p:tav>
                                        <p:tav tm="100000">
                                          <p:val>
                                            <p:strVal val="#ppt_h"/>
                                          </p:val>
                                        </p:tav>
                                      </p:tavLst>
                                    </p:anim>
                                    <p:animEffect filter="fade" transition="in">
                                      <p:cBhvr additive="repl">
                                        <p:cTn id="824" dur="500"/>
                                        <p:tgtEl>
                                          <p:spTgt spid="52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Mésocycleé,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531" name="Flèche droite 2"/>
          <p:cNvSpPr/>
          <p:nvPr/>
        </p:nvSpPr>
        <p:spPr>
          <a:xfrm>
            <a:off x="569880" y="249228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825" dur="indefinite" restart="never" nodeType="tmRoot">
          <p:childTnLst>
            <p:seq>
              <p:cTn id="826" dur="indefinite" nodeType="mainSeq">
                <p:childTnLst>
                  <p:par>
                    <p:cTn id="827" nodeType="clickEffect" fill="hold">
                      <p:stCondLst>
                        <p:cond delay="indefinite"/>
                      </p:stCondLst>
                      <p:childTnLst>
                        <p:par>
                          <p:cTn id="828" nodeType="withEffect" fill="hold">
                            <p:stCondLst>
                              <p:cond delay="0"/>
                            </p:stCondLst>
                            <p:childTnLst>
                              <p:par>
                                <p:cTn id="829" nodeType="clickEffect" fill="hold" presetClass="entr" presetID="22" presetSubtype="8">
                                  <p:stCondLst>
                                    <p:cond delay="0"/>
                                  </p:stCondLst>
                                  <p:childTnLst>
                                    <p:set>
                                      <p:cBhvr>
                                        <p:cTn id="830" dur="1" fill="hold">
                                          <p:stCondLst>
                                            <p:cond delay="0"/>
                                          </p:stCondLst>
                                        </p:cTn>
                                        <p:tgtEl>
                                          <p:spTgt spid="531"/>
                                        </p:tgtEl>
                                        <p:attrNameLst>
                                          <p:attrName>style.visibility</p:attrName>
                                        </p:attrNameLst>
                                      </p:cBhvr>
                                      <p:to>
                                        <p:strVal val="visible"/>
                                      </p:to>
                                    </p:set>
                                    <p:animEffect filter="wipe(left)" transition="in">
                                      <p:cBhvr additive="repl">
                                        <p:cTn id="831" dur="500"/>
                                        <p:tgtEl>
                                          <p:spTgt spid="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Text Box 4"/>
          <p:cNvSpPr/>
          <p:nvPr/>
        </p:nvSpPr>
        <p:spPr>
          <a:xfrm>
            <a:off x="1623240" y="1963800"/>
            <a:ext cx="5535360" cy="2015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L’ENTRAÎNEMENT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SON</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 ORGANISATION GENERALE </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ZoneTexte 1"/>
          <p:cNvSpPr/>
          <p:nvPr/>
        </p:nvSpPr>
        <p:spPr>
          <a:xfrm>
            <a:off x="-1008360" y="282600"/>
            <a:ext cx="108151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MANAGEMENT : REPARTITION DES RESPONSABILITES</a:t>
            </a:r>
            <a:endParaRPr b="0" lang="en-US" sz="2800" strike="noStrike" u="none">
              <a:solidFill>
                <a:srgbClr val="ffff00"/>
              </a:solidFill>
              <a:effectLst/>
              <a:uFillTx/>
              <a:latin typeface="Times New Roman"/>
            </a:endParaRPr>
          </a:p>
        </p:txBody>
      </p:sp>
      <p:sp>
        <p:nvSpPr>
          <p:cNvPr id="534" name="ZoneTexte 2"/>
          <p:cNvSpPr/>
          <p:nvPr/>
        </p:nvSpPr>
        <p:spPr>
          <a:xfrm>
            <a:off x="-596520" y="981000"/>
            <a:ext cx="10189800" cy="794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PLANIFICATION : </a:t>
            </a:r>
            <a:r>
              <a:rPr b="0" lang="fr-FR" sz="2200" strike="noStrike" u="none">
                <a:solidFill>
                  <a:srgbClr val="ffff00"/>
                </a:solidFill>
                <a:effectLst/>
                <a:uFillTx/>
                <a:latin typeface="Calibri"/>
                <a:ea typeface="Calibri"/>
              </a:rPr>
              <a:t>Elaborée tous les douze, huit et quatre ans par </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Calibri"/>
                <a:ea typeface="Calibri"/>
              </a:rPr>
              <a:t>l’ensemble des acteurs du staff sous la supervision du directeur sportif.</a:t>
            </a:r>
            <a:endParaRPr b="0" lang="en-US" sz="2200" strike="noStrike" u="none">
              <a:solidFill>
                <a:srgbClr val="ffff00"/>
              </a:solidFill>
              <a:effectLst/>
              <a:uFillTx/>
              <a:latin typeface="Times New Roman"/>
            </a:endParaRPr>
          </a:p>
        </p:txBody>
      </p:sp>
      <p:sp>
        <p:nvSpPr>
          <p:cNvPr id="535" name="ZoneTexte 5"/>
          <p:cNvSpPr/>
          <p:nvPr/>
        </p:nvSpPr>
        <p:spPr>
          <a:xfrm>
            <a:off x="-614880" y="1989000"/>
            <a:ext cx="10231200" cy="794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PERIODISATION : </a:t>
            </a:r>
            <a:r>
              <a:rPr b="0" lang="fr-FR" sz="2200" strike="noStrike" u="none">
                <a:solidFill>
                  <a:srgbClr val="ffff00"/>
                </a:solidFill>
                <a:effectLst/>
                <a:uFillTx/>
                <a:latin typeface="Calibri"/>
                <a:ea typeface="Calibri"/>
              </a:rPr>
              <a:t>Elaborée au début de chaque saison en coordination</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Calibri"/>
                <a:ea typeface="Calibri"/>
              </a:rPr>
              <a:t>entre </a:t>
            </a:r>
            <a:r>
              <a:rPr b="0" i="1" lang="fr-FR" sz="2200" strike="noStrike" u="none">
                <a:solidFill>
                  <a:srgbClr val="ffffff"/>
                </a:solidFill>
                <a:effectLst/>
                <a:uFillTx/>
                <a:latin typeface="Calibri"/>
                <a:ea typeface="Calibri"/>
              </a:rPr>
              <a:t>l’entraîneur et le préparateur physique.</a:t>
            </a:r>
            <a:endParaRPr b="0" lang="en-US" sz="2200" strike="noStrike" u="none">
              <a:solidFill>
                <a:srgbClr val="ffff00"/>
              </a:solidFill>
              <a:effectLst/>
              <a:uFillTx/>
              <a:latin typeface="Times New Roman"/>
            </a:endParaRPr>
          </a:p>
        </p:txBody>
      </p:sp>
      <p:sp>
        <p:nvSpPr>
          <p:cNvPr id="536" name="ZoneTexte 7"/>
          <p:cNvSpPr/>
          <p:nvPr/>
        </p:nvSpPr>
        <p:spPr>
          <a:xfrm>
            <a:off x="250920" y="2924280"/>
            <a:ext cx="8893080" cy="14652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MESOCYCLES </a:t>
            </a:r>
            <a:r>
              <a:rPr b="0" lang="fr-FR" sz="2400" strike="noStrike" u="none">
                <a:solidFill>
                  <a:srgbClr val="ffff00"/>
                </a:solidFill>
                <a:effectLst/>
                <a:uFillTx/>
                <a:latin typeface="Calibri"/>
                <a:ea typeface="Calibri"/>
              </a:rPr>
              <a:t>:</a:t>
            </a:r>
            <a:r>
              <a:rPr b="0" lang="fr-FR" sz="2200" strike="noStrike" u="none">
                <a:solidFill>
                  <a:srgbClr val="ffff00"/>
                </a:solidFill>
                <a:effectLst/>
                <a:uFillTx/>
                <a:latin typeface="Calibri"/>
                <a:ea typeface="Calibri"/>
              </a:rPr>
              <a:t> Elaboration par </a:t>
            </a:r>
            <a:r>
              <a:rPr b="0" i="1" lang="fr-FR" sz="2200" strike="noStrike" u="none">
                <a:solidFill>
                  <a:srgbClr val="ffffff"/>
                </a:solidFill>
                <a:effectLst/>
                <a:uFillTx/>
                <a:latin typeface="Calibri"/>
                <a:ea typeface="Calibri"/>
              </a:rPr>
              <a:t>l’entraîneur et le préparateur physique </a:t>
            </a:r>
            <a:r>
              <a:rPr b="0" lang="fr-FR" sz="2200" strike="noStrike" u="none">
                <a:solidFill>
                  <a:srgbClr val="ffff00"/>
                </a:solidFill>
                <a:effectLst/>
                <a:uFillTx/>
                <a:latin typeface="Calibri"/>
                <a:ea typeface="Calibri"/>
              </a:rPr>
              <a:t>des objectifs, des contenus et des durées du futur mesocycle et ce, avant la fin </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Calibri"/>
                <a:ea typeface="Calibri"/>
              </a:rPr>
              <a:t>du précédent.</a:t>
            </a:r>
            <a:endParaRPr b="0" lang="en-US" sz="2200" strike="noStrike" u="none">
              <a:solidFill>
                <a:srgbClr val="ffff00"/>
              </a:solidFill>
              <a:effectLst/>
              <a:uFillTx/>
              <a:latin typeface="Times New Roman"/>
            </a:endParaRPr>
          </a:p>
        </p:txBody>
      </p:sp>
      <p:sp>
        <p:nvSpPr>
          <p:cNvPr id="537" name="ZoneTexte 8"/>
          <p:cNvSpPr/>
          <p:nvPr/>
        </p:nvSpPr>
        <p:spPr>
          <a:xfrm>
            <a:off x="-741240" y="5673600"/>
            <a:ext cx="10699560" cy="11606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SEANCES CONSACREES A LA PREPARATION PHYSIQUE ET LEURS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CONTENUS EN EXERCICES ET RECUPERATIONS</a:t>
            </a:r>
            <a:r>
              <a:rPr b="0" lang="fr-FR" sz="2400" strike="noStrike" u="none">
                <a:solidFill>
                  <a:srgbClr val="ffff00"/>
                </a:solidFill>
                <a:effectLst/>
                <a:uFillTx/>
                <a:latin typeface="Calibri"/>
                <a:ea typeface="Calibri"/>
              </a:rPr>
              <a:t>: </a:t>
            </a:r>
            <a:r>
              <a:rPr b="0" lang="fr-FR" sz="2200" strike="noStrike" u="none">
                <a:solidFill>
                  <a:srgbClr val="ffff00"/>
                </a:solidFill>
                <a:effectLst/>
                <a:uFillTx/>
                <a:latin typeface="Calibri"/>
                <a:ea typeface="Calibri"/>
              </a:rPr>
              <a:t>Sous la responsabilité </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Calibri"/>
                <a:ea typeface="Calibri"/>
              </a:rPr>
              <a:t>du </a:t>
            </a:r>
            <a:r>
              <a:rPr b="0" i="1" lang="fr-FR" sz="2200" strike="noStrike" u="none">
                <a:solidFill>
                  <a:srgbClr val="ffffff"/>
                </a:solidFill>
                <a:effectLst/>
                <a:uFillTx/>
                <a:latin typeface="Calibri"/>
                <a:ea typeface="Calibri"/>
              </a:rPr>
              <a:t>préparateur physique.</a:t>
            </a:r>
            <a:endParaRPr b="0" lang="en-US" sz="2200" strike="noStrike" u="none">
              <a:solidFill>
                <a:srgbClr val="ffff00"/>
              </a:solidFill>
              <a:effectLst/>
              <a:uFillTx/>
              <a:latin typeface="Times New Roman"/>
            </a:endParaRPr>
          </a:p>
        </p:txBody>
      </p:sp>
      <p:sp>
        <p:nvSpPr>
          <p:cNvPr id="538" name="ZoneTexte 2"/>
          <p:cNvSpPr/>
          <p:nvPr/>
        </p:nvSpPr>
        <p:spPr>
          <a:xfrm>
            <a:off x="-846360" y="4292640"/>
            <a:ext cx="1106388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MICROCYCLES (7 jours) ET NANOCYCLES (3 jours avec 2 matches par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semaine) </a:t>
            </a:r>
            <a:r>
              <a:rPr b="0" lang="fr-FR" sz="2400" strike="noStrike" u="none">
                <a:solidFill>
                  <a:srgbClr val="ffff00"/>
                </a:solidFill>
                <a:effectLst/>
                <a:uFillTx/>
                <a:latin typeface="Calibri"/>
                <a:ea typeface="Calibri"/>
              </a:rPr>
              <a:t>: alternance des charges et des récupérations : </a:t>
            </a:r>
            <a:r>
              <a:rPr b="0" i="1" lang="fr-FR" sz="2400" strike="noStrike" u="none">
                <a:solidFill>
                  <a:srgbClr val="ffffff"/>
                </a:solidFill>
                <a:effectLst/>
                <a:uFillTx/>
                <a:latin typeface="Calibri"/>
                <a:ea typeface="Calibri"/>
              </a:rPr>
              <a:t>Entraîneur +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ff"/>
                </a:solidFill>
                <a:effectLst/>
                <a:uFillTx/>
                <a:latin typeface="Calibri"/>
                <a:ea typeface="Calibri"/>
              </a:rPr>
              <a:t>préparateur physique.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832" dur="indefinite" restart="never" nodeType="tmRoot">
          <p:childTnLst>
            <p:seq>
              <p:cTn id="833" dur="indefinite" nodeType="mainSeq">
                <p:childTnLst>
                  <p:par>
                    <p:cTn id="834" nodeType="clickEffect" fill="hold">
                      <p:stCondLst>
                        <p:cond delay="indefinite"/>
                      </p:stCondLst>
                      <p:childTnLst>
                        <p:par>
                          <p:cTn id="835" nodeType="withEffect" fill="hold">
                            <p:stCondLst>
                              <p:cond delay="0"/>
                            </p:stCondLst>
                            <p:childTnLst>
                              <p:par>
                                <p:cTn id="836" nodeType="clickEffect" fill="hold" presetClass="entr" presetID="53" presetSubtype="16" repeatCount="1000">
                                  <p:stCondLst>
                                    <p:cond delay="0"/>
                                  </p:stCondLst>
                                  <p:childTnLst>
                                    <p:set>
                                      <p:cBhvr>
                                        <p:cTn id="837" dur="1" fill="hold">
                                          <p:stCondLst>
                                            <p:cond delay="0"/>
                                          </p:stCondLst>
                                        </p:cTn>
                                        <p:tgtEl>
                                          <p:spTgt spid="534"/>
                                        </p:tgtEl>
                                        <p:attrNameLst>
                                          <p:attrName>style.visibility</p:attrName>
                                        </p:attrNameLst>
                                      </p:cBhvr>
                                      <p:to>
                                        <p:strVal val="visible"/>
                                      </p:to>
                                    </p:set>
                                    <p:anim calcmode="lin" valueType="num">
                                      <p:cBhvr additive="repl">
                                        <p:cTn id="838" dur="2000" fill="hold"/>
                                        <p:tgtEl>
                                          <p:spTgt spid="534"/>
                                        </p:tgtEl>
                                        <p:attrNameLst>
                                          <p:attrName>ppt_w</p:attrName>
                                        </p:attrNameLst>
                                      </p:cBhvr>
                                      <p:tavLst>
                                        <p:tav tm="0">
                                          <p:val>
                                            <p:fltVal val="0"/>
                                          </p:val>
                                        </p:tav>
                                        <p:tav tm="100000">
                                          <p:val>
                                            <p:strVal val="#ppt_w"/>
                                          </p:val>
                                        </p:tav>
                                      </p:tavLst>
                                    </p:anim>
                                    <p:anim calcmode="lin" valueType="num">
                                      <p:cBhvr additive="repl">
                                        <p:cTn id="839" dur="2000" fill="hold"/>
                                        <p:tgtEl>
                                          <p:spTgt spid="534"/>
                                        </p:tgtEl>
                                        <p:attrNameLst>
                                          <p:attrName>ppt_h</p:attrName>
                                        </p:attrNameLst>
                                      </p:cBhvr>
                                      <p:tavLst>
                                        <p:tav tm="0">
                                          <p:val>
                                            <p:fltVal val="0"/>
                                          </p:val>
                                        </p:tav>
                                        <p:tav tm="100000">
                                          <p:val>
                                            <p:strVal val="#ppt_h"/>
                                          </p:val>
                                        </p:tav>
                                      </p:tavLst>
                                    </p:anim>
                                    <p:animEffect filter="fade" transition="in">
                                      <p:cBhvr additive="repl">
                                        <p:cTn id="840" dur="2000"/>
                                        <p:tgtEl>
                                          <p:spTgt spid="534"/>
                                        </p:tgtEl>
                                      </p:cBhvr>
                                    </p:animEffect>
                                  </p:childTnLst>
                                </p:cTn>
                              </p:par>
                            </p:childTnLst>
                          </p:cTn>
                        </p:par>
                      </p:childTnLst>
                    </p:cTn>
                  </p:par>
                  <p:par>
                    <p:cTn id="841" nodeType="clickEffect" fill="hold">
                      <p:stCondLst>
                        <p:cond delay="indefinite"/>
                      </p:stCondLst>
                      <p:childTnLst>
                        <p:par>
                          <p:cTn id="842" nodeType="withEffect" fill="hold">
                            <p:stCondLst>
                              <p:cond delay="0"/>
                            </p:stCondLst>
                            <p:childTnLst>
                              <p:par>
                                <p:cTn id="843" nodeType="clickEffect" fill="hold" presetClass="entr" presetID="53" presetSubtype="16" repeatCount="1000">
                                  <p:stCondLst>
                                    <p:cond delay="0"/>
                                  </p:stCondLst>
                                  <p:childTnLst>
                                    <p:set>
                                      <p:cBhvr>
                                        <p:cTn id="844" dur="1" fill="hold">
                                          <p:stCondLst>
                                            <p:cond delay="0"/>
                                          </p:stCondLst>
                                        </p:cTn>
                                        <p:tgtEl>
                                          <p:spTgt spid="535"/>
                                        </p:tgtEl>
                                        <p:attrNameLst>
                                          <p:attrName>style.visibility</p:attrName>
                                        </p:attrNameLst>
                                      </p:cBhvr>
                                      <p:to>
                                        <p:strVal val="visible"/>
                                      </p:to>
                                    </p:set>
                                    <p:anim calcmode="lin" valueType="num">
                                      <p:cBhvr additive="repl">
                                        <p:cTn id="845" dur="2000" fill="hold"/>
                                        <p:tgtEl>
                                          <p:spTgt spid="535"/>
                                        </p:tgtEl>
                                        <p:attrNameLst>
                                          <p:attrName>ppt_w</p:attrName>
                                        </p:attrNameLst>
                                      </p:cBhvr>
                                      <p:tavLst>
                                        <p:tav tm="0">
                                          <p:val>
                                            <p:fltVal val="0"/>
                                          </p:val>
                                        </p:tav>
                                        <p:tav tm="100000">
                                          <p:val>
                                            <p:strVal val="#ppt_w"/>
                                          </p:val>
                                        </p:tav>
                                      </p:tavLst>
                                    </p:anim>
                                    <p:anim calcmode="lin" valueType="num">
                                      <p:cBhvr additive="repl">
                                        <p:cTn id="846" dur="2000" fill="hold"/>
                                        <p:tgtEl>
                                          <p:spTgt spid="535"/>
                                        </p:tgtEl>
                                        <p:attrNameLst>
                                          <p:attrName>ppt_h</p:attrName>
                                        </p:attrNameLst>
                                      </p:cBhvr>
                                      <p:tavLst>
                                        <p:tav tm="0">
                                          <p:val>
                                            <p:fltVal val="0"/>
                                          </p:val>
                                        </p:tav>
                                        <p:tav tm="100000">
                                          <p:val>
                                            <p:strVal val="#ppt_h"/>
                                          </p:val>
                                        </p:tav>
                                      </p:tavLst>
                                    </p:anim>
                                    <p:animEffect filter="fade" transition="in">
                                      <p:cBhvr additive="repl">
                                        <p:cTn id="847" dur="2000"/>
                                        <p:tgtEl>
                                          <p:spTgt spid="535"/>
                                        </p:tgtEl>
                                      </p:cBhvr>
                                    </p:animEffect>
                                  </p:childTnLst>
                                </p:cTn>
                              </p:par>
                            </p:childTnLst>
                          </p:cTn>
                        </p:par>
                      </p:childTnLst>
                    </p:cTn>
                  </p:par>
                  <p:par>
                    <p:cTn id="848" nodeType="clickEffect" fill="hold">
                      <p:stCondLst>
                        <p:cond delay="indefinite"/>
                      </p:stCondLst>
                      <p:childTnLst>
                        <p:par>
                          <p:cTn id="849" nodeType="withEffect" fill="hold">
                            <p:stCondLst>
                              <p:cond delay="0"/>
                            </p:stCondLst>
                            <p:childTnLst>
                              <p:par>
                                <p:cTn id="850" nodeType="clickEffect" fill="hold" presetClass="entr" presetID="53" presetSubtype="16" repeatCount="1000">
                                  <p:stCondLst>
                                    <p:cond delay="0"/>
                                  </p:stCondLst>
                                  <p:childTnLst>
                                    <p:set>
                                      <p:cBhvr>
                                        <p:cTn id="851" dur="1" fill="hold">
                                          <p:stCondLst>
                                            <p:cond delay="0"/>
                                          </p:stCondLst>
                                        </p:cTn>
                                        <p:tgtEl>
                                          <p:spTgt spid="536"/>
                                        </p:tgtEl>
                                        <p:attrNameLst>
                                          <p:attrName>style.visibility</p:attrName>
                                        </p:attrNameLst>
                                      </p:cBhvr>
                                      <p:to>
                                        <p:strVal val="visible"/>
                                      </p:to>
                                    </p:set>
                                    <p:anim calcmode="lin" valueType="num">
                                      <p:cBhvr additive="repl">
                                        <p:cTn id="852" dur="2000" fill="hold"/>
                                        <p:tgtEl>
                                          <p:spTgt spid="536"/>
                                        </p:tgtEl>
                                        <p:attrNameLst>
                                          <p:attrName>ppt_w</p:attrName>
                                        </p:attrNameLst>
                                      </p:cBhvr>
                                      <p:tavLst>
                                        <p:tav tm="0">
                                          <p:val>
                                            <p:fltVal val="0"/>
                                          </p:val>
                                        </p:tav>
                                        <p:tav tm="100000">
                                          <p:val>
                                            <p:strVal val="#ppt_w"/>
                                          </p:val>
                                        </p:tav>
                                      </p:tavLst>
                                    </p:anim>
                                    <p:anim calcmode="lin" valueType="num">
                                      <p:cBhvr additive="repl">
                                        <p:cTn id="853" dur="2000" fill="hold"/>
                                        <p:tgtEl>
                                          <p:spTgt spid="536"/>
                                        </p:tgtEl>
                                        <p:attrNameLst>
                                          <p:attrName>ppt_h</p:attrName>
                                        </p:attrNameLst>
                                      </p:cBhvr>
                                      <p:tavLst>
                                        <p:tav tm="0">
                                          <p:val>
                                            <p:fltVal val="0"/>
                                          </p:val>
                                        </p:tav>
                                        <p:tav tm="100000">
                                          <p:val>
                                            <p:strVal val="#ppt_h"/>
                                          </p:val>
                                        </p:tav>
                                      </p:tavLst>
                                    </p:anim>
                                    <p:animEffect filter="fade" transition="in">
                                      <p:cBhvr additive="repl">
                                        <p:cTn id="854" dur="2000"/>
                                        <p:tgtEl>
                                          <p:spTgt spid="536"/>
                                        </p:tgtEl>
                                      </p:cBhvr>
                                    </p:animEffect>
                                  </p:childTnLst>
                                </p:cTn>
                              </p:par>
                            </p:childTnLst>
                          </p:cTn>
                        </p:par>
                      </p:childTnLst>
                    </p:cTn>
                  </p:par>
                  <p:par>
                    <p:cTn id="855" nodeType="clickEffect" fill="hold">
                      <p:stCondLst>
                        <p:cond delay="indefinite"/>
                      </p:stCondLst>
                      <p:childTnLst>
                        <p:par>
                          <p:cTn id="856" nodeType="withEffect" fill="hold">
                            <p:stCondLst>
                              <p:cond delay="0"/>
                            </p:stCondLst>
                            <p:childTnLst>
                              <p:par>
                                <p:cTn id="857" nodeType="clickEffect" fill="hold" presetClass="entr" presetID="53" presetSubtype="16" repeatCount="1000">
                                  <p:stCondLst>
                                    <p:cond delay="0"/>
                                  </p:stCondLst>
                                  <p:childTnLst>
                                    <p:set>
                                      <p:cBhvr>
                                        <p:cTn id="858" dur="1" fill="hold">
                                          <p:stCondLst>
                                            <p:cond delay="0"/>
                                          </p:stCondLst>
                                        </p:cTn>
                                        <p:tgtEl>
                                          <p:spTgt spid="538"/>
                                        </p:tgtEl>
                                        <p:attrNameLst>
                                          <p:attrName>style.visibility</p:attrName>
                                        </p:attrNameLst>
                                      </p:cBhvr>
                                      <p:to>
                                        <p:strVal val="visible"/>
                                      </p:to>
                                    </p:set>
                                    <p:anim calcmode="lin" valueType="num">
                                      <p:cBhvr additive="repl">
                                        <p:cTn id="859" dur="1500" fill="hold"/>
                                        <p:tgtEl>
                                          <p:spTgt spid="538"/>
                                        </p:tgtEl>
                                        <p:attrNameLst>
                                          <p:attrName>ppt_w</p:attrName>
                                        </p:attrNameLst>
                                      </p:cBhvr>
                                      <p:tavLst>
                                        <p:tav tm="0">
                                          <p:val>
                                            <p:fltVal val="0"/>
                                          </p:val>
                                        </p:tav>
                                        <p:tav tm="100000">
                                          <p:val>
                                            <p:strVal val="#ppt_w"/>
                                          </p:val>
                                        </p:tav>
                                      </p:tavLst>
                                    </p:anim>
                                    <p:anim calcmode="lin" valueType="num">
                                      <p:cBhvr additive="repl">
                                        <p:cTn id="860" dur="1500" fill="hold"/>
                                        <p:tgtEl>
                                          <p:spTgt spid="538"/>
                                        </p:tgtEl>
                                        <p:attrNameLst>
                                          <p:attrName>ppt_h</p:attrName>
                                        </p:attrNameLst>
                                      </p:cBhvr>
                                      <p:tavLst>
                                        <p:tav tm="0">
                                          <p:val>
                                            <p:fltVal val="0"/>
                                          </p:val>
                                        </p:tav>
                                        <p:tav tm="100000">
                                          <p:val>
                                            <p:strVal val="#ppt_h"/>
                                          </p:val>
                                        </p:tav>
                                      </p:tavLst>
                                    </p:anim>
                                    <p:animEffect filter="fade" transition="in">
                                      <p:cBhvr additive="repl">
                                        <p:cTn id="861" dur="1500"/>
                                        <p:tgtEl>
                                          <p:spTgt spid="538"/>
                                        </p:tgtEl>
                                      </p:cBhvr>
                                    </p:animEffect>
                                  </p:childTnLst>
                                </p:cTn>
                              </p:par>
                            </p:childTnLst>
                          </p:cTn>
                        </p:par>
                      </p:childTnLst>
                    </p:cTn>
                  </p:par>
                  <p:par>
                    <p:cTn id="862" nodeType="clickEffect" fill="hold">
                      <p:stCondLst>
                        <p:cond delay="indefinite"/>
                      </p:stCondLst>
                      <p:childTnLst>
                        <p:par>
                          <p:cTn id="863" nodeType="withEffect" fill="hold">
                            <p:stCondLst>
                              <p:cond delay="0"/>
                            </p:stCondLst>
                            <p:childTnLst>
                              <p:par>
                                <p:cTn id="864" nodeType="clickEffect" fill="hold" presetClass="entr" presetID="53" presetSubtype="16" repeatCount="1000">
                                  <p:stCondLst>
                                    <p:cond delay="0"/>
                                  </p:stCondLst>
                                  <p:childTnLst>
                                    <p:set>
                                      <p:cBhvr>
                                        <p:cTn id="865" dur="1" fill="hold">
                                          <p:stCondLst>
                                            <p:cond delay="0"/>
                                          </p:stCondLst>
                                        </p:cTn>
                                        <p:tgtEl>
                                          <p:spTgt spid="537"/>
                                        </p:tgtEl>
                                        <p:attrNameLst>
                                          <p:attrName>style.visibility</p:attrName>
                                        </p:attrNameLst>
                                      </p:cBhvr>
                                      <p:to>
                                        <p:strVal val="visible"/>
                                      </p:to>
                                    </p:set>
                                    <p:anim calcmode="lin" valueType="num">
                                      <p:cBhvr additive="repl">
                                        <p:cTn id="866" dur="2000" fill="hold"/>
                                        <p:tgtEl>
                                          <p:spTgt spid="537"/>
                                        </p:tgtEl>
                                        <p:attrNameLst>
                                          <p:attrName>ppt_w</p:attrName>
                                        </p:attrNameLst>
                                      </p:cBhvr>
                                      <p:tavLst>
                                        <p:tav tm="0">
                                          <p:val>
                                            <p:fltVal val="0"/>
                                          </p:val>
                                        </p:tav>
                                        <p:tav tm="100000">
                                          <p:val>
                                            <p:strVal val="#ppt_w"/>
                                          </p:val>
                                        </p:tav>
                                      </p:tavLst>
                                    </p:anim>
                                    <p:anim calcmode="lin" valueType="num">
                                      <p:cBhvr additive="repl">
                                        <p:cTn id="867" dur="2000" fill="hold"/>
                                        <p:tgtEl>
                                          <p:spTgt spid="537"/>
                                        </p:tgtEl>
                                        <p:attrNameLst>
                                          <p:attrName>ppt_h</p:attrName>
                                        </p:attrNameLst>
                                      </p:cBhvr>
                                      <p:tavLst>
                                        <p:tav tm="0">
                                          <p:val>
                                            <p:fltVal val="0"/>
                                          </p:val>
                                        </p:tav>
                                        <p:tav tm="100000">
                                          <p:val>
                                            <p:strVal val="#ppt_h"/>
                                          </p:val>
                                        </p:tav>
                                      </p:tavLst>
                                    </p:anim>
                                    <p:animEffect filter="fade" transition="in">
                                      <p:cBhvr additive="repl">
                                        <p:cTn id="868" dur="2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Text Box 2"/>
          <p:cNvSpPr/>
          <p:nvPr/>
        </p:nvSpPr>
        <p:spPr>
          <a:xfrm>
            <a:off x="108000" y="1413000"/>
            <a:ext cx="4176720" cy="486612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CHARGE EXTERNE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ea typeface="Arial"/>
              </a:rPr>
              <a:t>Sous la responsabilité des préparateurs physiques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d2d2f4"/>
                </a:solidFill>
                <a:effectLst/>
                <a:uFillTx/>
                <a:latin typeface="Arial"/>
                <a:ea typeface="Arial"/>
              </a:rPr>
              <a:t>Gestion des exercices : </a:t>
            </a:r>
            <a:r>
              <a:rPr b="0" lang="fr-FR" sz="2000" strike="noStrike" u="none">
                <a:solidFill>
                  <a:srgbClr val="ffff00"/>
                </a:solidFill>
                <a:effectLst/>
                <a:uFillTx/>
                <a:latin typeface="Arial"/>
                <a:ea typeface="Arial"/>
              </a:rPr>
              <a:t>fréquence, durée, intensité des exercices; durée et modalité des récupérations.</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d2d2f4"/>
                </a:solidFill>
                <a:effectLst/>
                <a:uFillTx/>
                <a:latin typeface="Arial"/>
                <a:ea typeface="Arial"/>
              </a:rPr>
              <a:t>Gestion des microcycles et des mésocycles </a:t>
            </a:r>
            <a:r>
              <a:rPr b="0" lang="fr-FR" sz="2000" strike="noStrike" u="none">
                <a:solidFill>
                  <a:srgbClr val="ffff00"/>
                </a:solidFill>
                <a:effectLst/>
                <a:uFillTx/>
                <a:latin typeface="Arial"/>
                <a:ea typeface="Arial"/>
              </a:rPr>
              <a:t>: objectifs, durée, alternance, progressivité.</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ea typeface="Arial"/>
              </a:rPr>
              <a:t>CONTRÔLE DE L’ENTRAÎNEMENT </a:t>
            </a:r>
            <a:endParaRPr b="0" lang="en-US" sz="1800" strike="noStrike" u="none">
              <a:solidFill>
                <a:srgbClr val="ffff00"/>
              </a:solidFill>
              <a:effectLst/>
              <a:uFillTx/>
              <a:latin typeface="Times New Roman"/>
            </a:endParaRPr>
          </a:p>
        </p:txBody>
      </p:sp>
      <p:sp>
        <p:nvSpPr>
          <p:cNvPr id="540" name="Text Box 3"/>
          <p:cNvSpPr/>
          <p:nvPr/>
        </p:nvSpPr>
        <p:spPr>
          <a:xfrm>
            <a:off x="4429080" y="1413000"/>
            <a:ext cx="4606920" cy="490896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CHARGE INTERNE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ea typeface="Arial"/>
              </a:rPr>
              <a:t>Sous la responsabilité du staff médical et paramédical + biologiste + préparateur mental.</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Analyse et surveillance des modifications biométriques, physiologiques, biologiques, comportementales, induites par</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les charges externes.</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ea typeface="Arial"/>
              </a:rPr>
              <a:t>SUIVI DE L’ENTRAÎNEMENT </a:t>
            </a:r>
            <a:endParaRPr b="0" lang="en-US" sz="2000" strike="noStrike" u="none">
              <a:solidFill>
                <a:srgbClr val="ffff00"/>
              </a:solidFill>
              <a:effectLst/>
              <a:uFillTx/>
              <a:latin typeface="Times New Roman"/>
            </a:endParaRPr>
          </a:p>
        </p:txBody>
      </p:sp>
      <p:sp>
        <p:nvSpPr>
          <p:cNvPr id="541" name="AutoShape 4"/>
          <p:cNvSpPr/>
          <p:nvPr/>
        </p:nvSpPr>
        <p:spPr>
          <a:xfrm>
            <a:off x="1619280" y="333360"/>
            <a:ext cx="6553080" cy="1079640"/>
          </a:xfrm>
          <a:custGeom>
            <a:avLst/>
            <a:gdLst>
              <a:gd name="textAreaLeft" fmla="*/ 1470960 w 6553080"/>
              <a:gd name="textAreaRight" fmla="*/ 4683960 w 6553080"/>
              <a:gd name="textAreaTop" fmla="*/ 144360 h 1079640"/>
              <a:gd name="textAreaBottom" fmla="*/ 935280 h 1079640"/>
              <a:gd name="GluePoint1X" fmla="*/ 17 w 21600"/>
              <a:gd name="GluePoint1Y" fmla="*/ 0 h 21600"/>
              <a:gd name="GluePoint2X" fmla="*/ 16 w 21600"/>
              <a:gd name="GluePoint2Y" fmla="*/ 22 h 21600"/>
              <a:gd name="GluePoint3X" fmla="*/ 12 w 21600"/>
              <a:gd name="GluePoint3Y" fmla="*/ 2 h 21600"/>
              <a:gd name="GluePoint4X" fmla="*/ 8 w 21600"/>
              <a:gd name="GluePoint4Y" fmla="*/ 22 h 21600"/>
              <a:gd name="GluePoint5X" fmla="*/ 14 w 21600"/>
              <a:gd name="GluePoint5Y" fmla="*/ 2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21600"/>
                </a:moveTo>
                <a:arcTo wR="9698" hR="21600" stAng="10800000" swAng="5400000"/>
                <a:lnTo>
                  <a:pt x="10590" y="0"/>
                </a:lnTo>
                <a:arcTo wR="9698" hR="21600" stAng="-5400000" swAng="3106866"/>
                <a:lnTo>
                  <a:pt x="21045" y="14400"/>
                </a:lnTo>
                <a:lnTo>
                  <a:pt x="19842" y="21600"/>
                </a:lnTo>
                <a:lnTo>
                  <a:pt x="17529" y="14400"/>
                </a:lnTo>
                <a:lnTo>
                  <a:pt x="18841" y="14400"/>
                </a:lnTo>
                <a:arcTo wR="9698" hR="21600" stAng="-2293134" swAng="-3035818"/>
                <a:lnTo>
                  <a:pt x="10144" y="23"/>
                </a:lnTo>
                <a:arcTo wR="9698" hR="21600" stAng="-5471048" swAng="-5328952"/>
                <a:close/>
              </a:path>
              <a:path fill="darkenLess" w="21600" h="21600">
                <a:moveTo>
                  <a:pt x="0" y="21600"/>
                </a:moveTo>
                <a:arcTo wR="9698" hR="21600" stAng="10800000" swAng="5400000"/>
                <a:lnTo>
                  <a:pt x="9698" y="0"/>
                </a:lnTo>
                <a:arcTo wR="9698" hR="21600" stAng="-5400000" swAng="71048"/>
                <a:lnTo>
                  <a:pt x="10144" y="23"/>
                </a:lnTo>
                <a:arcTo wR="9698" hR="21600" stAng="-5471048" swAng="-5328952"/>
                <a:close/>
              </a:path>
            </a:pathLst>
          </a:custGeom>
          <a:solidFill>
            <a:srgbClr val="ffff00"/>
          </a:soli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42" name="AutoShape 5"/>
          <p:cNvSpPr/>
          <p:nvPr/>
        </p:nvSpPr>
        <p:spPr>
          <a:xfrm rot="10800000">
            <a:off x="1763640" y="6165360"/>
            <a:ext cx="4464000" cy="576360"/>
          </a:xfrm>
          <a:custGeom>
            <a:avLst/>
            <a:gdLst>
              <a:gd name="textAreaLeft" fmla="*/ 1002240 w 4464000"/>
              <a:gd name="textAreaRight" fmla="*/ 3054960 w 4464000"/>
              <a:gd name="textAreaTop" fmla="*/ 77040 h 576360"/>
              <a:gd name="textAreaBottom" fmla="*/ 499320 h 576360"/>
              <a:gd name="GluePoint1X" fmla="*/ 17 w 21600"/>
              <a:gd name="GluePoint1Y" fmla="*/ 0 h 21600"/>
              <a:gd name="GluePoint2X" fmla="*/ 16 w 21600"/>
              <a:gd name="GluePoint2Y" fmla="*/ 22 h 21600"/>
              <a:gd name="GluePoint3X" fmla="*/ 12 w 21600"/>
              <a:gd name="GluePoint3Y" fmla="*/ 2 h 21600"/>
              <a:gd name="GluePoint4X" fmla="*/ 8 w 21600"/>
              <a:gd name="GluePoint4Y" fmla="*/ 22 h 21600"/>
              <a:gd name="GluePoint5X" fmla="*/ 14 w 21600"/>
              <a:gd name="GluePoint5Y" fmla="*/ 2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21600"/>
                </a:moveTo>
                <a:arcTo wR="9699" hR="21600" stAng="10800000" swAng="5400000"/>
                <a:lnTo>
                  <a:pt x="9932" y="0"/>
                </a:lnTo>
                <a:arcTo wR="9699" hR="21600" stAng="-5400000" swAng="3254401"/>
                <a:lnTo>
                  <a:pt x="21129" y="14954"/>
                </a:lnTo>
                <a:lnTo>
                  <a:pt x="19515" y="21600"/>
                </a:lnTo>
                <a:lnTo>
                  <a:pt x="16958" y="14954"/>
                </a:lnTo>
                <a:lnTo>
                  <a:pt x="18927" y="14954"/>
                </a:lnTo>
                <a:arcTo wR="9699" hR="21600" stAng="-2145599" swAng="-3235858"/>
                <a:lnTo>
                  <a:pt x="9816" y="2"/>
                </a:lnTo>
                <a:arcTo wR="9699" hR="21600" stAng="-5418543" swAng="-5381457"/>
                <a:close/>
              </a:path>
              <a:path fill="darkenLess" w="21600" h="21600">
                <a:moveTo>
                  <a:pt x="0" y="21600"/>
                </a:moveTo>
                <a:arcTo wR="9699" hR="21600" stAng="10800000" swAng="5400000"/>
                <a:lnTo>
                  <a:pt x="9699" y="0"/>
                </a:lnTo>
                <a:arcTo wR="9699" hR="21600" stAng="-5400000" swAng="18543"/>
                <a:lnTo>
                  <a:pt x="9816" y="2"/>
                </a:lnTo>
                <a:arcTo wR="9699" hR="21600" stAng="-5418543" swAng="-5381457"/>
                <a:close/>
              </a:path>
            </a:pathLst>
          </a:custGeom>
          <a:solidFill>
            <a:srgbClr val="ffff00"/>
          </a:soli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43" name="ZoneTexte 1"/>
          <p:cNvSpPr/>
          <p:nvPr/>
        </p:nvSpPr>
        <p:spPr>
          <a:xfrm>
            <a:off x="1860480" y="574560"/>
            <a:ext cx="535356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SUPERVISION DU DIRECTEUR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SPORTIF ET DE L’ENTRAÎNEUR</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869" dur="indefinite" restart="never" nodeType="tmRoot">
          <p:childTnLst>
            <p:seq>
              <p:cTn id="870" dur="indefinite" nodeType="mainSeq">
                <p:childTnLst>
                  <p:par>
                    <p:cTn id="871" nodeType="clickEffect" fill="hold">
                      <p:stCondLst>
                        <p:cond delay="indefinite"/>
                      </p:stCondLst>
                      <p:childTnLst>
                        <p:par>
                          <p:cTn id="872" nodeType="withEffect" fill="hold">
                            <p:stCondLst>
                              <p:cond delay="0"/>
                            </p:stCondLst>
                            <p:childTnLst>
                              <p:par>
                                <p:cTn id="873" nodeType="clickEffect" fill="hold" presetClass="entr" presetID="22" presetSubtype="1">
                                  <p:stCondLst>
                                    <p:cond delay="0"/>
                                  </p:stCondLst>
                                  <p:childTnLst>
                                    <p:set>
                                      <p:cBhvr>
                                        <p:cTn id="874" dur="1" fill="hold">
                                          <p:stCondLst>
                                            <p:cond delay="0"/>
                                          </p:stCondLst>
                                        </p:cTn>
                                        <p:tgtEl>
                                          <p:spTgt spid="539">
                                            <p:txEl>
                                              <p:pRg st="0" end="0"/>
                                            </p:txEl>
                                          </p:spTgt>
                                        </p:tgtEl>
                                        <p:attrNameLst>
                                          <p:attrName>style.visibility</p:attrName>
                                        </p:attrNameLst>
                                      </p:cBhvr>
                                      <p:to>
                                        <p:strVal val="visible"/>
                                      </p:to>
                                    </p:set>
                                    <p:animEffect filter="wipe(up)" transition="in">
                                      <p:cBhvr additive="repl">
                                        <p:cTn id="875" dur="500"/>
                                        <p:tgtEl>
                                          <p:spTgt spid="539">
                                            <p:txEl>
                                              <p:pRg st="0" end="0"/>
                                            </p:txEl>
                                          </p:spTgt>
                                        </p:tgtEl>
                                      </p:cBhvr>
                                    </p:animEffect>
                                  </p:childTnLst>
                                </p:cTn>
                              </p:par>
                            </p:childTnLst>
                          </p:cTn>
                        </p:par>
                        <p:par>
                          <p:cTn id="876" nodeType="afterEffect" fill="hold">
                            <p:stCondLst>
                              <p:cond delay="500"/>
                            </p:stCondLst>
                            <p:childTnLst>
                              <p:par>
                                <p:cTn id="877" nodeType="afterEffect" fill="hold" presetClass="entr" presetID="22" presetSubtype="1">
                                  <p:stCondLst>
                                    <p:cond delay="0"/>
                                  </p:stCondLst>
                                  <p:childTnLst>
                                    <p:set>
                                      <p:cBhvr>
                                        <p:cTn id="878" dur="1" fill="hold">
                                          <p:stCondLst>
                                            <p:cond delay="0"/>
                                          </p:stCondLst>
                                        </p:cTn>
                                        <p:tgtEl>
                                          <p:spTgt spid="540">
                                            <p:txEl>
                                              <p:pRg st="0" end="0"/>
                                            </p:txEl>
                                          </p:spTgt>
                                        </p:tgtEl>
                                        <p:attrNameLst>
                                          <p:attrName>style.visibility</p:attrName>
                                        </p:attrNameLst>
                                      </p:cBhvr>
                                      <p:to>
                                        <p:strVal val="visible"/>
                                      </p:to>
                                    </p:set>
                                    <p:animEffect filter="wipe(up)" transition="in">
                                      <p:cBhvr additive="repl">
                                        <p:cTn id="879" dur="500"/>
                                        <p:tgtEl>
                                          <p:spTgt spid="540">
                                            <p:txEl>
                                              <p:pRg st="0" end="0"/>
                                            </p:txEl>
                                          </p:spTgt>
                                        </p:tgtEl>
                                      </p:cBhvr>
                                    </p:animEffect>
                                  </p:childTnLst>
                                </p:cTn>
                              </p:par>
                            </p:childTnLst>
                          </p:cTn>
                        </p:par>
                      </p:childTnLst>
                    </p:cTn>
                  </p:par>
                  <p:par>
                    <p:cTn id="880" nodeType="clickEffect" fill="hold">
                      <p:stCondLst>
                        <p:cond delay="indefinite"/>
                      </p:stCondLst>
                      <p:childTnLst>
                        <p:par>
                          <p:cTn id="881" nodeType="withEffect" fill="hold">
                            <p:stCondLst>
                              <p:cond delay="0"/>
                            </p:stCondLst>
                            <p:childTnLst>
                              <p:par>
                                <p:cTn id="882" nodeType="clickEffect" fill="hold" presetClass="entr" presetID="22" presetSubtype="1" repeatCount="1000">
                                  <p:stCondLst>
                                    <p:cond delay="0"/>
                                  </p:stCondLst>
                                  <p:childTnLst>
                                    <p:set>
                                      <p:cBhvr>
                                        <p:cTn id="883" dur="1" fill="hold">
                                          <p:stCondLst>
                                            <p:cond delay="0"/>
                                          </p:stCondLst>
                                        </p:cTn>
                                        <p:tgtEl>
                                          <p:spTgt spid="539">
                                            <p:txEl>
                                              <p:pRg st="1" end="1"/>
                                            </p:txEl>
                                          </p:spTgt>
                                        </p:tgtEl>
                                        <p:attrNameLst>
                                          <p:attrName>style.visibility</p:attrName>
                                        </p:attrNameLst>
                                      </p:cBhvr>
                                      <p:to>
                                        <p:strVal val="visible"/>
                                      </p:to>
                                    </p:set>
                                    <p:animEffect filter="wipe(up)" transition="in">
                                      <p:cBhvr additive="repl">
                                        <p:cTn id="884" dur="1500"/>
                                        <p:tgtEl>
                                          <p:spTgt spid="539">
                                            <p:txEl>
                                              <p:pRg st="1" end="1"/>
                                            </p:txEl>
                                          </p:spTgt>
                                        </p:tgtEl>
                                      </p:cBhvr>
                                    </p:animEffect>
                                  </p:childTnLst>
                                </p:cTn>
                              </p:par>
                            </p:childTnLst>
                          </p:cTn>
                        </p:par>
                        <p:par>
                          <p:cTn id="885" nodeType="afterEffect" fill="hold">
                            <p:stCondLst>
                              <p:cond delay="1500"/>
                            </p:stCondLst>
                            <p:childTnLst>
                              <p:par>
                                <p:cTn id="886" nodeType="afterEffect" fill="hold" presetClass="entr" presetID="22" presetSubtype="1" repeatCount="1000">
                                  <p:stCondLst>
                                    <p:cond delay="1500"/>
                                  </p:stCondLst>
                                  <p:childTnLst>
                                    <p:set>
                                      <p:cBhvr>
                                        <p:cTn id="887" dur="1" fill="hold">
                                          <p:stCondLst>
                                            <p:cond delay="0"/>
                                          </p:stCondLst>
                                        </p:cTn>
                                        <p:tgtEl>
                                          <p:spTgt spid="540">
                                            <p:txEl>
                                              <p:pRg st="1" end="1"/>
                                            </p:txEl>
                                          </p:spTgt>
                                        </p:tgtEl>
                                        <p:attrNameLst>
                                          <p:attrName>style.visibility</p:attrName>
                                        </p:attrNameLst>
                                      </p:cBhvr>
                                      <p:to>
                                        <p:strVal val="visible"/>
                                      </p:to>
                                    </p:set>
                                    <p:animEffect filter="wipe(up)" transition="in">
                                      <p:cBhvr additive="repl">
                                        <p:cTn id="888" dur="1500"/>
                                        <p:tgtEl>
                                          <p:spTgt spid="540">
                                            <p:txEl>
                                              <p:pRg st="1" end="1"/>
                                            </p:txEl>
                                          </p:spTgt>
                                        </p:tgtEl>
                                      </p:cBhvr>
                                    </p:animEffect>
                                  </p:childTnLst>
                                </p:cTn>
                              </p:par>
                            </p:childTnLst>
                          </p:cTn>
                        </p:par>
                      </p:childTnLst>
                    </p:cTn>
                  </p:par>
                  <p:par>
                    <p:cTn id="889" nodeType="clickEffect" fill="hold">
                      <p:stCondLst>
                        <p:cond delay="indefinite"/>
                      </p:stCondLst>
                      <p:childTnLst>
                        <p:par>
                          <p:cTn id="890" nodeType="withEffect" fill="hold">
                            <p:stCondLst>
                              <p:cond delay="0"/>
                            </p:stCondLst>
                            <p:childTnLst>
                              <p:par>
                                <p:cTn id="891" nodeType="clickEffect" fill="hold" presetClass="entr" presetID="22" presetSubtype="1" repeatCount="1000">
                                  <p:stCondLst>
                                    <p:cond delay="0"/>
                                  </p:stCondLst>
                                  <p:childTnLst>
                                    <p:set>
                                      <p:cBhvr>
                                        <p:cTn id="892" dur="1" fill="hold">
                                          <p:stCondLst>
                                            <p:cond delay="0"/>
                                          </p:stCondLst>
                                        </p:cTn>
                                        <p:tgtEl>
                                          <p:spTgt spid="539">
                                            <p:txEl>
                                              <p:pRg st="3" end="3"/>
                                            </p:txEl>
                                          </p:spTgt>
                                        </p:tgtEl>
                                        <p:attrNameLst>
                                          <p:attrName>style.visibility</p:attrName>
                                        </p:attrNameLst>
                                      </p:cBhvr>
                                      <p:to>
                                        <p:strVal val="visible"/>
                                      </p:to>
                                    </p:set>
                                    <p:animEffect filter="wipe(up)" transition="in">
                                      <p:cBhvr additive="repl">
                                        <p:cTn id="893" dur="1500"/>
                                        <p:tgtEl>
                                          <p:spTgt spid="539">
                                            <p:txEl>
                                              <p:pRg st="3" end="3"/>
                                            </p:txEl>
                                          </p:spTgt>
                                        </p:tgtEl>
                                      </p:cBhvr>
                                    </p:animEffect>
                                  </p:childTnLst>
                                </p:cTn>
                              </p:par>
                            </p:childTnLst>
                          </p:cTn>
                        </p:par>
                        <p:par>
                          <p:cTn id="894" nodeType="afterEffect" fill="hold">
                            <p:stCondLst>
                              <p:cond delay="1500"/>
                            </p:stCondLst>
                            <p:childTnLst>
                              <p:par>
                                <p:cTn id="895" nodeType="afterEffect" fill="hold" presetClass="entr" presetID="22" presetSubtype="1" repeatCount="1000">
                                  <p:stCondLst>
                                    <p:cond delay="1500"/>
                                  </p:stCondLst>
                                  <p:childTnLst>
                                    <p:set>
                                      <p:cBhvr>
                                        <p:cTn id="896" dur="1" fill="hold">
                                          <p:stCondLst>
                                            <p:cond delay="0"/>
                                          </p:stCondLst>
                                        </p:cTn>
                                        <p:tgtEl>
                                          <p:spTgt spid="539">
                                            <p:txEl>
                                              <p:pRg st="4" end="4"/>
                                            </p:txEl>
                                          </p:spTgt>
                                        </p:tgtEl>
                                        <p:attrNameLst>
                                          <p:attrName>style.visibility</p:attrName>
                                        </p:attrNameLst>
                                      </p:cBhvr>
                                      <p:to>
                                        <p:strVal val="visible"/>
                                      </p:to>
                                    </p:set>
                                    <p:animEffect filter="wipe(up)" transition="in">
                                      <p:cBhvr additive="repl">
                                        <p:cTn id="897" dur="1500"/>
                                        <p:tgtEl>
                                          <p:spTgt spid="539">
                                            <p:txEl>
                                              <p:pRg st="4" end="4"/>
                                            </p:txEl>
                                          </p:spTgt>
                                        </p:tgtEl>
                                      </p:cBhvr>
                                    </p:animEffect>
                                  </p:childTnLst>
                                </p:cTn>
                              </p:par>
                            </p:childTnLst>
                          </p:cTn>
                        </p:par>
                      </p:childTnLst>
                    </p:cTn>
                  </p:par>
                  <p:par>
                    <p:cTn id="898" nodeType="clickEffect" fill="hold">
                      <p:stCondLst>
                        <p:cond delay="indefinite"/>
                      </p:stCondLst>
                      <p:childTnLst>
                        <p:par>
                          <p:cTn id="899" nodeType="withEffect" fill="hold">
                            <p:stCondLst>
                              <p:cond delay="0"/>
                            </p:stCondLst>
                            <p:childTnLst>
                              <p:par>
                                <p:cTn id="900" nodeType="clickEffect" fill="hold" presetClass="entr" presetID="22" presetSubtype="1" repeatCount="1000">
                                  <p:stCondLst>
                                    <p:cond delay="0"/>
                                  </p:stCondLst>
                                  <p:childTnLst>
                                    <p:set>
                                      <p:cBhvr>
                                        <p:cTn id="901" dur="1" fill="hold">
                                          <p:stCondLst>
                                            <p:cond delay="0"/>
                                          </p:stCondLst>
                                        </p:cTn>
                                        <p:tgtEl>
                                          <p:spTgt spid="540">
                                            <p:txEl>
                                              <p:pRg st="3" end="3"/>
                                            </p:txEl>
                                          </p:spTgt>
                                        </p:tgtEl>
                                        <p:attrNameLst>
                                          <p:attrName>style.visibility</p:attrName>
                                        </p:attrNameLst>
                                      </p:cBhvr>
                                      <p:to>
                                        <p:strVal val="visible"/>
                                      </p:to>
                                    </p:set>
                                    <p:animEffect filter="wipe(up)" transition="in">
                                      <p:cBhvr additive="repl">
                                        <p:cTn id="902" dur="1500"/>
                                        <p:tgtEl>
                                          <p:spTgt spid="540">
                                            <p:txEl>
                                              <p:pRg st="3" end="3"/>
                                            </p:txEl>
                                          </p:spTgt>
                                        </p:tgtEl>
                                      </p:cBhvr>
                                    </p:animEffect>
                                  </p:childTnLst>
                                </p:cTn>
                              </p:par>
                            </p:childTnLst>
                          </p:cTn>
                        </p:par>
                        <p:par>
                          <p:cTn id="903" nodeType="afterEffect" fill="hold">
                            <p:stCondLst>
                              <p:cond delay="1500"/>
                            </p:stCondLst>
                            <p:childTnLst>
                              <p:par>
                                <p:cTn id="904" nodeType="afterEffect" fill="hold" presetClass="entr" presetID="22" presetSubtype="1" repeatCount="1000">
                                  <p:stCondLst>
                                    <p:cond delay="0"/>
                                  </p:stCondLst>
                                  <p:childTnLst>
                                    <p:set>
                                      <p:cBhvr>
                                        <p:cTn id="905" dur="1" fill="hold">
                                          <p:stCondLst>
                                            <p:cond delay="0"/>
                                          </p:stCondLst>
                                        </p:cTn>
                                        <p:tgtEl>
                                          <p:spTgt spid="540">
                                            <p:txEl>
                                              <p:pRg st="4" end="4"/>
                                            </p:txEl>
                                          </p:spTgt>
                                        </p:tgtEl>
                                        <p:attrNameLst>
                                          <p:attrName>style.visibility</p:attrName>
                                        </p:attrNameLst>
                                      </p:cBhvr>
                                      <p:to>
                                        <p:strVal val="visible"/>
                                      </p:to>
                                    </p:set>
                                    <p:animEffect filter="wipe(up)" transition="in">
                                      <p:cBhvr additive="repl">
                                        <p:cTn id="906" dur="1500"/>
                                        <p:tgtEl>
                                          <p:spTgt spid="540">
                                            <p:txEl>
                                              <p:pRg st="4" end="4"/>
                                            </p:txEl>
                                          </p:spTgt>
                                        </p:tgtEl>
                                      </p:cBhvr>
                                    </p:animEffect>
                                  </p:childTnLst>
                                </p:cTn>
                              </p:par>
                            </p:childTnLst>
                          </p:cTn>
                        </p:par>
                      </p:childTnLst>
                    </p:cTn>
                  </p:par>
                  <p:par>
                    <p:cTn id="907" nodeType="clickEffect" fill="hold">
                      <p:stCondLst>
                        <p:cond delay="indefinite"/>
                      </p:stCondLst>
                      <p:childTnLst>
                        <p:par>
                          <p:cTn id="908" nodeType="withEffect" fill="hold">
                            <p:stCondLst>
                              <p:cond delay="0"/>
                            </p:stCondLst>
                            <p:childTnLst>
                              <p:par>
                                <p:cTn id="909" nodeType="clickEffect" fill="hold" presetClass="entr" presetID="22" presetSubtype="8" repeatCount="1000">
                                  <p:stCondLst>
                                    <p:cond delay="0"/>
                                  </p:stCondLst>
                                  <p:childTnLst>
                                    <p:set>
                                      <p:cBhvr>
                                        <p:cTn id="910" dur="1" fill="hold">
                                          <p:stCondLst>
                                            <p:cond delay="0"/>
                                          </p:stCondLst>
                                        </p:cTn>
                                        <p:tgtEl>
                                          <p:spTgt spid="541"/>
                                        </p:tgtEl>
                                        <p:attrNameLst>
                                          <p:attrName>style.visibility</p:attrName>
                                        </p:attrNameLst>
                                      </p:cBhvr>
                                      <p:to>
                                        <p:strVal val="visible"/>
                                      </p:to>
                                    </p:set>
                                    <p:animEffect filter="wipe(left)" transition="in">
                                      <p:cBhvr additive="repl">
                                        <p:cTn id="911" dur="1500"/>
                                        <p:tgtEl>
                                          <p:spTgt spid="541"/>
                                        </p:tgtEl>
                                      </p:cBhvr>
                                    </p:animEffect>
                                  </p:childTnLst>
                                </p:cTn>
                              </p:par>
                            </p:childTnLst>
                          </p:cTn>
                        </p:par>
                        <p:par>
                          <p:cTn id="912" nodeType="afterEffect" fill="hold">
                            <p:stCondLst>
                              <p:cond delay="1500"/>
                            </p:stCondLst>
                            <p:childTnLst>
                              <p:par>
                                <p:cTn id="913" nodeType="afterEffect" fill="hold" presetClass="entr" presetID="53" presetSubtype="16">
                                  <p:stCondLst>
                                    <p:cond delay="0"/>
                                  </p:stCondLst>
                                  <p:childTnLst>
                                    <p:set>
                                      <p:cBhvr>
                                        <p:cTn id="914" dur="1" fill="hold">
                                          <p:stCondLst>
                                            <p:cond delay="0"/>
                                          </p:stCondLst>
                                        </p:cTn>
                                        <p:tgtEl>
                                          <p:spTgt spid="543"/>
                                        </p:tgtEl>
                                        <p:attrNameLst>
                                          <p:attrName>style.visibility</p:attrName>
                                        </p:attrNameLst>
                                      </p:cBhvr>
                                      <p:to>
                                        <p:strVal val="visible"/>
                                      </p:to>
                                    </p:set>
                                    <p:anim calcmode="lin" valueType="num">
                                      <p:cBhvr additive="repl">
                                        <p:cTn id="915" dur="500" fill="hold"/>
                                        <p:tgtEl>
                                          <p:spTgt spid="543"/>
                                        </p:tgtEl>
                                        <p:attrNameLst>
                                          <p:attrName>ppt_w</p:attrName>
                                        </p:attrNameLst>
                                      </p:cBhvr>
                                      <p:tavLst>
                                        <p:tav tm="0">
                                          <p:val>
                                            <p:fltVal val="0"/>
                                          </p:val>
                                        </p:tav>
                                        <p:tav tm="100000">
                                          <p:val>
                                            <p:strVal val="#ppt_w"/>
                                          </p:val>
                                        </p:tav>
                                      </p:tavLst>
                                    </p:anim>
                                    <p:anim calcmode="lin" valueType="num">
                                      <p:cBhvr additive="repl">
                                        <p:cTn id="916" dur="500" fill="hold"/>
                                        <p:tgtEl>
                                          <p:spTgt spid="543"/>
                                        </p:tgtEl>
                                        <p:attrNameLst>
                                          <p:attrName>ppt_h</p:attrName>
                                        </p:attrNameLst>
                                      </p:cBhvr>
                                      <p:tavLst>
                                        <p:tav tm="0">
                                          <p:val>
                                            <p:fltVal val="0"/>
                                          </p:val>
                                        </p:tav>
                                        <p:tav tm="100000">
                                          <p:val>
                                            <p:strVal val="#ppt_h"/>
                                          </p:val>
                                        </p:tav>
                                      </p:tavLst>
                                    </p:anim>
                                    <p:animEffect filter="fade" transition="in">
                                      <p:cBhvr additive="repl">
                                        <p:cTn id="917" dur="500"/>
                                        <p:tgtEl>
                                          <p:spTgt spid="543"/>
                                        </p:tgtEl>
                                      </p:cBhvr>
                                    </p:animEffect>
                                  </p:childTnLst>
                                </p:cTn>
                              </p:par>
                            </p:childTnLst>
                          </p:cTn>
                        </p:par>
                      </p:childTnLst>
                    </p:cTn>
                  </p:par>
                  <p:par>
                    <p:cTn id="918" nodeType="clickEffect" fill="hold">
                      <p:stCondLst>
                        <p:cond delay="indefinite"/>
                      </p:stCondLst>
                      <p:childTnLst>
                        <p:par>
                          <p:cTn id="919" nodeType="withEffect" fill="hold">
                            <p:stCondLst>
                              <p:cond delay="0"/>
                            </p:stCondLst>
                            <p:childTnLst>
                              <p:par>
                                <p:cTn id="920" nodeType="clickEffect" fill="hold" presetClass="entr" presetID="22" presetSubtype="8" repeatCount="1000">
                                  <p:stCondLst>
                                    <p:cond delay="0"/>
                                  </p:stCondLst>
                                  <p:childTnLst>
                                    <p:set>
                                      <p:cBhvr>
                                        <p:cTn id="921" dur="1" fill="hold">
                                          <p:stCondLst>
                                            <p:cond delay="0"/>
                                          </p:stCondLst>
                                        </p:cTn>
                                        <p:tgtEl>
                                          <p:spTgt spid="539">
                                            <p:txEl>
                                              <p:pRg st="5" end="5"/>
                                            </p:txEl>
                                          </p:spTgt>
                                        </p:tgtEl>
                                        <p:attrNameLst>
                                          <p:attrName>style.visibility</p:attrName>
                                        </p:attrNameLst>
                                      </p:cBhvr>
                                      <p:to>
                                        <p:strVal val="visible"/>
                                      </p:to>
                                    </p:set>
                                    <p:animEffect filter="wipe(left)" transition="in">
                                      <p:cBhvr additive="repl">
                                        <p:cTn id="922" dur="1500"/>
                                        <p:tgtEl>
                                          <p:spTgt spid="539">
                                            <p:txEl>
                                              <p:pRg st="5" end="5"/>
                                            </p:txEl>
                                          </p:spTgt>
                                        </p:tgtEl>
                                      </p:cBhvr>
                                    </p:animEffect>
                                  </p:childTnLst>
                                </p:cTn>
                              </p:par>
                            </p:childTnLst>
                          </p:cTn>
                        </p:par>
                        <p:par>
                          <p:cTn id="923" nodeType="afterEffect" fill="hold">
                            <p:stCondLst>
                              <p:cond delay="1500"/>
                            </p:stCondLst>
                            <p:childTnLst>
                              <p:par>
                                <p:cTn id="924" nodeType="afterEffect" fill="hold" presetClass="entr" presetID="22" presetSubtype="8" repeatCount="1000">
                                  <p:stCondLst>
                                    <p:cond delay="0"/>
                                  </p:stCondLst>
                                  <p:childTnLst>
                                    <p:set>
                                      <p:cBhvr>
                                        <p:cTn id="925" dur="1" fill="hold">
                                          <p:stCondLst>
                                            <p:cond delay="0"/>
                                          </p:stCondLst>
                                        </p:cTn>
                                        <p:tgtEl>
                                          <p:spTgt spid="540">
                                            <p:txEl>
                                              <p:pRg st="6" end="6"/>
                                            </p:txEl>
                                          </p:spTgt>
                                        </p:tgtEl>
                                        <p:attrNameLst>
                                          <p:attrName>style.visibility</p:attrName>
                                        </p:attrNameLst>
                                      </p:cBhvr>
                                      <p:to>
                                        <p:strVal val="visible"/>
                                      </p:to>
                                    </p:set>
                                    <p:animEffect filter="wipe(left)" transition="in">
                                      <p:cBhvr additive="repl">
                                        <p:cTn id="926" dur="1500"/>
                                        <p:tgtEl>
                                          <p:spTgt spid="540">
                                            <p:txEl>
                                              <p:pRg st="6" end="6"/>
                                            </p:txEl>
                                          </p:spTgt>
                                        </p:tgtEl>
                                      </p:cBhvr>
                                    </p:animEffect>
                                  </p:childTnLst>
                                </p:cTn>
                              </p:par>
                            </p:childTnLst>
                          </p:cTn>
                        </p:par>
                      </p:childTnLst>
                    </p:cTn>
                  </p:par>
                  <p:par>
                    <p:cTn id="927" nodeType="clickEffect" fill="hold">
                      <p:stCondLst>
                        <p:cond delay="indefinite"/>
                      </p:stCondLst>
                      <p:childTnLst>
                        <p:par>
                          <p:cTn id="928" nodeType="withEffect" fill="hold">
                            <p:stCondLst>
                              <p:cond delay="0"/>
                            </p:stCondLst>
                            <p:childTnLst>
                              <p:par>
                                <p:cTn id="929" nodeType="clickEffect" fill="hold" presetClass="entr" presetID="22" presetSubtype="2" repeatCount="1000">
                                  <p:stCondLst>
                                    <p:cond delay="0"/>
                                  </p:stCondLst>
                                  <p:childTnLst>
                                    <p:set>
                                      <p:cBhvr>
                                        <p:cTn id="930" dur="1" fill="hold">
                                          <p:stCondLst>
                                            <p:cond delay="0"/>
                                          </p:stCondLst>
                                        </p:cTn>
                                        <p:tgtEl>
                                          <p:spTgt spid="542"/>
                                        </p:tgtEl>
                                        <p:attrNameLst>
                                          <p:attrName>style.visibility</p:attrName>
                                        </p:attrNameLst>
                                      </p:cBhvr>
                                      <p:to>
                                        <p:strVal val="visible"/>
                                      </p:to>
                                    </p:set>
                                    <p:animEffect filter="wipe(right)" transition="in">
                                      <p:cBhvr additive="repl">
                                        <p:cTn id="931" dur="15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545"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6"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547"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8"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9"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0"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a:t>
            </a:r>
            <a:r>
              <a:rPr b="0" lang="fr-FR" sz="2400" strike="noStrike" u="none">
                <a:solidFill>
                  <a:srgbClr val="ffff00"/>
                </a:solidFill>
                <a:effectLst/>
                <a:uFillTx/>
                <a:latin typeface="Bookman Old Style"/>
              </a:rPr>
              <a:t>(une saison : 3 à 5 périodes</a:t>
            </a:r>
            <a:r>
              <a:rPr b="0" lang="fr-FR" sz="2400" strike="noStrike" u="none">
                <a:solidFill>
                  <a:srgbClr val="f8f8f8"/>
                </a:solidFill>
                <a:effectLst/>
                <a:uFillTx/>
                <a:latin typeface="Bookman Old Style"/>
              </a:rPr>
              <a:t>)</a:t>
            </a:r>
            <a:endParaRPr b="0" lang="en-US" sz="2400" strike="noStrike" u="none">
              <a:solidFill>
                <a:srgbClr val="ffff00"/>
              </a:solidFill>
              <a:effectLst/>
              <a:uFillTx/>
              <a:latin typeface="Times New Roman"/>
            </a:endParaRPr>
          </a:p>
        </p:txBody>
      </p:sp>
      <p:sp>
        <p:nvSpPr>
          <p:cNvPr id="551"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2"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3"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4"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5" name="Text Box 13"/>
          <p:cNvSpPr/>
          <p:nvPr/>
        </p:nvSpPr>
        <p:spPr>
          <a:xfrm>
            <a:off x="2450520" y="3425760"/>
            <a:ext cx="6260400" cy="42912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200" strike="noStrike" u="none">
                <a:solidFill>
                  <a:srgbClr val="ffff00"/>
                </a:solidFill>
                <a:effectLst/>
                <a:uFillTx/>
                <a:latin typeface="Bookman Old Style"/>
              </a:rPr>
              <a:t>une période dans la saison : 2 à 3 mesocyles</a:t>
            </a:r>
            <a:endParaRPr b="0" lang="en-US" sz="2200" strike="noStrike" u="none">
              <a:solidFill>
                <a:srgbClr val="ffff00"/>
              </a:solidFill>
              <a:effectLst/>
              <a:uFillTx/>
              <a:latin typeface="Times New Roman"/>
            </a:endParaRPr>
          </a:p>
        </p:txBody>
      </p:sp>
      <p:sp>
        <p:nvSpPr>
          <p:cNvPr id="556"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7"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8"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9"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0"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1"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2" name="Text Box 22"/>
          <p:cNvSpPr/>
          <p:nvPr/>
        </p:nvSpPr>
        <p:spPr>
          <a:xfrm>
            <a:off x="47160" y="3427560"/>
            <a:ext cx="2283840" cy="45972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Périodisation</a:t>
            </a:r>
            <a:endParaRPr b="0" lang="en-US" sz="2400" strike="noStrike" u="none">
              <a:solidFill>
                <a:srgbClr val="ffff00"/>
              </a:solidFill>
              <a:effectLst/>
              <a:uFillTx/>
              <a:latin typeface="Times New Roman"/>
            </a:endParaRPr>
          </a:p>
        </p:txBody>
      </p:sp>
      <p:sp>
        <p:nvSpPr>
          <p:cNvPr id="563"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564"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565"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566" name="Line 27"/>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7" name="Line 28"/>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8" name="Line 29"/>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9" name="Line 30"/>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0" name="Line 31"/>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1" name="Line 32"/>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2" name="Line 33"/>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3" name="Line 34"/>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4" name="Line 35"/>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5" name="Line 36"/>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6" name="Line 37"/>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7" name="Text Box 38"/>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578" name="Line 39"/>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9" name="Line 40"/>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0" name="Line 41"/>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1" name="Line 42"/>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2" name="Text Box 43"/>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583" name="Line 44"/>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4" name="Line 45"/>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5" name="Line 46"/>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6" name="Line 47"/>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7" name="Text Box 48"/>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588" name="Line 49"/>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9" name="Line 50"/>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90" name="Line 51"/>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91" name="Line 52"/>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92" name="Ellipse 1"/>
          <p:cNvSpPr/>
          <p:nvPr/>
        </p:nvSpPr>
        <p:spPr>
          <a:xfrm>
            <a:off x="1116000" y="115920"/>
            <a:ext cx="7494480" cy="1081080"/>
          </a:xfrm>
          <a:prstGeom prst="ellipse">
            <a:avLst/>
          </a:prstGeom>
          <a:noFill/>
          <a:ln w="2844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932" dur="indefinite" restart="never" nodeType="tmRoot">
          <p:childTnLst>
            <p:seq>
              <p:cTn id="933" dur="indefinite" nodeType="mainSeq">
                <p:childTnLst>
                  <p:par>
                    <p:cTn id="934" nodeType="clickEffect" fill="hold">
                      <p:stCondLst>
                        <p:cond delay="indefinite"/>
                      </p:stCondLst>
                      <p:childTnLst>
                        <p:par>
                          <p:cTn id="935" nodeType="withEffect" fill="hold">
                            <p:stCondLst>
                              <p:cond delay="0"/>
                            </p:stCondLst>
                            <p:childTnLst>
                              <p:par>
                                <p:cTn id="936" nodeType="clickEffect" fill="hold" presetClass="entr" presetID="22" presetSubtype="4" repeatCount="1000">
                                  <p:stCondLst>
                                    <p:cond delay="0"/>
                                  </p:stCondLst>
                                  <p:childTnLst>
                                    <p:set>
                                      <p:cBhvr>
                                        <p:cTn id="937" dur="1" fill="hold">
                                          <p:stCondLst>
                                            <p:cond delay="0"/>
                                          </p:stCondLst>
                                        </p:cTn>
                                        <p:tgtEl>
                                          <p:spTgt spid="592"/>
                                        </p:tgtEl>
                                        <p:attrNameLst>
                                          <p:attrName>style.visibility</p:attrName>
                                        </p:attrNameLst>
                                      </p:cBhvr>
                                      <p:to>
                                        <p:strVal val="visible"/>
                                      </p:to>
                                    </p:set>
                                    <p:animEffect filter="wipe(down)" transition="in">
                                      <p:cBhvr additive="repl">
                                        <p:cTn id="938" dur="15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Text Box 2"/>
          <p:cNvSpPr/>
          <p:nvPr/>
        </p:nvSpPr>
        <p:spPr>
          <a:xfrm>
            <a:off x="266760" y="1066680"/>
            <a:ext cx="8610480" cy="5715000"/>
          </a:xfrm>
          <a:prstGeom prst="rect">
            <a:avLst/>
          </a:prstGeom>
          <a:noFill/>
          <a:ln w="0">
            <a:noFill/>
          </a:ln>
        </p:spPr>
        <p:style>
          <a:lnRef idx="0"/>
          <a:fillRef idx="0"/>
          <a:effectRef idx="0"/>
          <a:fontRef idx="minor"/>
        </p:style>
        <p:txBody>
          <a:bodyPr lIns="90000" rIns="90000" tIns="46800" bIns="46800" anchor="t">
            <a:norm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En adaptant au domaine du sport la définition qu’en donne le dictionnaire Larousse, la planification est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la « </a:t>
            </a:r>
            <a:r>
              <a:rPr b="1" i="1" lang="fr-FR" sz="2400" strike="noStrike" u="none">
                <a:solidFill>
                  <a:srgbClr val="ffffff"/>
                </a:solidFill>
                <a:effectLst/>
                <a:uFillTx/>
                <a:latin typeface="Bookman Old Style"/>
              </a:rPr>
              <a:t>science qui a pour objet l’établissement de </a:t>
            </a:r>
            <a:r>
              <a:rPr b="1" i="1" lang="fr-FR" sz="2400" strike="noStrike" u="none">
                <a:solidFill>
                  <a:srgbClr val="ffff00"/>
                </a:solidFill>
                <a:effectLst/>
                <a:uFillTx/>
                <a:latin typeface="Bookman Old Style"/>
              </a:rPr>
              <a:t>programmes</a:t>
            </a:r>
            <a:r>
              <a:rPr b="1" i="1" lang="fr-FR" sz="2400" strike="noStrike" u="none">
                <a:solidFill>
                  <a:srgbClr val="ffffff"/>
                </a:solidFill>
                <a:effectLst/>
                <a:uFillTx/>
                <a:latin typeface="Bookman Old Style"/>
              </a:rPr>
              <a:t> comportant non seulement l’indication des </a:t>
            </a:r>
            <a:r>
              <a:rPr b="1" i="1" lang="fr-FR" sz="2400" strike="noStrike" u="none">
                <a:solidFill>
                  <a:srgbClr val="ffff00"/>
                </a:solidFill>
                <a:effectLst/>
                <a:uFillTx/>
                <a:latin typeface="Bookman Old Style"/>
              </a:rPr>
              <a:t>objectifs à atteindre</a:t>
            </a:r>
            <a:r>
              <a:rPr b="1" i="1" lang="fr-FR" sz="2400" strike="noStrike" u="none">
                <a:solidFill>
                  <a:srgbClr val="ffffff"/>
                </a:solidFill>
                <a:effectLst/>
                <a:uFillTx/>
                <a:latin typeface="Bookman Old Style"/>
              </a:rPr>
              <a:t>, mais également un état prévisionnel des </a:t>
            </a:r>
            <a:r>
              <a:rPr b="1" i="1" lang="fr-FR" sz="2400" strike="noStrike" u="none">
                <a:solidFill>
                  <a:srgbClr val="ffff00"/>
                </a:solidFill>
                <a:effectLst/>
                <a:uFillTx/>
                <a:latin typeface="Bookman Old Style"/>
              </a:rPr>
              <a:t>diverses étapes des progrès</a:t>
            </a:r>
            <a:r>
              <a:rPr b="1" i="1" lang="fr-FR" sz="2400" strike="noStrike" u="none">
                <a:solidFill>
                  <a:srgbClr val="ffffff"/>
                </a:solidFill>
                <a:effectLst/>
                <a:uFillTx/>
                <a:latin typeface="Bookman Old Style"/>
              </a:rPr>
              <a:t> à accomplir et de la réalisation du programme, et, éventuellement, la description de la </a:t>
            </a:r>
            <a:r>
              <a:rPr b="1" i="1" lang="fr-FR" sz="2400" strike="noStrike" u="none">
                <a:solidFill>
                  <a:srgbClr val="ffff00"/>
                </a:solidFill>
                <a:effectLst/>
                <a:uFillTx/>
                <a:latin typeface="Bookman Old Style"/>
              </a:rPr>
              <a:t>structure des organismes à créer</a:t>
            </a:r>
            <a:r>
              <a:rPr b="1" i="1" lang="fr-FR" sz="2400" strike="noStrike" u="none">
                <a:solidFill>
                  <a:srgbClr val="ffffff"/>
                </a:solidFill>
                <a:effectLst/>
                <a:uFillTx/>
                <a:latin typeface="Bookman Old Style"/>
              </a:rPr>
              <a:t> en vue de cette réalisation</a:t>
            </a:r>
            <a:r>
              <a:rPr b="1" lang="fr-FR" sz="2400" strike="noStrike" u="none">
                <a:solidFill>
                  <a:srgbClr val="ffff00"/>
                </a:solidFill>
                <a:effectLst/>
                <a:uFillTx/>
                <a:latin typeface="Bookman Old Style"/>
              </a:rPr>
              <a:t>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4" name="Text Box 3"/>
          <p:cNvSpPr/>
          <p:nvPr/>
        </p:nvSpPr>
        <p:spPr>
          <a:xfrm>
            <a:off x="977760" y="228600"/>
            <a:ext cx="6788520" cy="459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PLANIFICATION DE L’ENTRAÎNEMENT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Text Box 2"/>
          <p:cNvSpPr/>
          <p:nvPr/>
        </p:nvSpPr>
        <p:spPr>
          <a:xfrm>
            <a:off x="228600" y="260280"/>
            <a:ext cx="8915400" cy="7814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1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400" strike="noStrike" u="none">
                <a:solidFill>
                  <a:srgbClr val="ffff00"/>
                </a:solidFill>
                <a:effectLst/>
                <a:uFillTx/>
                <a:latin typeface="Calibri"/>
                <a:ea typeface="Calibri"/>
              </a:rPr>
              <a:t>Facteurs à prendre en compte dans l’élaboration d’une planification à long terme</a:t>
            </a:r>
            <a:endParaRPr b="0" lang="en-US" sz="3400" strike="noStrike" u="none">
              <a:solidFill>
                <a:srgbClr val="ffff00"/>
              </a:solidFill>
              <a:effectLst/>
              <a:uFillTx/>
              <a:latin typeface="Times New Roman"/>
            </a:endParaRPr>
          </a:p>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 Nombre moyen d’années exigées pour parvenir aux résultats optimaux à l’âge le plus favorable pour la compétition  </a:t>
            </a:r>
            <a:endParaRPr b="0" lang="en-US" sz="3000" strike="noStrike" u="none">
              <a:solidFill>
                <a:srgbClr val="ffff00"/>
              </a:solidFill>
              <a:effectLst/>
              <a:uFillTx/>
              <a:latin typeface="Times New Roman"/>
            </a:endParaRPr>
          </a:p>
          <a:p>
            <a:pPr>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 Tranches d’âges dans lesquelles se manifestent habituellement ces résultats</a:t>
            </a:r>
            <a:endParaRPr b="0" lang="en-US" sz="3000" strike="noStrike" u="none">
              <a:solidFill>
                <a:srgbClr val="ffff00"/>
              </a:solidFill>
              <a:effectLst/>
              <a:uFillTx/>
              <a:latin typeface="Times New Roman"/>
            </a:endParaRPr>
          </a:p>
          <a:p>
            <a:pPr>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 Potentiel génétique du footballeur et rythme de croissance de ses qualités sportives</a:t>
            </a:r>
            <a:endParaRPr b="0" lang="en-US" sz="3000" strike="noStrike" u="none">
              <a:solidFill>
                <a:srgbClr val="ffff00"/>
              </a:solidFill>
              <a:effectLst/>
              <a:uFillTx/>
              <a:latin typeface="Times New Roman"/>
            </a:endParaRPr>
          </a:p>
          <a:p>
            <a:pPr>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ff"/>
                </a:solidFill>
                <a:effectLst/>
                <a:uFillTx/>
                <a:latin typeface="Calibri"/>
                <a:ea typeface="Calibri"/>
              </a:rPr>
              <a:t> L’âge auquel il a commencé l’entraînement spécifique</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Text Box 2"/>
          <p:cNvSpPr/>
          <p:nvPr/>
        </p:nvSpPr>
        <p:spPr>
          <a:xfrm>
            <a:off x="228600" y="609480"/>
            <a:ext cx="8458200" cy="7218000"/>
          </a:xfrm>
          <a:prstGeom prst="rect">
            <a:avLst/>
          </a:prstGeom>
          <a:noFill/>
          <a:ln w="0">
            <a:noFill/>
          </a:ln>
        </p:spPr>
        <p:style>
          <a:lnRef idx="0"/>
          <a:fillRef idx="0"/>
          <a:effectRef idx="0"/>
          <a:fontRef idx="minor"/>
        </p:style>
        <p:txBody>
          <a:bodyPr lIns="90000" rIns="90000" tIns="46800" bIns="46800" anchor="t">
            <a:spAutoFit/>
          </a:bodyPr>
          <a:p>
            <a:pPr>
              <a:lnSpc>
                <a:spcPct val="15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99ffcc"/>
                </a:solidFill>
                <a:effectLst/>
                <a:uFillTx/>
                <a:latin typeface="Calibri"/>
                <a:ea typeface="Calibri"/>
              </a:rPr>
              <a:t>1. Préparation initiale (8 – 13 ans)</a:t>
            </a:r>
            <a:endParaRPr b="0" lang="en-US" sz="3000" strike="noStrike" u="none">
              <a:solidFill>
                <a:srgbClr val="ffff00"/>
              </a:solidFill>
              <a:effectLst/>
              <a:uFillTx/>
              <a:latin typeface="Times New Roman"/>
            </a:endParaRPr>
          </a:p>
          <a:p>
            <a:pPr>
              <a:lnSpc>
                <a:spcPct val="15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99ffcc"/>
                </a:solidFill>
                <a:effectLst/>
                <a:uFillTx/>
                <a:latin typeface="Calibri"/>
                <a:ea typeface="Calibri"/>
              </a:rPr>
              <a:t>2. Préparation préalable de base (13 – 15 ans)</a:t>
            </a:r>
            <a:endParaRPr b="0" lang="en-US" sz="3000" strike="noStrike" u="none">
              <a:solidFill>
                <a:srgbClr val="ffff00"/>
              </a:solidFill>
              <a:effectLst/>
              <a:uFillTx/>
              <a:latin typeface="Times New Roman"/>
            </a:endParaRPr>
          </a:p>
          <a:p>
            <a:pPr>
              <a:lnSpc>
                <a:spcPct val="15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99ffcc"/>
                </a:solidFill>
                <a:effectLst/>
                <a:uFillTx/>
                <a:latin typeface="Calibri"/>
                <a:ea typeface="Calibri"/>
              </a:rPr>
              <a:t>3. Préparation spécifique de base (15 – 18 ans)</a:t>
            </a:r>
            <a:endParaRPr b="0" lang="en-US" sz="3000" strike="noStrike" u="none">
              <a:solidFill>
                <a:srgbClr val="ffff00"/>
              </a:solidFill>
              <a:effectLst/>
              <a:uFillTx/>
              <a:latin typeface="Times New Roman"/>
            </a:endParaRPr>
          </a:p>
          <a:p>
            <a:pPr>
              <a:lnSpc>
                <a:spcPct val="15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99ffcc"/>
                </a:solidFill>
                <a:effectLst/>
                <a:uFillTx/>
                <a:latin typeface="Calibri"/>
                <a:ea typeface="Calibri"/>
              </a:rPr>
              <a:t>4. Réalisation maximale des possibilités du joueur (dure 6 à 8 ans)</a:t>
            </a:r>
            <a:endParaRPr b="0" lang="en-US" sz="3000" strike="noStrike" u="none">
              <a:solidFill>
                <a:srgbClr val="ffff00"/>
              </a:solidFill>
              <a:effectLst/>
              <a:uFillTx/>
              <a:latin typeface="Times New Roman"/>
            </a:endParaRPr>
          </a:p>
          <a:p>
            <a:pPr>
              <a:lnSpc>
                <a:spcPct val="15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99ffcc"/>
                </a:solidFill>
                <a:effectLst/>
                <a:uFillTx/>
                <a:latin typeface="Calibri"/>
                <a:ea typeface="Calibri"/>
              </a:rPr>
              <a:t>5. Maintien des résultats à un niveau élevé (dure 6 à 8 ans)</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7" name="Object 2"/>
          <p:cNvGraphicFramePr/>
          <p:nvPr/>
        </p:nvGraphicFramePr>
        <p:xfrm>
          <a:off x="0" y="0"/>
          <a:ext cx="9009000" cy="6858000"/>
        </p:xfrm>
        <a:graphic>
          <a:graphicData uri="http://schemas.openxmlformats.org/presentationml/2006/ole">
            <p:oleObj progId="Word.Document.12" r:id="rId1" spid="">
              <p:embed/>
              <p:pic>
                <p:nvPicPr>
                  <p:cNvPr id="598" name="Object 2" descr=""/>
                  <p:cNvPicPr/>
                  <p:nvPr/>
                </p:nvPicPr>
                <p:blipFill>
                  <a:blip r:embed="rId2"/>
                  <a:stretch/>
                </p:blipFill>
                <p:spPr>
                  <a:xfrm>
                    <a:off x="0" y="0"/>
                    <a:ext cx="9009000" cy="6858000"/>
                  </a:xfrm>
                  <a:prstGeom prst="rect">
                    <a:avLst/>
                  </a:prstGeom>
                  <a:noFill/>
                  <a:ln w="0">
                    <a:noFill/>
                  </a:ln>
                </p:spPr>
              </p:pic>
            </p:oleObj>
          </a:graphicData>
        </a:graphic>
      </p:graphicFrame>
      <p:sp>
        <p:nvSpPr>
          <p:cNvPr id="599" name="Line 3"/>
          <p:cNvSpPr/>
          <p:nvPr/>
        </p:nvSpPr>
        <p:spPr>
          <a:xfrm>
            <a:off x="243828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0" name="Line 4"/>
          <p:cNvSpPr/>
          <p:nvPr/>
        </p:nvSpPr>
        <p:spPr>
          <a:xfrm>
            <a:off x="46483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1" name="Line 5"/>
          <p:cNvSpPr/>
          <p:nvPr/>
        </p:nvSpPr>
        <p:spPr>
          <a:xfrm>
            <a:off x="60199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2" name="Rectangle 6"/>
          <p:cNvSpPr/>
          <p:nvPr/>
        </p:nvSpPr>
        <p:spPr>
          <a:xfrm>
            <a:off x="0" y="152280"/>
            <a:ext cx="9144000" cy="6705720"/>
          </a:xfrm>
          <a:prstGeom prst="rect">
            <a:avLst/>
          </a:prstGeom>
          <a:noFill/>
          <a:ln w="2844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03" name="Line 7"/>
          <p:cNvSpPr/>
          <p:nvPr/>
        </p:nvSpPr>
        <p:spPr>
          <a:xfrm>
            <a:off x="0" y="1066680"/>
            <a:ext cx="91440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4" name="Line 8"/>
          <p:cNvSpPr/>
          <p:nvPr/>
        </p:nvSpPr>
        <p:spPr>
          <a:xfrm>
            <a:off x="0" y="14479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5" name="Line 9"/>
          <p:cNvSpPr/>
          <p:nvPr/>
        </p:nvSpPr>
        <p:spPr>
          <a:xfrm>
            <a:off x="0" y="20574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6" name="Line 10"/>
          <p:cNvSpPr/>
          <p:nvPr/>
        </p:nvSpPr>
        <p:spPr>
          <a:xfrm>
            <a:off x="0" y="26668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7" name="Line 11"/>
          <p:cNvSpPr/>
          <p:nvPr/>
        </p:nvSpPr>
        <p:spPr>
          <a:xfrm>
            <a:off x="0" y="35053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8" name="Line 12"/>
          <p:cNvSpPr/>
          <p:nvPr/>
        </p:nvSpPr>
        <p:spPr>
          <a:xfrm>
            <a:off x="0" y="40384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9" name="Line 13"/>
          <p:cNvSpPr/>
          <p:nvPr/>
        </p:nvSpPr>
        <p:spPr>
          <a:xfrm>
            <a:off x="0" y="45720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0" name="Line 14"/>
          <p:cNvSpPr/>
          <p:nvPr/>
        </p:nvSpPr>
        <p:spPr>
          <a:xfrm>
            <a:off x="0" y="54100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1" name="Line 15"/>
          <p:cNvSpPr/>
          <p:nvPr/>
        </p:nvSpPr>
        <p:spPr>
          <a:xfrm>
            <a:off x="0" y="59436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2" name="Line 16"/>
          <p:cNvSpPr/>
          <p:nvPr/>
        </p:nvSpPr>
        <p:spPr>
          <a:xfrm>
            <a:off x="0" y="64008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3" name="Line 17"/>
          <p:cNvSpPr/>
          <p:nvPr/>
        </p:nvSpPr>
        <p:spPr>
          <a:xfrm>
            <a:off x="350532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4" name="Line 18"/>
          <p:cNvSpPr/>
          <p:nvPr/>
        </p:nvSpPr>
        <p:spPr>
          <a:xfrm>
            <a:off x="2438280" y="609480"/>
            <a:ext cx="670572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5" name="Line 19"/>
          <p:cNvSpPr/>
          <p:nvPr/>
        </p:nvSpPr>
        <p:spPr>
          <a:xfrm>
            <a:off x="754380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6" name="Text Box 20"/>
          <p:cNvSpPr/>
          <p:nvPr/>
        </p:nvSpPr>
        <p:spPr>
          <a:xfrm>
            <a:off x="2667600" y="1042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17" name="Text Box 21"/>
          <p:cNvSpPr/>
          <p:nvPr/>
        </p:nvSpPr>
        <p:spPr>
          <a:xfrm>
            <a:off x="3611520" y="955800"/>
            <a:ext cx="244440" cy="342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18" name="Text Box 22"/>
          <p:cNvSpPr/>
          <p:nvPr/>
        </p:nvSpPr>
        <p:spPr>
          <a:xfrm>
            <a:off x="3864600" y="1042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19" name="Text Box 23"/>
          <p:cNvSpPr/>
          <p:nvPr/>
        </p:nvSpPr>
        <p:spPr>
          <a:xfrm>
            <a:off x="3687840" y="1638360"/>
            <a:ext cx="244440" cy="274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20" name="Text Box 24"/>
          <p:cNvSpPr/>
          <p:nvPr/>
        </p:nvSpPr>
        <p:spPr>
          <a:xfrm>
            <a:off x="3810600" y="15001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1" name="Text Box 25"/>
          <p:cNvSpPr/>
          <p:nvPr/>
        </p:nvSpPr>
        <p:spPr>
          <a:xfrm>
            <a:off x="2721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2" name="Text Box 26"/>
          <p:cNvSpPr/>
          <p:nvPr/>
        </p:nvSpPr>
        <p:spPr>
          <a:xfrm>
            <a:off x="6477480" y="2185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3" name="Text Box 27"/>
          <p:cNvSpPr/>
          <p:nvPr/>
        </p:nvSpPr>
        <p:spPr>
          <a:xfrm>
            <a:off x="5029560" y="312408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4" name="Text Box 28"/>
          <p:cNvSpPr/>
          <p:nvPr/>
        </p:nvSpPr>
        <p:spPr>
          <a:xfrm>
            <a:off x="5029560" y="40910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5" name="Text Box 29"/>
          <p:cNvSpPr/>
          <p:nvPr/>
        </p:nvSpPr>
        <p:spPr>
          <a:xfrm>
            <a:off x="5105880" y="649116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6" name="Text Box 30"/>
          <p:cNvSpPr/>
          <p:nvPr/>
        </p:nvSpPr>
        <p:spPr>
          <a:xfrm>
            <a:off x="8077680" y="50054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7" name="Text Box 31"/>
          <p:cNvSpPr/>
          <p:nvPr/>
        </p:nvSpPr>
        <p:spPr>
          <a:xfrm>
            <a:off x="8077680" y="54626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8" name="Line 32"/>
          <p:cNvSpPr/>
          <p:nvPr/>
        </p:nvSpPr>
        <p:spPr>
          <a:xfrm>
            <a:off x="914400" y="4572000"/>
            <a:ext cx="0" cy="83808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9" name="Line 33"/>
          <p:cNvSpPr/>
          <p:nvPr/>
        </p:nvSpPr>
        <p:spPr>
          <a:xfrm>
            <a:off x="1066680" y="2666880"/>
            <a:ext cx="0" cy="83844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0" name="Text Box 34"/>
          <p:cNvSpPr/>
          <p:nvPr/>
        </p:nvSpPr>
        <p:spPr>
          <a:xfrm>
            <a:off x="1174320" y="3124080"/>
            <a:ext cx="6310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PMA</a:t>
            </a:r>
            <a:endParaRPr b="0" lang="en-US" sz="1600" strike="noStrike" u="none">
              <a:solidFill>
                <a:srgbClr val="ffff00"/>
              </a:solidFill>
              <a:effectLst/>
              <a:uFillTx/>
              <a:latin typeface="Times New Roman"/>
            </a:endParaRPr>
          </a:p>
        </p:txBody>
      </p:sp>
      <p:sp>
        <p:nvSpPr>
          <p:cNvPr id="631" name="Line 35"/>
          <p:cNvSpPr/>
          <p:nvPr/>
        </p:nvSpPr>
        <p:spPr>
          <a:xfrm>
            <a:off x="1066680" y="3048120"/>
            <a:ext cx="807732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2" name="Text Box 36"/>
          <p:cNvSpPr/>
          <p:nvPr/>
        </p:nvSpPr>
        <p:spPr>
          <a:xfrm>
            <a:off x="5007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3" name="Text Box 37"/>
          <p:cNvSpPr/>
          <p:nvPr/>
        </p:nvSpPr>
        <p:spPr>
          <a:xfrm>
            <a:off x="5007600" y="22096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4" name="Text Box 38"/>
          <p:cNvSpPr/>
          <p:nvPr/>
        </p:nvSpPr>
        <p:spPr>
          <a:xfrm>
            <a:off x="5007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5" name="Text Box 39"/>
          <p:cNvSpPr/>
          <p:nvPr/>
        </p:nvSpPr>
        <p:spPr>
          <a:xfrm>
            <a:off x="3864600" y="41148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6" name="Text Box 40"/>
          <p:cNvSpPr/>
          <p:nvPr/>
        </p:nvSpPr>
        <p:spPr>
          <a:xfrm>
            <a:off x="3864600" y="46483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7" name="Line 41"/>
          <p:cNvSpPr/>
          <p:nvPr/>
        </p:nvSpPr>
        <p:spPr>
          <a:xfrm>
            <a:off x="914400" y="5029200"/>
            <a:ext cx="822960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8" name="Text Box 42"/>
          <p:cNvSpPr/>
          <p:nvPr/>
        </p:nvSpPr>
        <p:spPr>
          <a:xfrm>
            <a:off x="5040000" y="4648320"/>
            <a:ext cx="9687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 </a:t>
            </a:r>
            <a:endParaRPr b="0" lang="en-US" sz="1800" strike="noStrike" u="none">
              <a:solidFill>
                <a:srgbClr val="ffff00"/>
              </a:solidFill>
              <a:effectLst/>
              <a:uFillTx/>
              <a:latin typeface="Times New Roman"/>
            </a:endParaRPr>
          </a:p>
        </p:txBody>
      </p:sp>
      <p:sp>
        <p:nvSpPr>
          <p:cNvPr id="639" name="Text Box 43"/>
          <p:cNvSpPr/>
          <p:nvPr/>
        </p:nvSpPr>
        <p:spPr>
          <a:xfrm>
            <a:off x="6455160" y="54864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0" name="Text Box 44"/>
          <p:cNvSpPr/>
          <p:nvPr/>
        </p:nvSpPr>
        <p:spPr>
          <a:xfrm>
            <a:off x="3951000" y="22096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1" name="Text Box 45"/>
          <p:cNvSpPr/>
          <p:nvPr/>
        </p:nvSpPr>
        <p:spPr>
          <a:xfrm>
            <a:off x="650952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2" name="Text Box 46"/>
          <p:cNvSpPr/>
          <p:nvPr/>
        </p:nvSpPr>
        <p:spPr>
          <a:xfrm>
            <a:off x="818604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3" name="Text Box 47"/>
          <p:cNvSpPr/>
          <p:nvPr/>
        </p:nvSpPr>
        <p:spPr>
          <a:xfrm>
            <a:off x="6509520" y="1523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4" name="Text Box 48"/>
          <p:cNvSpPr/>
          <p:nvPr/>
        </p:nvSpPr>
        <p:spPr>
          <a:xfrm>
            <a:off x="391860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5" name="Text Box 49"/>
          <p:cNvSpPr/>
          <p:nvPr/>
        </p:nvSpPr>
        <p:spPr>
          <a:xfrm>
            <a:off x="384264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6" name="Text Box 50"/>
          <p:cNvSpPr/>
          <p:nvPr/>
        </p:nvSpPr>
        <p:spPr>
          <a:xfrm>
            <a:off x="513792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7" name="Text Box 51"/>
          <p:cNvSpPr/>
          <p:nvPr/>
        </p:nvSpPr>
        <p:spPr>
          <a:xfrm>
            <a:off x="3842640" y="649116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8" name="Text Box 52"/>
          <p:cNvSpPr/>
          <p:nvPr/>
        </p:nvSpPr>
        <p:spPr>
          <a:xfrm>
            <a:off x="2775600" y="2666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49" name="Text Box 53"/>
          <p:cNvSpPr/>
          <p:nvPr/>
        </p:nvSpPr>
        <p:spPr>
          <a:xfrm>
            <a:off x="2775600" y="41148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0" name="Text Box 54"/>
          <p:cNvSpPr/>
          <p:nvPr/>
        </p:nvSpPr>
        <p:spPr>
          <a:xfrm>
            <a:off x="2775600" y="46483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1" name="Text Box 55"/>
          <p:cNvSpPr/>
          <p:nvPr/>
        </p:nvSpPr>
        <p:spPr>
          <a:xfrm>
            <a:off x="6509520" y="50292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2" name="Text Box 56"/>
          <p:cNvSpPr/>
          <p:nvPr/>
        </p:nvSpPr>
        <p:spPr>
          <a:xfrm>
            <a:off x="2743200" y="31240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53" name="Text Box 57"/>
          <p:cNvSpPr/>
          <p:nvPr/>
        </p:nvSpPr>
        <p:spPr>
          <a:xfrm>
            <a:off x="2819520" y="601992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54" name="Text Box 58"/>
          <p:cNvSpPr/>
          <p:nvPr/>
        </p:nvSpPr>
        <p:spPr>
          <a:xfrm>
            <a:off x="5029200" y="1066680"/>
            <a:ext cx="6094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55" name="Text Box 59"/>
          <p:cNvSpPr/>
          <p:nvPr/>
        </p:nvSpPr>
        <p:spPr>
          <a:xfrm>
            <a:off x="5105520" y="548640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56" name="Text Box 60"/>
          <p:cNvSpPr/>
          <p:nvPr/>
        </p:nvSpPr>
        <p:spPr>
          <a:xfrm>
            <a:off x="2819520" y="649116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57" name="Text Box 61"/>
          <p:cNvSpPr/>
          <p:nvPr/>
        </p:nvSpPr>
        <p:spPr>
          <a:xfrm>
            <a:off x="6541920" y="31240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58" name="Text Box 62"/>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59" name="Text Box 63"/>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60" name="Text Box 64"/>
          <p:cNvSpPr/>
          <p:nvPr/>
        </p:nvSpPr>
        <p:spPr>
          <a:xfrm>
            <a:off x="7650000" y="2098800"/>
            <a:ext cx="244800" cy="342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61" name="Line 65"/>
          <p:cNvSpPr/>
          <p:nvPr/>
        </p:nvSpPr>
        <p:spPr>
          <a:xfrm>
            <a:off x="784872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2" name="Line 66"/>
          <p:cNvSpPr/>
          <p:nvPr/>
        </p:nvSpPr>
        <p:spPr>
          <a:xfrm>
            <a:off x="815328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3" name="Line 67"/>
          <p:cNvSpPr/>
          <p:nvPr/>
        </p:nvSpPr>
        <p:spPr>
          <a:xfrm>
            <a:off x="784872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4" name="Line 68"/>
          <p:cNvSpPr/>
          <p:nvPr/>
        </p:nvSpPr>
        <p:spPr>
          <a:xfrm>
            <a:off x="81532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5" name="Line 69"/>
          <p:cNvSpPr/>
          <p:nvPr/>
        </p:nvSpPr>
        <p:spPr>
          <a:xfrm>
            <a:off x="67816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6" name="Line 70"/>
          <p:cNvSpPr/>
          <p:nvPr/>
        </p:nvSpPr>
        <p:spPr>
          <a:xfrm>
            <a:off x="708660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7" name="Line 71"/>
          <p:cNvSpPr/>
          <p:nvPr/>
        </p:nvSpPr>
        <p:spPr>
          <a:xfrm>
            <a:off x="80773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8" name="Line 72"/>
          <p:cNvSpPr/>
          <p:nvPr/>
        </p:nvSpPr>
        <p:spPr>
          <a:xfrm>
            <a:off x="83818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69" name="Line 73"/>
          <p:cNvSpPr/>
          <p:nvPr/>
        </p:nvSpPr>
        <p:spPr>
          <a:xfrm>
            <a:off x="838188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0" name="Line 74"/>
          <p:cNvSpPr/>
          <p:nvPr/>
        </p:nvSpPr>
        <p:spPr>
          <a:xfrm>
            <a:off x="868680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1" name="Line 75"/>
          <p:cNvSpPr/>
          <p:nvPr/>
        </p:nvSpPr>
        <p:spPr>
          <a:xfrm>
            <a:off x="830592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2" name="Line 76"/>
          <p:cNvSpPr/>
          <p:nvPr/>
        </p:nvSpPr>
        <p:spPr>
          <a:xfrm>
            <a:off x="86104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3" name="Text Box 77"/>
          <p:cNvSpPr/>
          <p:nvPr/>
        </p:nvSpPr>
        <p:spPr>
          <a:xfrm>
            <a:off x="788112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74" name="Line 78"/>
          <p:cNvSpPr/>
          <p:nvPr/>
        </p:nvSpPr>
        <p:spPr>
          <a:xfrm>
            <a:off x="79246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5" name="Line 79"/>
          <p:cNvSpPr/>
          <p:nvPr/>
        </p:nvSpPr>
        <p:spPr>
          <a:xfrm>
            <a:off x="82296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6" name="Line 80"/>
          <p:cNvSpPr/>
          <p:nvPr/>
        </p:nvSpPr>
        <p:spPr>
          <a:xfrm>
            <a:off x="85345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7" name="Line 81"/>
          <p:cNvSpPr/>
          <p:nvPr/>
        </p:nvSpPr>
        <p:spPr>
          <a:xfrm>
            <a:off x="63244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8" name="Line 82"/>
          <p:cNvSpPr/>
          <p:nvPr/>
        </p:nvSpPr>
        <p:spPr>
          <a:xfrm>
            <a:off x="66294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9" name="Line 83"/>
          <p:cNvSpPr/>
          <p:nvPr/>
        </p:nvSpPr>
        <p:spPr>
          <a:xfrm>
            <a:off x="69343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0" name="Line 84"/>
          <p:cNvSpPr/>
          <p:nvPr/>
        </p:nvSpPr>
        <p:spPr>
          <a:xfrm>
            <a:off x="640080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1" name="Line 85"/>
          <p:cNvSpPr/>
          <p:nvPr/>
        </p:nvSpPr>
        <p:spPr>
          <a:xfrm>
            <a:off x="67057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2" name="Line 86"/>
          <p:cNvSpPr/>
          <p:nvPr/>
        </p:nvSpPr>
        <p:spPr>
          <a:xfrm>
            <a:off x="70102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3" name="Line 87"/>
          <p:cNvSpPr/>
          <p:nvPr/>
        </p:nvSpPr>
        <p:spPr>
          <a:xfrm>
            <a:off x="64008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4" name="Line 88"/>
          <p:cNvSpPr/>
          <p:nvPr/>
        </p:nvSpPr>
        <p:spPr>
          <a:xfrm>
            <a:off x="6705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5" name="Line 89"/>
          <p:cNvSpPr/>
          <p:nvPr/>
        </p:nvSpPr>
        <p:spPr>
          <a:xfrm>
            <a:off x="7010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6" name="Line 90"/>
          <p:cNvSpPr/>
          <p:nvPr/>
        </p:nvSpPr>
        <p:spPr>
          <a:xfrm>
            <a:off x="7848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7" name="Line 91"/>
          <p:cNvSpPr/>
          <p:nvPr/>
        </p:nvSpPr>
        <p:spPr>
          <a:xfrm>
            <a:off x="8153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8" name="Line 92"/>
          <p:cNvSpPr/>
          <p:nvPr/>
        </p:nvSpPr>
        <p:spPr>
          <a:xfrm>
            <a:off x="84582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9" name="Text Box 93"/>
          <p:cNvSpPr/>
          <p:nvPr/>
        </p:nvSpPr>
        <p:spPr>
          <a:xfrm>
            <a:off x="7924680" y="601992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90" name="Text Box 94"/>
          <p:cNvSpPr/>
          <p:nvPr/>
        </p:nvSpPr>
        <p:spPr>
          <a:xfrm>
            <a:off x="6324480" y="266688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91" name="Text Box 95"/>
          <p:cNvSpPr/>
          <p:nvPr/>
        </p:nvSpPr>
        <p:spPr>
          <a:xfrm>
            <a:off x="7804800" y="22096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92" name="Line 96"/>
          <p:cNvSpPr/>
          <p:nvPr/>
        </p:nvSpPr>
        <p:spPr>
          <a:xfrm>
            <a:off x="8305920" y="23623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3" name="Text Box 97"/>
          <p:cNvSpPr/>
          <p:nvPr/>
        </p:nvSpPr>
        <p:spPr>
          <a:xfrm>
            <a:off x="3864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94" name="Line 98"/>
          <p:cNvSpPr/>
          <p:nvPr/>
        </p:nvSpPr>
        <p:spPr>
          <a:xfrm>
            <a:off x="716292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5" name="Text Box 99"/>
          <p:cNvSpPr/>
          <p:nvPr/>
        </p:nvSpPr>
        <p:spPr>
          <a:xfrm>
            <a:off x="5105520" y="35812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96" name="Text Box 100"/>
          <p:cNvSpPr/>
          <p:nvPr/>
        </p:nvSpPr>
        <p:spPr>
          <a:xfrm>
            <a:off x="6379200" y="6019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97" name="Line 101"/>
          <p:cNvSpPr/>
          <p:nvPr/>
        </p:nvSpPr>
        <p:spPr>
          <a:xfrm>
            <a:off x="70102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8" name="Text Box 102"/>
          <p:cNvSpPr/>
          <p:nvPr/>
        </p:nvSpPr>
        <p:spPr>
          <a:xfrm>
            <a:off x="2739960" y="2170080"/>
            <a:ext cx="511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99" name="Text Box 103"/>
          <p:cNvSpPr/>
          <p:nvPr/>
        </p:nvSpPr>
        <p:spPr>
          <a:xfrm>
            <a:off x="-849240" y="6041880"/>
            <a:ext cx="183960" cy="4572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iming>
    <p:tnLst>
      <p:par>
        <p:cTn id="939" dur="indefinite" restart="never" nodeType="tmRoot">
          <p:childTnLst>
            <p:seq>
              <p:cTn id="940" dur="indefinite" nodeType="mainSeq">
                <p:childTnLst>
                  <p:par>
                    <p:cTn id="941" nodeType="clickEffect" fill="hold">
                      <p:stCondLst>
                        <p:cond delay="indefinite"/>
                      </p:stCondLst>
                      <p:childTnLst>
                        <p:par>
                          <p:cTn id="942" nodeType="withEffect" fill="hold">
                            <p:stCondLst>
                              <p:cond delay="0"/>
                            </p:stCondLst>
                            <p:childTnLst>
                              <p:par>
                                <p:cTn id="943" nodeType="clickEffect" fill="hold" presetClass="entr" presetID="9">
                                  <p:stCondLst>
                                    <p:cond delay="0"/>
                                  </p:stCondLst>
                                  <p:iterate type="lt">
                                    <p:tmAbs val="75"/>
                                  </p:iterate>
                                  <p:childTnLst>
                                    <p:set>
                                      <p:cBhvr>
                                        <p:cTn id="944" dur="1" fill="hold">
                                          <p:stCondLst>
                                            <p:cond delay="0"/>
                                          </p:stCondLst>
                                        </p:cTn>
                                        <p:tgtEl>
                                          <p:spTgt spid="616"/>
                                        </p:tgtEl>
                                        <p:attrNameLst>
                                          <p:attrName>style.visibility</p:attrName>
                                        </p:attrNameLst>
                                      </p:cBhvr>
                                      <p:to>
                                        <p:strVal val="visible"/>
                                      </p:to>
                                    </p:set>
                                    <p:animEffect filter="dissolve" transition="in">
                                      <p:cBhvr additive="repl">
                                        <p:cTn id="945" dur="75"/>
                                        <p:tgtEl>
                                          <p:spTgt spid="616"/>
                                        </p:tgtEl>
                                      </p:cBhvr>
                                    </p:animEffect>
                                  </p:childTnLst>
                                </p:cTn>
                              </p:par>
                            </p:childTnLst>
                          </p:cTn>
                        </p:par>
                        <p:par>
                          <p:cTn id="946" nodeType="afterEffect" fill="hold">
                            <p:stCondLst>
                              <p:cond delay="300"/>
                            </p:stCondLst>
                            <p:childTnLst>
                              <p:par>
                                <p:cTn id="947" nodeType="afterEffect" fill="hold" presetClass="entr" presetID="9">
                                  <p:stCondLst>
                                    <p:cond delay="1000"/>
                                  </p:stCondLst>
                                  <p:iterate type="lt">
                                    <p:tmAbs val="75"/>
                                  </p:iterate>
                                  <p:childTnLst>
                                    <p:set>
                                      <p:cBhvr>
                                        <p:cTn id="948" dur="1" fill="hold">
                                          <p:stCondLst>
                                            <p:cond delay="0"/>
                                          </p:stCondLst>
                                        </p:cTn>
                                        <p:tgtEl>
                                          <p:spTgt spid="618"/>
                                        </p:tgtEl>
                                        <p:attrNameLst>
                                          <p:attrName>style.visibility</p:attrName>
                                        </p:attrNameLst>
                                      </p:cBhvr>
                                      <p:to>
                                        <p:strVal val="visible"/>
                                      </p:to>
                                    </p:set>
                                    <p:animEffect filter="dissolve" transition="in">
                                      <p:cBhvr additive="repl">
                                        <p:cTn id="949" dur="75"/>
                                        <p:tgtEl>
                                          <p:spTgt spid="618"/>
                                        </p:tgtEl>
                                      </p:cBhvr>
                                    </p:animEffect>
                                  </p:childTnLst>
                                </p:cTn>
                              </p:par>
                            </p:childTnLst>
                          </p:cTn>
                        </p:par>
                        <p:par>
                          <p:cTn id="950" nodeType="afterEffect" fill="hold">
                            <p:stCondLst>
                              <p:cond delay="1525"/>
                            </p:stCondLst>
                            <p:childTnLst>
                              <p:par>
                                <p:cTn id="951" nodeType="afterEffect" fill="hold" presetClass="entr" presetID="9">
                                  <p:stCondLst>
                                    <p:cond delay="1000"/>
                                  </p:stCondLst>
                                  <p:iterate type="lt">
                                    <p:tmAbs val="75"/>
                                  </p:iterate>
                                  <p:childTnLst>
                                    <p:set>
                                      <p:cBhvr>
                                        <p:cTn id="952" dur="1" fill="hold">
                                          <p:stCondLst>
                                            <p:cond delay="0"/>
                                          </p:stCondLst>
                                        </p:cTn>
                                        <p:tgtEl>
                                          <p:spTgt spid="654"/>
                                        </p:tgtEl>
                                        <p:attrNameLst>
                                          <p:attrName>style.visibility</p:attrName>
                                        </p:attrNameLst>
                                      </p:cBhvr>
                                      <p:to>
                                        <p:strVal val="visible"/>
                                      </p:to>
                                    </p:set>
                                    <p:animEffect filter="dissolve" transition="in">
                                      <p:cBhvr additive="repl">
                                        <p:cTn id="953" dur="75"/>
                                        <p:tgtEl>
                                          <p:spTgt spid="654"/>
                                        </p:tgtEl>
                                      </p:cBhvr>
                                    </p:animEffect>
                                  </p:childTnLst>
                                </p:cTn>
                              </p:par>
                            </p:childTnLst>
                          </p:cTn>
                        </p:par>
                      </p:childTnLst>
                    </p:cTn>
                  </p:par>
                  <p:par>
                    <p:cTn id="954" nodeType="clickEffect" fill="hold">
                      <p:stCondLst>
                        <p:cond delay="indefinite"/>
                      </p:stCondLst>
                      <p:childTnLst>
                        <p:par>
                          <p:cTn id="955" nodeType="withEffect" fill="hold">
                            <p:stCondLst>
                              <p:cond delay="0"/>
                            </p:stCondLst>
                            <p:childTnLst>
                              <p:par>
                                <p:cTn id="956" nodeType="clickEffect" fill="hold" presetClass="entr" presetID="9">
                                  <p:stCondLst>
                                    <p:cond delay="0"/>
                                  </p:stCondLst>
                                  <p:iterate type="lt">
                                    <p:tmAbs val="75"/>
                                  </p:iterate>
                                  <p:childTnLst>
                                    <p:set>
                                      <p:cBhvr>
                                        <p:cTn id="957" dur="1" fill="hold">
                                          <p:stCondLst>
                                            <p:cond delay="0"/>
                                          </p:stCondLst>
                                        </p:cTn>
                                        <p:tgtEl>
                                          <p:spTgt spid="621"/>
                                        </p:tgtEl>
                                        <p:attrNameLst>
                                          <p:attrName>style.visibility</p:attrName>
                                        </p:attrNameLst>
                                      </p:cBhvr>
                                      <p:to>
                                        <p:strVal val="visible"/>
                                      </p:to>
                                    </p:set>
                                    <p:animEffect filter="dissolve" transition="in">
                                      <p:cBhvr additive="repl">
                                        <p:cTn id="958" dur="75"/>
                                        <p:tgtEl>
                                          <p:spTgt spid="621"/>
                                        </p:tgtEl>
                                      </p:cBhvr>
                                    </p:animEffect>
                                  </p:childTnLst>
                                </p:cTn>
                              </p:par>
                            </p:childTnLst>
                          </p:cTn>
                        </p:par>
                        <p:par>
                          <p:cTn id="959" nodeType="afterEffect" fill="hold">
                            <p:stCondLst>
                              <p:cond delay="225"/>
                            </p:stCondLst>
                            <p:childTnLst>
                              <p:par>
                                <p:cTn id="960" nodeType="afterEffect" fill="hold" presetClass="entr" presetID="9">
                                  <p:stCondLst>
                                    <p:cond delay="1000"/>
                                  </p:stCondLst>
                                  <p:iterate type="lt">
                                    <p:tmAbs val="75"/>
                                  </p:iterate>
                                  <p:childTnLst>
                                    <p:set>
                                      <p:cBhvr>
                                        <p:cTn id="961" dur="1" fill="hold">
                                          <p:stCondLst>
                                            <p:cond delay="0"/>
                                          </p:stCondLst>
                                        </p:cTn>
                                        <p:tgtEl>
                                          <p:spTgt spid="620"/>
                                        </p:tgtEl>
                                        <p:attrNameLst>
                                          <p:attrName>style.visibility</p:attrName>
                                        </p:attrNameLst>
                                      </p:cBhvr>
                                      <p:to>
                                        <p:strVal val="visible"/>
                                      </p:to>
                                    </p:set>
                                    <p:animEffect filter="dissolve" transition="in">
                                      <p:cBhvr additive="repl">
                                        <p:cTn id="962" dur="75"/>
                                        <p:tgtEl>
                                          <p:spTgt spid="620"/>
                                        </p:tgtEl>
                                      </p:cBhvr>
                                    </p:animEffect>
                                  </p:childTnLst>
                                </p:cTn>
                              </p:par>
                            </p:childTnLst>
                          </p:cTn>
                        </p:par>
                        <p:par>
                          <p:cTn id="963" nodeType="afterEffect" fill="hold">
                            <p:stCondLst>
                              <p:cond delay="1525"/>
                            </p:stCondLst>
                            <p:childTnLst>
                              <p:par>
                                <p:cTn id="964" nodeType="afterEffect" fill="hold" presetClass="entr" presetID="9">
                                  <p:stCondLst>
                                    <p:cond delay="1000"/>
                                  </p:stCondLst>
                                  <p:iterate type="lt">
                                    <p:tmAbs val="75"/>
                                  </p:iterate>
                                  <p:childTnLst>
                                    <p:set>
                                      <p:cBhvr>
                                        <p:cTn id="965" dur="1" fill="hold">
                                          <p:stCondLst>
                                            <p:cond delay="0"/>
                                          </p:stCondLst>
                                        </p:cTn>
                                        <p:tgtEl>
                                          <p:spTgt spid="632"/>
                                        </p:tgtEl>
                                        <p:attrNameLst>
                                          <p:attrName>style.visibility</p:attrName>
                                        </p:attrNameLst>
                                      </p:cBhvr>
                                      <p:to>
                                        <p:strVal val="visible"/>
                                      </p:to>
                                    </p:set>
                                    <p:animEffect filter="dissolve" transition="in">
                                      <p:cBhvr additive="repl">
                                        <p:cTn id="966" dur="75"/>
                                        <p:tgtEl>
                                          <p:spTgt spid="632"/>
                                        </p:tgtEl>
                                      </p:cBhvr>
                                    </p:animEffect>
                                  </p:childTnLst>
                                </p:cTn>
                              </p:par>
                            </p:childTnLst>
                          </p:cTn>
                        </p:par>
                        <p:par>
                          <p:cTn id="967" nodeType="afterEffect" fill="hold">
                            <p:stCondLst>
                              <p:cond delay="2750"/>
                            </p:stCondLst>
                            <p:childTnLst>
                              <p:par>
                                <p:cTn id="968" nodeType="afterEffect" fill="hold" presetClass="entr" presetID="9">
                                  <p:stCondLst>
                                    <p:cond delay="1000"/>
                                  </p:stCondLst>
                                  <p:iterate type="lt">
                                    <p:tmAbs val="75"/>
                                  </p:iterate>
                                  <p:childTnLst>
                                    <p:set>
                                      <p:cBhvr>
                                        <p:cTn id="969" dur="1" fill="hold">
                                          <p:stCondLst>
                                            <p:cond delay="0"/>
                                          </p:stCondLst>
                                        </p:cTn>
                                        <p:tgtEl>
                                          <p:spTgt spid="643"/>
                                        </p:tgtEl>
                                        <p:attrNameLst>
                                          <p:attrName>style.visibility</p:attrName>
                                        </p:attrNameLst>
                                      </p:cBhvr>
                                      <p:to>
                                        <p:strVal val="visible"/>
                                      </p:to>
                                    </p:set>
                                    <p:animEffect filter="dissolve" transition="in">
                                      <p:cBhvr additive="repl">
                                        <p:cTn id="970" dur="75"/>
                                        <p:tgtEl>
                                          <p:spTgt spid="643"/>
                                        </p:tgtEl>
                                      </p:cBhvr>
                                    </p:animEffect>
                                  </p:childTnLst>
                                </p:cTn>
                              </p:par>
                            </p:childTnLst>
                          </p:cTn>
                        </p:par>
                        <p:par>
                          <p:cTn id="971" nodeType="afterEffect" fill="hold">
                            <p:stCondLst>
                              <p:cond delay="3900"/>
                            </p:stCondLst>
                            <p:childTnLst>
                              <p:par>
                                <p:cTn id="972" nodeType="afterEffect" fill="hold" presetClass="entr" presetID="9">
                                  <p:stCondLst>
                                    <p:cond delay="0"/>
                                  </p:stCondLst>
                                  <p:childTnLst>
                                    <p:set>
                                      <p:cBhvr>
                                        <p:cTn id="973" dur="1" fill="hold">
                                          <p:stCondLst>
                                            <p:cond delay="0"/>
                                          </p:stCondLst>
                                        </p:cTn>
                                        <p:tgtEl>
                                          <p:spTgt spid="661"/>
                                        </p:tgtEl>
                                        <p:attrNameLst>
                                          <p:attrName>style.visibility</p:attrName>
                                        </p:attrNameLst>
                                      </p:cBhvr>
                                      <p:to>
                                        <p:strVal val="visible"/>
                                      </p:to>
                                    </p:set>
                                    <p:animEffect filter="dissolve" transition="in">
                                      <p:cBhvr additive="repl">
                                        <p:cTn id="974" dur="500"/>
                                        <p:tgtEl>
                                          <p:spTgt spid="661"/>
                                        </p:tgtEl>
                                      </p:cBhvr>
                                    </p:animEffect>
                                  </p:childTnLst>
                                </p:cTn>
                              </p:par>
                            </p:childTnLst>
                          </p:cTn>
                        </p:par>
                        <p:par>
                          <p:cTn id="975" nodeType="afterEffect" fill="hold">
                            <p:stCondLst>
                              <p:cond delay="4400"/>
                            </p:stCondLst>
                            <p:childTnLst>
                              <p:par>
                                <p:cTn id="976" nodeType="afterEffect" fill="hold" presetClass="entr" presetID="9">
                                  <p:stCondLst>
                                    <p:cond delay="0"/>
                                  </p:stCondLst>
                                  <p:childTnLst>
                                    <p:set>
                                      <p:cBhvr>
                                        <p:cTn id="977" dur="1" fill="hold">
                                          <p:stCondLst>
                                            <p:cond delay="0"/>
                                          </p:stCondLst>
                                        </p:cTn>
                                        <p:tgtEl>
                                          <p:spTgt spid="662"/>
                                        </p:tgtEl>
                                        <p:attrNameLst>
                                          <p:attrName>style.visibility</p:attrName>
                                        </p:attrNameLst>
                                      </p:cBhvr>
                                      <p:to>
                                        <p:strVal val="visible"/>
                                      </p:to>
                                    </p:set>
                                    <p:animEffect filter="dissolve" transition="in">
                                      <p:cBhvr additive="repl">
                                        <p:cTn id="978" dur="500"/>
                                        <p:tgtEl>
                                          <p:spTgt spid="662"/>
                                        </p:tgtEl>
                                      </p:cBhvr>
                                    </p:animEffect>
                                  </p:childTnLst>
                                </p:cTn>
                              </p:par>
                            </p:childTnLst>
                          </p:cTn>
                        </p:par>
                      </p:childTnLst>
                    </p:cTn>
                  </p:par>
                  <p:par>
                    <p:cTn id="979" nodeType="clickEffect" fill="hold">
                      <p:stCondLst>
                        <p:cond delay="indefinite"/>
                      </p:stCondLst>
                      <p:childTnLst>
                        <p:par>
                          <p:cTn id="980" nodeType="withEffect" fill="hold">
                            <p:stCondLst>
                              <p:cond delay="0"/>
                            </p:stCondLst>
                            <p:childTnLst>
                              <p:par>
                                <p:cTn id="981" nodeType="clickEffect" fill="hold" presetClass="entr" presetID="9">
                                  <p:stCondLst>
                                    <p:cond delay="0"/>
                                  </p:stCondLst>
                                  <p:iterate type="lt">
                                    <p:tmAbs val="75"/>
                                  </p:iterate>
                                  <p:childTnLst>
                                    <p:set>
                                      <p:cBhvr>
                                        <p:cTn id="982" dur="1" fill="hold">
                                          <p:stCondLst>
                                            <p:cond delay="0"/>
                                          </p:stCondLst>
                                        </p:cTn>
                                        <p:tgtEl>
                                          <p:spTgt spid="698"/>
                                        </p:tgtEl>
                                        <p:attrNameLst>
                                          <p:attrName>style.visibility</p:attrName>
                                        </p:attrNameLst>
                                      </p:cBhvr>
                                      <p:to>
                                        <p:strVal val="visible"/>
                                      </p:to>
                                    </p:set>
                                    <p:animEffect filter="dissolve" transition="in">
                                      <p:cBhvr additive="repl">
                                        <p:cTn id="983" dur="75"/>
                                        <p:tgtEl>
                                          <p:spTgt spid="698"/>
                                        </p:tgtEl>
                                      </p:cBhvr>
                                    </p:animEffect>
                                  </p:childTnLst>
                                </p:cTn>
                              </p:par>
                            </p:childTnLst>
                          </p:cTn>
                        </p:par>
                        <p:par>
                          <p:cTn id="984" nodeType="afterEffect" fill="hold">
                            <p:stCondLst>
                              <p:cond delay="150"/>
                            </p:stCondLst>
                            <p:childTnLst>
                              <p:par>
                                <p:cTn id="985" nodeType="afterEffect" fill="hold" presetClass="entr" presetID="9">
                                  <p:stCondLst>
                                    <p:cond delay="1000"/>
                                  </p:stCondLst>
                                  <p:iterate type="lt">
                                    <p:tmAbs val="75"/>
                                  </p:iterate>
                                  <p:childTnLst>
                                    <p:set>
                                      <p:cBhvr>
                                        <p:cTn id="986" dur="1" fill="hold">
                                          <p:stCondLst>
                                            <p:cond delay="0"/>
                                          </p:stCondLst>
                                        </p:cTn>
                                        <p:tgtEl>
                                          <p:spTgt spid="640"/>
                                        </p:tgtEl>
                                        <p:attrNameLst>
                                          <p:attrName>style.visibility</p:attrName>
                                        </p:attrNameLst>
                                      </p:cBhvr>
                                      <p:to>
                                        <p:strVal val="visible"/>
                                      </p:to>
                                    </p:set>
                                    <p:animEffect filter="dissolve" transition="in">
                                      <p:cBhvr additive="repl">
                                        <p:cTn id="987" dur="75"/>
                                        <p:tgtEl>
                                          <p:spTgt spid="640"/>
                                        </p:tgtEl>
                                      </p:cBhvr>
                                    </p:animEffect>
                                  </p:childTnLst>
                                </p:cTn>
                              </p:par>
                            </p:childTnLst>
                          </p:cTn>
                        </p:par>
                        <p:par>
                          <p:cTn id="988" nodeType="afterEffect" fill="hold">
                            <p:stCondLst>
                              <p:cond delay="1375"/>
                            </p:stCondLst>
                            <p:childTnLst>
                              <p:par>
                                <p:cTn id="989" nodeType="afterEffect" fill="hold" presetClass="entr" presetID="9">
                                  <p:stCondLst>
                                    <p:cond delay="1000"/>
                                  </p:stCondLst>
                                  <p:iterate type="lt">
                                    <p:tmAbs val="75"/>
                                  </p:iterate>
                                  <p:childTnLst>
                                    <p:set>
                                      <p:cBhvr>
                                        <p:cTn id="990" dur="1" fill="hold">
                                          <p:stCondLst>
                                            <p:cond delay="0"/>
                                          </p:stCondLst>
                                        </p:cTn>
                                        <p:tgtEl>
                                          <p:spTgt spid="633"/>
                                        </p:tgtEl>
                                        <p:attrNameLst>
                                          <p:attrName>style.visibility</p:attrName>
                                        </p:attrNameLst>
                                      </p:cBhvr>
                                      <p:to>
                                        <p:strVal val="visible"/>
                                      </p:to>
                                    </p:set>
                                    <p:animEffect filter="dissolve" transition="in">
                                      <p:cBhvr additive="repl">
                                        <p:cTn id="991" dur="75"/>
                                        <p:tgtEl>
                                          <p:spTgt spid="633"/>
                                        </p:tgtEl>
                                      </p:cBhvr>
                                    </p:animEffect>
                                  </p:childTnLst>
                                </p:cTn>
                              </p:par>
                            </p:childTnLst>
                          </p:cTn>
                        </p:par>
                        <p:par>
                          <p:cTn id="992" nodeType="afterEffect" fill="hold">
                            <p:stCondLst>
                              <p:cond delay="2600"/>
                            </p:stCondLst>
                            <p:childTnLst>
                              <p:par>
                                <p:cTn id="993" nodeType="afterEffect" fill="hold" presetClass="entr" presetID="9">
                                  <p:stCondLst>
                                    <p:cond delay="1000"/>
                                  </p:stCondLst>
                                  <p:iterate type="lt">
                                    <p:tmAbs val="75"/>
                                  </p:iterate>
                                  <p:childTnLst>
                                    <p:set>
                                      <p:cBhvr>
                                        <p:cTn id="994" dur="1" fill="hold">
                                          <p:stCondLst>
                                            <p:cond delay="0"/>
                                          </p:stCondLst>
                                        </p:cTn>
                                        <p:tgtEl>
                                          <p:spTgt spid="622"/>
                                        </p:tgtEl>
                                        <p:attrNameLst>
                                          <p:attrName>style.visibility</p:attrName>
                                        </p:attrNameLst>
                                      </p:cBhvr>
                                      <p:to>
                                        <p:strVal val="visible"/>
                                      </p:to>
                                    </p:set>
                                    <p:animEffect filter="dissolve" transition="in">
                                      <p:cBhvr additive="repl">
                                        <p:cTn id="995" dur="75"/>
                                        <p:tgtEl>
                                          <p:spTgt spid="622"/>
                                        </p:tgtEl>
                                      </p:cBhvr>
                                    </p:animEffect>
                                  </p:childTnLst>
                                </p:cTn>
                              </p:par>
                            </p:childTnLst>
                          </p:cTn>
                        </p:par>
                        <p:par>
                          <p:cTn id="996" nodeType="afterEffect" fill="hold">
                            <p:stCondLst>
                              <p:cond delay="3900"/>
                            </p:stCondLst>
                            <p:childTnLst>
                              <p:par>
                                <p:cTn id="997" nodeType="afterEffect" fill="hold" presetClass="entr" presetID="9">
                                  <p:stCondLst>
                                    <p:cond delay="1000"/>
                                  </p:stCondLst>
                                  <p:iterate type="lt">
                                    <p:tmAbs val="75"/>
                                  </p:iterate>
                                  <p:childTnLst>
                                    <p:set>
                                      <p:cBhvr>
                                        <p:cTn id="998" dur="1" fill="hold">
                                          <p:stCondLst>
                                            <p:cond delay="0"/>
                                          </p:stCondLst>
                                        </p:cTn>
                                        <p:tgtEl>
                                          <p:spTgt spid="691"/>
                                        </p:tgtEl>
                                        <p:attrNameLst>
                                          <p:attrName>style.visibility</p:attrName>
                                        </p:attrNameLst>
                                      </p:cBhvr>
                                      <p:to>
                                        <p:strVal val="visible"/>
                                      </p:to>
                                    </p:set>
                                    <p:animEffect filter="dissolve" transition="in">
                                      <p:cBhvr additive="repl">
                                        <p:cTn id="999" dur="75"/>
                                        <p:tgtEl>
                                          <p:spTgt spid="691"/>
                                        </p:tgtEl>
                                      </p:cBhvr>
                                    </p:animEffect>
                                  </p:childTnLst>
                                </p:cTn>
                              </p:par>
                            </p:childTnLst>
                          </p:cTn>
                        </p:par>
                        <p:par>
                          <p:cTn id="1000" nodeType="afterEffect" fill="hold">
                            <p:stCondLst>
                              <p:cond delay="5050"/>
                            </p:stCondLst>
                            <p:childTnLst>
                              <p:par>
                                <p:cTn id="1001" nodeType="afterEffect" fill="hold" presetClass="entr" presetID="17" presetSubtype="8">
                                  <p:stCondLst>
                                    <p:cond delay="0"/>
                                  </p:stCondLst>
                                  <p:childTnLst>
                                    <p:set>
                                      <p:cBhvr>
                                        <p:cTn id="1002" dur="1" fill="hold">
                                          <p:stCondLst>
                                            <p:cond delay="0"/>
                                          </p:stCondLst>
                                        </p:cTn>
                                        <p:tgtEl>
                                          <p:spTgt spid="692"/>
                                        </p:tgtEl>
                                        <p:attrNameLst>
                                          <p:attrName>style.visibility</p:attrName>
                                        </p:attrNameLst>
                                      </p:cBhvr>
                                      <p:to>
                                        <p:strVal val="visible"/>
                                      </p:to>
                                    </p:set>
                                    <p:anim calcmode="lin" valueType="num">
                                      <p:cBhvr additive="repl">
                                        <p:cTn id="1003" dur="500" fill="hold"/>
                                        <p:tgtEl>
                                          <p:spTgt spid="692"/>
                                        </p:tgtEl>
                                        <p:attrNameLst>
                                          <p:attrName>ppt_x</p:attrName>
                                        </p:attrNameLst>
                                      </p:cBhvr>
                                      <p:tavLst>
                                        <p:tav tm="0">
                                          <p:val>
                                            <p:strVal val="#ppt_x-#ppt_w/2"/>
                                          </p:val>
                                        </p:tav>
                                        <p:tav tm="100000">
                                          <p:val>
                                            <p:strVal val="#ppt_x"/>
                                          </p:val>
                                        </p:tav>
                                      </p:tavLst>
                                    </p:anim>
                                    <p:anim calcmode="lin" valueType="num">
                                      <p:cBhvr additive="repl">
                                        <p:cTn id="1004" dur="500" fill="hold"/>
                                        <p:tgtEl>
                                          <p:spTgt spid="692"/>
                                        </p:tgtEl>
                                        <p:attrNameLst>
                                          <p:attrName>ppt_y</p:attrName>
                                        </p:attrNameLst>
                                      </p:cBhvr>
                                      <p:tavLst>
                                        <p:tav tm="0">
                                          <p:val>
                                            <p:strVal val="#ppt_y"/>
                                          </p:val>
                                        </p:tav>
                                        <p:tav tm="100000">
                                          <p:val>
                                            <p:strVal val="#ppt_y"/>
                                          </p:val>
                                        </p:tav>
                                      </p:tavLst>
                                    </p:anim>
                                    <p:anim calcmode="lin" valueType="num">
                                      <p:cBhvr additive="repl">
                                        <p:cTn id="1005" dur="500" fill="hold"/>
                                        <p:tgtEl>
                                          <p:spTgt spid="692"/>
                                        </p:tgtEl>
                                        <p:attrNameLst>
                                          <p:attrName>ppt_w</p:attrName>
                                        </p:attrNameLst>
                                      </p:cBhvr>
                                      <p:tavLst>
                                        <p:tav tm="0">
                                          <p:val>
                                            <p:fltVal val="0"/>
                                          </p:val>
                                        </p:tav>
                                        <p:tav tm="100000">
                                          <p:val>
                                            <p:strVal val="#ppt_w"/>
                                          </p:val>
                                        </p:tav>
                                      </p:tavLst>
                                    </p:anim>
                                    <p:anim calcmode="lin" valueType="num">
                                      <p:cBhvr additive="repl">
                                        <p:cTn id="1006" dur="500" fill="hold"/>
                                        <p:tgtEl>
                                          <p:spTgt spid="692"/>
                                        </p:tgtEl>
                                        <p:attrNameLst>
                                          <p:attrName>ppt_h</p:attrName>
                                        </p:attrNameLst>
                                      </p:cBhvr>
                                      <p:tavLst>
                                        <p:tav tm="0">
                                          <p:val>
                                            <p:strVal val="#ppt_h"/>
                                          </p:val>
                                        </p:tav>
                                        <p:tav tm="100000">
                                          <p:val>
                                            <p:strVal val="#ppt_h"/>
                                          </p:val>
                                        </p:tav>
                                      </p:tavLst>
                                    </p:anim>
                                  </p:childTnLst>
                                </p:cTn>
                              </p:par>
                            </p:childTnLst>
                          </p:cTn>
                        </p:par>
                      </p:childTnLst>
                    </p:cTn>
                  </p:par>
                  <p:par>
                    <p:cTn id="1007" nodeType="clickEffect" fill="hold">
                      <p:stCondLst>
                        <p:cond delay="indefinite"/>
                      </p:stCondLst>
                      <p:childTnLst>
                        <p:par>
                          <p:cTn id="1008" nodeType="withEffect" fill="hold">
                            <p:stCondLst>
                              <p:cond delay="0"/>
                            </p:stCondLst>
                            <p:childTnLst>
                              <p:par>
                                <p:cTn id="1009" nodeType="clickEffect" fill="hold" presetClass="entr" presetID="9">
                                  <p:stCondLst>
                                    <p:cond delay="0"/>
                                  </p:stCondLst>
                                  <p:iterate type="lt">
                                    <p:tmAbs val="75"/>
                                  </p:iterate>
                                  <p:childTnLst>
                                    <p:set>
                                      <p:cBhvr>
                                        <p:cTn id="1010" dur="1" fill="hold">
                                          <p:stCondLst>
                                            <p:cond delay="0"/>
                                          </p:stCondLst>
                                        </p:cTn>
                                        <p:tgtEl>
                                          <p:spTgt spid="648"/>
                                        </p:tgtEl>
                                        <p:attrNameLst>
                                          <p:attrName>style.visibility</p:attrName>
                                        </p:attrNameLst>
                                      </p:cBhvr>
                                      <p:to>
                                        <p:strVal val="visible"/>
                                      </p:to>
                                    </p:set>
                                    <p:animEffect filter="dissolve" transition="in">
                                      <p:cBhvr additive="repl">
                                        <p:cTn id="1011" dur="75"/>
                                        <p:tgtEl>
                                          <p:spTgt spid="648"/>
                                        </p:tgtEl>
                                      </p:cBhvr>
                                    </p:animEffect>
                                  </p:childTnLst>
                                </p:cTn>
                              </p:par>
                            </p:childTnLst>
                          </p:cTn>
                        </p:par>
                        <p:par>
                          <p:cTn id="1012" nodeType="afterEffect" fill="hold">
                            <p:stCondLst>
                              <p:cond delay="150"/>
                            </p:stCondLst>
                            <p:childTnLst>
                              <p:par>
                                <p:cTn id="1013" nodeType="afterEffect" fill="hold" presetClass="entr" presetID="9">
                                  <p:stCondLst>
                                    <p:cond delay="1000"/>
                                  </p:stCondLst>
                                  <p:iterate type="lt">
                                    <p:tmAbs val="75"/>
                                  </p:iterate>
                                  <p:childTnLst>
                                    <p:set>
                                      <p:cBhvr>
                                        <p:cTn id="1014" dur="1" fill="hold">
                                          <p:stCondLst>
                                            <p:cond delay="0"/>
                                          </p:stCondLst>
                                        </p:cTn>
                                        <p:tgtEl>
                                          <p:spTgt spid="693"/>
                                        </p:tgtEl>
                                        <p:attrNameLst>
                                          <p:attrName>style.visibility</p:attrName>
                                        </p:attrNameLst>
                                      </p:cBhvr>
                                      <p:to>
                                        <p:strVal val="visible"/>
                                      </p:to>
                                    </p:set>
                                    <p:animEffect filter="dissolve" transition="in">
                                      <p:cBhvr additive="repl">
                                        <p:cTn id="1015" dur="75"/>
                                        <p:tgtEl>
                                          <p:spTgt spid="693"/>
                                        </p:tgtEl>
                                      </p:cBhvr>
                                    </p:animEffect>
                                  </p:childTnLst>
                                </p:cTn>
                              </p:par>
                            </p:childTnLst>
                          </p:cTn>
                        </p:par>
                        <p:par>
                          <p:cTn id="1016" nodeType="afterEffect" fill="hold">
                            <p:stCondLst>
                              <p:cond delay="1375"/>
                            </p:stCondLst>
                            <p:childTnLst>
                              <p:par>
                                <p:cTn id="1017" nodeType="afterEffect" fill="hold" presetClass="entr" presetID="9">
                                  <p:stCondLst>
                                    <p:cond delay="1000"/>
                                  </p:stCondLst>
                                  <p:iterate type="lt">
                                    <p:tmAbs val="75"/>
                                  </p:iterate>
                                  <p:childTnLst>
                                    <p:set>
                                      <p:cBhvr>
                                        <p:cTn id="1018" dur="1" fill="hold">
                                          <p:stCondLst>
                                            <p:cond delay="0"/>
                                          </p:stCondLst>
                                        </p:cTn>
                                        <p:tgtEl>
                                          <p:spTgt spid="634"/>
                                        </p:tgtEl>
                                        <p:attrNameLst>
                                          <p:attrName>style.visibility</p:attrName>
                                        </p:attrNameLst>
                                      </p:cBhvr>
                                      <p:to>
                                        <p:strVal val="visible"/>
                                      </p:to>
                                    </p:set>
                                    <p:animEffect filter="dissolve" transition="in">
                                      <p:cBhvr additive="repl">
                                        <p:cTn id="1019" dur="75"/>
                                        <p:tgtEl>
                                          <p:spTgt spid="634"/>
                                        </p:tgtEl>
                                      </p:cBhvr>
                                    </p:animEffect>
                                  </p:childTnLst>
                                </p:cTn>
                              </p:par>
                            </p:childTnLst>
                          </p:cTn>
                        </p:par>
                        <p:par>
                          <p:cTn id="1020" nodeType="afterEffect" fill="hold">
                            <p:stCondLst>
                              <p:cond delay="2600"/>
                            </p:stCondLst>
                            <p:childTnLst>
                              <p:par>
                                <p:cTn id="1021" nodeType="afterEffect" fill="hold" presetClass="entr" presetID="9">
                                  <p:stCondLst>
                                    <p:cond delay="1000"/>
                                  </p:stCondLst>
                                  <p:iterate type="lt">
                                    <p:tmAbs val="75"/>
                                  </p:iterate>
                                  <p:childTnLst>
                                    <p:set>
                                      <p:cBhvr>
                                        <p:cTn id="1022" dur="1" fill="hold">
                                          <p:stCondLst>
                                            <p:cond delay="0"/>
                                          </p:stCondLst>
                                        </p:cTn>
                                        <p:tgtEl>
                                          <p:spTgt spid="690"/>
                                        </p:tgtEl>
                                        <p:attrNameLst>
                                          <p:attrName>style.visibility</p:attrName>
                                        </p:attrNameLst>
                                      </p:cBhvr>
                                      <p:to>
                                        <p:strVal val="visible"/>
                                      </p:to>
                                    </p:set>
                                    <p:animEffect filter="dissolve" transition="in">
                                      <p:cBhvr additive="repl">
                                        <p:cTn id="1023" dur="75"/>
                                        <p:tgtEl>
                                          <p:spTgt spid="690"/>
                                        </p:tgtEl>
                                      </p:cBhvr>
                                    </p:animEffect>
                                  </p:childTnLst>
                                </p:cTn>
                              </p:par>
                            </p:childTnLst>
                          </p:cTn>
                        </p:par>
                        <p:par>
                          <p:cTn id="1024" nodeType="afterEffect" fill="hold">
                            <p:stCondLst>
                              <p:cond delay="3675"/>
                            </p:stCondLst>
                            <p:childTnLst>
                              <p:par>
                                <p:cTn id="1025" nodeType="afterEffect" fill="hold" presetClass="entr" presetID="17" presetSubtype="8">
                                  <p:stCondLst>
                                    <p:cond delay="0"/>
                                  </p:stCondLst>
                                  <p:childTnLst>
                                    <p:set>
                                      <p:cBhvr>
                                        <p:cTn id="1026" dur="1" fill="hold">
                                          <p:stCondLst>
                                            <p:cond delay="0"/>
                                          </p:stCondLst>
                                        </p:cTn>
                                        <p:tgtEl>
                                          <p:spTgt spid="665"/>
                                        </p:tgtEl>
                                        <p:attrNameLst>
                                          <p:attrName>style.visibility</p:attrName>
                                        </p:attrNameLst>
                                      </p:cBhvr>
                                      <p:to>
                                        <p:strVal val="visible"/>
                                      </p:to>
                                    </p:set>
                                    <p:anim calcmode="lin" valueType="num">
                                      <p:cBhvr additive="repl">
                                        <p:cTn id="1027" dur="500" fill="hold"/>
                                        <p:tgtEl>
                                          <p:spTgt spid="665"/>
                                        </p:tgtEl>
                                        <p:attrNameLst>
                                          <p:attrName>ppt_x</p:attrName>
                                        </p:attrNameLst>
                                      </p:cBhvr>
                                      <p:tavLst>
                                        <p:tav tm="0">
                                          <p:val>
                                            <p:strVal val="#ppt_x-#ppt_w/2"/>
                                          </p:val>
                                        </p:tav>
                                        <p:tav tm="100000">
                                          <p:val>
                                            <p:strVal val="#ppt_x"/>
                                          </p:val>
                                        </p:tav>
                                      </p:tavLst>
                                    </p:anim>
                                    <p:anim calcmode="lin" valueType="num">
                                      <p:cBhvr additive="repl">
                                        <p:cTn id="1028" dur="500" fill="hold"/>
                                        <p:tgtEl>
                                          <p:spTgt spid="665"/>
                                        </p:tgtEl>
                                        <p:attrNameLst>
                                          <p:attrName>ppt_y</p:attrName>
                                        </p:attrNameLst>
                                      </p:cBhvr>
                                      <p:tavLst>
                                        <p:tav tm="0">
                                          <p:val>
                                            <p:strVal val="#ppt_y"/>
                                          </p:val>
                                        </p:tav>
                                        <p:tav tm="100000">
                                          <p:val>
                                            <p:strVal val="#ppt_y"/>
                                          </p:val>
                                        </p:tav>
                                      </p:tavLst>
                                    </p:anim>
                                    <p:anim calcmode="lin" valueType="num">
                                      <p:cBhvr additive="repl">
                                        <p:cTn id="1029" dur="500" fill="hold"/>
                                        <p:tgtEl>
                                          <p:spTgt spid="665"/>
                                        </p:tgtEl>
                                        <p:attrNameLst>
                                          <p:attrName>ppt_w</p:attrName>
                                        </p:attrNameLst>
                                      </p:cBhvr>
                                      <p:tavLst>
                                        <p:tav tm="0">
                                          <p:val>
                                            <p:fltVal val="0"/>
                                          </p:val>
                                        </p:tav>
                                        <p:tav tm="100000">
                                          <p:val>
                                            <p:strVal val="#ppt_w"/>
                                          </p:val>
                                        </p:tav>
                                      </p:tavLst>
                                    </p:anim>
                                    <p:anim calcmode="lin" valueType="num">
                                      <p:cBhvr additive="repl">
                                        <p:cTn id="1030" dur="500" fill="hold"/>
                                        <p:tgtEl>
                                          <p:spTgt spid="665"/>
                                        </p:tgtEl>
                                        <p:attrNameLst>
                                          <p:attrName>ppt_h</p:attrName>
                                        </p:attrNameLst>
                                      </p:cBhvr>
                                      <p:tavLst>
                                        <p:tav tm="0">
                                          <p:val>
                                            <p:strVal val="#ppt_h"/>
                                          </p:val>
                                        </p:tav>
                                        <p:tav tm="100000">
                                          <p:val>
                                            <p:strVal val="#ppt_h"/>
                                          </p:val>
                                        </p:tav>
                                      </p:tavLst>
                                    </p:anim>
                                  </p:childTnLst>
                                </p:cTn>
                              </p:par>
                            </p:childTnLst>
                          </p:cTn>
                        </p:par>
                        <p:par>
                          <p:cTn id="1031" nodeType="afterEffect" fill="hold">
                            <p:stCondLst>
                              <p:cond delay="4175"/>
                            </p:stCondLst>
                            <p:childTnLst>
                              <p:par>
                                <p:cTn id="1032" nodeType="afterEffect" fill="hold" presetClass="entr" presetID="17" presetSubtype="8">
                                  <p:stCondLst>
                                    <p:cond delay="0"/>
                                  </p:stCondLst>
                                  <p:childTnLst>
                                    <p:set>
                                      <p:cBhvr>
                                        <p:cTn id="1033" dur="1" fill="hold">
                                          <p:stCondLst>
                                            <p:cond delay="0"/>
                                          </p:stCondLst>
                                        </p:cTn>
                                        <p:tgtEl>
                                          <p:spTgt spid="666"/>
                                        </p:tgtEl>
                                        <p:attrNameLst>
                                          <p:attrName>style.visibility</p:attrName>
                                        </p:attrNameLst>
                                      </p:cBhvr>
                                      <p:to>
                                        <p:strVal val="visible"/>
                                      </p:to>
                                    </p:set>
                                    <p:anim calcmode="lin" valueType="num">
                                      <p:cBhvr additive="repl">
                                        <p:cTn id="1034" dur="500" fill="hold"/>
                                        <p:tgtEl>
                                          <p:spTgt spid="666"/>
                                        </p:tgtEl>
                                        <p:attrNameLst>
                                          <p:attrName>ppt_x</p:attrName>
                                        </p:attrNameLst>
                                      </p:cBhvr>
                                      <p:tavLst>
                                        <p:tav tm="0">
                                          <p:val>
                                            <p:strVal val="#ppt_x-#ppt_w/2"/>
                                          </p:val>
                                        </p:tav>
                                        <p:tav tm="100000">
                                          <p:val>
                                            <p:strVal val="#ppt_x"/>
                                          </p:val>
                                        </p:tav>
                                      </p:tavLst>
                                    </p:anim>
                                    <p:anim calcmode="lin" valueType="num">
                                      <p:cBhvr additive="repl">
                                        <p:cTn id="1035" dur="500" fill="hold"/>
                                        <p:tgtEl>
                                          <p:spTgt spid="666"/>
                                        </p:tgtEl>
                                        <p:attrNameLst>
                                          <p:attrName>ppt_y</p:attrName>
                                        </p:attrNameLst>
                                      </p:cBhvr>
                                      <p:tavLst>
                                        <p:tav tm="0">
                                          <p:val>
                                            <p:strVal val="#ppt_y"/>
                                          </p:val>
                                        </p:tav>
                                        <p:tav tm="100000">
                                          <p:val>
                                            <p:strVal val="#ppt_y"/>
                                          </p:val>
                                        </p:tav>
                                      </p:tavLst>
                                    </p:anim>
                                    <p:anim calcmode="lin" valueType="num">
                                      <p:cBhvr additive="repl">
                                        <p:cTn id="1036" dur="500" fill="hold"/>
                                        <p:tgtEl>
                                          <p:spTgt spid="666"/>
                                        </p:tgtEl>
                                        <p:attrNameLst>
                                          <p:attrName>ppt_w</p:attrName>
                                        </p:attrNameLst>
                                      </p:cBhvr>
                                      <p:tavLst>
                                        <p:tav tm="0">
                                          <p:val>
                                            <p:fltVal val="0"/>
                                          </p:val>
                                        </p:tav>
                                        <p:tav tm="100000">
                                          <p:val>
                                            <p:strVal val="#ppt_w"/>
                                          </p:val>
                                        </p:tav>
                                      </p:tavLst>
                                    </p:anim>
                                    <p:anim calcmode="lin" valueType="num">
                                      <p:cBhvr additive="repl">
                                        <p:cTn id="1037" dur="500" fill="hold"/>
                                        <p:tgtEl>
                                          <p:spTgt spid="666"/>
                                        </p:tgtEl>
                                        <p:attrNameLst>
                                          <p:attrName>ppt_h</p:attrName>
                                        </p:attrNameLst>
                                      </p:cBhvr>
                                      <p:tavLst>
                                        <p:tav tm="0">
                                          <p:val>
                                            <p:strVal val="#ppt_h"/>
                                          </p:val>
                                        </p:tav>
                                        <p:tav tm="100000">
                                          <p:val>
                                            <p:strVal val="#ppt_h"/>
                                          </p:val>
                                        </p:tav>
                                      </p:tavLst>
                                    </p:anim>
                                  </p:childTnLst>
                                </p:cTn>
                              </p:par>
                            </p:childTnLst>
                          </p:cTn>
                        </p:par>
                        <p:par>
                          <p:cTn id="1038" nodeType="afterEffect" fill="hold">
                            <p:stCondLst>
                              <p:cond delay="4675"/>
                            </p:stCondLst>
                            <p:childTnLst>
                              <p:par>
                                <p:cTn id="1039" nodeType="afterEffect" fill="hold" presetClass="entr" presetID="17" presetSubtype="8">
                                  <p:stCondLst>
                                    <p:cond delay="1000"/>
                                  </p:stCondLst>
                                  <p:childTnLst>
                                    <p:set>
                                      <p:cBhvr>
                                        <p:cTn id="1040" dur="1" fill="hold">
                                          <p:stCondLst>
                                            <p:cond delay="0"/>
                                          </p:stCondLst>
                                        </p:cTn>
                                        <p:tgtEl>
                                          <p:spTgt spid="663"/>
                                        </p:tgtEl>
                                        <p:attrNameLst>
                                          <p:attrName>style.visibility</p:attrName>
                                        </p:attrNameLst>
                                      </p:cBhvr>
                                      <p:to>
                                        <p:strVal val="visible"/>
                                      </p:to>
                                    </p:set>
                                    <p:anim calcmode="lin" valueType="num">
                                      <p:cBhvr additive="repl">
                                        <p:cTn id="1041" dur="500" fill="hold"/>
                                        <p:tgtEl>
                                          <p:spTgt spid="663"/>
                                        </p:tgtEl>
                                        <p:attrNameLst>
                                          <p:attrName>ppt_x</p:attrName>
                                        </p:attrNameLst>
                                      </p:cBhvr>
                                      <p:tavLst>
                                        <p:tav tm="0">
                                          <p:val>
                                            <p:strVal val="#ppt_x-#ppt_w/2"/>
                                          </p:val>
                                        </p:tav>
                                        <p:tav tm="100000">
                                          <p:val>
                                            <p:strVal val="#ppt_x"/>
                                          </p:val>
                                        </p:tav>
                                      </p:tavLst>
                                    </p:anim>
                                    <p:anim calcmode="lin" valueType="num">
                                      <p:cBhvr additive="repl">
                                        <p:cTn id="1042" dur="500" fill="hold"/>
                                        <p:tgtEl>
                                          <p:spTgt spid="663"/>
                                        </p:tgtEl>
                                        <p:attrNameLst>
                                          <p:attrName>ppt_y</p:attrName>
                                        </p:attrNameLst>
                                      </p:cBhvr>
                                      <p:tavLst>
                                        <p:tav tm="0">
                                          <p:val>
                                            <p:strVal val="#ppt_y"/>
                                          </p:val>
                                        </p:tav>
                                        <p:tav tm="100000">
                                          <p:val>
                                            <p:strVal val="#ppt_y"/>
                                          </p:val>
                                        </p:tav>
                                      </p:tavLst>
                                    </p:anim>
                                    <p:anim calcmode="lin" valueType="num">
                                      <p:cBhvr additive="repl">
                                        <p:cTn id="1043" dur="500" fill="hold"/>
                                        <p:tgtEl>
                                          <p:spTgt spid="663"/>
                                        </p:tgtEl>
                                        <p:attrNameLst>
                                          <p:attrName>ppt_w</p:attrName>
                                        </p:attrNameLst>
                                      </p:cBhvr>
                                      <p:tavLst>
                                        <p:tav tm="0">
                                          <p:val>
                                            <p:fltVal val="0"/>
                                          </p:val>
                                        </p:tav>
                                        <p:tav tm="100000">
                                          <p:val>
                                            <p:strVal val="#ppt_w"/>
                                          </p:val>
                                        </p:tav>
                                      </p:tavLst>
                                    </p:anim>
                                    <p:anim calcmode="lin" valueType="num">
                                      <p:cBhvr additive="repl">
                                        <p:cTn id="1044" dur="500" fill="hold"/>
                                        <p:tgtEl>
                                          <p:spTgt spid="663"/>
                                        </p:tgtEl>
                                        <p:attrNameLst>
                                          <p:attrName>ppt_h</p:attrName>
                                        </p:attrNameLst>
                                      </p:cBhvr>
                                      <p:tavLst>
                                        <p:tav tm="0">
                                          <p:val>
                                            <p:strVal val="#ppt_h"/>
                                          </p:val>
                                        </p:tav>
                                        <p:tav tm="100000">
                                          <p:val>
                                            <p:strVal val="#ppt_h"/>
                                          </p:val>
                                        </p:tav>
                                      </p:tavLst>
                                    </p:anim>
                                  </p:childTnLst>
                                </p:cTn>
                              </p:par>
                            </p:childTnLst>
                          </p:cTn>
                        </p:par>
                        <p:par>
                          <p:cTn id="1045" nodeType="afterEffect" fill="hold">
                            <p:stCondLst>
                              <p:cond delay="6175"/>
                            </p:stCondLst>
                            <p:childTnLst>
                              <p:par>
                                <p:cTn id="1046" nodeType="afterEffect" fill="hold" presetClass="entr" presetID="17" presetSubtype="8">
                                  <p:stCondLst>
                                    <p:cond delay="0"/>
                                  </p:stCondLst>
                                  <p:childTnLst>
                                    <p:set>
                                      <p:cBhvr>
                                        <p:cTn id="1047" dur="1" fill="hold">
                                          <p:stCondLst>
                                            <p:cond delay="0"/>
                                          </p:stCondLst>
                                        </p:cTn>
                                        <p:tgtEl>
                                          <p:spTgt spid="664"/>
                                        </p:tgtEl>
                                        <p:attrNameLst>
                                          <p:attrName>style.visibility</p:attrName>
                                        </p:attrNameLst>
                                      </p:cBhvr>
                                      <p:to>
                                        <p:strVal val="visible"/>
                                      </p:to>
                                    </p:set>
                                    <p:anim calcmode="lin" valueType="num">
                                      <p:cBhvr additive="repl">
                                        <p:cTn id="1048" dur="500" fill="hold"/>
                                        <p:tgtEl>
                                          <p:spTgt spid="664"/>
                                        </p:tgtEl>
                                        <p:attrNameLst>
                                          <p:attrName>ppt_x</p:attrName>
                                        </p:attrNameLst>
                                      </p:cBhvr>
                                      <p:tavLst>
                                        <p:tav tm="0">
                                          <p:val>
                                            <p:strVal val="#ppt_x-#ppt_w/2"/>
                                          </p:val>
                                        </p:tav>
                                        <p:tav tm="100000">
                                          <p:val>
                                            <p:strVal val="#ppt_x"/>
                                          </p:val>
                                        </p:tav>
                                      </p:tavLst>
                                    </p:anim>
                                    <p:anim calcmode="lin" valueType="num">
                                      <p:cBhvr additive="repl">
                                        <p:cTn id="1049" dur="500" fill="hold"/>
                                        <p:tgtEl>
                                          <p:spTgt spid="664"/>
                                        </p:tgtEl>
                                        <p:attrNameLst>
                                          <p:attrName>ppt_y</p:attrName>
                                        </p:attrNameLst>
                                      </p:cBhvr>
                                      <p:tavLst>
                                        <p:tav tm="0">
                                          <p:val>
                                            <p:strVal val="#ppt_y"/>
                                          </p:val>
                                        </p:tav>
                                        <p:tav tm="100000">
                                          <p:val>
                                            <p:strVal val="#ppt_y"/>
                                          </p:val>
                                        </p:tav>
                                      </p:tavLst>
                                    </p:anim>
                                    <p:anim calcmode="lin" valueType="num">
                                      <p:cBhvr additive="repl">
                                        <p:cTn id="1050" dur="500" fill="hold"/>
                                        <p:tgtEl>
                                          <p:spTgt spid="664"/>
                                        </p:tgtEl>
                                        <p:attrNameLst>
                                          <p:attrName>ppt_w</p:attrName>
                                        </p:attrNameLst>
                                      </p:cBhvr>
                                      <p:tavLst>
                                        <p:tav tm="0">
                                          <p:val>
                                            <p:fltVal val="0"/>
                                          </p:val>
                                        </p:tav>
                                        <p:tav tm="100000">
                                          <p:val>
                                            <p:strVal val="#ppt_w"/>
                                          </p:val>
                                        </p:tav>
                                      </p:tavLst>
                                    </p:anim>
                                    <p:anim calcmode="lin" valueType="num">
                                      <p:cBhvr additive="repl">
                                        <p:cTn id="1051" dur="500" fill="hold"/>
                                        <p:tgtEl>
                                          <p:spTgt spid="664"/>
                                        </p:tgtEl>
                                        <p:attrNameLst>
                                          <p:attrName>ppt_h</p:attrName>
                                        </p:attrNameLst>
                                      </p:cBhvr>
                                      <p:tavLst>
                                        <p:tav tm="0">
                                          <p:val>
                                            <p:strVal val="#ppt_h"/>
                                          </p:val>
                                        </p:tav>
                                        <p:tav tm="100000">
                                          <p:val>
                                            <p:strVal val="#ppt_h"/>
                                          </p:val>
                                        </p:tav>
                                      </p:tavLst>
                                    </p:anim>
                                  </p:childTnLst>
                                </p:cTn>
                              </p:par>
                            </p:childTnLst>
                          </p:cTn>
                        </p:par>
                      </p:childTnLst>
                    </p:cTn>
                  </p:par>
                  <p:par>
                    <p:cTn id="1052" nodeType="clickEffect" fill="hold">
                      <p:stCondLst>
                        <p:cond delay="indefinite"/>
                      </p:stCondLst>
                      <p:childTnLst>
                        <p:par>
                          <p:cTn id="1053" nodeType="withEffect" fill="hold">
                            <p:stCondLst>
                              <p:cond delay="0"/>
                            </p:stCondLst>
                            <p:childTnLst>
                              <p:par>
                                <p:cTn id="1054" nodeType="clickEffect" fill="hold" presetClass="entr" presetID="9">
                                  <p:stCondLst>
                                    <p:cond delay="0"/>
                                  </p:stCondLst>
                                  <p:iterate type="lt">
                                    <p:tmAbs val="75"/>
                                  </p:iterate>
                                  <p:childTnLst>
                                    <p:set>
                                      <p:cBhvr>
                                        <p:cTn id="1055" dur="1" fill="hold">
                                          <p:stCondLst>
                                            <p:cond delay="0"/>
                                          </p:stCondLst>
                                        </p:cTn>
                                        <p:tgtEl>
                                          <p:spTgt spid="652"/>
                                        </p:tgtEl>
                                        <p:attrNameLst>
                                          <p:attrName>style.visibility</p:attrName>
                                        </p:attrNameLst>
                                      </p:cBhvr>
                                      <p:to>
                                        <p:strVal val="visible"/>
                                      </p:to>
                                    </p:set>
                                    <p:animEffect filter="dissolve" transition="in">
                                      <p:cBhvr additive="repl">
                                        <p:cTn id="1056" dur="75"/>
                                        <p:tgtEl>
                                          <p:spTgt spid="652"/>
                                        </p:tgtEl>
                                      </p:cBhvr>
                                    </p:animEffect>
                                  </p:childTnLst>
                                </p:cTn>
                              </p:par>
                            </p:childTnLst>
                          </p:cTn>
                        </p:par>
                        <p:par>
                          <p:cTn id="1057" nodeType="afterEffect" fill="hold">
                            <p:stCondLst>
                              <p:cond delay="75"/>
                            </p:stCondLst>
                            <p:childTnLst>
                              <p:par>
                                <p:cTn id="1058" nodeType="afterEffect" fill="hold" presetClass="entr" presetID="9">
                                  <p:stCondLst>
                                    <p:cond delay="1000"/>
                                  </p:stCondLst>
                                  <p:iterate type="lt">
                                    <p:tmAbs val="75"/>
                                  </p:iterate>
                                  <p:childTnLst>
                                    <p:set>
                                      <p:cBhvr>
                                        <p:cTn id="1059" dur="1" fill="hold">
                                          <p:stCondLst>
                                            <p:cond delay="0"/>
                                          </p:stCondLst>
                                        </p:cTn>
                                        <p:tgtEl>
                                          <p:spTgt spid="644"/>
                                        </p:tgtEl>
                                        <p:attrNameLst>
                                          <p:attrName>style.visibility</p:attrName>
                                        </p:attrNameLst>
                                      </p:cBhvr>
                                      <p:to>
                                        <p:strVal val="visible"/>
                                      </p:to>
                                    </p:set>
                                    <p:animEffect filter="dissolve" transition="in">
                                      <p:cBhvr additive="repl">
                                        <p:cTn id="1060" dur="75"/>
                                        <p:tgtEl>
                                          <p:spTgt spid="644"/>
                                        </p:tgtEl>
                                      </p:cBhvr>
                                    </p:animEffect>
                                  </p:childTnLst>
                                </p:cTn>
                              </p:par>
                            </p:childTnLst>
                          </p:cTn>
                        </p:par>
                        <p:par>
                          <p:cTn id="1061" nodeType="afterEffect" fill="hold">
                            <p:stCondLst>
                              <p:cond delay="1225"/>
                            </p:stCondLst>
                            <p:childTnLst>
                              <p:par>
                                <p:cTn id="1062" nodeType="afterEffect" fill="hold" presetClass="entr" presetID="9">
                                  <p:stCondLst>
                                    <p:cond delay="1000"/>
                                  </p:stCondLst>
                                  <p:iterate type="lt">
                                    <p:tmAbs val="75"/>
                                  </p:iterate>
                                  <p:childTnLst>
                                    <p:set>
                                      <p:cBhvr>
                                        <p:cTn id="1063" dur="1" fill="hold">
                                          <p:stCondLst>
                                            <p:cond delay="0"/>
                                          </p:stCondLst>
                                        </p:cTn>
                                        <p:tgtEl>
                                          <p:spTgt spid="623"/>
                                        </p:tgtEl>
                                        <p:attrNameLst>
                                          <p:attrName>style.visibility</p:attrName>
                                        </p:attrNameLst>
                                      </p:cBhvr>
                                      <p:to>
                                        <p:strVal val="visible"/>
                                      </p:to>
                                    </p:set>
                                    <p:animEffect filter="dissolve" transition="in">
                                      <p:cBhvr additive="repl">
                                        <p:cTn id="1064" dur="75"/>
                                        <p:tgtEl>
                                          <p:spTgt spid="623"/>
                                        </p:tgtEl>
                                      </p:cBhvr>
                                    </p:animEffect>
                                  </p:childTnLst>
                                </p:cTn>
                              </p:par>
                            </p:childTnLst>
                          </p:cTn>
                        </p:par>
                        <p:par>
                          <p:cTn id="1065" nodeType="afterEffect" fill="hold">
                            <p:stCondLst>
                              <p:cond delay="2525"/>
                            </p:stCondLst>
                            <p:childTnLst>
                              <p:par>
                                <p:cTn id="1066" nodeType="afterEffect" fill="hold" presetClass="entr" presetID="9">
                                  <p:stCondLst>
                                    <p:cond delay="0"/>
                                  </p:stCondLst>
                                  <p:iterate type="lt">
                                    <p:tmAbs val="75"/>
                                  </p:iterate>
                                  <p:childTnLst>
                                    <p:set>
                                      <p:cBhvr>
                                        <p:cTn id="1067" dur="1" fill="hold">
                                          <p:stCondLst>
                                            <p:cond delay="0"/>
                                          </p:stCondLst>
                                        </p:cTn>
                                        <p:tgtEl>
                                          <p:spTgt spid="657"/>
                                        </p:tgtEl>
                                        <p:attrNameLst>
                                          <p:attrName>style.visibility</p:attrName>
                                        </p:attrNameLst>
                                      </p:cBhvr>
                                      <p:to>
                                        <p:strVal val="visible"/>
                                      </p:to>
                                    </p:set>
                                    <p:animEffect filter="dissolve" transition="in">
                                      <p:cBhvr additive="repl">
                                        <p:cTn id="1068" dur="75"/>
                                        <p:tgtEl>
                                          <p:spTgt spid="657"/>
                                        </p:tgtEl>
                                      </p:cBhvr>
                                    </p:animEffect>
                                  </p:childTnLst>
                                </p:cTn>
                              </p:par>
                            </p:childTnLst>
                          </p:cTn>
                        </p:par>
                        <p:par>
                          <p:cTn id="1069" nodeType="afterEffect" fill="hold">
                            <p:stCondLst>
                              <p:cond delay="2750"/>
                            </p:stCondLst>
                            <p:childTnLst>
                              <p:par>
                                <p:cTn id="1070" nodeType="afterEffect" fill="hold" presetClass="entr" presetID="17" presetSubtype="8">
                                  <p:stCondLst>
                                    <p:cond delay="0"/>
                                  </p:stCondLst>
                                  <p:childTnLst>
                                    <p:set>
                                      <p:cBhvr>
                                        <p:cTn id="1071" dur="1" fill="hold">
                                          <p:stCondLst>
                                            <p:cond delay="0"/>
                                          </p:stCondLst>
                                        </p:cTn>
                                        <p:tgtEl>
                                          <p:spTgt spid="694"/>
                                        </p:tgtEl>
                                        <p:attrNameLst>
                                          <p:attrName>style.visibility</p:attrName>
                                        </p:attrNameLst>
                                      </p:cBhvr>
                                      <p:to>
                                        <p:strVal val="visible"/>
                                      </p:to>
                                    </p:set>
                                    <p:anim calcmode="lin" valueType="num">
                                      <p:cBhvr additive="repl">
                                        <p:cTn id="1072" dur="500" fill="hold"/>
                                        <p:tgtEl>
                                          <p:spTgt spid="694"/>
                                        </p:tgtEl>
                                        <p:attrNameLst>
                                          <p:attrName>ppt_x</p:attrName>
                                        </p:attrNameLst>
                                      </p:cBhvr>
                                      <p:tavLst>
                                        <p:tav tm="0">
                                          <p:val>
                                            <p:strVal val="#ppt_x-#ppt_w/2"/>
                                          </p:val>
                                        </p:tav>
                                        <p:tav tm="100000">
                                          <p:val>
                                            <p:strVal val="#ppt_x"/>
                                          </p:val>
                                        </p:tav>
                                      </p:tavLst>
                                    </p:anim>
                                    <p:anim calcmode="lin" valueType="num">
                                      <p:cBhvr additive="repl">
                                        <p:cTn id="1073" dur="500" fill="hold"/>
                                        <p:tgtEl>
                                          <p:spTgt spid="694"/>
                                        </p:tgtEl>
                                        <p:attrNameLst>
                                          <p:attrName>ppt_y</p:attrName>
                                        </p:attrNameLst>
                                      </p:cBhvr>
                                      <p:tavLst>
                                        <p:tav tm="0">
                                          <p:val>
                                            <p:strVal val="#ppt_y"/>
                                          </p:val>
                                        </p:tav>
                                        <p:tav tm="100000">
                                          <p:val>
                                            <p:strVal val="#ppt_y"/>
                                          </p:val>
                                        </p:tav>
                                      </p:tavLst>
                                    </p:anim>
                                    <p:anim calcmode="lin" valueType="num">
                                      <p:cBhvr additive="repl">
                                        <p:cTn id="1074" dur="500" fill="hold"/>
                                        <p:tgtEl>
                                          <p:spTgt spid="694"/>
                                        </p:tgtEl>
                                        <p:attrNameLst>
                                          <p:attrName>ppt_w</p:attrName>
                                        </p:attrNameLst>
                                      </p:cBhvr>
                                      <p:tavLst>
                                        <p:tav tm="0">
                                          <p:val>
                                            <p:fltVal val="0"/>
                                          </p:val>
                                        </p:tav>
                                        <p:tav tm="100000">
                                          <p:val>
                                            <p:strVal val="#ppt_w"/>
                                          </p:val>
                                        </p:tav>
                                      </p:tavLst>
                                    </p:anim>
                                    <p:anim calcmode="lin" valueType="num">
                                      <p:cBhvr additive="repl">
                                        <p:cTn id="1075" dur="500" fill="hold"/>
                                        <p:tgtEl>
                                          <p:spTgt spid="694"/>
                                        </p:tgtEl>
                                        <p:attrNameLst>
                                          <p:attrName>ppt_h</p:attrName>
                                        </p:attrNameLst>
                                      </p:cBhvr>
                                      <p:tavLst>
                                        <p:tav tm="0">
                                          <p:val>
                                            <p:strVal val="#ppt_h"/>
                                          </p:val>
                                        </p:tav>
                                        <p:tav tm="100000">
                                          <p:val>
                                            <p:strVal val="#ppt_h"/>
                                          </p:val>
                                        </p:tav>
                                      </p:tavLst>
                                    </p:anim>
                                  </p:childTnLst>
                                </p:cTn>
                              </p:par>
                            </p:childTnLst>
                          </p:cTn>
                        </p:par>
                        <p:par>
                          <p:cTn id="1076" nodeType="afterEffect" fill="hold">
                            <p:stCondLst>
                              <p:cond delay="3250"/>
                            </p:stCondLst>
                            <p:childTnLst>
                              <p:par>
                                <p:cTn id="1077" nodeType="afterEffect" fill="hold" presetClass="entr" presetID="9">
                                  <p:stCondLst>
                                    <p:cond delay="1000"/>
                                  </p:stCondLst>
                                  <p:iterate type="lt">
                                    <p:tmAbs val="75"/>
                                  </p:iterate>
                                  <p:childTnLst>
                                    <p:set>
                                      <p:cBhvr>
                                        <p:cTn id="1078" dur="1" fill="hold">
                                          <p:stCondLst>
                                            <p:cond delay="0"/>
                                          </p:stCondLst>
                                        </p:cTn>
                                        <p:tgtEl>
                                          <p:spTgt spid="673"/>
                                        </p:tgtEl>
                                        <p:attrNameLst>
                                          <p:attrName>style.visibility</p:attrName>
                                        </p:attrNameLst>
                                      </p:cBhvr>
                                      <p:to>
                                        <p:strVal val="visible"/>
                                      </p:to>
                                    </p:set>
                                    <p:animEffect filter="dissolve" transition="in">
                                      <p:cBhvr additive="repl">
                                        <p:cTn id="1079" dur="75"/>
                                        <p:tgtEl>
                                          <p:spTgt spid="673"/>
                                        </p:tgtEl>
                                      </p:cBhvr>
                                    </p:animEffect>
                                  </p:childTnLst>
                                </p:cTn>
                              </p:par>
                            </p:childTnLst>
                          </p:cTn>
                        </p:par>
                        <p:par>
                          <p:cTn id="1080" nodeType="afterEffect" fill="hold">
                            <p:stCondLst>
                              <p:cond delay="4400"/>
                            </p:stCondLst>
                            <p:childTnLst>
                              <p:par>
                                <p:cTn id="1081" nodeType="afterEffect" fill="hold" presetClass="entr" presetID="17" presetSubtype="8">
                                  <p:stCondLst>
                                    <p:cond delay="0"/>
                                  </p:stCondLst>
                                  <p:childTnLst>
                                    <p:set>
                                      <p:cBhvr>
                                        <p:cTn id="1082" dur="1" fill="hold">
                                          <p:stCondLst>
                                            <p:cond delay="0"/>
                                          </p:stCondLst>
                                        </p:cTn>
                                        <p:tgtEl>
                                          <p:spTgt spid="669"/>
                                        </p:tgtEl>
                                        <p:attrNameLst>
                                          <p:attrName>style.visibility</p:attrName>
                                        </p:attrNameLst>
                                      </p:cBhvr>
                                      <p:to>
                                        <p:strVal val="visible"/>
                                      </p:to>
                                    </p:set>
                                    <p:anim calcmode="lin" valueType="num">
                                      <p:cBhvr additive="repl">
                                        <p:cTn id="1083" dur="500" fill="hold"/>
                                        <p:tgtEl>
                                          <p:spTgt spid="669"/>
                                        </p:tgtEl>
                                        <p:attrNameLst>
                                          <p:attrName>ppt_x</p:attrName>
                                        </p:attrNameLst>
                                      </p:cBhvr>
                                      <p:tavLst>
                                        <p:tav tm="0">
                                          <p:val>
                                            <p:strVal val="#ppt_x-#ppt_w/2"/>
                                          </p:val>
                                        </p:tav>
                                        <p:tav tm="100000">
                                          <p:val>
                                            <p:strVal val="#ppt_x"/>
                                          </p:val>
                                        </p:tav>
                                      </p:tavLst>
                                    </p:anim>
                                    <p:anim calcmode="lin" valueType="num">
                                      <p:cBhvr additive="repl">
                                        <p:cTn id="1084" dur="500" fill="hold"/>
                                        <p:tgtEl>
                                          <p:spTgt spid="669"/>
                                        </p:tgtEl>
                                        <p:attrNameLst>
                                          <p:attrName>ppt_y</p:attrName>
                                        </p:attrNameLst>
                                      </p:cBhvr>
                                      <p:tavLst>
                                        <p:tav tm="0">
                                          <p:val>
                                            <p:strVal val="#ppt_y"/>
                                          </p:val>
                                        </p:tav>
                                        <p:tav tm="100000">
                                          <p:val>
                                            <p:strVal val="#ppt_y"/>
                                          </p:val>
                                        </p:tav>
                                      </p:tavLst>
                                    </p:anim>
                                    <p:anim calcmode="lin" valueType="num">
                                      <p:cBhvr additive="repl">
                                        <p:cTn id="1085" dur="500" fill="hold"/>
                                        <p:tgtEl>
                                          <p:spTgt spid="669"/>
                                        </p:tgtEl>
                                        <p:attrNameLst>
                                          <p:attrName>ppt_w</p:attrName>
                                        </p:attrNameLst>
                                      </p:cBhvr>
                                      <p:tavLst>
                                        <p:tav tm="0">
                                          <p:val>
                                            <p:fltVal val="0"/>
                                          </p:val>
                                        </p:tav>
                                        <p:tav tm="100000">
                                          <p:val>
                                            <p:strVal val="#ppt_w"/>
                                          </p:val>
                                        </p:tav>
                                      </p:tavLst>
                                    </p:anim>
                                    <p:anim calcmode="lin" valueType="num">
                                      <p:cBhvr additive="repl">
                                        <p:cTn id="1086" dur="500" fill="hold"/>
                                        <p:tgtEl>
                                          <p:spTgt spid="669"/>
                                        </p:tgtEl>
                                        <p:attrNameLst>
                                          <p:attrName>ppt_h</p:attrName>
                                        </p:attrNameLst>
                                      </p:cBhvr>
                                      <p:tavLst>
                                        <p:tav tm="0">
                                          <p:val>
                                            <p:strVal val="#ppt_h"/>
                                          </p:val>
                                        </p:tav>
                                        <p:tav tm="100000">
                                          <p:val>
                                            <p:strVal val="#ppt_h"/>
                                          </p:val>
                                        </p:tav>
                                      </p:tavLst>
                                    </p:anim>
                                  </p:childTnLst>
                                </p:cTn>
                              </p:par>
                            </p:childTnLst>
                          </p:cTn>
                        </p:par>
                        <p:par>
                          <p:cTn id="1087" nodeType="afterEffect" fill="hold">
                            <p:stCondLst>
                              <p:cond delay="4900"/>
                            </p:stCondLst>
                            <p:childTnLst>
                              <p:par>
                                <p:cTn id="1088" nodeType="afterEffect" fill="hold" presetClass="entr" presetID="17" presetSubtype="8">
                                  <p:stCondLst>
                                    <p:cond delay="0"/>
                                  </p:stCondLst>
                                  <p:childTnLst>
                                    <p:set>
                                      <p:cBhvr>
                                        <p:cTn id="1089" dur="1" fill="hold">
                                          <p:stCondLst>
                                            <p:cond delay="0"/>
                                          </p:stCondLst>
                                        </p:cTn>
                                        <p:tgtEl>
                                          <p:spTgt spid="670"/>
                                        </p:tgtEl>
                                        <p:attrNameLst>
                                          <p:attrName>style.visibility</p:attrName>
                                        </p:attrNameLst>
                                      </p:cBhvr>
                                      <p:to>
                                        <p:strVal val="visible"/>
                                      </p:to>
                                    </p:set>
                                    <p:anim calcmode="lin" valueType="num">
                                      <p:cBhvr additive="repl">
                                        <p:cTn id="1090" dur="500" fill="hold"/>
                                        <p:tgtEl>
                                          <p:spTgt spid="670"/>
                                        </p:tgtEl>
                                        <p:attrNameLst>
                                          <p:attrName>ppt_x</p:attrName>
                                        </p:attrNameLst>
                                      </p:cBhvr>
                                      <p:tavLst>
                                        <p:tav tm="0">
                                          <p:val>
                                            <p:strVal val="#ppt_x-#ppt_w/2"/>
                                          </p:val>
                                        </p:tav>
                                        <p:tav tm="100000">
                                          <p:val>
                                            <p:strVal val="#ppt_x"/>
                                          </p:val>
                                        </p:tav>
                                      </p:tavLst>
                                    </p:anim>
                                    <p:anim calcmode="lin" valueType="num">
                                      <p:cBhvr additive="repl">
                                        <p:cTn id="1091" dur="500" fill="hold"/>
                                        <p:tgtEl>
                                          <p:spTgt spid="670"/>
                                        </p:tgtEl>
                                        <p:attrNameLst>
                                          <p:attrName>ppt_y</p:attrName>
                                        </p:attrNameLst>
                                      </p:cBhvr>
                                      <p:tavLst>
                                        <p:tav tm="0">
                                          <p:val>
                                            <p:strVal val="#ppt_y"/>
                                          </p:val>
                                        </p:tav>
                                        <p:tav tm="100000">
                                          <p:val>
                                            <p:strVal val="#ppt_y"/>
                                          </p:val>
                                        </p:tav>
                                      </p:tavLst>
                                    </p:anim>
                                    <p:anim calcmode="lin" valueType="num">
                                      <p:cBhvr additive="repl">
                                        <p:cTn id="1092" dur="500" fill="hold"/>
                                        <p:tgtEl>
                                          <p:spTgt spid="670"/>
                                        </p:tgtEl>
                                        <p:attrNameLst>
                                          <p:attrName>ppt_w</p:attrName>
                                        </p:attrNameLst>
                                      </p:cBhvr>
                                      <p:tavLst>
                                        <p:tav tm="0">
                                          <p:val>
                                            <p:fltVal val="0"/>
                                          </p:val>
                                        </p:tav>
                                        <p:tav tm="100000">
                                          <p:val>
                                            <p:strVal val="#ppt_w"/>
                                          </p:val>
                                        </p:tav>
                                      </p:tavLst>
                                    </p:anim>
                                    <p:anim calcmode="lin" valueType="num">
                                      <p:cBhvr additive="repl">
                                        <p:cTn id="1093" dur="500" fill="hold"/>
                                        <p:tgtEl>
                                          <p:spTgt spid="670"/>
                                        </p:tgtEl>
                                        <p:attrNameLst>
                                          <p:attrName>ppt_h</p:attrName>
                                        </p:attrNameLst>
                                      </p:cBhvr>
                                      <p:tavLst>
                                        <p:tav tm="0">
                                          <p:val>
                                            <p:strVal val="#ppt_h"/>
                                          </p:val>
                                        </p:tav>
                                        <p:tav tm="100000">
                                          <p:val>
                                            <p:strVal val="#ppt_h"/>
                                          </p:val>
                                        </p:tav>
                                      </p:tavLst>
                                    </p:anim>
                                  </p:childTnLst>
                                </p:cTn>
                              </p:par>
                            </p:childTnLst>
                          </p:cTn>
                        </p:par>
                      </p:childTnLst>
                    </p:cTn>
                  </p:par>
                  <p:par>
                    <p:cTn id="1094" nodeType="clickEffect" fill="hold">
                      <p:stCondLst>
                        <p:cond delay="indefinite"/>
                      </p:stCondLst>
                      <p:childTnLst>
                        <p:par>
                          <p:cTn id="1095" nodeType="withEffect" fill="hold">
                            <p:stCondLst>
                              <p:cond delay="0"/>
                            </p:stCondLst>
                            <p:childTnLst>
                              <p:par>
                                <p:cTn id="1096" nodeType="clickEffect" fill="hold" presetClass="entr" presetID="9">
                                  <p:stCondLst>
                                    <p:cond delay="0"/>
                                  </p:stCondLst>
                                  <p:iterate type="lt">
                                    <p:tmAbs val="75"/>
                                  </p:iterate>
                                  <p:childTnLst>
                                    <p:set>
                                      <p:cBhvr>
                                        <p:cTn id="1097" dur="1" fill="hold">
                                          <p:stCondLst>
                                            <p:cond delay="0"/>
                                          </p:stCondLst>
                                        </p:cTn>
                                        <p:tgtEl>
                                          <p:spTgt spid="695"/>
                                        </p:tgtEl>
                                        <p:attrNameLst>
                                          <p:attrName>style.visibility</p:attrName>
                                        </p:attrNameLst>
                                      </p:cBhvr>
                                      <p:to>
                                        <p:strVal val="visible"/>
                                      </p:to>
                                    </p:set>
                                    <p:animEffect filter="dissolve" transition="in">
                                      <p:cBhvr additive="repl">
                                        <p:cTn id="1098" dur="75"/>
                                        <p:tgtEl>
                                          <p:spTgt spid="695"/>
                                        </p:tgtEl>
                                      </p:cBhvr>
                                    </p:animEffect>
                                  </p:childTnLst>
                                </p:cTn>
                              </p:par>
                            </p:childTnLst>
                          </p:cTn>
                        </p:par>
                        <p:par>
                          <p:cTn id="1099" nodeType="afterEffect" fill="hold">
                            <p:stCondLst>
                              <p:cond delay="75"/>
                            </p:stCondLst>
                            <p:childTnLst>
                              <p:par>
                                <p:cTn id="1100" nodeType="afterEffect" fill="hold" presetClass="entr" presetID="9">
                                  <p:stCondLst>
                                    <p:cond delay="1000"/>
                                  </p:stCondLst>
                                  <p:iterate type="lt">
                                    <p:tmAbs val="75"/>
                                  </p:iterate>
                                  <p:childTnLst>
                                    <p:set>
                                      <p:cBhvr>
                                        <p:cTn id="1101" dur="1" fill="hold">
                                          <p:stCondLst>
                                            <p:cond delay="0"/>
                                          </p:stCondLst>
                                        </p:cTn>
                                        <p:tgtEl>
                                          <p:spTgt spid="641"/>
                                        </p:tgtEl>
                                        <p:attrNameLst>
                                          <p:attrName>style.visibility</p:attrName>
                                        </p:attrNameLst>
                                      </p:cBhvr>
                                      <p:to>
                                        <p:strVal val="visible"/>
                                      </p:to>
                                    </p:set>
                                    <p:animEffect filter="dissolve" transition="in">
                                      <p:cBhvr additive="repl">
                                        <p:cTn id="1102" dur="75"/>
                                        <p:tgtEl>
                                          <p:spTgt spid="641"/>
                                        </p:tgtEl>
                                      </p:cBhvr>
                                    </p:animEffect>
                                  </p:childTnLst>
                                </p:cTn>
                              </p:par>
                            </p:childTnLst>
                          </p:cTn>
                        </p:par>
                        <p:par>
                          <p:cTn id="1103" nodeType="afterEffect" fill="hold">
                            <p:stCondLst>
                              <p:cond delay="1225"/>
                            </p:stCondLst>
                            <p:childTnLst>
                              <p:par>
                                <p:cTn id="1104" nodeType="afterEffect" fill="hold" presetClass="entr" presetID="9">
                                  <p:stCondLst>
                                    <p:cond delay="1000"/>
                                  </p:stCondLst>
                                  <p:iterate type="lt">
                                    <p:tmAbs val="75"/>
                                  </p:iterate>
                                  <p:childTnLst>
                                    <p:set>
                                      <p:cBhvr>
                                        <p:cTn id="1105" dur="1" fill="hold">
                                          <p:stCondLst>
                                            <p:cond delay="0"/>
                                          </p:stCondLst>
                                        </p:cTn>
                                        <p:tgtEl>
                                          <p:spTgt spid="642"/>
                                        </p:tgtEl>
                                        <p:attrNameLst>
                                          <p:attrName>style.visibility</p:attrName>
                                        </p:attrNameLst>
                                      </p:cBhvr>
                                      <p:to>
                                        <p:strVal val="visible"/>
                                      </p:to>
                                    </p:set>
                                    <p:animEffect filter="dissolve" transition="in">
                                      <p:cBhvr additive="repl">
                                        <p:cTn id="1106" dur="75"/>
                                        <p:tgtEl>
                                          <p:spTgt spid="642"/>
                                        </p:tgtEl>
                                      </p:cBhvr>
                                    </p:animEffect>
                                  </p:childTnLst>
                                </p:cTn>
                              </p:par>
                            </p:childTnLst>
                          </p:cTn>
                        </p:par>
                      </p:childTnLst>
                    </p:cTn>
                  </p:par>
                  <p:par>
                    <p:cTn id="1107" nodeType="clickEffect" fill="hold">
                      <p:stCondLst>
                        <p:cond delay="indefinite"/>
                      </p:stCondLst>
                      <p:childTnLst>
                        <p:par>
                          <p:cTn id="1108" nodeType="withEffect" fill="hold">
                            <p:stCondLst>
                              <p:cond delay="0"/>
                            </p:stCondLst>
                            <p:childTnLst>
                              <p:par>
                                <p:cTn id="1109" nodeType="clickEffect" fill="hold" presetClass="entr" presetID="9">
                                  <p:stCondLst>
                                    <p:cond delay="0"/>
                                  </p:stCondLst>
                                  <p:iterate type="lt">
                                    <p:tmAbs val="75"/>
                                  </p:iterate>
                                  <p:childTnLst>
                                    <p:set>
                                      <p:cBhvr>
                                        <p:cTn id="1110" dur="1" fill="hold">
                                          <p:stCondLst>
                                            <p:cond delay="0"/>
                                          </p:stCondLst>
                                        </p:cTn>
                                        <p:tgtEl>
                                          <p:spTgt spid="649"/>
                                        </p:tgtEl>
                                        <p:attrNameLst>
                                          <p:attrName>style.visibility</p:attrName>
                                        </p:attrNameLst>
                                      </p:cBhvr>
                                      <p:to>
                                        <p:strVal val="visible"/>
                                      </p:to>
                                    </p:set>
                                    <p:animEffect filter="dissolve" transition="in">
                                      <p:cBhvr additive="repl">
                                        <p:cTn id="1111" dur="75"/>
                                        <p:tgtEl>
                                          <p:spTgt spid="649"/>
                                        </p:tgtEl>
                                      </p:cBhvr>
                                    </p:animEffect>
                                  </p:childTnLst>
                                </p:cTn>
                              </p:par>
                            </p:childTnLst>
                          </p:cTn>
                        </p:par>
                        <p:par>
                          <p:cTn id="1112" nodeType="afterEffect" fill="hold">
                            <p:stCondLst>
                              <p:cond delay="150"/>
                            </p:stCondLst>
                            <p:childTnLst>
                              <p:par>
                                <p:cTn id="1113" nodeType="afterEffect" fill="hold" presetClass="entr" presetID="9">
                                  <p:stCondLst>
                                    <p:cond delay="1000"/>
                                  </p:stCondLst>
                                  <p:iterate type="lt">
                                    <p:tmAbs val="75"/>
                                  </p:iterate>
                                  <p:childTnLst>
                                    <p:set>
                                      <p:cBhvr>
                                        <p:cTn id="1114" dur="1" fill="hold">
                                          <p:stCondLst>
                                            <p:cond delay="0"/>
                                          </p:stCondLst>
                                        </p:cTn>
                                        <p:tgtEl>
                                          <p:spTgt spid="635"/>
                                        </p:tgtEl>
                                        <p:attrNameLst>
                                          <p:attrName>style.visibility</p:attrName>
                                        </p:attrNameLst>
                                      </p:cBhvr>
                                      <p:to>
                                        <p:strVal val="visible"/>
                                      </p:to>
                                    </p:set>
                                    <p:animEffect filter="dissolve" transition="in">
                                      <p:cBhvr additive="repl">
                                        <p:cTn id="1115" dur="75"/>
                                        <p:tgtEl>
                                          <p:spTgt spid="635"/>
                                        </p:tgtEl>
                                      </p:cBhvr>
                                    </p:animEffect>
                                  </p:childTnLst>
                                </p:cTn>
                              </p:par>
                            </p:childTnLst>
                          </p:cTn>
                        </p:par>
                        <p:par>
                          <p:cTn id="1116" nodeType="afterEffect" fill="hold">
                            <p:stCondLst>
                              <p:cond delay="1375"/>
                            </p:stCondLst>
                            <p:childTnLst>
                              <p:par>
                                <p:cTn id="1117" nodeType="afterEffect" fill="hold" presetClass="entr" presetID="9">
                                  <p:stCondLst>
                                    <p:cond delay="1000"/>
                                  </p:stCondLst>
                                  <p:iterate type="lt">
                                    <p:tmAbs val="75"/>
                                  </p:iterate>
                                  <p:childTnLst>
                                    <p:set>
                                      <p:cBhvr>
                                        <p:cTn id="1118" dur="1" fill="hold">
                                          <p:stCondLst>
                                            <p:cond delay="0"/>
                                          </p:stCondLst>
                                        </p:cTn>
                                        <p:tgtEl>
                                          <p:spTgt spid="624"/>
                                        </p:tgtEl>
                                        <p:attrNameLst>
                                          <p:attrName>style.visibility</p:attrName>
                                        </p:attrNameLst>
                                      </p:cBhvr>
                                      <p:to>
                                        <p:strVal val="visible"/>
                                      </p:to>
                                    </p:set>
                                    <p:animEffect filter="dissolve" transition="in">
                                      <p:cBhvr additive="repl">
                                        <p:cTn id="1119" dur="75"/>
                                        <p:tgtEl>
                                          <p:spTgt spid="624"/>
                                        </p:tgtEl>
                                      </p:cBhvr>
                                    </p:animEffect>
                                  </p:childTnLst>
                                </p:cTn>
                              </p:par>
                            </p:childTnLst>
                          </p:cTn>
                        </p:par>
                        <p:par>
                          <p:cTn id="1120" nodeType="afterEffect" fill="hold">
                            <p:stCondLst>
                              <p:cond delay="2675"/>
                            </p:stCondLst>
                            <p:childTnLst>
                              <p:par>
                                <p:cTn id="1121" nodeType="afterEffect" fill="hold" presetClass="entr" presetID="17" presetSubtype="8">
                                  <p:stCondLst>
                                    <p:cond delay="1000"/>
                                  </p:stCondLst>
                                  <p:childTnLst>
                                    <p:set>
                                      <p:cBhvr>
                                        <p:cTn id="1122" dur="1" fill="hold">
                                          <p:stCondLst>
                                            <p:cond delay="0"/>
                                          </p:stCondLst>
                                        </p:cTn>
                                        <p:tgtEl>
                                          <p:spTgt spid="683"/>
                                        </p:tgtEl>
                                        <p:attrNameLst>
                                          <p:attrName>style.visibility</p:attrName>
                                        </p:attrNameLst>
                                      </p:cBhvr>
                                      <p:to>
                                        <p:strVal val="visible"/>
                                      </p:to>
                                    </p:set>
                                    <p:anim calcmode="lin" valueType="num">
                                      <p:cBhvr additive="repl">
                                        <p:cTn id="1123" dur="500" fill="hold"/>
                                        <p:tgtEl>
                                          <p:spTgt spid="683"/>
                                        </p:tgtEl>
                                        <p:attrNameLst>
                                          <p:attrName>ppt_x</p:attrName>
                                        </p:attrNameLst>
                                      </p:cBhvr>
                                      <p:tavLst>
                                        <p:tav tm="0">
                                          <p:val>
                                            <p:strVal val="#ppt_x-#ppt_w/2"/>
                                          </p:val>
                                        </p:tav>
                                        <p:tav tm="100000">
                                          <p:val>
                                            <p:strVal val="#ppt_x"/>
                                          </p:val>
                                        </p:tav>
                                      </p:tavLst>
                                    </p:anim>
                                    <p:anim calcmode="lin" valueType="num">
                                      <p:cBhvr additive="repl">
                                        <p:cTn id="1124" dur="500" fill="hold"/>
                                        <p:tgtEl>
                                          <p:spTgt spid="683"/>
                                        </p:tgtEl>
                                        <p:attrNameLst>
                                          <p:attrName>ppt_y</p:attrName>
                                        </p:attrNameLst>
                                      </p:cBhvr>
                                      <p:tavLst>
                                        <p:tav tm="0">
                                          <p:val>
                                            <p:strVal val="#ppt_y"/>
                                          </p:val>
                                        </p:tav>
                                        <p:tav tm="100000">
                                          <p:val>
                                            <p:strVal val="#ppt_y"/>
                                          </p:val>
                                        </p:tav>
                                      </p:tavLst>
                                    </p:anim>
                                    <p:anim calcmode="lin" valueType="num">
                                      <p:cBhvr additive="repl">
                                        <p:cTn id="1125" dur="500" fill="hold"/>
                                        <p:tgtEl>
                                          <p:spTgt spid="683"/>
                                        </p:tgtEl>
                                        <p:attrNameLst>
                                          <p:attrName>ppt_w</p:attrName>
                                        </p:attrNameLst>
                                      </p:cBhvr>
                                      <p:tavLst>
                                        <p:tav tm="0">
                                          <p:val>
                                            <p:fltVal val="0"/>
                                          </p:val>
                                        </p:tav>
                                        <p:tav tm="100000">
                                          <p:val>
                                            <p:strVal val="#ppt_w"/>
                                          </p:val>
                                        </p:tav>
                                      </p:tavLst>
                                    </p:anim>
                                    <p:anim calcmode="lin" valueType="num">
                                      <p:cBhvr additive="repl">
                                        <p:cTn id="1126" dur="500" fill="hold"/>
                                        <p:tgtEl>
                                          <p:spTgt spid="683"/>
                                        </p:tgtEl>
                                        <p:attrNameLst>
                                          <p:attrName>ppt_h</p:attrName>
                                        </p:attrNameLst>
                                      </p:cBhvr>
                                      <p:tavLst>
                                        <p:tav tm="0">
                                          <p:val>
                                            <p:strVal val="#ppt_h"/>
                                          </p:val>
                                        </p:tav>
                                        <p:tav tm="100000">
                                          <p:val>
                                            <p:strVal val="#ppt_h"/>
                                          </p:val>
                                        </p:tav>
                                      </p:tavLst>
                                    </p:anim>
                                  </p:childTnLst>
                                </p:cTn>
                              </p:par>
                            </p:childTnLst>
                          </p:cTn>
                        </p:par>
                        <p:par>
                          <p:cTn id="1127" nodeType="afterEffect" fill="hold">
                            <p:stCondLst>
                              <p:cond delay="4175"/>
                            </p:stCondLst>
                            <p:childTnLst>
                              <p:par>
                                <p:cTn id="1128" nodeType="afterEffect" fill="hold" presetClass="entr" presetID="17" presetSubtype="8">
                                  <p:stCondLst>
                                    <p:cond delay="0"/>
                                  </p:stCondLst>
                                  <p:childTnLst>
                                    <p:set>
                                      <p:cBhvr>
                                        <p:cTn id="1129" dur="1" fill="hold">
                                          <p:stCondLst>
                                            <p:cond delay="0"/>
                                          </p:stCondLst>
                                        </p:cTn>
                                        <p:tgtEl>
                                          <p:spTgt spid="684"/>
                                        </p:tgtEl>
                                        <p:attrNameLst>
                                          <p:attrName>style.visibility</p:attrName>
                                        </p:attrNameLst>
                                      </p:cBhvr>
                                      <p:to>
                                        <p:strVal val="visible"/>
                                      </p:to>
                                    </p:set>
                                    <p:anim calcmode="lin" valueType="num">
                                      <p:cBhvr additive="repl">
                                        <p:cTn id="1130" dur="500" fill="hold"/>
                                        <p:tgtEl>
                                          <p:spTgt spid="684"/>
                                        </p:tgtEl>
                                        <p:attrNameLst>
                                          <p:attrName>ppt_x</p:attrName>
                                        </p:attrNameLst>
                                      </p:cBhvr>
                                      <p:tavLst>
                                        <p:tav tm="0">
                                          <p:val>
                                            <p:strVal val="#ppt_x-#ppt_w/2"/>
                                          </p:val>
                                        </p:tav>
                                        <p:tav tm="100000">
                                          <p:val>
                                            <p:strVal val="#ppt_x"/>
                                          </p:val>
                                        </p:tav>
                                      </p:tavLst>
                                    </p:anim>
                                    <p:anim calcmode="lin" valueType="num">
                                      <p:cBhvr additive="repl">
                                        <p:cTn id="1131" dur="500" fill="hold"/>
                                        <p:tgtEl>
                                          <p:spTgt spid="684"/>
                                        </p:tgtEl>
                                        <p:attrNameLst>
                                          <p:attrName>ppt_y</p:attrName>
                                        </p:attrNameLst>
                                      </p:cBhvr>
                                      <p:tavLst>
                                        <p:tav tm="0">
                                          <p:val>
                                            <p:strVal val="#ppt_y"/>
                                          </p:val>
                                        </p:tav>
                                        <p:tav tm="100000">
                                          <p:val>
                                            <p:strVal val="#ppt_y"/>
                                          </p:val>
                                        </p:tav>
                                      </p:tavLst>
                                    </p:anim>
                                    <p:anim calcmode="lin" valueType="num">
                                      <p:cBhvr additive="repl">
                                        <p:cTn id="1132" dur="500" fill="hold"/>
                                        <p:tgtEl>
                                          <p:spTgt spid="684"/>
                                        </p:tgtEl>
                                        <p:attrNameLst>
                                          <p:attrName>ppt_w</p:attrName>
                                        </p:attrNameLst>
                                      </p:cBhvr>
                                      <p:tavLst>
                                        <p:tav tm="0">
                                          <p:val>
                                            <p:fltVal val="0"/>
                                          </p:val>
                                        </p:tav>
                                        <p:tav tm="100000">
                                          <p:val>
                                            <p:strVal val="#ppt_w"/>
                                          </p:val>
                                        </p:tav>
                                      </p:tavLst>
                                    </p:anim>
                                    <p:anim calcmode="lin" valueType="num">
                                      <p:cBhvr additive="repl">
                                        <p:cTn id="1133" dur="500" fill="hold"/>
                                        <p:tgtEl>
                                          <p:spTgt spid="684"/>
                                        </p:tgtEl>
                                        <p:attrNameLst>
                                          <p:attrName>ppt_h</p:attrName>
                                        </p:attrNameLst>
                                      </p:cBhvr>
                                      <p:tavLst>
                                        <p:tav tm="0">
                                          <p:val>
                                            <p:strVal val="#ppt_h"/>
                                          </p:val>
                                        </p:tav>
                                        <p:tav tm="100000">
                                          <p:val>
                                            <p:strVal val="#ppt_h"/>
                                          </p:val>
                                        </p:tav>
                                      </p:tavLst>
                                    </p:anim>
                                  </p:childTnLst>
                                </p:cTn>
                              </p:par>
                            </p:childTnLst>
                          </p:cTn>
                        </p:par>
                        <p:par>
                          <p:cTn id="1134" nodeType="afterEffect" fill="hold">
                            <p:stCondLst>
                              <p:cond delay="4675"/>
                            </p:stCondLst>
                            <p:childTnLst>
                              <p:par>
                                <p:cTn id="1135" nodeType="afterEffect" fill="hold" presetClass="entr" presetID="17" presetSubtype="8">
                                  <p:stCondLst>
                                    <p:cond delay="0"/>
                                  </p:stCondLst>
                                  <p:childTnLst>
                                    <p:set>
                                      <p:cBhvr>
                                        <p:cTn id="1136" dur="1" fill="hold">
                                          <p:stCondLst>
                                            <p:cond delay="0"/>
                                          </p:stCondLst>
                                        </p:cTn>
                                        <p:tgtEl>
                                          <p:spTgt spid="685"/>
                                        </p:tgtEl>
                                        <p:attrNameLst>
                                          <p:attrName>style.visibility</p:attrName>
                                        </p:attrNameLst>
                                      </p:cBhvr>
                                      <p:to>
                                        <p:strVal val="visible"/>
                                      </p:to>
                                    </p:set>
                                    <p:anim calcmode="lin" valueType="num">
                                      <p:cBhvr additive="repl">
                                        <p:cTn id="1137" dur="500" fill="hold"/>
                                        <p:tgtEl>
                                          <p:spTgt spid="685"/>
                                        </p:tgtEl>
                                        <p:attrNameLst>
                                          <p:attrName>ppt_x</p:attrName>
                                        </p:attrNameLst>
                                      </p:cBhvr>
                                      <p:tavLst>
                                        <p:tav tm="0">
                                          <p:val>
                                            <p:strVal val="#ppt_x-#ppt_w/2"/>
                                          </p:val>
                                        </p:tav>
                                        <p:tav tm="100000">
                                          <p:val>
                                            <p:strVal val="#ppt_x"/>
                                          </p:val>
                                        </p:tav>
                                      </p:tavLst>
                                    </p:anim>
                                    <p:anim calcmode="lin" valueType="num">
                                      <p:cBhvr additive="repl">
                                        <p:cTn id="1138" dur="500" fill="hold"/>
                                        <p:tgtEl>
                                          <p:spTgt spid="685"/>
                                        </p:tgtEl>
                                        <p:attrNameLst>
                                          <p:attrName>ppt_y</p:attrName>
                                        </p:attrNameLst>
                                      </p:cBhvr>
                                      <p:tavLst>
                                        <p:tav tm="0">
                                          <p:val>
                                            <p:strVal val="#ppt_y"/>
                                          </p:val>
                                        </p:tav>
                                        <p:tav tm="100000">
                                          <p:val>
                                            <p:strVal val="#ppt_y"/>
                                          </p:val>
                                        </p:tav>
                                      </p:tavLst>
                                    </p:anim>
                                    <p:anim calcmode="lin" valueType="num">
                                      <p:cBhvr additive="repl">
                                        <p:cTn id="1139" dur="500" fill="hold"/>
                                        <p:tgtEl>
                                          <p:spTgt spid="685"/>
                                        </p:tgtEl>
                                        <p:attrNameLst>
                                          <p:attrName>ppt_w</p:attrName>
                                        </p:attrNameLst>
                                      </p:cBhvr>
                                      <p:tavLst>
                                        <p:tav tm="0">
                                          <p:val>
                                            <p:fltVal val="0"/>
                                          </p:val>
                                        </p:tav>
                                        <p:tav tm="100000">
                                          <p:val>
                                            <p:strVal val="#ppt_w"/>
                                          </p:val>
                                        </p:tav>
                                      </p:tavLst>
                                    </p:anim>
                                    <p:anim calcmode="lin" valueType="num">
                                      <p:cBhvr additive="repl">
                                        <p:cTn id="1140" dur="500" fill="hold"/>
                                        <p:tgtEl>
                                          <p:spTgt spid="685"/>
                                        </p:tgtEl>
                                        <p:attrNameLst>
                                          <p:attrName>ppt_h</p:attrName>
                                        </p:attrNameLst>
                                      </p:cBhvr>
                                      <p:tavLst>
                                        <p:tav tm="0">
                                          <p:val>
                                            <p:strVal val="#ppt_h"/>
                                          </p:val>
                                        </p:tav>
                                        <p:tav tm="100000">
                                          <p:val>
                                            <p:strVal val="#ppt_h"/>
                                          </p:val>
                                        </p:tav>
                                      </p:tavLst>
                                    </p:anim>
                                  </p:childTnLst>
                                </p:cTn>
                              </p:par>
                            </p:childTnLst>
                          </p:cTn>
                        </p:par>
                        <p:par>
                          <p:cTn id="1141" nodeType="afterEffect" fill="hold">
                            <p:stCondLst>
                              <p:cond delay="5175"/>
                            </p:stCondLst>
                            <p:childTnLst>
                              <p:par>
                                <p:cTn id="1142" nodeType="afterEffect" fill="hold" presetClass="entr" presetID="17" presetSubtype="8">
                                  <p:stCondLst>
                                    <p:cond delay="1000"/>
                                  </p:stCondLst>
                                  <p:childTnLst>
                                    <p:set>
                                      <p:cBhvr>
                                        <p:cTn id="1143" dur="1" fill="hold">
                                          <p:stCondLst>
                                            <p:cond delay="0"/>
                                          </p:stCondLst>
                                        </p:cTn>
                                        <p:tgtEl>
                                          <p:spTgt spid="686"/>
                                        </p:tgtEl>
                                        <p:attrNameLst>
                                          <p:attrName>style.visibility</p:attrName>
                                        </p:attrNameLst>
                                      </p:cBhvr>
                                      <p:to>
                                        <p:strVal val="visible"/>
                                      </p:to>
                                    </p:set>
                                    <p:anim calcmode="lin" valueType="num">
                                      <p:cBhvr additive="repl">
                                        <p:cTn id="1144" dur="500" fill="hold"/>
                                        <p:tgtEl>
                                          <p:spTgt spid="686"/>
                                        </p:tgtEl>
                                        <p:attrNameLst>
                                          <p:attrName>ppt_x</p:attrName>
                                        </p:attrNameLst>
                                      </p:cBhvr>
                                      <p:tavLst>
                                        <p:tav tm="0">
                                          <p:val>
                                            <p:strVal val="#ppt_x-#ppt_w/2"/>
                                          </p:val>
                                        </p:tav>
                                        <p:tav tm="100000">
                                          <p:val>
                                            <p:strVal val="#ppt_x"/>
                                          </p:val>
                                        </p:tav>
                                      </p:tavLst>
                                    </p:anim>
                                    <p:anim calcmode="lin" valueType="num">
                                      <p:cBhvr additive="repl">
                                        <p:cTn id="1145" dur="500" fill="hold"/>
                                        <p:tgtEl>
                                          <p:spTgt spid="686"/>
                                        </p:tgtEl>
                                        <p:attrNameLst>
                                          <p:attrName>ppt_y</p:attrName>
                                        </p:attrNameLst>
                                      </p:cBhvr>
                                      <p:tavLst>
                                        <p:tav tm="0">
                                          <p:val>
                                            <p:strVal val="#ppt_y"/>
                                          </p:val>
                                        </p:tav>
                                        <p:tav tm="100000">
                                          <p:val>
                                            <p:strVal val="#ppt_y"/>
                                          </p:val>
                                        </p:tav>
                                      </p:tavLst>
                                    </p:anim>
                                    <p:anim calcmode="lin" valueType="num">
                                      <p:cBhvr additive="repl">
                                        <p:cTn id="1146" dur="500" fill="hold"/>
                                        <p:tgtEl>
                                          <p:spTgt spid="686"/>
                                        </p:tgtEl>
                                        <p:attrNameLst>
                                          <p:attrName>ppt_w</p:attrName>
                                        </p:attrNameLst>
                                      </p:cBhvr>
                                      <p:tavLst>
                                        <p:tav tm="0">
                                          <p:val>
                                            <p:fltVal val="0"/>
                                          </p:val>
                                        </p:tav>
                                        <p:tav tm="100000">
                                          <p:val>
                                            <p:strVal val="#ppt_w"/>
                                          </p:val>
                                        </p:tav>
                                      </p:tavLst>
                                    </p:anim>
                                    <p:anim calcmode="lin" valueType="num">
                                      <p:cBhvr additive="repl">
                                        <p:cTn id="1147" dur="500" fill="hold"/>
                                        <p:tgtEl>
                                          <p:spTgt spid="686"/>
                                        </p:tgtEl>
                                        <p:attrNameLst>
                                          <p:attrName>ppt_h</p:attrName>
                                        </p:attrNameLst>
                                      </p:cBhvr>
                                      <p:tavLst>
                                        <p:tav tm="0">
                                          <p:val>
                                            <p:strVal val="#ppt_h"/>
                                          </p:val>
                                        </p:tav>
                                        <p:tav tm="100000">
                                          <p:val>
                                            <p:strVal val="#ppt_h"/>
                                          </p:val>
                                        </p:tav>
                                      </p:tavLst>
                                    </p:anim>
                                  </p:childTnLst>
                                </p:cTn>
                              </p:par>
                            </p:childTnLst>
                          </p:cTn>
                        </p:par>
                        <p:par>
                          <p:cTn id="1148" nodeType="afterEffect" fill="hold">
                            <p:stCondLst>
                              <p:cond delay="6675"/>
                            </p:stCondLst>
                            <p:childTnLst>
                              <p:par>
                                <p:cTn id="1149" nodeType="afterEffect" fill="hold" presetClass="entr" presetID="17" presetSubtype="8">
                                  <p:stCondLst>
                                    <p:cond delay="0"/>
                                  </p:stCondLst>
                                  <p:childTnLst>
                                    <p:set>
                                      <p:cBhvr>
                                        <p:cTn id="1150" dur="1" fill="hold">
                                          <p:stCondLst>
                                            <p:cond delay="0"/>
                                          </p:stCondLst>
                                        </p:cTn>
                                        <p:tgtEl>
                                          <p:spTgt spid="687"/>
                                        </p:tgtEl>
                                        <p:attrNameLst>
                                          <p:attrName>style.visibility</p:attrName>
                                        </p:attrNameLst>
                                      </p:cBhvr>
                                      <p:to>
                                        <p:strVal val="visible"/>
                                      </p:to>
                                    </p:set>
                                    <p:anim calcmode="lin" valueType="num">
                                      <p:cBhvr additive="repl">
                                        <p:cTn id="1151" dur="500" fill="hold"/>
                                        <p:tgtEl>
                                          <p:spTgt spid="687"/>
                                        </p:tgtEl>
                                        <p:attrNameLst>
                                          <p:attrName>ppt_x</p:attrName>
                                        </p:attrNameLst>
                                      </p:cBhvr>
                                      <p:tavLst>
                                        <p:tav tm="0">
                                          <p:val>
                                            <p:strVal val="#ppt_x-#ppt_w/2"/>
                                          </p:val>
                                        </p:tav>
                                        <p:tav tm="100000">
                                          <p:val>
                                            <p:strVal val="#ppt_x"/>
                                          </p:val>
                                        </p:tav>
                                      </p:tavLst>
                                    </p:anim>
                                    <p:anim calcmode="lin" valueType="num">
                                      <p:cBhvr additive="repl">
                                        <p:cTn id="1152" dur="500" fill="hold"/>
                                        <p:tgtEl>
                                          <p:spTgt spid="687"/>
                                        </p:tgtEl>
                                        <p:attrNameLst>
                                          <p:attrName>ppt_y</p:attrName>
                                        </p:attrNameLst>
                                      </p:cBhvr>
                                      <p:tavLst>
                                        <p:tav tm="0">
                                          <p:val>
                                            <p:strVal val="#ppt_y"/>
                                          </p:val>
                                        </p:tav>
                                        <p:tav tm="100000">
                                          <p:val>
                                            <p:strVal val="#ppt_y"/>
                                          </p:val>
                                        </p:tav>
                                      </p:tavLst>
                                    </p:anim>
                                    <p:anim calcmode="lin" valueType="num">
                                      <p:cBhvr additive="repl">
                                        <p:cTn id="1153" dur="500" fill="hold"/>
                                        <p:tgtEl>
                                          <p:spTgt spid="687"/>
                                        </p:tgtEl>
                                        <p:attrNameLst>
                                          <p:attrName>ppt_w</p:attrName>
                                        </p:attrNameLst>
                                      </p:cBhvr>
                                      <p:tavLst>
                                        <p:tav tm="0">
                                          <p:val>
                                            <p:fltVal val="0"/>
                                          </p:val>
                                        </p:tav>
                                        <p:tav tm="100000">
                                          <p:val>
                                            <p:strVal val="#ppt_w"/>
                                          </p:val>
                                        </p:tav>
                                      </p:tavLst>
                                    </p:anim>
                                    <p:anim calcmode="lin" valueType="num">
                                      <p:cBhvr additive="repl">
                                        <p:cTn id="1154" dur="500" fill="hold"/>
                                        <p:tgtEl>
                                          <p:spTgt spid="687"/>
                                        </p:tgtEl>
                                        <p:attrNameLst>
                                          <p:attrName>ppt_h</p:attrName>
                                        </p:attrNameLst>
                                      </p:cBhvr>
                                      <p:tavLst>
                                        <p:tav tm="0">
                                          <p:val>
                                            <p:strVal val="#ppt_h"/>
                                          </p:val>
                                        </p:tav>
                                        <p:tav tm="100000">
                                          <p:val>
                                            <p:strVal val="#ppt_h"/>
                                          </p:val>
                                        </p:tav>
                                      </p:tavLst>
                                    </p:anim>
                                  </p:childTnLst>
                                </p:cTn>
                              </p:par>
                            </p:childTnLst>
                          </p:cTn>
                        </p:par>
                        <p:par>
                          <p:cTn id="1155" nodeType="afterEffect" fill="hold">
                            <p:stCondLst>
                              <p:cond delay="7175"/>
                            </p:stCondLst>
                            <p:childTnLst>
                              <p:par>
                                <p:cTn id="1156" nodeType="afterEffect" fill="hold" presetClass="entr" presetID="17" presetSubtype="8">
                                  <p:stCondLst>
                                    <p:cond delay="0"/>
                                  </p:stCondLst>
                                  <p:childTnLst>
                                    <p:set>
                                      <p:cBhvr>
                                        <p:cTn id="1157" dur="1" fill="hold">
                                          <p:stCondLst>
                                            <p:cond delay="0"/>
                                          </p:stCondLst>
                                        </p:cTn>
                                        <p:tgtEl>
                                          <p:spTgt spid="688"/>
                                        </p:tgtEl>
                                        <p:attrNameLst>
                                          <p:attrName>style.visibility</p:attrName>
                                        </p:attrNameLst>
                                      </p:cBhvr>
                                      <p:to>
                                        <p:strVal val="visible"/>
                                      </p:to>
                                    </p:set>
                                    <p:anim calcmode="lin" valueType="num">
                                      <p:cBhvr additive="repl">
                                        <p:cTn id="1158" dur="500" fill="hold"/>
                                        <p:tgtEl>
                                          <p:spTgt spid="688"/>
                                        </p:tgtEl>
                                        <p:attrNameLst>
                                          <p:attrName>ppt_x</p:attrName>
                                        </p:attrNameLst>
                                      </p:cBhvr>
                                      <p:tavLst>
                                        <p:tav tm="0">
                                          <p:val>
                                            <p:strVal val="#ppt_x-#ppt_w/2"/>
                                          </p:val>
                                        </p:tav>
                                        <p:tav tm="100000">
                                          <p:val>
                                            <p:strVal val="#ppt_x"/>
                                          </p:val>
                                        </p:tav>
                                      </p:tavLst>
                                    </p:anim>
                                    <p:anim calcmode="lin" valueType="num">
                                      <p:cBhvr additive="repl">
                                        <p:cTn id="1159" dur="500" fill="hold"/>
                                        <p:tgtEl>
                                          <p:spTgt spid="688"/>
                                        </p:tgtEl>
                                        <p:attrNameLst>
                                          <p:attrName>ppt_y</p:attrName>
                                        </p:attrNameLst>
                                      </p:cBhvr>
                                      <p:tavLst>
                                        <p:tav tm="0">
                                          <p:val>
                                            <p:strVal val="#ppt_y"/>
                                          </p:val>
                                        </p:tav>
                                        <p:tav tm="100000">
                                          <p:val>
                                            <p:strVal val="#ppt_y"/>
                                          </p:val>
                                        </p:tav>
                                      </p:tavLst>
                                    </p:anim>
                                    <p:anim calcmode="lin" valueType="num">
                                      <p:cBhvr additive="repl">
                                        <p:cTn id="1160" dur="500" fill="hold"/>
                                        <p:tgtEl>
                                          <p:spTgt spid="688"/>
                                        </p:tgtEl>
                                        <p:attrNameLst>
                                          <p:attrName>ppt_w</p:attrName>
                                        </p:attrNameLst>
                                      </p:cBhvr>
                                      <p:tavLst>
                                        <p:tav tm="0">
                                          <p:val>
                                            <p:fltVal val="0"/>
                                          </p:val>
                                        </p:tav>
                                        <p:tav tm="100000">
                                          <p:val>
                                            <p:strVal val="#ppt_w"/>
                                          </p:val>
                                        </p:tav>
                                      </p:tavLst>
                                    </p:anim>
                                    <p:anim calcmode="lin" valueType="num">
                                      <p:cBhvr additive="repl">
                                        <p:cTn id="1161" dur="500" fill="hold"/>
                                        <p:tgtEl>
                                          <p:spTgt spid="688"/>
                                        </p:tgtEl>
                                        <p:attrNameLst>
                                          <p:attrName>ppt_h</p:attrName>
                                        </p:attrNameLst>
                                      </p:cBhvr>
                                      <p:tavLst>
                                        <p:tav tm="0">
                                          <p:val>
                                            <p:strVal val="#ppt_h"/>
                                          </p:val>
                                        </p:tav>
                                        <p:tav tm="100000">
                                          <p:val>
                                            <p:strVal val="#ppt_h"/>
                                          </p:val>
                                        </p:tav>
                                      </p:tavLst>
                                    </p:anim>
                                  </p:childTnLst>
                                </p:cTn>
                              </p:par>
                            </p:childTnLst>
                          </p:cTn>
                        </p:par>
                      </p:childTnLst>
                    </p:cTn>
                  </p:par>
                  <p:par>
                    <p:cTn id="1162" nodeType="clickEffect" fill="hold">
                      <p:stCondLst>
                        <p:cond delay="indefinite"/>
                      </p:stCondLst>
                      <p:childTnLst>
                        <p:par>
                          <p:cTn id="1163" nodeType="withEffect" fill="hold">
                            <p:stCondLst>
                              <p:cond delay="0"/>
                            </p:stCondLst>
                            <p:childTnLst>
                              <p:par>
                                <p:cTn id="1164" nodeType="clickEffect" fill="hold" presetClass="entr" presetID="9">
                                  <p:stCondLst>
                                    <p:cond delay="0"/>
                                  </p:stCondLst>
                                  <p:iterate type="lt">
                                    <p:tmAbs val="75"/>
                                  </p:iterate>
                                  <p:childTnLst>
                                    <p:set>
                                      <p:cBhvr>
                                        <p:cTn id="1165" dur="1" fill="hold">
                                          <p:stCondLst>
                                            <p:cond delay="0"/>
                                          </p:stCondLst>
                                        </p:cTn>
                                        <p:tgtEl>
                                          <p:spTgt spid="650"/>
                                        </p:tgtEl>
                                        <p:attrNameLst>
                                          <p:attrName>style.visibility</p:attrName>
                                        </p:attrNameLst>
                                      </p:cBhvr>
                                      <p:to>
                                        <p:strVal val="visible"/>
                                      </p:to>
                                    </p:set>
                                    <p:animEffect filter="dissolve" transition="in">
                                      <p:cBhvr additive="repl">
                                        <p:cTn id="1166" dur="75"/>
                                        <p:tgtEl>
                                          <p:spTgt spid="650"/>
                                        </p:tgtEl>
                                      </p:cBhvr>
                                    </p:animEffect>
                                  </p:childTnLst>
                                </p:cTn>
                              </p:par>
                            </p:childTnLst>
                          </p:cTn>
                        </p:par>
                        <p:par>
                          <p:cTn id="1167" nodeType="afterEffect" fill="hold">
                            <p:stCondLst>
                              <p:cond delay="150"/>
                            </p:stCondLst>
                            <p:childTnLst>
                              <p:par>
                                <p:cTn id="1168" nodeType="afterEffect" fill="hold" presetClass="entr" presetID="9">
                                  <p:stCondLst>
                                    <p:cond delay="1000"/>
                                  </p:stCondLst>
                                  <p:iterate type="lt">
                                    <p:tmAbs val="75"/>
                                  </p:iterate>
                                  <p:childTnLst>
                                    <p:set>
                                      <p:cBhvr>
                                        <p:cTn id="1169" dur="1" fill="hold">
                                          <p:stCondLst>
                                            <p:cond delay="0"/>
                                          </p:stCondLst>
                                        </p:cTn>
                                        <p:tgtEl>
                                          <p:spTgt spid="636"/>
                                        </p:tgtEl>
                                        <p:attrNameLst>
                                          <p:attrName>style.visibility</p:attrName>
                                        </p:attrNameLst>
                                      </p:cBhvr>
                                      <p:to>
                                        <p:strVal val="visible"/>
                                      </p:to>
                                    </p:set>
                                    <p:animEffect filter="dissolve" transition="in">
                                      <p:cBhvr additive="repl">
                                        <p:cTn id="1170" dur="75"/>
                                        <p:tgtEl>
                                          <p:spTgt spid="636"/>
                                        </p:tgtEl>
                                      </p:cBhvr>
                                    </p:animEffect>
                                  </p:childTnLst>
                                </p:cTn>
                              </p:par>
                            </p:childTnLst>
                          </p:cTn>
                        </p:par>
                        <p:par>
                          <p:cTn id="1171" nodeType="afterEffect" fill="hold">
                            <p:stCondLst>
                              <p:cond delay="1375"/>
                            </p:stCondLst>
                            <p:childTnLst>
                              <p:par>
                                <p:cTn id="1172" nodeType="afterEffect" fill="hold" presetClass="entr" presetID="9">
                                  <p:stCondLst>
                                    <p:cond delay="1000"/>
                                  </p:stCondLst>
                                  <p:iterate type="lt">
                                    <p:tmAbs val="75"/>
                                  </p:iterate>
                                  <p:childTnLst>
                                    <p:set>
                                      <p:cBhvr>
                                        <p:cTn id="1173" dur="1" fill="hold">
                                          <p:stCondLst>
                                            <p:cond delay="0"/>
                                          </p:stCondLst>
                                        </p:cTn>
                                        <p:tgtEl>
                                          <p:spTgt spid="638"/>
                                        </p:tgtEl>
                                        <p:attrNameLst>
                                          <p:attrName>style.visibility</p:attrName>
                                        </p:attrNameLst>
                                      </p:cBhvr>
                                      <p:to>
                                        <p:strVal val="visible"/>
                                      </p:to>
                                    </p:set>
                                    <p:animEffect filter="dissolve" transition="in">
                                      <p:cBhvr additive="repl">
                                        <p:cTn id="1174" dur="75"/>
                                        <p:tgtEl>
                                          <p:spTgt spid="638"/>
                                        </p:tgtEl>
                                      </p:cBhvr>
                                    </p:animEffect>
                                  </p:childTnLst>
                                </p:cTn>
                              </p:par>
                            </p:childTnLst>
                          </p:cTn>
                        </p:par>
                        <p:par>
                          <p:cTn id="1175" nodeType="afterEffect" fill="hold">
                            <p:stCondLst>
                              <p:cond delay="2675"/>
                            </p:stCondLst>
                            <p:childTnLst>
                              <p:par>
                                <p:cTn id="1176" nodeType="afterEffect" fill="hold" presetClass="entr" presetID="17" presetSubtype="8">
                                  <p:stCondLst>
                                    <p:cond delay="1000"/>
                                  </p:stCondLst>
                                  <p:childTnLst>
                                    <p:set>
                                      <p:cBhvr>
                                        <p:cTn id="1177" dur="1" fill="hold">
                                          <p:stCondLst>
                                            <p:cond delay="0"/>
                                          </p:stCondLst>
                                        </p:cTn>
                                        <p:tgtEl>
                                          <p:spTgt spid="680"/>
                                        </p:tgtEl>
                                        <p:attrNameLst>
                                          <p:attrName>style.visibility</p:attrName>
                                        </p:attrNameLst>
                                      </p:cBhvr>
                                      <p:to>
                                        <p:strVal val="visible"/>
                                      </p:to>
                                    </p:set>
                                    <p:anim calcmode="lin" valueType="num">
                                      <p:cBhvr additive="repl">
                                        <p:cTn id="1178" dur="500" fill="hold"/>
                                        <p:tgtEl>
                                          <p:spTgt spid="680"/>
                                        </p:tgtEl>
                                        <p:attrNameLst>
                                          <p:attrName>ppt_x</p:attrName>
                                        </p:attrNameLst>
                                      </p:cBhvr>
                                      <p:tavLst>
                                        <p:tav tm="0">
                                          <p:val>
                                            <p:strVal val="#ppt_x-#ppt_w/2"/>
                                          </p:val>
                                        </p:tav>
                                        <p:tav tm="100000">
                                          <p:val>
                                            <p:strVal val="#ppt_x"/>
                                          </p:val>
                                        </p:tav>
                                      </p:tavLst>
                                    </p:anim>
                                    <p:anim calcmode="lin" valueType="num">
                                      <p:cBhvr additive="repl">
                                        <p:cTn id="1179" dur="500" fill="hold"/>
                                        <p:tgtEl>
                                          <p:spTgt spid="680"/>
                                        </p:tgtEl>
                                        <p:attrNameLst>
                                          <p:attrName>ppt_y</p:attrName>
                                        </p:attrNameLst>
                                      </p:cBhvr>
                                      <p:tavLst>
                                        <p:tav tm="0">
                                          <p:val>
                                            <p:strVal val="#ppt_y"/>
                                          </p:val>
                                        </p:tav>
                                        <p:tav tm="100000">
                                          <p:val>
                                            <p:strVal val="#ppt_y"/>
                                          </p:val>
                                        </p:tav>
                                      </p:tavLst>
                                    </p:anim>
                                    <p:anim calcmode="lin" valueType="num">
                                      <p:cBhvr additive="repl">
                                        <p:cTn id="1180" dur="500" fill="hold"/>
                                        <p:tgtEl>
                                          <p:spTgt spid="680"/>
                                        </p:tgtEl>
                                        <p:attrNameLst>
                                          <p:attrName>ppt_w</p:attrName>
                                        </p:attrNameLst>
                                      </p:cBhvr>
                                      <p:tavLst>
                                        <p:tav tm="0">
                                          <p:val>
                                            <p:fltVal val="0"/>
                                          </p:val>
                                        </p:tav>
                                        <p:tav tm="100000">
                                          <p:val>
                                            <p:strVal val="#ppt_w"/>
                                          </p:val>
                                        </p:tav>
                                      </p:tavLst>
                                    </p:anim>
                                    <p:anim calcmode="lin" valueType="num">
                                      <p:cBhvr additive="repl">
                                        <p:cTn id="1181" dur="500" fill="hold"/>
                                        <p:tgtEl>
                                          <p:spTgt spid="680"/>
                                        </p:tgtEl>
                                        <p:attrNameLst>
                                          <p:attrName>ppt_h</p:attrName>
                                        </p:attrNameLst>
                                      </p:cBhvr>
                                      <p:tavLst>
                                        <p:tav tm="0">
                                          <p:val>
                                            <p:strVal val="#ppt_h"/>
                                          </p:val>
                                        </p:tav>
                                        <p:tav tm="100000">
                                          <p:val>
                                            <p:strVal val="#ppt_h"/>
                                          </p:val>
                                        </p:tav>
                                      </p:tavLst>
                                    </p:anim>
                                  </p:childTnLst>
                                </p:cTn>
                              </p:par>
                            </p:childTnLst>
                          </p:cTn>
                        </p:par>
                        <p:par>
                          <p:cTn id="1182" nodeType="afterEffect" fill="hold">
                            <p:stCondLst>
                              <p:cond delay="4175"/>
                            </p:stCondLst>
                            <p:childTnLst>
                              <p:par>
                                <p:cTn id="1183" nodeType="afterEffect" fill="hold" presetClass="entr" presetID="17" presetSubtype="8">
                                  <p:stCondLst>
                                    <p:cond delay="0"/>
                                  </p:stCondLst>
                                  <p:childTnLst>
                                    <p:set>
                                      <p:cBhvr>
                                        <p:cTn id="1184" dur="1" fill="hold">
                                          <p:stCondLst>
                                            <p:cond delay="0"/>
                                          </p:stCondLst>
                                        </p:cTn>
                                        <p:tgtEl>
                                          <p:spTgt spid="681"/>
                                        </p:tgtEl>
                                        <p:attrNameLst>
                                          <p:attrName>style.visibility</p:attrName>
                                        </p:attrNameLst>
                                      </p:cBhvr>
                                      <p:to>
                                        <p:strVal val="visible"/>
                                      </p:to>
                                    </p:set>
                                    <p:anim calcmode="lin" valueType="num">
                                      <p:cBhvr additive="repl">
                                        <p:cTn id="1185" dur="500" fill="hold"/>
                                        <p:tgtEl>
                                          <p:spTgt spid="681"/>
                                        </p:tgtEl>
                                        <p:attrNameLst>
                                          <p:attrName>ppt_x</p:attrName>
                                        </p:attrNameLst>
                                      </p:cBhvr>
                                      <p:tavLst>
                                        <p:tav tm="0">
                                          <p:val>
                                            <p:strVal val="#ppt_x-#ppt_w/2"/>
                                          </p:val>
                                        </p:tav>
                                        <p:tav tm="100000">
                                          <p:val>
                                            <p:strVal val="#ppt_x"/>
                                          </p:val>
                                        </p:tav>
                                      </p:tavLst>
                                    </p:anim>
                                    <p:anim calcmode="lin" valueType="num">
                                      <p:cBhvr additive="repl">
                                        <p:cTn id="1186" dur="500" fill="hold"/>
                                        <p:tgtEl>
                                          <p:spTgt spid="681"/>
                                        </p:tgtEl>
                                        <p:attrNameLst>
                                          <p:attrName>ppt_y</p:attrName>
                                        </p:attrNameLst>
                                      </p:cBhvr>
                                      <p:tavLst>
                                        <p:tav tm="0">
                                          <p:val>
                                            <p:strVal val="#ppt_y"/>
                                          </p:val>
                                        </p:tav>
                                        <p:tav tm="100000">
                                          <p:val>
                                            <p:strVal val="#ppt_y"/>
                                          </p:val>
                                        </p:tav>
                                      </p:tavLst>
                                    </p:anim>
                                    <p:anim calcmode="lin" valueType="num">
                                      <p:cBhvr additive="repl">
                                        <p:cTn id="1187" dur="500" fill="hold"/>
                                        <p:tgtEl>
                                          <p:spTgt spid="681"/>
                                        </p:tgtEl>
                                        <p:attrNameLst>
                                          <p:attrName>ppt_w</p:attrName>
                                        </p:attrNameLst>
                                      </p:cBhvr>
                                      <p:tavLst>
                                        <p:tav tm="0">
                                          <p:val>
                                            <p:fltVal val="0"/>
                                          </p:val>
                                        </p:tav>
                                        <p:tav tm="100000">
                                          <p:val>
                                            <p:strVal val="#ppt_w"/>
                                          </p:val>
                                        </p:tav>
                                      </p:tavLst>
                                    </p:anim>
                                    <p:anim calcmode="lin" valueType="num">
                                      <p:cBhvr additive="repl">
                                        <p:cTn id="1188" dur="500" fill="hold"/>
                                        <p:tgtEl>
                                          <p:spTgt spid="681"/>
                                        </p:tgtEl>
                                        <p:attrNameLst>
                                          <p:attrName>ppt_h</p:attrName>
                                        </p:attrNameLst>
                                      </p:cBhvr>
                                      <p:tavLst>
                                        <p:tav tm="0">
                                          <p:val>
                                            <p:strVal val="#ppt_h"/>
                                          </p:val>
                                        </p:tav>
                                        <p:tav tm="100000">
                                          <p:val>
                                            <p:strVal val="#ppt_h"/>
                                          </p:val>
                                        </p:tav>
                                      </p:tavLst>
                                    </p:anim>
                                  </p:childTnLst>
                                </p:cTn>
                              </p:par>
                            </p:childTnLst>
                          </p:cTn>
                        </p:par>
                        <p:par>
                          <p:cTn id="1189" nodeType="afterEffect" fill="hold">
                            <p:stCondLst>
                              <p:cond delay="4675"/>
                            </p:stCondLst>
                            <p:childTnLst>
                              <p:par>
                                <p:cTn id="1190" nodeType="afterEffect" fill="hold" presetClass="entr" presetID="17" presetSubtype="8">
                                  <p:stCondLst>
                                    <p:cond delay="0"/>
                                  </p:stCondLst>
                                  <p:childTnLst>
                                    <p:set>
                                      <p:cBhvr>
                                        <p:cTn id="1191" dur="1" fill="hold">
                                          <p:stCondLst>
                                            <p:cond delay="0"/>
                                          </p:stCondLst>
                                        </p:cTn>
                                        <p:tgtEl>
                                          <p:spTgt spid="682"/>
                                        </p:tgtEl>
                                        <p:attrNameLst>
                                          <p:attrName>style.visibility</p:attrName>
                                        </p:attrNameLst>
                                      </p:cBhvr>
                                      <p:to>
                                        <p:strVal val="visible"/>
                                      </p:to>
                                    </p:set>
                                    <p:anim calcmode="lin" valueType="num">
                                      <p:cBhvr additive="repl">
                                        <p:cTn id="1192" dur="500" fill="hold"/>
                                        <p:tgtEl>
                                          <p:spTgt spid="682"/>
                                        </p:tgtEl>
                                        <p:attrNameLst>
                                          <p:attrName>ppt_x</p:attrName>
                                        </p:attrNameLst>
                                      </p:cBhvr>
                                      <p:tavLst>
                                        <p:tav tm="0">
                                          <p:val>
                                            <p:strVal val="#ppt_x-#ppt_w/2"/>
                                          </p:val>
                                        </p:tav>
                                        <p:tav tm="100000">
                                          <p:val>
                                            <p:strVal val="#ppt_x"/>
                                          </p:val>
                                        </p:tav>
                                      </p:tavLst>
                                    </p:anim>
                                    <p:anim calcmode="lin" valueType="num">
                                      <p:cBhvr additive="repl">
                                        <p:cTn id="1193" dur="500" fill="hold"/>
                                        <p:tgtEl>
                                          <p:spTgt spid="682"/>
                                        </p:tgtEl>
                                        <p:attrNameLst>
                                          <p:attrName>ppt_y</p:attrName>
                                        </p:attrNameLst>
                                      </p:cBhvr>
                                      <p:tavLst>
                                        <p:tav tm="0">
                                          <p:val>
                                            <p:strVal val="#ppt_y"/>
                                          </p:val>
                                        </p:tav>
                                        <p:tav tm="100000">
                                          <p:val>
                                            <p:strVal val="#ppt_y"/>
                                          </p:val>
                                        </p:tav>
                                      </p:tavLst>
                                    </p:anim>
                                    <p:anim calcmode="lin" valueType="num">
                                      <p:cBhvr additive="repl">
                                        <p:cTn id="1194" dur="500" fill="hold"/>
                                        <p:tgtEl>
                                          <p:spTgt spid="682"/>
                                        </p:tgtEl>
                                        <p:attrNameLst>
                                          <p:attrName>ppt_w</p:attrName>
                                        </p:attrNameLst>
                                      </p:cBhvr>
                                      <p:tavLst>
                                        <p:tav tm="0">
                                          <p:val>
                                            <p:fltVal val="0"/>
                                          </p:val>
                                        </p:tav>
                                        <p:tav tm="100000">
                                          <p:val>
                                            <p:strVal val="#ppt_w"/>
                                          </p:val>
                                        </p:tav>
                                      </p:tavLst>
                                    </p:anim>
                                    <p:anim calcmode="lin" valueType="num">
                                      <p:cBhvr additive="repl">
                                        <p:cTn id="1195" dur="500" fill="hold"/>
                                        <p:tgtEl>
                                          <p:spTgt spid="682"/>
                                        </p:tgtEl>
                                        <p:attrNameLst>
                                          <p:attrName>ppt_h</p:attrName>
                                        </p:attrNameLst>
                                      </p:cBhvr>
                                      <p:tavLst>
                                        <p:tav tm="0">
                                          <p:val>
                                            <p:strVal val="#ppt_h"/>
                                          </p:val>
                                        </p:tav>
                                        <p:tav tm="100000">
                                          <p:val>
                                            <p:strVal val="#ppt_h"/>
                                          </p:val>
                                        </p:tav>
                                      </p:tavLst>
                                    </p:anim>
                                  </p:childTnLst>
                                </p:cTn>
                              </p:par>
                            </p:childTnLst>
                          </p:cTn>
                        </p:par>
                        <p:par>
                          <p:cTn id="1196" nodeType="afterEffect" fill="hold">
                            <p:stCondLst>
                              <p:cond delay="5175"/>
                            </p:stCondLst>
                            <p:childTnLst>
                              <p:par>
                                <p:cTn id="1197" nodeType="afterEffect" fill="hold" presetClass="entr" presetID="17" presetSubtype="8">
                                  <p:stCondLst>
                                    <p:cond delay="1000"/>
                                  </p:stCondLst>
                                  <p:childTnLst>
                                    <p:set>
                                      <p:cBhvr>
                                        <p:cTn id="1198" dur="1" fill="hold">
                                          <p:stCondLst>
                                            <p:cond delay="0"/>
                                          </p:stCondLst>
                                        </p:cTn>
                                        <p:tgtEl>
                                          <p:spTgt spid="667"/>
                                        </p:tgtEl>
                                        <p:attrNameLst>
                                          <p:attrName>style.visibility</p:attrName>
                                        </p:attrNameLst>
                                      </p:cBhvr>
                                      <p:to>
                                        <p:strVal val="visible"/>
                                      </p:to>
                                    </p:set>
                                    <p:anim calcmode="lin" valueType="num">
                                      <p:cBhvr additive="repl">
                                        <p:cTn id="1199" dur="500" fill="hold"/>
                                        <p:tgtEl>
                                          <p:spTgt spid="667"/>
                                        </p:tgtEl>
                                        <p:attrNameLst>
                                          <p:attrName>ppt_x</p:attrName>
                                        </p:attrNameLst>
                                      </p:cBhvr>
                                      <p:tavLst>
                                        <p:tav tm="0">
                                          <p:val>
                                            <p:strVal val="#ppt_x-#ppt_w/2"/>
                                          </p:val>
                                        </p:tav>
                                        <p:tav tm="100000">
                                          <p:val>
                                            <p:strVal val="#ppt_x"/>
                                          </p:val>
                                        </p:tav>
                                      </p:tavLst>
                                    </p:anim>
                                    <p:anim calcmode="lin" valueType="num">
                                      <p:cBhvr additive="repl">
                                        <p:cTn id="1200" dur="500" fill="hold"/>
                                        <p:tgtEl>
                                          <p:spTgt spid="667"/>
                                        </p:tgtEl>
                                        <p:attrNameLst>
                                          <p:attrName>ppt_y</p:attrName>
                                        </p:attrNameLst>
                                      </p:cBhvr>
                                      <p:tavLst>
                                        <p:tav tm="0">
                                          <p:val>
                                            <p:strVal val="#ppt_y"/>
                                          </p:val>
                                        </p:tav>
                                        <p:tav tm="100000">
                                          <p:val>
                                            <p:strVal val="#ppt_y"/>
                                          </p:val>
                                        </p:tav>
                                      </p:tavLst>
                                    </p:anim>
                                    <p:anim calcmode="lin" valueType="num">
                                      <p:cBhvr additive="repl">
                                        <p:cTn id="1201" dur="500" fill="hold"/>
                                        <p:tgtEl>
                                          <p:spTgt spid="667"/>
                                        </p:tgtEl>
                                        <p:attrNameLst>
                                          <p:attrName>ppt_w</p:attrName>
                                        </p:attrNameLst>
                                      </p:cBhvr>
                                      <p:tavLst>
                                        <p:tav tm="0">
                                          <p:val>
                                            <p:fltVal val="0"/>
                                          </p:val>
                                        </p:tav>
                                        <p:tav tm="100000">
                                          <p:val>
                                            <p:strVal val="#ppt_w"/>
                                          </p:val>
                                        </p:tav>
                                      </p:tavLst>
                                    </p:anim>
                                    <p:anim calcmode="lin" valueType="num">
                                      <p:cBhvr additive="repl">
                                        <p:cTn id="1202" dur="500" fill="hold"/>
                                        <p:tgtEl>
                                          <p:spTgt spid="667"/>
                                        </p:tgtEl>
                                        <p:attrNameLst>
                                          <p:attrName>ppt_h</p:attrName>
                                        </p:attrNameLst>
                                      </p:cBhvr>
                                      <p:tavLst>
                                        <p:tav tm="0">
                                          <p:val>
                                            <p:strVal val="#ppt_h"/>
                                          </p:val>
                                        </p:tav>
                                        <p:tav tm="100000">
                                          <p:val>
                                            <p:strVal val="#ppt_h"/>
                                          </p:val>
                                        </p:tav>
                                      </p:tavLst>
                                    </p:anim>
                                  </p:childTnLst>
                                </p:cTn>
                              </p:par>
                            </p:childTnLst>
                          </p:cTn>
                        </p:par>
                        <p:par>
                          <p:cTn id="1203" nodeType="afterEffect" fill="hold">
                            <p:stCondLst>
                              <p:cond delay="6675"/>
                            </p:stCondLst>
                            <p:childTnLst>
                              <p:par>
                                <p:cTn id="1204" nodeType="afterEffect" fill="hold" presetClass="entr" presetID="17" presetSubtype="8">
                                  <p:stCondLst>
                                    <p:cond delay="0"/>
                                  </p:stCondLst>
                                  <p:childTnLst>
                                    <p:set>
                                      <p:cBhvr>
                                        <p:cTn id="1205" dur="1" fill="hold">
                                          <p:stCondLst>
                                            <p:cond delay="0"/>
                                          </p:stCondLst>
                                        </p:cTn>
                                        <p:tgtEl>
                                          <p:spTgt spid="668"/>
                                        </p:tgtEl>
                                        <p:attrNameLst>
                                          <p:attrName>style.visibility</p:attrName>
                                        </p:attrNameLst>
                                      </p:cBhvr>
                                      <p:to>
                                        <p:strVal val="visible"/>
                                      </p:to>
                                    </p:set>
                                    <p:anim calcmode="lin" valueType="num">
                                      <p:cBhvr additive="repl">
                                        <p:cTn id="1206" dur="500" fill="hold"/>
                                        <p:tgtEl>
                                          <p:spTgt spid="668"/>
                                        </p:tgtEl>
                                        <p:attrNameLst>
                                          <p:attrName>ppt_x</p:attrName>
                                        </p:attrNameLst>
                                      </p:cBhvr>
                                      <p:tavLst>
                                        <p:tav tm="0">
                                          <p:val>
                                            <p:strVal val="#ppt_x-#ppt_w/2"/>
                                          </p:val>
                                        </p:tav>
                                        <p:tav tm="100000">
                                          <p:val>
                                            <p:strVal val="#ppt_x"/>
                                          </p:val>
                                        </p:tav>
                                      </p:tavLst>
                                    </p:anim>
                                    <p:anim calcmode="lin" valueType="num">
                                      <p:cBhvr additive="repl">
                                        <p:cTn id="1207" dur="500" fill="hold"/>
                                        <p:tgtEl>
                                          <p:spTgt spid="668"/>
                                        </p:tgtEl>
                                        <p:attrNameLst>
                                          <p:attrName>ppt_y</p:attrName>
                                        </p:attrNameLst>
                                      </p:cBhvr>
                                      <p:tavLst>
                                        <p:tav tm="0">
                                          <p:val>
                                            <p:strVal val="#ppt_y"/>
                                          </p:val>
                                        </p:tav>
                                        <p:tav tm="100000">
                                          <p:val>
                                            <p:strVal val="#ppt_y"/>
                                          </p:val>
                                        </p:tav>
                                      </p:tavLst>
                                    </p:anim>
                                    <p:anim calcmode="lin" valueType="num">
                                      <p:cBhvr additive="repl">
                                        <p:cTn id="1208" dur="500" fill="hold"/>
                                        <p:tgtEl>
                                          <p:spTgt spid="668"/>
                                        </p:tgtEl>
                                        <p:attrNameLst>
                                          <p:attrName>ppt_w</p:attrName>
                                        </p:attrNameLst>
                                      </p:cBhvr>
                                      <p:tavLst>
                                        <p:tav tm="0">
                                          <p:val>
                                            <p:fltVal val="0"/>
                                          </p:val>
                                        </p:tav>
                                        <p:tav tm="100000">
                                          <p:val>
                                            <p:strVal val="#ppt_w"/>
                                          </p:val>
                                        </p:tav>
                                      </p:tavLst>
                                    </p:anim>
                                    <p:anim calcmode="lin" valueType="num">
                                      <p:cBhvr additive="repl">
                                        <p:cTn id="1209" dur="500" fill="hold"/>
                                        <p:tgtEl>
                                          <p:spTgt spid="668"/>
                                        </p:tgtEl>
                                        <p:attrNameLst>
                                          <p:attrName>ppt_h</p:attrName>
                                        </p:attrNameLst>
                                      </p:cBhvr>
                                      <p:tavLst>
                                        <p:tav tm="0">
                                          <p:val>
                                            <p:strVal val="#ppt_h"/>
                                          </p:val>
                                        </p:tav>
                                        <p:tav tm="100000">
                                          <p:val>
                                            <p:strVal val="#ppt_h"/>
                                          </p:val>
                                        </p:tav>
                                      </p:tavLst>
                                    </p:anim>
                                  </p:childTnLst>
                                </p:cTn>
                              </p:par>
                            </p:childTnLst>
                          </p:cTn>
                        </p:par>
                      </p:childTnLst>
                    </p:cTn>
                  </p:par>
                  <p:par>
                    <p:cTn id="1210" nodeType="clickEffect" fill="hold">
                      <p:stCondLst>
                        <p:cond delay="indefinite"/>
                      </p:stCondLst>
                      <p:childTnLst>
                        <p:par>
                          <p:cTn id="1211" nodeType="withEffect" fill="hold">
                            <p:stCondLst>
                              <p:cond delay="0"/>
                            </p:stCondLst>
                            <p:childTnLst>
                              <p:par>
                                <p:cTn id="1212" nodeType="clickEffect" fill="hold" presetClass="entr" presetID="9">
                                  <p:stCondLst>
                                    <p:cond delay="0"/>
                                  </p:stCondLst>
                                  <p:iterate type="lt">
                                    <p:tmAbs val="75"/>
                                  </p:iterate>
                                  <p:childTnLst>
                                    <p:set>
                                      <p:cBhvr>
                                        <p:cTn id="1213" dur="1" fill="hold">
                                          <p:stCondLst>
                                            <p:cond delay="0"/>
                                          </p:stCondLst>
                                        </p:cTn>
                                        <p:tgtEl>
                                          <p:spTgt spid="651"/>
                                        </p:tgtEl>
                                        <p:attrNameLst>
                                          <p:attrName>style.visibility</p:attrName>
                                        </p:attrNameLst>
                                      </p:cBhvr>
                                      <p:to>
                                        <p:strVal val="visible"/>
                                      </p:to>
                                    </p:set>
                                    <p:animEffect filter="dissolve" transition="in">
                                      <p:cBhvr additive="repl">
                                        <p:cTn id="1214" dur="75"/>
                                        <p:tgtEl>
                                          <p:spTgt spid="651"/>
                                        </p:tgtEl>
                                      </p:cBhvr>
                                    </p:animEffect>
                                  </p:childTnLst>
                                </p:cTn>
                              </p:par>
                            </p:childTnLst>
                          </p:cTn>
                        </p:par>
                        <p:par>
                          <p:cTn id="1215" nodeType="afterEffect" fill="hold">
                            <p:stCondLst>
                              <p:cond delay="150"/>
                            </p:stCondLst>
                            <p:childTnLst>
                              <p:par>
                                <p:cTn id="1216" nodeType="afterEffect" fill="hold" presetClass="entr" presetID="9">
                                  <p:stCondLst>
                                    <p:cond delay="1000"/>
                                  </p:stCondLst>
                                  <p:iterate type="lt">
                                    <p:tmAbs val="75"/>
                                  </p:iterate>
                                  <p:childTnLst>
                                    <p:set>
                                      <p:cBhvr>
                                        <p:cTn id="1217" dur="1" fill="hold">
                                          <p:stCondLst>
                                            <p:cond delay="0"/>
                                          </p:stCondLst>
                                        </p:cTn>
                                        <p:tgtEl>
                                          <p:spTgt spid="626"/>
                                        </p:tgtEl>
                                        <p:attrNameLst>
                                          <p:attrName>style.visibility</p:attrName>
                                        </p:attrNameLst>
                                      </p:cBhvr>
                                      <p:to>
                                        <p:strVal val="visible"/>
                                      </p:to>
                                    </p:set>
                                    <p:animEffect filter="dissolve" transition="in">
                                      <p:cBhvr additive="repl">
                                        <p:cTn id="1218" dur="75"/>
                                        <p:tgtEl>
                                          <p:spTgt spid="626"/>
                                        </p:tgtEl>
                                      </p:cBhvr>
                                    </p:animEffect>
                                  </p:childTnLst>
                                </p:cTn>
                              </p:par>
                            </p:childTnLst>
                          </p:cTn>
                        </p:par>
                      </p:childTnLst>
                    </p:cTn>
                  </p:par>
                  <p:par>
                    <p:cTn id="1219" nodeType="clickEffect" fill="hold">
                      <p:stCondLst>
                        <p:cond delay="indefinite"/>
                      </p:stCondLst>
                      <p:childTnLst>
                        <p:par>
                          <p:cTn id="1220" nodeType="withEffect" fill="hold">
                            <p:stCondLst>
                              <p:cond delay="0"/>
                            </p:stCondLst>
                            <p:childTnLst>
                              <p:par>
                                <p:cTn id="1221" nodeType="clickEffect" fill="hold" presetClass="entr" presetID="9">
                                  <p:stCondLst>
                                    <p:cond delay="0"/>
                                  </p:stCondLst>
                                  <p:iterate type="lt">
                                    <p:tmAbs val="75"/>
                                  </p:iterate>
                                  <p:childTnLst>
                                    <p:set>
                                      <p:cBhvr>
                                        <p:cTn id="1222" dur="1" fill="hold">
                                          <p:stCondLst>
                                            <p:cond delay="0"/>
                                          </p:stCondLst>
                                        </p:cTn>
                                        <p:tgtEl>
                                          <p:spTgt spid="655"/>
                                        </p:tgtEl>
                                        <p:attrNameLst>
                                          <p:attrName>style.visibility</p:attrName>
                                        </p:attrNameLst>
                                      </p:cBhvr>
                                      <p:to>
                                        <p:strVal val="visible"/>
                                      </p:to>
                                    </p:set>
                                    <p:animEffect filter="dissolve" transition="in">
                                      <p:cBhvr additive="repl">
                                        <p:cTn id="1223" dur="75"/>
                                        <p:tgtEl>
                                          <p:spTgt spid="655"/>
                                        </p:tgtEl>
                                      </p:cBhvr>
                                    </p:animEffect>
                                  </p:childTnLst>
                                </p:cTn>
                              </p:par>
                            </p:childTnLst>
                          </p:cTn>
                        </p:par>
                        <p:par>
                          <p:cTn id="1224" nodeType="afterEffect" fill="hold">
                            <p:stCondLst>
                              <p:cond delay="75"/>
                            </p:stCondLst>
                            <p:childTnLst>
                              <p:par>
                                <p:cTn id="1225" nodeType="afterEffect" fill="hold" presetClass="entr" presetID="9">
                                  <p:stCondLst>
                                    <p:cond delay="1000"/>
                                  </p:stCondLst>
                                  <p:iterate type="lt">
                                    <p:tmAbs val="75"/>
                                  </p:iterate>
                                  <p:childTnLst>
                                    <p:set>
                                      <p:cBhvr>
                                        <p:cTn id="1226" dur="1" fill="hold">
                                          <p:stCondLst>
                                            <p:cond delay="0"/>
                                          </p:stCondLst>
                                        </p:cTn>
                                        <p:tgtEl>
                                          <p:spTgt spid="639"/>
                                        </p:tgtEl>
                                        <p:attrNameLst>
                                          <p:attrName>style.visibility</p:attrName>
                                        </p:attrNameLst>
                                      </p:cBhvr>
                                      <p:to>
                                        <p:strVal val="visible"/>
                                      </p:to>
                                    </p:set>
                                    <p:animEffect filter="dissolve" transition="in">
                                      <p:cBhvr additive="repl">
                                        <p:cTn id="1227" dur="75"/>
                                        <p:tgtEl>
                                          <p:spTgt spid="639"/>
                                        </p:tgtEl>
                                      </p:cBhvr>
                                    </p:animEffect>
                                  </p:childTnLst>
                                </p:cTn>
                              </p:par>
                            </p:childTnLst>
                          </p:cTn>
                        </p:par>
                        <p:par>
                          <p:cTn id="1228" nodeType="afterEffect" fill="hold">
                            <p:stCondLst>
                              <p:cond delay="1300"/>
                            </p:stCondLst>
                            <p:childTnLst>
                              <p:par>
                                <p:cTn id="1229" nodeType="afterEffect" fill="hold" presetClass="entr" presetID="9">
                                  <p:stCondLst>
                                    <p:cond delay="1000"/>
                                  </p:stCondLst>
                                  <p:iterate type="lt">
                                    <p:tmAbs val="75"/>
                                  </p:iterate>
                                  <p:childTnLst>
                                    <p:set>
                                      <p:cBhvr>
                                        <p:cTn id="1230" dur="1" fill="hold">
                                          <p:stCondLst>
                                            <p:cond delay="0"/>
                                          </p:stCondLst>
                                        </p:cTn>
                                        <p:tgtEl>
                                          <p:spTgt spid="627"/>
                                        </p:tgtEl>
                                        <p:attrNameLst>
                                          <p:attrName>style.visibility</p:attrName>
                                        </p:attrNameLst>
                                      </p:cBhvr>
                                      <p:to>
                                        <p:strVal val="visible"/>
                                      </p:to>
                                    </p:set>
                                    <p:animEffect filter="dissolve" transition="in">
                                      <p:cBhvr additive="repl">
                                        <p:cTn id="1231" dur="75"/>
                                        <p:tgtEl>
                                          <p:spTgt spid="627"/>
                                        </p:tgtEl>
                                      </p:cBhvr>
                                    </p:animEffect>
                                  </p:childTnLst>
                                </p:cTn>
                              </p:par>
                            </p:childTnLst>
                          </p:cTn>
                        </p:par>
                      </p:childTnLst>
                    </p:cTn>
                  </p:par>
                  <p:par>
                    <p:cTn id="1232" nodeType="clickEffect" fill="hold">
                      <p:stCondLst>
                        <p:cond delay="indefinite"/>
                      </p:stCondLst>
                      <p:childTnLst>
                        <p:par>
                          <p:cTn id="1233" nodeType="withEffect" fill="hold">
                            <p:stCondLst>
                              <p:cond delay="0"/>
                            </p:stCondLst>
                            <p:childTnLst>
                              <p:par>
                                <p:cTn id="1234" nodeType="clickEffect" fill="hold" presetClass="entr" presetID="9">
                                  <p:stCondLst>
                                    <p:cond delay="0"/>
                                  </p:stCondLst>
                                  <p:iterate type="lt">
                                    <p:tmAbs val="75"/>
                                  </p:iterate>
                                  <p:childTnLst>
                                    <p:set>
                                      <p:cBhvr>
                                        <p:cTn id="1235" dur="1" fill="hold">
                                          <p:stCondLst>
                                            <p:cond delay="0"/>
                                          </p:stCondLst>
                                        </p:cTn>
                                        <p:tgtEl>
                                          <p:spTgt spid="653"/>
                                        </p:tgtEl>
                                        <p:attrNameLst>
                                          <p:attrName>style.visibility</p:attrName>
                                        </p:attrNameLst>
                                      </p:cBhvr>
                                      <p:to>
                                        <p:strVal val="visible"/>
                                      </p:to>
                                    </p:set>
                                    <p:animEffect filter="dissolve" transition="in">
                                      <p:cBhvr additive="repl">
                                        <p:cTn id="1236" dur="75"/>
                                        <p:tgtEl>
                                          <p:spTgt spid="653"/>
                                        </p:tgtEl>
                                      </p:cBhvr>
                                    </p:animEffect>
                                  </p:childTnLst>
                                </p:cTn>
                              </p:par>
                            </p:childTnLst>
                          </p:cTn>
                        </p:par>
                        <p:par>
                          <p:cTn id="1237" nodeType="afterEffect" fill="hold">
                            <p:stCondLst>
                              <p:cond delay="75"/>
                            </p:stCondLst>
                            <p:childTnLst>
                              <p:par>
                                <p:cTn id="1238" nodeType="afterEffect" fill="hold" presetClass="entr" presetID="9">
                                  <p:stCondLst>
                                    <p:cond delay="1000"/>
                                  </p:stCondLst>
                                  <p:iterate type="lt">
                                    <p:tmAbs val="75"/>
                                  </p:iterate>
                                  <p:childTnLst>
                                    <p:set>
                                      <p:cBhvr>
                                        <p:cTn id="1239" dur="1" fill="hold">
                                          <p:stCondLst>
                                            <p:cond delay="0"/>
                                          </p:stCondLst>
                                        </p:cTn>
                                        <p:tgtEl>
                                          <p:spTgt spid="645"/>
                                        </p:tgtEl>
                                        <p:attrNameLst>
                                          <p:attrName>style.visibility</p:attrName>
                                        </p:attrNameLst>
                                      </p:cBhvr>
                                      <p:to>
                                        <p:strVal val="visible"/>
                                      </p:to>
                                    </p:set>
                                    <p:animEffect filter="dissolve" transition="in">
                                      <p:cBhvr additive="repl">
                                        <p:cTn id="1240" dur="75"/>
                                        <p:tgtEl>
                                          <p:spTgt spid="645"/>
                                        </p:tgtEl>
                                      </p:cBhvr>
                                    </p:animEffect>
                                  </p:childTnLst>
                                </p:cTn>
                              </p:par>
                            </p:childTnLst>
                          </p:cTn>
                        </p:par>
                        <p:par>
                          <p:cTn id="1241" nodeType="afterEffect" fill="hold">
                            <p:stCondLst>
                              <p:cond delay="1225"/>
                            </p:stCondLst>
                            <p:childTnLst>
                              <p:par>
                                <p:cTn id="1242" nodeType="afterEffect" fill="hold" presetClass="entr" presetID="9">
                                  <p:stCondLst>
                                    <p:cond delay="1000"/>
                                  </p:stCondLst>
                                  <p:iterate type="lt">
                                    <p:tmAbs val="75"/>
                                  </p:iterate>
                                  <p:childTnLst>
                                    <p:set>
                                      <p:cBhvr>
                                        <p:cTn id="1243" dur="1" fill="hold">
                                          <p:stCondLst>
                                            <p:cond delay="0"/>
                                          </p:stCondLst>
                                        </p:cTn>
                                        <p:tgtEl>
                                          <p:spTgt spid="646"/>
                                        </p:tgtEl>
                                        <p:attrNameLst>
                                          <p:attrName>style.visibility</p:attrName>
                                        </p:attrNameLst>
                                      </p:cBhvr>
                                      <p:to>
                                        <p:strVal val="visible"/>
                                      </p:to>
                                    </p:set>
                                    <p:animEffect filter="dissolve" transition="in">
                                      <p:cBhvr additive="repl">
                                        <p:cTn id="1244" dur="75"/>
                                        <p:tgtEl>
                                          <p:spTgt spid="646"/>
                                        </p:tgtEl>
                                      </p:cBhvr>
                                    </p:animEffect>
                                  </p:childTnLst>
                                </p:cTn>
                              </p:par>
                            </p:childTnLst>
                          </p:cTn>
                        </p:par>
                        <p:par>
                          <p:cTn id="1245" nodeType="afterEffect" fill="hold">
                            <p:stCondLst>
                              <p:cond delay="2375"/>
                            </p:stCondLst>
                            <p:childTnLst>
                              <p:par>
                                <p:cTn id="1246" nodeType="afterEffect" fill="hold" presetClass="entr" presetID="9">
                                  <p:stCondLst>
                                    <p:cond delay="1000"/>
                                  </p:stCondLst>
                                  <p:iterate type="lt">
                                    <p:tmAbs val="75"/>
                                  </p:iterate>
                                  <p:childTnLst>
                                    <p:set>
                                      <p:cBhvr>
                                        <p:cTn id="1247" dur="1" fill="hold">
                                          <p:stCondLst>
                                            <p:cond delay="0"/>
                                          </p:stCondLst>
                                        </p:cTn>
                                        <p:tgtEl>
                                          <p:spTgt spid="696"/>
                                        </p:tgtEl>
                                        <p:attrNameLst>
                                          <p:attrName>style.visibility</p:attrName>
                                        </p:attrNameLst>
                                      </p:cBhvr>
                                      <p:to>
                                        <p:strVal val="visible"/>
                                      </p:to>
                                    </p:set>
                                    <p:animEffect filter="dissolve" transition="in">
                                      <p:cBhvr additive="repl">
                                        <p:cTn id="1248" dur="75"/>
                                        <p:tgtEl>
                                          <p:spTgt spid="696"/>
                                        </p:tgtEl>
                                      </p:cBhvr>
                                    </p:animEffect>
                                  </p:childTnLst>
                                </p:cTn>
                              </p:par>
                            </p:childTnLst>
                          </p:cTn>
                        </p:par>
                        <p:par>
                          <p:cTn id="1249" nodeType="afterEffect" fill="hold">
                            <p:stCondLst>
                              <p:cond delay="3600"/>
                            </p:stCondLst>
                            <p:childTnLst>
                              <p:par>
                                <p:cTn id="1250" nodeType="afterEffect" fill="hold" presetClass="entr" presetID="17" presetSubtype="8">
                                  <p:stCondLst>
                                    <p:cond delay="0"/>
                                  </p:stCondLst>
                                  <p:childTnLst>
                                    <p:set>
                                      <p:cBhvr>
                                        <p:cTn id="1251" dur="1" fill="hold">
                                          <p:stCondLst>
                                            <p:cond delay="0"/>
                                          </p:stCondLst>
                                        </p:cTn>
                                        <p:tgtEl>
                                          <p:spTgt spid="697"/>
                                        </p:tgtEl>
                                        <p:attrNameLst>
                                          <p:attrName>style.visibility</p:attrName>
                                        </p:attrNameLst>
                                      </p:cBhvr>
                                      <p:to>
                                        <p:strVal val="visible"/>
                                      </p:to>
                                    </p:set>
                                    <p:anim calcmode="lin" valueType="num">
                                      <p:cBhvr additive="repl">
                                        <p:cTn id="1252" dur="500" fill="hold"/>
                                        <p:tgtEl>
                                          <p:spTgt spid="697"/>
                                        </p:tgtEl>
                                        <p:attrNameLst>
                                          <p:attrName>ppt_x</p:attrName>
                                        </p:attrNameLst>
                                      </p:cBhvr>
                                      <p:tavLst>
                                        <p:tav tm="0">
                                          <p:val>
                                            <p:strVal val="#ppt_x-#ppt_w/2"/>
                                          </p:val>
                                        </p:tav>
                                        <p:tav tm="100000">
                                          <p:val>
                                            <p:strVal val="#ppt_x"/>
                                          </p:val>
                                        </p:tav>
                                      </p:tavLst>
                                    </p:anim>
                                    <p:anim calcmode="lin" valueType="num">
                                      <p:cBhvr additive="repl">
                                        <p:cTn id="1253" dur="500" fill="hold"/>
                                        <p:tgtEl>
                                          <p:spTgt spid="697"/>
                                        </p:tgtEl>
                                        <p:attrNameLst>
                                          <p:attrName>ppt_y</p:attrName>
                                        </p:attrNameLst>
                                      </p:cBhvr>
                                      <p:tavLst>
                                        <p:tav tm="0">
                                          <p:val>
                                            <p:strVal val="#ppt_y"/>
                                          </p:val>
                                        </p:tav>
                                        <p:tav tm="100000">
                                          <p:val>
                                            <p:strVal val="#ppt_y"/>
                                          </p:val>
                                        </p:tav>
                                      </p:tavLst>
                                    </p:anim>
                                    <p:anim calcmode="lin" valueType="num">
                                      <p:cBhvr additive="repl">
                                        <p:cTn id="1254" dur="500" fill="hold"/>
                                        <p:tgtEl>
                                          <p:spTgt spid="697"/>
                                        </p:tgtEl>
                                        <p:attrNameLst>
                                          <p:attrName>ppt_w</p:attrName>
                                        </p:attrNameLst>
                                      </p:cBhvr>
                                      <p:tavLst>
                                        <p:tav tm="0">
                                          <p:val>
                                            <p:fltVal val="0"/>
                                          </p:val>
                                        </p:tav>
                                        <p:tav tm="100000">
                                          <p:val>
                                            <p:strVal val="#ppt_w"/>
                                          </p:val>
                                        </p:tav>
                                      </p:tavLst>
                                    </p:anim>
                                    <p:anim calcmode="lin" valueType="num">
                                      <p:cBhvr additive="repl">
                                        <p:cTn id="1255" dur="500" fill="hold"/>
                                        <p:tgtEl>
                                          <p:spTgt spid="697"/>
                                        </p:tgtEl>
                                        <p:attrNameLst>
                                          <p:attrName>ppt_h</p:attrName>
                                        </p:attrNameLst>
                                      </p:cBhvr>
                                      <p:tavLst>
                                        <p:tav tm="0">
                                          <p:val>
                                            <p:strVal val="#ppt_h"/>
                                          </p:val>
                                        </p:tav>
                                        <p:tav tm="100000">
                                          <p:val>
                                            <p:strVal val="#ppt_h"/>
                                          </p:val>
                                        </p:tav>
                                      </p:tavLst>
                                    </p:anim>
                                  </p:childTnLst>
                                </p:cTn>
                              </p:par>
                            </p:childTnLst>
                          </p:cTn>
                        </p:par>
                        <p:par>
                          <p:cTn id="1256" nodeType="afterEffect" fill="hold">
                            <p:stCondLst>
                              <p:cond delay="4100"/>
                            </p:stCondLst>
                            <p:childTnLst>
                              <p:par>
                                <p:cTn id="1257" nodeType="afterEffect" fill="hold" presetClass="entr" presetID="9">
                                  <p:stCondLst>
                                    <p:cond delay="1000"/>
                                  </p:stCondLst>
                                  <p:iterate type="lt">
                                    <p:tmAbs val="75"/>
                                  </p:iterate>
                                  <p:childTnLst>
                                    <p:set>
                                      <p:cBhvr>
                                        <p:cTn id="1258" dur="1" fill="hold">
                                          <p:stCondLst>
                                            <p:cond delay="0"/>
                                          </p:stCondLst>
                                        </p:cTn>
                                        <p:tgtEl>
                                          <p:spTgt spid="689"/>
                                        </p:tgtEl>
                                        <p:attrNameLst>
                                          <p:attrName>style.visibility</p:attrName>
                                        </p:attrNameLst>
                                      </p:cBhvr>
                                      <p:to>
                                        <p:strVal val="visible"/>
                                      </p:to>
                                    </p:set>
                                    <p:animEffect filter="dissolve" transition="in">
                                      <p:cBhvr additive="repl">
                                        <p:cTn id="1259" dur="75"/>
                                        <p:tgtEl>
                                          <p:spTgt spid="689"/>
                                        </p:tgtEl>
                                      </p:cBhvr>
                                    </p:animEffect>
                                  </p:childTnLst>
                                </p:cTn>
                              </p:par>
                            </p:childTnLst>
                          </p:cTn>
                        </p:par>
                        <p:par>
                          <p:cTn id="1260" nodeType="afterEffect" fill="hold">
                            <p:stCondLst>
                              <p:cond delay="5175"/>
                            </p:stCondLst>
                            <p:childTnLst>
                              <p:par>
                                <p:cTn id="1261" nodeType="afterEffect" fill="hold" presetClass="entr" presetID="17" presetSubtype="8">
                                  <p:stCondLst>
                                    <p:cond delay="0"/>
                                  </p:stCondLst>
                                  <p:childTnLst>
                                    <p:set>
                                      <p:cBhvr>
                                        <p:cTn id="1262" dur="1" fill="hold">
                                          <p:stCondLst>
                                            <p:cond delay="0"/>
                                          </p:stCondLst>
                                        </p:cTn>
                                        <p:tgtEl>
                                          <p:spTgt spid="671"/>
                                        </p:tgtEl>
                                        <p:attrNameLst>
                                          <p:attrName>style.visibility</p:attrName>
                                        </p:attrNameLst>
                                      </p:cBhvr>
                                      <p:to>
                                        <p:strVal val="visible"/>
                                      </p:to>
                                    </p:set>
                                    <p:anim calcmode="lin" valueType="num">
                                      <p:cBhvr additive="repl">
                                        <p:cTn id="1263" dur="500" fill="hold"/>
                                        <p:tgtEl>
                                          <p:spTgt spid="671"/>
                                        </p:tgtEl>
                                        <p:attrNameLst>
                                          <p:attrName>ppt_x</p:attrName>
                                        </p:attrNameLst>
                                      </p:cBhvr>
                                      <p:tavLst>
                                        <p:tav tm="0">
                                          <p:val>
                                            <p:strVal val="#ppt_x-#ppt_w/2"/>
                                          </p:val>
                                        </p:tav>
                                        <p:tav tm="100000">
                                          <p:val>
                                            <p:strVal val="#ppt_x"/>
                                          </p:val>
                                        </p:tav>
                                      </p:tavLst>
                                    </p:anim>
                                    <p:anim calcmode="lin" valueType="num">
                                      <p:cBhvr additive="repl">
                                        <p:cTn id="1264" dur="500" fill="hold"/>
                                        <p:tgtEl>
                                          <p:spTgt spid="671"/>
                                        </p:tgtEl>
                                        <p:attrNameLst>
                                          <p:attrName>ppt_y</p:attrName>
                                        </p:attrNameLst>
                                      </p:cBhvr>
                                      <p:tavLst>
                                        <p:tav tm="0">
                                          <p:val>
                                            <p:strVal val="#ppt_y"/>
                                          </p:val>
                                        </p:tav>
                                        <p:tav tm="100000">
                                          <p:val>
                                            <p:strVal val="#ppt_y"/>
                                          </p:val>
                                        </p:tav>
                                      </p:tavLst>
                                    </p:anim>
                                    <p:anim calcmode="lin" valueType="num">
                                      <p:cBhvr additive="repl">
                                        <p:cTn id="1265" dur="500" fill="hold"/>
                                        <p:tgtEl>
                                          <p:spTgt spid="671"/>
                                        </p:tgtEl>
                                        <p:attrNameLst>
                                          <p:attrName>ppt_w</p:attrName>
                                        </p:attrNameLst>
                                      </p:cBhvr>
                                      <p:tavLst>
                                        <p:tav tm="0">
                                          <p:val>
                                            <p:fltVal val="0"/>
                                          </p:val>
                                        </p:tav>
                                        <p:tav tm="100000">
                                          <p:val>
                                            <p:strVal val="#ppt_w"/>
                                          </p:val>
                                        </p:tav>
                                      </p:tavLst>
                                    </p:anim>
                                    <p:anim calcmode="lin" valueType="num">
                                      <p:cBhvr additive="repl">
                                        <p:cTn id="1266" dur="500" fill="hold"/>
                                        <p:tgtEl>
                                          <p:spTgt spid="671"/>
                                        </p:tgtEl>
                                        <p:attrNameLst>
                                          <p:attrName>ppt_h</p:attrName>
                                        </p:attrNameLst>
                                      </p:cBhvr>
                                      <p:tavLst>
                                        <p:tav tm="0">
                                          <p:val>
                                            <p:strVal val="#ppt_h"/>
                                          </p:val>
                                        </p:tav>
                                        <p:tav tm="100000">
                                          <p:val>
                                            <p:strVal val="#ppt_h"/>
                                          </p:val>
                                        </p:tav>
                                      </p:tavLst>
                                    </p:anim>
                                  </p:childTnLst>
                                </p:cTn>
                              </p:par>
                            </p:childTnLst>
                          </p:cTn>
                        </p:par>
                        <p:par>
                          <p:cTn id="1267" nodeType="afterEffect" fill="hold">
                            <p:stCondLst>
                              <p:cond delay="5675"/>
                            </p:stCondLst>
                            <p:childTnLst>
                              <p:par>
                                <p:cTn id="1268" nodeType="afterEffect" fill="hold" presetClass="entr" presetID="17" presetSubtype="8">
                                  <p:stCondLst>
                                    <p:cond delay="0"/>
                                  </p:stCondLst>
                                  <p:childTnLst>
                                    <p:set>
                                      <p:cBhvr>
                                        <p:cTn id="1269" dur="1" fill="hold">
                                          <p:stCondLst>
                                            <p:cond delay="0"/>
                                          </p:stCondLst>
                                        </p:cTn>
                                        <p:tgtEl>
                                          <p:spTgt spid="672"/>
                                        </p:tgtEl>
                                        <p:attrNameLst>
                                          <p:attrName>style.visibility</p:attrName>
                                        </p:attrNameLst>
                                      </p:cBhvr>
                                      <p:to>
                                        <p:strVal val="visible"/>
                                      </p:to>
                                    </p:set>
                                    <p:anim calcmode="lin" valueType="num">
                                      <p:cBhvr additive="repl">
                                        <p:cTn id="1270" dur="500" fill="hold"/>
                                        <p:tgtEl>
                                          <p:spTgt spid="672"/>
                                        </p:tgtEl>
                                        <p:attrNameLst>
                                          <p:attrName>ppt_x</p:attrName>
                                        </p:attrNameLst>
                                      </p:cBhvr>
                                      <p:tavLst>
                                        <p:tav tm="0">
                                          <p:val>
                                            <p:strVal val="#ppt_x-#ppt_w/2"/>
                                          </p:val>
                                        </p:tav>
                                        <p:tav tm="100000">
                                          <p:val>
                                            <p:strVal val="#ppt_x"/>
                                          </p:val>
                                        </p:tav>
                                      </p:tavLst>
                                    </p:anim>
                                    <p:anim calcmode="lin" valueType="num">
                                      <p:cBhvr additive="repl">
                                        <p:cTn id="1271" dur="500" fill="hold"/>
                                        <p:tgtEl>
                                          <p:spTgt spid="672"/>
                                        </p:tgtEl>
                                        <p:attrNameLst>
                                          <p:attrName>ppt_y</p:attrName>
                                        </p:attrNameLst>
                                      </p:cBhvr>
                                      <p:tavLst>
                                        <p:tav tm="0">
                                          <p:val>
                                            <p:strVal val="#ppt_y"/>
                                          </p:val>
                                        </p:tav>
                                        <p:tav tm="100000">
                                          <p:val>
                                            <p:strVal val="#ppt_y"/>
                                          </p:val>
                                        </p:tav>
                                      </p:tavLst>
                                    </p:anim>
                                    <p:anim calcmode="lin" valueType="num">
                                      <p:cBhvr additive="repl">
                                        <p:cTn id="1272" dur="500" fill="hold"/>
                                        <p:tgtEl>
                                          <p:spTgt spid="672"/>
                                        </p:tgtEl>
                                        <p:attrNameLst>
                                          <p:attrName>ppt_w</p:attrName>
                                        </p:attrNameLst>
                                      </p:cBhvr>
                                      <p:tavLst>
                                        <p:tav tm="0">
                                          <p:val>
                                            <p:fltVal val="0"/>
                                          </p:val>
                                        </p:tav>
                                        <p:tav tm="100000">
                                          <p:val>
                                            <p:strVal val="#ppt_w"/>
                                          </p:val>
                                        </p:tav>
                                      </p:tavLst>
                                    </p:anim>
                                    <p:anim calcmode="lin" valueType="num">
                                      <p:cBhvr additive="repl">
                                        <p:cTn id="1273" dur="500" fill="hold"/>
                                        <p:tgtEl>
                                          <p:spTgt spid="672"/>
                                        </p:tgtEl>
                                        <p:attrNameLst>
                                          <p:attrName>ppt_h</p:attrName>
                                        </p:attrNameLst>
                                      </p:cBhvr>
                                      <p:tavLst>
                                        <p:tav tm="0">
                                          <p:val>
                                            <p:strVal val="#ppt_h"/>
                                          </p:val>
                                        </p:tav>
                                        <p:tav tm="100000">
                                          <p:val>
                                            <p:strVal val="#ppt_h"/>
                                          </p:val>
                                        </p:tav>
                                      </p:tavLst>
                                    </p:anim>
                                  </p:childTnLst>
                                </p:cTn>
                              </p:par>
                            </p:childTnLst>
                          </p:cTn>
                        </p:par>
                      </p:childTnLst>
                    </p:cTn>
                  </p:par>
                  <p:par>
                    <p:cTn id="1274" nodeType="clickEffect" fill="hold">
                      <p:stCondLst>
                        <p:cond delay="indefinite"/>
                      </p:stCondLst>
                      <p:childTnLst>
                        <p:par>
                          <p:cTn id="1275" nodeType="withEffect" fill="hold">
                            <p:stCondLst>
                              <p:cond delay="0"/>
                            </p:stCondLst>
                            <p:childTnLst>
                              <p:par>
                                <p:cTn id="1276" nodeType="clickEffect" fill="hold" presetClass="entr" presetID="9">
                                  <p:stCondLst>
                                    <p:cond delay="0"/>
                                  </p:stCondLst>
                                  <p:iterate type="lt">
                                    <p:tmAbs val="75"/>
                                  </p:iterate>
                                  <p:childTnLst>
                                    <p:set>
                                      <p:cBhvr>
                                        <p:cTn id="1277" dur="1" fill="hold">
                                          <p:stCondLst>
                                            <p:cond delay="0"/>
                                          </p:stCondLst>
                                        </p:cTn>
                                        <p:tgtEl>
                                          <p:spTgt spid="656"/>
                                        </p:tgtEl>
                                        <p:attrNameLst>
                                          <p:attrName>style.visibility</p:attrName>
                                        </p:attrNameLst>
                                      </p:cBhvr>
                                      <p:to>
                                        <p:strVal val="visible"/>
                                      </p:to>
                                    </p:set>
                                    <p:animEffect filter="dissolve" transition="in">
                                      <p:cBhvr additive="repl">
                                        <p:cTn id="1278" dur="75"/>
                                        <p:tgtEl>
                                          <p:spTgt spid="656"/>
                                        </p:tgtEl>
                                      </p:cBhvr>
                                    </p:animEffect>
                                  </p:childTnLst>
                                </p:cTn>
                              </p:par>
                            </p:childTnLst>
                          </p:cTn>
                        </p:par>
                        <p:par>
                          <p:cTn id="1279" nodeType="afterEffect" fill="hold">
                            <p:stCondLst>
                              <p:cond delay="75"/>
                            </p:stCondLst>
                            <p:childTnLst>
                              <p:par>
                                <p:cTn id="1280" nodeType="afterEffect" fill="hold" presetClass="entr" presetID="9">
                                  <p:stCondLst>
                                    <p:cond delay="1000"/>
                                  </p:stCondLst>
                                  <p:iterate type="lt">
                                    <p:tmAbs val="75"/>
                                  </p:iterate>
                                  <p:childTnLst>
                                    <p:set>
                                      <p:cBhvr>
                                        <p:cTn id="1281" dur="1" fill="hold">
                                          <p:stCondLst>
                                            <p:cond delay="0"/>
                                          </p:stCondLst>
                                        </p:cTn>
                                        <p:tgtEl>
                                          <p:spTgt spid="647"/>
                                        </p:tgtEl>
                                        <p:attrNameLst>
                                          <p:attrName>style.visibility</p:attrName>
                                        </p:attrNameLst>
                                      </p:cBhvr>
                                      <p:to>
                                        <p:strVal val="visible"/>
                                      </p:to>
                                    </p:set>
                                    <p:animEffect filter="dissolve" transition="in">
                                      <p:cBhvr additive="repl">
                                        <p:cTn id="1282" dur="75"/>
                                        <p:tgtEl>
                                          <p:spTgt spid="647"/>
                                        </p:tgtEl>
                                      </p:cBhvr>
                                    </p:animEffect>
                                  </p:childTnLst>
                                </p:cTn>
                              </p:par>
                            </p:childTnLst>
                          </p:cTn>
                        </p:par>
                        <p:par>
                          <p:cTn id="1283" nodeType="afterEffect" fill="hold">
                            <p:stCondLst>
                              <p:cond delay="1225"/>
                            </p:stCondLst>
                            <p:childTnLst>
                              <p:par>
                                <p:cTn id="1284" nodeType="afterEffect" fill="hold" presetClass="entr" presetID="9">
                                  <p:stCondLst>
                                    <p:cond delay="1000"/>
                                  </p:stCondLst>
                                  <p:iterate type="lt">
                                    <p:tmAbs val="75"/>
                                  </p:iterate>
                                  <p:childTnLst>
                                    <p:set>
                                      <p:cBhvr>
                                        <p:cTn id="1285" dur="1" fill="hold">
                                          <p:stCondLst>
                                            <p:cond delay="0"/>
                                          </p:stCondLst>
                                        </p:cTn>
                                        <p:tgtEl>
                                          <p:spTgt spid="625"/>
                                        </p:tgtEl>
                                        <p:attrNameLst>
                                          <p:attrName>style.visibility</p:attrName>
                                        </p:attrNameLst>
                                      </p:cBhvr>
                                      <p:to>
                                        <p:strVal val="visible"/>
                                      </p:to>
                                    </p:set>
                                    <p:animEffect filter="dissolve" transition="in">
                                      <p:cBhvr additive="repl">
                                        <p:cTn id="1286" dur="75"/>
                                        <p:tgtEl>
                                          <p:spTgt spid="625"/>
                                        </p:tgtEl>
                                      </p:cBhvr>
                                    </p:animEffect>
                                  </p:childTnLst>
                                </p:cTn>
                              </p:par>
                            </p:childTnLst>
                          </p:cTn>
                        </p:par>
                        <p:par>
                          <p:cTn id="1287" nodeType="afterEffect" fill="hold">
                            <p:stCondLst>
                              <p:cond delay="2525"/>
                            </p:stCondLst>
                            <p:childTnLst>
                              <p:par>
                                <p:cTn id="1288" nodeType="afterEffect" fill="hold" presetClass="entr" presetID="17" presetSubtype="8">
                                  <p:stCondLst>
                                    <p:cond delay="1000"/>
                                  </p:stCondLst>
                                  <p:childTnLst>
                                    <p:set>
                                      <p:cBhvr>
                                        <p:cTn id="1289" dur="1" fill="hold">
                                          <p:stCondLst>
                                            <p:cond delay="0"/>
                                          </p:stCondLst>
                                        </p:cTn>
                                        <p:tgtEl>
                                          <p:spTgt spid="677"/>
                                        </p:tgtEl>
                                        <p:attrNameLst>
                                          <p:attrName>style.visibility</p:attrName>
                                        </p:attrNameLst>
                                      </p:cBhvr>
                                      <p:to>
                                        <p:strVal val="visible"/>
                                      </p:to>
                                    </p:set>
                                    <p:anim calcmode="lin" valueType="num">
                                      <p:cBhvr additive="repl">
                                        <p:cTn id="1290" dur="500" fill="hold"/>
                                        <p:tgtEl>
                                          <p:spTgt spid="677"/>
                                        </p:tgtEl>
                                        <p:attrNameLst>
                                          <p:attrName>ppt_x</p:attrName>
                                        </p:attrNameLst>
                                      </p:cBhvr>
                                      <p:tavLst>
                                        <p:tav tm="0">
                                          <p:val>
                                            <p:strVal val="#ppt_x-#ppt_w/2"/>
                                          </p:val>
                                        </p:tav>
                                        <p:tav tm="100000">
                                          <p:val>
                                            <p:strVal val="#ppt_x"/>
                                          </p:val>
                                        </p:tav>
                                      </p:tavLst>
                                    </p:anim>
                                    <p:anim calcmode="lin" valueType="num">
                                      <p:cBhvr additive="repl">
                                        <p:cTn id="1291" dur="500" fill="hold"/>
                                        <p:tgtEl>
                                          <p:spTgt spid="677"/>
                                        </p:tgtEl>
                                        <p:attrNameLst>
                                          <p:attrName>ppt_y</p:attrName>
                                        </p:attrNameLst>
                                      </p:cBhvr>
                                      <p:tavLst>
                                        <p:tav tm="0">
                                          <p:val>
                                            <p:strVal val="#ppt_y"/>
                                          </p:val>
                                        </p:tav>
                                        <p:tav tm="100000">
                                          <p:val>
                                            <p:strVal val="#ppt_y"/>
                                          </p:val>
                                        </p:tav>
                                      </p:tavLst>
                                    </p:anim>
                                    <p:anim calcmode="lin" valueType="num">
                                      <p:cBhvr additive="repl">
                                        <p:cTn id="1292" dur="500" fill="hold"/>
                                        <p:tgtEl>
                                          <p:spTgt spid="677"/>
                                        </p:tgtEl>
                                        <p:attrNameLst>
                                          <p:attrName>ppt_w</p:attrName>
                                        </p:attrNameLst>
                                      </p:cBhvr>
                                      <p:tavLst>
                                        <p:tav tm="0">
                                          <p:val>
                                            <p:fltVal val="0"/>
                                          </p:val>
                                        </p:tav>
                                        <p:tav tm="100000">
                                          <p:val>
                                            <p:strVal val="#ppt_w"/>
                                          </p:val>
                                        </p:tav>
                                      </p:tavLst>
                                    </p:anim>
                                    <p:anim calcmode="lin" valueType="num">
                                      <p:cBhvr additive="repl">
                                        <p:cTn id="1293" dur="500" fill="hold"/>
                                        <p:tgtEl>
                                          <p:spTgt spid="677"/>
                                        </p:tgtEl>
                                        <p:attrNameLst>
                                          <p:attrName>ppt_h</p:attrName>
                                        </p:attrNameLst>
                                      </p:cBhvr>
                                      <p:tavLst>
                                        <p:tav tm="0">
                                          <p:val>
                                            <p:strVal val="#ppt_h"/>
                                          </p:val>
                                        </p:tav>
                                        <p:tav tm="100000">
                                          <p:val>
                                            <p:strVal val="#ppt_h"/>
                                          </p:val>
                                        </p:tav>
                                      </p:tavLst>
                                    </p:anim>
                                  </p:childTnLst>
                                </p:cTn>
                              </p:par>
                            </p:childTnLst>
                          </p:cTn>
                        </p:par>
                        <p:par>
                          <p:cTn id="1294" nodeType="afterEffect" fill="hold">
                            <p:stCondLst>
                              <p:cond delay="4025"/>
                            </p:stCondLst>
                            <p:childTnLst>
                              <p:par>
                                <p:cTn id="1295" nodeType="afterEffect" fill="hold" presetClass="entr" presetID="17" presetSubtype="8">
                                  <p:stCondLst>
                                    <p:cond delay="0"/>
                                  </p:stCondLst>
                                  <p:childTnLst>
                                    <p:set>
                                      <p:cBhvr>
                                        <p:cTn id="1296" dur="1" fill="hold">
                                          <p:stCondLst>
                                            <p:cond delay="0"/>
                                          </p:stCondLst>
                                        </p:cTn>
                                        <p:tgtEl>
                                          <p:spTgt spid="678"/>
                                        </p:tgtEl>
                                        <p:attrNameLst>
                                          <p:attrName>style.visibility</p:attrName>
                                        </p:attrNameLst>
                                      </p:cBhvr>
                                      <p:to>
                                        <p:strVal val="visible"/>
                                      </p:to>
                                    </p:set>
                                    <p:anim calcmode="lin" valueType="num">
                                      <p:cBhvr additive="repl">
                                        <p:cTn id="1297" dur="500" fill="hold"/>
                                        <p:tgtEl>
                                          <p:spTgt spid="678"/>
                                        </p:tgtEl>
                                        <p:attrNameLst>
                                          <p:attrName>ppt_x</p:attrName>
                                        </p:attrNameLst>
                                      </p:cBhvr>
                                      <p:tavLst>
                                        <p:tav tm="0">
                                          <p:val>
                                            <p:strVal val="#ppt_x-#ppt_w/2"/>
                                          </p:val>
                                        </p:tav>
                                        <p:tav tm="100000">
                                          <p:val>
                                            <p:strVal val="#ppt_x"/>
                                          </p:val>
                                        </p:tav>
                                      </p:tavLst>
                                    </p:anim>
                                    <p:anim calcmode="lin" valueType="num">
                                      <p:cBhvr additive="repl">
                                        <p:cTn id="1298" dur="500" fill="hold"/>
                                        <p:tgtEl>
                                          <p:spTgt spid="678"/>
                                        </p:tgtEl>
                                        <p:attrNameLst>
                                          <p:attrName>ppt_y</p:attrName>
                                        </p:attrNameLst>
                                      </p:cBhvr>
                                      <p:tavLst>
                                        <p:tav tm="0">
                                          <p:val>
                                            <p:strVal val="#ppt_y"/>
                                          </p:val>
                                        </p:tav>
                                        <p:tav tm="100000">
                                          <p:val>
                                            <p:strVal val="#ppt_y"/>
                                          </p:val>
                                        </p:tav>
                                      </p:tavLst>
                                    </p:anim>
                                    <p:anim calcmode="lin" valueType="num">
                                      <p:cBhvr additive="repl">
                                        <p:cTn id="1299" dur="500" fill="hold"/>
                                        <p:tgtEl>
                                          <p:spTgt spid="678"/>
                                        </p:tgtEl>
                                        <p:attrNameLst>
                                          <p:attrName>ppt_w</p:attrName>
                                        </p:attrNameLst>
                                      </p:cBhvr>
                                      <p:tavLst>
                                        <p:tav tm="0">
                                          <p:val>
                                            <p:fltVal val="0"/>
                                          </p:val>
                                        </p:tav>
                                        <p:tav tm="100000">
                                          <p:val>
                                            <p:strVal val="#ppt_w"/>
                                          </p:val>
                                        </p:tav>
                                      </p:tavLst>
                                    </p:anim>
                                    <p:anim calcmode="lin" valueType="num">
                                      <p:cBhvr additive="repl">
                                        <p:cTn id="1300" dur="500" fill="hold"/>
                                        <p:tgtEl>
                                          <p:spTgt spid="678"/>
                                        </p:tgtEl>
                                        <p:attrNameLst>
                                          <p:attrName>ppt_h</p:attrName>
                                        </p:attrNameLst>
                                      </p:cBhvr>
                                      <p:tavLst>
                                        <p:tav tm="0">
                                          <p:val>
                                            <p:strVal val="#ppt_h"/>
                                          </p:val>
                                        </p:tav>
                                        <p:tav tm="100000">
                                          <p:val>
                                            <p:strVal val="#ppt_h"/>
                                          </p:val>
                                        </p:tav>
                                      </p:tavLst>
                                    </p:anim>
                                  </p:childTnLst>
                                </p:cTn>
                              </p:par>
                            </p:childTnLst>
                          </p:cTn>
                        </p:par>
                        <p:par>
                          <p:cTn id="1301" nodeType="afterEffect" fill="hold">
                            <p:stCondLst>
                              <p:cond delay="4525"/>
                            </p:stCondLst>
                            <p:childTnLst>
                              <p:par>
                                <p:cTn id="1302" nodeType="afterEffect" fill="hold" presetClass="entr" presetID="17" presetSubtype="8">
                                  <p:stCondLst>
                                    <p:cond delay="0"/>
                                  </p:stCondLst>
                                  <p:childTnLst>
                                    <p:set>
                                      <p:cBhvr>
                                        <p:cTn id="1303" dur="1" fill="hold">
                                          <p:stCondLst>
                                            <p:cond delay="0"/>
                                          </p:stCondLst>
                                        </p:cTn>
                                        <p:tgtEl>
                                          <p:spTgt spid="679"/>
                                        </p:tgtEl>
                                        <p:attrNameLst>
                                          <p:attrName>style.visibility</p:attrName>
                                        </p:attrNameLst>
                                      </p:cBhvr>
                                      <p:to>
                                        <p:strVal val="visible"/>
                                      </p:to>
                                    </p:set>
                                    <p:anim calcmode="lin" valueType="num">
                                      <p:cBhvr additive="repl">
                                        <p:cTn id="1304" dur="500" fill="hold"/>
                                        <p:tgtEl>
                                          <p:spTgt spid="679"/>
                                        </p:tgtEl>
                                        <p:attrNameLst>
                                          <p:attrName>ppt_x</p:attrName>
                                        </p:attrNameLst>
                                      </p:cBhvr>
                                      <p:tavLst>
                                        <p:tav tm="0">
                                          <p:val>
                                            <p:strVal val="#ppt_x-#ppt_w/2"/>
                                          </p:val>
                                        </p:tav>
                                        <p:tav tm="100000">
                                          <p:val>
                                            <p:strVal val="#ppt_x"/>
                                          </p:val>
                                        </p:tav>
                                      </p:tavLst>
                                    </p:anim>
                                    <p:anim calcmode="lin" valueType="num">
                                      <p:cBhvr additive="repl">
                                        <p:cTn id="1305" dur="500" fill="hold"/>
                                        <p:tgtEl>
                                          <p:spTgt spid="679"/>
                                        </p:tgtEl>
                                        <p:attrNameLst>
                                          <p:attrName>ppt_y</p:attrName>
                                        </p:attrNameLst>
                                      </p:cBhvr>
                                      <p:tavLst>
                                        <p:tav tm="0">
                                          <p:val>
                                            <p:strVal val="#ppt_y"/>
                                          </p:val>
                                        </p:tav>
                                        <p:tav tm="100000">
                                          <p:val>
                                            <p:strVal val="#ppt_y"/>
                                          </p:val>
                                        </p:tav>
                                      </p:tavLst>
                                    </p:anim>
                                    <p:anim calcmode="lin" valueType="num">
                                      <p:cBhvr additive="repl">
                                        <p:cTn id="1306" dur="500" fill="hold"/>
                                        <p:tgtEl>
                                          <p:spTgt spid="679"/>
                                        </p:tgtEl>
                                        <p:attrNameLst>
                                          <p:attrName>ppt_w</p:attrName>
                                        </p:attrNameLst>
                                      </p:cBhvr>
                                      <p:tavLst>
                                        <p:tav tm="0">
                                          <p:val>
                                            <p:fltVal val="0"/>
                                          </p:val>
                                        </p:tav>
                                        <p:tav tm="100000">
                                          <p:val>
                                            <p:strVal val="#ppt_w"/>
                                          </p:val>
                                        </p:tav>
                                      </p:tavLst>
                                    </p:anim>
                                    <p:anim calcmode="lin" valueType="num">
                                      <p:cBhvr additive="repl">
                                        <p:cTn id="1307" dur="500" fill="hold"/>
                                        <p:tgtEl>
                                          <p:spTgt spid="679"/>
                                        </p:tgtEl>
                                        <p:attrNameLst>
                                          <p:attrName>ppt_h</p:attrName>
                                        </p:attrNameLst>
                                      </p:cBhvr>
                                      <p:tavLst>
                                        <p:tav tm="0">
                                          <p:val>
                                            <p:strVal val="#ppt_h"/>
                                          </p:val>
                                        </p:tav>
                                        <p:tav tm="100000">
                                          <p:val>
                                            <p:strVal val="#ppt_h"/>
                                          </p:val>
                                        </p:tav>
                                      </p:tavLst>
                                    </p:anim>
                                  </p:childTnLst>
                                </p:cTn>
                              </p:par>
                            </p:childTnLst>
                          </p:cTn>
                        </p:par>
                        <p:par>
                          <p:cTn id="1308" nodeType="afterEffect" fill="hold">
                            <p:stCondLst>
                              <p:cond delay="5025"/>
                            </p:stCondLst>
                            <p:childTnLst>
                              <p:par>
                                <p:cTn id="1309" nodeType="afterEffect" fill="hold" presetClass="entr" presetID="17" presetSubtype="8">
                                  <p:stCondLst>
                                    <p:cond delay="1000"/>
                                  </p:stCondLst>
                                  <p:childTnLst>
                                    <p:set>
                                      <p:cBhvr>
                                        <p:cTn id="1310" dur="1" fill="hold">
                                          <p:stCondLst>
                                            <p:cond delay="0"/>
                                          </p:stCondLst>
                                        </p:cTn>
                                        <p:tgtEl>
                                          <p:spTgt spid="674"/>
                                        </p:tgtEl>
                                        <p:attrNameLst>
                                          <p:attrName>style.visibility</p:attrName>
                                        </p:attrNameLst>
                                      </p:cBhvr>
                                      <p:to>
                                        <p:strVal val="visible"/>
                                      </p:to>
                                    </p:set>
                                    <p:anim calcmode="lin" valueType="num">
                                      <p:cBhvr additive="repl">
                                        <p:cTn id="1311" dur="500" fill="hold"/>
                                        <p:tgtEl>
                                          <p:spTgt spid="674"/>
                                        </p:tgtEl>
                                        <p:attrNameLst>
                                          <p:attrName>ppt_x</p:attrName>
                                        </p:attrNameLst>
                                      </p:cBhvr>
                                      <p:tavLst>
                                        <p:tav tm="0">
                                          <p:val>
                                            <p:strVal val="#ppt_x-#ppt_w/2"/>
                                          </p:val>
                                        </p:tav>
                                        <p:tav tm="100000">
                                          <p:val>
                                            <p:strVal val="#ppt_x"/>
                                          </p:val>
                                        </p:tav>
                                      </p:tavLst>
                                    </p:anim>
                                    <p:anim calcmode="lin" valueType="num">
                                      <p:cBhvr additive="repl">
                                        <p:cTn id="1312" dur="500" fill="hold"/>
                                        <p:tgtEl>
                                          <p:spTgt spid="674"/>
                                        </p:tgtEl>
                                        <p:attrNameLst>
                                          <p:attrName>ppt_y</p:attrName>
                                        </p:attrNameLst>
                                      </p:cBhvr>
                                      <p:tavLst>
                                        <p:tav tm="0">
                                          <p:val>
                                            <p:strVal val="#ppt_y"/>
                                          </p:val>
                                        </p:tav>
                                        <p:tav tm="100000">
                                          <p:val>
                                            <p:strVal val="#ppt_y"/>
                                          </p:val>
                                        </p:tav>
                                      </p:tavLst>
                                    </p:anim>
                                    <p:anim calcmode="lin" valueType="num">
                                      <p:cBhvr additive="repl">
                                        <p:cTn id="1313" dur="500" fill="hold"/>
                                        <p:tgtEl>
                                          <p:spTgt spid="674"/>
                                        </p:tgtEl>
                                        <p:attrNameLst>
                                          <p:attrName>ppt_w</p:attrName>
                                        </p:attrNameLst>
                                      </p:cBhvr>
                                      <p:tavLst>
                                        <p:tav tm="0">
                                          <p:val>
                                            <p:fltVal val="0"/>
                                          </p:val>
                                        </p:tav>
                                        <p:tav tm="100000">
                                          <p:val>
                                            <p:strVal val="#ppt_w"/>
                                          </p:val>
                                        </p:tav>
                                      </p:tavLst>
                                    </p:anim>
                                    <p:anim calcmode="lin" valueType="num">
                                      <p:cBhvr additive="repl">
                                        <p:cTn id="1314" dur="500" fill="hold"/>
                                        <p:tgtEl>
                                          <p:spTgt spid="674"/>
                                        </p:tgtEl>
                                        <p:attrNameLst>
                                          <p:attrName>ppt_h</p:attrName>
                                        </p:attrNameLst>
                                      </p:cBhvr>
                                      <p:tavLst>
                                        <p:tav tm="0">
                                          <p:val>
                                            <p:strVal val="#ppt_h"/>
                                          </p:val>
                                        </p:tav>
                                        <p:tav tm="100000">
                                          <p:val>
                                            <p:strVal val="#ppt_h"/>
                                          </p:val>
                                        </p:tav>
                                      </p:tavLst>
                                    </p:anim>
                                  </p:childTnLst>
                                </p:cTn>
                              </p:par>
                            </p:childTnLst>
                          </p:cTn>
                        </p:par>
                        <p:par>
                          <p:cTn id="1315" nodeType="afterEffect" fill="hold">
                            <p:stCondLst>
                              <p:cond delay="6525"/>
                            </p:stCondLst>
                            <p:childTnLst>
                              <p:par>
                                <p:cTn id="1316" nodeType="afterEffect" fill="hold" presetClass="entr" presetID="17" presetSubtype="8">
                                  <p:stCondLst>
                                    <p:cond delay="0"/>
                                  </p:stCondLst>
                                  <p:childTnLst>
                                    <p:set>
                                      <p:cBhvr>
                                        <p:cTn id="1317" dur="1" fill="hold">
                                          <p:stCondLst>
                                            <p:cond delay="0"/>
                                          </p:stCondLst>
                                        </p:cTn>
                                        <p:tgtEl>
                                          <p:spTgt spid="675"/>
                                        </p:tgtEl>
                                        <p:attrNameLst>
                                          <p:attrName>style.visibility</p:attrName>
                                        </p:attrNameLst>
                                      </p:cBhvr>
                                      <p:to>
                                        <p:strVal val="visible"/>
                                      </p:to>
                                    </p:set>
                                    <p:anim calcmode="lin" valueType="num">
                                      <p:cBhvr additive="repl">
                                        <p:cTn id="1318" dur="500" fill="hold"/>
                                        <p:tgtEl>
                                          <p:spTgt spid="675"/>
                                        </p:tgtEl>
                                        <p:attrNameLst>
                                          <p:attrName>ppt_x</p:attrName>
                                        </p:attrNameLst>
                                      </p:cBhvr>
                                      <p:tavLst>
                                        <p:tav tm="0">
                                          <p:val>
                                            <p:strVal val="#ppt_x-#ppt_w/2"/>
                                          </p:val>
                                        </p:tav>
                                        <p:tav tm="100000">
                                          <p:val>
                                            <p:strVal val="#ppt_x"/>
                                          </p:val>
                                        </p:tav>
                                      </p:tavLst>
                                    </p:anim>
                                    <p:anim calcmode="lin" valueType="num">
                                      <p:cBhvr additive="repl">
                                        <p:cTn id="1319" dur="500" fill="hold"/>
                                        <p:tgtEl>
                                          <p:spTgt spid="675"/>
                                        </p:tgtEl>
                                        <p:attrNameLst>
                                          <p:attrName>ppt_y</p:attrName>
                                        </p:attrNameLst>
                                      </p:cBhvr>
                                      <p:tavLst>
                                        <p:tav tm="0">
                                          <p:val>
                                            <p:strVal val="#ppt_y"/>
                                          </p:val>
                                        </p:tav>
                                        <p:tav tm="100000">
                                          <p:val>
                                            <p:strVal val="#ppt_y"/>
                                          </p:val>
                                        </p:tav>
                                      </p:tavLst>
                                    </p:anim>
                                    <p:anim calcmode="lin" valueType="num">
                                      <p:cBhvr additive="repl">
                                        <p:cTn id="1320" dur="500" fill="hold"/>
                                        <p:tgtEl>
                                          <p:spTgt spid="675"/>
                                        </p:tgtEl>
                                        <p:attrNameLst>
                                          <p:attrName>ppt_w</p:attrName>
                                        </p:attrNameLst>
                                      </p:cBhvr>
                                      <p:tavLst>
                                        <p:tav tm="0">
                                          <p:val>
                                            <p:fltVal val="0"/>
                                          </p:val>
                                        </p:tav>
                                        <p:tav tm="100000">
                                          <p:val>
                                            <p:strVal val="#ppt_w"/>
                                          </p:val>
                                        </p:tav>
                                      </p:tavLst>
                                    </p:anim>
                                    <p:anim calcmode="lin" valueType="num">
                                      <p:cBhvr additive="repl">
                                        <p:cTn id="1321" dur="500" fill="hold"/>
                                        <p:tgtEl>
                                          <p:spTgt spid="675"/>
                                        </p:tgtEl>
                                        <p:attrNameLst>
                                          <p:attrName>ppt_h</p:attrName>
                                        </p:attrNameLst>
                                      </p:cBhvr>
                                      <p:tavLst>
                                        <p:tav tm="0">
                                          <p:val>
                                            <p:strVal val="#ppt_h"/>
                                          </p:val>
                                        </p:tav>
                                        <p:tav tm="100000">
                                          <p:val>
                                            <p:strVal val="#ppt_h"/>
                                          </p:val>
                                        </p:tav>
                                      </p:tavLst>
                                    </p:anim>
                                  </p:childTnLst>
                                </p:cTn>
                              </p:par>
                            </p:childTnLst>
                          </p:cTn>
                        </p:par>
                        <p:par>
                          <p:cTn id="1322" nodeType="afterEffect" fill="hold">
                            <p:stCondLst>
                              <p:cond delay="7025"/>
                            </p:stCondLst>
                            <p:childTnLst>
                              <p:par>
                                <p:cTn id="1323" nodeType="afterEffect" fill="hold" presetClass="entr" presetID="17" presetSubtype="8">
                                  <p:stCondLst>
                                    <p:cond delay="0"/>
                                  </p:stCondLst>
                                  <p:childTnLst>
                                    <p:set>
                                      <p:cBhvr>
                                        <p:cTn id="1324" dur="1" fill="hold">
                                          <p:stCondLst>
                                            <p:cond delay="0"/>
                                          </p:stCondLst>
                                        </p:cTn>
                                        <p:tgtEl>
                                          <p:spTgt spid="676"/>
                                        </p:tgtEl>
                                        <p:attrNameLst>
                                          <p:attrName>style.visibility</p:attrName>
                                        </p:attrNameLst>
                                      </p:cBhvr>
                                      <p:to>
                                        <p:strVal val="visible"/>
                                      </p:to>
                                    </p:set>
                                    <p:anim calcmode="lin" valueType="num">
                                      <p:cBhvr additive="repl">
                                        <p:cTn id="1325" dur="500" fill="hold"/>
                                        <p:tgtEl>
                                          <p:spTgt spid="676"/>
                                        </p:tgtEl>
                                        <p:attrNameLst>
                                          <p:attrName>ppt_x</p:attrName>
                                        </p:attrNameLst>
                                      </p:cBhvr>
                                      <p:tavLst>
                                        <p:tav tm="0">
                                          <p:val>
                                            <p:strVal val="#ppt_x-#ppt_w/2"/>
                                          </p:val>
                                        </p:tav>
                                        <p:tav tm="100000">
                                          <p:val>
                                            <p:strVal val="#ppt_x"/>
                                          </p:val>
                                        </p:tav>
                                      </p:tavLst>
                                    </p:anim>
                                    <p:anim calcmode="lin" valueType="num">
                                      <p:cBhvr additive="repl">
                                        <p:cTn id="1326" dur="500" fill="hold"/>
                                        <p:tgtEl>
                                          <p:spTgt spid="676"/>
                                        </p:tgtEl>
                                        <p:attrNameLst>
                                          <p:attrName>ppt_y</p:attrName>
                                        </p:attrNameLst>
                                      </p:cBhvr>
                                      <p:tavLst>
                                        <p:tav tm="0">
                                          <p:val>
                                            <p:strVal val="#ppt_y"/>
                                          </p:val>
                                        </p:tav>
                                        <p:tav tm="100000">
                                          <p:val>
                                            <p:strVal val="#ppt_y"/>
                                          </p:val>
                                        </p:tav>
                                      </p:tavLst>
                                    </p:anim>
                                    <p:anim calcmode="lin" valueType="num">
                                      <p:cBhvr additive="repl">
                                        <p:cTn id="1327" dur="500" fill="hold"/>
                                        <p:tgtEl>
                                          <p:spTgt spid="676"/>
                                        </p:tgtEl>
                                        <p:attrNameLst>
                                          <p:attrName>ppt_w</p:attrName>
                                        </p:attrNameLst>
                                      </p:cBhvr>
                                      <p:tavLst>
                                        <p:tav tm="0">
                                          <p:val>
                                            <p:fltVal val="0"/>
                                          </p:val>
                                        </p:tav>
                                        <p:tav tm="100000">
                                          <p:val>
                                            <p:strVal val="#ppt_w"/>
                                          </p:val>
                                        </p:tav>
                                      </p:tavLst>
                                    </p:anim>
                                    <p:anim calcmode="lin" valueType="num">
                                      <p:cBhvr additive="repl">
                                        <p:cTn id="1328" dur="500" fill="hold"/>
                                        <p:tgtEl>
                                          <p:spTgt spid="6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Text Box 2"/>
          <p:cNvSpPr/>
          <p:nvPr/>
        </p:nvSpPr>
        <p:spPr>
          <a:xfrm>
            <a:off x="952560" y="1676520"/>
            <a:ext cx="7657920" cy="3504960"/>
          </a:xfrm>
          <a:prstGeom prst="rect">
            <a:avLst/>
          </a:prstGeom>
          <a:noFill/>
          <a:ln w="0">
            <a:noFill/>
          </a:ln>
        </p:spPr>
        <p:style>
          <a:lnRef idx="0"/>
          <a:fillRef idx="0"/>
          <a:effectRef idx="0"/>
          <a:fontRef idx="minor"/>
        </p:style>
        <p:txBody>
          <a:bodyPr lIns="90000" rIns="90000" tIns="46800" bIns="46800" anchor="t">
            <a:normAutofit fontScale="92500" lnSpcReduction="19999"/>
          </a:bodyPr>
          <a:p>
            <a:pPr marL="457200" indent="-457200">
              <a:lnSpc>
                <a:spcPct val="140000"/>
              </a:lnSpc>
              <a:buClr>
                <a:srgbClr val="ffff00"/>
              </a:buClr>
              <a:buFont typeface="Bookman Old Style"/>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Déterminer avec le sportif les objectifs à long, moyen et court terme de façon à clairement savoir où aller et pouvoir déterminer les moyens pour les atteindre : </a:t>
            </a:r>
            <a:endParaRPr b="0" lang="en-US" sz="2400" strike="noStrike" u="none">
              <a:solidFill>
                <a:srgbClr val="ffff00"/>
              </a:solidFill>
              <a:effectLst/>
              <a:uFillTx/>
              <a:latin typeface="Times New Roman"/>
            </a:endParaRPr>
          </a:p>
          <a:p>
            <a:pPr marL="457200" indent="-457200">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457200" indent="-457200">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457200" indent="-457200">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Bookman Old Style"/>
              </a:rPr>
              <a:t>« Il n’est point de vent favorable à celui qui ne sait où il va… »</a:t>
            </a:r>
            <a:r>
              <a:rPr b="1" lang="fr-FR" sz="2400" strike="noStrike" u="none">
                <a:solidFill>
                  <a:srgbClr val="ffffff"/>
                </a:solidFill>
                <a:effectLst/>
                <a:uFillTx/>
                <a:latin typeface="Bookman Old Style"/>
              </a:rPr>
              <a:t>     </a:t>
            </a:r>
            <a:r>
              <a:rPr b="1" lang="fr-FR" sz="2400" strike="noStrike" u="none">
                <a:solidFill>
                  <a:srgbClr val="ffff00"/>
                </a:solidFill>
                <a:effectLst/>
                <a:uFillTx/>
                <a:latin typeface="Bookman Old Style"/>
              </a:rPr>
              <a:t>Sénèque.</a:t>
            </a:r>
            <a:endParaRPr b="0" lang="en-US" sz="2400" strike="noStrike" u="none">
              <a:solidFill>
                <a:srgbClr val="ffff00"/>
              </a:solidFill>
              <a:effectLst/>
              <a:uFillTx/>
              <a:latin typeface="Times New Roman"/>
            </a:endParaRPr>
          </a:p>
        </p:txBody>
      </p:sp>
      <p:sp>
        <p:nvSpPr>
          <p:cNvPr id="701" name="Text Box 3"/>
          <p:cNvSpPr/>
          <p:nvPr/>
        </p:nvSpPr>
        <p:spPr>
          <a:xfrm>
            <a:off x="1318320" y="352440"/>
            <a:ext cx="6423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PLANIFIER L’ENTRAÎNEMENT C’EST….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Text Box 2"/>
          <p:cNvSpPr/>
          <p:nvPr/>
        </p:nvSpPr>
        <p:spPr>
          <a:xfrm>
            <a:off x="-1595520" y="1989000"/>
            <a:ext cx="12559320" cy="162972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2 - Connaître les exigences du match et </a:t>
            </a:r>
            <a:endParaRPr b="0" lang="en-US" sz="36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identifier les capacités requises à développer…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Text Box 2"/>
          <p:cNvSpPr/>
          <p:nvPr/>
        </p:nvSpPr>
        <p:spPr>
          <a:xfrm>
            <a:off x="179280" y="960480"/>
            <a:ext cx="8801280" cy="2071800"/>
          </a:xfrm>
          <a:prstGeom prst="rect">
            <a:avLst/>
          </a:prstGeom>
          <a:noFill/>
          <a:ln w="0">
            <a:noFill/>
          </a:ln>
        </p:spPr>
        <p:style>
          <a:lnRef idx="0"/>
          <a:fillRef idx="0"/>
          <a:effectRef idx="0"/>
          <a:fontRef idx="minor"/>
        </p:style>
        <p:txBody>
          <a:bodyPr lIns="90000" rIns="90000" tIns="46800" bIns="46800" anchor="t">
            <a:normAutofit fontScale="77500" lnSpcReduction="19999"/>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3- Établir une planification à long terme sur laquelle se fonderont les </a:t>
            </a:r>
            <a:r>
              <a:rPr b="0" lang="fr-FR" sz="3200" strike="noStrike" u="none">
                <a:solidFill>
                  <a:srgbClr val="ffffff"/>
                </a:solidFill>
                <a:effectLst/>
                <a:uFillTx/>
                <a:latin typeface="Calibri"/>
                <a:ea typeface="Calibri"/>
              </a:rPr>
              <a:t>grandes orientations prioritaires, les programmes annuels, les périodes les mieux ajustées, voire même les contenus d’entraînement.</a:t>
            </a:r>
            <a:endParaRPr b="0" lang="en-US" sz="32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Line 4"/>
          <p:cNvSpPr/>
          <p:nvPr/>
        </p:nvSpPr>
        <p:spPr>
          <a:xfrm>
            <a:off x="1042920" y="836640"/>
            <a:ext cx="0" cy="540072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05" name="Line 5"/>
          <p:cNvSpPr/>
          <p:nvPr/>
        </p:nvSpPr>
        <p:spPr>
          <a:xfrm>
            <a:off x="1042920" y="6237360"/>
            <a:ext cx="7993080" cy="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06" name="Text Box 6"/>
          <p:cNvSpPr/>
          <p:nvPr/>
        </p:nvSpPr>
        <p:spPr>
          <a:xfrm>
            <a:off x="496800" y="738360"/>
            <a:ext cx="689040" cy="572508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6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5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4 –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3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2 –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1 –</a:t>
            </a:r>
            <a:endParaRPr b="0" lang="en-US" sz="2400" strike="noStrike" u="none">
              <a:solidFill>
                <a:srgbClr val="ffff00"/>
              </a:solidFill>
              <a:effectLst/>
              <a:uFillTx/>
              <a:latin typeface="Times New Roman"/>
            </a:endParaRPr>
          </a:p>
        </p:txBody>
      </p:sp>
      <p:sp>
        <p:nvSpPr>
          <p:cNvPr id="707" name="Rectangle 7"/>
          <p:cNvSpPr/>
          <p:nvPr/>
        </p:nvSpPr>
        <p:spPr>
          <a:xfrm>
            <a:off x="1620720" y="5157720"/>
            <a:ext cx="287280" cy="1079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08" name="Rectangle 8"/>
          <p:cNvSpPr/>
          <p:nvPr/>
        </p:nvSpPr>
        <p:spPr>
          <a:xfrm>
            <a:off x="1909800" y="4149720"/>
            <a:ext cx="287280" cy="2087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09" name="Rectangle 9"/>
          <p:cNvSpPr/>
          <p:nvPr/>
        </p:nvSpPr>
        <p:spPr>
          <a:xfrm>
            <a:off x="2197080" y="3141720"/>
            <a:ext cx="28728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0" name="Rectangle 10"/>
          <p:cNvSpPr/>
          <p:nvPr/>
        </p:nvSpPr>
        <p:spPr>
          <a:xfrm>
            <a:off x="2484360" y="2060640"/>
            <a:ext cx="287280" cy="417672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1" name="Rectangle 11"/>
          <p:cNvSpPr/>
          <p:nvPr/>
        </p:nvSpPr>
        <p:spPr>
          <a:xfrm>
            <a:off x="3349800" y="4149720"/>
            <a:ext cx="287280" cy="2087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2" name="Rectangle 12"/>
          <p:cNvSpPr/>
          <p:nvPr/>
        </p:nvSpPr>
        <p:spPr>
          <a:xfrm>
            <a:off x="3637080" y="3141720"/>
            <a:ext cx="28728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3" name="Rectangle 13"/>
          <p:cNvSpPr/>
          <p:nvPr/>
        </p:nvSpPr>
        <p:spPr>
          <a:xfrm>
            <a:off x="3925800" y="2060640"/>
            <a:ext cx="287280" cy="417672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4" name="Rectangle 14"/>
          <p:cNvSpPr/>
          <p:nvPr/>
        </p:nvSpPr>
        <p:spPr>
          <a:xfrm>
            <a:off x="4213080" y="1052640"/>
            <a:ext cx="287640" cy="518472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5" name="Rectangle 15"/>
          <p:cNvSpPr/>
          <p:nvPr/>
        </p:nvSpPr>
        <p:spPr>
          <a:xfrm>
            <a:off x="5078520" y="3141720"/>
            <a:ext cx="28728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6" name="Rectangle 16"/>
          <p:cNvSpPr/>
          <p:nvPr/>
        </p:nvSpPr>
        <p:spPr>
          <a:xfrm>
            <a:off x="5365800" y="1989000"/>
            <a:ext cx="287280" cy="424836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7" name="Rectangle 17"/>
          <p:cNvSpPr/>
          <p:nvPr/>
        </p:nvSpPr>
        <p:spPr>
          <a:xfrm>
            <a:off x="5653080" y="3141720"/>
            <a:ext cx="28728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8" name="Rectangle 18"/>
          <p:cNvSpPr/>
          <p:nvPr/>
        </p:nvSpPr>
        <p:spPr>
          <a:xfrm>
            <a:off x="5942160" y="1052640"/>
            <a:ext cx="287280" cy="518472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19" name="Rectangle 19"/>
          <p:cNvSpPr/>
          <p:nvPr/>
        </p:nvSpPr>
        <p:spPr>
          <a:xfrm>
            <a:off x="6805440" y="3141720"/>
            <a:ext cx="28764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20" name="Rectangle 20"/>
          <p:cNvSpPr/>
          <p:nvPr/>
        </p:nvSpPr>
        <p:spPr>
          <a:xfrm>
            <a:off x="7093080" y="1989000"/>
            <a:ext cx="287280" cy="424836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21" name="Rectangle 21"/>
          <p:cNvSpPr/>
          <p:nvPr/>
        </p:nvSpPr>
        <p:spPr>
          <a:xfrm>
            <a:off x="7380360" y="3141720"/>
            <a:ext cx="287280" cy="309564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22" name="Rectangle 22"/>
          <p:cNvSpPr/>
          <p:nvPr/>
        </p:nvSpPr>
        <p:spPr>
          <a:xfrm>
            <a:off x="7669080" y="1052640"/>
            <a:ext cx="287640" cy="5184720"/>
          </a:xfrm>
          <a:prstGeom prst="rect">
            <a:avLst/>
          </a:prstGeom>
          <a:gradFill rotWithShape="0">
            <a:gsLst>
              <a:gs pos="0">
                <a:srgbClr val="573457"/>
              </a:gs>
              <a:gs pos="50000">
                <a:srgbClr val="ff99ff"/>
              </a:gs>
              <a:gs pos="100000">
                <a:srgbClr val="573457"/>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23" name="Text Box 23"/>
          <p:cNvSpPr/>
          <p:nvPr/>
        </p:nvSpPr>
        <p:spPr>
          <a:xfrm>
            <a:off x="1582560" y="6284880"/>
            <a:ext cx="64490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Mega 1        Mega 2         Mega 3        Mega 4</a:t>
            </a:r>
            <a:endParaRPr b="0" lang="en-US" sz="2400" strike="noStrike" u="none">
              <a:solidFill>
                <a:srgbClr val="ffff00"/>
              </a:solidFill>
              <a:effectLst/>
              <a:uFillTx/>
              <a:latin typeface="Times New Roman"/>
            </a:endParaRPr>
          </a:p>
        </p:txBody>
      </p:sp>
      <p:sp>
        <p:nvSpPr>
          <p:cNvPr id="724" name="Text Box 24"/>
          <p:cNvSpPr/>
          <p:nvPr/>
        </p:nvSpPr>
        <p:spPr>
          <a:xfrm>
            <a:off x="1614960" y="831960"/>
            <a:ext cx="122724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ANNEES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1  2  3  4</a:t>
            </a:r>
            <a:endParaRPr b="0" lang="en-US" sz="2000" strike="noStrike" u="none">
              <a:solidFill>
                <a:srgbClr val="ffff00"/>
              </a:solidFill>
              <a:effectLst/>
              <a:uFillTx/>
              <a:latin typeface="Times New Roman"/>
            </a:endParaRPr>
          </a:p>
        </p:txBody>
      </p:sp>
      <p:sp>
        <p:nvSpPr>
          <p:cNvPr id="725" name="Text Box 25"/>
          <p:cNvSpPr/>
          <p:nvPr/>
        </p:nvSpPr>
        <p:spPr>
          <a:xfrm>
            <a:off x="252000" y="44280"/>
            <a:ext cx="1870560" cy="7340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INTENSITE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fff00"/>
                </a:solidFill>
                <a:effectLst/>
                <a:uFillTx/>
                <a:latin typeface="Arial"/>
              </a:rPr>
              <a:t>unités arbitraires</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Text Box 2"/>
          <p:cNvSpPr/>
          <p:nvPr/>
        </p:nvSpPr>
        <p:spPr>
          <a:xfrm>
            <a:off x="195120" y="1052640"/>
            <a:ext cx="8948880" cy="393336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4 -Mettre en place un système d’accompagnement médical, psychologique, social, matériel et de préparation mentale, intégré au processus d’entraînement.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Text Box 2"/>
          <p:cNvSpPr/>
          <p:nvPr/>
        </p:nvSpPr>
        <p:spPr>
          <a:xfrm>
            <a:off x="684360" y="1035000"/>
            <a:ext cx="8135640" cy="3796560"/>
          </a:xfrm>
          <a:prstGeom prst="rect">
            <a:avLst/>
          </a:prstGeom>
          <a:noFill/>
          <a:ln w="0">
            <a:noFill/>
          </a:ln>
        </p:spPr>
        <p:style>
          <a:lnRef idx="0"/>
          <a:fillRef idx="0"/>
          <a:effectRef idx="0"/>
          <a:fontRef idx="minor"/>
        </p:style>
        <p:txBody>
          <a:bodyPr lIns="90000" rIns="90000" tIns="46800" bIns="46800" anchor="t">
            <a:spAutoFit/>
          </a:bodyPr>
          <a:p>
            <a:pPr>
              <a:lnSpc>
                <a:spcPct val="13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5 -Choisir et/ou créer les mesures et les tests les mieux adaptés pour évaluer les capacités mises en évidence (analyse des exigences du match )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Text Box 2"/>
          <p:cNvSpPr/>
          <p:nvPr/>
        </p:nvSpPr>
        <p:spPr>
          <a:xfrm>
            <a:off x="0" y="1390680"/>
            <a:ext cx="4589640" cy="5581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Perturber le moins possible la performance</a:t>
            </a:r>
            <a:endParaRPr b="0" lang="en-US" sz="3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Respecter le confort du sportif</a:t>
            </a:r>
            <a:endParaRPr b="0" lang="en-US" sz="3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Donner en retour l ’analyse des résultats</a:t>
            </a:r>
            <a:endParaRPr b="0" lang="en-US" sz="3200" strike="noStrike" u="none">
              <a:solidFill>
                <a:srgbClr val="ffff00"/>
              </a:solidFill>
              <a:effectLst/>
              <a:uFillTx/>
              <a:latin typeface="Times New Roman"/>
            </a:endParaRPr>
          </a:p>
        </p:txBody>
      </p:sp>
      <p:sp>
        <p:nvSpPr>
          <p:cNvPr id="729" name="Line 4"/>
          <p:cNvSpPr/>
          <p:nvPr/>
        </p:nvSpPr>
        <p:spPr>
          <a:xfrm flipV="1">
            <a:off x="4257720" y="2708280"/>
            <a:ext cx="380880" cy="542880"/>
          </a:xfrm>
          <a:prstGeom prst="line">
            <a:avLst/>
          </a:prstGeom>
          <a:ln w="28440">
            <a:solidFill>
              <a:srgbClr val="ffff00"/>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30" name="Line 5"/>
          <p:cNvSpPr/>
          <p:nvPr/>
        </p:nvSpPr>
        <p:spPr>
          <a:xfrm>
            <a:off x="4281480" y="3319560"/>
            <a:ext cx="308160" cy="614160"/>
          </a:xfrm>
          <a:prstGeom prst="line">
            <a:avLst/>
          </a:prstGeom>
          <a:ln w="28440">
            <a:solidFill>
              <a:srgbClr val="ffff00"/>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31" name="Text Box 6"/>
          <p:cNvSpPr/>
          <p:nvPr/>
        </p:nvSpPr>
        <p:spPr>
          <a:xfrm>
            <a:off x="4119120" y="2349360"/>
            <a:ext cx="5241600" cy="2228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 Miniaturiser les capteurs-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émetteurs portables.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Valider des microtechniques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de prélèvement.</a:t>
            </a:r>
            <a:endParaRPr b="0" lang="en-US" sz="2800" strike="noStrike" u="none">
              <a:solidFill>
                <a:srgbClr val="ffff00"/>
              </a:solidFill>
              <a:effectLst/>
              <a:uFillTx/>
              <a:latin typeface="Times New Roman"/>
            </a:endParaRPr>
          </a:p>
        </p:txBody>
      </p:sp>
      <p:sp>
        <p:nvSpPr>
          <p:cNvPr id="732" name="Text Box 7"/>
          <p:cNvSpPr/>
          <p:nvPr/>
        </p:nvSpPr>
        <p:spPr>
          <a:xfrm>
            <a:off x="4352040" y="5442120"/>
            <a:ext cx="4523040" cy="947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Développer des logiciels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ff"/>
                </a:solidFill>
                <a:effectLst/>
                <a:uFillTx/>
                <a:latin typeface="Calibri"/>
                <a:ea typeface="Calibri"/>
              </a:rPr>
              <a:t> de traitement</a:t>
            </a:r>
            <a:endParaRPr b="0" lang="en-US" sz="2800" strike="noStrike" u="none">
              <a:solidFill>
                <a:srgbClr val="ffff00"/>
              </a:solidFill>
              <a:effectLst/>
              <a:uFillTx/>
              <a:latin typeface="Times New Roman"/>
            </a:endParaRPr>
          </a:p>
        </p:txBody>
      </p:sp>
      <p:sp>
        <p:nvSpPr>
          <p:cNvPr id="733" name="Line 8"/>
          <p:cNvSpPr/>
          <p:nvPr/>
        </p:nvSpPr>
        <p:spPr>
          <a:xfrm>
            <a:off x="3457440" y="5732640"/>
            <a:ext cx="838440" cy="0"/>
          </a:xfrm>
          <a:prstGeom prst="line">
            <a:avLst/>
          </a:prstGeom>
          <a:ln w="28440">
            <a:solidFill>
              <a:srgbClr val="ffff00"/>
            </a:solidFill>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34" name="Text Box 9"/>
          <p:cNvSpPr/>
          <p:nvPr/>
        </p:nvSpPr>
        <p:spPr>
          <a:xfrm>
            <a:off x="2686680" y="249120"/>
            <a:ext cx="3167640" cy="45972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LES CONDITIONS :</a:t>
            </a:r>
            <a:endParaRPr b="0" lang="en-US" sz="2400" strike="noStrike" u="none">
              <a:solidFill>
                <a:srgbClr val="ffff00"/>
              </a:solidFill>
              <a:effectLst/>
              <a:uFillTx/>
              <a:latin typeface="Times New Roman"/>
            </a:endParaRPr>
          </a:p>
        </p:txBody>
      </p:sp>
    </p:spTree>
  </p:cSld>
  <p:transition spd="slow">
    <p:blinds dir="vert"/>
  </p:transition>
  <p:timing>
    <p:tnLst>
      <p:par>
        <p:cTn id="1329" dur="indefinite" restart="never" nodeType="tmRoot">
          <p:childTnLst>
            <p:seq>
              <p:cTn id="1330" dur="indefinite" nodeType="mainSeq">
                <p:childTnLst>
                  <p:par>
                    <p:cTn id="1331" nodeType="clickEffect" fill="hold">
                      <p:stCondLst>
                        <p:cond delay="0"/>
                      </p:stCondLst>
                      <p:childTnLst>
                        <p:par>
                          <p:cTn id="1332" nodeType="withEffect" fill="hold">
                            <p:stCondLst>
                              <p:cond delay="0"/>
                            </p:stCondLst>
                            <p:childTnLst>
                              <p:par>
                                <p:cTn id="1333" nodeType="afterEffect" fill="hold" presetClass="entr" presetID="9">
                                  <p:stCondLst>
                                    <p:cond delay="2000"/>
                                  </p:stCondLst>
                                  <p:iterate type="lt">
                                    <p:tmAbs val="75"/>
                                  </p:iterate>
                                  <p:childTnLst>
                                    <p:set>
                                      <p:cBhvr>
                                        <p:cTn id="1334" dur="1" fill="hold">
                                          <p:stCondLst>
                                            <p:cond delay="0"/>
                                          </p:stCondLst>
                                        </p:cTn>
                                        <p:tgtEl>
                                          <p:spTgt spid="734"/>
                                        </p:tgtEl>
                                        <p:attrNameLst>
                                          <p:attrName>style.visibility</p:attrName>
                                        </p:attrNameLst>
                                      </p:cBhvr>
                                      <p:to>
                                        <p:strVal val="visible"/>
                                      </p:to>
                                    </p:set>
                                    <p:animEffect filter="dissolve" transition="in">
                                      <p:cBhvr additive="repl">
                                        <p:cTn id="1335" dur="75"/>
                                        <p:tgtEl>
                                          <p:spTgt spid="734"/>
                                        </p:tgtEl>
                                      </p:cBhvr>
                                    </p:animEffect>
                                  </p:childTnLst>
                                </p:cTn>
                              </p:par>
                            </p:childTnLst>
                          </p:cTn>
                        </p:par>
                        <p:par>
                          <p:cTn id="1336" nodeType="afterEffect" fill="hold">
                            <p:stCondLst>
                              <p:cond delay="3050"/>
                            </p:stCondLst>
                            <p:childTnLst>
                              <p:par>
                                <p:cTn id="1337" nodeType="afterEffect" fill="hold" presetClass="entr" presetID="9">
                                  <p:stCondLst>
                                    <p:cond delay="2000"/>
                                  </p:stCondLst>
                                  <p:iterate type="wd">
                                    <p:tmAbs val="300"/>
                                  </p:iterate>
                                  <p:childTnLst>
                                    <p:set>
                                      <p:cBhvr>
                                        <p:cTn id="1338" dur="1" fill="hold">
                                          <p:stCondLst>
                                            <p:cond delay="0"/>
                                          </p:stCondLst>
                                        </p:cTn>
                                        <p:tgtEl>
                                          <p:spTgt spid="728"/>
                                        </p:tgtEl>
                                        <p:attrNameLst>
                                          <p:attrName>style.visibility</p:attrName>
                                        </p:attrNameLst>
                                      </p:cBhvr>
                                      <p:to>
                                        <p:strVal val="visible"/>
                                      </p:to>
                                    </p:set>
                                    <p:animEffect filter="dissolve" transition="in">
                                      <p:cBhvr additive="repl">
                                        <p:cTn id="1339" dur="300"/>
                                        <p:tgtEl>
                                          <p:spTgt spid="728"/>
                                        </p:tgtEl>
                                      </p:cBhvr>
                                    </p:animEffect>
                                  </p:childTnLst>
                                </p:cTn>
                              </p:par>
                            </p:childTnLst>
                          </p:cTn>
                        </p:par>
                        <p:par>
                          <p:cTn id="1340" nodeType="afterEffect" fill="hold">
                            <p:stCondLst>
                              <p:cond delay="10450"/>
                            </p:stCondLst>
                            <p:childTnLst>
                              <p:par>
                                <p:cTn id="1341" nodeType="afterEffect" fill="hold" presetClass="entr" presetID="1">
                                  <p:stCondLst>
                                    <p:cond delay="0"/>
                                  </p:stCondLst>
                                  <p:childTnLst>
                                    <p:set>
                                      <p:cBhvr>
                                        <p:cTn id="1342" dur="1" fill="hold">
                                          <p:stCondLst>
                                            <p:cond delay="499"/>
                                          </p:stCondLst>
                                        </p:cTn>
                                        <p:tgtEl>
                                          <p:spTgt spid="729"/>
                                        </p:tgtEl>
                                        <p:attrNameLst>
                                          <p:attrName>style.visibility</p:attrName>
                                        </p:attrNameLst>
                                      </p:cBhvr>
                                      <p:to>
                                        <p:strVal val="visible"/>
                                      </p:to>
                                    </p:set>
                                  </p:childTnLst>
                                </p:cTn>
                              </p:par>
                            </p:childTnLst>
                          </p:cTn>
                        </p:par>
                        <p:par>
                          <p:cTn id="1343" nodeType="afterEffect" fill="hold">
                            <p:stCondLst>
                              <p:cond delay="10950"/>
                            </p:stCondLst>
                            <p:childTnLst>
                              <p:par>
                                <p:cTn id="1344" nodeType="afterEffect" fill="hold" presetClass="entr" presetID="1">
                                  <p:stCondLst>
                                    <p:cond delay="0"/>
                                  </p:stCondLst>
                                  <p:childTnLst>
                                    <p:set>
                                      <p:cBhvr>
                                        <p:cTn id="1345" dur="1" fill="hold">
                                          <p:stCondLst>
                                            <p:cond delay="499"/>
                                          </p:stCondLst>
                                        </p:cTn>
                                        <p:tgtEl>
                                          <p:spTgt spid="730"/>
                                        </p:tgtEl>
                                        <p:attrNameLst>
                                          <p:attrName>style.visibility</p:attrName>
                                        </p:attrNameLst>
                                      </p:cBhvr>
                                      <p:to>
                                        <p:strVal val="visible"/>
                                      </p:to>
                                    </p:set>
                                  </p:childTnLst>
                                </p:cTn>
                              </p:par>
                            </p:childTnLst>
                          </p:cTn>
                        </p:par>
                        <p:par>
                          <p:cTn id="1346" nodeType="afterEffect" fill="hold">
                            <p:stCondLst>
                              <p:cond delay="11450"/>
                            </p:stCondLst>
                            <p:childTnLst>
                              <p:par>
                                <p:cTn id="1347" nodeType="afterEffect" fill="hold" presetClass="entr" presetID="9">
                                  <p:stCondLst>
                                    <p:cond delay="2000"/>
                                  </p:stCondLst>
                                  <p:iterate type="wd">
                                    <p:tmAbs val="300"/>
                                  </p:iterate>
                                  <p:childTnLst>
                                    <p:set>
                                      <p:cBhvr>
                                        <p:cTn id="1348" dur="1" fill="hold">
                                          <p:stCondLst>
                                            <p:cond delay="0"/>
                                          </p:stCondLst>
                                        </p:cTn>
                                        <p:tgtEl>
                                          <p:spTgt spid="731"/>
                                        </p:tgtEl>
                                        <p:attrNameLst>
                                          <p:attrName>style.visibility</p:attrName>
                                        </p:attrNameLst>
                                      </p:cBhvr>
                                      <p:to>
                                        <p:strVal val="visible"/>
                                      </p:to>
                                    </p:set>
                                    <p:animEffect filter="dissolve" transition="in">
                                      <p:cBhvr additive="repl">
                                        <p:cTn id="1349" dur="300"/>
                                        <p:tgtEl>
                                          <p:spTgt spid="731"/>
                                        </p:tgtEl>
                                      </p:cBhvr>
                                    </p:animEffect>
                                  </p:childTnLst>
                                </p:cTn>
                              </p:par>
                            </p:childTnLst>
                          </p:cTn>
                        </p:par>
                        <p:par>
                          <p:cTn id="1350" nodeType="afterEffect" fill="hold">
                            <p:stCondLst>
                              <p:cond delay="17350"/>
                            </p:stCondLst>
                            <p:childTnLst>
                              <p:par>
                                <p:cTn id="1351" nodeType="afterEffect" fill="hold" presetClass="entr" presetID="1">
                                  <p:stCondLst>
                                    <p:cond delay="2000"/>
                                  </p:stCondLst>
                                  <p:childTnLst>
                                    <p:set>
                                      <p:cBhvr>
                                        <p:cTn id="1352" dur="1" fill="hold">
                                          <p:stCondLst>
                                            <p:cond delay="499"/>
                                          </p:stCondLst>
                                        </p:cTn>
                                        <p:tgtEl>
                                          <p:spTgt spid="733"/>
                                        </p:tgtEl>
                                        <p:attrNameLst>
                                          <p:attrName>style.visibility</p:attrName>
                                        </p:attrNameLst>
                                      </p:cBhvr>
                                      <p:to>
                                        <p:strVal val="visible"/>
                                      </p:to>
                                    </p:set>
                                  </p:childTnLst>
                                </p:cTn>
                              </p:par>
                            </p:childTnLst>
                          </p:cTn>
                        </p:par>
                        <p:par>
                          <p:cTn id="1353" nodeType="afterEffect" fill="hold">
                            <p:stCondLst>
                              <p:cond delay="19850"/>
                            </p:stCondLst>
                            <p:childTnLst>
                              <p:par>
                                <p:cTn id="1354" nodeType="afterEffect" fill="hold" presetClass="entr" presetID="9">
                                  <p:stCondLst>
                                    <p:cond delay="0"/>
                                  </p:stCondLst>
                                  <p:iterate type="wd">
                                    <p:tmAbs val="300"/>
                                  </p:iterate>
                                  <p:childTnLst>
                                    <p:set>
                                      <p:cBhvr>
                                        <p:cTn id="1355" dur="1" fill="hold">
                                          <p:stCondLst>
                                            <p:cond delay="0"/>
                                          </p:stCondLst>
                                        </p:cTn>
                                        <p:tgtEl>
                                          <p:spTgt spid="732"/>
                                        </p:tgtEl>
                                        <p:attrNameLst>
                                          <p:attrName>style.visibility</p:attrName>
                                        </p:attrNameLst>
                                      </p:cBhvr>
                                      <p:to>
                                        <p:strVal val="visible"/>
                                      </p:to>
                                    </p:set>
                                    <p:animEffect filter="dissolve" transition="in">
                                      <p:cBhvr additive="repl">
                                        <p:cTn id="1356" dur="300"/>
                                        <p:tgtEl>
                                          <p:spTgt spid="7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Text Box 2"/>
          <p:cNvSpPr/>
          <p:nvPr/>
        </p:nvSpPr>
        <p:spPr>
          <a:xfrm>
            <a:off x="324000" y="1281240"/>
            <a:ext cx="8092800" cy="316548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6 - Convenir d’une fréquence pour leur passation tant pour le contrôle que pour le suivi de l’entraînement.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Text Box 2"/>
          <p:cNvSpPr/>
          <p:nvPr/>
        </p:nvSpPr>
        <p:spPr>
          <a:xfrm>
            <a:off x="0" y="189000"/>
            <a:ext cx="9144000" cy="459720"/>
          </a:xfrm>
          <a:prstGeom prst="rect">
            <a:avLst/>
          </a:prstGeom>
          <a:gradFill rotWithShape="0">
            <a:gsLst>
              <a:gs pos="0">
                <a:srgbClr val="babe1c"/>
              </a:gs>
              <a:gs pos="50000">
                <a:srgbClr val="e3e822"/>
              </a:gs>
              <a:gs pos="100000">
                <a:srgbClr val="babe1c"/>
              </a:gs>
            </a:gsLst>
            <a:lin ang="5400000"/>
          </a:gradFill>
          <a:ln w="1908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Bookman Old Style"/>
              </a:rPr>
              <a:t>CONTRÔLE DE L’ENTRAÎNEMENT</a:t>
            </a:r>
            <a:endParaRPr b="0" lang="en-US" sz="2400" strike="noStrike" u="none">
              <a:solidFill>
                <a:srgbClr val="ffff00"/>
              </a:solidFill>
              <a:effectLst/>
              <a:uFillTx/>
              <a:latin typeface="Times New Roman"/>
            </a:endParaRPr>
          </a:p>
        </p:txBody>
      </p:sp>
      <p:sp>
        <p:nvSpPr>
          <p:cNvPr id="737" name="Rectangle 3"/>
          <p:cNvSpPr/>
          <p:nvPr/>
        </p:nvSpPr>
        <p:spPr>
          <a:xfrm>
            <a:off x="304920" y="516240"/>
            <a:ext cx="8640720" cy="6055560"/>
          </a:xfrm>
          <a:prstGeom prst="rect">
            <a:avLst/>
          </a:prstGeom>
          <a:noFill/>
          <a:ln w="0">
            <a:noFill/>
          </a:ln>
        </p:spPr>
        <p:style>
          <a:lnRef idx="0"/>
          <a:fillRef idx="0"/>
          <a:effectRef idx="0"/>
          <a:fontRef idx="minor"/>
        </p:style>
        <p:txBody>
          <a:bodyPr lIns="90000" rIns="90000" tIns="46800" bIns="46800" anchor="ctr">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e3e822"/>
                </a:solidFill>
                <a:effectLst/>
                <a:uFillTx/>
                <a:latin typeface="Arial"/>
                <a:ea typeface="Arial"/>
              </a:rPr>
              <a:t>Le </a:t>
            </a:r>
            <a:r>
              <a:rPr b="1" lang="fr-FR" sz="2400" strike="noStrike" u="none">
                <a:solidFill>
                  <a:srgbClr val="ffffff"/>
                </a:solidFill>
                <a:effectLst/>
                <a:uFillTx/>
                <a:latin typeface="Arial"/>
                <a:ea typeface="Arial"/>
              </a:rPr>
              <a:t>contrôle longitudinal</a:t>
            </a:r>
            <a:r>
              <a:rPr b="0" lang="fr-FR" sz="2400" strike="noStrike" u="none">
                <a:solidFill>
                  <a:srgbClr val="e3e822"/>
                </a:solidFill>
                <a:effectLst/>
                <a:uFillTx/>
                <a:latin typeface="Arial"/>
                <a:ea typeface="Arial"/>
              </a:rPr>
              <a:t> </a:t>
            </a:r>
            <a:r>
              <a:rPr b="1" lang="fr-FR" sz="2400" strike="noStrike" u="none">
                <a:solidFill>
                  <a:srgbClr val="ffffff"/>
                </a:solidFill>
                <a:effectLst/>
                <a:uFillTx/>
                <a:latin typeface="Arial"/>
                <a:ea typeface="Arial"/>
              </a:rPr>
              <a:t>de l’entraînement</a:t>
            </a:r>
            <a:r>
              <a:rPr b="0" lang="fr-FR" sz="2400" strike="noStrike" u="none">
                <a:solidFill>
                  <a:srgbClr val="e3e822"/>
                </a:solidFill>
                <a:effectLst/>
                <a:uFillTx/>
                <a:latin typeface="Arial"/>
                <a:ea typeface="Arial"/>
              </a:rPr>
              <a:t> permet : </a:t>
            </a:r>
            <a:endParaRPr b="0" lang="en-US" sz="24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lvl="1" marL="457200" algn="just">
              <a:lnSpc>
                <a:spcPct val="150000"/>
              </a:lnSpc>
              <a:buClr>
                <a:srgbClr val="e3e82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e3e822"/>
                </a:solidFill>
                <a:effectLst/>
                <a:uFillTx/>
                <a:latin typeface="Arial"/>
                <a:ea typeface="Arial"/>
              </a:rPr>
              <a:t> de </a:t>
            </a:r>
            <a:r>
              <a:rPr b="0" lang="fr-FR" sz="2400" strike="noStrike" u="none">
                <a:solidFill>
                  <a:srgbClr val="ffffff"/>
                </a:solidFill>
                <a:effectLst/>
                <a:uFillTx/>
                <a:latin typeface="Arial"/>
                <a:ea typeface="Arial"/>
              </a:rPr>
              <a:t>vérifier</a:t>
            </a:r>
            <a:r>
              <a:rPr b="0" lang="fr-FR" sz="2400" strike="noStrike" u="none">
                <a:solidFill>
                  <a:srgbClr val="e3e822"/>
                </a:solidFill>
                <a:effectLst/>
                <a:uFillTx/>
                <a:latin typeface="Arial"/>
                <a:ea typeface="Arial"/>
              </a:rPr>
              <a:t> en permanence l’ajustement des charges d’entraînement aux capacités du sportif </a:t>
            </a:r>
            <a:endParaRPr b="0" lang="en-US" sz="2400" strike="noStrike" u="none">
              <a:solidFill>
                <a:srgbClr val="ffff00"/>
              </a:solidFill>
              <a:effectLst/>
              <a:uFillTx/>
              <a:latin typeface="Times New Roman"/>
            </a:endParaRPr>
          </a:p>
          <a:p>
            <a:pPr lvl="1" marL="457200" algn="just">
              <a:lnSpc>
                <a:spcPct val="150000"/>
              </a:lnSpc>
              <a:buClr>
                <a:srgbClr val="e3e82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e3e822"/>
                </a:solidFill>
                <a:effectLst/>
                <a:uFillTx/>
                <a:latin typeface="Arial"/>
                <a:ea typeface="Arial"/>
              </a:rPr>
              <a:t> de </a:t>
            </a:r>
            <a:r>
              <a:rPr b="0" lang="fr-FR" sz="2400" strike="noStrike" u="none">
                <a:solidFill>
                  <a:srgbClr val="ffffff"/>
                </a:solidFill>
                <a:effectLst/>
                <a:uFillTx/>
                <a:latin typeface="Arial"/>
                <a:ea typeface="Arial"/>
              </a:rPr>
              <a:t>modifier les</a:t>
            </a:r>
            <a:r>
              <a:rPr b="0" lang="fr-FR" sz="2400" strike="noStrike" u="none">
                <a:solidFill>
                  <a:srgbClr val="e3e822"/>
                </a:solidFill>
                <a:effectLst/>
                <a:uFillTx/>
                <a:latin typeface="Arial"/>
                <a:ea typeface="Arial"/>
              </a:rPr>
              <a:t> </a:t>
            </a:r>
            <a:r>
              <a:rPr b="0" lang="fr-FR" sz="2400" strike="noStrike" u="none">
                <a:solidFill>
                  <a:srgbClr val="ffff00"/>
                </a:solidFill>
                <a:effectLst/>
                <a:uFillTx/>
                <a:latin typeface="Arial"/>
                <a:ea typeface="Arial"/>
              </a:rPr>
              <a:t>contenus à partir du feedback afin de prévenir d’éventuels risques de surentraînement. </a:t>
            </a:r>
            <a:endParaRPr b="0" lang="en-US" sz="2400" strike="noStrike" u="none">
              <a:solidFill>
                <a:srgbClr val="ffff00"/>
              </a:solidFill>
              <a:effectLst/>
              <a:uFillTx/>
              <a:latin typeface="Times New Roman"/>
            </a:endParaRPr>
          </a:p>
          <a:p>
            <a:pPr lvl="1" marL="457200" algn="just">
              <a:lnSpc>
                <a:spcPct val="13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La répétition rapprochée des évaluations nécessite l’emploi de tests accessibles, pertinents, valides et reproductibles, qui ne contraignent pas trop l’entraîneur et le sportif et qui respectent le « confort » de ce dernier.</a:t>
            </a:r>
            <a:endParaRPr b="0" lang="en-US" sz="2400" strike="noStrike" u="none">
              <a:solidFill>
                <a:srgbClr val="ffff00"/>
              </a:solidFill>
              <a:effectLst/>
              <a:uFillTx/>
              <a:latin typeface="Times New Roman"/>
            </a:endParaRPr>
          </a:p>
        </p:txBody>
      </p:sp>
    </p:spTree>
  </p:cSld>
  <p:transition>
    <p:blinds dir="horz"/>
  </p:transition>
  <p:timing>
    <p:tnLst>
      <p:par>
        <p:cTn id="1357" dur="indefinite" restart="never" nodeType="tmRoot">
          <p:childTnLst>
            <p:seq>
              <p:cTn id="1358" dur="indefinite" nodeType="mainSeq">
                <p:childTnLst>
                  <p:par>
                    <p:cTn id="1359" nodeType="clickEffect" fill="hold">
                      <p:stCondLst>
                        <p:cond delay="indefinite"/>
                      </p:stCondLst>
                      <p:childTnLst>
                        <p:par>
                          <p:cTn id="1360" nodeType="withEffect" fill="hold">
                            <p:stCondLst>
                              <p:cond delay="0"/>
                            </p:stCondLst>
                            <p:childTnLst>
                              <p:par>
                                <p:cTn id="1361" nodeType="clickEffect" fill="hold" presetClass="entr" presetID="9">
                                  <p:stCondLst>
                                    <p:cond delay="0"/>
                                  </p:stCondLst>
                                  <p:childTnLst>
                                    <p:set>
                                      <p:cBhvr>
                                        <p:cTn id="1362" dur="1" fill="hold">
                                          <p:stCondLst>
                                            <p:cond delay="0"/>
                                          </p:stCondLst>
                                        </p:cTn>
                                        <p:tgtEl>
                                          <p:spTgt spid="737">
                                            <p:txEl>
                                              <p:pRg st="1" end="1"/>
                                            </p:txEl>
                                          </p:spTgt>
                                        </p:tgtEl>
                                        <p:attrNameLst>
                                          <p:attrName>style.visibility</p:attrName>
                                        </p:attrNameLst>
                                      </p:cBhvr>
                                      <p:to>
                                        <p:strVal val="visible"/>
                                      </p:to>
                                    </p:set>
                                    <p:animEffect filter="dissolve" transition="in">
                                      <p:cBhvr additive="repl">
                                        <p:cTn id="1363" dur="500"/>
                                        <p:tgtEl>
                                          <p:spTgt spid="737">
                                            <p:txEl>
                                              <p:pRg st="1" end="1"/>
                                            </p:txEl>
                                          </p:spTgt>
                                        </p:tgtEl>
                                      </p:cBhvr>
                                    </p:animEffect>
                                  </p:childTnLst>
                                </p:cTn>
                              </p:par>
                              <p:par>
                                <p:cTn id="1364" nodeType="withEffect" fill="hold" presetClass="entr" presetID="9">
                                  <p:stCondLst>
                                    <p:cond delay="0"/>
                                  </p:stCondLst>
                                  <p:childTnLst>
                                    <p:set>
                                      <p:cBhvr>
                                        <p:cTn id="1365" dur="1" fill="hold">
                                          <p:stCondLst>
                                            <p:cond delay="0"/>
                                          </p:stCondLst>
                                        </p:cTn>
                                        <p:tgtEl>
                                          <p:spTgt spid="737">
                                            <p:txEl>
                                              <p:pRg st="3" end="3"/>
                                            </p:txEl>
                                          </p:spTgt>
                                        </p:tgtEl>
                                        <p:attrNameLst>
                                          <p:attrName>style.visibility</p:attrName>
                                        </p:attrNameLst>
                                      </p:cBhvr>
                                      <p:to>
                                        <p:strVal val="visible"/>
                                      </p:to>
                                    </p:set>
                                    <p:animEffect filter="dissolve" transition="in">
                                      <p:cBhvr additive="repl">
                                        <p:cTn id="1366" dur="500"/>
                                        <p:tgtEl>
                                          <p:spTgt spid="737">
                                            <p:txEl>
                                              <p:pRg st="3" end="3"/>
                                            </p:txEl>
                                          </p:spTgt>
                                        </p:tgtEl>
                                      </p:cBhvr>
                                    </p:animEffect>
                                  </p:childTnLst>
                                </p:cTn>
                              </p:par>
                              <p:par>
                                <p:cTn id="1367" nodeType="withEffect" fill="hold" presetClass="entr" presetID="9">
                                  <p:stCondLst>
                                    <p:cond delay="0"/>
                                  </p:stCondLst>
                                  <p:childTnLst>
                                    <p:set>
                                      <p:cBhvr>
                                        <p:cTn id="1368" dur="1" fill="hold">
                                          <p:stCondLst>
                                            <p:cond delay="0"/>
                                          </p:stCondLst>
                                        </p:cTn>
                                        <p:tgtEl>
                                          <p:spTgt spid="737">
                                            <p:txEl>
                                              <p:pRg st="4" end="4"/>
                                            </p:txEl>
                                          </p:spTgt>
                                        </p:tgtEl>
                                        <p:attrNameLst>
                                          <p:attrName>style.visibility</p:attrName>
                                        </p:attrNameLst>
                                      </p:cBhvr>
                                      <p:to>
                                        <p:strVal val="visible"/>
                                      </p:to>
                                    </p:set>
                                    <p:animEffect filter="dissolve" transition="in">
                                      <p:cBhvr additive="repl">
                                        <p:cTn id="1369" dur="500"/>
                                        <p:tgtEl>
                                          <p:spTgt spid="737">
                                            <p:txEl>
                                              <p:pRg st="4" end="4"/>
                                            </p:txEl>
                                          </p:spTgt>
                                        </p:tgtEl>
                                      </p:cBhvr>
                                    </p:animEffect>
                                  </p:childTnLst>
                                </p:cTn>
                              </p:par>
                            </p:childTnLst>
                          </p:cTn>
                        </p:par>
                      </p:childTnLst>
                    </p:cTn>
                  </p:par>
                  <p:par>
                    <p:cTn id="1370" nodeType="clickEffect" fill="hold">
                      <p:stCondLst>
                        <p:cond delay="indefinite"/>
                      </p:stCondLst>
                      <p:childTnLst>
                        <p:par>
                          <p:cTn id="1371" nodeType="withEffect" fill="hold">
                            <p:stCondLst>
                              <p:cond delay="0"/>
                            </p:stCondLst>
                            <p:childTnLst>
                              <p:par>
                                <p:cTn id="1372" nodeType="clickEffect" fill="hold" presetClass="entr" presetID="9">
                                  <p:stCondLst>
                                    <p:cond delay="0"/>
                                  </p:stCondLst>
                                  <p:childTnLst>
                                    <p:set>
                                      <p:cBhvr>
                                        <p:cTn id="1373" dur="1" fill="hold">
                                          <p:stCondLst>
                                            <p:cond delay="0"/>
                                          </p:stCondLst>
                                        </p:cTn>
                                        <p:tgtEl>
                                          <p:spTgt spid="737">
                                            <p:txEl>
                                              <p:pRg st="6" end="6"/>
                                            </p:txEl>
                                          </p:spTgt>
                                        </p:tgtEl>
                                        <p:attrNameLst>
                                          <p:attrName>style.visibility</p:attrName>
                                        </p:attrNameLst>
                                      </p:cBhvr>
                                      <p:to>
                                        <p:strVal val="visible"/>
                                      </p:to>
                                    </p:set>
                                    <p:animEffect filter="dissolve" transition="in">
                                      <p:cBhvr additive="repl">
                                        <p:cTn id="1374" dur="500"/>
                                        <p:tgtEl>
                                          <p:spTgt spid="737">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Text Box 2"/>
          <p:cNvSpPr/>
          <p:nvPr/>
        </p:nvSpPr>
        <p:spPr>
          <a:xfrm>
            <a:off x="0" y="189000"/>
            <a:ext cx="9144000" cy="459720"/>
          </a:xfrm>
          <a:prstGeom prst="rect">
            <a:avLst/>
          </a:prstGeom>
          <a:gradFill rotWithShape="0">
            <a:gsLst>
              <a:gs pos="0">
                <a:srgbClr val="a5a819"/>
              </a:gs>
              <a:gs pos="50000">
                <a:srgbClr val="e3e822"/>
              </a:gs>
              <a:gs pos="100000">
                <a:srgbClr val="a5a819"/>
              </a:gs>
            </a:gsLst>
            <a:lin ang="5400000"/>
          </a:gradFill>
          <a:ln w="1908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Bookman Old Style"/>
              </a:rPr>
              <a:t>2) SUIVI DE L’ENTRAÎNEMENT</a:t>
            </a:r>
            <a:endParaRPr b="0" lang="en-US" sz="2400" strike="noStrike" u="none">
              <a:solidFill>
                <a:srgbClr val="ffff00"/>
              </a:solidFill>
              <a:effectLst/>
              <a:uFillTx/>
              <a:latin typeface="Times New Roman"/>
            </a:endParaRPr>
          </a:p>
        </p:txBody>
      </p:sp>
      <p:sp>
        <p:nvSpPr>
          <p:cNvPr id="739" name="Rectangle 3"/>
          <p:cNvSpPr/>
          <p:nvPr/>
        </p:nvSpPr>
        <p:spPr>
          <a:xfrm>
            <a:off x="250920" y="969480"/>
            <a:ext cx="8569080" cy="5946120"/>
          </a:xfrm>
          <a:prstGeom prst="rect">
            <a:avLst/>
          </a:prstGeom>
          <a:noFill/>
          <a:ln w="0">
            <a:noFill/>
          </a:ln>
        </p:spPr>
        <p:style>
          <a:lnRef idx="0"/>
          <a:fillRef idx="0"/>
          <a:effectRef idx="0"/>
          <a:fontRef idx="minor"/>
        </p:style>
        <p:txBody>
          <a:bodyPr lIns="90000" rIns="90000" tIns="46800" bIns="46800" anchor="ctr">
            <a:sp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Le </a:t>
            </a:r>
            <a:r>
              <a:rPr b="1" lang="fr-FR" sz="2400" strike="noStrike" u="none">
                <a:solidFill>
                  <a:srgbClr val="ffffff"/>
                </a:solidFill>
                <a:effectLst/>
                <a:uFillTx/>
                <a:latin typeface="Arial"/>
                <a:ea typeface="Arial"/>
              </a:rPr>
              <a:t>« suivi de l’entraînement»</a:t>
            </a:r>
            <a:r>
              <a:rPr b="1" lang="fr-FR" sz="2400" strike="noStrike" u="none">
                <a:solidFill>
                  <a:srgbClr val="ffff00"/>
                </a:solidFill>
                <a:effectLst/>
                <a:uFillTx/>
                <a:latin typeface="Arial"/>
                <a:ea typeface="Arial"/>
              </a:rPr>
              <a:t> </a:t>
            </a:r>
            <a:r>
              <a:rPr b="0" lang="fr-FR" sz="2400" strike="noStrike" u="none">
                <a:solidFill>
                  <a:srgbClr val="ffff00"/>
                </a:solidFill>
                <a:effectLst/>
                <a:uFillTx/>
                <a:latin typeface="Arial"/>
                <a:ea typeface="Arial"/>
              </a:rPr>
              <a:t>permet d’établir des bilans d’étapes après des périodes prolongées d’entraînement, pour en apprécier les effets chroniques et rendre compte des différentes adaptations techniques, organiques et mentales requises par la performance. </a:t>
            </a:r>
            <a:endParaRPr b="0" lang="en-US" sz="24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 </a:t>
            </a:r>
            <a:endParaRPr b="0" lang="en-US" sz="24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Les évaluations comprises dans un suivi sont donc :</a:t>
            </a:r>
            <a:endParaRPr b="0" lang="en-US" sz="2400" strike="noStrike" u="none">
              <a:solidFill>
                <a:srgbClr val="ffff00"/>
              </a:solidFill>
              <a:effectLst/>
              <a:uFillTx/>
              <a:latin typeface="Times New Roman"/>
            </a:endParaRPr>
          </a:p>
          <a:p>
            <a:pPr lvl="1" marL="457200" algn="just">
              <a:lnSpc>
                <a:spcPct val="15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 moins répétitives que celles du contrôle. </a:t>
            </a:r>
            <a:endParaRPr b="0" lang="en-US" sz="2400" strike="noStrike" u="none">
              <a:solidFill>
                <a:srgbClr val="ffff00"/>
              </a:solidFill>
              <a:effectLst/>
              <a:uFillTx/>
              <a:latin typeface="Times New Roman"/>
            </a:endParaRPr>
          </a:p>
          <a:p>
            <a:pPr lvl="1" marL="457200" algn="just">
              <a:lnSpc>
                <a:spcPct val="15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 plus approfondies et plus discriminantes afin de mieux explorer des sphères difficilement accessibles.</a:t>
            </a:r>
            <a:endParaRPr b="0" lang="en-US" sz="2400" strike="noStrike" u="none">
              <a:solidFill>
                <a:srgbClr val="ffff00"/>
              </a:solidFill>
              <a:effectLst/>
              <a:uFillTx/>
              <a:latin typeface="Times New Roman"/>
            </a:endParaRPr>
          </a:p>
          <a:p>
            <a:pPr lvl="1" marL="457200"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p:blinds dir="horz"/>
  </p:transition>
  <p:timing>
    <p:tnLst>
      <p:par>
        <p:cTn id="1375" dur="indefinite" restart="never" nodeType="tmRoot">
          <p:childTnLst>
            <p:seq>
              <p:cTn id="1376" dur="indefinite" nodeType="mainSeq">
                <p:childTnLst>
                  <p:par>
                    <p:cTn id="1377" nodeType="clickEffect" fill="hold">
                      <p:stCondLst>
                        <p:cond delay="indefinite"/>
                      </p:stCondLst>
                      <p:childTnLst>
                        <p:par>
                          <p:cTn id="1378" nodeType="withEffect" fill="hold">
                            <p:stCondLst>
                              <p:cond delay="0"/>
                            </p:stCondLst>
                            <p:childTnLst>
                              <p:par>
                                <p:cTn id="1379" nodeType="clickEffect" fill="hold" presetClass="entr" presetID="1">
                                  <p:stCondLst>
                                    <p:cond delay="0"/>
                                  </p:stCondLst>
                                  <p:childTnLst>
                                    <p:set>
                                      <p:cBhvr>
                                        <p:cTn id="1380" dur="1" fill="hold">
                                          <p:stCondLst>
                                            <p:cond delay="299"/>
                                          </p:stCondLst>
                                        </p:cTn>
                                        <p:tgtEl>
                                          <p:spTgt spid="739">
                                            <p:txEl>
                                              <p:pRg st="0" end="0"/>
                                            </p:txEl>
                                          </p:spTgt>
                                        </p:tgtEl>
                                        <p:attrNameLst>
                                          <p:attrName>style.visibility</p:attrName>
                                        </p:attrNameLst>
                                      </p:cBhvr>
                                      <p:to>
                                        <p:strVal val="visible"/>
                                      </p:to>
                                    </p:set>
                                  </p:childTnLst>
                                </p:cTn>
                              </p:par>
                            </p:childTnLst>
                          </p:cTn>
                        </p:par>
                      </p:childTnLst>
                    </p:cTn>
                  </p:par>
                  <p:par>
                    <p:cTn id="1381" nodeType="clickEffect" fill="hold">
                      <p:stCondLst>
                        <p:cond delay="indefinite"/>
                      </p:stCondLst>
                      <p:childTnLst>
                        <p:par>
                          <p:cTn id="1382" nodeType="withEffect" fill="hold">
                            <p:stCondLst>
                              <p:cond delay="0"/>
                            </p:stCondLst>
                            <p:childTnLst>
                              <p:par>
                                <p:cTn id="1383" nodeType="clickEffect" fill="hold" presetClass="entr" presetID="1">
                                  <p:stCondLst>
                                    <p:cond delay="0"/>
                                  </p:stCondLst>
                                  <p:childTnLst>
                                    <p:set>
                                      <p:cBhvr>
                                        <p:cTn id="1384" dur="1" fill="hold">
                                          <p:stCondLst>
                                            <p:cond delay="299"/>
                                          </p:stCondLst>
                                        </p:cTn>
                                        <p:tgtEl>
                                          <p:spTgt spid="739">
                                            <p:txEl>
                                              <p:pRg st="1" end="1"/>
                                            </p:txEl>
                                          </p:spTgt>
                                        </p:tgtEl>
                                        <p:attrNameLst>
                                          <p:attrName>style.visibility</p:attrName>
                                        </p:attrNameLst>
                                      </p:cBhvr>
                                      <p:to>
                                        <p:strVal val="visible"/>
                                      </p:to>
                                    </p:set>
                                  </p:childTnLst>
                                </p:cTn>
                              </p:par>
                            </p:childTnLst>
                          </p:cTn>
                        </p:par>
                      </p:childTnLst>
                    </p:cTn>
                  </p:par>
                  <p:par>
                    <p:cTn id="1385" nodeType="clickEffect" fill="hold">
                      <p:stCondLst>
                        <p:cond delay="indefinite"/>
                      </p:stCondLst>
                      <p:childTnLst>
                        <p:par>
                          <p:cTn id="1386" nodeType="withEffect" fill="hold">
                            <p:stCondLst>
                              <p:cond delay="0"/>
                            </p:stCondLst>
                            <p:childTnLst>
                              <p:par>
                                <p:cTn id="1387" nodeType="clickEffect" fill="hold" presetClass="entr" presetID="1">
                                  <p:stCondLst>
                                    <p:cond delay="0"/>
                                  </p:stCondLst>
                                  <p:childTnLst>
                                    <p:set>
                                      <p:cBhvr>
                                        <p:cTn id="1388" dur="1" fill="hold">
                                          <p:stCondLst>
                                            <p:cond delay="299"/>
                                          </p:stCondLst>
                                        </p:cTn>
                                        <p:tgtEl>
                                          <p:spTgt spid="739">
                                            <p:txEl>
                                              <p:pRg st="2" end="2"/>
                                            </p:txEl>
                                          </p:spTgt>
                                        </p:tgtEl>
                                        <p:attrNameLst>
                                          <p:attrName>style.visibility</p:attrName>
                                        </p:attrNameLst>
                                      </p:cBhvr>
                                      <p:to>
                                        <p:strVal val="visible"/>
                                      </p:to>
                                    </p:set>
                                  </p:childTnLst>
                                </p:cTn>
                              </p:par>
                              <p:par>
                                <p:cTn id="1389" nodeType="withEffect" fill="hold" presetClass="entr" presetID="1">
                                  <p:stCondLst>
                                    <p:cond delay="0"/>
                                  </p:stCondLst>
                                  <p:childTnLst>
                                    <p:set>
                                      <p:cBhvr>
                                        <p:cTn id="1390" dur="1" fill="hold">
                                          <p:stCondLst>
                                            <p:cond delay="299"/>
                                          </p:stCondLst>
                                        </p:cTn>
                                        <p:tgtEl>
                                          <p:spTgt spid="739">
                                            <p:txEl>
                                              <p:pRg st="3" end="3"/>
                                            </p:txEl>
                                          </p:spTgt>
                                        </p:tgtEl>
                                        <p:attrNameLst>
                                          <p:attrName>style.visibility</p:attrName>
                                        </p:attrNameLst>
                                      </p:cBhvr>
                                      <p:to>
                                        <p:strVal val="visible"/>
                                      </p:to>
                                    </p:set>
                                  </p:childTnLst>
                                </p:cTn>
                              </p:par>
                              <p:par>
                                <p:cTn id="1391" nodeType="withEffect" fill="hold" presetClass="entr" presetID="1">
                                  <p:stCondLst>
                                    <p:cond delay="0"/>
                                  </p:stCondLst>
                                  <p:childTnLst>
                                    <p:set>
                                      <p:cBhvr>
                                        <p:cTn id="1392" dur="1" fill="hold">
                                          <p:stCondLst>
                                            <p:cond delay="299"/>
                                          </p:stCondLst>
                                        </p:cTn>
                                        <p:tgtEl>
                                          <p:spTgt spid="739">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ZoneTexte 3"/>
          <p:cNvSpPr/>
          <p:nvPr/>
        </p:nvSpPr>
        <p:spPr>
          <a:xfrm>
            <a:off x="108000" y="3193920"/>
            <a:ext cx="151128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EVALUATION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INITIALE</a:t>
            </a:r>
            <a:endParaRPr b="0" lang="en-US" sz="1800" strike="noStrike" u="none">
              <a:solidFill>
                <a:srgbClr val="ffff00"/>
              </a:solidFill>
              <a:effectLst/>
              <a:uFillTx/>
              <a:latin typeface="Times New Roman"/>
            </a:endParaRPr>
          </a:p>
        </p:txBody>
      </p:sp>
      <p:sp>
        <p:nvSpPr>
          <p:cNvPr id="741" name="Ellipse 2"/>
          <p:cNvSpPr/>
          <p:nvPr/>
        </p:nvSpPr>
        <p:spPr>
          <a:xfrm>
            <a:off x="108000" y="2906640"/>
            <a:ext cx="1511280" cy="1094040"/>
          </a:xfrm>
          <a:prstGeom prst="ellipse">
            <a:avLst/>
          </a:prstGeom>
          <a:no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cxnSp>
        <p:nvCxnSpPr>
          <p:cNvPr id="742" name="Connecteur droit avec flèche 3"/>
          <p:cNvCxnSpPr/>
          <p:nvPr/>
        </p:nvCxnSpPr>
        <p:spPr>
          <a:xfrm flipV="1">
            <a:off x="1692000" y="3439440"/>
            <a:ext cx="5833080" cy="13320"/>
          </a:xfrm>
          <a:prstGeom prst="straightConnector1">
            <a:avLst/>
          </a:prstGeom>
          <a:ln w="57240">
            <a:solidFill>
              <a:srgbClr val="ffffff"/>
            </a:solidFill>
            <a:miter/>
            <a:tailEnd len="med" type="arrow" w="med"/>
          </a:ln>
        </p:spPr>
      </p:cxnSp>
      <p:sp>
        <p:nvSpPr>
          <p:cNvPr id="743" name="Ellipse 4"/>
          <p:cNvSpPr/>
          <p:nvPr/>
        </p:nvSpPr>
        <p:spPr>
          <a:xfrm>
            <a:off x="7596360" y="2894040"/>
            <a:ext cx="1512720" cy="1092240"/>
          </a:xfrm>
          <a:prstGeom prst="ellipse">
            <a:avLst/>
          </a:prstGeom>
          <a:no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44" name="ZoneTexte 9"/>
          <p:cNvSpPr/>
          <p:nvPr/>
        </p:nvSpPr>
        <p:spPr>
          <a:xfrm>
            <a:off x="7393320" y="3178080"/>
            <a:ext cx="206964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EVALUATIONS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DU SUIVI</a:t>
            </a:r>
            <a:endParaRPr b="0" lang="en-US" sz="1800" strike="noStrike" u="none">
              <a:solidFill>
                <a:srgbClr val="ffff00"/>
              </a:solidFill>
              <a:effectLst/>
              <a:uFillTx/>
              <a:latin typeface="Times New Roman"/>
            </a:endParaRPr>
          </a:p>
        </p:txBody>
      </p:sp>
      <p:sp>
        <p:nvSpPr>
          <p:cNvPr id="745" name="ZoneTexte 10"/>
          <p:cNvSpPr/>
          <p:nvPr/>
        </p:nvSpPr>
        <p:spPr>
          <a:xfrm rot="18106200">
            <a:off x="1766880" y="3268800"/>
            <a:ext cx="1248480" cy="368280"/>
          </a:xfrm>
          <a:prstGeom prst="rect">
            <a:avLst/>
          </a:prstGeom>
          <a:solidFill>
            <a:srgbClr val="0000ff"/>
          </a:solid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contrôle</a:t>
            </a:r>
            <a:endParaRPr b="0" lang="en-US" sz="1800" strike="noStrike" u="none">
              <a:solidFill>
                <a:srgbClr val="ffff00"/>
              </a:solidFill>
              <a:effectLst/>
              <a:uFillTx/>
              <a:latin typeface="Times New Roman"/>
            </a:endParaRPr>
          </a:p>
        </p:txBody>
      </p:sp>
      <p:sp>
        <p:nvSpPr>
          <p:cNvPr id="746" name="ZoneTexte 13"/>
          <p:cNvSpPr/>
          <p:nvPr/>
        </p:nvSpPr>
        <p:spPr>
          <a:xfrm rot="18106200">
            <a:off x="2918880" y="3294720"/>
            <a:ext cx="1248480" cy="368280"/>
          </a:xfrm>
          <a:prstGeom prst="rect">
            <a:avLst/>
          </a:prstGeom>
          <a:solidFill>
            <a:srgbClr val="0000ff"/>
          </a:solid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contrôle</a:t>
            </a:r>
            <a:endParaRPr b="0" lang="en-US" sz="1800" strike="noStrike" u="none">
              <a:solidFill>
                <a:srgbClr val="ffff00"/>
              </a:solidFill>
              <a:effectLst/>
              <a:uFillTx/>
              <a:latin typeface="Times New Roman"/>
            </a:endParaRPr>
          </a:p>
        </p:txBody>
      </p:sp>
      <p:sp>
        <p:nvSpPr>
          <p:cNvPr id="747" name="ZoneTexte 14"/>
          <p:cNvSpPr/>
          <p:nvPr/>
        </p:nvSpPr>
        <p:spPr>
          <a:xfrm rot="18106200">
            <a:off x="3853800" y="3255480"/>
            <a:ext cx="1248480" cy="368280"/>
          </a:xfrm>
          <a:prstGeom prst="rect">
            <a:avLst/>
          </a:prstGeom>
          <a:solidFill>
            <a:srgbClr val="0000ff"/>
          </a:solid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contrôle</a:t>
            </a:r>
            <a:endParaRPr b="0" lang="en-US" sz="1800" strike="noStrike" u="none">
              <a:solidFill>
                <a:srgbClr val="ffff00"/>
              </a:solidFill>
              <a:effectLst/>
              <a:uFillTx/>
              <a:latin typeface="Times New Roman"/>
            </a:endParaRPr>
          </a:p>
        </p:txBody>
      </p:sp>
      <p:sp>
        <p:nvSpPr>
          <p:cNvPr id="748" name="ZoneTexte 15"/>
          <p:cNvSpPr/>
          <p:nvPr/>
        </p:nvSpPr>
        <p:spPr>
          <a:xfrm rot="18106200">
            <a:off x="4862160" y="3241440"/>
            <a:ext cx="1248480" cy="368280"/>
          </a:xfrm>
          <a:prstGeom prst="rect">
            <a:avLst/>
          </a:prstGeom>
          <a:solidFill>
            <a:srgbClr val="0000ff"/>
          </a:solid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contrôle</a:t>
            </a:r>
            <a:endParaRPr b="0" lang="en-US" sz="1800" strike="noStrike" u="none">
              <a:solidFill>
                <a:srgbClr val="ffff00"/>
              </a:solidFill>
              <a:effectLst/>
              <a:uFillTx/>
              <a:latin typeface="Times New Roman"/>
            </a:endParaRPr>
          </a:p>
        </p:txBody>
      </p:sp>
      <p:sp>
        <p:nvSpPr>
          <p:cNvPr id="749" name="ZoneTexte 16"/>
          <p:cNvSpPr/>
          <p:nvPr/>
        </p:nvSpPr>
        <p:spPr>
          <a:xfrm rot="18106200">
            <a:off x="5870520" y="3229560"/>
            <a:ext cx="1248480" cy="368280"/>
          </a:xfrm>
          <a:prstGeom prst="rect">
            <a:avLst/>
          </a:prstGeom>
          <a:solidFill>
            <a:srgbClr val="0000ff"/>
          </a:solid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rPr>
              <a:t>contrôle</a:t>
            </a:r>
            <a:endParaRPr b="0" lang="en-US" sz="1800" strike="noStrike" u="none">
              <a:solidFill>
                <a:srgbClr val="ffff00"/>
              </a:solidFill>
              <a:effectLst/>
              <a:uFillTx/>
              <a:latin typeface="Times New Roman"/>
            </a:endParaRPr>
          </a:p>
        </p:txBody>
      </p:sp>
      <p:sp>
        <p:nvSpPr>
          <p:cNvPr id="750" name="ZoneTexte 11"/>
          <p:cNvSpPr/>
          <p:nvPr/>
        </p:nvSpPr>
        <p:spPr>
          <a:xfrm>
            <a:off x="-1134360" y="428760"/>
            <a:ext cx="112384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rPr>
              <a:t>EVALUATION, CONTRÔLE ET SUIVI DE L’ENTRAÎNEMENT</a:t>
            </a:r>
            <a:endParaRPr b="0" lang="en-US" sz="2800" strike="noStrike" u="none">
              <a:solidFill>
                <a:srgbClr val="ffff00"/>
              </a:solidFill>
              <a:effectLst/>
              <a:uFillTx/>
              <a:latin typeface="Times New Roman"/>
            </a:endParaRPr>
          </a:p>
        </p:txBody>
      </p:sp>
    </p:spTree>
  </p:cSld>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51" name=""/>
          <p:cNvGraphicFramePr/>
          <p:nvPr/>
        </p:nvGraphicFramePr>
        <p:xfrm>
          <a:off x="468360" y="765000"/>
          <a:ext cx="8215200" cy="5929560"/>
        </p:xfrm>
        <a:graphic>
          <a:graphicData uri="http://schemas.openxmlformats.org/drawingml/2006/table">
            <a:tbl>
              <a:tblPr/>
              <a:tblGrid>
                <a:gridCol w="8215200"/>
              </a:tblGrid>
              <a:tr h="560520">
                <a:tc>
                  <a:txBody>
                    <a:bodyPr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rPr>
                        <a:t>CONTENU DE L’EVALUATION INITIALE</a:t>
                      </a:r>
                      <a:endParaRPr b="0" lang="en-US" sz="24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2d2db9"/>
                    </a:solidFill>
                  </a:tcPr>
                </a:tc>
              </a:tr>
              <a:tr h="96516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Examen médical initial </a:t>
                      </a:r>
                      <a:r>
                        <a:rPr b="0" lang="fr-FR" sz="1800" strike="noStrike" u="none">
                          <a:solidFill>
                            <a:srgbClr val="002060"/>
                          </a:solidFill>
                          <a:effectLst/>
                          <a:uFillTx/>
                          <a:latin typeface="Calibri"/>
                          <a:ea typeface="Calibri"/>
                        </a:rPr>
                        <a:t>: recherche des antécédents médicaux, examen biologique, FC de repos, FC max, FC de réserve.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96696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Bilan morphologique </a:t>
                      </a:r>
                      <a:r>
                        <a:rPr b="0" lang="fr-FR" sz="1800" strike="noStrike" u="none">
                          <a:solidFill>
                            <a:srgbClr val="002060"/>
                          </a:solidFill>
                          <a:effectLst/>
                          <a:uFillTx/>
                          <a:latin typeface="Calibri"/>
                          <a:ea typeface="Calibri"/>
                        </a:rPr>
                        <a:t>statique et dynamique, impédancemétrie ou mesure des plis cutanés (% de graisse = masse maigre)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r h="93636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Evaluation des qualités physiques </a:t>
                      </a:r>
                      <a:r>
                        <a:rPr b="0" lang="fr-FR" sz="1800" strike="noStrike" u="none">
                          <a:solidFill>
                            <a:srgbClr val="002060"/>
                          </a:solidFill>
                          <a:effectLst/>
                          <a:uFillTx/>
                          <a:latin typeface="Calibri"/>
                          <a:ea typeface="Calibri"/>
                        </a:rPr>
                        <a:t>: Temps de réaction, Sprints  5m, 10m, 20m, 30m (+ 10m lancé). Puissance : détente verticale (SJ + CMJ). Souplesse en position assise.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64620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Evaluation des qualités techniques : </a:t>
                      </a:r>
                      <a:r>
                        <a:rPr b="0" lang="fr-FR" sz="1800" strike="noStrike" u="none">
                          <a:solidFill>
                            <a:srgbClr val="002060"/>
                          </a:solidFill>
                          <a:effectLst/>
                          <a:uFillTx/>
                          <a:latin typeface="Calibri"/>
                          <a:ea typeface="Calibri"/>
                        </a:rPr>
                        <a:t>Sprint 20m linéaire et avec changements de direction, sans et avec ballon.</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r h="115596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Evaluation des capacités physiologiques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2060"/>
                          </a:solidFill>
                          <a:effectLst/>
                          <a:uFillTx/>
                          <a:latin typeface="Calibri"/>
                          <a:ea typeface="Calibri"/>
                        </a:rPr>
                        <a:t>Aérobie : </a:t>
                      </a:r>
                      <a:r>
                        <a:rPr b="0" lang="fr-FR" sz="1800" strike="noStrike" u="none">
                          <a:solidFill>
                            <a:srgbClr val="002060"/>
                          </a:solidFill>
                          <a:effectLst/>
                          <a:uFillTx/>
                          <a:latin typeface="Calibri"/>
                          <a:ea typeface="Calibri"/>
                        </a:rPr>
                        <a:t>VAMEVAL(VAM+ FC)</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2060"/>
                          </a:solidFill>
                          <a:effectLst/>
                          <a:uFillTx/>
                          <a:latin typeface="Calibri"/>
                          <a:ea typeface="Calibri"/>
                        </a:rPr>
                        <a:t>Endurance spécifique : </a:t>
                      </a:r>
                      <a:r>
                        <a:rPr b="0" lang="fr-FR" sz="1800" strike="noStrike" u="none">
                          <a:solidFill>
                            <a:srgbClr val="002060"/>
                          </a:solidFill>
                          <a:effectLst/>
                          <a:uFillTx/>
                          <a:latin typeface="Calibri"/>
                          <a:ea typeface="Calibri"/>
                        </a:rPr>
                        <a:t>12 x 20m en ligne droite et en crochet</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698400">
                <a:tc>
                  <a:txBody>
                    <a:bodyPr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2060"/>
                          </a:solidFill>
                          <a:effectLst/>
                          <a:uFillTx/>
                          <a:latin typeface="Calibri"/>
                          <a:ea typeface="Calibri"/>
                        </a:rPr>
                        <a:t>Evaluation  des capacités psychologiques : </a:t>
                      </a:r>
                      <a:r>
                        <a:rPr b="0" lang="fr-FR" sz="1800" strike="noStrike" u="none">
                          <a:solidFill>
                            <a:srgbClr val="002060"/>
                          </a:solidFill>
                          <a:effectLst/>
                          <a:uFillTx/>
                          <a:latin typeface="Calibri"/>
                          <a:ea typeface="Calibri"/>
                        </a:rPr>
                        <a:t>POMS</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bl>
          </a:graphicData>
        </a:graphic>
      </p:graphicFrame>
      <p:sp>
        <p:nvSpPr>
          <p:cNvPr id="752" name="ZoneTexte 1"/>
          <p:cNvSpPr/>
          <p:nvPr/>
        </p:nvSpPr>
        <p:spPr>
          <a:xfrm>
            <a:off x="-628200" y="189000"/>
            <a:ext cx="102578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ORIENTATION DES CONTENUS DE PREPARATION PHYSIQUE</a:t>
            </a:r>
            <a:endParaRPr b="0" lang="en-US" sz="2400" strike="noStrike" u="none">
              <a:solidFill>
                <a:srgbClr val="ffff00"/>
              </a:solidFill>
              <a:effectLst/>
              <a:uFillTx/>
              <a:latin typeface="Times New Roman"/>
            </a:endParaRPr>
          </a:p>
        </p:txBody>
      </p:sp>
    </p:spTree>
  </p:cSld>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53" name=""/>
          <p:cNvGraphicFramePr/>
          <p:nvPr/>
        </p:nvGraphicFramePr>
        <p:xfrm>
          <a:off x="34920" y="476280"/>
          <a:ext cx="9001080" cy="5881680"/>
        </p:xfrm>
        <a:graphic>
          <a:graphicData uri="http://schemas.openxmlformats.org/drawingml/2006/table">
            <a:tbl>
              <a:tblPr/>
              <a:tblGrid>
                <a:gridCol w="9001080"/>
              </a:tblGrid>
              <a:tr h="703080">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rPr>
                        <a:t>EVALUATIONS DE CONTRÔLE DE L’ENTRAÎNEMENT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3333cc"/>
                    </a:solidFill>
                  </a:tcPr>
                </a:tc>
              </a:tr>
              <a:tr h="253224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ea typeface="Calibri"/>
                        </a:rPr>
                        <a:t>Evaluation de qualités physiques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Cycle des capacités aérobies : 6min course à 90 % de VAM (FC + FC de récupération + lactate)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Cycle Vitesse : Temps de réaction, 5m, 10m, 20m.</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Cycle endurance de la vitesse : 12 x 20m</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Cycle capacité lactique : Puissance : navette 30s x 1 (m parcourus). Endurance : navettes 30s  x 3 (m parcourus au total et en moyenne)</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d2d2f4"/>
                    </a:solidFill>
                  </a:tcPr>
                </a:tc>
              </a:tr>
              <a:tr h="133344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ea typeface="Calibri"/>
                        </a:rPr>
                        <a:t>Evaluation des indices de fatigue : </a:t>
                      </a:r>
                      <a:r>
                        <a:rPr b="0" lang="fr-FR" sz="1800" strike="noStrike" u="none">
                          <a:solidFill>
                            <a:srgbClr val="000000"/>
                          </a:solidFill>
                          <a:effectLst/>
                          <a:uFillTx/>
                          <a:latin typeface="Calibri"/>
                          <a:ea typeface="Calibri"/>
                        </a:rPr>
                        <a:t>Détente verticale ou temps de réaction avant et après un exercice contraignant.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Relever matinal de la FC de repos</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e7f6ef"/>
                    </a:solidFill>
                  </a:tcPr>
                </a:tc>
              </a:tr>
              <a:tr h="131292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ea typeface="Calibri"/>
                        </a:rPr>
                        <a:t>Appréciation du ressenti de l’entraînement: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Echelle de Borg.</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Calibri"/>
                          <a:ea typeface="Calibri"/>
                        </a:rPr>
                        <a:t>Echelle d’appréciation de l’entraînement de Rose/Noakes</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d2d2f4"/>
                    </a:solidFill>
                  </a:tcPr>
                </a:tc>
              </a:tr>
            </a:tbl>
          </a:graphicData>
        </a:graphic>
      </p:graphicFrame>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54" name=""/>
          <p:cNvGraphicFramePr/>
          <p:nvPr/>
        </p:nvGraphicFramePr>
        <p:xfrm>
          <a:off x="108000" y="115920"/>
          <a:ext cx="8929800" cy="6611760"/>
        </p:xfrm>
        <a:graphic>
          <a:graphicData uri="http://schemas.openxmlformats.org/drawingml/2006/table">
            <a:tbl>
              <a:tblPr/>
              <a:tblGrid>
                <a:gridCol w="8929800"/>
              </a:tblGrid>
              <a:tr h="640440">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EVALUATIONS DU SUIVI DE L’ENTRAÎNEMENT A PLACER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AU DEBUT ET A LA FIN DE CHAQUE MESOCYCLE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2d2db9"/>
                    </a:solidFill>
                  </a:tcPr>
                </a:tc>
              </a:tr>
              <a:tr h="91476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de l’évolution des aspects morphologiques </a:t>
                      </a:r>
                      <a:r>
                        <a:rPr b="1" lang="fr-FR" sz="1800" strike="noStrike" u="none">
                          <a:solidFill>
                            <a:srgbClr val="000000"/>
                          </a:solidFill>
                          <a:effectLst/>
                          <a:uFillTx/>
                          <a:latin typeface="Calibri"/>
                        </a:rPr>
                        <a:t>: Composition corporelle : Indépendancemétrie ou mesure des plis cutanés (% de graisse et masse maigre)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118908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biologique : </a:t>
                      </a:r>
                      <a:r>
                        <a:rPr b="0" lang="fr-FR" sz="1800" strike="noStrike" u="none">
                          <a:solidFill>
                            <a:srgbClr val="000000"/>
                          </a:solidFill>
                          <a:effectLst/>
                          <a:uFillTx/>
                          <a:latin typeface="Calibri"/>
                        </a:rPr>
                        <a:t>suivi  des paramètres biologiques les plus pertinents  (Analyse : 1)d’échantillons urinaires matinaux par technique métabolomique, de micro échantillons sanguins par technique infrarouge à TF). </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r h="118908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de l’évolution des qualités physiques :</a:t>
                      </a:r>
                      <a:r>
                        <a:rPr b="0" lang="fr-FR" sz="1800" strike="noStrike" u="none">
                          <a:solidFill>
                            <a:srgbClr val="000000"/>
                          </a:solidFill>
                          <a:effectLst/>
                          <a:uFillTx/>
                          <a:latin typeface="Calibri"/>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Vitesse : </a:t>
                      </a:r>
                      <a:r>
                        <a:rPr b="0" lang="fr-FR" sz="1800" strike="noStrike" u="none">
                          <a:solidFill>
                            <a:srgbClr val="000000"/>
                          </a:solidFill>
                          <a:effectLst/>
                          <a:uFillTx/>
                          <a:latin typeface="Calibri"/>
                        </a:rPr>
                        <a:t>10m, 20m, 20m (+ 10m lancé).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Puissance : </a:t>
                      </a:r>
                      <a:r>
                        <a:rPr b="0" lang="fr-FR" sz="1800" strike="noStrike" u="none">
                          <a:solidFill>
                            <a:srgbClr val="000000"/>
                          </a:solidFill>
                          <a:effectLst/>
                          <a:uFillTx/>
                          <a:latin typeface="Calibri"/>
                        </a:rPr>
                        <a:t>Détente verticale (SJ, CMJ)</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Souplesse : </a:t>
                      </a:r>
                      <a:r>
                        <a:rPr b="0" lang="fr-FR" sz="1800" strike="noStrike" u="none">
                          <a:solidFill>
                            <a:srgbClr val="000000"/>
                          </a:solidFill>
                          <a:effectLst/>
                          <a:uFillTx/>
                          <a:latin typeface="Calibri"/>
                        </a:rPr>
                        <a:t>Position assise</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64044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de l’évolution de la coordination </a:t>
                      </a:r>
                      <a:r>
                        <a:rPr b="0" lang="fr-FR" sz="1800" strike="noStrike" u="none">
                          <a:solidFill>
                            <a:srgbClr val="000000"/>
                          </a:solidFill>
                          <a:effectLst/>
                          <a:uFillTx/>
                          <a:latin typeface="Calibri"/>
                        </a:rPr>
                        <a:t>: 20 m en crochet sans et avec ballon</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r h="228636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de l’évolution  des capacités physiologiques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Puissance aérobie maximale : </a:t>
                      </a:r>
                      <a:r>
                        <a:rPr b="0" lang="fr-FR" sz="1800" strike="noStrike" u="none">
                          <a:solidFill>
                            <a:srgbClr val="000000"/>
                          </a:solidFill>
                          <a:effectLst/>
                          <a:uFillTx/>
                          <a:latin typeface="Calibri"/>
                        </a:rPr>
                        <a:t>VAMEVAL (courbe FC-vitesse, VAM, FCmax, lactate)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Endurance spécifique HRS :</a:t>
                      </a:r>
                      <a:r>
                        <a:rPr b="0" lang="fr-FR" sz="1800" strike="noStrike" u="none">
                          <a:solidFill>
                            <a:srgbClr val="000000"/>
                          </a:solidFill>
                          <a:effectLst/>
                          <a:uFillTx/>
                          <a:latin typeface="Calibri"/>
                        </a:rPr>
                        <a:t> 12 x 20 m en ligne et en crochet sans et avec ballon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Puissance lactique :</a:t>
                      </a:r>
                      <a:r>
                        <a:rPr b="0" lang="fr-FR" sz="1800" strike="noStrike" u="none">
                          <a:solidFill>
                            <a:srgbClr val="000000"/>
                          </a:solidFill>
                          <a:effectLst/>
                          <a:uFillTx/>
                          <a:latin typeface="Calibri"/>
                        </a:rPr>
                        <a:t> 1 Navette 30s (distance parcourue),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000000"/>
                          </a:solidFill>
                          <a:effectLst/>
                          <a:uFillTx/>
                          <a:latin typeface="Calibri"/>
                        </a:rPr>
                        <a:t>Endurance lactique : </a:t>
                      </a:r>
                      <a:r>
                        <a:rPr b="0" lang="fr-FR" sz="1800" strike="noStrike" u="none">
                          <a:solidFill>
                            <a:srgbClr val="000000"/>
                          </a:solidFill>
                          <a:effectLst/>
                          <a:uFillTx/>
                          <a:latin typeface="Calibri"/>
                        </a:rPr>
                        <a:t>3 navette 30s récupération passive 35s (distance totale et moyenne parcourue </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e8e8f3"/>
                    </a:solidFill>
                  </a:tcPr>
                </a:tc>
              </a:tr>
              <a:tr h="36612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sng">
                          <a:solidFill>
                            <a:srgbClr val="000000"/>
                          </a:solidFill>
                          <a:effectLst/>
                          <a:uFillTx/>
                          <a:latin typeface="Calibri"/>
                        </a:rPr>
                        <a:t>Suivi psychologique : </a:t>
                      </a:r>
                      <a:r>
                        <a:rPr b="0" lang="fr-FR" sz="1800" strike="noStrike" u="none">
                          <a:solidFill>
                            <a:srgbClr val="000000"/>
                          </a:solidFill>
                          <a:effectLst/>
                          <a:uFillTx/>
                          <a:latin typeface="Calibri"/>
                        </a:rPr>
                        <a:t>POMS (profil)</a:t>
                      </a:r>
                      <a:endParaRPr b="0" lang="en-US" sz="1800" strike="noStrike" u="none">
                        <a:solidFill>
                          <a:srgbClr val="ffff00"/>
                        </a:solidFill>
                        <a:effectLst/>
                        <a:uFillTx/>
                        <a:latin typeface="Times New Roman"/>
                      </a:endParaRPr>
                    </a:p>
                  </a:txBody>
                  <a:tcPr anchor="t" marL="91440" marR="91440">
                    <a:lnL w="5760">
                      <a:solidFill>
                        <a:srgbClr val="2d2db9"/>
                      </a:solidFill>
                      <a:prstDash val="solid"/>
                    </a:lnL>
                    <a:lnR w="5760">
                      <a:solidFill>
                        <a:srgbClr val="2d2db9"/>
                      </a:solidFill>
                      <a:prstDash val="solid"/>
                    </a:lnR>
                    <a:lnT w="5760">
                      <a:solidFill>
                        <a:srgbClr val="2d2db9"/>
                      </a:solidFill>
                      <a:prstDash val="solid"/>
                    </a:lnT>
                    <a:lnB w="5760">
                      <a:solidFill>
                        <a:srgbClr val="2d2db9"/>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Text Box 2"/>
          <p:cNvSpPr/>
          <p:nvPr/>
        </p:nvSpPr>
        <p:spPr>
          <a:xfrm>
            <a:off x="324000" y="1989000"/>
            <a:ext cx="8351640" cy="393336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7- Traiter et interpréter les résultats afin qu’entraîneur et sportif les comparent à ceux obtenus aux évaluations précédentes,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6" name="Picture 2" descr=""/>
          <p:cNvPicPr/>
          <p:nvPr/>
        </p:nvPicPr>
        <p:blipFill>
          <a:blip r:embed="rId1"/>
          <a:srcRect l="19377" t="9140" r="37033" b="8063"/>
          <a:stretch/>
        </p:blipFill>
        <p:spPr>
          <a:xfrm>
            <a:off x="533520" y="11160"/>
            <a:ext cx="8001000" cy="6842160"/>
          </a:xfrm>
          <a:prstGeom prst="rect">
            <a:avLst/>
          </a:prstGeom>
          <a:noFill/>
          <a:ln w="0">
            <a:noFill/>
          </a:ln>
        </p:spPr>
      </p:pic>
    </p:spTree>
  </p:cSld>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7" name="Picture 2" descr=""/>
          <p:cNvPicPr/>
          <p:nvPr/>
        </p:nvPicPr>
        <p:blipFill>
          <a:blip r:embed="rId1"/>
          <a:srcRect l="0" t="4206" r="0" b="0"/>
          <a:stretch/>
        </p:blipFill>
        <p:spPr>
          <a:xfrm>
            <a:off x="0" y="1440"/>
            <a:ext cx="9144000" cy="6856560"/>
          </a:xfrm>
          <a:prstGeom prst="rect">
            <a:avLst/>
          </a:prstGeom>
          <a:noFill/>
          <a:ln w="0">
            <a:noFill/>
          </a:ln>
        </p:spPr>
      </p:pic>
      <p:sp>
        <p:nvSpPr>
          <p:cNvPr id="758" name="Line 3"/>
          <p:cNvSpPr/>
          <p:nvPr/>
        </p:nvSpPr>
        <p:spPr>
          <a:xfrm flipH="1">
            <a:off x="3886200" y="5334120"/>
            <a:ext cx="53352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59" name="Line 4"/>
          <p:cNvSpPr/>
          <p:nvPr/>
        </p:nvSpPr>
        <p:spPr>
          <a:xfrm>
            <a:off x="6019920" y="3352680"/>
            <a:ext cx="380880" cy="30492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60" name="Rectangle 5"/>
          <p:cNvSpPr/>
          <p:nvPr/>
        </p:nvSpPr>
        <p:spPr>
          <a:xfrm>
            <a:off x="7238880" y="304920"/>
            <a:ext cx="838440" cy="152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Text Box 2"/>
          <p:cNvSpPr/>
          <p:nvPr/>
        </p:nvSpPr>
        <p:spPr>
          <a:xfrm>
            <a:off x="250920" y="1700280"/>
            <a:ext cx="8569080" cy="316548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8- Choisir et/ou adapter des méthodes d’entraînement correspondant aux priorités et aux exigences de la performance.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Text Box 2"/>
          <p:cNvSpPr/>
          <p:nvPr/>
        </p:nvSpPr>
        <p:spPr>
          <a:xfrm>
            <a:off x="324000" y="620640"/>
            <a:ext cx="8424720" cy="5469120"/>
          </a:xfrm>
          <a:prstGeom prst="rect">
            <a:avLst/>
          </a:prstGeom>
          <a:noFill/>
          <a:ln w="0">
            <a:noFill/>
          </a:ln>
        </p:spPr>
        <p:style>
          <a:lnRef idx="0"/>
          <a:fillRef idx="0"/>
          <a:effectRef idx="0"/>
          <a:fontRef idx="minor"/>
        </p:style>
        <p:txBody>
          <a:bodyPr lIns="90000" rIns="90000" tIns="46800" bIns="46800" anchor="t">
            <a:spAutoFit/>
          </a:bodyPr>
          <a:p>
            <a:pPr algn="just">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9- Mettre en place des stages de formation continue permettant aux entraîneurs concernés et aux joueurs les plus autonomes d’actualiser ou de réactualiser leurs connaissances et leurs compétences.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Text Box 2"/>
          <p:cNvSpPr/>
          <p:nvPr/>
        </p:nvSpPr>
        <p:spPr>
          <a:xfrm>
            <a:off x="250920" y="549360"/>
            <a:ext cx="8642160" cy="5469120"/>
          </a:xfrm>
          <a:prstGeom prst="rect">
            <a:avLst/>
          </a:prstGeom>
          <a:noFill/>
          <a:ln w="0">
            <a:noFill/>
          </a:ln>
        </p:spPr>
        <p:style>
          <a:lnRef idx="0"/>
          <a:fillRef idx="0"/>
          <a:effectRef idx="0"/>
          <a:fontRef idx="minor"/>
        </p:style>
        <p:txBody>
          <a:bodyPr lIns="90000" rIns="90000" tIns="46800" bIns="46800" anchor="t">
            <a:spAutoFit/>
          </a:bodyPr>
          <a:p>
            <a:pPr algn="just">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Calibri"/>
                <a:ea typeface="Calibri"/>
              </a:rPr>
              <a:t>10 - Sur la base des résultats des tests et des performances intermédiaires et en fonction de l’atteinte ou non des objectifs initialement fixés, analyser, poursuivre ou réajuster le système de planification mis en place. </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Text Box 2"/>
          <p:cNvSpPr/>
          <p:nvPr/>
        </p:nvSpPr>
        <p:spPr>
          <a:xfrm>
            <a:off x="196920" y="44280"/>
            <a:ext cx="8839080" cy="7779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11- Faire au moins un bilan annuel sur la qualité des conditions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  matérielles : installations, salle de musculation, qualité des moyens de récupération, moyen vidéo…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 sociales : suivi scolaire, universitaire ou professionnel ;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 médicales et paramédicales : équipement du cabinet médical, de l’infirmerie, de la salle de kinésithérapie et de massage, consultations auprès de spécialistes ;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 psychologiques…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et au besoin tenter de les améliorer. </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Mésocycles,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766" name="Flèche droite 2"/>
          <p:cNvSpPr/>
          <p:nvPr/>
        </p:nvSpPr>
        <p:spPr>
          <a:xfrm>
            <a:off x="569880" y="515772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393" dur="indefinite" restart="never" nodeType="tmRoot">
          <p:childTnLst>
            <p:seq>
              <p:cTn id="1394" dur="indefinite" nodeType="mainSeq">
                <p:childTnLst>
                  <p:par>
                    <p:cTn id="1395" nodeType="clickEffect" fill="hold">
                      <p:stCondLst>
                        <p:cond delay="indefinite"/>
                      </p:stCondLst>
                      <p:childTnLst>
                        <p:par>
                          <p:cTn id="1396" nodeType="withEffect" fill="hold">
                            <p:stCondLst>
                              <p:cond delay="0"/>
                            </p:stCondLst>
                            <p:childTnLst>
                              <p:par>
                                <p:cTn id="1397" nodeType="clickEffect" fill="hold" presetClass="entr" presetID="22" presetSubtype="8">
                                  <p:stCondLst>
                                    <p:cond delay="0"/>
                                  </p:stCondLst>
                                  <p:childTnLst>
                                    <p:set>
                                      <p:cBhvr>
                                        <p:cTn id="1398" dur="1" fill="hold">
                                          <p:stCondLst>
                                            <p:cond delay="0"/>
                                          </p:stCondLst>
                                        </p:cTn>
                                        <p:tgtEl>
                                          <p:spTgt spid="766"/>
                                        </p:tgtEl>
                                        <p:attrNameLst>
                                          <p:attrName>style.visibility</p:attrName>
                                        </p:attrNameLst>
                                      </p:cBhvr>
                                      <p:to>
                                        <p:strVal val="visible"/>
                                      </p:to>
                                    </p:set>
                                    <p:animEffect filter="wipe(left)" transition="in">
                                      <p:cBhvr additive="repl">
                                        <p:cTn id="1399" dur="500"/>
                                        <p:tgtEl>
                                          <p:spTgt spid="7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768"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69"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770"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1"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2"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3"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Programmation, </a:t>
            </a:r>
            <a:r>
              <a:rPr b="0" lang="fr-FR" sz="2400" strike="noStrike" u="none">
                <a:solidFill>
                  <a:srgbClr val="f8f8f8"/>
                </a:solidFill>
                <a:effectLst/>
                <a:uFillTx/>
                <a:latin typeface="Bookman Old Style"/>
              </a:rPr>
              <a:t>(une saison)</a:t>
            </a:r>
            <a:endParaRPr b="0" lang="en-US" sz="2400" strike="noStrike" u="none">
              <a:solidFill>
                <a:srgbClr val="ffff00"/>
              </a:solidFill>
              <a:effectLst/>
              <a:uFillTx/>
              <a:latin typeface="Times New Roman"/>
            </a:endParaRPr>
          </a:p>
        </p:txBody>
      </p:sp>
      <p:sp>
        <p:nvSpPr>
          <p:cNvPr id="774"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5"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6"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7"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8" name="Text Box 13"/>
          <p:cNvSpPr/>
          <p:nvPr/>
        </p:nvSpPr>
        <p:spPr>
          <a:xfrm>
            <a:off x="22921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779" name="Text Box 14"/>
          <p:cNvSpPr/>
          <p:nvPr/>
        </p:nvSpPr>
        <p:spPr>
          <a:xfrm>
            <a:off x="45781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780"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1"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2"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3" name="Text Box 18"/>
          <p:cNvSpPr/>
          <p:nvPr/>
        </p:nvSpPr>
        <p:spPr>
          <a:xfrm>
            <a:off x="66355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784"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5"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6"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7" name="Text Box 22"/>
          <p:cNvSpPr/>
          <p:nvPr/>
        </p:nvSpPr>
        <p:spPr>
          <a:xfrm>
            <a:off x="2347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788"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789"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790"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791" name="Line 26"/>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2" name="Line 27"/>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3" name="Line 28"/>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4" name="Line 29"/>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5" name="Line 30"/>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6" name="Line 31"/>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7" name="Line 32"/>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8" name="Line 33"/>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9" name="Line 34"/>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0" name="Line 35"/>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1" name="Line 36"/>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2" name="Text Box 37"/>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803" name="Line 38"/>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4" name="Line 39"/>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5" name="Line 40"/>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6" name="Line 41"/>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7" name="Text Box 42"/>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808" name="Line 43"/>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9" name="Line 44"/>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0" name="Line 45"/>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1" name="Line 46"/>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2" name="Text Box 47"/>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813" name="Line 48"/>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4" name="Line 49"/>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5" name="Line 50"/>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6" name="Line 51"/>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17" name="Ellipse 1"/>
          <p:cNvSpPr/>
          <p:nvPr/>
        </p:nvSpPr>
        <p:spPr>
          <a:xfrm>
            <a:off x="-119160" y="5911920"/>
            <a:ext cx="9263160" cy="995400"/>
          </a:xfrm>
          <a:prstGeom prst="ellipse">
            <a:avLst/>
          </a:prstGeom>
          <a:noFill/>
          <a:ln w="2556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400" dur="indefinite" restart="never" nodeType="tmRoot">
          <p:childTnLst>
            <p:seq>
              <p:cTn id="1401" dur="indefinite" nodeType="mainSeq">
                <p:childTnLst>
                  <p:par>
                    <p:cTn id="1402" nodeType="clickEffect" fill="hold">
                      <p:stCondLst>
                        <p:cond delay="indefinite"/>
                      </p:stCondLst>
                      <p:childTnLst>
                        <p:par>
                          <p:cTn id="1403" nodeType="withEffect" fill="hold">
                            <p:stCondLst>
                              <p:cond delay="0"/>
                            </p:stCondLst>
                            <p:childTnLst>
                              <p:par>
                                <p:cTn id="1404" nodeType="clickEffect" fill="hold" presetClass="entr" presetID="22" presetSubtype="4" repeatCount="1000">
                                  <p:stCondLst>
                                    <p:cond delay="0"/>
                                  </p:stCondLst>
                                  <p:childTnLst>
                                    <p:set>
                                      <p:cBhvr>
                                        <p:cTn id="1405" dur="1" fill="hold">
                                          <p:stCondLst>
                                            <p:cond delay="0"/>
                                          </p:stCondLst>
                                        </p:cTn>
                                        <p:tgtEl>
                                          <p:spTgt spid="817"/>
                                        </p:tgtEl>
                                        <p:attrNameLst>
                                          <p:attrName>style.visibility</p:attrName>
                                        </p:attrNameLst>
                                      </p:cBhvr>
                                      <p:to>
                                        <p:strVal val="visible"/>
                                      </p:to>
                                    </p:set>
                                    <p:animEffect filter="wipe(down)" transition="in">
                                      <p:cBhvr additive="repl">
                                        <p:cTn id="1406" dur="1250"/>
                                        <p:tgtEl>
                                          <p:spTgt spid="8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8" name="Rectangle 3"/>
          <p:cNvSpPr/>
          <p:nvPr/>
        </p:nvSpPr>
        <p:spPr>
          <a:xfrm>
            <a:off x="1698480" y="2562120"/>
            <a:ext cx="5080320" cy="764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400" strike="noStrike" u="none">
                <a:solidFill>
                  <a:srgbClr val="66ffff"/>
                </a:solidFill>
                <a:effectLst/>
                <a:uFillTx/>
                <a:latin typeface="Bookman Old Style"/>
              </a:rPr>
              <a:t>1.1  L’EXERCICE</a:t>
            </a:r>
            <a:endParaRPr b="0" lang="en-US" sz="4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Text Box 4"/>
          <p:cNvSpPr/>
          <p:nvPr/>
        </p:nvSpPr>
        <p:spPr>
          <a:xfrm>
            <a:off x="257760" y="1527120"/>
            <a:ext cx="8944560" cy="2655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Au plan physiologique l’exercice se caractérise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par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00"/>
              </a:buClr>
              <a:buFont typeface="Bookman Old Style"/>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 son intensité</a:t>
            </a:r>
            <a:endParaRPr b="0" lang="en-US" sz="2800" strike="noStrike" u="none">
              <a:solidFill>
                <a:srgbClr val="ffff00"/>
              </a:solidFill>
              <a:effectLst/>
              <a:uFillTx/>
              <a:latin typeface="Times New Roman"/>
            </a:endParaRPr>
          </a:p>
          <a:p>
            <a:pPr>
              <a:lnSpc>
                <a:spcPct val="100000"/>
              </a:lnSpc>
              <a:buClr>
                <a:srgbClr val="ffff00"/>
              </a:buClr>
              <a:buFont typeface="Bookman Old Style"/>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 sa durée</a:t>
            </a:r>
            <a:endParaRPr b="0" lang="en-US" sz="2800" strike="noStrike" u="none">
              <a:solidFill>
                <a:srgbClr val="ffff00"/>
              </a:solidFill>
              <a:effectLst/>
              <a:uFillTx/>
              <a:latin typeface="Times New Roman"/>
            </a:endParaRPr>
          </a:p>
          <a:p>
            <a:pPr>
              <a:lnSpc>
                <a:spcPct val="100000"/>
              </a:lnSpc>
              <a:buClr>
                <a:srgbClr val="ffff00"/>
              </a:buClr>
              <a:buFont typeface="Bookman Old Style"/>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 et sa récupération</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Text Box 2"/>
          <p:cNvSpPr/>
          <p:nvPr/>
        </p:nvSpPr>
        <p:spPr>
          <a:xfrm>
            <a:off x="1444680" y="231840"/>
            <a:ext cx="65944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Tableau récapitulatif de la nature et de la durée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de la récupération en fonction de l’exercice</a:t>
            </a:r>
            <a:endParaRPr b="0" lang="en-US" sz="2000" strike="noStrike" u="none">
              <a:solidFill>
                <a:srgbClr val="ffff00"/>
              </a:solidFill>
              <a:effectLst/>
              <a:uFillTx/>
              <a:latin typeface="Times New Roman"/>
            </a:endParaRPr>
          </a:p>
        </p:txBody>
      </p:sp>
      <p:sp>
        <p:nvSpPr>
          <p:cNvPr id="821" name="Rectangle 3"/>
          <p:cNvSpPr/>
          <p:nvPr/>
        </p:nvSpPr>
        <p:spPr>
          <a:xfrm>
            <a:off x="457200" y="1295280"/>
            <a:ext cx="8381880" cy="502920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822" name="Text Box 4"/>
          <p:cNvSpPr/>
          <p:nvPr/>
        </p:nvSpPr>
        <p:spPr>
          <a:xfrm>
            <a:off x="534960" y="2463840"/>
            <a:ext cx="1857600" cy="3111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Oxygène..........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ATP-PCr.........</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Glycogène........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et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métabolisme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du lactate</a:t>
            </a:r>
            <a:endParaRPr b="0" lang="en-US" sz="1800" strike="noStrike" u="none">
              <a:solidFill>
                <a:srgbClr val="ffff00"/>
              </a:solidFill>
              <a:effectLst/>
              <a:uFillTx/>
              <a:latin typeface="Times New Roman"/>
            </a:endParaRPr>
          </a:p>
        </p:txBody>
      </p:sp>
      <p:sp>
        <p:nvSpPr>
          <p:cNvPr id="823" name="Text Box 5"/>
          <p:cNvSpPr/>
          <p:nvPr/>
        </p:nvSpPr>
        <p:spPr>
          <a:xfrm>
            <a:off x="534600" y="1320840"/>
            <a:ext cx="204876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Reconstitution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des réserves en :</a:t>
            </a:r>
            <a:endParaRPr b="0" lang="en-US" sz="1800" strike="noStrike" u="none">
              <a:solidFill>
                <a:srgbClr val="ffff00"/>
              </a:solidFill>
              <a:effectLst/>
              <a:uFillTx/>
              <a:latin typeface="Times New Roman"/>
            </a:endParaRPr>
          </a:p>
        </p:txBody>
      </p:sp>
      <p:sp>
        <p:nvSpPr>
          <p:cNvPr id="824" name="Text Box 6"/>
          <p:cNvSpPr/>
          <p:nvPr/>
        </p:nvSpPr>
        <p:spPr>
          <a:xfrm>
            <a:off x="2730240" y="1332000"/>
            <a:ext cx="2708640" cy="44830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Récupération complète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Nature            Durées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Passive         10 à 15 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Passive         6 à 8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passive          24 à 48 h</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Passive          1 h 30</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Active             20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825" name="Text Box 7"/>
          <p:cNvSpPr/>
          <p:nvPr/>
        </p:nvSpPr>
        <p:spPr>
          <a:xfrm>
            <a:off x="5334120" y="1295280"/>
            <a:ext cx="3504960" cy="4208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00"/>
                </a:solidFill>
                <a:effectLst/>
                <a:uFillTx/>
                <a:latin typeface="Arial"/>
              </a:rPr>
              <a:t>   </a:t>
            </a:r>
            <a:r>
              <a:rPr b="1" lang="en-US" sz="1800" strike="noStrike" u="none">
                <a:solidFill>
                  <a:srgbClr val="ffff00"/>
                </a:solidFill>
                <a:effectLst/>
                <a:uFillTx/>
                <a:latin typeface="Arial"/>
              </a:rPr>
              <a:t>Récupération incomplète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Nature                      Durées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Passive:                   10 à 15 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Passive :              1.30 à 2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Passive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augmentation de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l’apport en glucides :     24 h</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Passive :               30 à 45 min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Arial"/>
              </a:rPr>
              <a:t>  Active :                    6 à 8 min</a:t>
            </a:r>
            <a:r>
              <a:rPr b="0" lang="en-US"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826" name="Line 8"/>
          <p:cNvSpPr/>
          <p:nvPr/>
        </p:nvSpPr>
        <p:spPr>
          <a:xfrm>
            <a:off x="2590920" y="1295280"/>
            <a:ext cx="0" cy="464832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27" name="Line 9"/>
          <p:cNvSpPr/>
          <p:nvPr/>
        </p:nvSpPr>
        <p:spPr>
          <a:xfrm>
            <a:off x="5410080" y="1295280"/>
            <a:ext cx="0" cy="464832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28" name="Line 10"/>
          <p:cNvSpPr/>
          <p:nvPr/>
        </p:nvSpPr>
        <p:spPr>
          <a:xfrm>
            <a:off x="457200" y="2286000"/>
            <a:ext cx="83818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29" name="Line 11"/>
          <p:cNvSpPr/>
          <p:nvPr/>
        </p:nvSpPr>
        <p:spPr>
          <a:xfrm>
            <a:off x="2590920" y="1752480"/>
            <a:ext cx="624816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30" name="Text Box 12"/>
          <p:cNvSpPr/>
          <p:nvPr/>
        </p:nvSpPr>
        <p:spPr>
          <a:xfrm>
            <a:off x="457200" y="5943600"/>
            <a:ext cx="8381880" cy="368280"/>
          </a:xfrm>
          <a:prstGeom prst="rect">
            <a:avLst/>
          </a:prstGeom>
          <a:noFill/>
          <a:ln w="936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00"/>
                </a:solidFill>
                <a:effectLst/>
                <a:uFillTx/>
                <a:latin typeface="Arial"/>
              </a:rPr>
              <a:t>          </a:t>
            </a:r>
            <a:r>
              <a:rPr b="1" lang="en-US" sz="1800" strike="noStrike" u="none">
                <a:solidFill>
                  <a:srgbClr val="ffff00"/>
                </a:solidFill>
                <a:effectLst/>
                <a:uFillTx/>
                <a:latin typeface="Arial"/>
              </a:rPr>
              <a:t>(*) : Compatible avec la reprise d’exercices d’intensité élevée</a:t>
            </a:r>
            <a:endParaRPr b="0" lang="en-US" sz="1800" strike="noStrike" u="none">
              <a:solidFill>
                <a:srgbClr val="ffff00"/>
              </a:solidFill>
              <a:effectLst/>
              <a:uFillTx/>
              <a:latin typeface="Times New Roman"/>
            </a:endParaRPr>
          </a:p>
        </p:txBody>
      </p:sp>
      <p:sp>
        <p:nvSpPr>
          <p:cNvPr id="831" name="Text Box 13"/>
          <p:cNvSpPr/>
          <p:nvPr/>
        </p:nvSpPr>
        <p:spPr>
          <a:xfrm rot="19464000">
            <a:off x="183240" y="334080"/>
            <a:ext cx="11361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RAPPEL</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407" dur="indefinite" restart="never" nodeType="tmRoot">
          <p:childTnLst>
            <p:seq>
              <p:cTn id="1408" dur="indefinite" nodeType="mainSeq">
                <p:childTnLst>
                  <p:par>
                    <p:cTn id="1409" nodeType="clickEffect" fill="hold">
                      <p:stCondLst>
                        <p:cond delay="0"/>
                      </p:stCondLst>
                      <p:childTnLst>
                        <p:par>
                          <p:cTn id="1410" nodeType="withEffect" fill="hold">
                            <p:stCondLst>
                              <p:cond delay="0"/>
                            </p:stCondLst>
                            <p:childTnLst>
                              <p:par>
                                <p:cTn id="1411" nodeType="afterEffect" fill="hold" presetClass="entr" presetID="9">
                                  <p:stCondLst>
                                    <p:cond delay="0"/>
                                  </p:stCondLst>
                                  <p:childTnLst>
                                    <p:set>
                                      <p:cBhvr>
                                        <p:cTn id="1412" dur="1" fill="hold">
                                          <p:stCondLst>
                                            <p:cond delay="0"/>
                                          </p:stCondLst>
                                        </p:cTn>
                                        <p:tgtEl>
                                          <p:spTgt spid="820"/>
                                        </p:tgtEl>
                                        <p:attrNameLst>
                                          <p:attrName>style.visibility</p:attrName>
                                        </p:attrNameLst>
                                      </p:cBhvr>
                                      <p:to>
                                        <p:strVal val="visible"/>
                                      </p:to>
                                    </p:set>
                                    <p:animEffect filter="dissolve" transition="in">
                                      <p:cBhvr additive="repl">
                                        <p:cTn id="1413" dur="500"/>
                                        <p:tgtEl>
                                          <p:spTgt spid="820"/>
                                        </p:tgtEl>
                                      </p:cBhvr>
                                    </p:animEffect>
                                  </p:childTnLst>
                                </p:cTn>
                              </p:par>
                            </p:childTnLst>
                          </p:cTn>
                        </p:par>
                        <p:par>
                          <p:cTn id="1414" nodeType="afterEffect" fill="hold">
                            <p:stCondLst>
                              <p:cond delay="500"/>
                            </p:stCondLst>
                            <p:childTnLst>
                              <p:par>
                                <p:cTn id="1415" nodeType="afterEffect" fill="hold" presetClass="entr" presetID="9">
                                  <p:stCondLst>
                                    <p:cond delay="0"/>
                                  </p:stCondLst>
                                  <p:childTnLst>
                                    <p:set>
                                      <p:cBhvr>
                                        <p:cTn id="1416" dur="1" fill="hold">
                                          <p:stCondLst>
                                            <p:cond delay="0"/>
                                          </p:stCondLst>
                                        </p:cTn>
                                        <p:tgtEl>
                                          <p:spTgt spid="821"/>
                                        </p:tgtEl>
                                        <p:attrNameLst>
                                          <p:attrName>style.visibility</p:attrName>
                                        </p:attrNameLst>
                                      </p:cBhvr>
                                      <p:to>
                                        <p:strVal val="visible"/>
                                      </p:to>
                                    </p:set>
                                    <p:animEffect filter="dissolve" transition="in">
                                      <p:cBhvr additive="repl">
                                        <p:cTn id="1417" dur="500"/>
                                        <p:tgtEl>
                                          <p:spTgt spid="821"/>
                                        </p:tgtEl>
                                      </p:cBhvr>
                                    </p:animEffect>
                                  </p:childTnLst>
                                </p:cTn>
                              </p:par>
                            </p:childTnLst>
                          </p:cTn>
                        </p:par>
                        <p:par>
                          <p:cTn id="1418" nodeType="afterEffect" fill="hold">
                            <p:stCondLst>
                              <p:cond delay="1000"/>
                            </p:stCondLst>
                            <p:childTnLst>
                              <p:par>
                                <p:cTn id="1419" nodeType="afterEffect" fill="hold" presetClass="entr" presetID="9">
                                  <p:stCondLst>
                                    <p:cond delay="0"/>
                                  </p:stCondLst>
                                  <p:iterate type="wd">
                                    <p:tmAbs val="300"/>
                                  </p:iterate>
                                  <p:childTnLst>
                                    <p:set>
                                      <p:cBhvr>
                                        <p:cTn id="1420" dur="1" fill="hold">
                                          <p:stCondLst>
                                            <p:cond delay="0"/>
                                          </p:stCondLst>
                                        </p:cTn>
                                        <p:tgtEl>
                                          <p:spTgt spid="823"/>
                                        </p:tgtEl>
                                        <p:attrNameLst>
                                          <p:attrName>style.visibility</p:attrName>
                                        </p:attrNameLst>
                                      </p:cBhvr>
                                      <p:to>
                                        <p:strVal val="visible"/>
                                      </p:to>
                                    </p:set>
                                    <p:animEffect filter="dissolve" transition="in">
                                      <p:cBhvr additive="repl">
                                        <p:cTn id="1421" dur="300"/>
                                        <p:tgtEl>
                                          <p:spTgt spid="823"/>
                                        </p:tgtEl>
                                      </p:cBhvr>
                                    </p:animEffect>
                                  </p:childTnLst>
                                </p:cTn>
                              </p:par>
                            </p:childTnLst>
                          </p:cTn>
                        </p:par>
                        <p:par>
                          <p:cTn id="1422" nodeType="afterEffect" fill="hold">
                            <p:stCondLst>
                              <p:cond delay="2800"/>
                            </p:stCondLst>
                            <p:childTnLst>
                              <p:par>
                                <p:cTn id="1423" nodeType="afterEffect" fill="hold" presetClass="entr" presetID="9">
                                  <p:stCondLst>
                                    <p:cond delay="1000"/>
                                  </p:stCondLst>
                                  <p:iterate type="wd">
                                    <p:tmAbs val="300"/>
                                  </p:iterate>
                                  <p:childTnLst>
                                    <p:set>
                                      <p:cBhvr>
                                        <p:cTn id="1424" dur="1" fill="hold">
                                          <p:stCondLst>
                                            <p:cond delay="0"/>
                                          </p:stCondLst>
                                        </p:cTn>
                                        <p:tgtEl>
                                          <p:spTgt spid="822"/>
                                        </p:tgtEl>
                                        <p:attrNameLst>
                                          <p:attrName>style.visibility</p:attrName>
                                        </p:attrNameLst>
                                      </p:cBhvr>
                                      <p:to>
                                        <p:strVal val="visible"/>
                                      </p:to>
                                    </p:set>
                                    <p:animEffect filter="dissolve" transition="in">
                                      <p:cBhvr additive="repl">
                                        <p:cTn id="1425" dur="300"/>
                                        <p:tgtEl>
                                          <p:spTgt spid="822"/>
                                        </p:tgtEl>
                                      </p:cBhvr>
                                    </p:animEffect>
                                  </p:childTnLst>
                                </p:cTn>
                              </p:par>
                            </p:childTnLst>
                          </p:cTn>
                        </p:par>
                        <p:par>
                          <p:cTn id="1426" nodeType="afterEffect" fill="hold">
                            <p:stCondLst>
                              <p:cond delay="7100"/>
                            </p:stCondLst>
                            <p:childTnLst>
                              <p:par>
                                <p:cTn id="1427" nodeType="afterEffect" fill="hold" presetClass="entr" presetID="17" presetSubtype="8">
                                  <p:stCondLst>
                                    <p:cond delay="0"/>
                                  </p:stCondLst>
                                  <p:childTnLst>
                                    <p:set>
                                      <p:cBhvr>
                                        <p:cTn id="1428" dur="1" fill="hold">
                                          <p:stCondLst>
                                            <p:cond delay="0"/>
                                          </p:stCondLst>
                                        </p:cTn>
                                        <p:tgtEl>
                                          <p:spTgt spid="829"/>
                                        </p:tgtEl>
                                        <p:attrNameLst>
                                          <p:attrName>style.visibility</p:attrName>
                                        </p:attrNameLst>
                                      </p:cBhvr>
                                      <p:to>
                                        <p:strVal val="visible"/>
                                      </p:to>
                                    </p:set>
                                    <p:anim calcmode="lin" valueType="num">
                                      <p:cBhvr additive="repl">
                                        <p:cTn id="1429" dur="500" fill="hold"/>
                                        <p:tgtEl>
                                          <p:spTgt spid="829"/>
                                        </p:tgtEl>
                                        <p:attrNameLst>
                                          <p:attrName>ppt_x</p:attrName>
                                        </p:attrNameLst>
                                      </p:cBhvr>
                                      <p:tavLst>
                                        <p:tav tm="0">
                                          <p:val>
                                            <p:strVal val="#ppt_x-#ppt_w/2"/>
                                          </p:val>
                                        </p:tav>
                                        <p:tav tm="100000">
                                          <p:val>
                                            <p:strVal val="#ppt_x"/>
                                          </p:val>
                                        </p:tav>
                                      </p:tavLst>
                                    </p:anim>
                                    <p:anim calcmode="lin" valueType="num">
                                      <p:cBhvr additive="repl">
                                        <p:cTn id="1430" dur="500" fill="hold"/>
                                        <p:tgtEl>
                                          <p:spTgt spid="829"/>
                                        </p:tgtEl>
                                        <p:attrNameLst>
                                          <p:attrName>ppt_y</p:attrName>
                                        </p:attrNameLst>
                                      </p:cBhvr>
                                      <p:tavLst>
                                        <p:tav tm="0">
                                          <p:val>
                                            <p:strVal val="#ppt_y"/>
                                          </p:val>
                                        </p:tav>
                                        <p:tav tm="100000">
                                          <p:val>
                                            <p:strVal val="#ppt_y"/>
                                          </p:val>
                                        </p:tav>
                                      </p:tavLst>
                                    </p:anim>
                                    <p:anim calcmode="lin" valueType="num">
                                      <p:cBhvr additive="repl">
                                        <p:cTn id="1431" dur="500" fill="hold"/>
                                        <p:tgtEl>
                                          <p:spTgt spid="829"/>
                                        </p:tgtEl>
                                        <p:attrNameLst>
                                          <p:attrName>ppt_w</p:attrName>
                                        </p:attrNameLst>
                                      </p:cBhvr>
                                      <p:tavLst>
                                        <p:tav tm="0">
                                          <p:val>
                                            <p:fltVal val="0"/>
                                          </p:val>
                                        </p:tav>
                                        <p:tav tm="100000">
                                          <p:val>
                                            <p:strVal val="#ppt_w"/>
                                          </p:val>
                                        </p:tav>
                                      </p:tavLst>
                                    </p:anim>
                                    <p:anim calcmode="lin" valueType="num">
                                      <p:cBhvr additive="repl">
                                        <p:cTn id="1432" dur="500" fill="hold"/>
                                        <p:tgtEl>
                                          <p:spTgt spid="829"/>
                                        </p:tgtEl>
                                        <p:attrNameLst>
                                          <p:attrName>ppt_h</p:attrName>
                                        </p:attrNameLst>
                                      </p:cBhvr>
                                      <p:tavLst>
                                        <p:tav tm="0">
                                          <p:val>
                                            <p:strVal val="#ppt_h"/>
                                          </p:val>
                                        </p:tav>
                                        <p:tav tm="100000">
                                          <p:val>
                                            <p:strVal val="#ppt_h"/>
                                          </p:val>
                                        </p:tav>
                                      </p:tavLst>
                                    </p:anim>
                                  </p:childTnLst>
                                </p:cTn>
                              </p:par>
                            </p:childTnLst>
                          </p:cTn>
                        </p:par>
                        <p:par>
                          <p:cTn id="1433" nodeType="afterEffect" fill="hold">
                            <p:stCondLst>
                              <p:cond delay="7600"/>
                            </p:stCondLst>
                            <p:childTnLst>
                              <p:par>
                                <p:cTn id="1434" nodeType="afterEffect" fill="hold" presetClass="entr" presetID="17" presetSubtype="8">
                                  <p:stCondLst>
                                    <p:cond delay="0"/>
                                  </p:stCondLst>
                                  <p:childTnLst>
                                    <p:set>
                                      <p:cBhvr>
                                        <p:cTn id="1435" dur="1" fill="hold">
                                          <p:stCondLst>
                                            <p:cond delay="0"/>
                                          </p:stCondLst>
                                        </p:cTn>
                                        <p:tgtEl>
                                          <p:spTgt spid="828"/>
                                        </p:tgtEl>
                                        <p:attrNameLst>
                                          <p:attrName>style.visibility</p:attrName>
                                        </p:attrNameLst>
                                      </p:cBhvr>
                                      <p:to>
                                        <p:strVal val="visible"/>
                                      </p:to>
                                    </p:set>
                                    <p:anim calcmode="lin" valueType="num">
                                      <p:cBhvr additive="repl">
                                        <p:cTn id="1436" dur="500" fill="hold"/>
                                        <p:tgtEl>
                                          <p:spTgt spid="828"/>
                                        </p:tgtEl>
                                        <p:attrNameLst>
                                          <p:attrName>ppt_x</p:attrName>
                                        </p:attrNameLst>
                                      </p:cBhvr>
                                      <p:tavLst>
                                        <p:tav tm="0">
                                          <p:val>
                                            <p:strVal val="#ppt_x-#ppt_w/2"/>
                                          </p:val>
                                        </p:tav>
                                        <p:tav tm="100000">
                                          <p:val>
                                            <p:strVal val="#ppt_x"/>
                                          </p:val>
                                        </p:tav>
                                      </p:tavLst>
                                    </p:anim>
                                    <p:anim calcmode="lin" valueType="num">
                                      <p:cBhvr additive="repl">
                                        <p:cTn id="1437" dur="500" fill="hold"/>
                                        <p:tgtEl>
                                          <p:spTgt spid="828"/>
                                        </p:tgtEl>
                                        <p:attrNameLst>
                                          <p:attrName>ppt_y</p:attrName>
                                        </p:attrNameLst>
                                      </p:cBhvr>
                                      <p:tavLst>
                                        <p:tav tm="0">
                                          <p:val>
                                            <p:strVal val="#ppt_y"/>
                                          </p:val>
                                        </p:tav>
                                        <p:tav tm="100000">
                                          <p:val>
                                            <p:strVal val="#ppt_y"/>
                                          </p:val>
                                        </p:tav>
                                      </p:tavLst>
                                    </p:anim>
                                    <p:anim calcmode="lin" valueType="num">
                                      <p:cBhvr additive="repl">
                                        <p:cTn id="1438" dur="500" fill="hold"/>
                                        <p:tgtEl>
                                          <p:spTgt spid="828"/>
                                        </p:tgtEl>
                                        <p:attrNameLst>
                                          <p:attrName>ppt_w</p:attrName>
                                        </p:attrNameLst>
                                      </p:cBhvr>
                                      <p:tavLst>
                                        <p:tav tm="0">
                                          <p:val>
                                            <p:fltVal val="0"/>
                                          </p:val>
                                        </p:tav>
                                        <p:tav tm="100000">
                                          <p:val>
                                            <p:strVal val="#ppt_w"/>
                                          </p:val>
                                        </p:tav>
                                      </p:tavLst>
                                    </p:anim>
                                    <p:anim calcmode="lin" valueType="num">
                                      <p:cBhvr additive="repl">
                                        <p:cTn id="1439" dur="500" fill="hold"/>
                                        <p:tgtEl>
                                          <p:spTgt spid="828"/>
                                        </p:tgtEl>
                                        <p:attrNameLst>
                                          <p:attrName>ppt_h</p:attrName>
                                        </p:attrNameLst>
                                      </p:cBhvr>
                                      <p:tavLst>
                                        <p:tav tm="0">
                                          <p:val>
                                            <p:strVal val="#ppt_h"/>
                                          </p:val>
                                        </p:tav>
                                        <p:tav tm="100000">
                                          <p:val>
                                            <p:strVal val="#ppt_h"/>
                                          </p:val>
                                        </p:tav>
                                      </p:tavLst>
                                    </p:anim>
                                  </p:childTnLst>
                                </p:cTn>
                              </p:par>
                            </p:childTnLst>
                          </p:cTn>
                        </p:par>
                        <p:par>
                          <p:cTn id="1440" nodeType="afterEffect" fill="hold">
                            <p:stCondLst>
                              <p:cond delay="8100"/>
                            </p:stCondLst>
                            <p:childTnLst>
                              <p:par>
                                <p:cTn id="1441" nodeType="afterEffect" fill="hold" presetClass="entr" presetID="17" presetSubtype="1">
                                  <p:stCondLst>
                                    <p:cond delay="0"/>
                                  </p:stCondLst>
                                  <p:childTnLst>
                                    <p:set>
                                      <p:cBhvr>
                                        <p:cTn id="1442" dur="1" fill="hold">
                                          <p:stCondLst>
                                            <p:cond delay="0"/>
                                          </p:stCondLst>
                                        </p:cTn>
                                        <p:tgtEl>
                                          <p:spTgt spid="826"/>
                                        </p:tgtEl>
                                        <p:attrNameLst>
                                          <p:attrName>style.visibility</p:attrName>
                                        </p:attrNameLst>
                                      </p:cBhvr>
                                      <p:to>
                                        <p:strVal val="visible"/>
                                      </p:to>
                                    </p:set>
                                    <p:anim calcmode="lin" valueType="num">
                                      <p:cBhvr additive="repl">
                                        <p:cTn id="1443" dur="500" fill="hold"/>
                                        <p:tgtEl>
                                          <p:spTgt spid="826"/>
                                        </p:tgtEl>
                                        <p:attrNameLst>
                                          <p:attrName>ppt_x</p:attrName>
                                        </p:attrNameLst>
                                      </p:cBhvr>
                                      <p:tavLst>
                                        <p:tav tm="0">
                                          <p:val>
                                            <p:strVal val="#ppt_x"/>
                                          </p:val>
                                        </p:tav>
                                        <p:tav tm="100000">
                                          <p:val>
                                            <p:strVal val="#ppt_x"/>
                                          </p:val>
                                        </p:tav>
                                      </p:tavLst>
                                    </p:anim>
                                    <p:anim calcmode="lin" valueType="num">
                                      <p:cBhvr additive="repl">
                                        <p:cTn id="1444" dur="500" fill="hold"/>
                                        <p:tgtEl>
                                          <p:spTgt spid="826"/>
                                        </p:tgtEl>
                                        <p:attrNameLst>
                                          <p:attrName>ppt_y</p:attrName>
                                        </p:attrNameLst>
                                      </p:cBhvr>
                                      <p:tavLst>
                                        <p:tav tm="0">
                                          <p:val>
                                            <p:strVal val="#ppt_y-#ppt_h/2"/>
                                          </p:val>
                                        </p:tav>
                                        <p:tav tm="100000">
                                          <p:val>
                                            <p:strVal val="#ppt_y"/>
                                          </p:val>
                                        </p:tav>
                                      </p:tavLst>
                                    </p:anim>
                                    <p:anim calcmode="lin" valueType="num">
                                      <p:cBhvr additive="repl">
                                        <p:cTn id="1445" dur="500" fill="hold"/>
                                        <p:tgtEl>
                                          <p:spTgt spid="826"/>
                                        </p:tgtEl>
                                        <p:attrNameLst>
                                          <p:attrName>ppt_w</p:attrName>
                                        </p:attrNameLst>
                                      </p:cBhvr>
                                      <p:tavLst>
                                        <p:tav tm="0">
                                          <p:val>
                                            <p:strVal val="#ppt_w"/>
                                          </p:val>
                                        </p:tav>
                                        <p:tav tm="100000">
                                          <p:val>
                                            <p:strVal val="#ppt_w"/>
                                          </p:val>
                                        </p:tav>
                                      </p:tavLst>
                                    </p:anim>
                                    <p:anim calcmode="lin" valueType="num">
                                      <p:cBhvr additive="repl">
                                        <p:cTn id="1446" dur="500" fill="hold"/>
                                        <p:tgtEl>
                                          <p:spTgt spid="826"/>
                                        </p:tgtEl>
                                        <p:attrNameLst>
                                          <p:attrName>ppt_h</p:attrName>
                                        </p:attrNameLst>
                                      </p:cBhvr>
                                      <p:tavLst>
                                        <p:tav tm="0">
                                          <p:val>
                                            <p:fltVal val="0"/>
                                          </p:val>
                                        </p:tav>
                                        <p:tav tm="100000">
                                          <p:val>
                                            <p:strVal val="#ppt_h"/>
                                          </p:val>
                                        </p:tav>
                                      </p:tavLst>
                                    </p:anim>
                                  </p:childTnLst>
                                </p:cTn>
                              </p:par>
                            </p:childTnLst>
                          </p:cTn>
                        </p:par>
                        <p:par>
                          <p:cTn id="1447" nodeType="afterEffect" fill="hold">
                            <p:stCondLst>
                              <p:cond delay="8600"/>
                            </p:stCondLst>
                            <p:childTnLst>
                              <p:par>
                                <p:cTn id="1448" nodeType="afterEffect" fill="hold" presetClass="entr" presetID="17" presetSubtype="1">
                                  <p:stCondLst>
                                    <p:cond delay="0"/>
                                  </p:stCondLst>
                                  <p:childTnLst>
                                    <p:set>
                                      <p:cBhvr>
                                        <p:cTn id="1449" dur="1" fill="hold">
                                          <p:stCondLst>
                                            <p:cond delay="0"/>
                                          </p:stCondLst>
                                        </p:cTn>
                                        <p:tgtEl>
                                          <p:spTgt spid="827"/>
                                        </p:tgtEl>
                                        <p:attrNameLst>
                                          <p:attrName>style.visibility</p:attrName>
                                        </p:attrNameLst>
                                      </p:cBhvr>
                                      <p:to>
                                        <p:strVal val="visible"/>
                                      </p:to>
                                    </p:set>
                                    <p:anim calcmode="lin" valueType="num">
                                      <p:cBhvr additive="repl">
                                        <p:cTn id="1450" dur="500" fill="hold"/>
                                        <p:tgtEl>
                                          <p:spTgt spid="827"/>
                                        </p:tgtEl>
                                        <p:attrNameLst>
                                          <p:attrName>ppt_x</p:attrName>
                                        </p:attrNameLst>
                                      </p:cBhvr>
                                      <p:tavLst>
                                        <p:tav tm="0">
                                          <p:val>
                                            <p:strVal val="#ppt_x"/>
                                          </p:val>
                                        </p:tav>
                                        <p:tav tm="100000">
                                          <p:val>
                                            <p:strVal val="#ppt_x"/>
                                          </p:val>
                                        </p:tav>
                                      </p:tavLst>
                                    </p:anim>
                                    <p:anim calcmode="lin" valueType="num">
                                      <p:cBhvr additive="repl">
                                        <p:cTn id="1451" dur="500" fill="hold"/>
                                        <p:tgtEl>
                                          <p:spTgt spid="827"/>
                                        </p:tgtEl>
                                        <p:attrNameLst>
                                          <p:attrName>ppt_y</p:attrName>
                                        </p:attrNameLst>
                                      </p:cBhvr>
                                      <p:tavLst>
                                        <p:tav tm="0">
                                          <p:val>
                                            <p:strVal val="#ppt_y-#ppt_h/2"/>
                                          </p:val>
                                        </p:tav>
                                        <p:tav tm="100000">
                                          <p:val>
                                            <p:strVal val="#ppt_y"/>
                                          </p:val>
                                        </p:tav>
                                      </p:tavLst>
                                    </p:anim>
                                    <p:anim calcmode="lin" valueType="num">
                                      <p:cBhvr additive="repl">
                                        <p:cTn id="1452" dur="500" fill="hold"/>
                                        <p:tgtEl>
                                          <p:spTgt spid="827"/>
                                        </p:tgtEl>
                                        <p:attrNameLst>
                                          <p:attrName>ppt_w</p:attrName>
                                        </p:attrNameLst>
                                      </p:cBhvr>
                                      <p:tavLst>
                                        <p:tav tm="0">
                                          <p:val>
                                            <p:strVal val="#ppt_w"/>
                                          </p:val>
                                        </p:tav>
                                        <p:tav tm="100000">
                                          <p:val>
                                            <p:strVal val="#ppt_w"/>
                                          </p:val>
                                        </p:tav>
                                      </p:tavLst>
                                    </p:anim>
                                    <p:anim calcmode="lin" valueType="num">
                                      <p:cBhvr additive="repl">
                                        <p:cTn id="1453" dur="500" fill="hold"/>
                                        <p:tgtEl>
                                          <p:spTgt spid="827"/>
                                        </p:tgtEl>
                                        <p:attrNameLst>
                                          <p:attrName>ppt_h</p:attrName>
                                        </p:attrNameLst>
                                      </p:cBhvr>
                                      <p:tavLst>
                                        <p:tav tm="0">
                                          <p:val>
                                            <p:fltVal val="0"/>
                                          </p:val>
                                        </p:tav>
                                        <p:tav tm="100000">
                                          <p:val>
                                            <p:strVal val="#ppt_h"/>
                                          </p:val>
                                        </p:tav>
                                      </p:tavLst>
                                    </p:anim>
                                  </p:childTnLst>
                                </p:cTn>
                              </p:par>
                            </p:childTnLst>
                          </p:cTn>
                        </p:par>
                      </p:childTnLst>
                    </p:cTn>
                  </p:par>
                  <p:par>
                    <p:cTn id="1454" nodeType="clickEffect" fill="hold">
                      <p:stCondLst>
                        <p:cond delay="indefinite"/>
                      </p:stCondLst>
                      <p:childTnLst>
                        <p:par>
                          <p:cTn id="1455" nodeType="withEffect" fill="hold">
                            <p:stCondLst>
                              <p:cond delay="0"/>
                            </p:stCondLst>
                            <p:childTnLst>
                              <p:par>
                                <p:cTn id="1456" nodeType="clickEffect" fill="hold" presetClass="entr" presetID="9">
                                  <p:stCondLst>
                                    <p:cond delay="0"/>
                                  </p:stCondLst>
                                  <p:iterate type="wd">
                                    <p:tmAbs val="300"/>
                                  </p:iterate>
                                  <p:childTnLst>
                                    <p:set>
                                      <p:cBhvr>
                                        <p:cTn id="1457" dur="1" fill="hold">
                                          <p:stCondLst>
                                            <p:cond delay="0"/>
                                          </p:stCondLst>
                                        </p:cTn>
                                        <p:tgtEl>
                                          <p:spTgt spid="824"/>
                                        </p:tgtEl>
                                        <p:attrNameLst>
                                          <p:attrName>style.visibility</p:attrName>
                                        </p:attrNameLst>
                                      </p:cBhvr>
                                      <p:to>
                                        <p:strVal val="visible"/>
                                      </p:to>
                                    </p:set>
                                    <p:animEffect filter="dissolve" transition="in">
                                      <p:cBhvr additive="repl">
                                        <p:cTn id="1458" dur="300"/>
                                        <p:tgtEl>
                                          <p:spTgt spid="824"/>
                                        </p:tgtEl>
                                      </p:cBhvr>
                                    </p:animEffect>
                                  </p:childTnLst>
                                </p:cTn>
                              </p:par>
                            </p:childTnLst>
                          </p:cTn>
                        </p:par>
                      </p:childTnLst>
                    </p:cTn>
                  </p:par>
                  <p:par>
                    <p:cTn id="1459" nodeType="clickEffect" fill="hold">
                      <p:stCondLst>
                        <p:cond delay="indefinite"/>
                      </p:stCondLst>
                      <p:childTnLst>
                        <p:par>
                          <p:cTn id="1460" nodeType="withEffect" fill="hold">
                            <p:stCondLst>
                              <p:cond delay="0"/>
                            </p:stCondLst>
                            <p:childTnLst>
                              <p:par>
                                <p:cTn id="1461" nodeType="clickEffect" fill="hold" presetClass="entr" presetID="9">
                                  <p:stCondLst>
                                    <p:cond delay="0"/>
                                  </p:stCondLst>
                                  <p:iterate type="wd">
                                    <p:tmAbs val="300"/>
                                  </p:iterate>
                                  <p:childTnLst>
                                    <p:set>
                                      <p:cBhvr>
                                        <p:cTn id="1462" dur="1" fill="hold">
                                          <p:stCondLst>
                                            <p:cond delay="0"/>
                                          </p:stCondLst>
                                        </p:cTn>
                                        <p:tgtEl>
                                          <p:spTgt spid="825"/>
                                        </p:tgtEl>
                                        <p:attrNameLst>
                                          <p:attrName>style.visibility</p:attrName>
                                        </p:attrNameLst>
                                      </p:cBhvr>
                                      <p:to>
                                        <p:strVal val="visible"/>
                                      </p:to>
                                    </p:set>
                                    <p:animEffect filter="dissolve" transition="in">
                                      <p:cBhvr additive="repl">
                                        <p:cTn id="1463" dur="300"/>
                                        <p:tgtEl>
                                          <p:spTgt spid="825"/>
                                        </p:tgtEl>
                                      </p:cBhvr>
                                    </p:animEffect>
                                  </p:childTnLst>
                                </p:cTn>
                              </p:par>
                            </p:childTnLst>
                          </p:cTn>
                        </p:par>
                        <p:par>
                          <p:cTn id="1464" nodeType="afterEffect" fill="hold">
                            <p:stCondLst>
                              <p:cond delay="13200"/>
                            </p:stCondLst>
                            <p:childTnLst>
                              <p:par>
                                <p:cTn id="1465" nodeType="afterEffect" fill="hold" presetClass="entr" presetID="9">
                                  <p:stCondLst>
                                    <p:cond delay="0"/>
                                  </p:stCondLst>
                                  <p:iterate type="wd">
                                    <p:tmAbs val="300"/>
                                  </p:iterate>
                                  <p:childTnLst>
                                    <p:set>
                                      <p:cBhvr>
                                        <p:cTn id="1466" dur="1" fill="hold">
                                          <p:stCondLst>
                                            <p:cond delay="0"/>
                                          </p:stCondLst>
                                        </p:cTn>
                                        <p:tgtEl>
                                          <p:spTgt spid="830"/>
                                        </p:tgtEl>
                                        <p:attrNameLst>
                                          <p:attrName>style.visibility</p:attrName>
                                        </p:attrNameLst>
                                      </p:cBhvr>
                                      <p:to>
                                        <p:strVal val="visible"/>
                                      </p:to>
                                    </p:set>
                                    <p:animEffect filter="dissolve" transition="in">
                                      <p:cBhvr additive="repl">
                                        <p:cTn id="1467" dur="300"/>
                                        <p:tgtEl>
                                          <p:spTgt spid="8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p:nvPr>
        </p:nvSpPr>
        <p:spPr>
          <a:xfrm>
            <a:off x="228600" y="1125360"/>
            <a:ext cx="8686800" cy="5732640"/>
          </a:xfrm>
          <a:prstGeom prst="rect">
            <a:avLst/>
          </a:prstGeom>
          <a:noFill/>
          <a:ln w="0">
            <a:noFill/>
          </a:ln>
        </p:spPr>
        <p:txBody>
          <a:bodyPr lIns="92160" rIns="92160" tIns="46080" bIns="46080" anchor="t">
            <a:normAutofit lnSpcReduction="9999"/>
          </a:bodyPr>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a:t>
            </a:r>
            <a:r>
              <a:rPr b="1" lang="fr-FR" sz="2400" strike="noStrike" u="none">
                <a:solidFill>
                  <a:srgbClr val="ffffff"/>
                </a:solidFill>
                <a:effectLst/>
                <a:uFillTx/>
                <a:latin typeface="Bookman Old Style"/>
              </a:rPr>
              <a:t>Les exercices continus, inframaximaux (60 - 80 % VAM) de longue durée,</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a:t>
            </a:r>
            <a:r>
              <a:rPr b="1" lang="fr-FR" sz="2400" strike="noStrike" u="none">
                <a:solidFill>
                  <a:srgbClr val="ffffff"/>
                </a:solidFill>
                <a:effectLst/>
                <a:uFillTx/>
                <a:latin typeface="Bookman Old Style"/>
              </a:rPr>
              <a:t>Le fartlek,</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 Les exercices par intervalles (</a:t>
            </a:r>
            <a:r>
              <a:rPr b="1" i="1" lang="fr-FR" sz="2400" strike="noStrike" u="none">
                <a:solidFill>
                  <a:srgbClr val="ffffff"/>
                </a:solidFill>
                <a:effectLst/>
                <a:uFillTx/>
                <a:latin typeface="Bookman Old Style"/>
              </a:rPr>
              <a:t>Interval training</a:t>
            </a:r>
            <a:r>
              <a:rPr b="1" lang="fr-FR" sz="2400" strike="noStrike" u="none">
                <a:solidFill>
                  <a:srgbClr val="ffffff"/>
                </a:solidFill>
                <a:effectLst/>
                <a:uFillTx/>
                <a:latin typeface="Bookman Old Style"/>
              </a:rPr>
              <a:t>):</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a:t>
            </a:r>
            <a:r>
              <a:rPr b="1" lang="fr-FR" sz="2400" strike="noStrike" u="none">
                <a:solidFill>
                  <a:srgbClr val="ffff00"/>
                </a:solidFill>
                <a:effectLst/>
                <a:uFillTx/>
                <a:latin typeface="Bookman Old Style"/>
              </a:rPr>
              <a:t>- Par intervalles longs (4 à 8 min) infra maximaux et maximaux </a:t>
            </a:r>
            <a:r>
              <a:rPr b="1" lang="fr-FR" sz="2400" strike="noStrike" u="none">
                <a:solidFill>
                  <a:srgbClr val="ffffff"/>
                </a:solidFill>
                <a:effectLst/>
                <a:uFillTx/>
                <a:latin typeface="Bookman Old Style"/>
              </a:rPr>
              <a:t>(80 -100 % VAM)</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a:t>
            </a:r>
            <a:r>
              <a:rPr b="1" lang="fr-FR" sz="2400" strike="noStrike" u="none">
                <a:solidFill>
                  <a:srgbClr val="ffff00"/>
                </a:solidFill>
                <a:effectLst/>
                <a:uFillTx/>
                <a:latin typeface="Bookman Old Style"/>
              </a:rPr>
              <a:t>- Par intervalles courts (30 s à 3 min) maximaux et supra maximaux  </a:t>
            </a:r>
            <a:r>
              <a:rPr b="1" lang="fr-FR" sz="2400" strike="noStrike" u="none">
                <a:solidFill>
                  <a:srgbClr val="ffffff"/>
                </a:solidFill>
                <a:effectLst/>
                <a:uFillTx/>
                <a:latin typeface="Bookman Old Style"/>
              </a:rPr>
              <a:t>(100 – 110 % VAM)</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a:t>
            </a:r>
            <a:r>
              <a:rPr b="1" lang="fr-FR" sz="2400" strike="noStrike" u="none">
                <a:solidFill>
                  <a:srgbClr val="ffff00"/>
                </a:solidFill>
                <a:effectLst/>
                <a:uFillTx/>
                <a:latin typeface="Bookman Old Style"/>
              </a:rPr>
              <a:t>- Par intervalles ultra courts (10 s…30 s) : Intermittents courts supra maximaux</a:t>
            </a:r>
            <a:r>
              <a:rPr b="0" lang="fr-FR" sz="2400" strike="noStrike" u="none">
                <a:solidFill>
                  <a:srgbClr val="ffff00"/>
                </a:solidFill>
                <a:effectLst/>
                <a:uFillTx/>
                <a:latin typeface="Bookman Old Style"/>
              </a:rPr>
              <a:t> </a:t>
            </a:r>
            <a:r>
              <a:rPr b="1" lang="fr-FR" sz="2400" strike="noStrike" u="none">
                <a:solidFill>
                  <a:srgbClr val="ffffff"/>
                </a:solidFill>
                <a:effectLst/>
                <a:uFillTx/>
                <a:latin typeface="Bookman Old Style"/>
              </a:rPr>
              <a:t>(110 – 130 % VAM):</a:t>
            </a:r>
            <a:r>
              <a:rPr b="0" lang="fr-FR" sz="2400" strike="noStrike" u="none">
                <a:solidFill>
                  <a:srgbClr val="ffff00"/>
                </a:solidFill>
                <a:effectLst/>
                <a:uFillTx/>
                <a:latin typeface="Bookman Old Style"/>
              </a:rPr>
              <a:t>               </a:t>
            </a:r>
            <a:r>
              <a:rPr b="0" lang="fr-FR" sz="2400" strike="noStrike" u="none">
                <a:solidFill>
                  <a:srgbClr val="ffff00"/>
                </a:solidFill>
                <a:effectLst/>
                <a:uFillTx/>
                <a:latin typeface="Bookman Old Style"/>
              </a:rPr>
              <a:t>	</a:t>
            </a:r>
            <a:r>
              <a:rPr b="0" lang="fr-FR" sz="2400" strike="noStrike" u="none">
                <a:solidFill>
                  <a:srgbClr val="ffff00"/>
                </a:solidFill>
                <a:effectLst/>
                <a:uFillTx/>
                <a:latin typeface="Bookman Old Style"/>
              </a:rPr>
              <a:t>	</a:t>
            </a:r>
            <a:r>
              <a:rPr b="0" lang="fr-FR" sz="2400" strike="noStrike" u="none">
                <a:solidFill>
                  <a:srgbClr val="ffff00"/>
                </a:solidFill>
                <a:effectLst/>
                <a:uFillTx/>
                <a:latin typeface="Bookman Old Style"/>
              </a:rPr>
              <a:t>	</a:t>
            </a:r>
            <a:r>
              <a:rPr b="0" lang="fr-FR" sz="2400" strike="noStrike" u="none">
                <a:solidFill>
                  <a:srgbClr val="ffff00"/>
                </a:solidFill>
                <a:effectLst/>
                <a:uFillTx/>
                <a:latin typeface="Bookman Old Style"/>
              </a:rPr>
              <a:t>	</a:t>
            </a:r>
            <a:r>
              <a:rPr b="0" lang="fr-FR" sz="2400" strike="noStrike" u="none">
                <a:solidFill>
                  <a:srgbClr val="ffff00"/>
                </a:solidFill>
                <a:effectLst/>
                <a:uFillTx/>
                <a:latin typeface="Bookman Old Style"/>
              </a:rPr>
              <a:t>        </a:t>
            </a:r>
            <a:endParaRPr b="0" lang="en-US" sz="2400" strike="noStrike" u="none">
              <a:solidFill>
                <a:srgbClr val="ffff00"/>
              </a:solidFill>
              <a:effectLst/>
              <a:uFillTx/>
              <a:latin typeface="Times New Roman"/>
            </a:endParaRPr>
          </a:p>
          <a:p>
            <a:pPr marL="343080" indent="-343080">
              <a:lnSpc>
                <a:spcPct val="80000"/>
              </a:lnSpc>
              <a:spcBef>
                <a:spcPts val="601"/>
              </a:spcBef>
              <a:spcAft>
                <a:spcPts val="22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 Les exercices fractionnés.</a:t>
            </a:r>
            <a:endParaRPr b="0" lang="en-US" sz="2400" strike="noStrike" u="none">
              <a:solidFill>
                <a:srgbClr val="ffff00"/>
              </a:solidFill>
              <a:effectLst/>
              <a:uFillTx/>
              <a:latin typeface="Times New Roman"/>
            </a:endParaRPr>
          </a:p>
        </p:txBody>
      </p:sp>
      <p:sp>
        <p:nvSpPr>
          <p:cNvPr id="833" name="Text Box 3"/>
          <p:cNvSpPr/>
          <p:nvPr/>
        </p:nvSpPr>
        <p:spPr>
          <a:xfrm>
            <a:off x="228600" y="235080"/>
            <a:ext cx="8763120" cy="459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Les différents types d’exercice:</a:t>
            </a:r>
            <a:endParaRPr b="0" lang="en-US" sz="2400" strike="noStrike" u="none">
              <a:solidFill>
                <a:srgbClr val="ffff00"/>
              </a:solidFill>
              <a:effectLst/>
              <a:uFillTx/>
              <a:latin typeface="Times New Roman"/>
            </a:endParaRPr>
          </a:p>
        </p:txBody>
      </p:sp>
    </p:spTree>
  </p:cSld>
  <p:transition spd="slow">
    <p:dissolve/>
  </p:transition>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Text Box 2"/>
          <p:cNvSpPr/>
          <p:nvPr/>
        </p:nvSpPr>
        <p:spPr>
          <a:xfrm>
            <a:off x="108720" y="44280"/>
            <a:ext cx="8902440" cy="155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CONSTRUIRE UN EXERCICE PAR REPETITION DE SPRINTS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1</a:t>
            </a:r>
            <a:r>
              <a:rPr b="0" lang="fr-FR" sz="2400" strike="noStrike" u="none" baseline="30000">
                <a:solidFill>
                  <a:srgbClr val="ffff00"/>
                </a:solidFill>
                <a:effectLst/>
                <a:uFillTx/>
                <a:latin typeface="Arial"/>
              </a:rPr>
              <a:t>er</a:t>
            </a:r>
            <a:r>
              <a:rPr b="0" lang="fr-FR" sz="2400" strike="noStrike" u="none">
                <a:solidFill>
                  <a:srgbClr val="ffff00"/>
                </a:solidFill>
                <a:effectLst/>
                <a:uFillTx/>
                <a:latin typeface="Arial"/>
              </a:rPr>
              <a:t> objectif : développement de la vitesse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99ccff"/>
                </a:solidFill>
                <a:effectLst/>
                <a:uFillTx/>
                <a:latin typeface="Arial"/>
              </a:rPr>
              <a:t>2éme objectif : développement de l’endurance de la vitesse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99ccff"/>
                </a:solidFill>
                <a:effectLst/>
                <a:uFillTx/>
                <a:latin typeface="Arial"/>
              </a:rPr>
              <a:t>+ pouvoir oxydatif musculaire</a:t>
            </a:r>
            <a:endParaRPr b="0" lang="en-US" sz="2400" strike="noStrike" u="none">
              <a:solidFill>
                <a:srgbClr val="ffff00"/>
              </a:solidFill>
              <a:effectLst/>
              <a:uFillTx/>
              <a:latin typeface="Times New Roman"/>
            </a:endParaRPr>
          </a:p>
        </p:txBody>
      </p:sp>
      <p:sp>
        <p:nvSpPr>
          <p:cNvPr id="835" name="Text Box 3"/>
          <p:cNvSpPr/>
          <p:nvPr/>
        </p:nvSpPr>
        <p:spPr>
          <a:xfrm>
            <a:off x="228240" y="1670040"/>
            <a:ext cx="1850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durée ?</a:t>
            </a:r>
            <a:endParaRPr b="0" lang="en-US" sz="2000" strike="noStrike" u="none">
              <a:solidFill>
                <a:srgbClr val="ffff00"/>
              </a:solidFill>
              <a:effectLst/>
              <a:uFillTx/>
              <a:latin typeface="Times New Roman"/>
            </a:endParaRPr>
          </a:p>
        </p:txBody>
      </p:sp>
      <p:sp>
        <p:nvSpPr>
          <p:cNvPr id="836" name="Text Box 4"/>
          <p:cNvSpPr/>
          <p:nvPr/>
        </p:nvSpPr>
        <p:spPr>
          <a:xfrm>
            <a:off x="2666160" y="167004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Puissance : </a:t>
            </a:r>
            <a:endParaRPr b="0" lang="en-US" sz="2000" strike="noStrike" u="none">
              <a:solidFill>
                <a:srgbClr val="ffff00"/>
              </a:solidFill>
              <a:effectLst/>
              <a:uFillTx/>
              <a:latin typeface="Times New Roman"/>
            </a:endParaRPr>
          </a:p>
        </p:txBody>
      </p:sp>
      <p:sp>
        <p:nvSpPr>
          <p:cNvPr id="837" name="Text Box 5"/>
          <p:cNvSpPr/>
          <p:nvPr/>
        </p:nvSpPr>
        <p:spPr>
          <a:xfrm>
            <a:off x="5211720" y="1628640"/>
            <a:ext cx="944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4 à 6 s</a:t>
            </a:r>
            <a:endParaRPr b="0" lang="en-US" sz="2000" strike="noStrike" u="none">
              <a:solidFill>
                <a:srgbClr val="ffff00"/>
              </a:solidFill>
              <a:effectLst/>
              <a:uFillTx/>
              <a:latin typeface="Times New Roman"/>
            </a:endParaRPr>
          </a:p>
        </p:txBody>
      </p:sp>
      <p:sp>
        <p:nvSpPr>
          <p:cNvPr id="838" name="Text Box 6"/>
          <p:cNvSpPr/>
          <p:nvPr/>
        </p:nvSpPr>
        <p:spPr>
          <a:xfrm>
            <a:off x="2666160" y="205092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2 Endurance :</a:t>
            </a:r>
            <a:endParaRPr b="0" lang="en-US" sz="2000" strike="noStrike" u="none">
              <a:solidFill>
                <a:srgbClr val="ffff00"/>
              </a:solidFill>
              <a:effectLst/>
              <a:uFillTx/>
              <a:latin typeface="Times New Roman"/>
            </a:endParaRPr>
          </a:p>
        </p:txBody>
      </p:sp>
      <p:sp>
        <p:nvSpPr>
          <p:cNvPr id="839" name="Text Box 7"/>
          <p:cNvSpPr/>
          <p:nvPr/>
        </p:nvSpPr>
        <p:spPr>
          <a:xfrm>
            <a:off x="5243400" y="1974960"/>
            <a:ext cx="10861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6 à 30 s</a:t>
            </a:r>
            <a:endParaRPr b="0" lang="en-US" sz="2000" strike="noStrike" u="none">
              <a:solidFill>
                <a:srgbClr val="ffff00"/>
              </a:solidFill>
              <a:effectLst/>
              <a:uFillTx/>
              <a:latin typeface="Times New Roman"/>
            </a:endParaRPr>
          </a:p>
        </p:txBody>
      </p:sp>
      <p:sp>
        <p:nvSpPr>
          <p:cNvPr id="840" name="Text Box 8"/>
          <p:cNvSpPr/>
          <p:nvPr/>
        </p:nvSpPr>
        <p:spPr>
          <a:xfrm>
            <a:off x="228240" y="2660760"/>
            <a:ext cx="2147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intensité ?</a:t>
            </a:r>
            <a:endParaRPr b="0" lang="en-US" sz="2000" strike="noStrike" u="none">
              <a:solidFill>
                <a:srgbClr val="ffff00"/>
              </a:solidFill>
              <a:effectLst/>
              <a:uFillTx/>
              <a:latin typeface="Times New Roman"/>
            </a:endParaRPr>
          </a:p>
        </p:txBody>
      </p:sp>
      <p:sp>
        <p:nvSpPr>
          <p:cNvPr id="841" name="Text Box 9"/>
          <p:cNvSpPr/>
          <p:nvPr/>
        </p:nvSpPr>
        <p:spPr>
          <a:xfrm>
            <a:off x="2531520" y="261936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Puissance : </a:t>
            </a:r>
            <a:endParaRPr b="0" lang="en-US" sz="2000" strike="noStrike" u="none">
              <a:solidFill>
                <a:srgbClr val="ffff00"/>
              </a:solidFill>
              <a:effectLst/>
              <a:uFillTx/>
              <a:latin typeface="Times New Roman"/>
            </a:endParaRPr>
          </a:p>
        </p:txBody>
      </p:sp>
      <p:sp>
        <p:nvSpPr>
          <p:cNvPr id="842" name="Text Box 10"/>
          <p:cNvSpPr/>
          <p:nvPr/>
        </p:nvSpPr>
        <p:spPr>
          <a:xfrm>
            <a:off x="2531520" y="300024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2 Endurance :</a:t>
            </a:r>
            <a:endParaRPr b="0" lang="en-US" sz="2000" strike="noStrike" u="none">
              <a:solidFill>
                <a:srgbClr val="ffff00"/>
              </a:solidFill>
              <a:effectLst/>
              <a:uFillTx/>
              <a:latin typeface="Times New Roman"/>
            </a:endParaRPr>
          </a:p>
        </p:txBody>
      </p:sp>
      <p:sp>
        <p:nvSpPr>
          <p:cNvPr id="843" name="Text Box 11"/>
          <p:cNvSpPr/>
          <p:nvPr/>
        </p:nvSpPr>
        <p:spPr>
          <a:xfrm>
            <a:off x="4349160" y="2584440"/>
            <a:ext cx="4771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Maximum et non &lt; à 98 % vitesse étalon</a:t>
            </a:r>
            <a:endParaRPr b="0" lang="en-US" sz="2000" strike="noStrike" u="none">
              <a:solidFill>
                <a:srgbClr val="ffff00"/>
              </a:solidFill>
              <a:effectLst/>
              <a:uFillTx/>
              <a:latin typeface="Times New Roman"/>
            </a:endParaRPr>
          </a:p>
        </p:txBody>
      </p:sp>
      <p:sp>
        <p:nvSpPr>
          <p:cNvPr id="844" name="Text Box 12"/>
          <p:cNvSpPr/>
          <p:nvPr/>
        </p:nvSpPr>
        <p:spPr>
          <a:xfrm>
            <a:off x="4350240" y="3000240"/>
            <a:ext cx="4771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Non &lt; à 96 % vitesse étalon (30m lancé)</a:t>
            </a:r>
            <a:endParaRPr b="0" lang="en-US" sz="2000" strike="noStrike" u="none">
              <a:solidFill>
                <a:srgbClr val="ffff00"/>
              </a:solidFill>
              <a:effectLst/>
              <a:uFillTx/>
              <a:latin typeface="Times New Roman"/>
            </a:endParaRPr>
          </a:p>
        </p:txBody>
      </p:sp>
      <p:sp>
        <p:nvSpPr>
          <p:cNvPr id="845" name="Text Box 13"/>
          <p:cNvSpPr/>
          <p:nvPr/>
        </p:nvSpPr>
        <p:spPr>
          <a:xfrm>
            <a:off x="286920" y="3575160"/>
            <a:ext cx="4071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Combien de répétitions par série ?</a:t>
            </a:r>
            <a:endParaRPr b="0" lang="en-US" sz="2000" strike="noStrike" u="none">
              <a:solidFill>
                <a:srgbClr val="ffff00"/>
              </a:solidFill>
              <a:effectLst/>
              <a:uFillTx/>
              <a:latin typeface="Times New Roman"/>
            </a:endParaRPr>
          </a:p>
        </p:txBody>
      </p:sp>
      <p:sp>
        <p:nvSpPr>
          <p:cNvPr id="846" name="Text Box 14"/>
          <p:cNvSpPr/>
          <p:nvPr/>
        </p:nvSpPr>
        <p:spPr>
          <a:xfrm>
            <a:off x="4355280" y="361008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Puissance : </a:t>
            </a:r>
            <a:endParaRPr b="0" lang="en-US" sz="2000" strike="noStrike" u="none">
              <a:solidFill>
                <a:srgbClr val="ffff00"/>
              </a:solidFill>
              <a:effectLst/>
              <a:uFillTx/>
              <a:latin typeface="Times New Roman"/>
            </a:endParaRPr>
          </a:p>
        </p:txBody>
      </p:sp>
      <p:sp>
        <p:nvSpPr>
          <p:cNvPr id="847" name="Text Box 15"/>
          <p:cNvSpPr/>
          <p:nvPr/>
        </p:nvSpPr>
        <p:spPr>
          <a:xfrm>
            <a:off x="4355280" y="399096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2 Endurance :</a:t>
            </a:r>
            <a:endParaRPr b="0" lang="en-US" sz="2000" strike="noStrike" u="none">
              <a:solidFill>
                <a:srgbClr val="ffff00"/>
              </a:solidFill>
              <a:effectLst/>
              <a:uFillTx/>
              <a:latin typeface="Times New Roman"/>
            </a:endParaRPr>
          </a:p>
        </p:txBody>
      </p:sp>
      <p:sp>
        <p:nvSpPr>
          <p:cNvPr id="848" name="Text Box 16"/>
          <p:cNvSpPr/>
          <p:nvPr/>
        </p:nvSpPr>
        <p:spPr>
          <a:xfrm>
            <a:off x="6202800" y="3575160"/>
            <a:ext cx="746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4 à 6</a:t>
            </a:r>
            <a:endParaRPr b="0" lang="en-US" sz="2000" strike="noStrike" u="none">
              <a:solidFill>
                <a:srgbClr val="ffff00"/>
              </a:solidFill>
              <a:effectLst/>
              <a:uFillTx/>
              <a:latin typeface="Times New Roman"/>
            </a:endParaRPr>
          </a:p>
        </p:txBody>
      </p:sp>
      <p:sp>
        <p:nvSpPr>
          <p:cNvPr id="849" name="Text Box 17"/>
          <p:cNvSpPr/>
          <p:nvPr/>
        </p:nvSpPr>
        <p:spPr>
          <a:xfrm>
            <a:off x="6204240" y="3990960"/>
            <a:ext cx="888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99ccff"/>
                </a:solidFill>
                <a:effectLst/>
                <a:uFillTx/>
                <a:latin typeface="Arial"/>
              </a:rPr>
              <a:t>3 à 10</a:t>
            </a:r>
            <a:endParaRPr b="0" lang="en-US" sz="2000" strike="noStrike" u="none">
              <a:solidFill>
                <a:srgbClr val="ffff00"/>
              </a:solidFill>
              <a:effectLst/>
              <a:uFillTx/>
              <a:latin typeface="Times New Roman"/>
            </a:endParaRPr>
          </a:p>
        </p:txBody>
      </p:sp>
      <p:sp>
        <p:nvSpPr>
          <p:cNvPr id="850" name="Text Box 18"/>
          <p:cNvSpPr/>
          <p:nvPr/>
        </p:nvSpPr>
        <p:spPr>
          <a:xfrm>
            <a:off x="286920" y="4486320"/>
            <a:ext cx="33217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 type de récupération ?</a:t>
            </a:r>
            <a:endParaRPr b="0" lang="en-US" sz="2000" strike="noStrike" u="none">
              <a:solidFill>
                <a:srgbClr val="ffff00"/>
              </a:solidFill>
              <a:effectLst/>
              <a:uFillTx/>
              <a:latin typeface="Times New Roman"/>
            </a:endParaRPr>
          </a:p>
        </p:txBody>
      </p:sp>
      <p:sp>
        <p:nvSpPr>
          <p:cNvPr id="851" name="Text Box 19"/>
          <p:cNvSpPr/>
          <p:nvPr/>
        </p:nvSpPr>
        <p:spPr>
          <a:xfrm>
            <a:off x="3636360" y="4444920"/>
            <a:ext cx="2373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Passive ou active ?</a:t>
            </a:r>
            <a:endParaRPr b="0" lang="en-US" sz="2000" strike="noStrike" u="none">
              <a:solidFill>
                <a:srgbClr val="ffff00"/>
              </a:solidFill>
              <a:effectLst/>
              <a:uFillTx/>
              <a:latin typeface="Times New Roman"/>
            </a:endParaRPr>
          </a:p>
        </p:txBody>
      </p:sp>
      <p:sp>
        <p:nvSpPr>
          <p:cNvPr id="852" name="Text Box 20"/>
          <p:cNvSpPr/>
          <p:nvPr/>
        </p:nvSpPr>
        <p:spPr>
          <a:xfrm>
            <a:off x="287280" y="5019840"/>
            <a:ext cx="3689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durée de récupération ?</a:t>
            </a:r>
            <a:endParaRPr b="0" lang="en-US" sz="2000" strike="noStrike" u="none">
              <a:solidFill>
                <a:srgbClr val="ffff00"/>
              </a:solidFill>
              <a:effectLst/>
              <a:uFillTx/>
              <a:latin typeface="Times New Roman"/>
            </a:endParaRPr>
          </a:p>
        </p:txBody>
      </p:sp>
      <p:sp>
        <p:nvSpPr>
          <p:cNvPr id="853" name="Text Box 21"/>
          <p:cNvSpPr/>
          <p:nvPr/>
        </p:nvSpPr>
        <p:spPr>
          <a:xfrm>
            <a:off x="3921480" y="5019840"/>
            <a:ext cx="2925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Entre chaque exercice : </a:t>
            </a:r>
            <a:endParaRPr b="0" lang="en-US" sz="2000" strike="noStrike" u="none">
              <a:solidFill>
                <a:srgbClr val="ffff00"/>
              </a:solidFill>
              <a:effectLst/>
              <a:uFillTx/>
              <a:latin typeface="Times New Roman"/>
            </a:endParaRPr>
          </a:p>
        </p:txBody>
      </p:sp>
      <p:sp>
        <p:nvSpPr>
          <p:cNvPr id="854" name="Text Box 22"/>
          <p:cNvSpPr/>
          <p:nvPr/>
        </p:nvSpPr>
        <p:spPr>
          <a:xfrm>
            <a:off x="3922560" y="5511960"/>
            <a:ext cx="23878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Entre chaque série:</a:t>
            </a:r>
            <a:endParaRPr b="0" lang="en-US" sz="2000" strike="noStrike" u="none">
              <a:solidFill>
                <a:srgbClr val="ffff00"/>
              </a:solidFill>
              <a:effectLst/>
              <a:uFillTx/>
              <a:latin typeface="Times New Roman"/>
            </a:endParaRPr>
          </a:p>
        </p:txBody>
      </p:sp>
      <p:sp>
        <p:nvSpPr>
          <p:cNvPr id="855" name="Text Box 23"/>
          <p:cNvSpPr/>
          <p:nvPr/>
        </p:nvSpPr>
        <p:spPr>
          <a:xfrm>
            <a:off x="6804000" y="5038560"/>
            <a:ext cx="16095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P: 2 à 8 min </a:t>
            </a:r>
            <a:endParaRPr b="0" lang="en-US" sz="2000" strike="noStrike" u="none">
              <a:solidFill>
                <a:srgbClr val="ffff00"/>
              </a:solidFill>
              <a:effectLst/>
              <a:uFillTx/>
              <a:latin typeface="Times New Roman"/>
            </a:endParaRPr>
          </a:p>
        </p:txBody>
      </p:sp>
      <p:sp>
        <p:nvSpPr>
          <p:cNvPr id="856" name="Text Box 24"/>
          <p:cNvSpPr/>
          <p:nvPr/>
        </p:nvSpPr>
        <p:spPr>
          <a:xfrm>
            <a:off x="6299640" y="5511960"/>
            <a:ext cx="21045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8 à 10 min active</a:t>
            </a:r>
            <a:endParaRPr b="0" lang="en-US" sz="2000" strike="noStrike" u="none">
              <a:solidFill>
                <a:srgbClr val="ffff00"/>
              </a:solidFill>
              <a:effectLst/>
              <a:uFillTx/>
              <a:latin typeface="Times New Roman"/>
            </a:endParaRPr>
          </a:p>
        </p:txBody>
      </p:sp>
      <p:sp>
        <p:nvSpPr>
          <p:cNvPr id="857" name="Text Box 25"/>
          <p:cNvSpPr/>
          <p:nvPr/>
        </p:nvSpPr>
        <p:spPr>
          <a:xfrm>
            <a:off x="6084720" y="4437000"/>
            <a:ext cx="2345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Passive pourquoi ?</a:t>
            </a:r>
            <a:endParaRPr b="0" lang="en-US" sz="2000" strike="noStrike" u="none">
              <a:solidFill>
                <a:srgbClr val="ffff00"/>
              </a:solidFill>
              <a:effectLst/>
              <a:uFillTx/>
              <a:latin typeface="Times New Roman"/>
            </a:endParaRPr>
          </a:p>
        </p:txBody>
      </p:sp>
      <p:sp>
        <p:nvSpPr>
          <p:cNvPr id="858" name="Text Box 26"/>
          <p:cNvSpPr/>
          <p:nvPr/>
        </p:nvSpPr>
        <p:spPr>
          <a:xfrm>
            <a:off x="272520" y="5950080"/>
            <a:ext cx="47365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Combien de séries dans une séance ? : </a:t>
            </a:r>
            <a:endParaRPr b="0" lang="en-US" sz="2000" strike="noStrike" u="none">
              <a:solidFill>
                <a:srgbClr val="ffff00"/>
              </a:solidFill>
              <a:effectLst/>
              <a:uFillTx/>
              <a:latin typeface="Times New Roman"/>
            </a:endParaRPr>
          </a:p>
        </p:txBody>
      </p:sp>
      <p:sp>
        <p:nvSpPr>
          <p:cNvPr id="859" name="Text Box 27"/>
          <p:cNvSpPr/>
          <p:nvPr/>
        </p:nvSpPr>
        <p:spPr>
          <a:xfrm>
            <a:off x="228600" y="6375240"/>
            <a:ext cx="4707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Combien de séances par microcycle ? : </a:t>
            </a:r>
            <a:endParaRPr b="0" lang="en-US" sz="2000" strike="noStrike" u="none">
              <a:solidFill>
                <a:srgbClr val="ffff00"/>
              </a:solidFill>
              <a:effectLst/>
              <a:uFillTx/>
              <a:latin typeface="Times New Roman"/>
            </a:endParaRPr>
          </a:p>
        </p:txBody>
      </p:sp>
      <p:sp>
        <p:nvSpPr>
          <p:cNvPr id="860" name="Text Box 28"/>
          <p:cNvSpPr/>
          <p:nvPr/>
        </p:nvSpPr>
        <p:spPr>
          <a:xfrm>
            <a:off x="4839480" y="6375240"/>
            <a:ext cx="20620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Pas plus de trois</a:t>
            </a:r>
            <a:endParaRPr b="0" lang="en-US" sz="2000" strike="noStrike" u="none">
              <a:solidFill>
                <a:srgbClr val="ffff00"/>
              </a:solidFill>
              <a:effectLst/>
              <a:uFillTx/>
              <a:latin typeface="Times New Roman"/>
            </a:endParaRPr>
          </a:p>
        </p:txBody>
      </p:sp>
      <p:sp>
        <p:nvSpPr>
          <p:cNvPr id="861" name="Text Box 29"/>
          <p:cNvSpPr/>
          <p:nvPr/>
        </p:nvSpPr>
        <p:spPr>
          <a:xfrm>
            <a:off x="4932000" y="5943600"/>
            <a:ext cx="14965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à 6 séries</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468" dur="indefinite" restart="never" nodeType="tmRoot">
          <p:childTnLst>
            <p:seq>
              <p:cTn id="1469" dur="indefinite" nodeType="mainSeq">
                <p:childTnLst>
                  <p:par>
                    <p:cTn id="1470" nodeType="clickEffect" fill="hold">
                      <p:stCondLst>
                        <p:cond delay="indefinite"/>
                      </p:stCondLst>
                      <p:childTnLst>
                        <p:par>
                          <p:cTn id="1471" nodeType="withEffect" fill="hold">
                            <p:stCondLst>
                              <p:cond delay="0"/>
                            </p:stCondLst>
                            <p:childTnLst>
                              <p:par>
                                <p:cTn id="1472" nodeType="clickEffect" fill="hold" presetClass="entr" presetID="9">
                                  <p:stCondLst>
                                    <p:cond delay="0"/>
                                  </p:stCondLst>
                                  <p:childTnLst>
                                    <p:set>
                                      <p:cBhvr>
                                        <p:cTn id="1473" dur="1" fill="hold">
                                          <p:stCondLst>
                                            <p:cond delay="0"/>
                                          </p:stCondLst>
                                        </p:cTn>
                                        <p:tgtEl>
                                          <p:spTgt spid="837"/>
                                        </p:tgtEl>
                                        <p:attrNameLst>
                                          <p:attrName>style.visibility</p:attrName>
                                        </p:attrNameLst>
                                      </p:cBhvr>
                                      <p:to>
                                        <p:strVal val="visible"/>
                                      </p:to>
                                    </p:set>
                                    <p:animEffect filter="dissolve" transition="in">
                                      <p:cBhvr additive="repl">
                                        <p:cTn id="1474" dur="500"/>
                                        <p:tgtEl>
                                          <p:spTgt spid="837"/>
                                        </p:tgtEl>
                                      </p:cBhvr>
                                    </p:animEffect>
                                  </p:childTnLst>
                                </p:cTn>
                              </p:par>
                            </p:childTnLst>
                          </p:cTn>
                        </p:par>
                      </p:childTnLst>
                    </p:cTn>
                  </p:par>
                  <p:par>
                    <p:cTn id="1475" nodeType="clickEffect" fill="hold">
                      <p:stCondLst>
                        <p:cond delay="indefinite"/>
                      </p:stCondLst>
                      <p:childTnLst>
                        <p:par>
                          <p:cTn id="1476" nodeType="withEffect" fill="hold">
                            <p:stCondLst>
                              <p:cond delay="0"/>
                            </p:stCondLst>
                            <p:childTnLst>
                              <p:par>
                                <p:cTn id="1477" nodeType="clickEffect" fill="hold" presetClass="entr" presetID="9">
                                  <p:stCondLst>
                                    <p:cond delay="0"/>
                                  </p:stCondLst>
                                  <p:childTnLst>
                                    <p:set>
                                      <p:cBhvr>
                                        <p:cTn id="1478" dur="1" fill="hold">
                                          <p:stCondLst>
                                            <p:cond delay="0"/>
                                          </p:stCondLst>
                                        </p:cTn>
                                        <p:tgtEl>
                                          <p:spTgt spid="839"/>
                                        </p:tgtEl>
                                        <p:attrNameLst>
                                          <p:attrName>style.visibility</p:attrName>
                                        </p:attrNameLst>
                                      </p:cBhvr>
                                      <p:to>
                                        <p:strVal val="visible"/>
                                      </p:to>
                                    </p:set>
                                    <p:animEffect filter="dissolve" transition="in">
                                      <p:cBhvr additive="repl">
                                        <p:cTn id="1479" dur="500"/>
                                        <p:tgtEl>
                                          <p:spTgt spid="839"/>
                                        </p:tgtEl>
                                      </p:cBhvr>
                                    </p:animEffect>
                                  </p:childTnLst>
                                </p:cTn>
                              </p:par>
                            </p:childTnLst>
                          </p:cTn>
                        </p:par>
                      </p:childTnLst>
                    </p:cTn>
                  </p:par>
                  <p:par>
                    <p:cTn id="1480" nodeType="clickEffect" fill="hold">
                      <p:stCondLst>
                        <p:cond delay="indefinite"/>
                      </p:stCondLst>
                      <p:childTnLst>
                        <p:par>
                          <p:cTn id="1481" nodeType="withEffect" fill="hold">
                            <p:stCondLst>
                              <p:cond delay="0"/>
                            </p:stCondLst>
                            <p:childTnLst>
                              <p:par>
                                <p:cTn id="1482" nodeType="clickEffect" fill="hold" presetClass="entr" presetID="9">
                                  <p:stCondLst>
                                    <p:cond delay="0"/>
                                  </p:stCondLst>
                                  <p:childTnLst>
                                    <p:set>
                                      <p:cBhvr>
                                        <p:cTn id="1483" dur="1" fill="hold">
                                          <p:stCondLst>
                                            <p:cond delay="0"/>
                                          </p:stCondLst>
                                        </p:cTn>
                                        <p:tgtEl>
                                          <p:spTgt spid="843"/>
                                        </p:tgtEl>
                                        <p:attrNameLst>
                                          <p:attrName>style.visibility</p:attrName>
                                        </p:attrNameLst>
                                      </p:cBhvr>
                                      <p:to>
                                        <p:strVal val="visible"/>
                                      </p:to>
                                    </p:set>
                                    <p:animEffect filter="dissolve" transition="in">
                                      <p:cBhvr additive="repl">
                                        <p:cTn id="1484" dur="500"/>
                                        <p:tgtEl>
                                          <p:spTgt spid="843"/>
                                        </p:tgtEl>
                                      </p:cBhvr>
                                    </p:animEffect>
                                  </p:childTnLst>
                                </p:cTn>
                              </p:par>
                            </p:childTnLst>
                          </p:cTn>
                        </p:par>
                      </p:childTnLst>
                    </p:cTn>
                  </p:par>
                  <p:par>
                    <p:cTn id="1485" nodeType="clickEffect" fill="hold">
                      <p:stCondLst>
                        <p:cond delay="indefinite"/>
                      </p:stCondLst>
                      <p:childTnLst>
                        <p:par>
                          <p:cTn id="1486" nodeType="withEffect" fill="hold">
                            <p:stCondLst>
                              <p:cond delay="0"/>
                            </p:stCondLst>
                            <p:childTnLst>
                              <p:par>
                                <p:cTn id="1487" nodeType="clickEffect" fill="hold" presetClass="entr" presetID="9">
                                  <p:stCondLst>
                                    <p:cond delay="0"/>
                                  </p:stCondLst>
                                  <p:childTnLst>
                                    <p:set>
                                      <p:cBhvr>
                                        <p:cTn id="1488" dur="1" fill="hold">
                                          <p:stCondLst>
                                            <p:cond delay="0"/>
                                          </p:stCondLst>
                                        </p:cTn>
                                        <p:tgtEl>
                                          <p:spTgt spid="844"/>
                                        </p:tgtEl>
                                        <p:attrNameLst>
                                          <p:attrName>style.visibility</p:attrName>
                                        </p:attrNameLst>
                                      </p:cBhvr>
                                      <p:to>
                                        <p:strVal val="visible"/>
                                      </p:to>
                                    </p:set>
                                    <p:animEffect filter="dissolve" transition="in">
                                      <p:cBhvr additive="repl">
                                        <p:cTn id="1489" dur="500"/>
                                        <p:tgtEl>
                                          <p:spTgt spid="844"/>
                                        </p:tgtEl>
                                      </p:cBhvr>
                                    </p:animEffect>
                                  </p:childTnLst>
                                </p:cTn>
                              </p:par>
                            </p:childTnLst>
                          </p:cTn>
                        </p:par>
                      </p:childTnLst>
                    </p:cTn>
                  </p:par>
                  <p:par>
                    <p:cTn id="1490" nodeType="clickEffect" fill="hold">
                      <p:stCondLst>
                        <p:cond delay="indefinite"/>
                      </p:stCondLst>
                      <p:childTnLst>
                        <p:par>
                          <p:cTn id="1491" nodeType="withEffect" fill="hold">
                            <p:stCondLst>
                              <p:cond delay="0"/>
                            </p:stCondLst>
                            <p:childTnLst>
                              <p:par>
                                <p:cTn id="1492" nodeType="clickEffect" fill="hold" presetClass="entr" presetID="1">
                                  <p:stCondLst>
                                    <p:cond delay="0"/>
                                  </p:stCondLst>
                                  <p:childTnLst>
                                    <p:set>
                                      <p:cBhvr>
                                        <p:cTn id="1493" dur="1" fill="hold">
                                          <p:stCondLst>
                                            <p:cond delay="499"/>
                                          </p:stCondLst>
                                        </p:cTn>
                                        <p:tgtEl>
                                          <p:spTgt spid="848"/>
                                        </p:tgtEl>
                                        <p:attrNameLst>
                                          <p:attrName>style.visibility</p:attrName>
                                        </p:attrNameLst>
                                      </p:cBhvr>
                                      <p:to>
                                        <p:strVal val="visible"/>
                                      </p:to>
                                    </p:set>
                                  </p:childTnLst>
                                </p:cTn>
                              </p:par>
                            </p:childTnLst>
                          </p:cTn>
                        </p:par>
                      </p:childTnLst>
                    </p:cTn>
                  </p:par>
                  <p:par>
                    <p:cTn id="1494" nodeType="clickEffect" fill="hold">
                      <p:stCondLst>
                        <p:cond delay="indefinite"/>
                      </p:stCondLst>
                      <p:childTnLst>
                        <p:par>
                          <p:cTn id="1495" nodeType="withEffect" fill="hold">
                            <p:stCondLst>
                              <p:cond delay="0"/>
                            </p:stCondLst>
                            <p:childTnLst>
                              <p:par>
                                <p:cTn id="1496" nodeType="clickEffect" fill="hold" presetClass="entr" presetID="1">
                                  <p:stCondLst>
                                    <p:cond delay="0"/>
                                  </p:stCondLst>
                                  <p:childTnLst>
                                    <p:set>
                                      <p:cBhvr>
                                        <p:cTn id="1497" dur="1" fill="hold">
                                          <p:stCondLst>
                                            <p:cond delay="499"/>
                                          </p:stCondLst>
                                        </p:cTn>
                                        <p:tgtEl>
                                          <p:spTgt spid="849"/>
                                        </p:tgtEl>
                                        <p:attrNameLst>
                                          <p:attrName>style.visibility</p:attrName>
                                        </p:attrNameLst>
                                      </p:cBhvr>
                                      <p:to>
                                        <p:strVal val="visible"/>
                                      </p:to>
                                    </p:set>
                                  </p:childTnLst>
                                </p:cTn>
                              </p:par>
                            </p:childTnLst>
                          </p:cTn>
                        </p:par>
                        <p:par>
                          <p:cTn id="1498" nodeType="afterEffect" fill="hold">
                            <p:stCondLst>
                              <p:cond delay="500"/>
                            </p:stCondLst>
                            <p:childTnLst>
                              <p:par>
                                <p:cTn id="1499" nodeType="afterEffect" fill="hold" presetClass="entr" presetID="1">
                                  <p:stCondLst>
                                    <p:cond delay="0"/>
                                  </p:stCondLst>
                                  <p:childTnLst>
                                    <p:set>
                                      <p:cBhvr>
                                        <p:cTn id="1500" dur="1" fill="hold">
                                          <p:stCondLst>
                                            <p:cond delay="499"/>
                                          </p:stCondLst>
                                        </p:cTn>
                                        <p:tgtEl>
                                          <p:spTgt spid="851"/>
                                        </p:tgtEl>
                                        <p:attrNameLst>
                                          <p:attrName>style.visibility</p:attrName>
                                        </p:attrNameLst>
                                      </p:cBhvr>
                                      <p:to>
                                        <p:strVal val="visible"/>
                                      </p:to>
                                    </p:set>
                                  </p:childTnLst>
                                </p:cTn>
                              </p:par>
                            </p:childTnLst>
                          </p:cTn>
                        </p:par>
                      </p:childTnLst>
                    </p:cTn>
                  </p:par>
                  <p:par>
                    <p:cTn id="1501" nodeType="clickEffect" fill="hold">
                      <p:stCondLst>
                        <p:cond delay="indefinite"/>
                      </p:stCondLst>
                      <p:childTnLst>
                        <p:par>
                          <p:cTn id="1502" nodeType="withEffect" fill="hold">
                            <p:stCondLst>
                              <p:cond delay="0"/>
                            </p:stCondLst>
                            <p:childTnLst>
                              <p:par>
                                <p:cTn id="1503" nodeType="clickEffect" fill="hold" presetClass="entr" presetID="1">
                                  <p:stCondLst>
                                    <p:cond delay="0"/>
                                  </p:stCondLst>
                                  <p:childTnLst>
                                    <p:set>
                                      <p:cBhvr>
                                        <p:cTn id="1504" dur="1" fill="hold">
                                          <p:stCondLst>
                                            <p:cond delay="499"/>
                                          </p:stCondLst>
                                        </p:cTn>
                                        <p:tgtEl>
                                          <p:spTgt spid="857"/>
                                        </p:tgtEl>
                                        <p:attrNameLst>
                                          <p:attrName>style.visibility</p:attrName>
                                        </p:attrNameLst>
                                      </p:cBhvr>
                                      <p:to>
                                        <p:strVal val="visible"/>
                                      </p:to>
                                    </p:set>
                                  </p:childTnLst>
                                </p:cTn>
                              </p:par>
                            </p:childTnLst>
                          </p:cTn>
                        </p:par>
                      </p:childTnLst>
                    </p:cTn>
                  </p:par>
                  <p:par>
                    <p:cTn id="1505" nodeType="clickEffect" fill="hold">
                      <p:stCondLst>
                        <p:cond delay="indefinite"/>
                      </p:stCondLst>
                      <p:childTnLst>
                        <p:par>
                          <p:cTn id="1506" nodeType="withEffect" fill="hold">
                            <p:stCondLst>
                              <p:cond delay="0"/>
                            </p:stCondLst>
                            <p:childTnLst>
                              <p:par>
                                <p:cTn id="1507" nodeType="clickEffect" fill="hold" presetClass="entr" presetID="1">
                                  <p:stCondLst>
                                    <p:cond delay="0"/>
                                  </p:stCondLst>
                                  <p:childTnLst>
                                    <p:set>
                                      <p:cBhvr>
                                        <p:cTn id="1508" dur="1" fill="hold">
                                          <p:stCondLst>
                                            <p:cond delay="499"/>
                                          </p:stCondLst>
                                        </p:cTn>
                                        <p:tgtEl>
                                          <p:spTgt spid="855"/>
                                        </p:tgtEl>
                                        <p:attrNameLst>
                                          <p:attrName>style.visibility</p:attrName>
                                        </p:attrNameLst>
                                      </p:cBhvr>
                                      <p:to>
                                        <p:strVal val="visible"/>
                                      </p:to>
                                    </p:set>
                                  </p:childTnLst>
                                </p:cTn>
                              </p:par>
                            </p:childTnLst>
                          </p:cTn>
                        </p:par>
                      </p:childTnLst>
                    </p:cTn>
                  </p:par>
                  <p:par>
                    <p:cTn id="1509" nodeType="clickEffect" fill="hold">
                      <p:stCondLst>
                        <p:cond delay="indefinite"/>
                      </p:stCondLst>
                      <p:childTnLst>
                        <p:par>
                          <p:cTn id="1510" nodeType="withEffect" fill="hold">
                            <p:stCondLst>
                              <p:cond delay="0"/>
                            </p:stCondLst>
                            <p:childTnLst>
                              <p:par>
                                <p:cTn id="1511" nodeType="clickEffect" fill="hold" presetClass="entr" presetID="1">
                                  <p:stCondLst>
                                    <p:cond delay="0"/>
                                  </p:stCondLst>
                                  <p:childTnLst>
                                    <p:set>
                                      <p:cBhvr>
                                        <p:cTn id="1512" dur="1" fill="hold">
                                          <p:stCondLst>
                                            <p:cond delay="499"/>
                                          </p:stCondLst>
                                        </p:cTn>
                                        <p:tgtEl>
                                          <p:spTgt spid="856"/>
                                        </p:tgtEl>
                                        <p:attrNameLst>
                                          <p:attrName>style.visibility</p:attrName>
                                        </p:attrNameLst>
                                      </p:cBhvr>
                                      <p:to>
                                        <p:strVal val="visible"/>
                                      </p:to>
                                    </p:set>
                                  </p:childTnLst>
                                </p:cTn>
                              </p:par>
                            </p:childTnLst>
                          </p:cTn>
                        </p:par>
                      </p:childTnLst>
                    </p:cTn>
                  </p:par>
                  <p:par>
                    <p:cTn id="1513" nodeType="clickEffect" fill="hold">
                      <p:stCondLst>
                        <p:cond delay="indefinite"/>
                      </p:stCondLst>
                      <p:childTnLst>
                        <p:par>
                          <p:cTn id="1514" nodeType="withEffect" fill="hold">
                            <p:stCondLst>
                              <p:cond delay="0"/>
                            </p:stCondLst>
                            <p:childTnLst>
                              <p:par>
                                <p:cTn id="1515" nodeType="clickEffect" fill="hold" presetClass="entr" presetID="1">
                                  <p:stCondLst>
                                    <p:cond delay="0"/>
                                  </p:stCondLst>
                                  <p:childTnLst>
                                    <p:set>
                                      <p:cBhvr>
                                        <p:cTn id="1516" dur="1" fill="hold">
                                          <p:stCondLst>
                                            <p:cond delay="0"/>
                                          </p:stCondLst>
                                        </p:cTn>
                                        <p:tgtEl>
                                          <p:spTgt spid="861"/>
                                        </p:tgtEl>
                                        <p:attrNameLst>
                                          <p:attrName>style.visibility</p:attrName>
                                        </p:attrNameLst>
                                      </p:cBhvr>
                                      <p:to>
                                        <p:strVal val="visible"/>
                                      </p:to>
                                    </p:set>
                                  </p:childTnLst>
                                </p:cTn>
                              </p:par>
                            </p:childTnLst>
                          </p:cTn>
                        </p:par>
                      </p:childTnLst>
                    </p:cTn>
                  </p:par>
                  <p:par>
                    <p:cTn id="1517" nodeType="clickEffect" fill="hold">
                      <p:stCondLst>
                        <p:cond delay="indefinite"/>
                      </p:stCondLst>
                      <p:childTnLst>
                        <p:par>
                          <p:cTn id="1518" nodeType="withEffect" fill="hold">
                            <p:stCondLst>
                              <p:cond delay="0"/>
                            </p:stCondLst>
                            <p:childTnLst>
                              <p:par>
                                <p:cTn id="1519" nodeType="clickEffect" fill="hold" presetClass="entr" presetID="1">
                                  <p:stCondLst>
                                    <p:cond delay="0"/>
                                  </p:stCondLst>
                                  <p:childTnLst>
                                    <p:set>
                                      <p:cBhvr>
                                        <p:cTn id="1520"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Text Box 2"/>
          <p:cNvSpPr/>
          <p:nvPr/>
        </p:nvSpPr>
        <p:spPr>
          <a:xfrm>
            <a:off x="1587960" y="228600"/>
            <a:ext cx="59727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CONSTRUIRE UN EXERCICE LACTIQUE</a:t>
            </a:r>
            <a:endParaRPr b="0" lang="en-US" sz="2400" strike="noStrike" u="none">
              <a:solidFill>
                <a:srgbClr val="ffff00"/>
              </a:solidFill>
              <a:effectLst/>
              <a:uFillTx/>
              <a:latin typeface="Times New Roman"/>
            </a:endParaRPr>
          </a:p>
        </p:txBody>
      </p:sp>
      <p:sp>
        <p:nvSpPr>
          <p:cNvPr id="863" name="Text Box 3"/>
          <p:cNvSpPr/>
          <p:nvPr/>
        </p:nvSpPr>
        <p:spPr>
          <a:xfrm>
            <a:off x="2882880" y="1143000"/>
            <a:ext cx="25527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A vous de jouer...</a:t>
            </a:r>
            <a:endParaRPr b="0" lang="en-US" sz="2400" strike="noStrike" u="none">
              <a:solidFill>
                <a:srgbClr val="ffff00"/>
              </a:solidFill>
              <a:effectLst/>
              <a:uFillTx/>
              <a:latin typeface="Times New Roman"/>
            </a:endParaRPr>
          </a:p>
        </p:txBody>
      </p:sp>
      <p:sp>
        <p:nvSpPr>
          <p:cNvPr id="864" name="Text Box 4"/>
          <p:cNvSpPr/>
          <p:nvPr/>
        </p:nvSpPr>
        <p:spPr>
          <a:xfrm>
            <a:off x="228240" y="2098800"/>
            <a:ext cx="1850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durée ?</a:t>
            </a:r>
            <a:endParaRPr b="0" lang="en-US" sz="2000" strike="noStrike" u="none">
              <a:solidFill>
                <a:srgbClr val="ffff00"/>
              </a:solidFill>
              <a:effectLst/>
              <a:uFillTx/>
              <a:latin typeface="Times New Roman"/>
            </a:endParaRPr>
          </a:p>
        </p:txBody>
      </p:sp>
      <p:sp>
        <p:nvSpPr>
          <p:cNvPr id="865" name="Text Box 5"/>
          <p:cNvSpPr/>
          <p:nvPr/>
        </p:nvSpPr>
        <p:spPr>
          <a:xfrm>
            <a:off x="2666160" y="209880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 Puissance : </a:t>
            </a:r>
            <a:endParaRPr b="0" lang="en-US" sz="2000" strike="noStrike" u="none">
              <a:solidFill>
                <a:srgbClr val="ffff00"/>
              </a:solidFill>
              <a:effectLst/>
              <a:uFillTx/>
              <a:latin typeface="Times New Roman"/>
            </a:endParaRPr>
          </a:p>
        </p:txBody>
      </p:sp>
      <p:sp>
        <p:nvSpPr>
          <p:cNvPr id="866" name="Text Box 6"/>
          <p:cNvSpPr/>
          <p:nvPr/>
        </p:nvSpPr>
        <p:spPr>
          <a:xfrm>
            <a:off x="4876560" y="2057400"/>
            <a:ext cx="14965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30 s à 1min</a:t>
            </a:r>
            <a:endParaRPr b="0" lang="en-US" sz="2000" strike="noStrike" u="none">
              <a:solidFill>
                <a:srgbClr val="ffff00"/>
              </a:solidFill>
              <a:effectLst/>
              <a:uFillTx/>
              <a:latin typeface="Times New Roman"/>
            </a:endParaRPr>
          </a:p>
        </p:txBody>
      </p:sp>
      <p:sp>
        <p:nvSpPr>
          <p:cNvPr id="867" name="Text Box 7"/>
          <p:cNvSpPr/>
          <p:nvPr/>
        </p:nvSpPr>
        <p:spPr>
          <a:xfrm>
            <a:off x="2666160" y="247968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Endurance :</a:t>
            </a:r>
            <a:endParaRPr b="0" lang="en-US" sz="2000" strike="noStrike" u="none">
              <a:solidFill>
                <a:srgbClr val="ffff00"/>
              </a:solidFill>
              <a:effectLst/>
              <a:uFillTx/>
              <a:latin typeface="Times New Roman"/>
            </a:endParaRPr>
          </a:p>
        </p:txBody>
      </p:sp>
      <p:sp>
        <p:nvSpPr>
          <p:cNvPr id="868" name="Text Box 8"/>
          <p:cNvSpPr/>
          <p:nvPr/>
        </p:nvSpPr>
        <p:spPr>
          <a:xfrm>
            <a:off x="5243400" y="2403360"/>
            <a:ext cx="12276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 à 3 min</a:t>
            </a:r>
            <a:endParaRPr b="0" lang="en-US" sz="2000" strike="noStrike" u="none">
              <a:solidFill>
                <a:srgbClr val="ffff00"/>
              </a:solidFill>
              <a:effectLst/>
              <a:uFillTx/>
              <a:latin typeface="Times New Roman"/>
            </a:endParaRPr>
          </a:p>
        </p:txBody>
      </p:sp>
      <p:sp>
        <p:nvSpPr>
          <p:cNvPr id="869" name="Text Box 9"/>
          <p:cNvSpPr/>
          <p:nvPr/>
        </p:nvSpPr>
        <p:spPr>
          <a:xfrm>
            <a:off x="228240" y="3089160"/>
            <a:ext cx="2147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intensité ?</a:t>
            </a:r>
            <a:endParaRPr b="0" lang="en-US" sz="2000" strike="noStrike" u="none">
              <a:solidFill>
                <a:srgbClr val="ffff00"/>
              </a:solidFill>
              <a:effectLst/>
              <a:uFillTx/>
              <a:latin typeface="Times New Roman"/>
            </a:endParaRPr>
          </a:p>
        </p:txBody>
      </p:sp>
      <p:sp>
        <p:nvSpPr>
          <p:cNvPr id="870" name="Text Box 10"/>
          <p:cNvSpPr/>
          <p:nvPr/>
        </p:nvSpPr>
        <p:spPr>
          <a:xfrm>
            <a:off x="2531520" y="304812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 Puissance : </a:t>
            </a:r>
            <a:endParaRPr b="0" lang="en-US" sz="2000" strike="noStrike" u="none">
              <a:solidFill>
                <a:srgbClr val="ffff00"/>
              </a:solidFill>
              <a:effectLst/>
              <a:uFillTx/>
              <a:latin typeface="Times New Roman"/>
            </a:endParaRPr>
          </a:p>
        </p:txBody>
      </p:sp>
      <p:sp>
        <p:nvSpPr>
          <p:cNvPr id="871" name="Text Box 11"/>
          <p:cNvSpPr/>
          <p:nvPr/>
        </p:nvSpPr>
        <p:spPr>
          <a:xfrm>
            <a:off x="2531520" y="342900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Endurance :</a:t>
            </a:r>
            <a:endParaRPr b="0" lang="en-US" sz="2000" strike="noStrike" u="none">
              <a:solidFill>
                <a:srgbClr val="ffff00"/>
              </a:solidFill>
              <a:effectLst/>
              <a:uFillTx/>
              <a:latin typeface="Times New Roman"/>
            </a:endParaRPr>
          </a:p>
        </p:txBody>
      </p:sp>
      <p:sp>
        <p:nvSpPr>
          <p:cNvPr id="872" name="Text Box 12"/>
          <p:cNvSpPr/>
          <p:nvPr/>
        </p:nvSpPr>
        <p:spPr>
          <a:xfrm>
            <a:off x="4719960" y="3013200"/>
            <a:ext cx="39157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140 à 160 % de PAM ou de VAM</a:t>
            </a:r>
            <a:endParaRPr b="0" lang="en-US" sz="2000" strike="noStrike" u="none">
              <a:solidFill>
                <a:srgbClr val="ffff00"/>
              </a:solidFill>
              <a:effectLst/>
              <a:uFillTx/>
              <a:latin typeface="Times New Roman"/>
            </a:endParaRPr>
          </a:p>
        </p:txBody>
      </p:sp>
      <p:sp>
        <p:nvSpPr>
          <p:cNvPr id="873" name="Text Box 13"/>
          <p:cNvSpPr/>
          <p:nvPr/>
        </p:nvSpPr>
        <p:spPr>
          <a:xfrm>
            <a:off x="4781880" y="3394080"/>
            <a:ext cx="377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90 à 130 % de PAM ou de VAM</a:t>
            </a:r>
            <a:endParaRPr b="0" lang="en-US" sz="2000" strike="noStrike" u="none">
              <a:solidFill>
                <a:srgbClr val="ffff00"/>
              </a:solidFill>
              <a:effectLst/>
              <a:uFillTx/>
              <a:latin typeface="Times New Roman"/>
            </a:endParaRPr>
          </a:p>
        </p:txBody>
      </p:sp>
      <p:sp>
        <p:nvSpPr>
          <p:cNvPr id="874" name="Text Box 14"/>
          <p:cNvSpPr/>
          <p:nvPr/>
        </p:nvSpPr>
        <p:spPr>
          <a:xfrm>
            <a:off x="288720" y="4003560"/>
            <a:ext cx="30103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Combien de répétitions ?</a:t>
            </a:r>
            <a:endParaRPr b="0" lang="en-US" sz="2000" strike="noStrike" u="none">
              <a:solidFill>
                <a:srgbClr val="ffff00"/>
              </a:solidFill>
              <a:effectLst/>
              <a:uFillTx/>
              <a:latin typeface="Times New Roman"/>
            </a:endParaRPr>
          </a:p>
        </p:txBody>
      </p:sp>
      <p:sp>
        <p:nvSpPr>
          <p:cNvPr id="875" name="Text Box 15"/>
          <p:cNvSpPr/>
          <p:nvPr/>
        </p:nvSpPr>
        <p:spPr>
          <a:xfrm>
            <a:off x="3656880" y="4038480"/>
            <a:ext cx="1779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 Puissance : </a:t>
            </a:r>
            <a:endParaRPr b="0" lang="en-US" sz="2000" strike="noStrike" u="none">
              <a:solidFill>
                <a:srgbClr val="ffff00"/>
              </a:solidFill>
              <a:effectLst/>
              <a:uFillTx/>
              <a:latin typeface="Times New Roman"/>
            </a:endParaRPr>
          </a:p>
        </p:txBody>
      </p:sp>
      <p:sp>
        <p:nvSpPr>
          <p:cNvPr id="876" name="Text Box 16"/>
          <p:cNvSpPr/>
          <p:nvPr/>
        </p:nvSpPr>
        <p:spPr>
          <a:xfrm>
            <a:off x="3656880" y="4419720"/>
            <a:ext cx="176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Endurance :</a:t>
            </a:r>
            <a:endParaRPr b="0" lang="en-US" sz="2000" strike="noStrike" u="none">
              <a:solidFill>
                <a:srgbClr val="ffff00"/>
              </a:solidFill>
              <a:effectLst/>
              <a:uFillTx/>
              <a:latin typeface="Times New Roman"/>
            </a:endParaRPr>
          </a:p>
        </p:txBody>
      </p:sp>
      <p:sp>
        <p:nvSpPr>
          <p:cNvPr id="877" name="Text Box 17"/>
          <p:cNvSpPr/>
          <p:nvPr/>
        </p:nvSpPr>
        <p:spPr>
          <a:xfrm>
            <a:off x="5396400" y="4003560"/>
            <a:ext cx="746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à 4</a:t>
            </a:r>
            <a:endParaRPr b="0" lang="en-US" sz="2000" strike="noStrike" u="none">
              <a:solidFill>
                <a:srgbClr val="ffff00"/>
              </a:solidFill>
              <a:effectLst/>
              <a:uFillTx/>
              <a:latin typeface="Times New Roman"/>
            </a:endParaRPr>
          </a:p>
        </p:txBody>
      </p:sp>
      <p:sp>
        <p:nvSpPr>
          <p:cNvPr id="878" name="Text Box 18"/>
          <p:cNvSpPr/>
          <p:nvPr/>
        </p:nvSpPr>
        <p:spPr>
          <a:xfrm>
            <a:off x="5472360" y="4419720"/>
            <a:ext cx="746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4 à 8</a:t>
            </a:r>
            <a:endParaRPr b="0" lang="en-US" sz="2000" strike="noStrike" u="none">
              <a:solidFill>
                <a:srgbClr val="ffff00"/>
              </a:solidFill>
              <a:effectLst/>
              <a:uFillTx/>
              <a:latin typeface="Times New Roman"/>
            </a:endParaRPr>
          </a:p>
        </p:txBody>
      </p:sp>
      <p:sp>
        <p:nvSpPr>
          <p:cNvPr id="879" name="Text Box 19"/>
          <p:cNvSpPr/>
          <p:nvPr/>
        </p:nvSpPr>
        <p:spPr>
          <a:xfrm>
            <a:off x="286920" y="4917960"/>
            <a:ext cx="33217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 type de récupération ?</a:t>
            </a:r>
            <a:endParaRPr b="0" lang="en-US" sz="2000" strike="noStrike" u="none">
              <a:solidFill>
                <a:srgbClr val="ffff00"/>
              </a:solidFill>
              <a:effectLst/>
              <a:uFillTx/>
              <a:latin typeface="Times New Roman"/>
            </a:endParaRPr>
          </a:p>
        </p:txBody>
      </p:sp>
      <p:sp>
        <p:nvSpPr>
          <p:cNvPr id="880" name="Text Box 20"/>
          <p:cNvSpPr/>
          <p:nvPr/>
        </p:nvSpPr>
        <p:spPr>
          <a:xfrm>
            <a:off x="4404600" y="4876920"/>
            <a:ext cx="2373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Passive ou active ?</a:t>
            </a:r>
            <a:endParaRPr b="0" lang="en-US" sz="2000" strike="noStrike" u="none">
              <a:solidFill>
                <a:srgbClr val="ffff00"/>
              </a:solidFill>
              <a:effectLst/>
              <a:uFillTx/>
              <a:latin typeface="Times New Roman"/>
            </a:endParaRPr>
          </a:p>
        </p:txBody>
      </p:sp>
      <p:sp>
        <p:nvSpPr>
          <p:cNvPr id="881" name="Text Box 21"/>
          <p:cNvSpPr/>
          <p:nvPr/>
        </p:nvSpPr>
        <p:spPr>
          <a:xfrm>
            <a:off x="287280" y="5451480"/>
            <a:ext cx="3689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Quelle durée de récupération ?</a:t>
            </a:r>
            <a:endParaRPr b="0" lang="en-US" sz="2000" strike="noStrike" u="none">
              <a:solidFill>
                <a:srgbClr val="ffff00"/>
              </a:solidFill>
              <a:effectLst/>
              <a:uFillTx/>
              <a:latin typeface="Times New Roman"/>
            </a:endParaRPr>
          </a:p>
        </p:txBody>
      </p:sp>
      <p:sp>
        <p:nvSpPr>
          <p:cNvPr id="882" name="Text Box 22"/>
          <p:cNvSpPr/>
          <p:nvPr/>
        </p:nvSpPr>
        <p:spPr>
          <a:xfrm>
            <a:off x="4326120" y="5451480"/>
            <a:ext cx="2925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Entre chaque exercice : </a:t>
            </a:r>
            <a:endParaRPr b="0" lang="en-US" sz="2000" strike="noStrike" u="none">
              <a:solidFill>
                <a:srgbClr val="ffff00"/>
              </a:solidFill>
              <a:effectLst/>
              <a:uFillTx/>
              <a:latin typeface="Times New Roman"/>
            </a:endParaRPr>
          </a:p>
        </p:txBody>
      </p:sp>
      <p:sp>
        <p:nvSpPr>
          <p:cNvPr id="883" name="Text Box 23"/>
          <p:cNvSpPr/>
          <p:nvPr/>
        </p:nvSpPr>
        <p:spPr>
          <a:xfrm>
            <a:off x="4341600" y="5943600"/>
            <a:ext cx="23878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Entre chaque série:</a:t>
            </a:r>
            <a:endParaRPr b="0" lang="en-US" sz="2000" strike="noStrike" u="none">
              <a:solidFill>
                <a:srgbClr val="ffff00"/>
              </a:solidFill>
              <a:effectLst/>
              <a:uFillTx/>
              <a:latin typeface="Times New Roman"/>
            </a:endParaRPr>
          </a:p>
        </p:txBody>
      </p:sp>
      <p:sp>
        <p:nvSpPr>
          <p:cNvPr id="884" name="Text Box 24"/>
          <p:cNvSpPr/>
          <p:nvPr/>
        </p:nvSpPr>
        <p:spPr>
          <a:xfrm>
            <a:off x="7238880" y="5470560"/>
            <a:ext cx="12276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2 à 4 min</a:t>
            </a:r>
            <a:endParaRPr b="0" lang="en-US" sz="2000" strike="noStrike" u="none">
              <a:solidFill>
                <a:srgbClr val="ffff00"/>
              </a:solidFill>
              <a:effectLst/>
              <a:uFillTx/>
              <a:latin typeface="Times New Roman"/>
            </a:endParaRPr>
          </a:p>
        </p:txBody>
      </p:sp>
      <p:sp>
        <p:nvSpPr>
          <p:cNvPr id="885" name="Text Box 25"/>
          <p:cNvSpPr/>
          <p:nvPr/>
        </p:nvSpPr>
        <p:spPr>
          <a:xfrm>
            <a:off x="6858000" y="5943600"/>
            <a:ext cx="12276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6 à 8 min</a:t>
            </a:r>
            <a:endParaRPr b="0" lang="en-US" sz="2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521" dur="indefinite" restart="never" nodeType="tmRoot">
          <p:childTnLst>
            <p:seq>
              <p:cTn id="1522" dur="indefinite" nodeType="mainSeq">
                <p:childTnLst>
                  <p:par>
                    <p:cTn id="1523" nodeType="clickEffect" fill="hold">
                      <p:stCondLst>
                        <p:cond delay="indefinite"/>
                      </p:stCondLst>
                      <p:childTnLst>
                        <p:par>
                          <p:cTn id="1524" nodeType="withEffect" fill="hold">
                            <p:stCondLst>
                              <p:cond delay="0"/>
                            </p:stCondLst>
                            <p:childTnLst>
                              <p:par>
                                <p:cTn id="1525" nodeType="clickEffect" fill="hold" presetClass="entr" presetID="9">
                                  <p:stCondLst>
                                    <p:cond delay="0"/>
                                  </p:stCondLst>
                                  <p:childTnLst>
                                    <p:set>
                                      <p:cBhvr>
                                        <p:cTn id="1526" dur="1" fill="hold">
                                          <p:stCondLst>
                                            <p:cond delay="0"/>
                                          </p:stCondLst>
                                        </p:cTn>
                                        <p:tgtEl>
                                          <p:spTgt spid="866"/>
                                        </p:tgtEl>
                                        <p:attrNameLst>
                                          <p:attrName>style.visibility</p:attrName>
                                        </p:attrNameLst>
                                      </p:cBhvr>
                                      <p:to>
                                        <p:strVal val="visible"/>
                                      </p:to>
                                    </p:set>
                                    <p:animEffect filter="dissolve" transition="in">
                                      <p:cBhvr additive="repl">
                                        <p:cTn id="1527" dur="500"/>
                                        <p:tgtEl>
                                          <p:spTgt spid="866"/>
                                        </p:tgtEl>
                                      </p:cBhvr>
                                    </p:animEffect>
                                  </p:childTnLst>
                                </p:cTn>
                              </p:par>
                            </p:childTnLst>
                          </p:cTn>
                        </p:par>
                      </p:childTnLst>
                    </p:cTn>
                  </p:par>
                  <p:par>
                    <p:cTn id="1528" nodeType="clickEffect" fill="hold">
                      <p:stCondLst>
                        <p:cond delay="indefinite"/>
                      </p:stCondLst>
                      <p:childTnLst>
                        <p:par>
                          <p:cTn id="1529" nodeType="withEffect" fill="hold">
                            <p:stCondLst>
                              <p:cond delay="0"/>
                            </p:stCondLst>
                            <p:childTnLst>
                              <p:par>
                                <p:cTn id="1530" nodeType="clickEffect" fill="hold" presetClass="entr" presetID="9">
                                  <p:stCondLst>
                                    <p:cond delay="0"/>
                                  </p:stCondLst>
                                  <p:childTnLst>
                                    <p:set>
                                      <p:cBhvr>
                                        <p:cTn id="1531" dur="1" fill="hold">
                                          <p:stCondLst>
                                            <p:cond delay="0"/>
                                          </p:stCondLst>
                                        </p:cTn>
                                        <p:tgtEl>
                                          <p:spTgt spid="868"/>
                                        </p:tgtEl>
                                        <p:attrNameLst>
                                          <p:attrName>style.visibility</p:attrName>
                                        </p:attrNameLst>
                                      </p:cBhvr>
                                      <p:to>
                                        <p:strVal val="visible"/>
                                      </p:to>
                                    </p:set>
                                    <p:animEffect filter="dissolve" transition="in">
                                      <p:cBhvr additive="repl">
                                        <p:cTn id="1532" dur="500"/>
                                        <p:tgtEl>
                                          <p:spTgt spid="868"/>
                                        </p:tgtEl>
                                      </p:cBhvr>
                                    </p:animEffect>
                                  </p:childTnLst>
                                </p:cTn>
                              </p:par>
                            </p:childTnLst>
                          </p:cTn>
                        </p:par>
                      </p:childTnLst>
                    </p:cTn>
                  </p:par>
                  <p:par>
                    <p:cTn id="1533" nodeType="clickEffect" fill="hold">
                      <p:stCondLst>
                        <p:cond delay="indefinite"/>
                      </p:stCondLst>
                      <p:childTnLst>
                        <p:par>
                          <p:cTn id="1534" nodeType="withEffect" fill="hold">
                            <p:stCondLst>
                              <p:cond delay="0"/>
                            </p:stCondLst>
                            <p:childTnLst>
                              <p:par>
                                <p:cTn id="1535" nodeType="clickEffect" fill="hold" presetClass="entr" presetID="9">
                                  <p:stCondLst>
                                    <p:cond delay="0"/>
                                  </p:stCondLst>
                                  <p:childTnLst>
                                    <p:set>
                                      <p:cBhvr>
                                        <p:cTn id="1536" dur="1" fill="hold">
                                          <p:stCondLst>
                                            <p:cond delay="0"/>
                                          </p:stCondLst>
                                        </p:cTn>
                                        <p:tgtEl>
                                          <p:spTgt spid="872"/>
                                        </p:tgtEl>
                                        <p:attrNameLst>
                                          <p:attrName>style.visibility</p:attrName>
                                        </p:attrNameLst>
                                      </p:cBhvr>
                                      <p:to>
                                        <p:strVal val="visible"/>
                                      </p:to>
                                    </p:set>
                                    <p:animEffect filter="dissolve" transition="in">
                                      <p:cBhvr additive="repl">
                                        <p:cTn id="1537" dur="500"/>
                                        <p:tgtEl>
                                          <p:spTgt spid="872"/>
                                        </p:tgtEl>
                                      </p:cBhvr>
                                    </p:animEffect>
                                  </p:childTnLst>
                                </p:cTn>
                              </p:par>
                            </p:childTnLst>
                          </p:cTn>
                        </p:par>
                      </p:childTnLst>
                    </p:cTn>
                  </p:par>
                  <p:par>
                    <p:cTn id="1538" nodeType="clickEffect" fill="hold">
                      <p:stCondLst>
                        <p:cond delay="indefinite"/>
                      </p:stCondLst>
                      <p:childTnLst>
                        <p:par>
                          <p:cTn id="1539" nodeType="withEffect" fill="hold">
                            <p:stCondLst>
                              <p:cond delay="0"/>
                            </p:stCondLst>
                            <p:childTnLst>
                              <p:par>
                                <p:cTn id="1540" nodeType="clickEffect" fill="hold" presetClass="entr" presetID="9">
                                  <p:stCondLst>
                                    <p:cond delay="0"/>
                                  </p:stCondLst>
                                  <p:childTnLst>
                                    <p:set>
                                      <p:cBhvr>
                                        <p:cTn id="1541" dur="1" fill="hold">
                                          <p:stCondLst>
                                            <p:cond delay="0"/>
                                          </p:stCondLst>
                                        </p:cTn>
                                        <p:tgtEl>
                                          <p:spTgt spid="873"/>
                                        </p:tgtEl>
                                        <p:attrNameLst>
                                          <p:attrName>style.visibility</p:attrName>
                                        </p:attrNameLst>
                                      </p:cBhvr>
                                      <p:to>
                                        <p:strVal val="visible"/>
                                      </p:to>
                                    </p:set>
                                    <p:animEffect filter="dissolve" transition="in">
                                      <p:cBhvr additive="repl">
                                        <p:cTn id="1542" dur="500"/>
                                        <p:tgtEl>
                                          <p:spTgt spid="873"/>
                                        </p:tgtEl>
                                      </p:cBhvr>
                                    </p:animEffect>
                                  </p:childTnLst>
                                </p:cTn>
                              </p:par>
                            </p:childTnLst>
                          </p:cTn>
                        </p:par>
                      </p:childTnLst>
                    </p:cTn>
                  </p:par>
                  <p:par>
                    <p:cTn id="1543" nodeType="clickEffect" fill="hold">
                      <p:stCondLst>
                        <p:cond delay="indefinite"/>
                      </p:stCondLst>
                      <p:childTnLst>
                        <p:par>
                          <p:cTn id="1544" nodeType="withEffect" fill="hold">
                            <p:stCondLst>
                              <p:cond delay="0"/>
                            </p:stCondLst>
                            <p:childTnLst>
                              <p:par>
                                <p:cTn id="1545" nodeType="clickEffect" fill="hold" presetClass="entr" presetID="1">
                                  <p:stCondLst>
                                    <p:cond delay="0"/>
                                  </p:stCondLst>
                                  <p:childTnLst>
                                    <p:set>
                                      <p:cBhvr>
                                        <p:cTn id="1546" dur="1" fill="hold">
                                          <p:stCondLst>
                                            <p:cond delay="499"/>
                                          </p:stCondLst>
                                        </p:cTn>
                                        <p:tgtEl>
                                          <p:spTgt spid="877"/>
                                        </p:tgtEl>
                                        <p:attrNameLst>
                                          <p:attrName>style.visibility</p:attrName>
                                        </p:attrNameLst>
                                      </p:cBhvr>
                                      <p:to>
                                        <p:strVal val="visible"/>
                                      </p:to>
                                    </p:set>
                                  </p:childTnLst>
                                </p:cTn>
                              </p:par>
                            </p:childTnLst>
                          </p:cTn>
                        </p:par>
                      </p:childTnLst>
                    </p:cTn>
                  </p:par>
                  <p:par>
                    <p:cTn id="1547" nodeType="clickEffect" fill="hold">
                      <p:stCondLst>
                        <p:cond delay="indefinite"/>
                      </p:stCondLst>
                      <p:childTnLst>
                        <p:par>
                          <p:cTn id="1548" nodeType="withEffect" fill="hold">
                            <p:stCondLst>
                              <p:cond delay="0"/>
                            </p:stCondLst>
                            <p:childTnLst>
                              <p:par>
                                <p:cTn id="1549" nodeType="clickEffect" fill="hold" presetClass="entr" presetID="1">
                                  <p:stCondLst>
                                    <p:cond delay="0"/>
                                  </p:stCondLst>
                                  <p:childTnLst>
                                    <p:set>
                                      <p:cBhvr>
                                        <p:cTn id="1550" dur="1" fill="hold">
                                          <p:stCondLst>
                                            <p:cond delay="499"/>
                                          </p:stCondLst>
                                        </p:cTn>
                                        <p:tgtEl>
                                          <p:spTgt spid="878"/>
                                        </p:tgtEl>
                                        <p:attrNameLst>
                                          <p:attrName>style.visibility</p:attrName>
                                        </p:attrNameLst>
                                      </p:cBhvr>
                                      <p:to>
                                        <p:strVal val="visible"/>
                                      </p:to>
                                    </p:set>
                                  </p:childTnLst>
                                </p:cTn>
                              </p:par>
                            </p:childTnLst>
                          </p:cTn>
                        </p:par>
                      </p:childTnLst>
                    </p:cTn>
                  </p:par>
                  <p:par>
                    <p:cTn id="1551" nodeType="clickEffect" fill="hold">
                      <p:stCondLst>
                        <p:cond delay="indefinite"/>
                      </p:stCondLst>
                      <p:childTnLst>
                        <p:par>
                          <p:cTn id="1552" nodeType="withEffect" fill="hold">
                            <p:stCondLst>
                              <p:cond delay="0"/>
                            </p:stCondLst>
                            <p:childTnLst>
                              <p:par>
                                <p:cTn id="1553" nodeType="clickEffect" fill="hold" presetClass="entr" presetID="1">
                                  <p:stCondLst>
                                    <p:cond delay="0"/>
                                  </p:stCondLst>
                                  <p:childTnLst>
                                    <p:set>
                                      <p:cBhvr>
                                        <p:cTn id="1554" dur="1" fill="hold">
                                          <p:stCondLst>
                                            <p:cond delay="499"/>
                                          </p:stCondLst>
                                        </p:cTn>
                                        <p:tgtEl>
                                          <p:spTgt spid="880"/>
                                        </p:tgtEl>
                                        <p:attrNameLst>
                                          <p:attrName>style.visibility</p:attrName>
                                        </p:attrNameLst>
                                      </p:cBhvr>
                                      <p:to>
                                        <p:strVal val="visible"/>
                                      </p:to>
                                    </p:set>
                                  </p:childTnLst>
                                </p:cTn>
                              </p:par>
                            </p:childTnLst>
                          </p:cTn>
                        </p:par>
                      </p:childTnLst>
                    </p:cTn>
                  </p:par>
                  <p:par>
                    <p:cTn id="1555" nodeType="clickEffect" fill="hold">
                      <p:stCondLst>
                        <p:cond delay="indefinite"/>
                      </p:stCondLst>
                      <p:childTnLst>
                        <p:par>
                          <p:cTn id="1556" nodeType="withEffect" fill="hold">
                            <p:stCondLst>
                              <p:cond delay="0"/>
                            </p:stCondLst>
                            <p:childTnLst>
                              <p:par>
                                <p:cTn id="1557" nodeType="clickEffect" fill="hold" presetClass="entr" presetID="1">
                                  <p:stCondLst>
                                    <p:cond delay="0"/>
                                  </p:stCondLst>
                                  <p:childTnLst>
                                    <p:set>
                                      <p:cBhvr>
                                        <p:cTn id="1558" dur="1" fill="hold">
                                          <p:stCondLst>
                                            <p:cond delay="499"/>
                                          </p:stCondLst>
                                        </p:cTn>
                                        <p:tgtEl>
                                          <p:spTgt spid="884"/>
                                        </p:tgtEl>
                                        <p:attrNameLst>
                                          <p:attrName>style.visibility</p:attrName>
                                        </p:attrNameLst>
                                      </p:cBhvr>
                                      <p:to>
                                        <p:strVal val="visible"/>
                                      </p:to>
                                    </p:set>
                                  </p:childTnLst>
                                </p:cTn>
                              </p:par>
                            </p:childTnLst>
                          </p:cTn>
                        </p:par>
                      </p:childTnLst>
                    </p:cTn>
                  </p:par>
                  <p:par>
                    <p:cTn id="1559" nodeType="clickEffect" fill="hold">
                      <p:stCondLst>
                        <p:cond delay="indefinite"/>
                      </p:stCondLst>
                      <p:childTnLst>
                        <p:par>
                          <p:cTn id="1560" nodeType="withEffect" fill="hold">
                            <p:stCondLst>
                              <p:cond delay="0"/>
                            </p:stCondLst>
                            <p:childTnLst>
                              <p:par>
                                <p:cTn id="1561" nodeType="clickEffect" fill="hold" presetClass="entr" presetID="1">
                                  <p:stCondLst>
                                    <p:cond delay="0"/>
                                  </p:stCondLst>
                                  <p:childTnLst>
                                    <p:set>
                                      <p:cBhvr>
                                        <p:cTn id="1562" dur="1" fill="hold">
                                          <p:stCondLst>
                                            <p:cond delay="499"/>
                                          </p:stCondLst>
                                        </p:cTn>
                                        <p:tgtEl>
                                          <p:spTgt spid="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86" name=""/>
          <p:cNvGraphicFramePr/>
          <p:nvPr/>
        </p:nvGraphicFramePr>
        <p:xfrm>
          <a:off x="227160" y="1474920"/>
          <a:ext cx="8640720" cy="1555560"/>
        </p:xfrm>
        <a:graphic>
          <a:graphicData uri="http://schemas.openxmlformats.org/drawingml/2006/table">
            <a:tbl>
              <a:tblPr/>
              <a:tblGrid>
                <a:gridCol w="1079280"/>
                <a:gridCol w="792360"/>
                <a:gridCol w="936360"/>
                <a:gridCol w="1729080"/>
                <a:gridCol w="1366560"/>
                <a:gridCol w="1393920"/>
                <a:gridCol w="1343160"/>
              </a:tblGrid>
              <a:tr h="118908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Intensité</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Durée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Récup</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de répétions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série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de séries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séance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Récup entre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chaque série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séance/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Semaine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r>
              <a:tr h="1737720">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Vit. max</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3 à 5 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(20 à 30m)</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Passive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1 à 2min</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3 à 6</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2 à 4</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Active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4 à 6 min</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1 à 3</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5760">
                      <a:solidFill>
                        <a:srgbClr val="ffffff"/>
                      </a:solidFill>
                      <a:prstDash val="solid"/>
                    </a:lnR>
                    <a:lnT w="18720">
                      <a:solidFill>
                        <a:srgbClr val="ffffff"/>
                      </a:solidFill>
                      <a:prstDash val="solid"/>
                    </a:lnT>
                    <a:lnB w="2880">
                      <a:solidFill>
                        <a:srgbClr val="000099"/>
                      </a:solidFill>
                      <a:prstDash val="dash"/>
                    </a:lnB>
                    <a:solidFill>
                      <a:srgbClr val="cdcde6"/>
                    </a:solidFill>
                  </a:tcPr>
                </a:tc>
              </a:tr>
            </a:tbl>
          </a:graphicData>
        </a:graphic>
      </p:graphicFrame>
      <p:sp>
        <p:nvSpPr>
          <p:cNvPr id="887" name="ZoneTexte 2"/>
          <p:cNvSpPr/>
          <p:nvPr/>
        </p:nvSpPr>
        <p:spPr>
          <a:xfrm>
            <a:off x="-460800" y="835200"/>
            <a:ext cx="5613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1- Développement de la vitesse</a:t>
            </a:r>
            <a:endParaRPr b="0" lang="en-US" sz="2400" strike="noStrike" u="none">
              <a:solidFill>
                <a:srgbClr val="ffff00"/>
              </a:solidFill>
              <a:effectLst/>
              <a:uFillTx/>
              <a:latin typeface="Times New Roman"/>
            </a:endParaRPr>
          </a:p>
        </p:txBody>
      </p:sp>
      <p:sp>
        <p:nvSpPr>
          <p:cNvPr id="888" name="ZoneTexte 3"/>
          <p:cNvSpPr/>
          <p:nvPr/>
        </p:nvSpPr>
        <p:spPr>
          <a:xfrm>
            <a:off x="-1489320" y="3151080"/>
            <a:ext cx="123019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 musculation spécifique, traction d’une charge, courses en côte, vs en descente, élastique...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 : premier chiffre en début de cycle </a:t>
            </a:r>
            <a:endParaRPr b="0" lang="en-US" sz="1800" strike="noStrike" u="none">
              <a:solidFill>
                <a:srgbClr val="ffff00"/>
              </a:solidFill>
              <a:effectLst/>
              <a:uFillTx/>
              <a:latin typeface="Times New Roman"/>
            </a:endParaRPr>
          </a:p>
        </p:txBody>
      </p:sp>
      <p:sp>
        <p:nvSpPr>
          <p:cNvPr id="889" name="ZoneTexte 4"/>
          <p:cNvSpPr/>
          <p:nvPr/>
        </p:nvSpPr>
        <p:spPr>
          <a:xfrm>
            <a:off x="-560520" y="4240080"/>
            <a:ext cx="73249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2- Développement de la capacité lactique</a:t>
            </a:r>
            <a:endParaRPr b="0" lang="en-US" sz="2400" strike="noStrike" u="none">
              <a:solidFill>
                <a:srgbClr val="ffff00"/>
              </a:solidFill>
              <a:effectLst/>
              <a:uFillTx/>
              <a:latin typeface="Times New Roman"/>
            </a:endParaRPr>
          </a:p>
        </p:txBody>
      </p:sp>
      <p:graphicFrame>
        <p:nvGraphicFramePr>
          <p:cNvPr id="890" name=""/>
          <p:cNvGraphicFramePr/>
          <p:nvPr/>
        </p:nvGraphicFramePr>
        <p:xfrm>
          <a:off x="250920" y="4875120"/>
          <a:ext cx="8642160" cy="1281240"/>
        </p:xfrm>
        <a:graphic>
          <a:graphicData uri="http://schemas.openxmlformats.org/drawingml/2006/table">
            <a:tbl>
              <a:tblPr/>
              <a:tblGrid>
                <a:gridCol w="1224000"/>
                <a:gridCol w="792000"/>
                <a:gridCol w="792360"/>
                <a:gridCol w="1728720"/>
                <a:gridCol w="1368360"/>
                <a:gridCol w="1368360"/>
                <a:gridCol w="1368360"/>
              </a:tblGrid>
              <a:tr h="118908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Intensité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VAM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Durée</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Récup</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de répétions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série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de séries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séance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Récup entre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 chaq. série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Nb séance/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Semaine (*)</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2d2db9"/>
                    </a:solidFill>
                  </a:tcPr>
                </a:tc>
              </a:tr>
              <a:tr h="914760">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120 à 150</a:t>
                      </a:r>
                      <a:endParaRPr b="0" lang="en-US" sz="1800" strike="noStrike" u="none">
                        <a:solidFill>
                          <a:srgbClr val="ffff00"/>
                        </a:solidFill>
                        <a:effectLst/>
                        <a:uFillTx/>
                        <a:latin typeface="Times New Roman"/>
                      </a:endParaRPr>
                    </a:p>
                  </a:txBody>
                  <a:tcPr anchor="t" marL="91440" marR="91440">
                    <a:lnL w="5760">
                      <a:solidFill>
                        <a:srgbClr val="ffffff"/>
                      </a:solidFill>
                      <a:prstDash val="solid"/>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20 à 50 s</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3 à 4 min</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2 à 3</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1 à 3</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Active 6 à 8 min</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2880">
                      <a:solidFill>
                        <a:srgbClr val="000000"/>
                      </a:solidFill>
                      <a:prstDash val="dash"/>
                    </a:lnR>
                    <a:lnT w="18720">
                      <a:solidFill>
                        <a:srgbClr val="ffffff"/>
                      </a:solidFill>
                      <a:prstDash val="solid"/>
                    </a:lnT>
                    <a:lnB w="2880">
                      <a:solidFill>
                        <a:srgbClr val="000099"/>
                      </a:solidFill>
                      <a:prstDash val="dash"/>
                    </a:lnB>
                    <a:solidFill>
                      <a:srgbClr val="cdcde6"/>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Calibri"/>
                          <a:ea typeface="Calibri"/>
                        </a:rPr>
                        <a:t>1 à 2 </a:t>
                      </a:r>
                      <a:endParaRPr b="0" lang="en-US" sz="1800" strike="noStrike" u="none">
                        <a:solidFill>
                          <a:srgbClr val="ffff00"/>
                        </a:solidFill>
                        <a:effectLst/>
                        <a:uFillTx/>
                        <a:latin typeface="Times New Roman"/>
                      </a:endParaRPr>
                    </a:p>
                  </a:txBody>
                  <a:tcPr anchor="t" marL="91440" marR="91440">
                    <a:lnL w="2880">
                      <a:solidFill>
                        <a:srgbClr val="000000"/>
                      </a:solidFill>
                      <a:prstDash val="dash"/>
                    </a:lnL>
                    <a:lnR w="5760">
                      <a:solidFill>
                        <a:srgbClr val="ffffff"/>
                      </a:solidFill>
                      <a:prstDash val="solid"/>
                    </a:lnR>
                    <a:lnT w="18720">
                      <a:solidFill>
                        <a:srgbClr val="ffffff"/>
                      </a:solidFill>
                      <a:prstDash val="solid"/>
                    </a:lnT>
                    <a:lnB w="2880">
                      <a:solidFill>
                        <a:srgbClr val="000099"/>
                      </a:solidFill>
                      <a:prstDash val="dash"/>
                    </a:lnB>
                    <a:solidFill>
                      <a:srgbClr val="cdcde6"/>
                    </a:solidFill>
                  </a:tcPr>
                </a:tc>
              </a:tr>
            </a:tbl>
          </a:graphicData>
        </a:graphic>
      </p:graphicFrame>
      <p:sp>
        <p:nvSpPr>
          <p:cNvPr id="891" name="Rectangle 6"/>
          <p:cNvSpPr/>
          <p:nvPr/>
        </p:nvSpPr>
        <p:spPr>
          <a:xfrm>
            <a:off x="258840" y="6300720"/>
            <a:ext cx="660708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 : premier chiffre en début de cycle </a:t>
            </a:r>
            <a:endParaRPr b="0" lang="en-US" sz="2400" strike="noStrike" u="none">
              <a:solidFill>
                <a:srgbClr val="ffff00"/>
              </a:solidFill>
              <a:effectLst/>
              <a:uFillTx/>
              <a:latin typeface="Times New Roman"/>
            </a:endParaRPr>
          </a:p>
        </p:txBody>
      </p:sp>
      <p:sp>
        <p:nvSpPr>
          <p:cNvPr id="892" name="Rectangle 7"/>
          <p:cNvSpPr/>
          <p:nvPr/>
        </p:nvSpPr>
        <p:spPr>
          <a:xfrm>
            <a:off x="0" y="115920"/>
            <a:ext cx="903600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rPr>
              <a:t>Maîtriser les différents paramètres de l’exercice par intervalles.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563" dur="indefinite" restart="never" nodeType="tmRoot">
          <p:childTnLst>
            <p:seq>
              <p:cTn id="1564" dur="indefinite" nodeType="mainSeq">
                <p:childTnLst>
                  <p:par>
                    <p:cTn id="1565" nodeType="clickEffect" fill="hold">
                      <p:stCondLst>
                        <p:cond delay="0"/>
                      </p:stCondLst>
                      <p:childTnLst>
                        <p:par>
                          <p:cTn id="1566" nodeType="withEffect" fill="hold">
                            <p:stCondLst>
                              <p:cond delay="0"/>
                            </p:stCondLst>
                            <p:childTnLst>
                              <p:par>
                                <p:cTn id="1567" nodeType="afterEffect" fill="hold" presetClass="entr" presetID="53" presetSubtype="16">
                                  <p:stCondLst>
                                    <p:cond delay="1000"/>
                                  </p:stCondLst>
                                  <p:childTnLst>
                                    <p:set>
                                      <p:cBhvr>
                                        <p:cTn id="1568" dur="1" fill="hold">
                                          <p:stCondLst>
                                            <p:cond delay="0"/>
                                          </p:stCondLst>
                                        </p:cTn>
                                        <p:tgtEl>
                                          <p:spTgt spid="886"/>
                                        </p:tgtEl>
                                        <p:attrNameLst>
                                          <p:attrName>style.visibility</p:attrName>
                                        </p:attrNameLst>
                                      </p:cBhvr>
                                      <p:to>
                                        <p:strVal val="visible"/>
                                      </p:to>
                                    </p:set>
                                    <p:anim calcmode="lin" valueType="num">
                                      <p:cBhvr additive="repl">
                                        <p:cTn id="1569" dur="1500" fill="hold"/>
                                        <p:tgtEl>
                                          <p:spTgt spid="886"/>
                                        </p:tgtEl>
                                        <p:attrNameLst>
                                          <p:attrName>ppt_w</p:attrName>
                                        </p:attrNameLst>
                                      </p:cBhvr>
                                      <p:tavLst>
                                        <p:tav tm="0">
                                          <p:val>
                                            <p:fltVal val="0"/>
                                          </p:val>
                                        </p:tav>
                                        <p:tav tm="100000">
                                          <p:val>
                                            <p:strVal val="#ppt_w"/>
                                          </p:val>
                                        </p:tav>
                                      </p:tavLst>
                                    </p:anim>
                                    <p:anim calcmode="lin" valueType="num">
                                      <p:cBhvr additive="repl">
                                        <p:cTn id="1570" dur="1500" fill="hold"/>
                                        <p:tgtEl>
                                          <p:spTgt spid="886"/>
                                        </p:tgtEl>
                                        <p:attrNameLst>
                                          <p:attrName>ppt_h</p:attrName>
                                        </p:attrNameLst>
                                      </p:cBhvr>
                                      <p:tavLst>
                                        <p:tav tm="0">
                                          <p:val>
                                            <p:fltVal val="0"/>
                                          </p:val>
                                        </p:tav>
                                        <p:tav tm="100000">
                                          <p:val>
                                            <p:strVal val="#ppt_h"/>
                                          </p:val>
                                        </p:tav>
                                      </p:tavLst>
                                    </p:anim>
                                    <p:animEffect filter="fade" transition="in">
                                      <p:cBhvr additive="repl">
                                        <p:cTn id="1571" dur="1500"/>
                                        <p:tgtEl>
                                          <p:spTgt spid="886"/>
                                        </p:tgtEl>
                                      </p:cBhvr>
                                    </p:animEffect>
                                  </p:childTnLst>
                                </p:cTn>
                              </p:par>
                            </p:childTnLst>
                          </p:cTn>
                        </p:par>
                        <p:par>
                          <p:cTn id="1572" nodeType="afterEffect" fill="hold">
                            <p:stCondLst>
                              <p:cond delay="2500"/>
                            </p:stCondLst>
                            <p:childTnLst>
                              <p:par>
                                <p:cTn id="1573" nodeType="afterEffect" fill="hold" presetClass="entr" presetID="53" presetSubtype="16">
                                  <p:stCondLst>
                                    <p:cond delay="1000"/>
                                  </p:stCondLst>
                                  <p:childTnLst>
                                    <p:set>
                                      <p:cBhvr>
                                        <p:cTn id="1574" dur="1" fill="hold">
                                          <p:stCondLst>
                                            <p:cond delay="0"/>
                                          </p:stCondLst>
                                        </p:cTn>
                                        <p:tgtEl>
                                          <p:spTgt spid="887"/>
                                        </p:tgtEl>
                                        <p:attrNameLst>
                                          <p:attrName>style.visibility</p:attrName>
                                        </p:attrNameLst>
                                      </p:cBhvr>
                                      <p:to>
                                        <p:strVal val="visible"/>
                                      </p:to>
                                    </p:set>
                                    <p:anim calcmode="lin" valueType="num">
                                      <p:cBhvr additive="repl">
                                        <p:cTn id="1575" dur="1500" fill="hold"/>
                                        <p:tgtEl>
                                          <p:spTgt spid="887"/>
                                        </p:tgtEl>
                                        <p:attrNameLst>
                                          <p:attrName>ppt_w</p:attrName>
                                        </p:attrNameLst>
                                      </p:cBhvr>
                                      <p:tavLst>
                                        <p:tav tm="0">
                                          <p:val>
                                            <p:fltVal val="0"/>
                                          </p:val>
                                        </p:tav>
                                        <p:tav tm="100000">
                                          <p:val>
                                            <p:strVal val="#ppt_w"/>
                                          </p:val>
                                        </p:tav>
                                      </p:tavLst>
                                    </p:anim>
                                    <p:anim calcmode="lin" valueType="num">
                                      <p:cBhvr additive="repl">
                                        <p:cTn id="1576" dur="1500" fill="hold"/>
                                        <p:tgtEl>
                                          <p:spTgt spid="887"/>
                                        </p:tgtEl>
                                        <p:attrNameLst>
                                          <p:attrName>ppt_h</p:attrName>
                                        </p:attrNameLst>
                                      </p:cBhvr>
                                      <p:tavLst>
                                        <p:tav tm="0">
                                          <p:val>
                                            <p:fltVal val="0"/>
                                          </p:val>
                                        </p:tav>
                                        <p:tav tm="100000">
                                          <p:val>
                                            <p:strVal val="#ppt_h"/>
                                          </p:val>
                                        </p:tav>
                                      </p:tavLst>
                                    </p:anim>
                                    <p:animEffect filter="fade" transition="in">
                                      <p:cBhvr additive="repl">
                                        <p:cTn id="1577" dur="1500"/>
                                        <p:tgtEl>
                                          <p:spTgt spid="887"/>
                                        </p:tgtEl>
                                      </p:cBhvr>
                                    </p:animEffect>
                                  </p:childTnLst>
                                </p:cTn>
                              </p:par>
                            </p:childTnLst>
                          </p:cTn>
                        </p:par>
                        <p:par>
                          <p:cTn id="1578" nodeType="afterEffect" fill="hold">
                            <p:stCondLst>
                              <p:cond delay="5000"/>
                            </p:stCondLst>
                            <p:childTnLst>
                              <p:par>
                                <p:cTn id="1579" nodeType="afterEffect" fill="hold" presetClass="entr" presetID="53" presetSubtype="16">
                                  <p:stCondLst>
                                    <p:cond delay="1000"/>
                                  </p:stCondLst>
                                  <p:childTnLst>
                                    <p:set>
                                      <p:cBhvr>
                                        <p:cTn id="1580" dur="1" fill="hold">
                                          <p:stCondLst>
                                            <p:cond delay="0"/>
                                          </p:stCondLst>
                                        </p:cTn>
                                        <p:tgtEl>
                                          <p:spTgt spid="888"/>
                                        </p:tgtEl>
                                        <p:attrNameLst>
                                          <p:attrName>style.visibility</p:attrName>
                                        </p:attrNameLst>
                                      </p:cBhvr>
                                      <p:to>
                                        <p:strVal val="visible"/>
                                      </p:to>
                                    </p:set>
                                    <p:anim calcmode="lin" valueType="num">
                                      <p:cBhvr additive="repl">
                                        <p:cTn id="1581" dur="1500" fill="hold"/>
                                        <p:tgtEl>
                                          <p:spTgt spid="888"/>
                                        </p:tgtEl>
                                        <p:attrNameLst>
                                          <p:attrName>ppt_w</p:attrName>
                                        </p:attrNameLst>
                                      </p:cBhvr>
                                      <p:tavLst>
                                        <p:tav tm="0">
                                          <p:val>
                                            <p:fltVal val="0"/>
                                          </p:val>
                                        </p:tav>
                                        <p:tav tm="100000">
                                          <p:val>
                                            <p:strVal val="#ppt_w"/>
                                          </p:val>
                                        </p:tav>
                                      </p:tavLst>
                                    </p:anim>
                                    <p:anim calcmode="lin" valueType="num">
                                      <p:cBhvr additive="repl">
                                        <p:cTn id="1582" dur="1500" fill="hold"/>
                                        <p:tgtEl>
                                          <p:spTgt spid="888"/>
                                        </p:tgtEl>
                                        <p:attrNameLst>
                                          <p:attrName>ppt_h</p:attrName>
                                        </p:attrNameLst>
                                      </p:cBhvr>
                                      <p:tavLst>
                                        <p:tav tm="0">
                                          <p:val>
                                            <p:fltVal val="0"/>
                                          </p:val>
                                        </p:tav>
                                        <p:tav tm="100000">
                                          <p:val>
                                            <p:strVal val="#ppt_h"/>
                                          </p:val>
                                        </p:tav>
                                      </p:tavLst>
                                    </p:anim>
                                    <p:animEffect filter="fade" transition="in">
                                      <p:cBhvr additive="repl">
                                        <p:cTn id="1583" dur="1500"/>
                                        <p:tgtEl>
                                          <p:spTgt spid="888"/>
                                        </p:tgtEl>
                                      </p:cBhvr>
                                    </p:animEffect>
                                  </p:childTnLst>
                                </p:cTn>
                              </p:par>
                            </p:childTnLst>
                          </p:cTn>
                        </p:par>
                      </p:childTnLst>
                    </p:cTn>
                  </p:par>
                  <p:par>
                    <p:cTn id="1584" nodeType="clickEffect" fill="hold">
                      <p:stCondLst>
                        <p:cond delay="indefinite"/>
                      </p:stCondLst>
                      <p:childTnLst>
                        <p:par>
                          <p:cTn id="1585" nodeType="withEffect" fill="hold">
                            <p:stCondLst>
                              <p:cond delay="0"/>
                            </p:stCondLst>
                            <p:childTnLst>
                              <p:par>
                                <p:cTn id="1586" nodeType="clickEffect" fill="hold" presetClass="entr" presetID="53" presetSubtype="16">
                                  <p:stCondLst>
                                    <p:cond delay="0"/>
                                  </p:stCondLst>
                                  <p:childTnLst>
                                    <p:set>
                                      <p:cBhvr>
                                        <p:cTn id="1587" dur="1" fill="hold">
                                          <p:stCondLst>
                                            <p:cond delay="0"/>
                                          </p:stCondLst>
                                        </p:cTn>
                                        <p:tgtEl>
                                          <p:spTgt spid="889"/>
                                        </p:tgtEl>
                                        <p:attrNameLst>
                                          <p:attrName>style.visibility</p:attrName>
                                        </p:attrNameLst>
                                      </p:cBhvr>
                                      <p:to>
                                        <p:strVal val="visible"/>
                                      </p:to>
                                    </p:set>
                                    <p:anim calcmode="lin" valueType="num">
                                      <p:cBhvr additive="repl">
                                        <p:cTn id="1588" dur="1500" fill="hold"/>
                                        <p:tgtEl>
                                          <p:spTgt spid="889"/>
                                        </p:tgtEl>
                                        <p:attrNameLst>
                                          <p:attrName>ppt_w</p:attrName>
                                        </p:attrNameLst>
                                      </p:cBhvr>
                                      <p:tavLst>
                                        <p:tav tm="0">
                                          <p:val>
                                            <p:fltVal val="0"/>
                                          </p:val>
                                        </p:tav>
                                        <p:tav tm="100000">
                                          <p:val>
                                            <p:strVal val="#ppt_w"/>
                                          </p:val>
                                        </p:tav>
                                      </p:tavLst>
                                    </p:anim>
                                    <p:anim calcmode="lin" valueType="num">
                                      <p:cBhvr additive="repl">
                                        <p:cTn id="1589" dur="1500" fill="hold"/>
                                        <p:tgtEl>
                                          <p:spTgt spid="889"/>
                                        </p:tgtEl>
                                        <p:attrNameLst>
                                          <p:attrName>ppt_h</p:attrName>
                                        </p:attrNameLst>
                                      </p:cBhvr>
                                      <p:tavLst>
                                        <p:tav tm="0">
                                          <p:val>
                                            <p:fltVal val="0"/>
                                          </p:val>
                                        </p:tav>
                                        <p:tav tm="100000">
                                          <p:val>
                                            <p:strVal val="#ppt_h"/>
                                          </p:val>
                                        </p:tav>
                                      </p:tavLst>
                                    </p:anim>
                                    <p:animEffect filter="fade" transition="in">
                                      <p:cBhvr additive="repl">
                                        <p:cTn id="1590" dur="1500"/>
                                        <p:tgtEl>
                                          <p:spTgt spid="889"/>
                                        </p:tgtEl>
                                      </p:cBhvr>
                                    </p:animEffect>
                                  </p:childTnLst>
                                </p:cTn>
                              </p:par>
                            </p:childTnLst>
                          </p:cTn>
                        </p:par>
                      </p:childTnLst>
                    </p:cTn>
                  </p:par>
                  <p:par>
                    <p:cTn id="1591" nodeType="clickEffect" fill="hold">
                      <p:stCondLst>
                        <p:cond delay="indefinite"/>
                      </p:stCondLst>
                      <p:childTnLst>
                        <p:par>
                          <p:cTn id="1592" nodeType="withEffect" fill="hold">
                            <p:stCondLst>
                              <p:cond delay="0"/>
                            </p:stCondLst>
                            <p:childTnLst>
                              <p:par>
                                <p:cTn id="1593" nodeType="clickEffect" fill="hold" presetClass="entr" presetID="53" presetSubtype="16">
                                  <p:stCondLst>
                                    <p:cond delay="0"/>
                                  </p:stCondLst>
                                  <p:childTnLst>
                                    <p:set>
                                      <p:cBhvr>
                                        <p:cTn id="1594" dur="1" fill="hold">
                                          <p:stCondLst>
                                            <p:cond delay="0"/>
                                          </p:stCondLst>
                                        </p:cTn>
                                        <p:tgtEl>
                                          <p:spTgt spid="890"/>
                                        </p:tgtEl>
                                        <p:attrNameLst>
                                          <p:attrName>style.visibility</p:attrName>
                                        </p:attrNameLst>
                                      </p:cBhvr>
                                      <p:to>
                                        <p:strVal val="visible"/>
                                      </p:to>
                                    </p:set>
                                    <p:anim calcmode="lin" valueType="num">
                                      <p:cBhvr additive="repl">
                                        <p:cTn id="1595" dur="1500" fill="hold"/>
                                        <p:tgtEl>
                                          <p:spTgt spid="890"/>
                                        </p:tgtEl>
                                        <p:attrNameLst>
                                          <p:attrName>ppt_w</p:attrName>
                                        </p:attrNameLst>
                                      </p:cBhvr>
                                      <p:tavLst>
                                        <p:tav tm="0">
                                          <p:val>
                                            <p:fltVal val="0"/>
                                          </p:val>
                                        </p:tav>
                                        <p:tav tm="100000">
                                          <p:val>
                                            <p:strVal val="#ppt_w"/>
                                          </p:val>
                                        </p:tav>
                                      </p:tavLst>
                                    </p:anim>
                                    <p:anim calcmode="lin" valueType="num">
                                      <p:cBhvr additive="repl">
                                        <p:cTn id="1596" dur="1500" fill="hold"/>
                                        <p:tgtEl>
                                          <p:spTgt spid="890"/>
                                        </p:tgtEl>
                                        <p:attrNameLst>
                                          <p:attrName>ppt_h</p:attrName>
                                        </p:attrNameLst>
                                      </p:cBhvr>
                                      <p:tavLst>
                                        <p:tav tm="0">
                                          <p:val>
                                            <p:fltVal val="0"/>
                                          </p:val>
                                        </p:tav>
                                        <p:tav tm="100000">
                                          <p:val>
                                            <p:strVal val="#ppt_h"/>
                                          </p:val>
                                        </p:tav>
                                      </p:tavLst>
                                    </p:anim>
                                    <p:animEffect filter="fade" transition="in">
                                      <p:cBhvr additive="repl">
                                        <p:cTn id="1597" dur="1500"/>
                                        <p:tgtEl>
                                          <p:spTgt spid="890"/>
                                        </p:tgtEl>
                                      </p:cBhvr>
                                    </p:animEffect>
                                  </p:childTnLst>
                                </p:cTn>
                              </p:par>
                            </p:childTnLst>
                          </p:cTn>
                        </p:par>
                      </p:childTnLst>
                    </p:cTn>
                  </p:par>
                  <p:par>
                    <p:cTn id="1598" nodeType="clickEffect" fill="hold">
                      <p:stCondLst>
                        <p:cond delay="indefinite"/>
                      </p:stCondLst>
                      <p:childTnLst>
                        <p:par>
                          <p:cTn id="1599" nodeType="withEffect" fill="hold">
                            <p:stCondLst>
                              <p:cond delay="0"/>
                            </p:stCondLst>
                            <p:childTnLst>
                              <p:par>
                                <p:cTn id="1600" nodeType="clickEffect" fill="hold" presetClass="entr" presetID="53" presetSubtype="16">
                                  <p:stCondLst>
                                    <p:cond delay="0"/>
                                  </p:stCondLst>
                                  <p:childTnLst>
                                    <p:set>
                                      <p:cBhvr>
                                        <p:cTn id="1601" dur="1" fill="hold">
                                          <p:stCondLst>
                                            <p:cond delay="0"/>
                                          </p:stCondLst>
                                        </p:cTn>
                                        <p:tgtEl>
                                          <p:spTgt spid="891"/>
                                        </p:tgtEl>
                                        <p:attrNameLst>
                                          <p:attrName>style.visibility</p:attrName>
                                        </p:attrNameLst>
                                      </p:cBhvr>
                                      <p:to>
                                        <p:strVal val="visible"/>
                                      </p:to>
                                    </p:set>
                                    <p:anim calcmode="lin" valueType="num">
                                      <p:cBhvr additive="repl">
                                        <p:cTn id="1602" dur="1500" fill="hold"/>
                                        <p:tgtEl>
                                          <p:spTgt spid="891"/>
                                        </p:tgtEl>
                                        <p:attrNameLst>
                                          <p:attrName>ppt_w</p:attrName>
                                        </p:attrNameLst>
                                      </p:cBhvr>
                                      <p:tavLst>
                                        <p:tav tm="0">
                                          <p:val>
                                            <p:fltVal val="0"/>
                                          </p:val>
                                        </p:tav>
                                        <p:tav tm="100000">
                                          <p:val>
                                            <p:strVal val="#ppt_w"/>
                                          </p:val>
                                        </p:tav>
                                      </p:tavLst>
                                    </p:anim>
                                    <p:anim calcmode="lin" valueType="num">
                                      <p:cBhvr additive="repl">
                                        <p:cTn id="1603" dur="1500" fill="hold"/>
                                        <p:tgtEl>
                                          <p:spTgt spid="891"/>
                                        </p:tgtEl>
                                        <p:attrNameLst>
                                          <p:attrName>ppt_h</p:attrName>
                                        </p:attrNameLst>
                                      </p:cBhvr>
                                      <p:tavLst>
                                        <p:tav tm="0">
                                          <p:val>
                                            <p:fltVal val="0"/>
                                          </p:val>
                                        </p:tav>
                                        <p:tav tm="100000">
                                          <p:val>
                                            <p:strVal val="#ppt_h"/>
                                          </p:val>
                                        </p:tav>
                                      </p:tavLst>
                                    </p:anim>
                                    <p:animEffect filter="fade" transition="in">
                                      <p:cBhvr additive="repl">
                                        <p:cTn id="1604" dur="1500"/>
                                        <p:tgtEl>
                                          <p:spTgt spid="8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93" name=""/>
          <p:cNvGraphicFramePr/>
          <p:nvPr/>
        </p:nvGraphicFramePr>
        <p:xfrm>
          <a:off x="108000" y="500040"/>
          <a:ext cx="8821800" cy="6272280"/>
        </p:xfrm>
        <a:graphic>
          <a:graphicData uri="http://schemas.openxmlformats.org/drawingml/2006/table">
            <a:tbl>
              <a:tblPr/>
              <a:tblGrid>
                <a:gridCol w="1295280"/>
                <a:gridCol w="216000"/>
                <a:gridCol w="3174840"/>
                <a:gridCol w="4135680"/>
              </a:tblGrid>
              <a:tr h="635040">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 de VAM</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TYPE D’EXERCICE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EFFETS RECHERCHÉS.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MOMENTS DE LA SAISON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66024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50 à 55</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Maintien d’une activité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physique entre 8 et 10 min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Récupération active après un exercice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lactique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82404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55 à 65</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Activité physique continue</a:t>
                      </a:r>
                      <a:endParaRPr b="0" lang="en-US" sz="16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de 7 à 10 min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Échauffement avant un entraînement. Sans effet sur le développement de la capacité aérobie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61740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65 à 75</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Activité physique continue</a:t>
                      </a:r>
                      <a:endParaRPr b="0" lang="en-US" sz="16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&gt; à 15 min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Endurance modérée : inter saison.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82296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92d050"/>
                          </a:solidFill>
                          <a:effectLst/>
                          <a:uFillTx/>
                          <a:latin typeface="Arial"/>
                          <a:ea typeface="Times New Roman"/>
                        </a:rPr>
                        <a:t>75 à 85</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92d050"/>
                          </a:solidFill>
                          <a:effectLst/>
                          <a:uFillTx/>
                          <a:latin typeface="Arial"/>
                          <a:ea typeface="Times New Roman"/>
                        </a:rPr>
                        <a:t>Courses ou exercices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92d050"/>
                          </a:solidFill>
                          <a:effectLst/>
                          <a:uFillTx/>
                          <a:latin typeface="Arial"/>
                          <a:ea typeface="Times New Roman"/>
                        </a:rPr>
                        <a:t>continus &gt; 15 min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92d050"/>
                          </a:solidFill>
                          <a:effectLst/>
                          <a:uFillTx/>
                          <a:latin typeface="Arial"/>
                          <a:ea typeface="Times New Roman"/>
                        </a:rPr>
                        <a:t>Développement de l’endurance spécifique :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92d050"/>
                          </a:solidFill>
                          <a:effectLst/>
                          <a:uFillTx/>
                          <a:latin typeface="Arial"/>
                          <a:ea typeface="Times New Roman"/>
                        </a:rPr>
                        <a:t>période préparatoire et de compétition: fin inter saison (sports co)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106668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85 à 100</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Intervalles longs : 3 à 5min</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récupération  2 à 3 min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Développement de la puissance aérobie maximale et de l’endurance lactique. Période pré compétitive et de compétition (sports collectifs)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82404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100 à 130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Intermittent court (15s-15s)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Développement de la puissance aérobie maximale. Début de saison et période de compétition (sports co)</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82296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100 à 155</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Exercices par intervalles </a:t>
                      </a:r>
                      <a:endParaRPr b="0" lang="en-US" sz="16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courts : 1 à 2 min R : 4 min</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c000"/>
                          </a:solidFill>
                          <a:effectLst/>
                          <a:uFillTx/>
                          <a:latin typeface="Arial"/>
                          <a:ea typeface="Times New Roman"/>
                        </a:rPr>
                        <a:t>Endurance et puissance anaérobie lactique. Période de pré compétition (sportif bien entraîné) </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bl>
          </a:graphicData>
        </a:graphic>
      </p:graphicFrame>
      <p:sp>
        <p:nvSpPr>
          <p:cNvPr id="894" name="Text Box 59"/>
          <p:cNvSpPr/>
          <p:nvPr/>
        </p:nvSpPr>
        <p:spPr>
          <a:xfrm>
            <a:off x="-959760" y="0"/>
            <a:ext cx="112305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Impacts physiologiques obtenus par les différents pourcentages de VAM</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5" name="Picture 2" descr="18"/>
          <p:cNvPicPr/>
          <p:nvPr/>
        </p:nvPicPr>
        <p:blipFill>
          <a:blip r:embed="rId1"/>
          <a:stretch/>
        </p:blipFill>
        <p:spPr>
          <a:xfrm>
            <a:off x="395280" y="609480"/>
            <a:ext cx="4249800" cy="6248520"/>
          </a:xfrm>
          <a:prstGeom prst="rect">
            <a:avLst/>
          </a:prstGeom>
          <a:solidFill>
            <a:srgbClr val="00cc99"/>
          </a:solidFill>
          <a:ln w="0">
            <a:noFill/>
          </a:ln>
        </p:spPr>
      </p:pic>
      <p:sp>
        <p:nvSpPr>
          <p:cNvPr id="896" name="Oval 3"/>
          <p:cNvSpPr/>
          <p:nvPr/>
        </p:nvSpPr>
        <p:spPr>
          <a:xfrm>
            <a:off x="539640" y="1268280"/>
            <a:ext cx="4032360" cy="5589720"/>
          </a:xfrm>
          <a:prstGeom prst="ellipse">
            <a:avLst/>
          </a:prstGeom>
          <a:noFill/>
          <a:ln w="28440">
            <a:solidFill>
              <a:srgbClr val="07000c"/>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897" name="Text Box 4"/>
          <p:cNvSpPr/>
          <p:nvPr/>
        </p:nvSpPr>
        <p:spPr>
          <a:xfrm>
            <a:off x="4716360" y="907920"/>
            <a:ext cx="4427640" cy="64260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Arial"/>
              </a:rPr>
              <a:t>Endurance aérobie : Inter saison &lt; VAM (65-85 % VAM, &gt; 20 min)</a:t>
            </a:r>
            <a:endParaRPr b="0" lang="en-US" sz="1800" strike="noStrike" u="none">
              <a:solidFill>
                <a:srgbClr val="ffff00"/>
              </a:solidFill>
              <a:effectLst/>
              <a:uFillTx/>
              <a:latin typeface="Times New Roman"/>
            </a:endParaRPr>
          </a:p>
        </p:txBody>
      </p:sp>
      <p:sp>
        <p:nvSpPr>
          <p:cNvPr id="898" name="Line 5"/>
          <p:cNvSpPr/>
          <p:nvPr/>
        </p:nvSpPr>
        <p:spPr>
          <a:xfrm flipH="1">
            <a:off x="3924360" y="1484280"/>
            <a:ext cx="792000" cy="4320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9" name="Text Box 6"/>
          <p:cNvSpPr/>
          <p:nvPr/>
        </p:nvSpPr>
        <p:spPr>
          <a:xfrm>
            <a:off x="4716360" y="2516040"/>
            <a:ext cx="4427640" cy="1191240"/>
          </a:xfrm>
          <a:prstGeom prst="rect">
            <a:avLst/>
          </a:prstGeom>
          <a:noFill/>
          <a:ln w="1260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Arial"/>
              </a:rPr>
              <a:t>La PAM : fartlek : - reprise de saison:  accélérations 10 à 20s 120 à 140 % VAM) x 15 à 20 répétitions     &gt; 20min</a:t>
            </a:r>
            <a:endParaRPr b="0" lang="en-US" sz="1800" strike="noStrike" u="none">
              <a:solidFill>
                <a:srgbClr val="ffff00"/>
              </a:solidFill>
              <a:effectLst/>
              <a:uFillTx/>
              <a:latin typeface="Times New Roman"/>
            </a:endParaRPr>
          </a:p>
        </p:txBody>
      </p:sp>
      <p:sp>
        <p:nvSpPr>
          <p:cNvPr id="900" name="Line 7"/>
          <p:cNvSpPr/>
          <p:nvPr/>
        </p:nvSpPr>
        <p:spPr>
          <a:xfrm flipH="1">
            <a:off x="3779640" y="2924280"/>
            <a:ext cx="936360" cy="28872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1" name="Text Box 8"/>
          <p:cNvSpPr/>
          <p:nvPr/>
        </p:nvSpPr>
        <p:spPr>
          <a:xfrm>
            <a:off x="4716360" y="4305240"/>
            <a:ext cx="4535640" cy="91692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Arial"/>
              </a:rPr>
              <a:t>Intermittent court : Pleine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Arial"/>
              </a:rPr>
              <a:t>saison [ 10 à 15s à 110-130 % VAM;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ea typeface="Arial"/>
              </a:rPr>
              <a:t>r : 15-20s ] x 30 à 40 répétitions</a:t>
            </a:r>
            <a:endParaRPr b="0" lang="en-US" sz="1800" strike="noStrike" u="none">
              <a:solidFill>
                <a:srgbClr val="ffff00"/>
              </a:solidFill>
              <a:effectLst/>
              <a:uFillTx/>
              <a:latin typeface="Times New Roman"/>
            </a:endParaRPr>
          </a:p>
        </p:txBody>
      </p:sp>
      <p:sp>
        <p:nvSpPr>
          <p:cNvPr id="902" name="Oval 9"/>
          <p:cNvSpPr/>
          <p:nvPr/>
        </p:nvSpPr>
        <p:spPr>
          <a:xfrm>
            <a:off x="1835280" y="5013360"/>
            <a:ext cx="2736720" cy="1584360"/>
          </a:xfrm>
          <a:prstGeom prst="ellipse">
            <a:avLst/>
          </a:prstGeom>
          <a:noFill/>
          <a:ln w="2844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03" name="Oval 10"/>
          <p:cNvSpPr/>
          <p:nvPr/>
        </p:nvSpPr>
        <p:spPr>
          <a:xfrm>
            <a:off x="755640" y="2708280"/>
            <a:ext cx="3600360" cy="4149720"/>
          </a:xfrm>
          <a:prstGeom prst="ellipse">
            <a:avLst/>
          </a:prstGeom>
          <a:noFill/>
          <a:ln w="2844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04" name="Line 11"/>
          <p:cNvSpPr/>
          <p:nvPr/>
        </p:nvSpPr>
        <p:spPr>
          <a:xfrm flipH="1">
            <a:off x="4500360" y="5229360"/>
            <a:ext cx="215640" cy="287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5" name="Text Box 12"/>
          <p:cNvSpPr/>
          <p:nvPr/>
        </p:nvSpPr>
        <p:spPr>
          <a:xfrm>
            <a:off x="4740480" y="5775480"/>
            <a:ext cx="4537800" cy="916920"/>
          </a:xfrm>
          <a:prstGeom prst="rect">
            <a:avLst/>
          </a:prstGeom>
          <a:noFill/>
          <a:ln w="1260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Arial"/>
              </a:rPr>
              <a:t>Répétition de sprints : Pleine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Arial"/>
              </a:rPr>
              <a:t>saison [ 3 à 5 s à 96-100 % vitesse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Arial"/>
              </a:rPr>
              <a:t>étalon; r : 30 à 40s ] x 10 à 15 répét.</a:t>
            </a:r>
            <a:endParaRPr b="0" lang="en-US" sz="1800" strike="noStrike" u="none">
              <a:solidFill>
                <a:srgbClr val="ffff00"/>
              </a:solidFill>
              <a:effectLst/>
              <a:uFillTx/>
              <a:latin typeface="Times New Roman"/>
            </a:endParaRPr>
          </a:p>
        </p:txBody>
      </p:sp>
      <p:sp>
        <p:nvSpPr>
          <p:cNvPr id="906" name="Line 13"/>
          <p:cNvSpPr/>
          <p:nvPr/>
        </p:nvSpPr>
        <p:spPr>
          <a:xfrm flipH="1" flipV="1">
            <a:off x="4500720" y="6093000"/>
            <a:ext cx="287280" cy="287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7" name="Text Box 14"/>
          <p:cNvSpPr/>
          <p:nvPr/>
        </p:nvSpPr>
        <p:spPr>
          <a:xfrm>
            <a:off x="2927160" y="3760920"/>
            <a:ext cx="1239840" cy="825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Puissance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aérobie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maximale</a:t>
            </a:r>
            <a:endParaRPr b="0" lang="en-US" sz="1600" strike="noStrike" u="none">
              <a:solidFill>
                <a:srgbClr val="ffff00"/>
              </a:solidFill>
              <a:effectLst/>
              <a:uFillTx/>
              <a:latin typeface="Times New Roman"/>
            </a:endParaRPr>
          </a:p>
        </p:txBody>
      </p:sp>
      <p:sp>
        <p:nvSpPr>
          <p:cNvPr id="908" name="Text Box 15"/>
          <p:cNvSpPr/>
          <p:nvPr/>
        </p:nvSpPr>
        <p:spPr>
          <a:xfrm>
            <a:off x="1711440" y="6188040"/>
            <a:ext cx="2895120" cy="337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Pouvoir oxydatif musculaire</a:t>
            </a:r>
            <a:endParaRPr b="0" lang="en-US" sz="1600" strike="noStrike" u="none">
              <a:solidFill>
                <a:srgbClr val="ffff00"/>
              </a:solidFill>
              <a:effectLst/>
              <a:uFillTx/>
              <a:latin typeface="Times New Roman"/>
            </a:endParaRPr>
          </a:p>
        </p:txBody>
      </p:sp>
      <p:sp>
        <p:nvSpPr>
          <p:cNvPr id="909" name="Text Box 16"/>
          <p:cNvSpPr/>
          <p:nvPr/>
        </p:nvSpPr>
        <p:spPr>
          <a:xfrm>
            <a:off x="2269080" y="1471680"/>
            <a:ext cx="1151640" cy="5209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Arial"/>
              </a:rPr>
              <a:t>Endurance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Arial"/>
              </a:rPr>
              <a:t>aérobie</a:t>
            </a:r>
            <a:endParaRPr b="0" lang="en-US" sz="1400" strike="noStrike" u="none">
              <a:solidFill>
                <a:srgbClr val="ffff00"/>
              </a:solidFill>
              <a:effectLst/>
              <a:uFillTx/>
              <a:latin typeface="Times New Roman"/>
            </a:endParaRPr>
          </a:p>
        </p:txBody>
      </p:sp>
      <p:sp>
        <p:nvSpPr>
          <p:cNvPr id="910" name="Line 17"/>
          <p:cNvSpPr/>
          <p:nvPr/>
        </p:nvSpPr>
        <p:spPr>
          <a:xfrm flipH="1" flipV="1">
            <a:off x="4140000" y="4365720"/>
            <a:ext cx="502920" cy="28728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1" name="Text Box 18"/>
          <p:cNvSpPr/>
          <p:nvPr/>
        </p:nvSpPr>
        <p:spPr>
          <a:xfrm>
            <a:off x="83880" y="138240"/>
            <a:ext cx="888120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Arial"/>
              </a:rPr>
              <a:t>DEVELOPPEMENT DE LA CAPACITE AEROBIE AU COURS DE LA SAISON </a:t>
            </a:r>
            <a:endParaRPr b="0" lang="en-US" sz="1800" strike="noStrike" u="none">
              <a:solidFill>
                <a:srgbClr val="ffff00"/>
              </a:solidFill>
              <a:effectLst/>
              <a:uFillTx/>
              <a:latin typeface="Times New Roman"/>
            </a:endParaRPr>
          </a:p>
        </p:txBody>
      </p:sp>
    </p:spTree>
  </p:cSld>
  <p:timing>
    <p:tnLst>
      <p:par>
        <p:cTn id="1605" dur="indefinite" restart="never" nodeType="tmRoot">
          <p:childTnLst>
            <p:seq>
              <p:cTn id="1606" dur="indefinite" nodeType="mainSeq">
                <p:childTnLst>
                  <p:par>
                    <p:cTn id="1607" nodeType="clickEffect" fill="hold">
                      <p:stCondLst>
                        <p:cond delay="indefinite"/>
                      </p:stCondLst>
                      <p:childTnLst>
                        <p:par>
                          <p:cTn id="1608" nodeType="withEffect" fill="hold">
                            <p:stCondLst>
                              <p:cond delay="0"/>
                            </p:stCondLst>
                            <p:childTnLst>
                              <p:par>
                                <p:cTn id="1609" nodeType="clickEffect" fill="hold" presetClass="entr" presetID="53">
                                  <p:stCondLst>
                                    <p:cond delay="0"/>
                                  </p:stCondLst>
                                  <p:childTnLst>
                                    <p:set>
                                      <p:cBhvr>
                                        <p:cTn id="1610" dur="1" fill="hold">
                                          <p:stCondLst>
                                            <p:cond delay="0"/>
                                          </p:stCondLst>
                                        </p:cTn>
                                        <p:tgtEl>
                                          <p:spTgt spid="895"/>
                                        </p:tgtEl>
                                        <p:attrNameLst>
                                          <p:attrName>style.visibility</p:attrName>
                                        </p:attrNameLst>
                                      </p:cBhvr>
                                      <p:to>
                                        <p:strVal val="visible"/>
                                      </p:to>
                                    </p:set>
                                    <p:anim calcmode="lin" valueType="num">
                                      <p:cBhvr additive="repl">
                                        <p:cTn id="1611" dur="500" fill="hold"/>
                                        <p:tgtEl>
                                          <p:spTgt spid="895"/>
                                        </p:tgtEl>
                                        <p:attrNameLst>
                                          <p:attrName>ppt_w</p:attrName>
                                        </p:attrNameLst>
                                      </p:cBhvr>
                                      <p:tavLst>
                                        <p:tav tm="0">
                                          <p:val>
                                            <p:fltVal val="0"/>
                                          </p:val>
                                        </p:tav>
                                        <p:tav tm="100000">
                                          <p:val>
                                            <p:strVal val="#ppt_w"/>
                                          </p:val>
                                        </p:tav>
                                      </p:tavLst>
                                    </p:anim>
                                    <p:anim calcmode="lin" valueType="num">
                                      <p:cBhvr additive="repl">
                                        <p:cTn id="1612" dur="500" fill="hold"/>
                                        <p:tgtEl>
                                          <p:spTgt spid="895"/>
                                        </p:tgtEl>
                                        <p:attrNameLst>
                                          <p:attrName>ppt_h</p:attrName>
                                        </p:attrNameLst>
                                      </p:cBhvr>
                                      <p:tavLst>
                                        <p:tav tm="0">
                                          <p:val>
                                            <p:fltVal val="0"/>
                                          </p:val>
                                        </p:tav>
                                        <p:tav tm="100000">
                                          <p:val>
                                            <p:strVal val="#ppt_h"/>
                                          </p:val>
                                        </p:tav>
                                      </p:tavLst>
                                    </p:anim>
                                    <p:animEffect filter="fade" transition="in">
                                      <p:cBhvr additive="repl">
                                        <p:cTn id="1613" dur="500"/>
                                        <p:tgtEl>
                                          <p:spTgt spid="895"/>
                                        </p:tgtEl>
                                      </p:cBhvr>
                                    </p:animEffect>
                                  </p:childTnLst>
                                </p:cTn>
                              </p:par>
                            </p:childTnLst>
                          </p:cTn>
                        </p:par>
                      </p:childTnLst>
                    </p:cTn>
                  </p:par>
                  <p:par>
                    <p:cTn id="1614" nodeType="clickEffect" fill="hold">
                      <p:stCondLst>
                        <p:cond delay="indefinite"/>
                      </p:stCondLst>
                      <p:childTnLst>
                        <p:par>
                          <p:cTn id="1615" nodeType="withEffect" fill="hold">
                            <p:stCondLst>
                              <p:cond delay="0"/>
                            </p:stCondLst>
                            <p:childTnLst>
                              <p:par>
                                <p:cTn id="1616" nodeType="clickEffect" fill="hold" presetClass="entr" presetID="22" presetSubtype="1">
                                  <p:stCondLst>
                                    <p:cond delay="0"/>
                                  </p:stCondLst>
                                  <p:childTnLst>
                                    <p:set>
                                      <p:cBhvr>
                                        <p:cTn id="1617" dur="1" fill="hold">
                                          <p:stCondLst>
                                            <p:cond delay="0"/>
                                          </p:stCondLst>
                                        </p:cTn>
                                        <p:tgtEl>
                                          <p:spTgt spid="897"/>
                                        </p:tgtEl>
                                        <p:attrNameLst>
                                          <p:attrName>style.visibility</p:attrName>
                                        </p:attrNameLst>
                                      </p:cBhvr>
                                      <p:to>
                                        <p:strVal val="visible"/>
                                      </p:to>
                                    </p:set>
                                    <p:animEffect filter="wipe(up)" transition="in">
                                      <p:cBhvr additive="repl">
                                        <p:cTn id="1618" dur="500"/>
                                        <p:tgtEl>
                                          <p:spTgt spid="897"/>
                                        </p:tgtEl>
                                      </p:cBhvr>
                                    </p:animEffect>
                                  </p:childTnLst>
                                </p:cTn>
                              </p:par>
                            </p:childTnLst>
                          </p:cTn>
                        </p:par>
                        <p:par>
                          <p:cTn id="1619" nodeType="afterEffect" fill="hold">
                            <p:stCondLst>
                              <p:cond delay="500"/>
                            </p:stCondLst>
                            <p:childTnLst>
                              <p:par>
                                <p:cTn id="1620" nodeType="afterEffect" fill="hold" presetClass="entr" presetID="22" presetSubtype="2">
                                  <p:stCondLst>
                                    <p:cond delay="0"/>
                                  </p:stCondLst>
                                  <p:childTnLst>
                                    <p:set>
                                      <p:cBhvr>
                                        <p:cTn id="1621" dur="1" fill="hold">
                                          <p:stCondLst>
                                            <p:cond delay="0"/>
                                          </p:stCondLst>
                                        </p:cTn>
                                        <p:tgtEl>
                                          <p:spTgt spid="898"/>
                                        </p:tgtEl>
                                        <p:attrNameLst>
                                          <p:attrName>style.visibility</p:attrName>
                                        </p:attrNameLst>
                                      </p:cBhvr>
                                      <p:to>
                                        <p:strVal val="visible"/>
                                      </p:to>
                                    </p:set>
                                    <p:animEffect filter="wipe(right)" transition="in">
                                      <p:cBhvr additive="repl">
                                        <p:cTn id="1622" dur="1000"/>
                                        <p:tgtEl>
                                          <p:spTgt spid="898"/>
                                        </p:tgtEl>
                                      </p:cBhvr>
                                    </p:animEffect>
                                  </p:childTnLst>
                                </p:cTn>
                              </p:par>
                            </p:childTnLst>
                          </p:cTn>
                        </p:par>
                        <p:par>
                          <p:cTn id="1623" nodeType="afterEffect" fill="hold">
                            <p:stCondLst>
                              <p:cond delay="1500"/>
                            </p:stCondLst>
                            <p:childTnLst>
                              <p:par>
                                <p:cTn id="1624" nodeType="afterEffect" fill="hold" presetClass="entr" presetID="22" presetSubtype="2">
                                  <p:stCondLst>
                                    <p:cond delay="0"/>
                                  </p:stCondLst>
                                  <p:childTnLst>
                                    <p:set>
                                      <p:cBhvr>
                                        <p:cTn id="1625" dur="1" fill="hold">
                                          <p:stCondLst>
                                            <p:cond delay="0"/>
                                          </p:stCondLst>
                                        </p:cTn>
                                        <p:tgtEl>
                                          <p:spTgt spid="896"/>
                                        </p:tgtEl>
                                        <p:attrNameLst>
                                          <p:attrName>style.visibility</p:attrName>
                                        </p:attrNameLst>
                                      </p:cBhvr>
                                      <p:to>
                                        <p:strVal val="visible"/>
                                      </p:to>
                                    </p:set>
                                    <p:animEffect filter="wipe(right)" transition="in">
                                      <p:cBhvr additive="repl">
                                        <p:cTn id="1626" dur="1000"/>
                                        <p:tgtEl>
                                          <p:spTgt spid="896"/>
                                        </p:tgtEl>
                                      </p:cBhvr>
                                    </p:animEffect>
                                  </p:childTnLst>
                                </p:cTn>
                              </p:par>
                            </p:childTnLst>
                          </p:cTn>
                        </p:par>
                        <p:par>
                          <p:cTn id="1627" nodeType="afterEffect" fill="hold">
                            <p:stCondLst>
                              <p:cond delay="2500"/>
                            </p:stCondLst>
                            <p:childTnLst>
                              <p:par>
                                <p:cTn id="1628" nodeType="afterEffect" fill="hold" presetClass="entr" presetID="53">
                                  <p:stCondLst>
                                    <p:cond delay="0"/>
                                  </p:stCondLst>
                                  <p:childTnLst>
                                    <p:set>
                                      <p:cBhvr>
                                        <p:cTn id="1629" dur="1" fill="hold">
                                          <p:stCondLst>
                                            <p:cond delay="0"/>
                                          </p:stCondLst>
                                        </p:cTn>
                                        <p:tgtEl>
                                          <p:spTgt spid="909"/>
                                        </p:tgtEl>
                                        <p:attrNameLst>
                                          <p:attrName>style.visibility</p:attrName>
                                        </p:attrNameLst>
                                      </p:cBhvr>
                                      <p:to>
                                        <p:strVal val="visible"/>
                                      </p:to>
                                    </p:set>
                                    <p:anim calcmode="lin" valueType="num">
                                      <p:cBhvr additive="repl">
                                        <p:cTn id="1630" dur="500" fill="hold"/>
                                        <p:tgtEl>
                                          <p:spTgt spid="909"/>
                                        </p:tgtEl>
                                        <p:attrNameLst>
                                          <p:attrName>ppt_w</p:attrName>
                                        </p:attrNameLst>
                                      </p:cBhvr>
                                      <p:tavLst>
                                        <p:tav tm="0">
                                          <p:val>
                                            <p:fltVal val="0"/>
                                          </p:val>
                                        </p:tav>
                                        <p:tav tm="100000">
                                          <p:val>
                                            <p:strVal val="#ppt_w"/>
                                          </p:val>
                                        </p:tav>
                                      </p:tavLst>
                                    </p:anim>
                                    <p:anim calcmode="lin" valueType="num">
                                      <p:cBhvr additive="repl">
                                        <p:cTn id="1631" dur="500" fill="hold"/>
                                        <p:tgtEl>
                                          <p:spTgt spid="909"/>
                                        </p:tgtEl>
                                        <p:attrNameLst>
                                          <p:attrName>ppt_h</p:attrName>
                                        </p:attrNameLst>
                                      </p:cBhvr>
                                      <p:tavLst>
                                        <p:tav tm="0">
                                          <p:val>
                                            <p:fltVal val="0"/>
                                          </p:val>
                                        </p:tav>
                                        <p:tav tm="100000">
                                          <p:val>
                                            <p:strVal val="#ppt_h"/>
                                          </p:val>
                                        </p:tav>
                                      </p:tavLst>
                                    </p:anim>
                                    <p:animEffect filter="fade" transition="in">
                                      <p:cBhvr additive="repl">
                                        <p:cTn id="1632" dur="500"/>
                                        <p:tgtEl>
                                          <p:spTgt spid="909"/>
                                        </p:tgtEl>
                                      </p:cBhvr>
                                    </p:animEffect>
                                  </p:childTnLst>
                                </p:cTn>
                              </p:par>
                            </p:childTnLst>
                          </p:cTn>
                        </p:par>
                      </p:childTnLst>
                    </p:cTn>
                  </p:par>
                  <p:par>
                    <p:cTn id="1633" nodeType="clickEffect" fill="hold">
                      <p:stCondLst>
                        <p:cond delay="indefinite"/>
                      </p:stCondLst>
                      <p:childTnLst>
                        <p:par>
                          <p:cTn id="1634" nodeType="withEffect" fill="hold">
                            <p:stCondLst>
                              <p:cond delay="0"/>
                            </p:stCondLst>
                            <p:childTnLst>
                              <p:par>
                                <p:cTn id="1635" nodeType="clickEffect" fill="hold" presetClass="entr" presetID="22" presetSubtype="1">
                                  <p:stCondLst>
                                    <p:cond delay="0"/>
                                  </p:stCondLst>
                                  <p:childTnLst>
                                    <p:set>
                                      <p:cBhvr>
                                        <p:cTn id="1636" dur="1" fill="hold">
                                          <p:stCondLst>
                                            <p:cond delay="0"/>
                                          </p:stCondLst>
                                        </p:cTn>
                                        <p:tgtEl>
                                          <p:spTgt spid="899"/>
                                        </p:tgtEl>
                                        <p:attrNameLst>
                                          <p:attrName>style.visibility</p:attrName>
                                        </p:attrNameLst>
                                      </p:cBhvr>
                                      <p:to>
                                        <p:strVal val="visible"/>
                                      </p:to>
                                    </p:set>
                                    <p:animEffect filter="wipe(up)" transition="in">
                                      <p:cBhvr additive="repl">
                                        <p:cTn id="1637" dur="1000"/>
                                        <p:tgtEl>
                                          <p:spTgt spid="899"/>
                                        </p:tgtEl>
                                      </p:cBhvr>
                                    </p:animEffect>
                                  </p:childTnLst>
                                </p:cTn>
                              </p:par>
                            </p:childTnLst>
                          </p:cTn>
                        </p:par>
                        <p:par>
                          <p:cTn id="1638" nodeType="afterEffect" fill="hold">
                            <p:stCondLst>
                              <p:cond delay="1000"/>
                            </p:stCondLst>
                            <p:childTnLst>
                              <p:par>
                                <p:cTn id="1639" nodeType="afterEffect" fill="hold" presetClass="entr" presetID="22" presetSubtype="2">
                                  <p:stCondLst>
                                    <p:cond delay="0"/>
                                  </p:stCondLst>
                                  <p:childTnLst>
                                    <p:set>
                                      <p:cBhvr>
                                        <p:cTn id="1640" dur="1" fill="hold">
                                          <p:stCondLst>
                                            <p:cond delay="0"/>
                                          </p:stCondLst>
                                        </p:cTn>
                                        <p:tgtEl>
                                          <p:spTgt spid="900"/>
                                        </p:tgtEl>
                                        <p:attrNameLst>
                                          <p:attrName>style.visibility</p:attrName>
                                        </p:attrNameLst>
                                      </p:cBhvr>
                                      <p:to>
                                        <p:strVal val="visible"/>
                                      </p:to>
                                    </p:set>
                                    <p:animEffect filter="wipe(right)" transition="in">
                                      <p:cBhvr additive="repl">
                                        <p:cTn id="1641" dur="1000"/>
                                        <p:tgtEl>
                                          <p:spTgt spid="900"/>
                                        </p:tgtEl>
                                      </p:cBhvr>
                                    </p:animEffect>
                                  </p:childTnLst>
                                </p:cTn>
                              </p:par>
                            </p:childTnLst>
                          </p:cTn>
                        </p:par>
                        <p:par>
                          <p:cTn id="1642" nodeType="afterEffect" fill="hold">
                            <p:stCondLst>
                              <p:cond delay="2000"/>
                            </p:stCondLst>
                            <p:childTnLst>
                              <p:par>
                                <p:cTn id="1643" nodeType="afterEffect" fill="hold" presetClass="entr" presetID="22" presetSubtype="2">
                                  <p:stCondLst>
                                    <p:cond delay="0"/>
                                  </p:stCondLst>
                                  <p:childTnLst>
                                    <p:set>
                                      <p:cBhvr>
                                        <p:cTn id="1644" dur="1" fill="hold">
                                          <p:stCondLst>
                                            <p:cond delay="0"/>
                                          </p:stCondLst>
                                        </p:cTn>
                                        <p:tgtEl>
                                          <p:spTgt spid="903"/>
                                        </p:tgtEl>
                                        <p:attrNameLst>
                                          <p:attrName>style.visibility</p:attrName>
                                        </p:attrNameLst>
                                      </p:cBhvr>
                                      <p:to>
                                        <p:strVal val="visible"/>
                                      </p:to>
                                    </p:set>
                                    <p:animEffect filter="wipe(right)" transition="in">
                                      <p:cBhvr additive="repl">
                                        <p:cTn id="1645" dur="1000"/>
                                        <p:tgtEl>
                                          <p:spTgt spid="903"/>
                                        </p:tgtEl>
                                      </p:cBhvr>
                                    </p:animEffect>
                                  </p:childTnLst>
                                </p:cTn>
                              </p:par>
                            </p:childTnLst>
                          </p:cTn>
                        </p:par>
                        <p:par>
                          <p:cTn id="1646" nodeType="afterEffect" fill="hold">
                            <p:stCondLst>
                              <p:cond delay="3000"/>
                            </p:stCondLst>
                            <p:childTnLst>
                              <p:par>
                                <p:cTn id="1647" nodeType="afterEffect" fill="hold" presetClass="entr" presetID="53">
                                  <p:stCondLst>
                                    <p:cond delay="0"/>
                                  </p:stCondLst>
                                  <p:childTnLst>
                                    <p:set>
                                      <p:cBhvr>
                                        <p:cTn id="1648" dur="1" fill="hold">
                                          <p:stCondLst>
                                            <p:cond delay="0"/>
                                          </p:stCondLst>
                                        </p:cTn>
                                        <p:tgtEl>
                                          <p:spTgt spid="907"/>
                                        </p:tgtEl>
                                        <p:attrNameLst>
                                          <p:attrName>style.visibility</p:attrName>
                                        </p:attrNameLst>
                                      </p:cBhvr>
                                      <p:to>
                                        <p:strVal val="visible"/>
                                      </p:to>
                                    </p:set>
                                    <p:anim calcmode="lin" valueType="num">
                                      <p:cBhvr additive="repl">
                                        <p:cTn id="1649" dur="500" fill="hold"/>
                                        <p:tgtEl>
                                          <p:spTgt spid="907"/>
                                        </p:tgtEl>
                                        <p:attrNameLst>
                                          <p:attrName>ppt_w</p:attrName>
                                        </p:attrNameLst>
                                      </p:cBhvr>
                                      <p:tavLst>
                                        <p:tav tm="0">
                                          <p:val>
                                            <p:fltVal val="0"/>
                                          </p:val>
                                        </p:tav>
                                        <p:tav tm="100000">
                                          <p:val>
                                            <p:strVal val="#ppt_w"/>
                                          </p:val>
                                        </p:tav>
                                      </p:tavLst>
                                    </p:anim>
                                    <p:anim calcmode="lin" valueType="num">
                                      <p:cBhvr additive="repl">
                                        <p:cTn id="1650" dur="500" fill="hold"/>
                                        <p:tgtEl>
                                          <p:spTgt spid="907"/>
                                        </p:tgtEl>
                                        <p:attrNameLst>
                                          <p:attrName>ppt_h</p:attrName>
                                        </p:attrNameLst>
                                      </p:cBhvr>
                                      <p:tavLst>
                                        <p:tav tm="0">
                                          <p:val>
                                            <p:fltVal val="0"/>
                                          </p:val>
                                        </p:tav>
                                        <p:tav tm="100000">
                                          <p:val>
                                            <p:strVal val="#ppt_h"/>
                                          </p:val>
                                        </p:tav>
                                      </p:tavLst>
                                    </p:anim>
                                    <p:animEffect filter="fade" transition="in">
                                      <p:cBhvr additive="repl">
                                        <p:cTn id="1651" dur="500"/>
                                        <p:tgtEl>
                                          <p:spTgt spid="907"/>
                                        </p:tgtEl>
                                      </p:cBhvr>
                                    </p:animEffect>
                                  </p:childTnLst>
                                </p:cTn>
                              </p:par>
                              <p:par>
                                <p:cTn id="1652" nodeType="withEffect" fill="hold" presetClass="entr" presetID="22" presetSubtype="1">
                                  <p:stCondLst>
                                    <p:cond delay="0"/>
                                  </p:stCondLst>
                                  <p:childTnLst>
                                    <p:set>
                                      <p:cBhvr>
                                        <p:cTn id="1653" dur="1" fill="hold">
                                          <p:stCondLst>
                                            <p:cond delay="0"/>
                                          </p:stCondLst>
                                        </p:cTn>
                                        <p:tgtEl>
                                          <p:spTgt spid="901"/>
                                        </p:tgtEl>
                                        <p:attrNameLst>
                                          <p:attrName>style.visibility</p:attrName>
                                        </p:attrNameLst>
                                      </p:cBhvr>
                                      <p:to>
                                        <p:strVal val="visible"/>
                                      </p:to>
                                    </p:set>
                                    <p:animEffect filter="wipe(up)" transition="in">
                                      <p:cBhvr additive="repl">
                                        <p:cTn id="1654" dur="1000"/>
                                        <p:tgtEl>
                                          <p:spTgt spid="901"/>
                                        </p:tgtEl>
                                      </p:cBhvr>
                                    </p:animEffect>
                                  </p:childTnLst>
                                </p:cTn>
                              </p:par>
                            </p:childTnLst>
                          </p:cTn>
                        </p:par>
                        <p:par>
                          <p:cTn id="1655" nodeType="afterEffect" fill="hold">
                            <p:stCondLst>
                              <p:cond delay="4000"/>
                            </p:stCondLst>
                            <p:childTnLst>
                              <p:par>
                                <p:cTn id="1656" nodeType="afterEffect" fill="hold" presetClass="entr" presetID="22" presetSubtype="2">
                                  <p:stCondLst>
                                    <p:cond delay="0"/>
                                  </p:stCondLst>
                                  <p:childTnLst>
                                    <p:set>
                                      <p:cBhvr>
                                        <p:cTn id="1657" dur="1" fill="hold">
                                          <p:stCondLst>
                                            <p:cond delay="0"/>
                                          </p:stCondLst>
                                        </p:cTn>
                                        <p:tgtEl>
                                          <p:spTgt spid="910"/>
                                        </p:tgtEl>
                                        <p:attrNameLst>
                                          <p:attrName>style.visibility</p:attrName>
                                        </p:attrNameLst>
                                      </p:cBhvr>
                                      <p:to>
                                        <p:strVal val="visible"/>
                                      </p:to>
                                    </p:set>
                                    <p:animEffect filter="wipe(right)" transition="in">
                                      <p:cBhvr additive="repl">
                                        <p:cTn id="1658" dur="500"/>
                                        <p:tgtEl>
                                          <p:spTgt spid="910"/>
                                        </p:tgtEl>
                                      </p:cBhvr>
                                    </p:animEffect>
                                  </p:childTnLst>
                                </p:cTn>
                              </p:par>
                            </p:childTnLst>
                          </p:cTn>
                        </p:par>
                        <p:par>
                          <p:cTn id="1659" nodeType="afterEffect" fill="hold">
                            <p:stCondLst>
                              <p:cond delay="4500"/>
                            </p:stCondLst>
                            <p:childTnLst>
                              <p:par>
                                <p:cTn id="1660" nodeType="afterEffect" fill="hold" presetClass="entr" presetID="22" presetSubtype="2">
                                  <p:stCondLst>
                                    <p:cond delay="0"/>
                                  </p:stCondLst>
                                  <p:childTnLst>
                                    <p:set>
                                      <p:cBhvr>
                                        <p:cTn id="1661" dur="1" fill="hold">
                                          <p:stCondLst>
                                            <p:cond delay="0"/>
                                          </p:stCondLst>
                                        </p:cTn>
                                        <p:tgtEl>
                                          <p:spTgt spid="904"/>
                                        </p:tgtEl>
                                        <p:attrNameLst>
                                          <p:attrName>style.visibility</p:attrName>
                                        </p:attrNameLst>
                                      </p:cBhvr>
                                      <p:to>
                                        <p:strVal val="visible"/>
                                      </p:to>
                                    </p:set>
                                    <p:animEffect filter="wipe(right)" transition="in">
                                      <p:cBhvr additive="repl">
                                        <p:cTn id="1662" dur="1000"/>
                                        <p:tgtEl>
                                          <p:spTgt spid="904"/>
                                        </p:tgtEl>
                                      </p:cBhvr>
                                    </p:animEffect>
                                  </p:childTnLst>
                                </p:cTn>
                              </p:par>
                            </p:childTnLst>
                          </p:cTn>
                        </p:par>
                        <p:par>
                          <p:cTn id="1663" nodeType="afterEffect" fill="hold">
                            <p:stCondLst>
                              <p:cond delay="5500"/>
                            </p:stCondLst>
                            <p:childTnLst>
                              <p:par>
                                <p:cTn id="1664" nodeType="afterEffect" fill="hold" presetClass="entr" presetID="22" presetSubtype="2">
                                  <p:stCondLst>
                                    <p:cond delay="0"/>
                                  </p:stCondLst>
                                  <p:childTnLst>
                                    <p:set>
                                      <p:cBhvr>
                                        <p:cTn id="1665" dur="1" fill="hold">
                                          <p:stCondLst>
                                            <p:cond delay="0"/>
                                          </p:stCondLst>
                                        </p:cTn>
                                        <p:tgtEl>
                                          <p:spTgt spid="902"/>
                                        </p:tgtEl>
                                        <p:attrNameLst>
                                          <p:attrName>style.visibility</p:attrName>
                                        </p:attrNameLst>
                                      </p:cBhvr>
                                      <p:to>
                                        <p:strVal val="visible"/>
                                      </p:to>
                                    </p:set>
                                    <p:animEffect filter="wipe(right)" transition="in">
                                      <p:cBhvr additive="repl">
                                        <p:cTn id="1666" dur="1000"/>
                                        <p:tgtEl>
                                          <p:spTgt spid="902"/>
                                        </p:tgtEl>
                                      </p:cBhvr>
                                    </p:animEffect>
                                  </p:childTnLst>
                                </p:cTn>
                              </p:par>
                            </p:childTnLst>
                          </p:cTn>
                        </p:par>
                      </p:childTnLst>
                    </p:cTn>
                  </p:par>
                  <p:par>
                    <p:cTn id="1667" nodeType="clickEffect" fill="hold">
                      <p:stCondLst>
                        <p:cond delay="indefinite"/>
                      </p:stCondLst>
                      <p:childTnLst>
                        <p:par>
                          <p:cTn id="1668" nodeType="withEffect" fill="hold">
                            <p:stCondLst>
                              <p:cond delay="0"/>
                            </p:stCondLst>
                            <p:childTnLst>
                              <p:par>
                                <p:cTn id="1669" nodeType="clickEffect" fill="hold" presetClass="entr" presetID="22" presetSubtype="1">
                                  <p:stCondLst>
                                    <p:cond delay="0"/>
                                  </p:stCondLst>
                                  <p:childTnLst>
                                    <p:set>
                                      <p:cBhvr>
                                        <p:cTn id="1670" dur="1" fill="hold">
                                          <p:stCondLst>
                                            <p:cond delay="0"/>
                                          </p:stCondLst>
                                        </p:cTn>
                                        <p:tgtEl>
                                          <p:spTgt spid="905"/>
                                        </p:tgtEl>
                                        <p:attrNameLst>
                                          <p:attrName>style.visibility</p:attrName>
                                        </p:attrNameLst>
                                      </p:cBhvr>
                                      <p:to>
                                        <p:strVal val="visible"/>
                                      </p:to>
                                    </p:set>
                                    <p:animEffect filter="wipe(up)" transition="in">
                                      <p:cBhvr additive="repl">
                                        <p:cTn id="1671" dur="1000"/>
                                        <p:tgtEl>
                                          <p:spTgt spid="905"/>
                                        </p:tgtEl>
                                      </p:cBhvr>
                                    </p:animEffect>
                                  </p:childTnLst>
                                </p:cTn>
                              </p:par>
                            </p:childTnLst>
                          </p:cTn>
                        </p:par>
                        <p:par>
                          <p:cTn id="1672" nodeType="afterEffect" fill="hold">
                            <p:stCondLst>
                              <p:cond delay="1000"/>
                            </p:stCondLst>
                            <p:childTnLst>
                              <p:par>
                                <p:cTn id="1673" nodeType="afterEffect" fill="hold" presetClass="entr" presetID="53">
                                  <p:stCondLst>
                                    <p:cond delay="0"/>
                                  </p:stCondLst>
                                  <p:childTnLst>
                                    <p:set>
                                      <p:cBhvr>
                                        <p:cTn id="1674" dur="1" fill="hold">
                                          <p:stCondLst>
                                            <p:cond delay="0"/>
                                          </p:stCondLst>
                                        </p:cTn>
                                        <p:tgtEl>
                                          <p:spTgt spid="908"/>
                                        </p:tgtEl>
                                        <p:attrNameLst>
                                          <p:attrName>style.visibility</p:attrName>
                                        </p:attrNameLst>
                                      </p:cBhvr>
                                      <p:to>
                                        <p:strVal val="visible"/>
                                      </p:to>
                                    </p:set>
                                    <p:anim calcmode="lin" valueType="num">
                                      <p:cBhvr additive="repl">
                                        <p:cTn id="1675" dur="500" fill="hold"/>
                                        <p:tgtEl>
                                          <p:spTgt spid="908"/>
                                        </p:tgtEl>
                                        <p:attrNameLst>
                                          <p:attrName>ppt_w</p:attrName>
                                        </p:attrNameLst>
                                      </p:cBhvr>
                                      <p:tavLst>
                                        <p:tav tm="0">
                                          <p:val>
                                            <p:fltVal val="0"/>
                                          </p:val>
                                        </p:tav>
                                        <p:tav tm="100000">
                                          <p:val>
                                            <p:strVal val="#ppt_w"/>
                                          </p:val>
                                        </p:tav>
                                      </p:tavLst>
                                    </p:anim>
                                    <p:anim calcmode="lin" valueType="num">
                                      <p:cBhvr additive="repl">
                                        <p:cTn id="1676" dur="500" fill="hold"/>
                                        <p:tgtEl>
                                          <p:spTgt spid="908"/>
                                        </p:tgtEl>
                                        <p:attrNameLst>
                                          <p:attrName>ppt_h</p:attrName>
                                        </p:attrNameLst>
                                      </p:cBhvr>
                                      <p:tavLst>
                                        <p:tav tm="0">
                                          <p:val>
                                            <p:fltVal val="0"/>
                                          </p:val>
                                        </p:tav>
                                        <p:tav tm="100000">
                                          <p:val>
                                            <p:strVal val="#ppt_h"/>
                                          </p:val>
                                        </p:tav>
                                      </p:tavLst>
                                    </p:anim>
                                    <p:animEffect filter="fade" transition="in">
                                      <p:cBhvr additive="repl">
                                        <p:cTn id="1677" dur="500"/>
                                        <p:tgtEl>
                                          <p:spTgt spid="908"/>
                                        </p:tgtEl>
                                      </p:cBhvr>
                                    </p:animEffect>
                                  </p:childTnLst>
                                </p:cTn>
                              </p:par>
                              <p:par>
                                <p:cTn id="1678" nodeType="withEffect" fill="hold" presetClass="entr" presetID="53">
                                  <p:stCondLst>
                                    <p:cond delay="0"/>
                                  </p:stCondLst>
                                  <p:childTnLst>
                                    <p:set>
                                      <p:cBhvr>
                                        <p:cTn id="1679" dur="1" fill="hold">
                                          <p:stCondLst>
                                            <p:cond delay="0"/>
                                          </p:stCondLst>
                                        </p:cTn>
                                        <p:tgtEl>
                                          <p:spTgt spid="898"/>
                                        </p:tgtEl>
                                        <p:attrNameLst>
                                          <p:attrName>style.visibility</p:attrName>
                                        </p:attrNameLst>
                                      </p:cBhvr>
                                      <p:to>
                                        <p:strVal val="visible"/>
                                      </p:to>
                                    </p:set>
                                    <p:anim calcmode="lin" valueType="num">
                                      <p:cBhvr additive="repl">
                                        <p:cTn id="1680" dur="500" fill="hold"/>
                                        <p:tgtEl>
                                          <p:spTgt spid="898"/>
                                        </p:tgtEl>
                                        <p:attrNameLst>
                                          <p:attrName>ppt_w</p:attrName>
                                        </p:attrNameLst>
                                      </p:cBhvr>
                                      <p:tavLst>
                                        <p:tav tm="0">
                                          <p:val>
                                            <p:fltVal val="0"/>
                                          </p:val>
                                        </p:tav>
                                        <p:tav tm="100000">
                                          <p:val>
                                            <p:strVal val="#ppt_w"/>
                                          </p:val>
                                        </p:tav>
                                      </p:tavLst>
                                    </p:anim>
                                    <p:anim calcmode="lin" valueType="num">
                                      <p:cBhvr additive="repl">
                                        <p:cTn id="1681" dur="500" fill="hold"/>
                                        <p:tgtEl>
                                          <p:spTgt spid="898"/>
                                        </p:tgtEl>
                                        <p:attrNameLst>
                                          <p:attrName>ppt_h</p:attrName>
                                        </p:attrNameLst>
                                      </p:cBhvr>
                                      <p:tavLst>
                                        <p:tav tm="0">
                                          <p:val>
                                            <p:fltVal val="0"/>
                                          </p:val>
                                        </p:tav>
                                        <p:tav tm="100000">
                                          <p:val>
                                            <p:strVal val="#ppt_h"/>
                                          </p:val>
                                        </p:tav>
                                      </p:tavLst>
                                    </p:anim>
                                    <p:animEffect filter="fade" transition="in">
                                      <p:cBhvr additive="repl">
                                        <p:cTn id="1682" dur="500"/>
                                        <p:tgtEl>
                                          <p:spTgt spid="898"/>
                                        </p:tgtEl>
                                      </p:cBhvr>
                                    </p:animEffect>
                                  </p:childTnLst>
                                </p:cTn>
                              </p:par>
                              <p:par>
                                <p:cTn id="1683" nodeType="withEffect" fill="hold" presetClass="entr" presetID="53">
                                  <p:stCondLst>
                                    <p:cond delay="0"/>
                                  </p:stCondLst>
                                  <p:childTnLst>
                                    <p:set>
                                      <p:cBhvr>
                                        <p:cTn id="1684" dur="1" fill="hold">
                                          <p:stCondLst>
                                            <p:cond delay="0"/>
                                          </p:stCondLst>
                                        </p:cTn>
                                        <p:tgtEl>
                                          <p:spTgt spid="900"/>
                                        </p:tgtEl>
                                        <p:attrNameLst>
                                          <p:attrName>style.visibility</p:attrName>
                                        </p:attrNameLst>
                                      </p:cBhvr>
                                      <p:to>
                                        <p:strVal val="visible"/>
                                      </p:to>
                                    </p:set>
                                    <p:anim calcmode="lin" valueType="num">
                                      <p:cBhvr additive="repl">
                                        <p:cTn id="1685" dur="500" fill="hold"/>
                                        <p:tgtEl>
                                          <p:spTgt spid="900"/>
                                        </p:tgtEl>
                                        <p:attrNameLst>
                                          <p:attrName>ppt_w</p:attrName>
                                        </p:attrNameLst>
                                      </p:cBhvr>
                                      <p:tavLst>
                                        <p:tav tm="0">
                                          <p:val>
                                            <p:fltVal val="0"/>
                                          </p:val>
                                        </p:tav>
                                        <p:tav tm="100000">
                                          <p:val>
                                            <p:strVal val="#ppt_w"/>
                                          </p:val>
                                        </p:tav>
                                      </p:tavLst>
                                    </p:anim>
                                    <p:anim calcmode="lin" valueType="num">
                                      <p:cBhvr additive="repl">
                                        <p:cTn id="1686" dur="500" fill="hold"/>
                                        <p:tgtEl>
                                          <p:spTgt spid="900"/>
                                        </p:tgtEl>
                                        <p:attrNameLst>
                                          <p:attrName>ppt_h</p:attrName>
                                        </p:attrNameLst>
                                      </p:cBhvr>
                                      <p:tavLst>
                                        <p:tav tm="0">
                                          <p:val>
                                            <p:fltVal val="0"/>
                                          </p:val>
                                        </p:tav>
                                        <p:tav tm="100000">
                                          <p:val>
                                            <p:strVal val="#ppt_h"/>
                                          </p:val>
                                        </p:tav>
                                      </p:tavLst>
                                    </p:anim>
                                    <p:animEffect filter="fade" transition="in">
                                      <p:cBhvr additive="repl">
                                        <p:cTn id="1687" dur="500"/>
                                        <p:tgtEl>
                                          <p:spTgt spid="900"/>
                                        </p:tgtEl>
                                      </p:cBhvr>
                                    </p:animEffect>
                                  </p:childTnLst>
                                </p:cTn>
                              </p:par>
                              <p:par>
                                <p:cTn id="1688" nodeType="withEffect" fill="hold" presetClass="entr" presetID="53">
                                  <p:stCondLst>
                                    <p:cond delay="0"/>
                                  </p:stCondLst>
                                  <p:childTnLst>
                                    <p:set>
                                      <p:cBhvr>
                                        <p:cTn id="1689" dur="1" fill="hold">
                                          <p:stCondLst>
                                            <p:cond delay="0"/>
                                          </p:stCondLst>
                                        </p:cTn>
                                        <p:tgtEl>
                                          <p:spTgt spid="902"/>
                                        </p:tgtEl>
                                        <p:attrNameLst>
                                          <p:attrName>style.visibility</p:attrName>
                                        </p:attrNameLst>
                                      </p:cBhvr>
                                      <p:to>
                                        <p:strVal val="visible"/>
                                      </p:to>
                                    </p:set>
                                    <p:anim calcmode="lin" valueType="num">
                                      <p:cBhvr additive="repl">
                                        <p:cTn id="1690" dur="500" fill="hold"/>
                                        <p:tgtEl>
                                          <p:spTgt spid="902"/>
                                        </p:tgtEl>
                                        <p:attrNameLst>
                                          <p:attrName>ppt_w</p:attrName>
                                        </p:attrNameLst>
                                      </p:cBhvr>
                                      <p:tavLst>
                                        <p:tav tm="0">
                                          <p:val>
                                            <p:fltVal val="0"/>
                                          </p:val>
                                        </p:tav>
                                        <p:tav tm="100000">
                                          <p:val>
                                            <p:strVal val="#ppt_w"/>
                                          </p:val>
                                        </p:tav>
                                      </p:tavLst>
                                    </p:anim>
                                    <p:anim calcmode="lin" valueType="num">
                                      <p:cBhvr additive="repl">
                                        <p:cTn id="1691" dur="500" fill="hold"/>
                                        <p:tgtEl>
                                          <p:spTgt spid="902"/>
                                        </p:tgtEl>
                                        <p:attrNameLst>
                                          <p:attrName>ppt_h</p:attrName>
                                        </p:attrNameLst>
                                      </p:cBhvr>
                                      <p:tavLst>
                                        <p:tav tm="0">
                                          <p:val>
                                            <p:fltVal val="0"/>
                                          </p:val>
                                        </p:tav>
                                        <p:tav tm="100000">
                                          <p:val>
                                            <p:strVal val="#ppt_h"/>
                                          </p:val>
                                        </p:tav>
                                      </p:tavLst>
                                    </p:anim>
                                    <p:animEffect filter="fade" transition="in">
                                      <p:cBhvr additive="repl">
                                        <p:cTn id="1692" dur="500"/>
                                        <p:tgtEl>
                                          <p:spTgt spid="902"/>
                                        </p:tgtEl>
                                      </p:cBhvr>
                                    </p:animEffect>
                                  </p:childTnLst>
                                </p:cTn>
                              </p:par>
                              <p:par>
                                <p:cTn id="1693" nodeType="withEffect" fill="hold" presetClass="entr" presetID="53">
                                  <p:stCondLst>
                                    <p:cond delay="0"/>
                                  </p:stCondLst>
                                  <p:childTnLst>
                                    <p:set>
                                      <p:cBhvr>
                                        <p:cTn id="1694" dur="1" fill="hold">
                                          <p:stCondLst>
                                            <p:cond delay="0"/>
                                          </p:stCondLst>
                                        </p:cTn>
                                        <p:tgtEl>
                                          <p:spTgt spid="904"/>
                                        </p:tgtEl>
                                        <p:attrNameLst>
                                          <p:attrName>style.visibility</p:attrName>
                                        </p:attrNameLst>
                                      </p:cBhvr>
                                      <p:to>
                                        <p:strVal val="visible"/>
                                      </p:to>
                                    </p:set>
                                    <p:anim calcmode="lin" valueType="num">
                                      <p:cBhvr additive="repl">
                                        <p:cTn id="1695" dur="500" fill="hold"/>
                                        <p:tgtEl>
                                          <p:spTgt spid="904"/>
                                        </p:tgtEl>
                                        <p:attrNameLst>
                                          <p:attrName>ppt_w</p:attrName>
                                        </p:attrNameLst>
                                      </p:cBhvr>
                                      <p:tavLst>
                                        <p:tav tm="0">
                                          <p:val>
                                            <p:fltVal val="0"/>
                                          </p:val>
                                        </p:tav>
                                        <p:tav tm="100000">
                                          <p:val>
                                            <p:strVal val="#ppt_w"/>
                                          </p:val>
                                        </p:tav>
                                      </p:tavLst>
                                    </p:anim>
                                    <p:anim calcmode="lin" valueType="num">
                                      <p:cBhvr additive="repl">
                                        <p:cTn id="1696" dur="500" fill="hold"/>
                                        <p:tgtEl>
                                          <p:spTgt spid="904"/>
                                        </p:tgtEl>
                                        <p:attrNameLst>
                                          <p:attrName>ppt_h</p:attrName>
                                        </p:attrNameLst>
                                      </p:cBhvr>
                                      <p:tavLst>
                                        <p:tav tm="0">
                                          <p:val>
                                            <p:fltVal val="0"/>
                                          </p:val>
                                        </p:tav>
                                        <p:tav tm="100000">
                                          <p:val>
                                            <p:strVal val="#ppt_h"/>
                                          </p:val>
                                        </p:tav>
                                      </p:tavLst>
                                    </p:anim>
                                    <p:animEffect filter="fade" transition="in">
                                      <p:cBhvr additive="repl">
                                        <p:cTn id="1697" dur="500"/>
                                        <p:tgtEl>
                                          <p:spTgt spid="904"/>
                                        </p:tgtEl>
                                      </p:cBhvr>
                                    </p:animEffect>
                                  </p:childTnLst>
                                </p:cTn>
                              </p:par>
                              <p:par>
                                <p:cTn id="1698" nodeType="withEffect" fill="hold" presetClass="entr" presetID="53">
                                  <p:stCondLst>
                                    <p:cond delay="0"/>
                                  </p:stCondLst>
                                  <p:childTnLst>
                                    <p:set>
                                      <p:cBhvr>
                                        <p:cTn id="1699" dur="1" fill="hold">
                                          <p:stCondLst>
                                            <p:cond delay="0"/>
                                          </p:stCondLst>
                                        </p:cTn>
                                        <p:tgtEl>
                                          <p:spTgt spid="906"/>
                                        </p:tgtEl>
                                        <p:attrNameLst>
                                          <p:attrName>style.visibility</p:attrName>
                                        </p:attrNameLst>
                                      </p:cBhvr>
                                      <p:to>
                                        <p:strVal val="visible"/>
                                      </p:to>
                                    </p:set>
                                    <p:anim calcmode="lin" valueType="num">
                                      <p:cBhvr additive="repl">
                                        <p:cTn id="1700" dur="500" fill="hold"/>
                                        <p:tgtEl>
                                          <p:spTgt spid="906"/>
                                        </p:tgtEl>
                                        <p:attrNameLst>
                                          <p:attrName>ppt_w</p:attrName>
                                        </p:attrNameLst>
                                      </p:cBhvr>
                                      <p:tavLst>
                                        <p:tav tm="0">
                                          <p:val>
                                            <p:fltVal val="0"/>
                                          </p:val>
                                        </p:tav>
                                        <p:tav tm="100000">
                                          <p:val>
                                            <p:strVal val="#ppt_w"/>
                                          </p:val>
                                        </p:tav>
                                      </p:tavLst>
                                    </p:anim>
                                    <p:anim calcmode="lin" valueType="num">
                                      <p:cBhvr additive="repl">
                                        <p:cTn id="1701" dur="500" fill="hold"/>
                                        <p:tgtEl>
                                          <p:spTgt spid="906"/>
                                        </p:tgtEl>
                                        <p:attrNameLst>
                                          <p:attrName>ppt_h</p:attrName>
                                        </p:attrNameLst>
                                      </p:cBhvr>
                                      <p:tavLst>
                                        <p:tav tm="0">
                                          <p:val>
                                            <p:fltVal val="0"/>
                                          </p:val>
                                        </p:tav>
                                        <p:tav tm="100000">
                                          <p:val>
                                            <p:strVal val="#ppt_h"/>
                                          </p:val>
                                        </p:tav>
                                      </p:tavLst>
                                    </p:anim>
                                    <p:animEffect filter="fade" transition="in">
                                      <p:cBhvr additive="repl">
                                        <p:cTn id="1702" dur="500"/>
                                        <p:tgtEl>
                                          <p:spTgt spid="906"/>
                                        </p:tgtEl>
                                      </p:cBhvr>
                                    </p:animEffect>
                                  </p:childTnLst>
                                </p:cTn>
                              </p:par>
                              <p:par>
                                <p:cTn id="1703" nodeType="withEffect" fill="hold" presetClass="entr" presetID="53">
                                  <p:stCondLst>
                                    <p:cond delay="0"/>
                                  </p:stCondLst>
                                  <p:childTnLst>
                                    <p:set>
                                      <p:cBhvr>
                                        <p:cTn id="1704" dur="1" fill="hold">
                                          <p:stCondLst>
                                            <p:cond delay="0"/>
                                          </p:stCondLst>
                                        </p:cTn>
                                        <p:tgtEl>
                                          <p:spTgt spid="907"/>
                                        </p:tgtEl>
                                        <p:attrNameLst>
                                          <p:attrName>style.visibility</p:attrName>
                                        </p:attrNameLst>
                                      </p:cBhvr>
                                      <p:to>
                                        <p:strVal val="visible"/>
                                      </p:to>
                                    </p:set>
                                    <p:anim calcmode="lin" valueType="num">
                                      <p:cBhvr additive="repl">
                                        <p:cTn id="1705" dur="500" fill="hold"/>
                                        <p:tgtEl>
                                          <p:spTgt spid="907"/>
                                        </p:tgtEl>
                                        <p:attrNameLst>
                                          <p:attrName>ppt_w</p:attrName>
                                        </p:attrNameLst>
                                      </p:cBhvr>
                                      <p:tavLst>
                                        <p:tav tm="0">
                                          <p:val>
                                            <p:fltVal val="0"/>
                                          </p:val>
                                        </p:tav>
                                        <p:tav tm="100000">
                                          <p:val>
                                            <p:strVal val="#ppt_w"/>
                                          </p:val>
                                        </p:tav>
                                      </p:tavLst>
                                    </p:anim>
                                    <p:anim calcmode="lin" valueType="num">
                                      <p:cBhvr additive="repl">
                                        <p:cTn id="1706" dur="500" fill="hold"/>
                                        <p:tgtEl>
                                          <p:spTgt spid="907"/>
                                        </p:tgtEl>
                                        <p:attrNameLst>
                                          <p:attrName>ppt_h</p:attrName>
                                        </p:attrNameLst>
                                      </p:cBhvr>
                                      <p:tavLst>
                                        <p:tav tm="0">
                                          <p:val>
                                            <p:fltVal val="0"/>
                                          </p:val>
                                        </p:tav>
                                        <p:tav tm="100000">
                                          <p:val>
                                            <p:strVal val="#ppt_h"/>
                                          </p:val>
                                        </p:tav>
                                      </p:tavLst>
                                    </p:anim>
                                    <p:animEffect filter="fade" transition="in">
                                      <p:cBhvr additive="repl">
                                        <p:cTn id="1707" dur="500"/>
                                        <p:tgtEl>
                                          <p:spTgt spid="907"/>
                                        </p:tgtEl>
                                      </p:cBhvr>
                                    </p:animEffect>
                                  </p:childTnLst>
                                </p:cTn>
                              </p:par>
                              <p:par>
                                <p:cTn id="1708" nodeType="withEffect" fill="hold" presetClass="entr" presetID="53">
                                  <p:stCondLst>
                                    <p:cond delay="0"/>
                                  </p:stCondLst>
                                  <p:childTnLst>
                                    <p:set>
                                      <p:cBhvr>
                                        <p:cTn id="1709" dur="1" fill="hold">
                                          <p:stCondLst>
                                            <p:cond delay="0"/>
                                          </p:stCondLst>
                                        </p:cTn>
                                        <p:tgtEl>
                                          <p:spTgt spid="908"/>
                                        </p:tgtEl>
                                        <p:attrNameLst>
                                          <p:attrName>style.visibility</p:attrName>
                                        </p:attrNameLst>
                                      </p:cBhvr>
                                      <p:to>
                                        <p:strVal val="visible"/>
                                      </p:to>
                                    </p:set>
                                    <p:anim calcmode="lin" valueType="num">
                                      <p:cBhvr additive="repl">
                                        <p:cTn id="1710" dur="500" fill="hold"/>
                                        <p:tgtEl>
                                          <p:spTgt spid="908"/>
                                        </p:tgtEl>
                                        <p:attrNameLst>
                                          <p:attrName>ppt_w</p:attrName>
                                        </p:attrNameLst>
                                      </p:cBhvr>
                                      <p:tavLst>
                                        <p:tav tm="0">
                                          <p:val>
                                            <p:fltVal val="0"/>
                                          </p:val>
                                        </p:tav>
                                        <p:tav tm="100000">
                                          <p:val>
                                            <p:strVal val="#ppt_w"/>
                                          </p:val>
                                        </p:tav>
                                      </p:tavLst>
                                    </p:anim>
                                    <p:anim calcmode="lin" valueType="num">
                                      <p:cBhvr additive="repl">
                                        <p:cTn id="1711" dur="500" fill="hold"/>
                                        <p:tgtEl>
                                          <p:spTgt spid="908"/>
                                        </p:tgtEl>
                                        <p:attrNameLst>
                                          <p:attrName>ppt_h</p:attrName>
                                        </p:attrNameLst>
                                      </p:cBhvr>
                                      <p:tavLst>
                                        <p:tav tm="0">
                                          <p:val>
                                            <p:fltVal val="0"/>
                                          </p:val>
                                        </p:tav>
                                        <p:tav tm="100000">
                                          <p:val>
                                            <p:strVal val="#ppt_h"/>
                                          </p:val>
                                        </p:tav>
                                      </p:tavLst>
                                    </p:anim>
                                    <p:animEffect filter="fade" transition="in">
                                      <p:cBhvr additive="repl">
                                        <p:cTn id="1712" dur="500"/>
                                        <p:tgtEl>
                                          <p:spTgt spid="908"/>
                                        </p:tgtEl>
                                      </p:cBhvr>
                                    </p:animEffect>
                                  </p:childTnLst>
                                </p:cTn>
                              </p:par>
                              <p:par>
                                <p:cTn id="1713" nodeType="withEffect" fill="hold" presetClass="entr" presetID="53">
                                  <p:stCondLst>
                                    <p:cond delay="0"/>
                                  </p:stCondLst>
                                  <p:childTnLst>
                                    <p:set>
                                      <p:cBhvr>
                                        <p:cTn id="1714" dur="1" fill="hold">
                                          <p:stCondLst>
                                            <p:cond delay="0"/>
                                          </p:stCondLst>
                                        </p:cTn>
                                        <p:tgtEl>
                                          <p:spTgt spid="909"/>
                                        </p:tgtEl>
                                        <p:attrNameLst>
                                          <p:attrName>style.visibility</p:attrName>
                                        </p:attrNameLst>
                                      </p:cBhvr>
                                      <p:to>
                                        <p:strVal val="visible"/>
                                      </p:to>
                                    </p:set>
                                    <p:anim calcmode="lin" valueType="num">
                                      <p:cBhvr additive="repl">
                                        <p:cTn id="1715" dur="500" fill="hold"/>
                                        <p:tgtEl>
                                          <p:spTgt spid="909"/>
                                        </p:tgtEl>
                                        <p:attrNameLst>
                                          <p:attrName>ppt_w</p:attrName>
                                        </p:attrNameLst>
                                      </p:cBhvr>
                                      <p:tavLst>
                                        <p:tav tm="0">
                                          <p:val>
                                            <p:fltVal val="0"/>
                                          </p:val>
                                        </p:tav>
                                        <p:tav tm="100000">
                                          <p:val>
                                            <p:strVal val="#ppt_w"/>
                                          </p:val>
                                        </p:tav>
                                      </p:tavLst>
                                    </p:anim>
                                    <p:anim calcmode="lin" valueType="num">
                                      <p:cBhvr additive="repl">
                                        <p:cTn id="1716" dur="500" fill="hold"/>
                                        <p:tgtEl>
                                          <p:spTgt spid="909"/>
                                        </p:tgtEl>
                                        <p:attrNameLst>
                                          <p:attrName>ppt_h</p:attrName>
                                        </p:attrNameLst>
                                      </p:cBhvr>
                                      <p:tavLst>
                                        <p:tav tm="0">
                                          <p:val>
                                            <p:fltVal val="0"/>
                                          </p:val>
                                        </p:tav>
                                        <p:tav tm="100000">
                                          <p:val>
                                            <p:strVal val="#ppt_h"/>
                                          </p:val>
                                        </p:tav>
                                      </p:tavLst>
                                    </p:anim>
                                    <p:animEffect filter="fade" transition="in">
                                      <p:cBhvr additive="repl">
                                        <p:cTn id="1717" dur="500"/>
                                        <p:tgtEl>
                                          <p:spTgt spid="909"/>
                                        </p:tgtEl>
                                      </p:cBhvr>
                                    </p:animEffect>
                                  </p:childTnLst>
                                </p:cTn>
                              </p:par>
                              <p:par>
                                <p:cTn id="1718" nodeType="withEffect" fill="hold" presetClass="entr" presetID="53">
                                  <p:stCondLst>
                                    <p:cond delay="0"/>
                                  </p:stCondLst>
                                  <p:childTnLst>
                                    <p:set>
                                      <p:cBhvr>
                                        <p:cTn id="1719" dur="1" fill="hold">
                                          <p:stCondLst>
                                            <p:cond delay="0"/>
                                          </p:stCondLst>
                                        </p:cTn>
                                        <p:tgtEl>
                                          <p:spTgt spid="910"/>
                                        </p:tgtEl>
                                        <p:attrNameLst>
                                          <p:attrName>style.visibility</p:attrName>
                                        </p:attrNameLst>
                                      </p:cBhvr>
                                      <p:to>
                                        <p:strVal val="visible"/>
                                      </p:to>
                                    </p:set>
                                    <p:anim calcmode="lin" valueType="num">
                                      <p:cBhvr additive="repl">
                                        <p:cTn id="1720" dur="500" fill="hold"/>
                                        <p:tgtEl>
                                          <p:spTgt spid="910"/>
                                        </p:tgtEl>
                                        <p:attrNameLst>
                                          <p:attrName>ppt_w</p:attrName>
                                        </p:attrNameLst>
                                      </p:cBhvr>
                                      <p:tavLst>
                                        <p:tav tm="0">
                                          <p:val>
                                            <p:fltVal val="0"/>
                                          </p:val>
                                        </p:tav>
                                        <p:tav tm="100000">
                                          <p:val>
                                            <p:strVal val="#ppt_w"/>
                                          </p:val>
                                        </p:tav>
                                      </p:tavLst>
                                    </p:anim>
                                    <p:anim calcmode="lin" valueType="num">
                                      <p:cBhvr additive="repl">
                                        <p:cTn id="1721" dur="500" fill="hold"/>
                                        <p:tgtEl>
                                          <p:spTgt spid="910"/>
                                        </p:tgtEl>
                                        <p:attrNameLst>
                                          <p:attrName>ppt_h</p:attrName>
                                        </p:attrNameLst>
                                      </p:cBhvr>
                                      <p:tavLst>
                                        <p:tav tm="0">
                                          <p:val>
                                            <p:fltVal val="0"/>
                                          </p:val>
                                        </p:tav>
                                        <p:tav tm="100000">
                                          <p:val>
                                            <p:strVal val="#ppt_h"/>
                                          </p:val>
                                        </p:tav>
                                      </p:tavLst>
                                    </p:anim>
                                    <p:animEffect filter="fade" transition="in">
                                      <p:cBhvr additive="repl">
                                        <p:cTn id="1722" dur="500"/>
                                        <p:tgtEl>
                                          <p:spTgt spid="9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Mésocycles,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913" name="Flèche droite 2"/>
          <p:cNvSpPr/>
          <p:nvPr/>
        </p:nvSpPr>
        <p:spPr>
          <a:xfrm>
            <a:off x="468360" y="465300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23" dur="indefinite" restart="never" nodeType="tmRoot">
          <p:childTnLst>
            <p:seq>
              <p:cTn id="1724" dur="indefinite" nodeType="mainSeq">
                <p:childTnLst>
                  <p:par>
                    <p:cTn id="1725" nodeType="clickEffect" fill="hold">
                      <p:stCondLst>
                        <p:cond delay="indefinite"/>
                      </p:stCondLst>
                      <p:childTnLst>
                        <p:par>
                          <p:cTn id="1726" nodeType="withEffect" fill="hold">
                            <p:stCondLst>
                              <p:cond delay="0"/>
                            </p:stCondLst>
                            <p:childTnLst>
                              <p:par>
                                <p:cTn id="1727" nodeType="clickEffect" fill="hold" presetClass="entr" presetID="22" presetSubtype="8">
                                  <p:stCondLst>
                                    <p:cond delay="0"/>
                                  </p:stCondLst>
                                  <p:childTnLst>
                                    <p:set>
                                      <p:cBhvr>
                                        <p:cTn id="1728" dur="1" fill="hold">
                                          <p:stCondLst>
                                            <p:cond delay="0"/>
                                          </p:stCondLst>
                                        </p:cTn>
                                        <p:tgtEl>
                                          <p:spTgt spid="913"/>
                                        </p:tgtEl>
                                        <p:attrNameLst>
                                          <p:attrName>style.visibility</p:attrName>
                                        </p:attrNameLst>
                                      </p:cBhvr>
                                      <p:to>
                                        <p:strVal val="visible"/>
                                      </p:to>
                                    </p:set>
                                    <p:animEffect filter="wipe(left)" transition="in">
                                      <p:cBhvr additive="repl">
                                        <p:cTn id="1729" dur="5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915"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6"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917"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8"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9"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0"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Programmation, </a:t>
            </a:r>
            <a:r>
              <a:rPr b="0" lang="fr-FR" sz="2400" strike="noStrike" u="none">
                <a:solidFill>
                  <a:srgbClr val="f8f8f8"/>
                </a:solidFill>
                <a:effectLst/>
                <a:uFillTx/>
                <a:latin typeface="Bookman Old Style"/>
              </a:rPr>
              <a:t>(une saison)</a:t>
            </a:r>
            <a:endParaRPr b="0" lang="en-US" sz="2400" strike="noStrike" u="none">
              <a:solidFill>
                <a:srgbClr val="ffff00"/>
              </a:solidFill>
              <a:effectLst/>
              <a:uFillTx/>
              <a:latin typeface="Times New Roman"/>
            </a:endParaRPr>
          </a:p>
        </p:txBody>
      </p:sp>
      <p:sp>
        <p:nvSpPr>
          <p:cNvPr id="921"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2"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3"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4"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5" name="Text Box 13"/>
          <p:cNvSpPr/>
          <p:nvPr/>
        </p:nvSpPr>
        <p:spPr>
          <a:xfrm>
            <a:off x="22921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926" name="Text Box 14"/>
          <p:cNvSpPr/>
          <p:nvPr/>
        </p:nvSpPr>
        <p:spPr>
          <a:xfrm>
            <a:off x="45781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927"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8"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9"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0" name="Text Box 18"/>
          <p:cNvSpPr/>
          <p:nvPr/>
        </p:nvSpPr>
        <p:spPr>
          <a:xfrm>
            <a:off x="66355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931"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2"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3"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4" name="Text Box 22"/>
          <p:cNvSpPr/>
          <p:nvPr/>
        </p:nvSpPr>
        <p:spPr>
          <a:xfrm>
            <a:off x="2347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935"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936"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937"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938" name="Line 26"/>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9" name="Line 27"/>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0" name="Line 28"/>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1" name="Line 29"/>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2" name="Line 30"/>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3" name="Line 31"/>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4" name="Line 32"/>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5" name="Line 33"/>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6" name="Line 34"/>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7" name="Line 35"/>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8" name="Line 36"/>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9" name="Text Box 37"/>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950" name="Line 38"/>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1" name="Line 39"/>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2" name="Line 40"/>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3" name="Line 41"/>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4" name="Text Box 42"/>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955" name="Line 43"/>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6" name="Line 44"/>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7" name="Line 45"/>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8" name="Line 46"/>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9" name="Text Box 47"/>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960" name="Line 48"/>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1" name="Line 49"/>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2" name="Line 50"/>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3" name="Line 51"/>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4" name="Ellipse 1"/>
          <p:cNvSpPr/>
          <p:nvPr/>
        </p:nvSpPr>
        <p:spPr>
          <a:xfrm>
            <a:off x="0" y="5916600"/>
            <a:ext cx="9144000" cy="995400"/>
          </a:xfrm>
          <a:prstGeom prst="ellipse">
            <a:avLst/>
          </a:prstGeom>
          <a:noFill/>
          <a:ln w="2556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30" dur="indefinite" restart="never" nodeType="tmRoot">
          <p:childTnLst>
            <p:seq>
              <p:cTn id="1731" dur="indefinite" nodeType="mainSeq">
                <p:childTnLst>
                  <p:par>
                    <p:cTn id="1732" nodeType="clickEffect" fill="hold">
                      <p:stCondLst>
                        <p:cond delay="indefinite"/>
                      </p:stCondLst>
                      <p:childTnLst>
                        <p:par>
                          <p:cTn id="1733" nodeType="withEffect" fill="hold">
                            <p:stCondLst>
                              <p:cond delay="0"/>
                            </p:stCondLst>
                            <p:childTnLst>
                              <p:par>
                                <p:cTn id="1734" nodeType="clickEffect" fill="hold" presetClass="entr" presetID="22" presetSubtype="4" repeatCount="1000">
                                  <p:stCondLst>
                                    <p:cond delay="0"/>
                                  </p:stCondLst>
                                  <p:childTnLst>
                                    <p:set>
                                      <p:cBhvr>
                                        <p:cTn id="1735" dur="1" fill="hold">
                                          <p:stCondLst>
                                            <p:cond delay="0"/>
                                          </p:stCondLst>
                                        </p:cTn>
                                        <p:tgtEl>
                                          <p:spTgt spid="964"/>
                                        </p:tgtEl>
                                        <p:attrNameLst>
                                          <p:attrName>style.visibility</p:attrName>
                                        </p:attrNameLst>
                                      </p:cBhvr>
                                      <p:to>
                                        <p:strVal val="visible"/>
                                      </p:to>
                                    </p:set>
                                    <p:animEffect filter="wipe(down)" transition="in">
                                      <p:cBhvr additive="repl">
                                        <p:cTn id="1736" dur="1250"/>
                                        <p:tgtEl>
                                          <p:spTgt spid="9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Text Box 4"/>
          <p:cNvSpPr/>
          <p:nvPr/>
        </p:nvSpPr>
        <p:spPr>
          <a:xfrm>
            <a:off x="1917000" y="2492280"/>
            <a:ext cx="5252760" cy="8254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800" strike="noStrike" u="none">
                <a:solidFill>
                  <a:srgbClr val="f8f8f8"/>
                </a:solidFill>
                <a:effectLst/>
                <a:uFillTx/>
                <a:latin typeface="Bookman Old Style"/>
              </a:rPr>
              <a:t>1.2- LA S</a:t>
            </a:r>
            <a:r>
              <a:rPr b="1" i="1" lang="en-US" sz="4800" strike="noStrike" u="none">
                <a:solidFill>
                  <a:srgbClr val="f8f8f8"/>
                </a:solidFill>
                <a:effectLst/>
                <a:uFillTx/>
                <a:latin typeface="Bookman Old Style"/>
              </a:rPr>
              <a:t>É</a:t>
            </a:r>
            <a:r>
              <a:rPr b="1" i="1" lang="fr-FR" sz="4800" strike="noStrike" u="none">
                <a:solidFill>
                  <a:srgbClr val="f8f8f8"/>
                </a:solidFill>
                <a:effectLst/>
                <a:uFillTx/>
                <a:latin typeface="Bookman Old Style"/>
              </a:rPr>
              <a:t>ANCE</a:t>
            </a:r>
            <a:endParaRPr b="0" lang="en-US" sz="4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 name="Rectangle 4"/>
          <p:cNvSpPr/>
          <p:nvPr/>
        </p:nvSpPr>
        <p:spPr>
          <a:xfrm>
            <a:off x="1332000" y="1052640"/>
            <a:ext cx="7272360" cy="4140000"/>
          </a:xfrm>
          <a:prstGeom prst="rect">
            <a:avLst/>
          </a:prstGeom>
          <a:noFill/>
          <a:ln w="0">
            <a:noFill/>
          </a:ln>
        </p:spPr>
        <p:style>
          <a:lnRef idx="0"/>
          <a:fillRef idx="0"/>
          <a:effectRef idx="0"/>
          <a:fontRef idx="minor"/>
        </p:style>
        <p:txBody>
          <a:bodyPr lIns="90000" rIns="90000" tIns="46800" bIns="46800" anchor="t">
            <a:spAutoFit/>
          </a:bodyPr>
          <a:p>
            <a:pPr lvl="1" marL="91440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i="1" lang="fr-FR" sz="4800" strike="noStrike" u="none">
                <a:solidFill>
                  <a:srgbClr val="f8f8f8"/>
                </a:solidFill>
                <a:effectLst/>
                <a:uFillTx/>
                <a:latin typeface="Bookman Old Style"/>
              </a:rPr>
              <a:t>LA S</a:t>
            </a:r>
            <a:r>
              <a:rPr b="1" i="1" lang="en-US" sz="4800" strike="noStrike" u="none">
                <a:solidFill>
                  <a:srgbClr val="f8f8f8"/>
                </a:solidFill>
                <a:effectLst/>
                <a:uFillTx/>
                <a:latin typeface="Bookman Old Style"/>
              </a:rPr>
              <a:t>É</a:t>
            </a:r>
            <a:r>
              <a:rPr b="1" i="1" lang="fr-FR" sz="4800" strike="noStrike" u="none">
                <a:solidFill>
                  <a:srgbClr val="f8f8f8"/>
                </a:solidFill>
                <a:effectLst/>
                <a:uFillTx/>
                <a:latin typeface="Bookman Old Style"/>
              </a:rPr>
              <a:t>ANCE</a:t>
            </a:r>
            <a:endParaRPr b="0" lang="en-US" sz="4800" strike="noStrike" u="none">
              <a:solidFill>
                <a:srgbClr val="ffff00"/>
              </a:solidFill>
              <a:effectLst/>
              <a:uFillTx/>
              <a:latin typeface="Times New Roman"/>
            </a:endParaRPr>
          </a:p>
          <a:p>
            <a:pPr lvl="1" marL="914400" indent="-457200">
              <a:lnSpc>
                <a:spcPct val="16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lvl="1" marL="914400" indent="-457200">
              <a:lnSpc>
                <a:spcPct val="16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Bookman Old Style"/>
              </a:rPr>
              <a:t>Définition</a:t>
            </a:r>
            <a:endParaRPr b="0" lang="en-US" sz="4000" strike="noStrike" u="none">
              <a:solidFill>
                <a:srgbClr val="ffff00"/>
              </a:solidFill>
              <a:effectLst/>
              <a:uFillTx/>
              <a:latin typeface="Times New Roman"/>
            </a:endParaRPr>
          </a:p>
          <a:p>
            <a:pPr lvl="1" marL="914400" indent="-457200">
              <a:lnSpc>
                <a:spcPct val="16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Bookman Old Style"/>
              </a:rPr>
              <a:t>Classification</a:t>
            </a:r>
            <a:endParaRPr b="0" lang="en-US" sz="4000" strike="noStrike" u="none">
              <a:solidFill>
                <a:srgbClr val="ffff00"/>
              </a:solidFill>
              <a:effectLst/>
              <a:uFillTx/>
              <a:latin typeface="Times New Roman"/>
            </a:endParaRPr>
          </a:p>
          <a:p>
            <a:pPr lvl="1" marL="914400" indent="-457200">
              <a:lnSpc>
                <a:spcPct val="16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Bookman Old Style"/>
              </a:rPr>
              <a:t>Principes d’élaboration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Text Box 4"/>
          <p:cNvSpPr/>
          <p:nvPr/>
        </p:nvSpPr>
        <p:spPr>
          <a:xfrm>
            <a:off x="3406680" y="425520"/>
            <a:ext cx="2076480" cy="4597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8f8f8"/>
                </a:solidFill>
                <a:effectLst/>
                <a:uFillTx/>
                <a:latin typeface="Bookman Old Style"/>
              </a:rPr>
              <a:t>DEFINITION</a:t>
            </a:r>
            <a:endParaRPr b="0" lang="en-US" sz="2400" strike="noStrike" u="none">
              <a:solidFill>
                <a:srgbClr val="ffff00"/>
              </a:solidFill>
              <a:effectLst/>
              <a:uFillTx/>
              <a:latin typeface="Times New Roman"/>
            </a:endParaRPr>
          </a:p>
        </p:txBody>
      </p:sp>
      <p:sp>
        <p:nvSpPr>
          <p:cNvPr id="968" name="Text Box 5"/>
          <p:cNvSpPr/>
          <p:nvPr/>
        </p:nvSpPr>
        <p:spPr>
          <a:xfrm>
            <a:off x="108000" y="2008080"/>
            <a:ext cx="90360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séance est l’unité de base de l’organisation de l’entraînement.</a:t>
            </a:r>
            <a:endParaRPr b="0" lang="en-US" sz="2400" strike="noStrike" u="none">
              <a:solidFill>
                <a:srgbClr val="ffff00"/>
              </a:solidFill>
              <a:effectLst/>
              <a:uFillTx/>
              <a:latin typeface="Times New Roman"/>
            </a:endParaRPr>
          </a:p>
        </p:txBody>
      </p:sp>
      <p:sp>
        <p:nvSpPr>
          <p:cNvPr id="969" name="Text Box 6"/>
          <p:cNvSpPr/>
          <p:nvPr/>
        </p:nvSpPr>
        <p:spPr>
          <a:xfrm>
            <a:off x="1074240" y="2970360"/>
            <a:ext cx="7670160" cy="26535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Elle est constituée de </a:t>
            </a:r>
            <a:r>
              <a:rPr b="0" i="1" lang="fr-FR" sz="2400" strike="noStrike" u="none">
                <a:solidFill>
                  <a:srgbClr val="f8f8f8"/>
                </a:solidFill>
                <a:effectLst/>
                <a:uFillTx/>
                <a:latin typeface="Arial"/>
              </a:rPr>
              <a:t>l’agencement rationnel et alterné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8f8f8"/>
                </a:solidFill>
                <a:effectLst/>
                <a:uFillTx/>
                <a:latin typeface="Arial"/>
              </a:rPr>
              <a:t>d’exercices et de périodes de récupération</a:t>
            </a:r>
            <a:r>
              <a:rPr b="0" lang="fr-FR" sz="2400" strike="noStrike" u="none">
                <a:solidFill>
                  <a:srgbClr val="ffff00"/>
                </a:solidFill>
                <a:effectLst/>
                <a:uFillTx/>
                <a:latin typeface="Arial"/>
              </a:rPr>
              <a:t> dans le but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 développer aux moments opportuns d’une saison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certaines des qualités requises par la compétition et </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performance visée.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 name="Text Box 6"/>
          <p:cNvSpPr/>
          <p:nvPr/>
        </p:nvSpPr>
        <p:spPr>
          <a:xfrm>
            <a:off x="2885040" y="260280"/>
            <a:ext cx="3333960" cy="5209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8f8f8"/>
                </a:solidFill>
                <a:effectLst/>
                <a:uFillTx/>
                <a:latin typeface="Bookman Old Style"/>
              </a:rPr>
              <a:t>CLASSIFICATION</a:t>
            </a:r>
            <a:endParaRPr b="0" lang="en-US" sz="2800" strike="noStrike" u="none">
              <a:solidFill>
                <a:srgbClr val="ffff00"/>
              </a:solidFill>
              <a:effectLst/>
              <a:uFillTx/>
              <a:latin typeface="Times New Roman"/>
            </a:endParaRPr>
          </a:p>
        </p:txBody>
      </p:sp>
      <p:sp>
        <p:nvSpPr>
          <p:cNvPr id="971" name="Text Box 7"/>
          <p:cNvSpPr/>
          <p:nvPr/>
        </p:nvSpPr>
        <p:spPr>
          <a:xfrm>
            <a:off x="1239480" y="1652760"/>
            <a:ext cx="67042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En fonction du but poursuivi on peut distinguer : </a:t>
            </a:r>
            <a:endParaRPr b="0" lang="en-US" sz="2400" strike="noStrike" u="none">
              <a:solidFill>
                <a:srgbClr val="ffff00"/>
              </a:solidFill>
              <a:effectLst/>
              <a:uFillTx/>
              <a:latin typeface="Times New Roman"/>
            </a:endParaRPr>
          </a:p>
        </p:txBody>
      </p:sp>
      <p:sp>
        <p:nvSpPr>
          <p:cNvPr id="972" name="Text Box 8"/>
          <p:cNvSpPr/>
          <p:nvPr/>
        </p:nvSpPr>
        <p:spPr>
          <a:xfrm>
            <a:off x="1322640" y="2733840"/>
            <a:ext cx="5436360" cy="1922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Les séances à objectif unique</a:t>
            </a:r>
            <a:endParaRPr b="0" lang="en-US" sz="24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Les séances à objectifs multiples</a:t>
            </a:r>
            <a:endParaRPr b="0" lang="en-US" sz="24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Les séances à grandes dominantes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 name="Text Box 4"/>
          <p:cNvSpPr/>
          <p:nvPr/>
        </p:nvSpPr>
        <p:spPr>
          <a:xfrm>
            <a:off x="2885040" y="260280"/>
            <a:ext cx="3333960" cy="5209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8f8f8"/>
                </a:solidFill>
                <a:effectLst/>
                <a:uFillTx/>
                <a:latin typeface="Bookman Old Style"/>
              </a:rPr>
              <a:t>CLASSIFICATION</a:t>
            </a:r>
            <a:endParaRPr b="0" lang="en-US" sz="2800" strike="noStrike" u="none">
              <a:solidFill>
                <a:srgbClr val="ffff00"/>
              </a:solidFill>
              <a:effectLst/>
              <a:uFillTx/>
              <a:latin typeface="Times New Roman"/>
            </a:endParaRPr>
          </a:p>
        </p:txBody>
      </p:sp>
      <p:sp>
        <p:nvSpPr>
          <p:cNvPr id="974" name="Text Box 5"/>
          <p:cNvSpPr/>
          <p:nvPr/>
        </p:nvSpPr>
        <p:spPr>
          <a:xfrm>
            <a:off x="377640" y="1432080"/>
            <a:ext cx="4724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8f8f8"/>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8f8f8"/>
                </a:solidFill>
                <a:effectLst/>
                <a:uFillTx/>
                <a:latin typeface="Arial"/>
              </a:rPr>
              <a:t> Les séances à objectif unique :</a:t>
            </a:r>
            <a:endParaRPr b="0" lang="en-US" sz="2400" strike="noStrike" u="none">
              <a:solidFill>
                <a:srgbClr val="ffff00"/>
              </a:solidFill>
              <a:effectLst/>
              <a:uFillTx/>
              <a:latin typeface="Times New Roman"/>
            </a:endParaRPr>
          </a:p>
        </p:txBody>
      </p:sp>
      <p:sp>
        <p:nvSpPr>
          <p:cNvPr id="975" name="Text Box 6"/>
          <p:cNvSpPr/>
          <p:nvPr/>
        </p:nvSpPr>
        <p:spPr>
          <a:xfrm>
            <a:off x="182880" y="2151000"/>
            <a:ext cx="9008280" cy="1557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Leur but est de solliciter de façon sélective, plus profonde et plus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localisée une qualité ou/et une source énergétique afin d’obtenir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une adaptation spécifique voire un effet de surcompensation plus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élevé.   </a:t>
            </a:r>
            <a:endParaRPr b="0" lang="en-US" sz="2400" strike="noStrike" u="none">
              <a:solidFill>
                <a:srgbClr val="ffff00"/>
              </a:solidFill>
              <a:effectLst/>
              <a:uFillTx/>
              <a:latin typeface="Times New Roman"/>
            </a:endParaRPr>
          </a:p>
        </p:txBody>
      </p:sp>
      <p:sp>
        <p:nvSpPr>
          <p:cNvPr id="976" name="Text Box 7"/>
          <p:cNvSpPr/>
          <p:nvPr/>
        </p:nvSpPr>
        <p:spPr>
          <a:xfrm>
            <a:off x="207720" y="3951360"/>
            <a:ext cx="856764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Ce type de séance offre l’avantage de la précision de l’impact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physiologique ou/et technique recherché.</a:t>
            </a:r>
            <a:endParaRPr b="0" lang="en-US" sz="2400" strike="noStrike" u="none">
              <a:solidFill>
                <a:srgbClr val="ffff00"/>
              </a:solidFill>
              <a:effectLst/>
              <a:uFillTx/>
              <a:latin typeface="Times New Roman"/>
            </a:endParaRPr>
          </a:p>
        </p:txBody>
      </p:sp>
      <p:sp>
        <p:nvSpPr>
          <p:cNvPr id="977" name="Text Box 8"/>
          <p:cNvSpPr/>
          <p:nvPr/>
        </p:nvSpPr>
        <p:spPr>
          <a:xfrm>
            <a:off x="162720" y="5032440"/>
            <a:ext cx="824544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Ces séances permettent notamment de développer chez 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sportif certains manques identifiés comme préjudiciables à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performance visée.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37" dur="indefinite" restart="never" nodeType="tmRoot">
          <p:childTnLst>
            <p:seq>
              <p:cTn id="1738" dur="indefinite" nodeType="mainSeq">
                <p:childTnLst>
                  <p:par>
                    <p:cTn id="1739" nodeType="clickEffect" fill="hold">
                      <p:stCondLst>
                        <p:cond delay="indefinite"/>
                      </p:stCondLst>
                      <p:childTnLst>
                        <p:par>
                          <p:cTn id="1740" nodeType="withEffect" fill="hold">
                            <p:stCondLst>
                              <p:cond delay="0"/>
                            </p:stCondLst>
                            <p:childTnLst>
                              <p:par>
                                <p:cTn id="1741" nodeType="clickEffect" fill="hold" presetClass="entr" presetID="22" presetSubtype="8">
                                  <p:stCondLst>
                                    <p:cond delay="0"/>
                                  </p:stCondLst>
                                  <p:childTnLst>
                                    <p:set>
                                      <p:cBhvr>
                                        <p:cTn id="1742" dur="1" fill="hold">
                                          <p:stCondLst>
                                            <p:cond delay="0"/>
                                          </p:stCondLst>
                                        </p:cTn>
                                        <p:tgtEl>
                                          <p:spTgt spid="974"/>
                                        </p:tgtEl>
                                        <p:attrNameLst>
                                          <p:attrName>style.visibility</p:attrName>
                                        </p:attrNameLst>
                                      </p:cBhvr>
                                      <p:to>
                                        <p:strVal val="visible"/>
                                      </p:to>
                                    </p:set>
                                    <p:animEffect filter="wipe(left)" transition="in">
                                      <p:cBhvr additive="repl">
                                        <p:cTn id="1743" dur="500"/>
                                        <p:tgtEl>
                                          <p:spTgt spid="974"/>
                                        </p:tgtEl>
                                      </p:cBhvr>
                                    </p:animEffect>
                                  </p:childTnLst>
                                </p:cTn>
                              </p:par>
                            </p:childTnLst>
                          </p:cTn>
                        </p:par>
                      </p:childTnLst>
                    </p:cTn>
                  </p:par>
                  <p:par>
                    <p:cTn id="1744" nodeType="clickEffect" fill="hold">
                      <p:stCondLst>
                        <p:cond delay="indefinite"/>
                      </p:stCondLst>
                      <p:childTnLst>
                        <p:par>
                          <p:cTn id="1745" nodeType="withEffect" fill="hold">
                            <p:stCondLst>
                              <p:cond delay="0"/>
                            </p:stCondLst>
                            <p:childTnLst>
                              <p:par>
                                <p:cTn id="1746" nodeType="clickEffect" fill="hold" presetClass="entr" presetID="22" presetSubtype="8">
                                  <p:stCondLst>
                                    <p:cond delay="0"/>
                                  </p:stCondLst>
                                  <p:childTnLst>
                                    <p:set>
                                      <p:cBhvr>
                                        <p:cTn id="1747" dur="1" fill="hold">
                                          <p:stCondLst>
                                            <p:cond delay="0"/>
                                          </p:stCondLst>
                                        </p:cTn>
                                        <p:tgtEl>
                                          <p:spTgt spid="975"/>
                                        </p:tgtEl>
                                        <p:attrNameLst>
                                          <p:attrName>style.visibility</p:attrName>
                                        </p:attrNameLst>
                                      </p:cBhvr>
                                      <p:to>
                                        <p:strVal val="visible"/>
                                      </p:to>
                                    </p:set>
                                    <p:animEffect filter="wipe(left)" transition="in">
                                      <p:cBhvr additive="repl">
                                        <p:cTn id="1748" dur="500"/>
                                        <p:tgtEl>
                                          <p:spTgt spid="975"/>
                                        </p:tgtEl>
                                      </p:cBhvr>
                                    </p:animEffect>
                                  </p:childTnLst>
                                </p:cTn>
                              </p:par>
                            </p:childTnLst>
                          </p:cTn>
                        </p:par>
                      </p:childTnLst>
                    </p:cTn>
                  </p:par>
                  <p:par>
                    <p:cTn id="1749" nodeType="clickEffect" fill="hold">
                      <p:stCondLst>
                        <p:cond delay="indefinite"/>
                      </p:stCondLst>
                      <p:childTnLst>
                        <p:par>
                          <p:cTn id="1750" nodeType="withEffect" fill="hold">
                            <p:stCondLst>
                              <p:cond delay="0"/>
                            </p:stCondLst>
                            <p:childTnLst>
                              <p:par>
                                <p:cTn id="1751" nodeType="clickEffect" fill="hold" presetClass="entr" presetID="22" presetSubtype="8">
                                  <p:stCondLst>
                                    <p:cond delay="0"/>
                                  </p:stCondLst>
                                  <p:childTnLst>
                                    <p:set>
                                      <p:cBhvr>
                                        <p:cTn id="1752" dur="1" fill="hold">
                                          <p:stCondLst>
                                            <p:cond delay="0"/>
                                          </p:stCondLst>
                                        </p:cTn>
                                        <p:tgtEl>
                                          <p:spTgt spid="976"/>
                                        </p:tgtEl>
                                        <p:attrNameLst>
                                          <p:attrName>style.visibility</p:attrName>
                                        </p:attrNameLst>
                                      </p:cBhvr>
                                      <p:to>
                                        <p:strVal val="visible"/>
                                      </p:to>
                                    </p:set>
                                    <p:animEffect filter="wipe(left)" transition="in">
                                      <p:cBhvr additive="repl">
                                        <p:cTn id="1753" dur="500"/>
                                        <p:tgtEl>
                                          <p:spTgt spid="976"/>
                                        </p:tgtEl>
                                      </p:cBhvr>
                                    </p:animEffect>
                                  </p:childTnLst>
                                </p:cTn>
                              </p:par>
                            </p:childTnLst>
                          </p:cTn>
                        </p:par>
                      </p:childTnLst>
                    </p:cTn>
                  </p:par>
                  <p:par>
                    <p:cTn id="1754" nodeType="clickEffect" fill="hold">
                      <p:stCondLst>
                        <p:cond delay="indefinite"/>
                      </p:stCondLst>
                      <p:childTnLst>
                        <p:par>
                          <p:cTn id="1755" nodeType="withEffect" fill="hold">
                            <p:stCondLst>
                              <p:cond delay="0"/>
                            </p:stCondLst>
                            <p:childTnLst>
                              <p:par>
                                <p:cTn id="1756" nodeType="clickEffect" fill="hold" presetClass="entr" presetID="22" presetSubtype="8">
                                  <p:stCondLst>
                                    <p:cond delay="0"/>
                                  </p:stCondLst>
                                  <p:childTnLst>
                                    <p:set>
                                      <p:cBhvr>
                                        <p:cTn id="1757" dur="1" fill="hold">
                                          <p:stCondLst>
                                            <p:cond delay="0"/>
                                          </p:stCondLst>
                                        </p:cTn>
                                        <p:tgtEl>
                                          <p:spTgt spid="977"/>
                                        </p:tgtEl>
                                        <p:attrNameLst>
                                          <p:attrName>style.visibility</p:attrName>
                                        </p:attrNameLst>
                                      </p:cBhvr>
                                      <p:to>
                                        <p:strVal val="visible"/>
                                      </p:to>
                                    </p:set>
                                    <p:animEffect filter="wipe(left)" transition="in">
                                      <p:cBhvr additive="repl">
                                        <p:cTn id="1758" dur="500"/>
                                        <p:tgtEl>
                                          <p:spTgt spid="9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 name="Text Box 4"/>
          <p:cNvSpPr/>
          <p:nvPr/>
        </p:nvSpPr>
        <p:spPr>
          <a:xfrm>
            <a:off x="2885040" y="260280"/>
            <a:ext cx="3333960" cy="5209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8f8f8"/>
                </a:solidFill>
                <a:effectLst/>
                <a:uFillTx/>
                <a:latin typeface="Bookman Old Style"/>
              </a:rPr>
              <a:t>CLASSIFICATION</a:t>
            </a:r>
            <a:endParaRPr b="0" lang="en-US" sz="2800" strike="noStrike" u="none">
              <a:solidFill>
                <a:srgbClr val="ffff00"/>
              </a:solidFill>
              <a:effectLst/>
              <a:uFillTx/>
              <a:latin typeface="Times New Roman"/>
            </a:endParaRPr>
          </a:p>
        </p:txBody>
      </p:sp>
      <p:sp>
        <p:nvSpPr>
          <p:cNvPr id="979" name="Text Box 5"/>
          <p:cNvSpPr/>
          <p:nvPr/>
        </p:nvSpPr>
        <p:spPr>
          <a:xfrm>
            <a:off x="386280" y="1380960"/>
            <a:ext cx="65599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8f8f8"/>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8f8f8"/>
                </a:solidFill>
                <a:effectLst/>
                <a:uFillTx/>
                <a:latin typeface="Arial"/>
              </a:rPr>
              <a:t> Les séances à objectif unique (suite) :</a:t>
            </a:r>
            <a:endParaRPr b="0" lang="en-US" sz="2800" strike="noStrike" u="none">
              <a:solidFill>
                <a:srgbClr val="ffff00"/>
              </a:solidFill>
              <a:effectLst/>
              <a:uFillTx/>
              <a:latin typeface="Times New Roman"/>
            </a:endParaRPr>
          </a:p>
        </p:txBody>
      </p:sp>
      <p:sp>
        <p:nvSpPr>
          <p:cNvPr id="980" name="Text Box 6"/>
          <p:cNvSpPr/>
          <p:nvPr/>
        </p:nvSpPr>
        <p:spPr>
          <a:xfrm>
            <a:off x="255960" y="2151000"/>
            <a:ext cx="848268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Ce type de séance est à utiliser surtout dans l’inter saison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(corriger des manques) en début de reprise de l’entraînement</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et en période d’affûtage,</a:t>
            </a:r>
            <a:endParaRPr b="0" lang="en-US" sz="2400" strike="noStrike" u="none">
              <a:solidFill>
                <a:srgbClr val="ffff00"/>
              </a:solidFill>
              <a:effectLst/>
              <a:uFillTx/>
              <a:latin typeface="Times New Roman"/>
            </a:endParaRPr>
          </a:p>
        </p:txBody>
      </p:sp>
      <p:sp>
        <p:nvSpPr>
          <p:cNvPr id="981" name="Text Box 7"/>
          <p:cNvSpPr/>
          <p:nvPr/>
        </p:nvSpPr>
        <p:spPr>
          <a:xfrm>
            <a:off x="254880" y="3537000"/>
            <a:ext cx="882180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…mais aussi tout le long de la saison sportive et ainsi constituer</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ou les deux séances spécifique(s) à forte « charge » dans un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microcycle</a:t>
            </a:r>
            <a:endParaRPr b="0" lang="en-US" sz="2400" strike="noStrike" u="none">
              <a:solidFill>
                <a:srgbClr val="ffff00"/>
              </a:solidFill>
              <a:effectLst/>
              <a:uFillTx/>
              <a:latin typeface="Times New Roman"/>
            </a:endParaRPr>
          </a:p>
        </p:txBody>
      </p:sp>
      <p:sp>
        <p:nvSpPr>
          <p:cNvPr id="982" name="Text Box 8"/>
          <p:cNvSpPr/>
          <p:nvPr/>
        </p:nvSpPr>
        <p:spPr>
          <a:xfrm>
            <a:off x="162360" y="5116680"/>
            <a:ext cx="9074880" cy="1557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Elles sont alors choisies en fonction de la grande dominante du</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microcycle et sont harmonisées soit avec des séances à objectifs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multiples, soit avec des séances à grandes dominantes facilitant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récupération.</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59" dur="indefinite" restart="never" nodeType="tmRoot">
          <p:childTnLst>
            <p:seq>
              <p:cTn id="1760" dur="indefinite" nodeType="mainSeq">
                <p:childTnLst>
                  <p:par>
                    <p:cTn id="1761" nodeType="clickEffect" fill="hold">
                      <p:stCondLst>
                        <p:cond delay="indefinite"/>
                      </p:stCondLst>
                      <p:childTnLst>
                        <p:par>
                          <p:cTn id="1762" nodeType="withEffect" fill="hold">
                            <p:stCondLst>
                              <p:cond delay="0"/>
                            </p:stCondLst>
                            <p:childTnLst>
                              <p:par>
                                <p:cTn id="1763" nodeType="clickEffect" fill="hold" presetClass="entr" presetID="22" presetSubtype="8">
                                  <p:stCondLst>
                                    <p:cond delay="0"/>
                                  </p:stCondLst>
                                  <p:childTnLst>
                                    <p:set>
                                      <p:cBhvr>
                                        <p:cTn id="1764" dur="1" fill="hold">
                                          <p:stCondLst>
                                            <p:cond delay="0"/>
                                          </p:stCondLst>
                                        </p:cTn>
                                        <p:tgtEl>
                                          <p:spTgt spid="979"/>
                                        </p:tgtEl>
                                        <p:attrNameLst>
                                          <p:attrName>style.visibility</p:attrName>
                                        </p:attrNameLst>
                                      </p:cBhvr>
                                      <p:to>
                                        <p:strVal val="visible"/>
                                      </p:to>
                                    </p:set>
                                    <p:animEffect filter="wipe(left)" transition="in">
                                      <p:cBhvr additive="repl">
                                        <p:cTn id="1765" dur="500"/>
                                        <p:tgtEl>
                                          <p:spTgt spid="979"/>
                                        </p:tgtEl>
                                      </p:cBhvr>
                                    </p:animEffect>
                                  </p:childTnLst>
                                </p:cTn>
                              </p:par>
                            </p:childTnLst>
                          </p:cTn>
                        </p:par>
                      </p:childTnLst>
                    </p:cTn>
                  </p:par>
                  <p:par>
                    <p:cTn id="1766" nodeType="clickEffect" fill="hold">
                      <p:stCondLst>
                        <p:cond delay="indefinite"/>
                      </p:stCondLst>
                      <p:childTnLst>
                        <p:par>
                          <p:cTn id="1767" nodeType="withEffect" fill="hold">
                            <p:stCondLst>
                              <p:cond delay="0"/>
                            </p:stCondLst>
                            <p:childTnLst>
                              <p:par>
                                <p:cTn id="1768" nodeType="clickEffect" fill="hold" presetClass="entr" presetID="22" presetSubtype="8">
                                  <p:stCondLst>
                                    <p:cond delay="0"/>
                                  </p:stCondLst>
                                  <p:childTnLst>
                                    <p:set>
                                      <p:cBhvr>
                                        <p:cTn id="1769" dur="1" fill="hold">
                                          <p:stCondLst>
                                            <p:cond delay="0"/>
                                          </p:stCondLst>
                                        </p:cTn>
                                        <p:tgtEl>
                                          <p:spTgt spid="980"/>
                                        </p:tgtEl>
                                        <p:attrNameLst>
                                          <p:attrName>style.visibility</p:attrName>
                                        </p:attrNameLst>
                                      </p:cBhvr>
                                      <p:to>
                                        <p:strVal val="visible"/>
                                      </p:to>
                                    </p:set>
                                    <p:animEffect filter="wipe(left)" transition="in">
                                      <p:cBhvr additive="repl">
                                        <p:cTn id="1770" dur="500"/>
                                        <p:tgtEl>
                                          <p:spTgt spid="980"/>
                                        </p:tgtEl>
                                      </p:cBhvr>
                                    </p:animEffect>
                                  </p:childTnLst>
                                </p:cTn>
                              </p:par>
                            </p:childTnLst>
                          </p:cTn>
                        </p:par>
                      </p:childTnLst>
                    </p:cTn>
                  </p:par>
                  <p:par>
                    <p:cTn id="1771" nodeType="clickEffect" fill="hold">
                      <p:stCondLst>
                        <p:cond delay="indefinite"/>
                      </p:stCondLst>
                      <p:childTnLst>
                        <p:par>
                          <p:cTn id="1772" nodeType="withEffect" fill="hold">
                            <p:stCondLst>
                              <p:cond delay="0"/>
                            </p:stCondLst>
                            <p:childTnLst>
                              <p:par>
                                <p:cTn id="1773" nodeType="clickEffect" fill="hold" presetClass="entr" presetID="22" presetSubtype="8">
                                  <p:stCondLst>
                                    <p:cond delay="0"/>
                                  </p:stCondLst>
                                  <p:childTnLst>
                                    <p:set>
                                      <p:cBhvr>
                                        <p:cTn id="1774" dur="1" fill="hold">
                                          <p:stCondLst>
                                            <p:cond delay="0"/>
                                          </p:stCondLst>
                                        </p:cTn>
                                        <p:tgtEl>
                                          <p:spTgt spid="981"/>
                                        </p:tgtEl>
                                        <p:attrNameLst>
                                          <p:attrName>style.visibility</p:attrName>
                                        </p:attrNameLst>
                                      </p:cBhvr>
                                      <p:to>
                                        <p:strVal val="visible"/>
                                      </p:to>
                                    </p:set>
                                    <p:animEffect filter="wipe(left)" transition="in">
                                      <p:cBhvr additive="repl">
                                        <p:cTn id="1775" dur="1000"/>
                                        <p:tgtEl>
                                          <p:spTgt spid="981"/>
                                        </p:tgtEl>
                                      </p:cBhvr>
                                    </p:animEffect>
                                  </p:childTnLst>
                                </p:cTn>
                              </p:par>
                            </p:childTnLst>
                          </p:cTn>
                        </p:par>
                      </p:childTnLst>
                    </p:cTn>
                  </p:par>
                  <p:par>
                    <p:cTn id="1776" nodeType="clickEffect" fill="hold">
                      <p:stCondLst>
                        <p:cond delay="indefinite"/>
                      </p:stCondLst>
                      <p:childTnLst>
                        <p:par>
                          <p:cTn id="1777" nodeType="withEffect" fill="hold">
                            <p:stCondLst>
                              <p:cond delay="0"/>
                            </p:stCondLst>
                            <p:childTnLst>
                              <p:par>
                                <p:cTn id="1778" nodeType="clickEffect" fill="hold" presetClass="entr" presetID="22" presetSubtype="8">
                                  <p:stCondLst>
                                    <p:cond delay="0"/>
                                  </p:stCondLst>
                                  <p:childTnLst>
                                    <p:set>
                                      <p:cBhvr>
                                        <p:cTn id="1779" dur="1" fill="hold">
                                          <p:stCondLst>
                                            <p:cond delay="0"/>
                                          </p:stCondLst>
                                        </p:cTn>
                                        <p:tgtEl>
                                          <p:spTgt spid="982"/>
                                        </p:tgtEl>
                                        <p:attrNameLst>
                                          <p:attrName>style.visibility</p:attrName>
                                        </p:attrNameLst>
                                      </p:cBhvr>
                                      <p:to>
                                        <p:strVal val="visible"/>
                                      </p:to>
                                    </p:set>
                                    <p:animEffect filter="wipe(left)" transition="in">
                                      <p:cBhvr additive="repl">
                                        <p:cTn id="1780" dur="1000"/>
                                        <p:tgtEl>
                                          <p:spTgt spid="9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Line 4"/>
          <p:cNvSpPr/>
          <p:nvPr/>
        </p:nvSpPr>
        <p:spPr>
          <a:xfrm>
            <a:off x="900000" y="765000"/>
            <a:ext cx="0" cy="554364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4" name="Line 5"/>
          <p:cNvSpPr/>
          <p:nvPr/>
        </p:nvSpPr>
        <p:spPr>
          <a:xfrm>
            <a:off x="900000" y="6308640"/>
            <a:ext cx="8136000" cy="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5" name="Text Box 6"/>
          <p:cNvSpPr/>
          <p:nvPr/>
        </p:nvSpPr>
        <p:spPr>
          <a:xfrm>
            <a:off x="398160" y="549360"/>
            <a:ext cx="575280" cy="61603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5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18</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4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14,4</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3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10,8</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2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7,2</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1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3,6</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0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986" name="Text Box 7"/>
          <p:cNvSpPr/>
          <p:nvPr/>
        </p:nvSpPr>
        <p:spPr>
          <a:xfrm rot="16200000">
            <a:off x="-1486800" y="3366360"/>
            <a:ext cx="374796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Vitesse de course (m/s et km/h)</a:t>
            </a:r>
            <a:endParaRPr b="0" lang="en-US" sz="2000" strike="noStrike" u="none">
              <a:solidFill>
                <a:srgbClr val="ffff00"/>
              </a:solidFill>
              <a:effectLst/>
              <a:uFillTx/>
              <a:latin typeface="Times New Roman"/>
            </a:endParaRPr>
          </a:p>
        </p:txBody>
      </p:sp>
      <p:sp>
        <p:nvSpPr>
          <p:cNvPr id="987" name="Rectangle 8"/>
          <p:cNvSpPr/>
          <p:nvPr/>
        </p:nvSpPr>
        <p:spPr>
          <a:xfrm>
            <a:off x="1185840" y="2781360"/>
            <a:ext cx="757440" cy="3527280"/>
          </a:xfrm>
          <a:prstGeom prst="rect">
            <a:avLst/>
          </a:prstGeom>
          <a:gradFill rotWithShape="0">
            <a:gsLst>
              <a:gs pos="0">
                <a:srgbClr val="009771"/>
              </a:gs>
              <a:gs pos="50000">
                <a:srgbClr val="00cc99"/>
              </a:gs>
              <a:gs pos="100000">
                <a:srgbClr val="009771"/>
              </a:gs>
            </a:gsLst>
            <a:lin ang="0"/>
          </a:gradFill>
          <a:ln w="9360">
            <a:solidFill>
              <a:srgbClr val="ffff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88" name="Rectangle 9"/>
          <p:cNvSpPr/>
          <p:nvPr/>
        </p:nvSpPr>
        <p:spPr>
          <a:xfrm>
            <a:off x="1943280" y="2492280"/>
            <a:ext cx="468000" cy="3795840"/>
          </a:xfrm>
          <a:prstGeom prst="rect">
            <a:avLst/>
          </a:prstGeom>
          <a:gradFill rotWithShape="0">
            <a:gsLst>
              <a:gs pos="0">
                <a:srgbClr val="009771"/>
              </a:gs>
              <a:gs pos="50000">
                <a:srgbClr val="00cc99"/>
              </a:gs>
              <a:gs pos="100000">
                <a:srgbClr val="009771"/>
              </a:gs>
            </a:gsLst>
            <a:lin ang="0"/>
          </a:gradFill>
          <a:ln w="9360">
            <a:solidFill>
              <a:srgbClr val="ffff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89" name="Text Box 10"/>
          <p:cNvSpPr/>
          <p:nvPr/>
        </p:nvSpPr>
        <p:spPr>
          <a:xfrm>
            <a:off x="864360" y="247176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65 %</a:t>
            </a:r>
            <a:endParaRPr b="0" lang="en-US" sz="1400" strike="noStrike" u="none">
              <a:solidFill>
                <a:srgbClr val="ffff00"/>
              </a:solidFill>
              <a:effectLst/>
              <a:uFillTx/>
              <a:latin typeface="Times New Roman"/>
            </a:endParaRPr>
          </a:p>
        </p:txBody>
      </p:sp>
      <p:sp>
        <p:nvSpPr>
          <p:cNvPr id="990" name="Text Box 11"/>
          <p:cNvSpPr/>
          <p:nvPr/>
        </p:nvSpPr>
        <p:spPr>
          <a:xfrm>
            <a:off x="2269440" y="2133720"/>
            <a:ext cx="6426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70 %</a:t>
            </a:r>
            <a:endParaRPr b="0" lang="en-US" sz="1600" strike="noStrike" u="none">
              <a:solidFill>
                <a:srgbClr val="ffff00"/>
              </a:solidFill>
              <a:effectLst/>
              <a:uFillTx/>
              <a:latin typeface="Times New Roman"/>
            </a:endParaRPr>
          </a:p>
        </p:txBody>
      </p:sp>
      <p:sp>
        <p:nvSpPr>
          <p:cNvPr id="991" name="Text Box 13"/>
          <p:cNvSpPr/>
          <p:nvPr/>
        </p:nvSpPr>
        <p:spPr>
          <a:xfrm>
            <a:off x="1224000" y="6381720"/>
            <a:ext cx="53640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6min</a:t>
            </a:r>
            <a:endParaRPr b="0" lang="en-US" sz="1200" strike="noStrike" u="none">
              <a:solidFill>
                <a:srgbClr val="ffff00"/>
              </a:solidFill>
              <a:effectLst/>
              <a:uFillTx/>
              <a:latin typeface="Times New Roman"/>
            </a:endParaRPr>
          </a:p>
        </p:txBody>
      </p:sp>
      <p:sp>
        <p:nvSpPr>
          <p:cNvPr id="992" name="Text Box 14"/>
          <p:cNvSpPr/>
          <p:nvPr/>
        </p:nvSpPr>
        <p:spPr>
          <a:xfrm>
            <a:off x="1800360" y="6381720"/>
            <a:ext cx="57888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4 min</a:t>
            </a:r>
            <a:endParaRPr b="0" lang="en-US" sz="1200" strike="noStrike" u="none">
              <a:solidFill>
                <a:srgbClr val="ffff00"/>
              </a:solidFill>
              <a:effectLst/>
              <a:uFillTx/>
              <a:latin typeface="Times New Roman"/>
            </a:endParaRPr>
          </a:p>
        </p:txBody>
      </p:sp>
      <p:sp>
        <p:nvSpPr>
          <p:cNvPr id="993" name="Rectangle 16"/>
          <p:cNvSpPr/>
          <p:nvPr/>
        </p:nvSpPr>
        <p:spPr>
          <a:xfrm>
            <a:off x="2374920" y="2205000"/>
            <a:ext cx="360360" cy="4083120"/>
          </a:xfrm>
          <a:prstGeom prst="rect">
            <a:avLst/>
          </a:prstGeom>
          <a:gradFill rotWithShape="0">
            <a:gsLst>
              <a:gs pos="0">
                <a:srgbClr val="009771"/>
              </a:gs>
              <a:gs pos="50000">
                <a:srgbClr val="00cc99"/>
              </a:gs>
              <a:gs pos="100000">
                <a:srgbClr val="009771"/>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94" name="Text Box 17"/>
          <p:cNvSpPr/>
          <p:nvPr/>
        </p:nvSpPr>
        <p:spPr>
          <a:xfrm>
            <a:off x="864360" y="189540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75 %</a:t>
            </a:r>
            <a:endParaRPr b="0" lang="en-US" sz="1400" strike="noStrike" u="none">
              <a:solidFill>
                <a:srgbClr val="ffff00"/>
              </a:solidFill>
              <a:effectLst/>
              <a:uFillTx/>
              <a:latin typeface="Times New Roman"/>
            </a:endParaRPr>
          </a:p>
        </p:txBody>
      </p:sp>
      <p:sp>
        <p:nvSpPr>
          <p:cNvPr id="995" name="Text Box 18"/>
          <p:cNvSpPr/>
          <p:nvPr/>
        </p:nvSpPr>
        <p:spPr>
          <a:xfrm flipV="1" rot="10849200">
            <a:off x="2303280" y="63936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2 min</a:t>
            </a:r>
            <a:endParaRPr b="0" lang="en-US" sz="1200" strike="noStrike" u="none">
              <a:solidFill>
                <a:srgbClr val="ffff00"/>
              </a:solidFill>
              <a:effectLst/>
              <a:uFillTx/>
              <a:latin typeface="Times New Roman"/>
            </a:endParaRPr>
          </a:p>
        </p:txBody>
      </p:sp>
      <p:sp>
        <p:nvSpPr>
          <p:cNvPr id="996" name="Rectangle 19"/>
          <p:cNvSpPr/>
          <p:nvPr/>
        </p:nvSpPr>
        <p:spPr>
          <a:xfrm>
            <a:off x="2735280" y="1557360"/>
            <a:ext cx="144360" cy="4751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97" name="Rectangle 20"/>
          <p:cNvSpPr/>
          <p:nvPr/>
        </p:nvSpPr>
        <p:spPr>
          <a:xfrm>
            <a:off x="2879640" y="2781360"/>
            <a:ext cx="18108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98" name="Rectangle 21"/>
          <p:cNvSpPr/>
          <p:nvPr/>
        </p:nvSpPr>
        <p:spPr>
          <a:xfrm>
            <a:off x="3025800" y="981000"/>
            <a:ext cx="144360" cy="5327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999" name="Rectangle 22"/>
          <p:cNvSpPr/>
          <p:nvPr/>
        </p:nvSpPr>
        <p:spPr>
          <a:xfrm>
            <a:off x="3170160" y="2781360"/>
            <a:ext cx="17784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0" name="Rectangle 23"/>
          <p:cNvSpPr/>
          <p:nvPr/>
        </p:nvSpPr>
        <p:spPr>
          <a:xfrm>
            <a:off x="3314880" y="1557360"/>
            <a:ext cx="144360" cy="4751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1" name="Rectangle 25"/>
          <p:cNvSpPr/>
          <p:nvPr/>
        </p:nvSpPr>
        <p:spPr>
          <a:xfrm>
            <a:off x="3602160" y="981000"/>
            <a:ext cx="144360" cy="5327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2" name="Rectangle 26"/>
          <p:cNvSpPr/>
          <p:nvPr/>
        </p:nvSpPr>
        <p:spPr>
          <a:xfrm>
            <a:off x="3743280" y="3213000"/>
            <a:ext cx="719280" cy="3095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3" name="Rectangle 27"/>
          <p:cNvSpPr/>
          <p:nvPr/>
        </p:nvSpPr>
        <p:spPr>
          <a:xfrm>
            <a:off x="446400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4" name="Rectangle 28"/>
          <p:cNvSpPr/>
          <p:nvPr/>
        </p:nvSpPr>
        <p:spPr>
          <a:xfrm>
            <a:off x="4572000" y="2781360"/>
            <a:ext cx="14436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5" name="Rectangle 29"/>
          <p:cNvSpPr/>
          <p:nvPr/>
        </p:nvSpPr>
        <p:spPr>
          <a:xfrm>
            <a:off x="475308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6" name="Rectangle 30"/>
          <p:cNvSpPr/>
          <p:nvPr/>
        </p:nvSpPr>
        <p:spPr>
          <a:xfrm>
            <a:off x="4932360" y="2781360"/>
            <a:ext cx="14436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7" name="Rectangle 31"/>
          <p:cNvSpPr/>
          <p:nvPr/>
        </p:nvSpPr>
        <p:spPr>
          <a:xfrm>
            <a:off x="504180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8" name="Rectangle 32"/>
          <p:cNvSpPr/>
          <p:nvPr/>
        </p:nvSpPr>
        <p:spPr>
          <a:xfrm>
            <a:off x="5148360" y="2781360"/>
            <a:ext cx="21564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09" name="Rectangle 33"/>
          <p:cNvSpPr/>
          <p:nvPr/>
        </p:nvSpPr>
        <p:spPr>
          <a:xfrm>
            <a:off x="532908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0" name="Rectangle 34"/>
          <p:cNvSpPr/>
          <p:nvPr/>
        </p:nvSpPr>
        <p:spPr>
          <a:xfrm>
            <a:off x="5472000" y="3213000"/>
            <a:ext cx="722520" cy="3095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1" name="Rectangle 35"/>
          <p:cNvSpPr/>
          <p:nvPr/>
        </p:nvSpPr>
        <p:spPr>
          <a:xfrm>
            <a:off x="619272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2" name="Rectangle 36"/>
          <p:cNvSpPr/>
          <p:nvPr/>
        </p:nvSpPr>
        <p:spPr>
          <a:xfrm>
            <a:off x="662292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3" name="Rectangle 37"/>
          <p:cNvSpPr/>
          <p:nvPr/>
        </p:nvSpPr>
        <p:spPr>
          <a:xfrm>
            <a:off x="8421840" y="3213000"/>
            <a:ext cx="722160" cy="3095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4" name="Line 39"/>
          <p:cNvSpPr/>
          <p:nvPr/>
        </p:nvSpPr>
        <p:spPr>
          <a:xfrm>
            <a:off x="898560" y="981000"/>
            <a:ext cx="817236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15" name="Rectangle 40"/>
          <p:cNvSpPr/>
          <p:nvPr/>
        </p:nvSpPr>
        <p:spPr>
          <a:xfrm>
            <a:off x="7846920" y="981000"/>
            <a:ext cx="144720" cy="5327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6" name="Rectangle 41"/>
          <p:cNvSpPr/>
          <p:nvPr/>
        </p:nvSpPr>
        <p:spPr>
          <a:xfrm>
            <a:off x="7991640" y="2781360"/>
            <a:ext cx="18072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7" name="Rectangle 42"/>
          <p:cNvSpPr/>
          <p:nvPr/>
        </p:nvSpPr>
        <p:spPr>
          <a:xfrm>
            <a:off x="8136000" y="1557360"/>
            <a:ext cx="144360" cy="4751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8" name="Rectangle 43"/>
          <p:cNvSpPr/>
          <p:nvPr/>
        </p:nvSpPr>
        <p:spPr>
          <a:xfrm>
            <a:off x="8280360" y="2781360"/>
            <a:ext cx="17928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19" name="Rectangle 44"/>
          <p:cNvSpPr/>
          <p:nvPr/>
        </p:nvSpPr>
        <p:spPr>
          <a:xfrm>
            <a:off x="7199280" y="3213000"/>
            <a:ext cx="649440" cy="309564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20" name="Text Box 45"/>
          <p:cNvSpPr/>
          <p:nvPr/>
        </p:nvSpPr>
        <p:spPr>
          <a:xfrm>
            <a:off x="1222200" y="4579920"/>
            <a:ext cx="1513080" cy="276840"/>
          </a:xfrm>
          <a:prstGeom prst="rect">
            <a:avLst/>
          </a:prstGeom>
          <a:solidFill>
            <a:srgbClr val="66ffff"/>
          </a:solidFill>
          <a:ln w="9360">
            <a:solidFill>
              <a:srgbClr val="99ffcc"/>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000000"/>
                </a:solidFill>
                <a:effectLst/>
                <a:uFillTx/>
                <a:latin typeface="Arial"/>
              </a:rPr>
              <a:t>ECHAUFFEMENT</a:t>
            </a:r>
            <a:endParaRPr b="0" lang="en-US" sz="1200" strike="noStrike" u="none">
              <a:solidFill>
                <a:srgbClr val="ffff00"/>
              </a:solidFill>
              <a:effectLst/>
              <a:uFillTx/>
              <a:latin typeface="Times New Roman"/>
            </a:endParaRPr>
          </a:p>
        </p:txBody>
      </p:sp>
      <p:sp>
        <p:nvSpPr>
          <p:cNvPr id="1021" name="Rectangle 47"/>
          <p:cNvSpPr/>
          <p:nvPr/>
        </p:nvSpPr>
        <p:spPr>
          <a:xfrm rot="16200000">
            <a:off x="2993760" y="4573080"/>
            <a:ext cx="2310840" cy="307440"/>
          </a:xfrm>
          <a:prstGeom prst="rect">
            <a:avLst/>
          </a:prstGeom>
          <a:solidFill>
            <a:srgbClr val="66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RECUPERATION ACTIVE</a:t>
            </a:r>
            <a:endParaRPr b="0" lang="en-US" sz="1400" strike="noStrike" u="none">
              <a:solidFill>
                <a:srgbClr val="ffff00"/>
              </a:solidFill>
              <a:effectLst/>
              <a:uFillTx/>
              <a:latin typeface="Times New Roman"/>
            </a:endParaRPr>
          </a:p>
        </p:txBody>
      </p:sp>
      <p:sp>
        <p:nvSpPr>
          <p:cNvPr id="1022" name="Rectangle 48"/>
          <p:cNvSpPr/>
          <p:nvPr/>
        </p:nvSpPr>
        <p:spPr>
          <a:xfrm>
            <a:off x="3421080" y="2781360"/>
            <a:ext cx="142920" cy="352728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23" name="Rectangle 49"/>
          <p:cNvSpPr/>
          <p:nvPr/>
        </p:nvSpPr>
        <p:spPr>
          <a:xfrm rot="16200000">
            <a:off x="4651200" y="4578840"/>
            <a:ext cx="2310840" cy="307440"/>
          </a:xfrm>
          <a:prstGeom prst="rect">
            <a:avLst/>
          </a:prstGeom>
          <a:solidFill>
            <a:srgbClr val="66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RECUPERATION ACTIVE</a:t>
            </a:r>
            <a:endParaRPr b="0" lang="en-US" sz="1400" strike="noStrike" u="none">
              <a:solidFill>
                <a:srgbClr val="ffff00"/>
              </a:solidFill>
              <a:effectLst/>
              <a:uFillTx/>
              <a:latin typeface="Times New Roman"/>
            </a:endParaRPr>
          </a:p>
        </p:txBody>
      </p:sp>
      <p:sp>
        <p:nvSpPr>
          <p:cNvPr id="1024" name="Text Box 50"/>
          <p:cNvSpPr/>
          <p:nvPr/>
        </p:nvSpPr>
        <p:spPr>
          <a:xfrm rot="16200000">
            <a:off x="7886160" y="4439160"/>
            <a:ext cx="1924200" cy="307440"/>
          </a:xfrm>
          <a:prstGeom prst="rect">
            <a:avLst/>
          </a:prstGeom>
          <a:solidFill>
            <a:srgbClr val="66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RETOUR AU CALME</a:t>
            </a:r>
            <a:endParaRPr b="0" lang="en-US" sz="1400" strike="noStrike" u="none">
              <a:solidFill>
                <a:srgbClr val="ffff00"/>
              </a:solidFill>
              <a:effectLst/>
              <a:uFillTx/>
              <a:latin typeface="Times New Roman"/>
            </a:endParaRPr>
          </a:p>
        </p:txBody>
      </p:sp>
      <p:sp>
        <p:nvSpPr>
          <p:cNvPr id="1025" name="Text Box 51"/>
          <p:cNvSpPr/>
          <p:nvPr/>
        </p:nvSpPr>
        <p:spPr>
          <a:xfrm>
            <a:off x="4750560" y="284040"/>
            <a:ext cx="755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105 %</a:t>
            </a:r>
            <a:endParaRPr b="0" lang="en-US" sz="1600" strike="noStrike" u="none">
              <a:solidFill>
                <a:srgbClr val="ffff00"/>
              </a:solidFill>
              <a:effectLst/>
              <a:uFillTx/>
              <a:latin typeface="Times New Roman"/>
            </a:endParaRPr>
          </a:p>
        </p:txBody>
      </p:sp>
      <p:sp>
        <p:nvSpPr>
          <p:cNvPr id="1026" name="Text Box 52"/>
          <p:cNvSpPr/>
          <p:nvPr/>
        </p:nvSpPr>
        <p:spPr>
          <a:xfrm>
            <a:off x="6158880" y="284040"/>
            <a:ext cx="755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105 %</a:t>
            </a:r>
            <a:endParaRPr b="0" lang="en-US" sz="1600" strike="noStrike" u="none">
              <a:solidFill>
                <a:srgbClr val="ffff00"/>
              </a:solidFill>
              <a:effectLst/>
              <a:uFillTx/>
              <a:latin typeface="Times New Roman"/>
            </a:endParaRPr>
          </a:p>
        </p:txBody>
      </p:sp>
      <p:sp>
        <p:nvSpPr>
          <p:cNvPr id="1027" name="Text Box 53"/>
          <p:cNvSpPr/>
          <p:nvPr/>
        </p:nvSpPr>
        <p:spPr>
          <a:xfrm>
            <a:off x="864360" y="129528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85 %</a:t>
            </a:r>
            <a:endParaRPr b="0" lang="en-US" sz="1400" strike="noStrike" u="none">
              <a:solidFill>
                <a:srgbClr val="ffff00"/>
              </a:solidFill>
              <a:effectLst/>
              <a:uFillTx/>
              <a:latin typeface="Times New Roman"/>
            </a:endParaRPr>
          </a:p>
        </p:txBody>
      </p:sp>
      <p:sp>
        <p:nvSpPr>
          <p:cNvPr id="1028" name="Text Box 54"/>
          <p:cNvSpPr/>
          <p:nvPr/>
        </p:nvSpPr>
        <p:spPr>
          <a:xfrm>
            <a:off x="864360" y="71928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95 %</a:t>
            </a:r>
            <a:endParaRPr b="0" lang="en-US" sz="1400" strike="noStrike" u="none">
              <a:solidFill>
                <a:srgbClr val="ffff00"/>
              </a:solidFill>
              <a:effectLst/>
              <a:uFillTx/>
              <a:latin typeface="Times New Roman"/>
            </a:endParaRPr>
          </a:p>
        </p:txBody>
      </p:sp>
      <p:sp>
        <p:nvSpPr>
          <p:cNvPr id="1029" name="Line 59"/>
          <p:cNvSpPr/>
          <p:nvPr/>
        </p:nvSpPr>
        <p:spPr>
          <a:xfrm>
            <a:off x="934920" y="278136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30" name="Line 60"/>
          <p:cNvSpPr/>
          <p:nvPr/>
        </p:nvSpPr>
        <p:spPr>
          <a:xfrm>
            <a:off x="934920" y="321300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31" name="Text Box 61"/>
          <p:cNvSpPr/>
          <p:nvPr/>
        </p:nvSpPr>
        <p:spPr>
          <a:xfrm>
            <a:off x="3780720" y="287964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55 %</a:t>
            </a:r>
            <a:endParaRPr b="0" lang="en-US" sz="1400" strike="noStrike" u="none">
              <a:solidFill>
                <a:srgbClr val="ffff00"/>
              </a:solidFill>
              <a:effectLst/>
              <a:uFillTx/>
              <a:latin typeface="Times New Roman"/>
            </a:endParaRPr>
          </a:p>
        </p:txBody>
      </p:sp>
      <p:sp>
        <p:nvSpPr>
          <p:cNvPr id="1032" name="Line 62"/>
          <p:cNvSpPr/>
          <p:nvPr/>
        </p:nvSpPr>
        <p:spPr>
          <a:xfrm>
            <a:off x="934920" y="155736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33" name="Text Box 64"/>
          <p:cNvSpPr/>
          <p:nvPr/>
        </p:nvSpPr>
        <p:spPr>
          <a:xfrm rot="16200000">
            <a:off x="2486160" y="4534200"/>
            <a:ext cx="1310400" cy="307440"/>
          </a:xfrm>
          <a:prstGeom prst="rect">
            <a:avLst/>
          </a:prstGeom>
          <a:solidFill>
            <a:srgbClr val="66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1 min – 1 min</a:t>
            </a:r>
            <a:endParaRPr b="0" lang="en-US" sz="1400" strike="noStrike" u="none">
              <a:solidFill>
                <a:srgbClr val="ffff00"/>
              </a:solidFill>
              <a:effectLst/>
              <a:uFillTx/>
              <a:latin typeface="Times New Roman"/>
            </a:endParaRPr>
          </a:p>
        </p:txBody>
      </p:sp>
      <p:sp>
        <p:nvSpPr>
          <p:cNvPr id="1034" name="Text Box 66"/>
          <p:cNvSpPr/>
          <p:nvPr/>
        </p:nvSpPr>
        <p:spPr>
          <a:xfrm rot="16200000">
            <a:off x="4214880" y="4505040"/>
            <a:ext cx="1310400" cy="307440"/>
          </a:xfrm>
          <a:prstGeom prst="rect">
            <a:avLst/>
          </a:prstGeom>
          <a:solidFill>
            <a:srgbClr val="66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1 min – 1 min</a:t>
            </a:r>
            <a:endParaRPr b="0" lang="en-US" sz="1400" strike="noStrike" u="none">
              <a:solidFill>
                <a:srgbClr val="ffff00"/>
              </a:solidFill>
              <a:effectLst/>
              <a:uFillTx/>
              <a:latin typeface="Times New Roman"/>
            </a:endParaRPr>
          </a:p>
        </p:txBody>
      </p:sp>
      <p:sp>
        <p:nvSpPr>
          <p:cNvPr id="1035" name="Rectangle 67"/>
          <p:cNvSpPr/>
          <p:nvPr/>
        </p:nvSpPr>
        <p:spPr>
          <a:xfrm rot="16200000">
            <a:off x="6270480" y="4578840"/>
            <a:ext cx="2310840" cy="307440"/>
          </a:xfrm>
          <a:prstGeom prst="rect">
            <a:avLst/>
          </a:prstGeom>
          <a:solidFill>
            <a:srgbClr val="66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RECUPERATION ACTIVE</a:t>
            </a:r>
            <a:endParaRPr b="0" lang="en-US" sz="1400" strike="noStrike" u="none">
              <a:solidFill>
                <a:srgbClr val="ffff00"/>
              </a:solidFill>
              <a:effectLst/>
              <a:uFillTx/>
              <a:latin typeface="Times New Roman"/>
            </a:endParaRPr>
          </a:p>
        </p:txBody>
      </p:sp>
      <p:sp>
        <p:nvSpPr>
          <p:cNvPr id="1036" name="Line 68"/>
          <p:cNvSpPr/>
          <p:nvPr/>
        </p:nvSpPr>
        <p:spPr>
          <a:xfrm>
            <a:off x="900000" y="220500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37" name="Text Box 69"/>
          <p:cNvSpPr/>
          <p:nvPr/>
        </p:nvSpPr>
        <p:spPr>
          <a:xfrm>
            <a:off x="1872360" y="220500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60 %</a:t>
            </a:r>
            <a:endParaRPr b="0" lang="en-US" sz="1400" strike="noStrike" u="none">
              <a:solidFill>
                <a:srgbClr val="ffff00"/>
              </a:solidFill>
              <a:effectLst/>
              <a:uFillTx/>
              <a:latin typeface="Times New Roman"/>
            </a:endParaRPr>
          </a:p>
        </p:txBody>
      </p:sp>
      <p:sp>
        <p:nvSpPr>
          <p:cNvPr id="1038" name="Text Box 70"/>
          <p:cNvSpPr/>
          <p:nvPr/>
        </p:nvSpPr>
        <p:spPr>
          <a:xfrm flipV="1" rot="10849200">
            <a:off x="3736080" y="6381000"/>
            <a:ext cx="5828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39" name="Text Box 71"/>
          <p:cNvSpPr/>
          <p:nvPr/>
        </p:nvSpPr>
        <p:spPr>
          <a:xfrm flipV="1" rot="10849200">
            <a:off x="5536800" y="63810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40" name="Text Box 72"/>
          <p:cNvSpPr/>
          <p:nvPr/>
        </p:nvSpPr>
        <p:spPr>
          <a:xfrm flipV="1" rot="10849200">
            <a:off x="8496000" y="63810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41" name="Text Box 73"/>
          <p:cNvSpPr/>
          <p:nvPr/>
        </p:nvSpPr>
        <p:spPr>
          <a:xfrm flipV="1" rot="10849200">
            <a:off x="6082560" y="6359760"/>
            <a:ext cx="13669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 1  3;   1   3    1</a:t>
            </a:r>
            <a:endParaRPr b="0" lang="en-US" sz="1200" strike="noStrike" u="none">
              <a:solidFill>
                <a:srgbClr val="ffff00"/>
              </a:solidFill>
              <a:effectLst/>
              <a:uFillTx/>
              <a:latin typeface="Times New Roman"/>
            </a:endParaRPr>
          </a:p>
        </p:txBody>
      </p:sp>
      <p:sp>
        <p:nvSpPr>
          <p:cNvPr id="1042" name="Rectangle 74"/>
          <p:cNvSpPr/>
          <p:nvPr/>
        </p:nvSpPr>
        <p:spPr>
          <a:xfrm>
            <a:off x="7056360" y="692280"/>
            <a:ext cx="142920" cy="5616360"/>
          </a:xfrm>
          <a:prstGeom prst="rect">
            <a:avLst/>
          </a:prstGeom>
          <a:gradFill rotWithShape="0">
            <a:gsLst>
              <a:gs pos="0">
                <a:srgbClr val="00a37a"/>
              </a:gs>
              <a:gs pos="50000">
                <a:srgbClr val="00cc99"/>
              </a:gs>
              <a:gs pos="100000">
                <a:srgbClr val="00a37a"/>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43" name="Text Box 75"/>
          <p:cNvSpPr/>
          <p:nvPr/>
        </p:nvSpPr>
        <p:spPr>
          <a:xfrm flipV="1" rot="10849200">
            <a:off x="7198920" y="63810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44" name="Text Box 76"/>
          <p:cNvSpPr/>
          <p:nvPr/>
        </p:nvSpPr>
        <p:spPr>
          <a:xfrm rot="16200000">
            <a:off x="7490160" y="4434120"/>
            <a:ext cx="1310400" cy="307440"/>
          </a:xfrm>
          <a:prstGeom prst="rect">
            <a:avLst/>
          </a:prstGeom>
          <a:solidFill>
            <a:srgbClr val="66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1 min – 1 min</a:t>
            </a:r>
            <a:endParaRPr b="0" lang="en-US" sz="1400" strike="noStrike" u="none">
              <a:solidFill>
                <a:srgbClr val="ffff00"/>
              </a:solidFill>
              <a:effectLst/>
              <a:uFillTx/>
              <a:latin typeface="Times New Roman"/>
            </a:endParaRPr>
          </a:p>
        </p:txBody>
      </p:sp>
      <p:sp>
        <p:nvSpPr>
          <p:cNvPr id="1045" name="Text Box 77"/>
          <p:cNvSpPr/>
          <p:nvPr/>
        </p:nvSpPr>
        <p:spPr>
          <a:xfrm>
            <a:off x="120960" y="111240"/>
            <a:ext cx="1920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VAM : 18 km/h</a:t>
            </a:r>
            <a:endParaRPr b="0" lang="en-US" sz="2000" strike="noStrike" u="none">
              <a:solidFill>
                <a:srgbClr val="ffff00"/>
              </a:solidFill>
              <a:effectLst/>
              <a:uFillTx/>
              <a:latin typeface="Times New Roman"/>
            </a:endParaRPr>
          </a:p>
        </p:txBody>
      </p:sp>
      <p:sp>
        <p:nvSpPr>
          <p:cNvPr id="1046" name="Text Box 78"/>
          <p:cNvSpPr/>
          <p:nvPr/>
        </p:nvSpPr>
        <p:spPr>
          <a:xfrm>
            <a:off x="2247480" y="-7920"/>
            <a:ext cx="67384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Séance à objectif unique : développement de la capacité aérobie</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 name="Rectangle 4"/>
          <p:cNvSpPr/>
          <p:nvPr/>
        </p:nvSpPr>
        <p:spPr>
          <a:xfrm>
            <a:off x="697680" y="333360"/>
            <a:ext cx="578952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Arial"/>
              </a:rPr>
              <a:t> Les séances à objectifs multiples</a:t>
            </a:r>
            <a:endParaRPr b="0" lang="en-US" sz="2800" strike="noStrike" u="none">
              <a:solidFill>
                <a:srgbClr val="ffff00"/>
              </a:solidFill>
              <a:effectLst/>
              <a:uFillTx/>
              <a:latin typeface="Times New Roman"/>
            </a:endParaRPr>
          </a:p>
        </p:txBody>
      </p:sp>
      <p:sp>
        <p:nvSpPr>
          <p:cNvPr id="1048" name="Text Box 5"/>
          <p:cNvSpPr/>
          <p:nvPr/>
        </p:nvSpPr>
        <p:spPr>
          <a:xfrm>
            <a:off x="218880" y="1382760"/>
            <a:ext cx="874440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Ont une influence moins profonde mais plus généralisée sur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l’organisme.</a:t>
            </a:r>
            <a:endParaRPr b="0" lang="en-US" sz="2400" strike="noStrike" u="none">
              <a:solidFill>
                <a:srgbClr val="ffff00"/>
              </a:solidFill>
              <a:effectLst/>
              <a:uFillTx/>
              <a:latin typeface="Times New Roman"/>
            </a:endParaRPr>
          </a:p>
        </p:txBody>
      </p:sp>
      <p:sp>
        <p:nvSpPr>
          <p:cNvPr id="1049" name="Text Box 6"/>
          <p:cNvSpPr/>
          <p:nvPr/>
        </p:nvSpPr>
        <p:spPr>
          <a:xfrm>
            <a:off x="253440" y="2781360"/>
            <a:ext cx="859248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Recherchent un développement harmonieux de l’ensemble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des qualités en même temps </a:t>
            </a:r>
            <a:r>
              <a:rPr b="0" i="1" lang="fr-FR" sz="2400" strike="noStrike" u="none">
                <a:solidFill>
                  <a:srgbClr val="ffff00"/>
                </a:solidFill>
                <a:effectLst/>
                <a:uFillTx/>
                <a:latin typeface="Arial"/>
              </a:rPr>
              <a:t>mais ne peuvent pas arriver au</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Arial"/>
              </a:rPr>
              <a:t>développement maximal d’une d’entre elles.</a:t>
            </a:r>
            <a:endParaRPr b="0" lang="en-US" sz="2400" strike="noStrike" u="none">
              <a:solidFill>
                <a:srgbClr val="ffff00"/>
              </a:solidFill>
              <a:effectLst/>
              <a:uFillTx/>
              <a:latin typeface="Times New Roman"/>
            </a:endParaRPr>
          </a:p>
        </p:txBody>
      </p:sp>
      <p:sp>
        <p:nvSpPr>
          <p:cNvPr id="1050" name="Text Box 9"/>
          <p:cNvSpPr/>
          <p:nvPr/>
        </p:nvSpPr>
        <p:spPr>
          <a:xfrm>
            <a:off x="250560" y="4724280"/>
            <a:ext cx="889740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Ce type de séance permet de maintenir un bon état stable de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condition physique générale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81" dur="indefinite" restart="never" nodeType="tmRoot">
          <p:childTnLst>
            <p:seq>
              <p:cTn id="1782" dur="indefinite" nodeType="mainSeq">
                <p:childTnLst>
                  <p:par>
                    <p:cTn id="1783" nodeType="clickEffect" fill="hold">
                      <p:stCondLst>
                        <p:cond delay="indefinite"/>
                      </p:stCondLst>
                      <p:childTnLst>
                        <p:par>
                          <p:cTn id="1784" nodeType="withEffect" fill="hold">
                            <p:stCondLst>
                              <p:cond delay="0"/>
                            </p:stCondLst>
                            <p:childTnLst>
                              <p:par>
                                <p:cTn id="1785" nodeType="clickEffect" fill="hold" presetClass="entr" presetID="1">
                                  <p:stCondLst>
                                    <p:cond delay="0"/>
                                  </p:stCondLst>
                                  <p:childTnLst>
                                    <p:set>
                                      <p:cBhvr>
                                        <p:cTn id="1786" dur="1" fill="hold">
                                          <p:stCondLst>
                                            <p:cond delay="0"/>
                                          </p:stCondLst>
                                        </p:cTn>
                                        <p:tgtEl>
                                          <p:spTgt spid="1048"/>
                                        </p:tgtEl>
                                        <p:attrNameLst>
                                          <p:attrName>style.visibility</p:attrName>
                                        </p:attrNameLst>
                                      </p:cBhvr>
                                      <p:to>
                                        <p:strVal val="visible"/>
                                      </p:to>
                                    </p:set>
                                  </p:childTnLst>
                                </p:cTn>
                              </p:par>
                            </p:childTnLst>
                          </p:cTn>
                        </p:par>
                      </p:childTnLst>
                    </p:cTn>
                  </p:par>
                  <p:par>
                    <p:cTn id="1787" nodeType="clickEffect" fill="hold">
                      <p:stCondLst>
                        <p:cond delay="indefinite"/>
                      </p:stCondLst>
                      <p:childTnLst>
                        <p:par>
                          <p:cTn id="1788" nodeType="withEffect" fill="hold">
                            <p:stCondLst>
                              <p:cond delay="0"/>
                            </p:stCondLst>
                            <p:childTnLst>
                              <p:par>
                                <p:cTn id="1789" nodeType="clickEffect" fill="hold" presetClass="entr" presetID="1">
                                  <p:stCondLst>
                                    <p:cond delay="0"/>
                                  </p:stCondLst>
                                  <p:childTnLst>
                                    <p:set>
                                      <p:cBhvr>
                                        <p:cTn id="1790" dur="1" fill="hold">
                                          <p:stCondLst>
                                            <p:cond delay="0"/>
                                          </p:stCondLst>
                                        </p:cTn>
                                        <p:tgtEl>
                                          <p:spTgt spid="1049"/>
                                        </p:tgtEl>
                                        <p:attrNameLst>
                                          <p:attrName>style.visibility</p:attrName>
                                        </p:attrNameLst>
                                      </p:cBhvr>
                                      <p:to>
                                        <p:strVal val="visible"/>
                                      </p:to>
                                    </p:set>
                                  </p:childTnLst>
                                </p:cTn>
                              </p:par>
                            </p:childTnLst>
                          </p:cTn>
                        </p:par>
                      </p:childTnLst>
                    </p:cTn>
                  </p:par>
                  <p:par>
                    <p:cTn id="1791" nodeType="clickEffect" fill="hold">
                      <p:stCondLst>
                        <p:cond delay="indefinite"/>
                      </p:stCondLst>
                      <p:childTnLst>
                        <p:par>
                          <p:cTn id="1792" nodeType="withEffect" fill="hold">
                            <p:stCondLst>
                              <p:cond delay="0"/>
                            </p:stCondLst>
                            <p:childTnLst>
                              <p:par>
                                <p:cTn id="1793" nodeType="clickEffect" fill="hold" presetClass="entr" presetID="1">
                                  <p:stCondLst>
                                    <p:cond delay="0"/>
                                  </p:stCondLst>
                                  <p:childTnLst>
                                    <p:set>
                                      <p:cBhvr>
                                        <p:cTn id="1794"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Rectangle 4"/>
          <p:cNvSpPr/>
          <p:nvPr/>
        </p:nvSpPr>
        <p:spPr>
          <a:xfrm>
            <a:off x="699480" y="333360"/>
            <a:ext cx="687492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Arial"/>
              </a:rPr>
              <a:t> Les séances à objectifs multiples (suite)</a:t>
            </a:r>
            <a:endParaRPr b="0" lang="en-US" sz="2800" strike="noStrike" u="none">
              <a:solidFill>
                <a:srgbClr val="ffff00"/>
              </a:solidFill>
              <a:effectLst/>
              <a:uFillTx/>
              <a:latin typeface="Times New Roman"/>
            </a:endParaRPr>
          </a:p>
        </p:txBody>
      </p:sp>
      <p:sp>
        <p:nvSpPr>
          <p:cNvPr id="1052" name="Text Box 6"/>
          <p:cNvSpPr/>
          <p:nvPr/>
        </p:nvSpPr>
        <p:spPr>
          <a:xfrm>
            <a:off x="-17640" y="1628640"/>
            <a:ext cx="911700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Ces séances doivent être privilégiées surtout dans la formation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des jeunes footballeurs en devenir.</a:t>
            </a:r>
            <a:endParaRPr b="0" lang="en-US" sz="2400" strike="noStrike" u="none">
              <a:solidFill>
                <a:srgbClr val="ffff00"/>
              </a:solidFill>
              <a:effectLst/>
              <a:uFillTx/>
              <a:latin typeface="Times New Roman"/>
            </a:endParaRPr>
          </a:p>
        </p:txBody>
      </p:sp>
      <p:sp>
        <p:nvSpPr>
          <p:cNvPr id="1053" name="Text Box 7"/>
          <p:cNvSpPr/>
          <p:nvPr/>
        </p:nvSpPr>
        <p:spPr>
          <a:xfrm>
            <a:off x="22320" y="3573360"/>
            <a:ext cx="9036000" cy="2288520"/>
          </a:xfrm>
          <a:prstGeom prst="rect">
            <a:avLst/>
          </a:prstGeom>
          <a:noFill/>
          <a:ln w="0">
            <a:noFill/>
          </a:ln>
        </p:spPr>
        <p:style>
          <a:lnRef idx="0"/>
          <a:fillRef idx="0"/>
          <a:effectRef idx="0"/>
          <a:fontRef idx="minor"/>
        </p:style>
        <p:txBody>
          <a:bodyPr lIns="90000" rIns="90000" tIns="46800" bIns="46800" anchor="t">
            <a:spAutoFit/>
          </a:bodyPr>
          <a:p>
            <a:pPr>
              <a:lnSpc>
                <a:spcPct val="15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Elles peuvent être utilisées aussi au cours de la saison,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notamment en sports collectifs, lorsque les différentes capacités requises par la performance ont déjà fait l’objet d’une période d’entraînement spécifique.   </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795" dur="indefinite" restart="never" nodeType="tmRoot">
          <p:childTnLst>
            <p:seq>
              <p:cTn id="1796" dur="indefinite" nodeType="mainSeq">
                <p:childTnLst>
                  <p:par>
                    <p:cTn id="1797" nodeType="clickEffect" fill="hold">
                      <p:stCondLst>
                        <p:cond delay="indefinite"/>
                      </p:stCondLst>
                      <p:childTnLst>
                        <p:par>
                          <p:cTn id="1798" nodeType="withEffect" fill="hold">
                            <p:stCondLst>
                              <p:cond delay="0"/>
                            </p:stCondLst>
                            <p:childTnLst>
                              <p:par>
                                <p:cTn id="1799" nodeType="clickEffect" fill="hold" presetClass="entr" presetID="1">
                                  <p:stCondLst>
                                    <p:cond delay="0"/>
                                  </p:stCondLst>
                                  <p:childTnLst>
                                    <p:set>
                                      <p:cBhvr>
                                        <p:cTn id="1800" dur="1" fill="hold">
                                          <p:stCondLst>
                                            <p:cond delay="0"/>
                                          </p:stCondLst>
                                        </p:cTn>
                                        <p:tgtEl>
                                          <p:spTgt spid="1052"/>
                                        </p:tgtEl>
                                        <p:attrNameLst>
                                          <p:attrName>style.visibility</p:attrName>
                                        </p:attrNameLst>
                                      </p:cBhvr>
                                      <p:to>
                                        <p:strVal val="visible"/>
                                      </p:to>
                                    </p:set>
                                  </p:childTnLst>
                                </p:cTn>
                              </p:par>
                            </p:childTnLst>
                          </p:cTn>
                        </p:par>
                      </p:childTnLst>
                    </p:cTn>
                  </p:par>
                  <p:par>
                    <p:cTn id="1801" nodeType="clickEffect" fill="hold">
                      <p:stCondLst>
                        <p:cond delay="indefinite"/>
                      </p:stCondLst>
                      <p:childTnLst>
                        <p:par>
                          <p:cTn id="1802" nodeType="withEffect" fill="hold">
                            <p:stCondLst>
                              <p:cond delay="0"/>
                            </p:stCondLst>
                            <p:childTnLst>
                              <p:par>
                                <p:cTn id="1803" nodeType="clickEffect" fill="hold" presetClass="entr" presetID="1">
                                  <p:stCondLst>
                                    <p:cond delay="0"/>
                                  </p:stCondLst>
                                  <p:childTnLst>
                                    <p:set>
                                      <p:cBhvr>
                                        <p:cTn id="1804" dur="1" fill="hold">
                                          <p:stCondLst>
                                            <p:cond delay="0"/>
                                          </p:stCondLst>
                                        </p:cTn>
                                        <p:tgtEl>
                                          <p:spTgt spid="10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Line 4"/>
          <p:cNvSpPr/>
          <p:nvPr/>
        </p:nvSpPr>
        <p:spPr>
          <a:xfrm>
            <a:off x="900000" y="765000"/>
            <a:ext cx="0" cy="554364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55" name="Line 5"/>
          <p:cNvSpPr/>
          <p:nvPr/>
        </p:nvSpPr>
        <p:spPr>
          <a:xfrm>
            <a:off x="900000" y="6308640"/>
            <a:ext cx="8136000" cy="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56" name="Text Box 6"/>
          <p:cNvSpPr/>
          <p:nvPr/>
        </p:nvSpPr>
        <p:spPr>
          <a:xfrm>
            <a:off x="398160" y="549360"/>
            <a:ext cx="575280" cy="61603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5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18</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4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14,4</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3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10,8</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2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7,2</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1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Arial"/>
              </a:rPr>
              <a:t>3,6</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0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057" name="Text Box 7"/>
          <p:cNvSpPr/>
          <p:nvPr/>
        </p:nvSpPr>
        <p:spPr>
          <a:xfrm rot="16200000">
            <a:off x="-1486800" y="3366360"/>
            <a:ext cx="374796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Vitesse de course (m/s et km/h)</a:t>
            </a:r>
            <a:endParaRPr b="0" lang="en-US" sz="2000" strike="noStrike" u="none">
              <a:solidFill>
                <a:srgbClr val="ffff00"/>
              </a:solidFill>
              <a:effectLst/>
              <a:uFillTx/>
              <a:latin typeface="Times New Roman"/>
            </a:endParaRPr>
          </a:p>
        </p:txBody>
      </p:sp>
      <p:sp>
        <p:nvSpPr>
          <p:cNvPr id="1058" name="Rectangle 8"/>
          <p:cNvSpPr/>
          <p:nvPr/>
        </p:nvSpPr>
        <p:spPr>
          <a:xfrm>
            <a:off x="1185840" y="2781360"/>
            <a:ext cx="757440" cy="3527280"/>
          </a:xfrm>
          <a:prstGeom prst="rect">
            <a:avLst/>
          </a:prstGeom>
          <a:gradFill rotWithShape="0">
            <a:gsLst>
              <a:gs pos="0">
                <a:srgbClr val="009771"/>
              </a:gs>
              <a:gs pos="50000">
                <a:srgbClr val="00cc99"/>
              </a:gs>
              <a:gs pos="100000">
                <a:srgbClr val="009771"/>
              </a:gs>
            </a:gsLst>
            <a:lin ang="0"/>
          </a:gra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59" name="Rectangle 9"/>
          <p:cNvSpPr/>
          <p:nvPr/>
        </p:nvSpPr>
        <p:spPr>
          <a:xfrm>
            <a:off x="1943280" y="2492280"/>
            <a:ext cx="468000" cy="3795840"/>
          </a:xfrm>
          <a:prstGeom prst="rect">
            <a:avLst/>
          </a:prstGeom>
          <a:gradFill rotWithShape="0">
            <a:gsLst>
              <a:gs pos="0">
                <a:srgbClr val="009771"/>
              </a:gs>
              <a:gs pos="50000">
                <a:srgbClr val="00cc99"/>
              </a:gs>
              <a:gs pos="100000">
                <a:srgbClr val="009771"/>
              </a:gs>
            </a:gsLst>
            <a:lin ang="0"/>
          </a:gra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60" name="Text Box 10"/>
          <p:cNvSpPr/>
          <p:nvPr/>
        </p:nvSpPr>
        <p:spPr>
          <a:xfrm>
            <a:off x="864360" y="247176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65 %</a:t>
            </a:r>
            <a:endParaRPr b="0" lang="en-US" sz="1400" strike="noStrike" u="none">
              <a:solidFill>
                <a:srgbClr val="ffff00"/>
              </a:solidFill>
              <a:effectLst/>
              <a:uFillTx/>
              <a:latin typeface="Times New Roman"/>
            </a:endParaRPr>
          </a:p>
        </p:txBody>
      </p:sp>
      <p:sp>
        <p:nvSpPr>
          <p:cNvPr id="1061" name="Text Box 11"/>
          <p:cNvSpPr/>
          <p:nvPr/>
        </p:nvSpPr>
        <p:spPr>
          <a:xfrm>
            <a:off x="2269440" y="2133720"/>
            <a:ext cx="642600" cy="337680"/>
          </a:xfrm>
          <a:prstGeom prst="rect">
            <a:avLst/>
          </a:prstGeom>
          <a:no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70 %</a:t>
            </a:r>
            <a:endParaRPr b="0" lang="en-US" sz="1600" strike="noStrike" u="none">
              <a:solidFill>
                <a:srgbClr val="ffff00"/>
              </a:solidFill>
              <a:effectLst/>
              <a:uFillTx/>
              <a:latin typeface="Times New Roman"/>
            </a:endParaRPr>
          </a:p>
        </p:txBody>
      </p:sp>
      <p:sp>
        <p:nvSpPr>
          <p:cNvPr id="1062" name="Text Box 12"/>
          <p:cNvSpPr/>
          <p:nvPr/>
        </p:nvSpPr>
        <p:spPr>
          <a:xfrm>
            <a:off x="1224000" y="6381720"/>
            <a:ext cx="53640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6min</a:t>
            </a:r>
            <a:endParaRPr b="0" lang="en-US" sz="1200" strike="noStrike" u="none">
              <a:solidFill>
                <a:srgbClr val="ffff00"/>
              </a:solidFill>
              <a:effectLst/>
              <a:uFillTx/>
              <a:latin typeface="Times New Roman"/>
            </a:endParaRPr>
          </a:p>
        </p:txBody>
      </p:sp>
      <p:sp>
        <p:nvSpPr>
          <p:cNvPr id="1063" name="Text Box 13"/>
          <p:cNvSpPr/>
          <p:nvPr/>
        </p:nvSpPr>
        <p:spPr>
          <a:xfrm>
            <a:off x="1800360" y="6381720"/>
            <a:ext cx="57888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4 min</a:t>
            </a:r>
            <a:endParaRPr b="0" lang="en-US" sz="1200" strike="noStrike" u="none">
              <a:solidFill>
                <a:srgbClr val="ffff00"/>
              </a:solidFill>
              <a:effectLst/>
              <a:uFillTx/>
              <a:latin typeface="Times New Roman"/>
            </a:endParaRPr>
          </a:p>
        </p:txBody>
      </p:sp>
      <p:sp>
        <p:nvSpPr>
          <p:cNvPr id="1064" name="Rectangle 14"/>
          <p:cNvSpPr/>
          <p:nvPr/>
        </p:nvSpPr>
        <p:spPr>
          <a:xfrm>
            <a:off x="2374920" y="2205000"/>
            <a:ext cx="360360" cy="4083120"/>
          </a:xfrm>
          <a:prstGeom prst="rect">
            <a:avLst/>
          </a:prstGeom>
          <a:gradFill rotWithShape="0">
            <a:gsLst>
              <a:gs pos="0">
                <a:srgbClr val="009771"/>
              </a:gs>
              <a:gs pos="50000">
                <a:srgbClr val="00cc99"/>
              </a:gs>
              <a:gs pos="100000">
                <a:srgbClr val="009771"/>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65" name="Text Box 15"/>
          <p:cNvSpPr/>
          <p:nvPr/>
        </p:nvSpPr>
        <p:spPr>
          <a:xfrm>
            <a:off x="864360" y="189540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75 %</a:t>
            </a:r>
            <a:endParaRPr b="0" lang="en-US" sz="1400" strike="noStrike" u="none">
              <a:solidFill>
                <a:srgbClr val="ffff00"/>
              </a:solidFill>
              <a:effectLst/>
              <a:uFillTx/>
              <a:latin typeface="Times New Roman"/>
            </a:endParaRPr>
          </a:p>
        </p:txBody>
      </p:sp>
      <p:sp>
        <p:nvSpPr>
          <p:cNvPr id="1066" name="Text Box 16"/>
          <p:cNvSpPr/>
          <p:nvPr/>
        </p:nvSpPr>
        <p:spPr>
          <a:xfrm flipV="1" rot="10849200">
            <a:off x="2303280" y="63936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2 min</a:t>
            </a:r>
            <a:endParaRPr b="0" lang="en-US" sz="1200" strike="noStrike" u="none">
              <a:solidFill>
                <a:srgbClr val="ffff00"/>
              </a:solidFill>
              <a:effectLst/>
              <a:uFillTx/>
              <a:latin typeface="Times New Roman"/>
            </a:endParaRPr>
          </a:p>
        </p:txBody>
      </p:sp>
      <p:sp>
        <p:nvSpPr>
          <p:cNvPr id="1067" name="Rectangle 17"/>
          <p:cNvSpPr/>
          <p:nvPr/>
        </p:nvSpPr>
        <p:spPr>
          <a:xfrm>
            <a:off x="2735280" y="1557360"/>
            <a:ext cx="144360" cy="475128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68" name="Rectangle 18"/>
          <p:cNvSpPr/>
          <p:nvPr/>
        </p:nvSpPr>
        <p:spPr>
          <a:xfrm>
            <a:off x="2879640" y="2781360"/>
            <a:ext cx="181080" cy="352728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69" name="Rectangle 19"/>
          <p:cNvSpPr/>
          <p:nvPr/>
        </p:nvSpPr>
        <p:spPr>
          <a:xfrm>
            <a:off x="3025800" y="981000"/>
            <a:ext cx="144360" cy="532764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0" name="Rectangle 20"/>
          <p:cNvSpPr/>
          <p:nvPr/>
        </p:nvSpPr>
        <p:spPr>
          <a:xfrm>
            <a:off x="3170160" y="2781360"/>
            <a:ext cx="177840" cy="352728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1" name="Rectangle 21"/>
          <p:cNvSpPr/>
          <p:nvPr/>
        </p:nvSpPr>
        <p:spPr>
          <a:xfrm>
            <a:off x="3314880" y="1557360"/>
            <a:ext cx="144360" cy="475128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2" name="Rectangle 22"/>
          <p:cNvSpPr/>
          <p:nvPr/>
        </p:nvSpPr>
        <p:spPr>
          <a:xfrm>
            <a:off x="3602160" y="981000"/>
            <a:ext cx="144360" cy="532764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3" name="Rectangle 23"/>
          <p:cNvSpPr/>
          <p:nvPr/>
        </p:nvSpPr>
        <p:spPr>
          <a:xfrm>
            <a:off x="3743280" y="3213000"/>
            <a:ext cx="719280" cy="309564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4" name="Rectangle 34"/>
          <p:cNvSpPr/>
          <p:nvPr/>
        </p:nvSpPr>
        <p:spPr>
          <a:xfrm>
            <a:off x="8421840" y="3213000"/>
            <a:ext cx="722160" cy="309564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5" name="Line 35"/>
          <p:cNvSpPr/>
          <p:nvPr/>
        </p:nvSpPr>
        <p:spPr>
          <a:xfrm>
            <a:off x="898560" y="981000"/>
            <a:ext cx="817236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76" name="Text Box 41"/>
          <p:cNvSpPr/>
          <p:nvPr/>
        </p:nvSpPr>
        <p:spPr>
          <a:xfrm>
            <a:off x="1222200" y="4579920"/>
            <a:ext cx="1513080" cy="276840"/>
          </a:xfrm>
          <a:prstGeom prst="rect">
            <a:avLst/>
          </a:prstGeom>
          <a:gradFill rotWithShape="0">
            <a:gsLst>
              <a:gs pos="0">
                <a:srgbClr val="43a8a8"/>
              </a:gs>
              <a:gs pos="50000">
                <a:srgbClr val="66ffff"/>
              </a:gs>
              <a:gs pos="100000">
                <a:srgbClr val="43a8a8"/>
              </a:gs>
            </a:gsLst>
            <a:lin ang="0"/>
          </a:grad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000000"/>
                </a:solidFill>
                <a:effectLst/>
                <a:uFillTx/>
                <a:latin typeface="Arial"/>
              </a:rPr>
              <a:t>ECHAUFFEMENT</a:t>
            </a:r>
            <a:endParaRPr b="0" lang="en-US" sz="1200" strike="noStrike" u="none">
              <a:solidFill>
                <a:srgbClr val="ffff00"/>
              </a:solidFill>
              <a:effectLst/>
              <a:uFillTx/>
              <a:latin typeface="Times New Roman"/>
            </a:endParaRPr>
          </a:p>
        </p:txBody>
      </p:sp>
      <p:sp>
        <p:nvSpPr>
          <p:cNvPr id="1077" name="Rectangle 42"/>
          <p:cNvSpPr/>
          <p:nvPr/>
        </p:nvSpPr>
        <p:spPr>
          <a:xfrm rot="16200000">
            <a:off x="2993760" y="4573080"/>
            <a:ext cx="2310840" cy="307440"/>
          </a:xfrm>
          <a:prstGeom prst="rect">
            <a:avLst/>
          </a:prstGeom>
          <a:gradFill rotWithShape="0">
            <a:gsLst>
              <a:gs pos="0">
                <a:srgbClr val="54d2d2"/>
              </a:gs>
              <a:gs pos="50000">
                <a:srgbClr val="66ffff"/>
              </a:gs>
              <a:gs pos="100000">
                <a:srgbClr val="54d2d2"/>
              </a:gs>
            </a:gsLst>
            <a:lin ang="10800000"/>
          </a:gra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RECUPERATION ACTIVE</a:t>
            </a:r>
            <a:endParaRPr b="0" lang="en-US" sz="1400" strike="noStrike" u="none">
              <a:solidFill>
                <a:srgbClr val="ffff00"/>
              </a:solidFill>
              <a:effectLst/>
              <a:uFillTx/>
              <a:latin typeface="Times New Roman"/>
            </a:endParaRPr>
          </a:p>
        </p:txBody>
      </p:sp>
      <p:sp>
        <p:nvSpPr>
          <p:cNvPr id="1078" name="Rectangle 43"/>
          <p:cNvSpPr/>
          <p:nvPr/>
        </p:nvSpPr>
        <p:spPr>
          <a:xfrm>
            <a:off x="3419640" y="2781360"/>
            <a:ext cx="215640" cy="352728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79" name="Text Box 45"/>
          <p:cNvSpPr/>
          <p:nvPr/>
        </p:nvSpPr>
        <p:spPr>
          <a:xfrm rot="16200000">
            <a:off x="7886160" y="4439160"/>
            <a:ext cx="1924200" cy="307440"/>
          </a:xfrm>
          <a:prstGeom prst="rect">
            <a:avLst/>
          </a:prstGeom>
          <a:gradFill rotWithShape="0">
            <a:gsLst>
              <a:gs pos="0">
                <a:srgbClr val="4ec4c4"/>
              </a:gs>
              <a:gs pos="50000">
                <a:srgbClr val="66ffff"/>
              </a:gs>
              <a:gs pos="100000">
                <a:srgbClr val="4ec4c4"/>
              </a:gs>
            </a:gsLst>
            <a:lin ang="10800000"/>
          </a:gra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RETOUR AU CALME</a:t>
            </a:r>
            <a:endParaRPr b="0" lang="en-US" sz="1400" strike="noStrike" u="none">
              <a:solidFill>
                <a:srgbClr val="ffff00"/>
              </a:solidFill>
              <a:effectLst/>
              <a:uFillTx/>
              <a:latin typeface="Times New Roman"/>
            </a:endParaRPr>
          </a:p>
        </p:txBody>
      </p:sp>
      <p:sp>
        <p:nvSpPr>
          <p:cNvPr id="1080" name="Text Box 48"/>
          <p:cNvSpPr/>
          <p:nvPr/>
        </p:nvSpPr>
        <p:spPr>
          <a:xfrm>
            <a:off x="864360" y="129528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85 %</a:t>
            </a:r>
            <a:endParaRPr b="0" lang="en-US" sz="1400" strike="noStrike" u="none">
              <a:solidFill>
                <a:srgbClr val="ffff00"/>
              </a:solidFill>
              <a:effectLst/>
              <a:uFillTx/>
              <a:latin typeface="Times New Roman"/>
            </a:endParaRPr>
          </a:p>
        </p:txBody>
      </p:sp>
      <p:sp>
        <p:nvSpPr>
          <p:cNvPr id="1081" name="Text Box 49"/>
          <p:cNvSpPr/>
          <p:nvPr/>
        </p:nvSpPr>
        <p:spPr>
          <a:xfrm>
            <a:off x="864360" y="719280"/>
            <a:ext cx="5871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95 %</a:t>
            </a:r>
            <a:endParaRPr b="0" lang="en-US" sz="1400" strike="noStrike" u="none">
              <a:solidFill>
                <a:srgbClr val="ffff00"/>
              </a:solidFill>
              <a:effectLst/>
              <a:uFillTx/>
              <a:latin typeface="Times New Roman"/>
            </a:endParaRPr>
          </a:p>
        </p:txBody>
      </p:sp>
      <p:sp>
        <p:nvSpPr>
          <p:cNvPr id="1082" name="Line 50"/>
          <p:cNvSpPr/>
          <p:nvPr/>
        </p:nvSpPr>
        <p:spPr>
          <a:xfrm>
            <a:off x="934920" y="278136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83" name="Line 51"/>
          <p:cNvSpPr/>
          <p:nvPr/>
        </p:nvSpPr>
        <p:spPr>
          <a:xfrm>
            <a:off x="934920" y="321300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84" name="Text Box 52"/>
          <p:cNvSpPr/>
          <p:nvPr/>
        </p:nvSpPr>
        <p:spPr>
          <a:xfrm>
            <a:off x="3780720" y="2879640"/>
            <a:ext cx="587160" cy="307440"/>
          </a:xfrm>
          <a:prstGeom prst="rect">
            <a:avLst/>
          </a:prstGeom>
          <a:no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55 %</a:t>
            </a:r>
            <a:endParaRPr b="0" lang="en-US" sz="1400" strike="noStrike" u="none">
              <a:solidFill>
                <a:srgbClr val="ffff00"/>
              </a:solidFill>
              <a:effectLst/>
              <a:uFillTx/>
              <a:latin typeface="Times New Roman"/>
            </a:endParaRPr>
          </a:p>
        </p:txBody>
      </p:sp>
      <p:sp>
        <p:nvSpPr>
          <p:cNvPr id="1085" name="Line 53"/>
          <p:cNvSpPr/>
          <p:nvPr/>
        </p:nvSpPr>
        <p:spPr>
          <a:xfrm>
            <a:off x="934920" y="155736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86" name="Text Box 54"/>
          <p:cNvSpPr/>
          <p:nvPr/>
        </p:nvSpPr>
        <p:spPr>
          <a:xfrm rot="16200000">
            <a:off x="2486160" y="4534200"/>
            <a:ext cx="1310400" cy="307440"/>
          </a:xfrm>
          <a:prstGeom prst="rect">
            <a:avLst/>
          </a:prstGeom>
          <a:solidFill>
            <a:srgbClr val="66ffff"/>
          </a:soli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1 min – 1 min</a:t>
            </a:r>
            <a:endParaRPr b="0" lang="en-US" sz="1400" strike="noStrike" u="none">
              <a:solidFill>
                <a:srgbClr val="ffff00"/>
              </a:solidFill>
              <a:effectLst/>
              <a:uFillTx/>
              <a:latin typeface="Times New Roman"/>
            </a:endParaRPr>
          </a:p>
        </p:txBody>
      </p:sp>
      <p:sp>
        <p:nvSpPr>
          <p:cNvPr id="1087" name="Line 57"/>
          <p:cNvSpPr/>
          <p:nvPr/>
        </p:nvSpPr>
        <p:spPr>
          <a:xfrm>
            <a:off x="900000" y="2205000"/>
            <a:ext cx="8172720" cy="0"/>
          </a:xfrm>
          <a:prstGeom prst="line">
            <a:avLst/>
          </a:prstGeom>
          <a:ln w="9360">
            <a:solidFill>
              <a:srgbClr val="f8f8f8"/>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88" name="Text Box 58"/>
          <p:cNvSpPr/>
          <p:nvPr/>
        </p:nvSpPr>
        <p:spPr>
          <a:xfrm>
            <a:off x="1872360" y="2205000"/>
            <a:ext cx="587160" cy="307440"/>
          </a:xfrm>
          <a:prstGeom prst="rect">
            <a:avLst/>
          </a:prstGeom>
          <a:no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70 %</a:t>
            </a:r>
            <a:endParaRPr b="0" lang="en-US" sz="1400" strike="noStrike" u="none">
              <a:solidFill>
                <a:srgbClr val="ffff00"/>
              </a:solidFill>
              <a:effectLst/>
              <a:uFillTx/>
              <a:latin typeface="Times New Roman"/>
            </a:endParaRPr>
          </a:p>
        </p:txBody>
      </p:sp>
      <p:sp>
        <p:nvSpPr>
          <p:cNvPr id="1089" name="Text Box 59"/>
          <p:cNvSpPr/>
          <p:nvPr/>
        </p:nvSpPr>
        <p:spPr>
          <a:xfrm flipV="1" rot="10849200">
            <a:off x="3736080" y="6381000"/>
            <a:ext cx="5828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90" name="Text Box 60"/>
          <p:cNvSpPr/>
          <p:nvPr/>
        </p:nvSpPr>
        <p:spPr>
          <a:xfrm flipV="1" rot="10849200">
            <a:off x="5788800" y="6381000"/>
            <a:ext cx="5828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91" name="Text Box 61"/>
          <p:cNvSpPr/>
          <p:nvPr/>
        </p:nvSpPr>
        <p:spPr>
          <a:xfrm flipV="1" rot="10849200">
            <a:off x="8496000" y="6381000"/>
            <a:ext cx="5824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6 min</a:t>
            </a:r>
            <a:endParaRPr b="0" lang="en-US" sz="1200" strike="noStrike" u="none">
              <a:solidFill>
                <a:srgbClr val="ffff00"/>
              </a:solidFill>
              <a:effectLst/>
              <a:uFillTx/>
              <a:latin typeface="Times New Roman"/>
            </a:endParaRPr>
          </a:p>
        </p:txBody>
      </p:sp>
      <p:sp>
        <p:nvSpPr>
          <p:cNvPr id="1092" name="Text Box 66"/>
          <p:cNvSpPr/>
          <p:nvPr/>
        </p:nvSpPr>
        <p:spPr>
          <a:xfrm>
            <a:off x="2004840" y="2951280"/>
            <a:ext cx="1706760" cy="307440"/>
          </a:xfrm>
          <a:prstGeom prst="rect">
            <a:avLst/>
          </a:prstGeom>
          <a:gradFill rotWithShape="0">
            <a:gsLst>
              <a:gs pos="0">
                <a:srgbClr val="9d9d9d"/>
              </a:gs>
              <a:gs pos="50000">
                <a:srgbClr val="f8f8f8"/>
              </a:gs>
              <a:gs pos="100000">
                <a:srgbClr val="9d9d9d"/>
              </a:gs>
            </a:gsLst>
            <a:lin ang="0"/>
          </a:gra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Séquence aérobie</a:t>
            </a:r>
            <a:endParaRPr b="0" lang="en-US" sz="1400" strike="noStrike" u="none">
              <a:solidFill>
                <a:srgbClr val="ffff00"/>
              </a:solidFill>
              <a:effectLst/>
              <a:uFillTx/>
              <a:latin typeface="Times New Roman"/>
            </a:endParaRPr>
          </a:p>
        </p:txBody>
      </p:sp>
      <p:sp>
        <p:nvSpPr>
          <p:cNvPr id="1093" name="Rectangle 68"/>
          <p:cNvSpPr/>
          <p:nvPr/>
        </p:nvSpPr>
        <p:spPr>
          <a:xfrm>
            <a:off x="4427640" y="763560"/>
            <a:ext cx="1368360" cy="5545080"/>
          </a:xfrm>
          <a:prstGeom prst="rect">
            <a:avLst/>
          </a:prstGeom>
          <a:gradFill rotWithShape="0">
            <a:gsLst>
              <a:gs pos="0">
                <a:srgbClr val="009771"/>
              </a:gs>
              <a:gs pos="50000">
                <a:srgbClr val="00cc99"/>
              </a:gs>
              <a:gs pos="100000">
                <a:srgbClr val="009771"/>
              </a:gs>
            </a:gsLst>
            <a:lin ang="0"/>
          </a:gra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94" name="Text Box 69"/>
          <p:cNvSpPr/>
          <p:nvPr/>
        </p:nvSpPr>
        <p:spPr>
          <a:xfrm>
            <a:off x="4427640" y="1125360"/>
            <a:ext cx="1368360" cy="2442240"/>
          </a:xfrm>
          <a:prstGeom prst="rect">
            <a:avLst/>
          </a:prstGeom>
          <a:gradFill rotWithShape="0">
            <a:gsLst>
              <a:gs pos="0">
                <a:srgbClr val="767676"/>
              </a:gs>
              <a:gs pos="50000">
                <a:srgbClr val="ffffff"/>
              </a:gs>
              <a:gs pos="100000">
                <a:srgbClr val="767676"/>
              </a:gs>
            </a:gsLst>
            <a:lin ang="0"/>
          </a:grad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Séquence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 endurance de vitesse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3 x12 sprints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de 20 m;</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 : 30s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R : 5 min récup.active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Total : 24 min</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1095" name="Rectangle 70"/>
          <p:cNvSpPr/>
          <p:nvPr/>
        </p:nvSpPr>
        <p:spPr>
          <a:xfrm>
            <a:off x="5796000" y="3213000"/>
            <a:ext cx="649080" cy="3095640"/>
          </a:xfrm>
          <a:prstGeom prst="rect">
            <a:avLst/>
          </a:prstGeom>
          <a:gradFill rotWithShape="0">
            <a:gsLst>
              <a:gs pos="0">
                <a:srgbClr val="00a37a"/>
              </a:gs>
              <a:gs pos="50000">
                <a:srgbClr val="00cc99"/>
              </a:gs>
              <a:gs pos="100000">
                <a:srgbClr val="00a37a"/>
              </a:gs>
            </a:gsLst>
            <a:lin ang="0"/>
          </a:gra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96" name="Rectangle 71"/>
          <p:cNvSpPr/>
          <p:nvPr/>
        </p:nvSpPr>
        <p:spPr>
          <a:xfrm rot="16200000">
            <a:off x="5429160" y="4665960"/>
            <a:ext cx="1329840" cy="307440"/>
          </a:xfrm>
          <a:prstGeom prst="rect">
            <a:avLst/>
          </a:prstGeom>
          <a:gradFill rotWithShape="0">
            <a:gsLst>
              <a:gs pos="0">
                <a:srgbClr val="49b6b6"/>
              </a:gs>
              <a:gs pos="50000">
                <a:srgbClr val="66ffff"/>
              </a:gs>
              <a:gs pos="100000">
                <a:srgbClr val="49b6b6"/>
              </a:gs>
            </a:gsLst>
            <a:lin ang="10800000"/>
          </a:gradFill>
          <a:ln w="9360">
            <a:solidFill>
              <a:srgbClr val="0000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ETIREMENTS</a:t>
            </a:r>
            <a:endParaRPr b="0" lang="en-US" sz="1400" strike="noStrike" u="none">
              <a:solidFill>
                <a:srgbClr val="ffff00"/>
              </a:solidFill>
              <a:effectLst/>
              <a:uFillTx/>
              <a:latin typeface="Times New Roman"/>
            </a:endParaRPr>
          </a:p>
        </p:txBody>
      </p:sp>
      <p:sp>
        <p:nvSpPr>
          <p:cNvPr id="1097" name="Rectangle 72"/>
          <p:cNvSpPr/>
          <p:nvPr/>
        </p:nvSpPr>
        <p:spPr>
          <a:xfrm>
            <a:off x="6443640" y="765000"/>
            <a:ext cx="1944720" cy="5545440"/>
          </a:xfrm>
          <a:prstGeom prst="rect">
            <a:avLst/>
          </a:prstGeom>
          <a:gradFill rotWithShape="0">
            <a:gsLst>
              <a:gs pos="0">
                <a:srgbClr val="009771"/>
              </a:gs>
              <a:gs pos="50000">
                <a:srgbClr val="00cc99"/>
              </a:gs>
              <a:gs pos="100000">
                <a:srgbClr val="009771"/>
              </a:gs>
            </a:gsLst>
            <a:lin ang="0"/>
          </a:gra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98" name="Text Box 73"/>
          <p:cNvSpPr/>
          <p:nvPr/>
        </p:nvSpPr>
        <p:spPr>
          <a:xfrm>
            <a:off x="6516720" y="1123920"/>
            <a:ext cx="1797120" cy="947880"/>
          </a:xfrm>
          <a:prstGeom prst="rect">
            <a:avLst/>
          </a:prstGeom>
          <a:gradFill rotWithShape="0">
            <a:gsLst>
              <a:gs pos="0">
                <a:srgbClr val="afafaf"/>
              </a:gs>
              <a:gs pos="50000">
                <a:srgbClr val="ffffff"/>
              </a:gs>
              <a:gs pos="100000">
                <a:srgbClr val="afafaf"/>
              </a:gs>
            </a:gsLst>
            <a:lin ang="0"/>
          </a:grad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Séquence technico</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Tactique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rPr>
              <a:t>30 min</a:t>
            </a:r>
            <a:endParaRPr b="0" lang="en-US" sz="1400" strike="noStrike" u="none">
              <a:solidFill>
                <a:srgbClr val="ffff00"/>
              </a:solidFill>
              <a:effectLst/>
              <a:uFillTx/>
              <a:latin typeface="Times New Roman"/>
            </a:endParaRPr>
          </a:p>
        </p:txBody>
      </p:sp>
      <p:sp>
        <p:nvSpPr>
          <p:cNvPr id="1099" name="Text Box 74"/>
          <p:cNvSpPr/>
          <p:nvPr/>
        </p:nvSpPr>
        <p:spPr>
          <a:xfrm flipV="1" rot="10849200">
            <a:off x="2770920" y="6393600"/>
            <a:ext cx="5828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7 min</a:t>
            </a:r>
            <a:endParaRPr b="0" lang="en-US" sz="1200" strike="noStrike" u="none">
              <a:solidFill>
                <a:srgbClr val="ffff00"/>
              </a:solidFill>
              <a:effectLst/>
              <a:uFillTx/>
              <a:latin typeface="Times New Roman"/>
            </a:endParaRPr>
          </a:p>
        </p:txBody>
      </p:sp>
      <p:sp>
        <p:nvSpPr>
          <p:cNvPr id="1100" name="Text Box 75"/>
          <p:cNvSpPr/>
          <p:nvPr/>
        </p:nvSpPr>
        <p:spPr>
          <a:xfrm flipV="1" rot="10849200">
            <a:off x="4714200" y="6378120"/>
            <a:ext cx="7189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24 min</a:t>
            </a:r>
            <a:endParaRPr b="0" lang="en-US" sz="1200" strike="noStrike" u="none">
              <a:solidFill>
                <a:srgbClr val="ffff00"/>
              </a:solidFill>
              <a:effectLst/>
              <a:uFillTx/>
              <a:latin typeface="Times New Roman"/>
            </a:endParaRPr>
          </a:p>
        </p:txBody>
      </p:sp>
      <p:sp>
        <p:nvSpPr>
          <p:cNvPr id="1101" name="Text Box 76"/>
          <p:cNvSpPr/>
          <p:nvPr/>
        </p:nvSpPr>
        <p:spPr>
          <a:xfrm flipV="1" rot="10849200">
            <a:off x="7016400" y="6381360"/>
            <a:ext cx="7207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Arial"/>
              </a:rPr>
              <a:t>25 min</a:t>
            </a:r>
            <a:endParaRPr b="0" lang="en-US" sz="1200" strike="noStrike" u="none">
              <a:solidFill>
                <a:srgbClr val="ffff00"/>
              </a:solidFill>
              <a:effectLst/>
              <a:uFillTx/>
              <a:latin typeface="Times New Roman"/>
            </a:endParaRPr>
          </a:p>
        </p:txBody>
      </p:sp>
      <p:sp>
        <p:nvSpPr>
          <p:cNvPr id="1102" name="Text Box 77"/>
          <p:cNvSpPr/>
          <p:nvPr/>
        </p:nvSpPr>
        <p:spPr>
          <a:xfrm>
            <a:off x="1824120" y="63360"/>
            <a:ext cx="5466960" cy="4597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Séance à objectifs multiples : 1h 40min</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Rectangle 5"/>
          <p:cNvSpPr/>
          <p:nvPr/>
        </p:nvSpPr>
        <p:spPr>
          <a:xfrm>
            <a:off x="1116000" y="333360"/>
            <a:ext cx="6697800" cy="52092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Arial"/>
              </a:rPr>
              <a:t> Les séances à grandes dominantes </a:t>
            </a:r>
            <a:endParaRPr b="0" lang="en-US" sz="2800" strike="noStrike" u="none">
              <a:solidFill>
                <a:srgbClr val="ffff00"/>
              </a:solidFill>
              <a:effectLst/>
              <a:uFillTx/>
              <a:latin typeface="Times New Roman"/>
            </a:endParaRPr>
          </a:p>
        </p:txBody>
      </p:sp>
      <p:sp>
        <p:nvSpPr>
          <p:cNvPr id="1104" name="Text Box 6"/>
          <p:cNvSpPr/>
          <p:nvPr/>
        </p:nvSpPr>
        <p:spPr>
          <a:xfrm>
            <a:off x="126360" y="1022400"/>
            <a:ext cx="8670240" cy="173988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Utilisent un ensemble de procédés dans la recherche du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développement d’une, voire de deux qualités, sans pour autant</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négliger les autres.</a:t>
            </a:r>
            <a:endParaRPr b="0" lang="en-US" sz="2400" strike="noStrike" u="none">
              <a:solidFill>
                <a:srgbClr val="ffff00"/>
              </a:solidFill>
              <a:effectLst/>
              <a:uFillTx/>
              <a:latin typeface="Times New Roman"/>
            </a:endParaRPr>
          </a:p>
        </p:txBody>
      </p:sp>
      <p:sp>
        <p:nvSpPr>
          <p:cNvPr id="1105" name="Text Box 7"/>
          <p:cNvSpPr/>
          <p:nvPr/>
        </p:nvSpPr>
        <p:spPr>
          <a:xfrm>
            <a:off x="127800" y="2720880"/>
            <a:ext cx="8957880" cy="393444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Ce type de séance doit être retenu selon la chronologie de la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saison, par exemple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en début de saison de sport co, il vaut mieux porter une bonne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partie de son attention sur le développement efficace de la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capacité aérobie sans pour autant négliger la vitesse vivacité,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puis ensuite aborder de façon plus spécifique le développement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des capacités anaérobie alactiques et secondairement lactiques</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805" dur="indefinite" restart="never" nodeType="tmRoot">
          <p:childTnLst>
            <p:seq>
              <p:cTn id="1806" dur="indefinite" nodeType="mainSeq">
                <p:childTnLst>
                  <p:par>
                    <p:cTn id="1807" nodeType="clickEffect" fill="hold">
                      <p:stCondLst>
                        <p:cond delay="indefinite"/>
                      </p:stCondLst>
                      <p:childTnLst>
                        <p:par>
                          <p:cTn id="1808" nodeType="withEffect" fill="hold">
                            <p:stCondLst>
                              <p:cond delay="0"/>
                            </p:stCondLst>
                            <p:childTnLst>
                              <p:par>
                                <p:cTn id="1809" nodeType="clickEffect" fill="hold" presetClass="entr" presetID="22" presetSubtype="8">
                                  <p:stCondLst>
                                    <p:cond delay="0"/>
                                  </p:stCondLst>
                                  <p:childTnLst>
                                    <p:set>
                                      <p:cBhvr>
                                        <p:cTn id="1810" dur="1" fill="hold">
                                          <p:stCondLst>
                                            <p:cond delay="0"/>
                                          </p:stCondLst>
                                        </p:cTn>
                                        <p:tgtEl>
                                          <p:spTgt spid="1103"/>
                                        </p:tgtEl>
                                        <p:attrNameLst>
                                          <p:attrName>style.visibility</p:attrName>
                                        </p:attrNameLst>
                                      </p:cBhvr>
                                      <p:to>
                                        <p:strVal val="visible"/>
                                      </p:to>
                                    </p:set>
                                    <p:animEffect filter="wipe(left)" transition="in">
                                      <p:cBhvr additive="repl">
                                        <p:cTn id="1811" dur="500"/>
                                        <p:tgtEl>
                                          <p:spTgt spid="1103"/>
                                        </p:tgtEl>
                                      </p:cBhvr>
                                    </p:animEffect>
                                  </p:childTnLst>
                                </p:cTn>
                              </p:par>
                            </p:childTnLst>
                          </p:cTn>
                        </p:par>
                      </p:childTnLst>
                    </p:cTn>
                  </p:par>
                  <p:par>
                    <p:cTn id="1812" nodeType="clickEffect" fill="hold">
                      <p:stCondLst>
                        <p:cond delay="indefinite"/>
                      </p:stCondLst>
                      <p:childTnLst>
                        <p:par>
                          <p:cTn id="1813" nodeType="withEffect" fill="hold">
                            <p:stCondLst>
                              <p:cond delay="0"/>
                            </p:stCondLst>
                            <p:childTnLst>
                              <p:par>
                                <p:cTn id="1814" nodeType="clickEffect" fill="hold" presetClass="entr" presetID="22" presetSubtype="8">
                                  <p:stCondLst>
                                    <p:cond delay="0"/>
                                  </p:stCondLst>
                                  <p:childTnLst>
                                    <p:set>
                                      <p:cBhvr>
                                        <p:cTn id="1815" dur="1" fill="hold">
                                          <p:stCondLst>
                                            <p:cond delay="0"/>
                                          </p:stCondLst>
                                        </p:cTn>
                                        <p:tgtEl>
                                          <p:spTgt spid="1104"/>
                                        </p:tgtEl>
                                        <p:attrNameLst>
                                          <p:attrName>style.visibility</p:attrName>
                                        </p:attrNameLst>
                                      </p:cBhvr>
                                      <p:to>
                                        <p:strVal val="visible"/>
                                      </p:to>
                                    </p:set>
                                    <p:animEffect filter="wipe(left)" transition="in">
                                      <p:cBhvr additive="repl">
                                        <p:cTn id="1816" dur="1000"/>
                                        <p:tgtEl>
                                          <p:spTgt spid="1104"/>
                                        </p:tgtEl>
                                      </p:cBhvr>
                                    </p:animEffect>
                                  </p:childTnLst>
                                </p:cTn>
                              </p:par>
                            </p:childTnLst>
                          </p:cTn>
                        </p:par>
                      </p:childTnLst>
                    </p:cTn>
                  </p:par>
                  <p:par>
                    <p:cTn id="1817" nodeType="clickEffect" fill="hold">
                      <p:stCondLst>
                        <p:cond delay="indefinite"/>
                      </p:stCondLst>
                      <p:childTnLst>
                        <p:par>
                          <p:cTn id="1818" nodeType="withEffect" fill="hold">
                            <p:stCondLst>
                              <p:cond delay="0"/>
                            </p:stCondLst>
                            <p:childTnLst>
                              <p:par>
                                <p:cTn id="1819" nodeType="clickEffect" fill="hold" presetClass="entr" presetID="22" presetSubtype="8">
                                  <p:stCondLst>
                                    <p:cond delay="0"/>
                                  </p:stCondLst>
                                  <p:childTnLst>
                                    <p:set>
                                      <p:cBhvr>
                                        <p:cTn id="1820" dur="1" fill="hold">
                                          <p:stCondLst>
                                            <p:cond delay="0"/>
                                          </p:stCondLst>
                                        </p:cTn>
                                        <p:tgtEl>
                                          <p:spTgt spid="1105">
                                            <p:txEl>
                                              <p:pRg st="0" end="0"/>
                                            </p:txEl>
                                          </p:spTgt>
                                        </p:tgtEl>
                                        <p:attrNameLst>
                                          <p:attrName>style.visibility</p:attrName>
                                        </p:attrNameLst>
                                      </p:cBhvr>
                                      <p:to>
                                        <p:strVal val="visible"/>
                                      </p:to>
                                    </p:set>
                                    <p:animEffect filter="wipe(left)" transition="in">
                                      <p:cBhvr additive="repl">
                                        <p:cTn id="1821" dur="1000"/>
                                        <p:tgtEl>
                                          <p:spTgt spid="1105">
                                            <p:txEl>
                                              <p:pRg st="0" end="0"/>
                                            </p:txEl>
                                          </p:spTgt>
                                        </p:tgtEl>
                                      </p:cBhvr>
                                    </p:animEffect>
                                  </p:childTnLst>
                                </p:cTn>
                              </p:par>
                            </p:childTnLst>
                          </p:cTn>
                        </p:par>
                      </p:childTnLst>
                    </p:cTn>
                  </p:par>
                  <p:par>
                    <p:cTn id="1822" nodeType="clickEffect" fill="hold">
                      <p:stCondLst>
                        <p:cond delay="indefinite"/>
                      </p:stCondLst>
                      <p:childTnLst>
                        <p:par>
                          <p:cTn id="1823" nodeType="withEffect" fill="hold">
                            <p:stCondLst>
                              <p:cond delay="0"/>
                            </p:stCondLst>
                            <p:childTnLst>
                              <p:par>
                                <p:cTn id="1824" nodeType="clickEffect" fill="hold" presetClass="entr" presetID="22" presetSubtype="8">
                                  <p:stCondLst>
                                    <p:cond delay="0"/>
                                  </p:stCondLst>
                                  <p:childTnLst>
                                    <p:set>
                                      <p:cBhvr>
                                        <p:cTn id="1825" dur="1" fill="hold">
                                          <p:stCondLst>
                                            <p:cond delay="0"/>
                                          </p:stCondLst>
                                        </p:cTn>
                                        <p:tgtEl>
                                          <p:spTgt spid="1105">
                                            <p:txEl>
                                              <p:pRg st="1" end="1"/>
                                            </p:txEl>
                                          </p:spTgt>
                                        </p:tgtEl>
                                        <p:attrNameLst>
                                          <p:attrName>style.visibility</p:attrName>
                                        </p:attrNameLst>
                                      </p:cBhvr>
                                      <p:to>
                                        <p:strVal val="visible"/>
                                      </p:to>
                                    </p:set>
                                    <p:animEffect filter="wipe(left)" transition="in">
                                      <p:cBhvr additive="repl">
                                        <p:cTn id="1826" dur="1000"/>
                                        <p:tgtEl>
                                          <p:spTgt spid="1105">
                                            <p:txEl>
                                              <p:pRg st="1" end="1"/>
                                            </p:txEl>
                                          </p:spTgt>
                                        </p:tgtEl>
                                      </p:cBhvr>
                                    </p:animEffect>
                                  </p:childTnLst>
                                </p:cTn>
                              </p:par>
                            </p:childTnLst>
                          </p:cTn>
                        </p:par>
                      </p:childTnLst>
                    </p:cTn>
                  </p:par>
                  <p:par>
                    <p:cTn id="1827" nodeType="clickEffect" fill="hold">
                      <p:stCondLst>
                        <p:cond delay="indefinite"/>
                      </p:stCondLst>
                      <p:childTnLst>
                        <p:par>
                          <p:cTn id="1828" nodeType="withEffect" fill="hold">
                            <p:stCondLst>
                              <p:cond delay="0"/>
                            </p:stCondLst>
                            <p:childTnLst>
                              <p:par>
                                <p:cTn id="1829" nodeType="clickEffect" fill="hold" presetClass="entr" presetID="22" presetSubtype="8">
                                  <p:stCondLst>
                                    <p:cond delay="0"/>
                                  </p:stCondLst>
                                  <p:childTnLst>
                                    <p:set>
                                      <p:cBhvr>
                                        <p:cTn id="1830" dur="1" fill="hold">
                                          <p:stCondLst>
                                            <p:cond delay="0"/>
                                          </p:stCondLst>
                                        </p:cTn>
                                        <p:tgtEl>
                                          <p:spTgt spid="1105">
                                            <p:txEl>
                                              <p:pRg st="2" end="2"/>
                                            </p:txEl>
                                          </p:spTgt>
                                        </p:tgtEl>
                                        <p:attrNameLst>
                                          <p:attrName>style.visibility</p:attrName>
                                        </p:attrNameLst>
                                      </p:cBhvr>
                                      <p:to>
                                        <p:strVal val="visible"/>
                                      </p:to>
                                    </p:set>
                                    <p:animEffect filter="wipe(left)" transition="in">
                                      <p:cBhvr additive="repl">
                                        <p:cTn id="1831" dur="2000"/>
                                        <p:tgtEl>
                                          <p:spTgt spid="1105">
                                            <p:txEl>
                                              <p:pRg st="2" end="2"/>
                                            </p:txEl>
                                          </p:spTgt>
                                        </p:tgtEl>
                                      </p:cBhvr>
                                    </p:animEffect>
                                  </p:childTnLst>
                                </p:cTn>
                              </p:par>
                            </p:childTnLst>
                          </p:cTn>
                        </p:par>
                        <p:par>
                          <p:cTn id="1832" nodeType="afterEffect" fill="hold">
                            <p:stCondLst>
                              <p:cond delay="2000"/>
                            </p:stCondLst>
                            <p:childTnLst>
                              <p:par>
                                <p:cTn id="1833" nodeType="afterEffect" fill="hold" presetClass="entr" presetID="22" presetSubtype="8">
                                  <p:stCondLst>
                                    <p:cond delay="0"/>
                                  </p:stCondLst>
                                  <p:childTnLst>
                                    <p:set>
                                      <p:cBhvr>
                                        <p:cTn id="1834" dur="1" fill="hold">
                                          <p:stCondLst>
                                            <p:cond delay="0"/>
                                          </p:stCondLst>
                                        </p:cTn>
                                        <p:tgtEl>
                                          <p:spTgt spid="1105">
                                            <p:txEl>
                                              <p:pRg st="3" end="3"/>
                                            </p:txEl>
                                          </p:spTgt>
                                        </p:tgtEl>
                                        <p:attrNameLst>
                                          <p:attrName>style.visibility</p:attrName>
                                        </p:attrNameLst>
                                      </p:cBhvr>
                                      <p:to>
                                        <p:strVal val="visible"/>
                                      </p:to>
                                    </p:set>
                                    <p:animEffect filter="wipe(left)" transition="in">
                                      <p:cBhvr additive="repl">
                                        <p:cTn id="1835" dur="2000"/>
                                        <p:tgtEl>
                                          <p:spTgt spid="1105">
                                            <p:txEl>
                                              <p:pRg st="3" end="3"/>
                                            </p:txEl>
                                          </p:spTgt>
                                        </p:tgtEl>
                                      </p:cBhvr>
                                    </p:animEffect>
                                  </p:childTnLst>
                                </p:cTn>
                              </p:par>
                            </p:childTnLst>
                          </p:cTn>
                        </p:par>
                        <p:par>
                          <p:cTn id="1836" nodeType="afterEffect" fill="hold">
                            <p:stCondLst>
                              <p:cond delay="4000"/>
                            </p:stCondLst>
                            <p:childTnLst>
                              <p:par>
                                <p:cTn id="1837" nodeType="afterEffect" fill="hold" presetClass="entr" presetID="22" presetSubtype="8">
                                  <p:stCondLst>
                                    <p:cond delay="0"/>
                                  </p:stCondLst>
                                  <p:childTnLst>
                                    <p:set>
                                      <p:cBhvr>
                                        <p:cTn id="1838" dur="1" fill="hold">
                                          <p:stCondLst>
                                            <p:cond delay="0"/>
                                          </p:stCondLst>
                                        </p:cTn>
                                        <p:tgtEl>
                                          <p:spTgt spid="1105">
                                            <p:txEl>
                                              <p:pRg st="4" end="4"/>
                                            </p:txEl>
                                          </p:spTgt>
                                        </p:tgtEl>
                                        <p:attrNameLst>
                                          <p:attrName>style.visibility</p:attrName>
                                        </p:attrNameLst>
                                      </p:cBhvr>
                                      <p:to>
                                        <p:strVal val="visible"/>
                                      </p:to>
                                    </p:set>
                                    <p:animEffect filter="wipe(left)" transition="in">
                                      <p:cBhvr additive="repl">
                                        <p:cTn id="1839" dur="2000"/>
                                        <p:tgtEl>
                                          <p:spTgt spid="1105">
                                            <p:txEl>
                                              <p:pRg st="4" end="4"/>
                                            </p:txEl>
                                          </p:spTgt>
                                        </p:tgtEl>
                                      </p:cBhvr>
                                    </p:animEffect>
                                  </p:childTnLst>
                                </p:cTn>
                              </p:par>
                            </p:childTnLst>
                          </p:cTn>
                        </p:par>
                        <p:par>
                          <p:cTn id="1840" nodeType="afterEffect" fill="hold">
                            <p:stCondLst>
                              <p:cond delay="6000"/>
                            </p:stCondLst>
                            <p:childTnLst>
                              <p:par>
                                <p:cTn id="1841" nodeType="afterEffect" fill="hold" presetClass="entr" presetID="22" presetSubtype="8">
                                  <p:stCondLst>
                                    <p:cond delay="0"/>
                                  </p:stCondLst>
                                  <p:childTnLst>
                                    <p:set>
                                      <p:cBhvr>
                                        <p:cTn id="1842" dur="1" fill="hold">
                                          <p:stCondLst>
                                            <p:cond delay="0"/>
                                          </p:stCondLst>
                                        </p:cTn>
                                        <p:tgtEl>
                                          <p:spTgt spid="1105">
                                            <p:txEl>
                                              <p:pRg st="5" end="5"/>
                                            </p:txEl>
                                          </p:spTgt>
                                        </p:tgtEl>
                                        <p:attrNameLst>
                                          <p:attrName>style.visibility</p:attrName>
                                        </p:attrNameLst>
                                      </p:cBhvr>
                                      <p:to>
                                        <p:strVal val="visible"/>
                                      </p:to>
                                    </p:set>
                                    <p:animEffect filter="wipe(left)" transition="in">
                                      <p:cBhvr additive="repl">
                                        <p:cTn id="1843" dur="2000"/>
                                        <p:tgtEl>
                                          <p:spTgt spid="1105">
                                            <p:txEl>
                                              <p:pRg st="5" end="5"/>
                                            </p:txEl>
                                          </p:spTgt>
                                        </p:tgtEl>
                                      </p:cBhvr>
                                    </p:animEffect>
                                  </p:childTnLst>
                                </p:cTn>
                              </p:par>
                            </p:childTnLst>
                          </p:cTn>
                        </p:par>
                        <p:par>
                          <p:cTn id="1844" nodeType="afterEffect" fill="hold">
                            <p:stCondLst>
                              <p:cond delay="8000"/>
                            </p:stCondLst>
                            <p:childTnLst>
                              <p:par>
                                <p:cTn id="1845" nodeType="afterEffect" fill="hold" presetClass="entr" presetID="22" presetSubtype="8">
                                  <p:stCondLst>
                                    <p:cond delay="0"/>
                                  </p:stCondLst>
                                  <p:childTnLst>
                                    <p:set>
                                      <p:cBhvr>
                                        <p:cTn id="1846" dur="1" fill="hold">
                                          <p:stCondLst>
                                            <p:cond delay="0"/>
                                          </p:stCondLst>
                                        </p:cTn>
                                        <p:tgtEl>
                                          <p:spTgt spid="1105">
                                            <p:txEl>
                                              <p:pRg st="6" end="6"/>
                                            </p:txEl>
                                          </p:spTgt>
                                        </p:tgtEl>
                                        <p:attrNameLst>
                                          <p:attrName>style.visibility</p:attrName>
                                        </p:attrNameLst>
                                      </p:cBhvr>
                                      <p:to>
                                        <p:strVal val="visible"/>
                                      </p:to>
                                    </p:set>
                                    <p:animEffect filter="wipe(left)" transition="in">
                                      <p:cBhvr additive="repl">
                                        <p:cTn id="1847" dur="2000"/>
                                        <p:tgtEl>
                                          <p:spTgt spid="1105">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Text Box 4"/>
          <p:cNvSpPr/>
          <p:nvPr/>
        </p:nvSpPr>
        <p:spPr>
          <a:xfrm>
            <a:off x="1194120" y="404640"/>
            <a:ext cx="6836040" cy="4597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PRINCIPES D’ELABORATION D’UNE SEANCE</a:t>
            </a:r>
            <a:endParaRPr b="0" lang="en-US" sz="2400" strike="noStrike" u="none">
              <a:solidFill>
                <a:srgbClr val="ffff00"/>
              </a:solidFill>
              <a:effectLst/>
              <a:uFillTx/>
              <a:latin typeface="Times New Roman"/>
            </a:endParaRPr>
          </a:p>
        </p:txBody>
      </p:sp>
      <p:sp>
        <p:nvSpPr>
          <p:cNvPr id="1107" name="Text Box 5"/>
          <p:cNvSpPr/>
          <p:nvPr/>
        </p:nvSpPr>
        <p:spPr>
          <a:xfrm>
            <a:off x="382320" y="1574640"/>
            <a:ext cx="86173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1) Définir l’objectif ou les objectifs inscrits dans la périodisation</a:t>
            </a:r>
            <a:endParaRPr b="0" lang="en-US" sz="2400" strike="noStrike" u="none">
              <a:solidFill>
                <a:srgbClr val="ffff00"/>
              </a:solidFill>
              <a:effectLst/>
              <a:uFillTx/>
              <a:latin typeface="Times New Roman"/>
            </a:endParaRPr>
          </a:p>
        </p:txBody>
      </p:sp>
      <p:sp>
        <p:nvSpPr>
          <p:cNvPr id="1108" name="Text Box 6"/>
          <p:cNvSpPr/>
          <p:nvPr/>
        </p:nvSpPr>
        <p:spPr>
          <a:xfrm>
            <a:off x="401040" y="2224080"/>
            <a:ext cx="83800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2) Vérifier les possibilités d’utilisation de lieux (salles, pistes,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terrains..</a:t>
            </a:r>
            <a:endParaRPr b="0" lang="en-US" sz="2400" strike="noStrike" u="none">
              <a:solidFill>
                <a:srgbClr val="ffff00"/>
              </a:solidFill>
              <a:effectLst/>
              <a:uFillTx/>
              <a:latin typeface="Times New Roman"/>
            </a:endParaRPr>
          </a:p>
        </p:txBody>
      </p:sp>
      <p:sp>
        <p:nvSpPr>
          <p:cNvPr id="1109" name="Text Box 7"/>
          <p:cNvSpPr/>
          <p:nvPr/>
        </p:nvSpPr>
        <p:spPr>
          <a:xfrm>
            <a:off x="451800" y="3116160"/>
            <a:ext cx="62625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3) Mettre en place matériellement les ateliers</a:t>
            </a:r>
            <a:endParaRPr b="0" lang="en-US" sz="2400" strike="noStrike" u="none">
              <a:solidFill>
                <a:srgbClr val="ffff00"/>
              </a:solidFill>
              <a:effectLst/>
              <a:uFillTx/>
              <a:latin typeface="Times New Roman"/>
            </a:endParaRPr>
          </a:p>
        </p:txBody>
      </p:sp>
      <p:sp>
        <p:nvSpPr>
          <p:cNvPr id="1110" name="Text Box 8"/>
          <p:cNvSpPr/>
          <p:nvPr/>
        </p:nvSpPr>
        <p:spPr>
          <a:xfrm>
            <a:off x="451800" y="3763800"/>
            <a:ext cx="82274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4) Accueillir les sportifs et leur définir objectifs et consignes </a:t>
            </a:r>
            <a:endParaRPr b="0" lang="en-US" sz="2400" strike="noStrike" u="none">
              <a:solidFill>
                <a:srgbClr val="ffff00"/>
              </a:solidFill>
              <a:effectLst/>
              <a:uFillTx/>
              <a:latin typeface="Times New Roman"/>
            </a:endParaRPr>
          </a:p>
        </p:txBody>
      </p:sp>
      <p:sp>
        <p:nvSpPr>
          <p:cNvPr id="1111" name="Text Box 9"/>
          <p:cNvSpPr/>
          <p:nvPr/>
        </p:nvSpPr>
        <p:spPr>
          <a:xfrm>
            <a:off x="449280" y="4484520"/>
            <a:ext cx="42634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5) Commencer l’échauffement</a:t>
            </a:r>
            <a:endParaRPr b="0" lang="en-US" sz="2400" strike="noStrike" u="none">
              <a:solidFill>
                <a:srgbClr val="ffff00"/>
              </a:solidFill>
              <a:effectLst/>
              <a:uFillTx/>
              <a:latin typeface="Times New Roman"/>
            </a:endParaRPr>
          </a:p>
        </p:txBody>
      </p:sp>
      <p:sp>
        <p:nvSpPr>
          <p:cNvPr id="1112" name="Text Box 10"/>
          <p:cNvSpPr/>
          <p:nvPr/>
        </p:nvSpPr>
        <p:spPr>
          <a:xfrm>
            <a:off x="452880" y="5127480"/>
            <a:ext cx="86860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6) Aborder ensuite la partie principale en fonction des objectifs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    et de l’option choisie</a:t>
            </a:r>
            <a:endParaRPr b="0" lang="en-US" sz="2400" strike="noStrike" u="none">
              <a:solidFill>
                <a:srgbClr val="ffff00"/>
              </a:solidFill>
              <a:effectLst/>
              <a:uFillTx/>
              <a:latin typeface="Times New Roman"/>
            </a:endParaRPr>
          </a:p>
        </p:txBody>
      </p:sp>
      <p:sp>
        <p:nvSpPr>
          <p:cNvPr id="1113" name="Text Box 11"/>
          <p:cNvSpPr/>
          <p:nvPr/>
        </p:nvSpPr>
        <p:spPr>
          <a:xfrm>
            <a:off x="450360" y="6140520"/>
            <a:ext cx="27727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7) Retour au calme</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848" dur="indefinite" restart="never" nodeType="tmRoot">
          <p:childTnLst>
            <p:seq>
              <p:cTn id="1849" dur="indefinite" nodeType="mainSeq">
                <p:childTnLst>
                  <p:par>
                    <p:cTn id="1850" nodeType="clickEffect" fill="hold">
                      <p:stCondLst>
                        <p:cond delay="indefinite"/>
                      </p:stCondLst>
                      <p:childTnLst>
                        <p:par>
                          <p:cTn id="1851" nodeType="withEffect" fill="hold">
                            <p:stCondLst>
                              <p:cond delay="0"/>
                            </p:stCondLst>
                            <p:childTnLst>
                              <p:par>
                                <p:cTn id="1852" nodeType="clickEffect" fill="hold" presetClass="entr" presetID="22" presetSubtype="8">
                                  <p:stCondLst>
                                    <p:cond delay="0"/>
                                  </p:stCondLst>
                                  <p:childTnLst>
                                    <p:set>
                                      <p:cBhvr>
                                        <p:cTn id="1853" dur="1" fill="hold">
                                          <p:stCondLst>
                                            <p:cond delay="0"/>
                                          </p:stCondLst>
                                        </p:cTn>
                                        <p:tgtEl>
                                          <p:spTgt spid="1107">
                                            <p:txEl>
                                              <p:pRg st="0" end="0"/>
                                            </p:txEl>
                                          </p:spTgt>
                                        </p:tgtEl>
                                        <p:attrNameLst>
                                          <p:attrName>style.visibility</p:attrName>
                                        </p:attrNameLst>
                                      </p:cBhvr>
                                      <p:to>
                                        <p:strVal val="visible"/>
                                      </p:to>
                                    </p:set>
                                    <p:animEffect filter="wipe(left)" transition="in">
                                      <p:cBhvr additive="repl">
                                        <p:cTn id="1854" dur="500"/>
                                        <p:tgtEl>
                                          <p:spTgt spid="1107">
                                            <p:txEl>
                                              <p:pRg st="0" end="0"/>
                                            </p:txEl>
                                          </p:spTgt>
                                        </p:tgtEl>
                                      </p:cBhvr>
                                    </p:animEffect>
                                  </p:childTnLst>
                                </p:cTn>
                              </p:par>
                            </p:childTnLst>
                          </p:cTn>
                        </p:par>
                      </p:childTnLst>
                    </p:cTn>
                  </p:par>
                  <p:par>
                    <p:cTn id="1855" nodeType="clickEffect" fill="hold">
                      <p:stCondLst>
                        <p:cond delay="indefinite"/>
                      </p:stCondLst>
                      <p:childTnLst>
                        <p:par>
                          <p:cTn id="1856" nodeType="withEffect" fill="hold">
                            <p:stCondLst>
                              <p:cond delay="0"/>
                            </p:stCondLst>
                            <p:childTnLst>
                              <p:par>
                                <p:cTn id="1857" nodeType="clickEffect" fill="hold" presetClass="entr" presetID="22" presetSubtype="8">
                                  <p:stCondLst>
                                    <p:cond delay="0"/>
                                  </p:stCondLst>
                                  <p:childTnLst>
                                    <p:set>
                                      <p:cBhvr>
                                        <p:cTn id="1858" dur="1" fill="hold">
                                          <p:stCondLst>
                                            <p:cond delay="0"/>
                                          </p:stCondLst>
                                        </p:cTn>
                                        <p:tgtEl>
                                          <p:spTgt spid="1108"/>
                                        </p:tgtEl>
                                        <p:attrNameLst>
                                          <p:attrName>style.visibility</p:attrName>
                                        </p:attrNameLst>
                                      </p:cBhvr>
                                      <p:to>
                                        <p:strVal val="visible"/>
                                      </p:to>
                                    </p:set>
                                    <p:animEffect filter="wipe(left)" transition="in">
                                      <p:cBhvr additive="repl">
                                        <p:cTn id="1859" dur="1000"/>
                                        <p:tgtEl>
                                          <p:spTgt spid="1108"/>
                                        </p:tgtEl>
                                      </p:cBhvr>
                                    </p:animEffect>
                                  </p:childTnLst>
                                </p:cTn>
                              </p:par>
                            </p:childTnLst>
                          </p:cTn>
                        </p:par>
                      </p:childTnLst>
                    </p:cTn>
                  </p:par>
                  <p:par>
                    <p:cTn id="1860" nodeType="clickEffect" fill="hold">
                      <p:stCondLst>
                        <p:cond delay="indefinite"/>
                      </p:stCondLst>
                      <p:childTnLst>
                        <p:par>
                          <p:cTn id="1861" nodeType="withEffect" fill="hold">
                            <p:stCondLst>
                              <p:cond delay="0"/>
                            </p:stCondLst>
                            <p:childTnLst>
                              <p:par>
                                <p:cTn id="1862" nodeType="clickEffect" fill="hold" presetClass="entr" presetID="22" presetSubtype="8">
                                  <p:stCondLst>
                                    <p:cond delay="0"/>
                                  </p:stCondLst>
                                  <p:childTnLst>
                                    <p:set>
                                      <p:cBhvr>
                                        <p:cTn id="1863" dur="1" fill="hold">
                                          <p:stCondLst>
                                            <p:cond delay="0"/>
                                          </p:stCondLst>
                                        </p:cTn>
                                        <p:tgtEl>
                                          <p:spTgt spid="1109"/>
                                        </p:tgtEl>
                                        <p:attrNameLst>
                                          <p:attrName>style.visibility</p:attrName>
                                        </p:attrNameLst>
                                      </p:cBhvr>
                                      <p:to>
                                        <p:strVal val="visible"/>
                                      </p:to>
                                    </p:set>
                                    <p:animEffect filter="wipe(left)" transition="in">
                                      <p:cBhvr additive="repl">
                                        <p:cTn id="1864" dur="1000"/>
                                        <p:tgtEl>
                                          <p:spTgt spid="1109"/>
                                        </p:tgtEl>
                                      </p:cBhvr>
                                    </p:animEffect>
                                  </p:childTnLst>
                                </p:cTn>
                              </p:par>
                            </p:childTnLst>
                          </p:cTn>
                        </p:par>
                      </p:childTnLst>
                    </p:cTn>
                  </p:par>
                  <p:par>
                    <p:cTn id="1865" nodeType="clickEffect" fill="hold">
                      <p:stCondLst>
                        <p:cond delay="indefinite"/>
                      </p:stCondLst>
                      <p:childTnLst>
                        <p:par>
                          <p:cTn id="1866" nodeType="withEffect" fill="hold">
                            <p:stCondLst>
                              <p:cond delay="0"/>
                            </p:stCondLst>
                            <p:childTnLst>
                              <p:par>
                                <p:cTn id="1867" nodeType="clickEffect" fill="hold" presetClass="entr" presetID="22" presetSubtype="8">
                                  <p:stCondLst>
                                    <p:cond delay="0"/>
                                  </p:stCondLst>
                                  <p:childTnLst>
                                    <p:set>
                                      <p:cBhvr>
                                        <p:cTn id="1868" dur="1" fill="hold">
                                          <p:stCondLst>
                                            <p:cond delay="0"/>
                                          </p:stCondLst>
                                        </p:cTn>
                                        <p:tgtEl>
                                          <p:spTgt spid="1110"/>
                                        </p:tgtEl>
                                        <p:attrNameLst>
                                          <p:attrName>style.visibility</p:attrName>
                                        </p:attrNameLst>
                                      </p:cBhvr>
                                      <p:to>
                                        <p:strVal val="visible"/>
                                      </p:to>
                                    </p:set>
                                    <p:animEffect filter="wipe(left)" transition="in">
                                      <p:cBhvr additive="repl">
                                        <p:cTn id="1869" dur="1000"/>
                                        <p:tgtEl>
                                          <p:spTgt spid="1110"/>
                                        </p:tgtEl>
                                      </p:cBhvr>
                                    </p:animEffect>
                                  </p:childTnLst>
                                </p:cTn>
                              </p:par>
                            </p:childTnLst>
                          </p:cTn>
                        </p:par>
                      </p:childTnLst>
                    </p:cTn>
                  </p:par>
                  <p:par>
                    <p:cTn id="1870" nodeType="clickEffect" fill="hold">
                      <p:stCondLst>
                        <p:cond delay="indefinite"/>
                      </p:stCondLst>
                      <p:childTnLst>
                        <p:par>
                          <p:cTn id="1871" nodeType="withEffect" fill="hold">
                            <p:stCondLst>
                              <p:cond delay="0"/>
                            </p:stCondLst>
                            <p:childTnLst>
                              <p:par>
                                <p:cTn id="1872" nodeType="clickEffect" fill="hold" presetClass="entr" presetID="22" presetSubtype="8">
                                  <p:stCondLst>
                                    <p:cond delay="0"/>
                                  </p:stCondLst>
                                  <p:childTnLst>
                                    <p:set>
                                      <p:cBhvr>
                                        <p:cTn id="1873" dur="1" fill="hold">
                                          <p:stCondLst>
                                            <p:cond delay="0"/>
                                          </p:stCondLst>
                                        </p:cTn>
                                        <p:tgtEl>
                                          <p:spTgt spid="1111"/>
                                        </p:tgtEl>
                                        <p:attrNameLst>
                                          <p:attrName>style.visibility</p:attrName>
                                        </p:attrNameLst>
                                      </p:cBhvr>
                                      <p:to>
                                        <p:strVal val="visible"/>
                                      </p:to>
                                    </p:set>
                                    <p:animEffect filter="wipe(left)" transition="in">
                                      <p:cBhvr additive="repl">
                                        <p:cTn id="1874" dur="1000"/>
                                        <p:tgtEl>
                                          <p:spTgt spid="1111"/>
                                        </p:tgtEl>
                                      </p:cBhvr>
                                    </p:animEffect>
                                  </p:childTnLst>
                                </p:cTn>
                              </p:par>
                            </p:childTnLst>
                          </p:cTn>
                        </p:par>
                      </p:childTnLst>
                    </p:cTn>
                  </p:par>
                  <p:par>
                    <p:cTn id="1875" nodeType="clickEffect" fill="hold">
                      <p:stCondLst>
                        <p:cond delay="indefinite"/>
                      </p:stCondLst>
                      <p:childTnLst>
                        <p:par>
                          <p:cTn id="1876" nodeType="withEffect" fill="hold">
                            <p:stCondLst>
                              <p:cond delay="0"/>
                            </p:stCondLst>
                            <p:childTnLst>
                              <p:par>
                                <p:cTn id="1877" nodeType="clickEffect" fill="hold" presetClass="entr" presetID="22" presetSubtype="8">
                                  <p:stCondLst>
                                    <p:cond delay="0"/>
                                  </p:stCondLst>
                                  <p:childTnLst>
                                    <p:set>
                                      <p:cBhvr>
                                        <p:cTn id="1878" dur="1" fill="hold">
                                          <p:stCondLst>
                                            <p:cond delay="0"/>
                                          </p:stCondLst>
                                        </p:cTn>
                                        <p:tgtEl>
                                          <p:spTgt spid="1112"/>
                                        </p:tgtEl>
                                        <p:attrNameLst>
                                          <p:attrName>style.visibility</p:attrName>
                                        </p:attrNameLst>
                                      </p:cBhvr>
                                      <p:to>
                                        <p:strVal val="visible"/>
                                      </p:to>
                                    </p:set>
                                    <p:animEffect filter="wipe(left)" transition="in">
                                      <p:cBhvr additive="repl">
                                        <p:cTn id="1879" dur="1000"/>
                                        <p:tgtEl>
                                          <p:spTgt spid="1112"/>
                                        </p:tgtEl>
                                      </p:cBhvr>
                                    </p:animEffect>
                                  </p:childTnLst>
                                </p:cTn>
                              </p:par>
                            </p:childTnLst>
                          </p:cTn>
                        </p:par>
                      </p:childTnLst>
                    </p:cTn>
                  </p:par>
                  <p:par>
                    <p:cTn id="1880" nodeType="clickEffect" fill="hold">
                      <p:stCondLst>
                        <p:cond delay="indefinite"/>
                      </p:stCondLst>
                      <p:childTnLst>
                        <p:par>
                          <p:cTn id="1881" nodeType="withEffect" fill="hold">
                            <p:stCondLst>
                              <p:cond delay="0"/>
                            </p:stCondLst>
                            <p:childTnLst>
                              <p:par>
                                <p:cTn id="1882" nodeType="clickEffect" fill="hold" presetClass="entr" presetID="22" presetSubtype="8">
                                  <p:stCondLst>
                                    <p:cond delay="0"/>
                                  </p:stCondLst>
                                  <p:childTnLst>
                                    <p:set>
                                      <p:cBhvr>
                                        <p:cTn id="1883" dur="1" fill="hold">
                                          <p:stCondLst>
                                            <p:cond delay="0"/>
                                          </p:stCondLst>
                                        </p:cTn>
                                        <p:tgtEl>
                                          <p:spTgt spid="1113"/>
                                        </p:tgtEl>
                                        <p:attrNameLst>
                                          <p:attrName>style.visibility</p:attrName>
                                        </p:attrNameLst>
                                      </p:cBhvr>
                                      <p:to>
                                        <p:strVal val="visible"/>
                                      </p:to>
                                    </p:set>
                                    <p:animEffect filter="wipe(left)" transition="in">
                                      <p:cBhvr additive="repl">
                                        <p:cTn id="1884" dur="1000"/>
                                        <p:tgtEl>
                                          <p:spTgt spid="1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14" name="Picture 2" descr="Bompa01"/>
          <p:cNvPicPr/>
          <p:nvPr/>
        </p:nvPicPr>
        <p:blipFill>
          <a:blip r:embed="rId1"/>
          <a:stretch/>
        </p:blipFill>
        <p:spPr>
          <a:xfrm>
            <a:off x="685800" y="1295280"/>
            <a:ext cx="7848720" cy="4267440"/>
          </a:xfrm>
          <a:prstGeom prst="rect">
            <a:avLst/>
          </a:prstGeom>
          <a:noFill/>
          <a:ln w="0">
            <a:noFill/>
          </a:ln>
        </p:spPr>
      </p:pic>
      <p:sp>
        <p:nvSpPr>
          <p:cNvPr id="1115" name="Freeform 4"/>
          <p:cNvSpPr/>
          <p:nvPr/>
        </p:nvSpPr>
        <p:spPr>
          <a:xfrm>
            <a:off x="2916360" y="1784520"/>
            <a:ext cx="5040360" cy="2724120"/>
          </a:xfrm>
          <a:custGeom>
            <a:avLst/>
            <a:gdLst>
              <a:gd name="textAreaLeft" fmla="*/ 0 w 5040360"/>
              <a:gd name="textAreaRight" fmla="*/ 5040720 w 5040360"/>
              <a:gd name="textAreaTop" fmla="*/ 0 h 2724120"/>
              <a:gd name="textAreaBottom" fmla="*/ 2724480 h 2724120"/>
              <a:gd name="GluePoint1X" fmla="*/ 0 w 3175"/>
              <a:gd name="GluePoint1Y" fmla="*/ 2147483646 h 1716"/>
              <a:gd name="GluePoint2X" fmla="*/ 2147483646 w 3175"/>
              <a:gd name="GluePoint2Y" fmla="*/ 2147483646 h 1716"/>
              <a:gd name="GluePoint3X" fmla="*/ 2147483646 w 3175"/>
              <a:gd name="GluePoint3Y" fmla="*/ 2147483646 h 1716"/>
              <a:gd name="GluePoint4X" fmla="*/ 2147483646 w 3175"/>
              <a:gd name="GluePoint4Y" fmla="*/ 2147483646 h 1716"/>
              <a:gd name="GluePoint5X" fmla="*/ 2147483646 w 3175"/>
              <a:gd name="GluePoint5Y" fmla="*/ 2147483646 h 171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75" h="1716">
                <a:moveTo>
                  <a:pt x="0" y="1127"/>
                </a:moveTo>
                <a:cubicBezTo>
                  <a:pt x="181" y="938"/>
                  <a:pt x="363" y="749"/>
                  <a:pt x="544" y="673"/>
                </a:cubicBezTo>
                <a:cubicBezTo>
                  <a:pt x="725" y="597"/>
                  <a:pt x="907" y="756"/>
                  <a:pt x="1088" y="673"/>
                </a:cubicBezTo>
                <a:cubicBezTo>
                  <a:pt x="1269" y="590"/>
                  <a:pt x="1285" y="0"/>
                  <a:pt x="1633" y="174"/>
                </a:cubicBezTo>
                <a:cubicBezTo>
                  <a:pt x="1981" y="348"/>
                  <a:pt x="2918" y="1459"/>
                  <a:pt x="3175" y="1716"/>
                </a:cubicBezTo>
              </a:path>
            </a:pathLst>
          </a:custGeom>
          <a:noFill/>
          <a:ln cap="rnd" w="28440">
            <a:solidFill>
              <a:srgbClr val="808080"/>
            </a:solidFill>
            <a:custDash>
              <a:ds d="100000" sp="1000"/>
            </a:custDash>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885" dur="indefinite" restart="never" nodeType="tmRoot">
          <p:childTnLst>
            <p:seq>
              <p:cTn id="1886" dur="indefinite" nodeType="mainSeq">
                <p:childTnLst>
                  <p:par>
                    <p:cTn id="1887" nodeType="clickEffect" fill="hold">
                      <p:stCondLst>
                        <p:cond delay="indefinite"/>
                      </p:stCondLst>
                      <p:childTnLst>
                        <p:par>
                          <p:cTn id="1888" nodeType="withEffect" fill="hold">
                            <p:stCondLst>
                              <p:cond delay="0"/>
                            </p:stCondLst>
                            <p:childTnLst>
                              <p:par>
                                <p:cTn id="1889" nodeType="clickEffect" fill="hold" presetClass="entr" presetID="22" presetSubtype="8">
                                  <p:stCondLst>
                                    <p:cond delay="0"/>
                                  </p:stCondLst>
                                  <p:childTnLst>
                                    <p:set>
                                      <p:cBhvr>
                                        <p:cTn id="1890" dur="1" fill="hold">
                                          <p:stCondLst>
                                            <p:cond delay="0"/>
                                          </p:stCondLst>
                                        </p:cTn>
                                        <p:tgtEl>
                                          <p:spTgt spid="1115"/>
                                        </p:tgtEl>
                                        <p:attrNameLst>
                                          <p:attrName>style.visibility</p:attrName>
                                        </p:attrNameLst>
                                      </p:cBhvr>
                                      <p:to>
                                        <p:strVal val="visible"/>
                                      </p:to>
                                    </p:set>
                                    <p:animEffect filter="wipe(left)" transition="in">
                                      <p:cBhvr additive="repl">
                                        <p:cTn id="1891" dur="3000"/>
                                        <p:tgtEl>
                                          <p:spTgt spid="1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16" name="Picture 2" descr="Bompa03"/>
          <p:cNvPicPr/>
          <p:nvPr/>
        </p:nvPicPr>
        <p:blipFill>
          <a:blip r:embed="rId1"/>
          <a:stretch/>
        </p:blipFill>
        <p:spPr>
          <a:xfrm>
            <a:off x="1371600" y="380880"/>
            <a:ext cx="6781680" cy="2833920"/>
          </a:xfrm>
          <a:prstGeom prst="rect">
            <a:avLst/>
          </a:prstGeom>
          <a:noFill/>
          <a:ln w="0">
            <a:noFill/>
          </a:ln>
        </p:spPr>
      </p:pic>
      <p:pic>
        <p:nvPicPr>
          <p:cNvPr id="1117" name="Picture 3" descr="Bompa2"/>
          <p:cNvPicPr/>
          <p:nvPr/>
        </p:nvPicPr>
        <p:blipFill>
          <a:blip r:embed="rId2"/>
          <a:stretch/>
        </p:blipFill>
        <p:spPr>
          <a:xfrm>
            <a:off x="1371600" y="3581280"/>
            <a:ext cx="6781680" cy="2833920"/>
          </a:xfrm>
          <a:prstGeom prst="rect">
            <a:avLst/>
          </a:prstGeom>
          <a:noFill/>
          <a:ln w="0">
            <a:noFill/>
          </a:ln>
        </p:spPr>
      </p:pic>
      <p:sp>
        <p:nvSpPr>
          <p:cNvPr id="1118" name="Freeform 5"/>
          <p:cNvSpPr/>
          <p:nvPr/>
        </p:nvSpPr>
        <p:spPr>
          <a:xfrm>
            <a:off x="3203640" y="765000"/>
            <a:ext cx="4537080" cy="1811520"/>
          </a:xfrm>
          <a:custGeom>
            <a:avLst/>
            <a:gdLst>
              <a:gd name="textAreaLeft" fmla="*/ 0 w 4537080"/>
              <a:gd name="textAreaRight" fmla="*/ 4537440 w 4537080"/>
              <a:gd name="textAreaTop" fmla="*/ 0 h 1811520"/>
              <a:gd name="textAreaBottom" fmla="*/ 1811880 h 1811520"/>
              <a:gd name="GluePoint1X" fmla="*/ 0 w 2858"/>
              <a:gd name="GluePoint1Y" fmla="*/ 2147483646 h 1141"/>
              <a:gd name="GluePoint2X" fmla="*/ 2147483646 w 2858"/>
              <a:gd name="GluePoint2Y" fmla="*/ 2147483646 h 1141"/>
              <a:gd name="GluePoint3X" fmla="*/ 2147483646 w 2858"/>
              <a:gd name="GluePoint3Y" fmla="*/ 2147483646 h 1141"/>
              <a:gd name="GluePoint4X" fmla="*/ 2147483646 w 2858"/>
              <a:gd name="GluePoint4Y" fmla="*/ 2147483646 h 1141"/>
              <a:gd name="GluePoint5X" fmla="*/ 2147483646 w 2858"/>
              <a:gd name="GluePoint5Y" fmla="*/ 2147483646 h 1141"/>
              <a:gd name="GluePoint6X" fmla="*/ 2147483646 w 2858"/>
              <a:gd name="GluePoint6Y" fmla="*/ 2147483646 h 11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58" h="1141">
                <a:moveTo>
                  <a:pt x="0" y="778"/>
                </a:moveTo>
                <a:cubicBezTo>
                  <a:pt x="159" y="438"/>
                  <a:pt x="318" y="98"/>
                  <a:pt x="499" y="53"/>
                </a:cubicBezTo>
                <a:cubicBezTo>
                  <a:pt x="680" y="8"/>
                  <a:pt x="938" y="378"/>
                  <a:pt x="1089" y="506"/>
                </a:cubicBezTo>
                <a:cubicBezTo>
                  <a:pt x="1240" y="634"/>
                  <a:pt x="1285" y="899"/>
                  <a:pt x="1406" y="824"/>
                </a:cubicBezTo>
                <a:cubicBezTo>
                  <a:pt x="1527" y="749"/>
                  <a:pt x="1573" y="0"/>
                  <a:pt x="1815" y="53"/>
                </a:cubicBezTo>
                <a:cubicBezTo>
                  <a:pt x="2057" y="106"/>
                  <a:pt x="2684" y="960"/>
                  <a:pt x="2858" y="1141"/>
                </a:cubicBezTo>
              </a:path>
            </a:pathLst>
          </a:custGeom>
          <a:noFill/>
          <a:ln w="28440">
            <a:solidFill>
              <a:srgbClr val="80808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19" name="Freeform 8"/>
          <p:cNvSpPr/>
          <p:nvPr/>
        </p:nvSpPr>
        <p:spPr>
          <a:xfrm>
            <a:off x="3203640" y="3944880"/>
            <a:ext cx="4595760" cy="1968480"/>
          </a:xfrm>
          <a:custGeom>
            <a:avLst/>
            <a:gdLst>
              <a:gd name="textAreaLeft" fmla="*/ 0 w 4595760"/>
              <a:gd name="textAreaRight" fmla="*/ 4596120 w 4595760"/>
              <a:gd name="textAreaTop" fmla="*/ 0 h 1968480"/>
              <a:gd name="textAreaBottom" fmla="*/ 1968840 h 1968480"/>
              <a:gd name="GluePoint1X" fmla="*/ 0 w 2895"/>
              <a:gd name="GluePoint1Y" fmla="*/ 2147483646 h 1240"/>
              <a:gd name="GluePoint2X" fmla="*/ 2147483646 w 2895"/>
              <a:gd name="GluePoint2Y" fmla="*/ 2147483646 h 1240"/>
              <a:gd name="GluePoint3X" fmla="*/ 2147483646 w 2895"/>
              <a:gd name="GluePoint3Y" fmla="*/ 2147483646 h 1240"/>
              <a:gd name="GluePoint4X" fmla="*/ 2147483646 w 2895"/>
              <a:gd name="GluePoint4Y" fmla="*/ 2147483646 h 1240"/>
              <a:gd name="GluePoint5X" fmla="*/ 2147483646 w 2895"/>
              <a:gd name="GluePoint5Y" fmla="*/ 2147483646 h 1240"/>
              <a:gd name="GluePoint6X" fmla="*/ 2147483646 w 2895"/>
              <a:gd name="GluePoint6Y" fmla="*/ 2147483646 h 1240"/>
              <a:gd name="GluePoint7X" fmla="*/ 2147483646 w 2895"/>
              <a:gd name="GluePoint7Y" fmla="*/ 2147483646 h 12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2895" h="1240">
                <a:moveTo>
                  <a:pt x="0" y="764"/>
                </a:moveTo>
                <a:cubicBezTo>
                  <a:pt x="363" y="405"/>
                  <a:pt x="726" y="46"/>
                  <a:pt x="953" y="38"/>
                </a:cubicBezTo>
                <a:cubicBezTo>
                  <a:pt x="1180" y="30"/>
                  <a:pt x="1232" y="627"/>
                  <a:pt x="1361" y="718"/>
                </a:cubicBezTo>
                <a:cubicBezTo>
                  <a:pt x="1490" y="809"/>
                  <a:pt x="1565" y="688"/>
                  <a:pt x="1724" y="582"/>
                </a:cubicBezTo>
                <a:cubicBezTo>
                  <a:pt x="1883" y="476"/>
                  <a:pt x="2133" y="0"/>
                  <a:pt x="2314" y="83"/>
                </a:cubicBezTo>
                <a:cubicBezTo>
                  <a:pt x="2495" y="166"/>
                  <a:pt x="2729" y="922"/>
                  <a:pt x="2812" y="1081"/>
                </a:cubicBezTo>
                <a:cubicBezTo>
                  <a:pt x="2895" y="1240"/>
                  <a:pt x="2853" y="1138"/>
                  <a:pt x="2812" y="1036"/>
                </a:cubicBezTo>
              </a:path>
            </a:pathLst>
          </a:custGeom>
          <a:noFill/>
          <a:ln w="28440">
            <a:solidFill>
              <a:srgbClr val="80808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20" name="Text Box 9"/>
          <p:cNvSpPr/>
          <p:nvPr/>
        </p:nvSpPr>
        <p:spPr>
          <a:xfrm>
            <a:off x="3992400" y="352440"/>
            <a:ext cx="21625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Double pyramides</a:t>
            </a:r>
            <a:endParaRPr b="0" lang="en-US" sz="1800" strike="noStrike" u="none">
              <a:solidFill>
                <a:srgbClr val="ffff00"/>
              </a:solidFill>
              <a:effectLst/>
              <a:uFillTx/>
              <a:latin typeface="Times New Roman"/>
            </a:endParaRPr>
          </a:p>
        </p:txBody>
      </p:sp>
      <p:sp>
        <p:nvSpPr>
          <p:cNvPr id="1121" name="Text Box 10"/>
          <p:cNvSpPr/>
          <p:nvPr/>
        </p:nvSpPr>
        <p:spPr>
          <a:xfrm>
            <a:off x="4644720" y="3573360"/>
            <a:ext cx="19717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Double triangles</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892" dur="indefinite" restart="never" nodeType="tmRoot">
          <p:childTnLst>
            <p:seq>
              <p:cTn id="1893" dur="indefinite" nodeType="mainSeq">
                <p:childTnLst>
                  <p:par>
                    <p:cTn id="1894" nodeType="clickEffect" fill="hold">
                      <p:stCondLst>
                        <p:cond delay="indefinite"/>
                      </p:stCondLst>
                      <p:childTnLst>
                        <p:par>
                          <p:cTn id="1895" nodeType="withEffect" fill="hold">
                            <p:stCondLst>
                              <p:cond delay="0"/>
                            </p:stCondLst>
                            <p:childTnLst>
                              <p:par>
                                <p:cTn id="1896" nodeType="clickEffect" fill="hold" presetClass="entr" presetID="22" presetSubtype="8">
                                  <p:stCondLst>
                                    <p:cond delay="0"/>
                                  </p:stCondLst>
                                  <p:childTnLst>
                                    <p:set>
                                      <p:cBhvr>
                                        <p:cTn id="1897" dur="1" fill="hold">
                                          <p:stCondLst>
                                            <p:cond delay="0"/>
                                          </p:stCondLst>
                                        </p:cTn>
                                        <p:tgtEl>
                                          <p:spTgt spid="1118"/>
                                        </p:tgtEl>
                                        <p:attrNameLst>
                                          <p:attrName>style.visibility</p:attrName>
                                        </p:attrNameLst>
                                      </p:cBhvr>
                                      <p:to>
                                        <p:strVal val="visible"/>
                                      </p:to>
                                    </p:set>
                                    <p:animEffect filter="wipe(left)" transition="in">
                                      <p:cBhvr additive="repl">
                                        <p:cTn id="1898" dur="3000"/>
                                        <p:tgtEl>
                                          <p:spTgt spid="1118"/>
                                        </p:tgtEl>
                                      </p:cBhvr>
                                    </p:animEffect>
                                  </p:childTnLst>
                                </p:cTn>
                              </p:par>
                            </p:childTnLst>
                          </p:cTn>
                        </p:par>
                      </p:childTnLst>
                    </p:cTn>
                  </p:par>
                  <p:par>
                    <p:cTn id="1899" nodeType="clickEffect" fill="hold">
                      <p:stCondLst>
                        <p:cond delay="indefinite"/>
                      </p:stCondLst>
                      <p:childTnLst>
                        <p:par>
                          <p:cTn id="1900" nodeType="withEffect" fill="hold">
                            <p:stCondLst>
                              <p:cond delay="0"/>
                            </p:stCondLst>
                            <p:childTnLst>
                              <p:par>
                                <p:cTn id="1901" nodeType="clickEffect" fill="hold" presetClass="entr" presetID="22" presetSubtype="8">
                                  <p:stCondLst>
                                    <p:cond delay="0"/>
                                  </p:stCondLst>
                                  <p:childTnLst>
                                    <p:set>
                                      <p:cBhvr>
                                        <p:cTn id="1902" dur="1" fill="hold">
                                          <p:stCondLst>
                                            <p:cond delay="0"/>
                                          </p:stCondLst>
                                        </p:cTn>
                                        <p:tgtEl>
                                          <p:spTgt spid="1119"/>
                                        </p:tgtEl>
                                        <p:attrNameLst>
                                          <p:attrName>style.visibility</p:attrName>
                                        </p:attrNameLst>
                                      </p:cBhvr>
                                      <p:to>
                                        <p:strVal val="visible"/>
                                      </p:to>
                                    </p:set>
                                    <p:animEffect filter="wipe(left)" transition="in">
                                      <p:cBhvr additive="repl">
                                        <p:cTn id="1903" dur="3000"/>
                                        <p:tgtEl>
                                          <p:spTgt spid="1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2" name="Picture 2" descr="Bompa04"/>
          <p:cNvPicPr/>
          <p:nvPr/>
        </p:nvPicPr>
        <p:blipFill>
          <a:blip r:embed="rId1"/>
          <a:stretch/>
        </p:blipFill>
        <p:spPr>
          <a:xfrm>
            <a:off x="1219320" y="533520"/>
            <a:ext cx="6781680" cy="2828880"/>
          </a:xfrm>
          <a:prstGeom prst="rect">
            <a:avLst/>
          </a:prstGeom>
          <a:noFill/>
          <a:ln w="0">
            <a:noFill/>
          </a:ln>
        </p:spPr>
      </p:pic>
      <p:pic>
        <p:nvPicPr>
          <p:cNvPr id="1123" name="Picture 3" descr="Bompa05"/>
          <p:cNvPicPr/>
          <p:nvPr/>
        </p:nvPicPr>
        <p:blipFill>
          <a:blip r:embed="rId2"/>
          <a:stretch/>
        </p:blipFill>
        <p:spPr>
          <a:xfrm>
            <a:off x="1219320" y="3657600"/>
            <a:ext cx="6781680" cy="2809800"/>
          </a:xfrm>
          <a:prstGeom prst="rect">
            <a:avLst/>
          </a:prstGeom>
          <a:noFill/>
          <a:ln w="0">
            <a:noFill/>
          </a:ln>
        </p:spPr>
      </p:pic>
      <p:sp>
        <p:nvSpPr>
          <p:cNvPr id="1124" name="Freeform 4"/>
          <p:cNvSpPr/>
          <p:nvPr/>
        </p:nvSpPr>
        <p:spPr>
          <a:xfrm>
            <a:off x="3132000" y="981000"/>
            <a:ext cx="4248360" cy="1320840"/>
          </a:xfrm>
          <a:custGeom>
            <a:avLst/>
            <a:gdLst>
              <a:gd name="textAreaLeft" fmla="*/ 0 w 4248360"/>
              <a:gd name="textAreaRight" fmla="*/ 4248720 w 4248360"/>
              <a:gd name="textAreaTop" fmla="*/ 0 h 1320840"/>
              <a:gd name="textAreaBottom" fmla="*/ 1321200 h 1320840"/>
              <a:gd name="GluePoint1X" fmla="*/ 0 w 2676"/>
              <a:gd name="GluePoint1Y" fmla="*/ 2147483646 h 832"/>
              <a:gd name="GluePoint2X" fmla="*/ 2147483646 w 2676"/>
              <a:gd name="GluePoint2Y" fmla="*/ 0 h 832"/>
              <a:gd name="GluePoint3X" fmla="*/ 2147483646 w 2676"/>
              <a:gd name="GluePoint3Y" fmla="*/ 2147483646 h 832"/>
              <a:gd name="GluePoint4X" fmla="*/ 2147483646 w 2676"/>
              <a:gd name="GluePoint4Y" fmla="*/ 2147483646 h 832"/>
              <a:gd name="GluePoint5X" fmla="*/ 2147483646 w 2676"/>
              <a:gd name="GluePoint5Y" fmla="*/ 0 h 83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676" h="832">
                <a:moveTo>
                  <a:pt x="0" y="726"/>
                </a:moveTo>
                <a:cubicBezTo>
                  <a:pt x="302" y="363"/>
                  <a:pt x="605" y="0"/>
                  <a:pt x="907" y="0"/>
                </a:cubicBezTo>
                <a:cubicBezTo>
                  <a:pt x="1209" y="0"/>
                  <a:pt x="1572" y="620"/>
                  <a:pt x="1814" y="726"/>
                </a:cubicBezTo>
                <a:cubicBezTo>
                  <a:pt x="2056" y="832"/>
                  <a:pt x="2215" y="756"/>
                  <a:pt x="2359" y="635"/>
                </a:cubicBezTo>
                <a:cubicBezTo>
                  <a:pt x="2503" y="514"/>
                  <a:pt x="2623" y="106"/>
                  <a:pt x="2676" y="0"/>
                </a:cubicBezTo>
              </a:path>
            </a:pathLst>
          </a:custGeom>
          <a:noFill/>
          <a:ln w="28440">
            <a:solidFill>
              <a:srgbClr val="80808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25" name="Freeform 5"/>
          <p:cNvSpPr/>
          <p:nvPr/>
        </p:nvSpPr>
        <p:spPr>
          <a:xfrm>
            <a:off x="3132000" y="3968640"/>
            <a:ext cx="4319640" cy="1908360"/>
          </a:xfrm>
          <a:custGeom>
            <a:avLst/>
            <a:gdLst>
              <a:gd name="textAreaLeft" fmla="*/ 0 w 4319640"/>
              <a:gd name="textAreaRight" fmla="*/ 4320000 w 4319640"/>
              <a:gd name="textAreaTop" fmla="*/ 0 h 1908360"/>
              <a:gd name="textAreaBottom" fmla="*/ 1908720 h 1908360"/>
              <a:gd name="GluePoint1X" fmla="*/ 0 w 2721"/>
              <a:gd name="GluePoint1Y" fmla="*/ 2147483646 h 1202"/>
              <a:gd name="GluePoint2X" fmla="*/ 2147483646 w 2721"/>
              <a:gd name="GluePoint2Y" fmla="*/ 2147483646 h 1202"/>
              <a:gd name="GluePoint3X" fmla="*/ 2147483646 w 2721"/>
              <a:gd name="GluePoint3Y" fmla="*/ 2147483646 h 1202"/>
              <a:gd name="GluePoint4X" fmla="*/ 2147483646 w 2721"/>
              <a:gd name="GluePoint4Y" fmla="*/ 2147483646 h 1202"/>
              <a:gd name="GluePoint5X" fmla="*/ 2147483646 w 2721"/>
              <a:gd name="GluePoint5Y" fmla="*/ 2147483646 h 1202"/>
              <a:gd name="GluePoint6X" fmla="*/ 2147483646 w 2721"/>
              <a:gd name="GluePoint6Y" fmla="*/ 2147483646 h 1202"/>
              <a:gd name="GluePoint7X" fmla="*/ 2147483646 w 2721"/>
              <a:gd name="GluePoint7Y" fmla="*/ 2147483646 h 12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2721" h="1202">
                <a:moveTo>
                  <a:pt x="0" y="749"/>
                </a:moveTo>
                <a:cubicBezTo>
                  <a:pt x="151" y="435"/>
                  <a:pt x="302" y="121"/>
                  <a:pt x="453" y="68"/>
                </a:cubicBezTo>
                <a:cubicBezTo>
                  <a:pt x="604" y="15"/>
                  <a:pt x="756" y="431"/>
                  <a:pt x="907" y="431"/>
                </a:cubicBezTo>
                <a:cubicBezTo>
                  <a:pt x="1058" y="431"/>
                  <a:pt x="1210" y="8"/>
                  <a:pt x="1361" y="68"/>
                </a:cubicBezTo>
                <a:cubicBezTo>
                  <a:pt x="1512" y="128"/>
                  <a:pt x="1663" y="794"/>
                  <a:pt x="1814" y="794"/>
                </a:cubicBezTo>
                <a:cubicBezTo>
                  <a:pt x="1965" y="794"/>
                  <a:pt x="2117" y="0"/>
                  <a:pt x="2268" y="68"/>
                </a:cubicBezTo>
                <a:cubicBezTo>
                  <a:pt x="2419" y="136"/>
                  <a:pt x="2645" y="1013"/>
                  <a:pt x="2721" y="1202"/>
                </a:cubicBezTo>
              </a:path>
            </a:pathLst>
          </a:custGeom>
          <a:noFill/>
          <a:ln w="28440">
            <a:solidFill>
              <a:srgbClr val="80808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04" dur="indefinite" restart="never" nodeType="tmRoot">
          <p:childTnLst>
            <p:seq>
              <p:cTn id="1905" dur="indefinite" nodeType="mainSeq">
                <p:childTnLst>
                  <p:par>
                    <p:cTn id="1906" nodeType="clickEffect" fill="hold">
                      <p:stCondLst>
                        <p:cond delay="indefinite"/>
                      </p:stCondLst>
                      <p:childTnLst>
                        <p:par>
                          <p:cTn id="1907" nodeType="withEffect" fill="hold">
                            <p:stCondLst>
                              <p:cond delay="0"/>
                            </p:stCondLst>
                            <p:childTnLst>
                              <p:par>
                                <p:cTn id="1908" nodeType="clickEffect" fill="hold" presetClass="entr" presetID="22" presetSubtype="8">
                                  <p:stCondLst>
                                    <p:cond delay="0"/>
                                  </p:stCondLst>
                                  <p:childTnLst>
                                    <p:set>
                                      <p:cBhvr>
                                        <p:cTn id="1909" dur="1" fill="hold">
                                          <p:stCondLst>
                                            <p:cond delay="0"/>
                                          </p:stCondLst>
                                        </p:cTn>
                                        <p:tgtEl>
                                          <p:spTgt spid="1124"/>
                                        </p:tgtEl>
                                        <p:attrNameLst>
                                          <p:attrName>style.visibility</p:attrName>
                                        </p:attrNameLst>
                                      </p:cBhvr>
                                      <p:to>
                                        <p:strVal val="visible"/>
                                      </p:to>
                                    </p:set>
                                    <p:animEffect filter="wipe(left)" transition="in">
                                      <p:cBhvr additive="repl">
                                        <p:cTn id="1910" dur="3000"/>
                                        <p:tgtEl>
                                          <p:spTgt spid="1124"/>
                                        </p:tgtEl>
                                      </p:cBhvr>
                                    </p:animEffect>
                                  </p:childTnLst>
                                </p:cTn>
                              </p:par>
                            </p:childTnLst>
                          </p:cTn>
                        </p:par>
                      </p:childTnLst>
                    </p:cTn>
                  </p:par>
                  <p:par>
                    <p:cTn id="1911" nodeType="clickEffect" fill="hold">
                      <p:stCondLst>
                        <p:cond delay="indefinite"/>
                      </p:stCondLst>
                      <p:childTnLst>
                        <p:par>
                          <p:cTn id="1912" nodeType="withEffect" fill="hold">
                            <p:stCondLst>
                              <p:cond delay="0"/>
                            </p:stCondLst>
                            <p:childTnLst>
                              <p:par>
                                <p:cTn id="1913" nodeType="clickEffect" fill="hold" presetClass="entr" presetID="22" presetSubtype="8">
                                  <p:stCondLst>
                                    <p:cond delay="0"/>
                                  </p:stCondLst>
                                  <p:childTnLst>
                                    <p:set>
                                      <p:cBhvr>
                                        <p:cTn id="1914" dur="1" fill="hold">
                                          <p:stCondLst>
                                            <p:cond delay="0"/>
                                          </p:stCondLst>
                                        </p:cTn>
                                        <p:tgtEl>
                                          <p:spTgt spid="1125"/>
                                        </p:tgtEl>
                                        <p:attrNameLst>
                                          <p:attrName>style.visibility</p:attrName>
                                        </p:attrNameLst>
                                      </p:cBhvr>
                                      <p:to>
                                        <p:strVal val="visible"/>
                                      </p:to>
                                    </p:set>
                                    <p:animEffect filter="wipe(left)" transition="in">
                                      <p:cBhvr additive="repl">
                                        <p:cTn id="1915" dur="3000"/>
                                        <p:tgtEl>
                                          <p:spTgt spid="1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Mésocycles,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1127" name="Flèche droite 2"/>
          <p:cNvSpPr/>
          <p:nvPr/>
        </p:nvSpPr>
        <p:spPr>
          <a:xfrm>
            <a:off x="468360" y="407664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16" dur="indefinite" restart="never" nodeType="tmRoot">
          <p:childTnLst>
            <p:seq>
              <p:cTn id="1917" dur="indefinite" nodeType="mainSeq">
                <p:childTnLst>
                  <p:par>
                    <p:cTn id="1918" nodeType="clickEffect" fill="hold">
                      <p:stCondLst>
                        <p:cond delay="indefinite"/>
                      </p:stCondLst>
                      <p:childTnLst>
                        <p:par>
                          <p:cTn id="1919" nodeType="withEffect" fill="hold">
                            <p:stCondLst>
                              <p:cond delay="0"/>
                            </p:stCondLst>
                            <p:childTnLst>
                              <p:par>
                                <p:cTn id="1920" nodeType="clickEffect" fill="hold" presetClass="entr" presetID="22" presetSubtype="8">
                                  <p:stCondLst>
                                    <p:cond delay="0"/>
                                  </p:stCondLst>
                                  <p:childTnLst>
                                    <p:set>
                                      <p:cBhvr>
                                        <p:cTn id="1921" dur="1" fill="hold">
                                          <p:stCondLst>
                                            <p:cond delay="0"/>
                                          </p:stCondLst>
                                        </p:cTn>
                                        <p:tgtEl>
                                          <p:spTgt spid="1127"/>
                                        </p:tgtEl>
                                        <p:attrNameLst>
                                          <p:attrName>style.visibility</p:attrName>
                                        </p:attrNameLst>
                                      </p:cBhvr>
                                      <p:to>
                                        <p:strVal val="visible"/>
                                      </p:to>
                                    </p:set>
                                    <p:animEffect filter="wipe(left)" transition="in">
                                      <p:cBhvr additive="repl">
                                        <p:cTn id="1922" dur="500"/>
                                        <p:tgtEl>
                                          <p:spTgt spid="1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8"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1129"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0"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131"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2"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3"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4"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Programmation, </a:t>
            </a:r>
            <a:r>
              <a:rPr b="0" lang="fr-FR" sz="2400" strike="noStrike" u="none">
                <a:solidFill>
                  <a:srgbClr val="f8f8f8"/>
                </a:solidFill>
                <a:effectLst/>
                <a:uFillTx/>
                <a:latin typeface="Bookman Old Style"/>
              </a:rPr>
              <a:t>(une saison)</a:t>
            </a:r>
            <a:endParaRPr b="0" lang="en-US" sz="2400" strike="noStrike" u="none">
              <a:solidFill>
                <a:srgbClr val="ffff00"/>
              </a:solidFill>
              <a:effectLst/>
              <a:uFillTx/>
              <a:latin typeface="Times New Roman"/>
            </a:endParaRPr>
          </a:p>
        </p:txBody>
      </p:sp>
      <p:sp>
        <p:nvSpPr>
          <p:cNvPr id="1135"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6"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7"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8"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39" name="Text Box 13"/>
          <p:cNvSpPr/>
          <p:nvPr/>
        </p:nvSpPr>
        <p:spPr>
          <a:xfrm>
            <a:off x="2292120" y="3425760"/>
            <a:ext cx="1936800" cy="39888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8f8f8"/>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140" name="Text Box 14"/>
          <p:cNvSpPr/>
          <p:nvPr/>
        </p:nvSpPr>
        <p:spPr>
          <a:xfrm>
            <a:off x="4578120" y="3427560"/>
            <a:ext cx="1936800" cy="39888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8f8f8"/>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141"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2"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3"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4" name="Text Box 18"/>
          <p:cNvSpPr/>
          <p:nvPr/>
        </p:nvSpPr>
        <p:spPr>
          <a:xfrm>
            <a:off x="6635520" y="3425760"/>
            <a:ext cx="1936800" cy="39888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8f8f8"/>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145"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6"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7"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8" name="Text Box 22"/>
          <p:cNvSpPr/>
          <p:nvPr/>
        </p:nvSpPr>
        <p:spPr>
          <a:xfrm>
            <a:off x="234720" y="3427560"/>
            <a:ext cx="1936800" cy="398880"/>
          </a:xfrm>
          <a:prstGeom prst="rect">
            <a:avLst/>
          </a:prstGeom>
          <a:noFill/>
          <a:ln w="9360">
            <a:solidFill>
              <a:srgbClr val="f8f8f8"/>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8f8f8"/>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149"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150"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151"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1152" name="Line 26"/>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3" name="Line 27"/>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4" name="Line 28"/>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5" name="Line 29"/>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6" name="Line 30"/>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7" name="Line 31"/>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8" name="Line 32"/>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59" name="Line 33"/>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0" name="Line 34"/>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1" name="Line 35"/>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2" name="Line 36"/>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3" name="Text Box 37"/>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164" name="Line 38"/>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5" name="Line 39"/>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6" name="Line 40"/>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7" name="Line 41"/>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8" name="Text Box 42"/>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169" name="Line 43"/>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0" name="Line 44"/>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1" name="Line 45"/>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2" name="Line 46"/>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3" name="Text Box 47"/>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174" name="Line 48"/>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5" name="Line 49"/>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6" name="Line 50"/>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7" name="Line 51"/>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78" name="Ellipse 1"/>
          <p:cNvSpPr/>
          <p:nvPr/>
        </p:nvSpPr>
        <p:spPr>
          <a:xfrm>
            <a:off x="0" y="4676760"/>
            <a:ext cx="9144000" cy="895320"/>
          </a:xfrm>
          <a:prstGeom prst="ellipse">
            <a:avLst/>
          </a:prstGeom>
          <a:noFill/>
          <a:ln w="2556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23" dur="indefinite" restart="never" nodeType="tmRoot">
          <p:childTnLst>
            <p:seq>
              <p:cTn id="1924" dur="indefinite" nodeType="mainSeq">
                <p:childTnLst>
                  <p:par>
                    <p:cTn id="1925" nodeType="clickEffect" fill="hold">
                      <p:stCondLst>
                        <p:cond delay="0"/>
                      </p:stCondLst>
                      <p:childTnLst>
                        <p:par>
                          <p:cTn id="1926" nodeType="withEffect" fill="hold">
                            <p:stCondLst>
                              <p:cond delay="0"/>
                            </p:stCondLst>
                            <p:childTnLst>
                              <p:par>
                                <p:cTn id="1927" nodeType="afterEffect" fill="hold" presetClass="entr" presetID="22" presetSubtype="4" repeatCount="1000">
                                  <p:stCondLst>
                                    <p:cond delay="0"/>
                                  </p:stCondLst>
                                  <p:childTnLst>
                                    <p:set>
                                      <p:cBhvr>
                                        <p:cTn id="1928" dur="1" fill="hold">
                                          <p:stCondLst>
                                            <p:cond delay="0"/>
                                          </p:stCondLst>
                                        </p:cTn>
                                        <p:tgtEl>
                                          <p:spTgt spid="1178"/>
                                        </p:tgtEl>
                                        <p:attrNameLst>
                                          <p:attrName>style.visibility</p:attrName>
                                        </p:attrNameLst>
                                      </p:cBhvr>
                                      <p:to>
                                        <p:strVal val="visible"/>
                                      </p:to>
                                    </p:set>
                                    <p:animEffect filter="wipe(down)" transition="in">
                                      <p:cBhvr additive="repl">
                                        <p:cTn id="1929" dur="1000"/>
                                        <p:tgtEl>
                                          <p:spTgt spid="1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9" name="Text Box 4"/>
          <p:cNvSpPr/>
          <p:nvPr/>
        </p:nvSpPr>
        <p:spPr>
          <a:xfrm>
            <a:off x="1334160" y="2349360"/>
            <a:ext cx="6456240" cy="764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400" strike="noStrike" u="none">
                <a:solidFill>
                  <a:srgbClr val="f8f8f8"/>
                </a:solidFill>
                <a:effectLst/>
                <a:uFillTx/>
                <a:latin typeface="Bookman Old Style"/>
              </a:rPr>
              <a:t>1.3 - LE MICROCYCLE</a:t>
            </a:r>
            <a:endParaRPr b="0" lang="en-US" sz="4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Text Box 2"/>
          <p:cNvSpPr/>
          <p:nvPr/>
        </p:nvSpPr>
        <p:spPr>
          <a:xfrm>
            <a:off x="0" y="609480"/>
            <a:ext cx="9144000" cy="51498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8f8f8"/>
                </a:solidFill>
                <a:effectLst/>
                <a:uFillTx/>
                <a:latin typeface="Calibri"/>
                <a:ea typeface="Calibri"/>
              </a:rPr>
              <a:t> Le microcycle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Principes d’élaboration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Text Box 2"/>
          <p:cNvSpPr/>
          <p:nvPr/>
        </p:nvSpPr>
        <p:spPr>
          <a:xfrm>
            <a:off x="609480" y="990720"/>
            <a:ext cx="7925040" cy="58435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6000" strike="noStrike" u="sng">
                <a:solidFill>
                  <a:srgbClr val="ffffff"/>
                </a:solidFill>
                <a:effectLst/>
                <a:uFillTx/>
                <a:latin typeface="Calibri"/>
                <a:ea typeface="Calibri"/>
              </a:rPr>
              <a:t>Microcycle</a:t>
            </a:r>
            <a:endParaRPr b="0" lang="en-US" sz="6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66ffff"/>
                </a:solidFill>
                <a:effectLst/>
                <a:uFillTx/>
                <a:latin typeface="Calibri"/>
                <a:ea typeface="Calibri"/>
              </a:rPr>
              <a:t>[</a:t>
            </a:r>
            <a:r>
              <a:rPr b="1" i="1" lang="fr-CA" sz="3000" strike="noStrike" u="none">
                <a:solidFill>
                  <a:srgbClr val="66ffff"/>
                </a:solidFill>
                <a:effectLst/>
                <a:uFillTx/>
                <a:latin typeface="Calibri"/>
                <a:ea typeface="Calibri"/>
              </a:rPr>
              <a:t>Mikros</a:t>
            </a:r>
            <a:r>
              <a:rPr b="1" lang="fr-CA" sz="3000" strike="noStrike" u="none">
                <a:solidFill>
                  <a:srgbClr val="66ffff"/>
                </a:solidFill>
                <a:effectLst/>
                <a:uFillTx/>
                <a:latin typeface="Calibri"/>
                <a:ea typeface="Calibri"/>
              </a:rPr>
              <a:t>]</a:t>
            </a:r>
            <a:r>
              <a:rPr b="1" lang="fr-CA" sz="3000" strike="noStrike" u="none">
                <a:solidFill>
                  <a:srgbClr val="ffff00"/>
                </a:solidFill>
                <a:effectLst/>
                <a:uFillTx/>
                <a:latin typeface="Calibri"/>
                <a:ea typeface="Calibri"/>
              </a:rPr>
              <a:t> </a:t>
            </a:r>
            <a:r>
              <a:rPr b="1" lang="fr-CA" sz="3000" strike="noStrike" u="none">
                <a:solidFill>
                  <a:srgbClr val="ffffff"/>
                </a:solidFill>
                <a:effectLst/>
                <a:uFillTx/>
                <a:latin typeface="Calibri"/>
                <a:ea typeface="Calibri"/>
              </a:rPr>
              <a:t>: petit</a:t>
            </a:r>
            <a:endParaRPr b="0" lang="en-US" sz="3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66ffff"/>
                </a:solidFill>
                <a:effectLst/>
                <a:uFillTx/>
                <a:latin typeface="Calibri"/>
                <a:ea typeface="Calibri"/>
              </a:rPr>
              <a:t>[</a:t>
            </a:r>
            <a:r>
              <a:rPr b="1" i="1" lang="fr-CA" sz="3000" strike="noStrike" u="none">
                <a:solidFill>
                  <a:srgbClr val="66ffff"/>
                </a:solidFill>
                <a:effectLst/>
                <a:uFillTx/>
                <a:latin typeface="Calibri"/>
                <a:ea typeface="Calibri"/>
              </a:rPr>
              <a:t>Cyclus</a:t>
            </a:r>
            <a:r>
              <a:rPr b="1" lang="fr-CA" sz="3000" strike="noStrike" u="none">
                <a:solidFill>
                  <a:srgbClr val="66ffff"/>
                </a:solidFill>
                <a:effectLst/>
                <a:uFillTx/>
                <a:latin typeface="Calibri"/>
                <a:ea typeface="Calibri"/>
              </a:rPr>
              <a:t>]</a:t>
            </a:r>
            <a:r>
              <a:rPr b="1" lang="fr-CA" sz="3000" strike="noStrike" u="none">
                <a:solidFill>
                  <a:srgbClr val="ffff00"/>
                </a:solidFill>
                <a:effectLst/>
                <a:uFillTx/>
                <a:latin typeface="Calibri"/>
                <a:ea typeface="Calibri"/>
              </a:rPr>
              <a:t> </a:t>
            </a:r>
            <a:r>
              <a:rPr b="1" lang="fr-CA" sz="3000" strike="noStrike" u="none">
                <a:solidFill>
                  <a:srgbClr val="ffffff"/>
                </a:solidFill>
                <a:effectLst/>
                <a:uFillTx/>
                <a:latin typeface="Calibri"/>
                <a:ea typeface="Calibri"/>
              </a:rPr>
              <a:t>: phénomène qui revient à intervalles réguliers</a:t>
            </a:r>
            <a:endParaRPr b="0" lang="en-US" sz="3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000" strike="noStrike" u="none">
                <a:solidFill>
                  <a:srgbClr val="ffff00"/>
                </a:solidFill>
                <a:effectLst/>
                <a:uFillTx/>
                <a:latin typeface="Calibri"/>
                <a:ea typeface="Calibri"/>
              </a:rPr>
              <a:t>Ensemble constitué par un groupe de séances réparties sur plusieurs jours, et destiné à aborder un point particulier à une étape donnée de la préparation.</a:t>
            </a:r>
            <a:r>
              <a:rPr b="1" lang="fr-FR" sz="3000" strike="noStrike" u="none">
                <a:solidFill>
                  <a:srgbClr val="ffcc00"/>
                </a:solidFill>
                <a:effectLst/>
                <a:uFillTx/>
                <a:latin typeface="Calibri"/>
                <a:ea typeface="Calibri"/>
              </a:rPr>
              <a:t> </a:t>
            </a:r>
            <a:endParaRPr b="0" lang="en-US" sz="3000" strike="noStrike" u="none">
              <a:solidFill>
                <a:srgbClr val="ffff00"/>
              </a:solidFill>
              <a:effectLst/>
              <a:uFillTx/>
              <a:latin typeface="Times New Roman"/>
            </a:endParaRPr>
          </a:p>
        </p:txBody>
      </p:sp>
      <p:graphicFrame>
        <p:nvGraphicFramePr>
          <p:cNvPr id="1182" name="Object 3"/>
          <p:cNvGraphicFramePr/>
          <p:nvPr/>
        </p:nvGraphicFramePr>
        <p:xfrm>
          <a:off x="5105520" y="0"/>
          <a:ext cx="3276360" cy="2081160"/>
        </p:xfrm>
        <a:graphic>
          <a:graphicData uri="http://schemas.openxmlformats.org/presentationml/2006/ole">
            <p:oleObj progId="Excel.Sheet.12" r:id="rId1" spid="">
              <p:embed/>
              <p:pic>
                <p:nvPicPr>
                  <p:cNvPr id="1183" name="Object 3" descr=""/>
                  <p:cNvPicPr/>
                  <p:nvPr/>
                </p:nvPicPr>
                <p:blipFill>
                  <a:blip r:embed="rId2"/>
                  <a:stretch/>
                </p:blipFill>
                <p:spPr>
                  <a:xfrm>
                    <a:off x="5105520" y="0"/>
                    <a:ext cx="3276360" cy="2081160"/>
                  </a:xfrm>
                  <a:prstGeom prst="rect">
                    <a:avLst/>
                  </a:prstGeom>
                  <a:noFill/>
                  <a:ln w="0">
                    <a:noFill/>
                  </a:ln>
                </p:spPr>
              </p:pic>
            </p:oleObj>
          </a:graphicData>
        </a:graphic>
      </p:graphicFrame>
      <p:sp>
        <p:nvSpPr>
          <p:cNvPr id="1184" name="Text Box 4"/>
          <p:cNvSpPr/>
          <p:nvPr/>
        </p:nvSpPr>
        <p:spPr>
          <a:xfrm>
            <a:off x="6810480" y="6453360"/>
            <a:ext cx="2006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ffff00"/>
                </a:solidFill>
                <a:effectLst/>
                <a:uFillTx/>
                <a:latin typeface="Arial"/>
              </a:rPr>
              <a:t>L. Bosquet DU 2006</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5" name="Text Box 2"/>
          <p:cNvSpPr/>
          <p:nvPr/>
        </p:nvSpPr>
        <p:spPr>
          <a:xfrm>
            <a:off x="0" y="609480"/>
            <a:ext cx="9144000" cy="51498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 Le microcycle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3333cc"/>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3333cc"/>
                </a:solidFill>
                <a:effectLst/>
                <a:uFillTx/>
                <a:latin typeface="Calibri"/>
                <a:ea typeface="Calibri"/>
              </a:rPr>
              <a:t>Principes d’élaboration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186" name="Object 2"/>
          <p:cNvGraphicFramePr/>
          <p:nvPr/>
        </p:nvGraphicFramePr>
        <p:xfrm>
          <a:off x="7162920" y="228600"/>
          <a:ext cx="1981080" cy="1254240"/>
        </p:xfrm>
        <a:graphic>
          <a:graphicData uri="http://schemas.openxmlformats.org/presentationml/2006/ole">
            <p:oleObj progId="Excel.Sheet.12" r:id="rId1" spid="">
              <p:embed/>
              <p:pic>
                <p:nvPicPr>
                  <p:cNvPr id="1187"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188" name="Rectangle 3"/>
          <p:cNvSpPr/>
          <p:nvPr/>
        </p:nvSpPr>
        <p:spPr>
          <a:xfrm>
            <a:off x="380880" y="609480"/>
            <a:ext cx="8763120" cy="730044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Microcycle graduel</a:t>
            </a:r>
            <a:endParaRPr b="0" lang="en-US" sz="6000" strike="noStrike" u="none">
              <a:solidFill>
                <a:srgbClr val="ffff00"/>
              </a:solidFill>
              <a:effectLst/>
              <a:uFillTx/>
              <a:latin typeface="Times New Roman"/>
            </a:endParaRPr>
          </a:p>
          <a:p>
            <a:pPr marL="457200" indent="-45720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Faible niveau de sollicitation</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Prépare l’organisme à un travail d’entraînement intense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Constitue généralement l’étape initiale de la saison (reprise</a:t>
            </a:r>
            <a:r>
              <a:rPr b="1" i="1" lang="fr-FR" sz="4000" strike="noStrike" u="none">
                <a:solidFill>
                  <a:srgbClr val="ffcc00"/>
                </a:solidFill>
                <a:effectLst/>
                <a:uFillTx/>
                <a:latin typeface="Calibri"/>
                <a:ea typeface="Calibri"/>
              </a:rPr>
              <a:t>)</a:t>
            </a:r>
            <a:endParaRPr b="0" lang="en-US" sz="4000" strike="noStrike" u="none">
              <a:solidFill>
                <a:srgbClr val="ffff00"/>
              </a:solidFill>
              <a:effectLst/>
              <a:uFillTx/>
              <a:latin typeface="Times New Roman"/>
            </a:endParaRPr>
          </a:p>
        </p:txBody>
      </p:sp>
      <p:sp>
        <p:nvSpPr>
          <p:cNvPr id="1189" name="Text Box 4"/>
          <p:cNvSpPr/>
          <p:nvPr/>
        </p:nvSpPr>
        <p:spPr>
          <a:xfrm>
            <a:off x="6612840" y="6453360"/>
            <a:ext cx="2201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ffff00"/>
                </a:solidFill>
                <a:effectLst/>
                <a:uFillTx/>
                <a:latin typeface="Calibri"/>
                <a:ea typeface="Calibri"/>
              </a:rPr>
              <a:t>L. Bosquet DU 2006</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Rectangle 4"/>
          <p:cNvSpPr/>
          <p:nvPr/>
        </p:nvSpPr>
        <p:spPr>
          <a:xfrm>
            <a:off x="0" y="1249200"/>
            <a:ext cx="9144000" cy="360"/>
          </a:xfrm>
          <a:prstGeom prst="rect">
            <a:avLst/>
          </a:prstGeom>
          <a:noFill/>
          <a:ln w="0">
            <a:noFill/>
          </a:ln>
        </p:spPr>
        <p:style>
          <a:lnRef idx="0"/>
          <a:fillRef idx="0"/>
          <a:effectRef idx="0"/>
          <a:fontRef idx="minor"/>
        </p:style>
        <p:txBody>
          <a:bodyPr wrap="none" lIns="90000" rIns="90000" tIns="-46440" bIns="-46440" anchor="ctr">
            <a:spAutoFit/>
          </a:bodyPr>
          <a:p>
            <a:pPr>
              <a:lnSpc>
                <a:spcPct val="100000"/>
              </a:lnSpc>
              <a:tabLst>
                <a:tab algn="l" pos="0"/>
                <a:tab algn="l" pos="108252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1" name="Line 55"/>
          <p:cNvSpPr/>
          <p:nvPr/>
        </p:nvSpPr>
        <p:spPr>
          <a:xfrm>
            <a:off x="3079800" y="1123920"/>
            <a:ext cx="0" cy="48974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92" name="Line 56"/>
          <p:cNvSpPr/>
          <p:nvPr/>
        </p:nvSpPr>
        <p:spPr>
          <a:xfrm>
            <a:off x="3079800" y="6021360"/>
            <a:ext cx="511344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93" name="Rectangle 57"/>
          <p:cNvSpPr/>
          <p:nvPr/>
        </p:nvSpPr>
        <p:spPr>
          <a:xfrm>
            <a:off x="3728880" y="4221000"/>
            <a:ext cx="503280" cy="180036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4" name="Rectangle 58"/>
          <p:cNvSpPr/>
          <p:nvPr/>
        </p:nvSpPr>
        <p:spPr>
          <a:xfrm>
            <a:off x="4305240" y="3860640"/>
            <a:ext cx="503280" cy="216072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5" name="Rectangle 59"/>
          <p:cNvSpPr/>
          <p:nvPr/>
        </p:nvSpPr>
        <p:spPr>
          <a:xfrm>
            <a:off x="4879800" y="3355920"/>
            <a:ext cx="503280" cy="266544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6" name="Rectangle 60"/>
          <p:cNvSpPr/>
          <p:nvPr/>
        </p:nvSpPr>
        <p:spPr>
          <a:xfrm>
            <a:off x="6033960" y="2924280"/>
            <a:ext cx="503280" cy="309708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7" name="Rectangle 61"/>
          <p:cNvSpPr/>
          <p:nvPr/>
        </p:nvSpPr>
        <p:spPr>
          <a:xfrm>
            <a:off x="5457960" y="4221000"/>
            <a:ext cx="503280" cy="180036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8" name="Rectangle 62"/>
          <p:cNvSpPr/>
          <p:nvPr/>
        </p:nvSpPr>
        <p:spPr>
          <a:xfrm>
            <a:off x="6608880" y="2421000"/>
            <a:ext cx="503280" cy="360036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99" name="Rectangle 63"/>
          <p:cNvSpPr/>
          <p:nvPr/>
        </p:nvSpPr>
        <p:spPr>
          <a:xfrm>
            <a:off x="7184880" y="4221000"/>
            <a:ext cx="503280" cy="1800360"/>
          </a:xfrm>
          <a:prstGeom prst="rect">
            <a:avLst/>
          </a:prstGeom>
          <a:gradFill rotWithShape="0">
            <a:gsLst>
              <a:gs pos="0">
                <a:srgbClr val="4cbdbd"/>
              </a:gs>
              <a:gs pos="50000">
                <a:srgbClr val="66ffff"/>
              </a:gs>
              <a:gs pos="100000">
                <a:srgbClr val="4cbdbd"/>
              </a:gs>
            </a:gsLst>
            <a:lin ang="0"/>
          </a:gradFill>
          <a:ln w="9360">
            <a:solidFill>
              <a:srgbClr val="ffff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00" name="Line 64"/>
          <p:cNvSpPr/>
          <p:nvPr/>
        </p:nvSpPr>
        <p:spPr>
          <a:xfrm>
            <a:off x="3079800" y="4221000"/>
            <a:ext cx="489744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01" name="Text Box 65"/>
          <p:cNvSpPr/>
          <p:nvPr/>
        </p:nvSpPr>
        <p:spPr>
          <a:xfrm>
            <a:off x="77760" y="-179280"/>
            <a:ext cx="2811600" cy="5013000"/>
          </a:xfrm>
          <a:prstGeom prst="rect">
            <a:avLst/>
          </a:prstGeom>
          <a:noFill/>
          <a:ln w="0">
            <a:noFill/>
          </a:ln>
        </p:spPr>
        <p:style>
          <a:lnRef idx="0"/>
          <a:fillRef idx="0"/>
          <a:effectRef idx="0"/>
          <a:fontRef idx="minor"/>
        </p:style>
        <p:txBody>
          <a:bodyPr wrap="none"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INTENSIT</a:t>
            </a:r>
            <a:r>
              <a:rPr b="1" lang="en-US" sz="2000" strike="noStrike" u="none">
                <a:solidFill>
                  <a:srgbClr val="ffffff"/>
                </a:solidFill>
                <a:effectLst/>
                <a:uFillTx/>
                <a:latin typeface="Arial"/>
                <a:ea typeface="Arial"/>
              </a:rPr>
              <a:t>É % VAM</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Maximale et supramax.</a:t>
            </a: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100-120%</a:t>
            </a: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Élevée 90-100%</a:t>
            </a: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Moyenne 80-90%</a:t>
            </a:r>
            <a:endParaRPr b="0" lang="en-US" sz="20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ts val="34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Faible 50-80%</a:t>
            </a:r>
            <a:endParaRPr b="0" lang="en-US" sz="2000" strike="noStrike" u="none">
              <a:solidFill>
                <a:srgbClr val="ffff00"/>
              </a:solidFill>
              <a:effectLst/>
              <a:uFillTx/>
              <a:latin typeface="Times New Roman"/>
            </a:endParaRPr>
          </a:p>
          <a:p>
            <a:pPr>
              <a:lnSpc>
                <a:spcPts val="34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ts val="34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Régénération 0-50%</a:t>
            </a:r>
            <a:endParaRPr b="0" lang="en-US" sz="2000" strike="noStrike" u="none">
              <a:solidFill>
                <a:srgbClr val="ffff00"/>
              </a:solidFill>
              <a:effectLst/>
              <a:uFillTx/>
              <a:latin typeface="Times New Roman"/>
            </a:endParaRPr>
          </a:p>
        </p:txBody>
      </p:sp>
      <p:sp>
        <p:nvSpPr>
          <p:cNvPr id="1202" name="Line 66"/>
          <p:cNvSpPr/>
          <p:nvPr/>
        </p:nvSpPr>
        <p:spPr>
          <a:xfrm>
            <a:off x="3079800" y="3355920"/>
            <a:ext cx="489744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03" name="Line 67"/>
          <p:cNvSpPr/>
          <p:nvPr/>
        </p:nvSpPr>
        <p:spPr>
          <a:xfrm>
            <a:off x="3079800" y="2347920"/>
            <a:ext cx="489744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04" name="Line 68"/>
          <p:cNvSpPr/>
          <p:nvPr/>
        </p:nvSpPr>
        <p:spPr>
          <a:xfrm>
            <a:off x="3079800" y="1484280"/>
            <a:ext cx="489744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05" name="Rectangle 69"/>
          <p:cNvSpPr/>
          <p:nvPr/>
        </p:nvSpPr>
        <p:spPr>
          <a:xfrm>
            <a:off x="2913480" y="419040"/>
            <a:ext cx="57873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2400" strike="noStrike" u="none">
                <a:solidFill>
                  <a:srgbClr val="ffffff"/>
                </a:solidFill>
                <a:effectLst/>
                <a:uFillTx/>
                <a:latin typeface="Arial"/>
              </a:rPr>
              <a:t>Microcycle graduel de début de saison</a:t>
            </a:r>
            <a:endParaRPr b="0" lang="en-US" sz="2400" strike="noStrike" u="none">
              <a:solidFill>
                <a:srgbClr val="ffff00"/>
              </a:solidFill>
              <a:effectLst/>
              <a:uFillTx/>
              <a:latin typeface="Times New Roman"/>
            </a:endParaRPr>
          </a:p>
        </p:txBody>
      </p:sp>
      <p:sp>
        <p:nvSpPr>
          <p:cNvPr id="1206" name="Text Box 70"/>
          <p:cNvSpPr/>
          <p:nvPr/>
        </p:nvSpPr>
        <p:spPr>
          <a:xfrm>
            <a:off x="3157200" y="6140520"/>
            <a:ext cx="5298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Séances quotidiennes d’entraînement</a:t>
            </a:r>
            <a:endParaRPr b="0" lang="en-US" sz="2400" strike="noStrike" u="none">
              <a:solidFill>
                <a:srgbClr val="ffff00"/>
              </a:solidFill>
              <a:effectLst/>
              <a:uFillTx/>
              <a:latin typeface="Times New Roman"/>
            </a:endParaRPr>
          </a:p>
        </p:txBody>
      </p:sp>
      <p:sp>
        <p:nvSpPr>
          <p:cNvPr id="1207" name="ZoneTexte 1"/>
          <p:cNvSpPr/>
          <p:nvPr/>
        </p:nvSpPr>
        <p:spPr>
          <a:xfrm>
            <a:off x="3774960" y="3759120"/>
            <a:ext cx="375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a:t>
            </a:r>
            <a:endParaRPr b="0" lang="en-US" sz="2400" strike="noStrike" u="none">
              <a:solidFill>
                <a:srgbClr val="ffff00"/>
              </a:solidFill>
              <a:effectLst/>
              <a:uFillTx/>
              <a:latin typeface="Times New Roman"/>
            </a:endParaRPr>
          </a:p>
        </p:txBody>
      </p:sp>
      <p:sp>
        <p:nvSpPr>
          <p:cNvPr id="1208" name="ZoneTexte 20"/>
          <p:cNvSpPr/>
          <p:nvPr/>
        </p:nvSpPr>
        <p:spPr>
          <a:xfrm>
            <a:off x="4917240" y="2889360"/>
            <a:ext cx="484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M</a:t>
            </a:r>
            <a:endParaRPr b="0" lang="en-US" sz="2400" strike="noStrike" u="none">
              <a:solidFill>
                <a:srgbClr val="ffff00"/>
              </a:solidFill>
              <a:effectLst/>
              <a:uFillTx/>
              <a:latin typeface="Times New Roman"/>
            </a:endParaRPr>
          </a:p>
        </p:txBody>
      </p:sp>
      <p:sp>
        <p:nvSpPr>
          <p:cNvPr id="1209" name="ZoneTexte 21"/>
          <p:cNvSpPr/>
          <p:nvPr/>
        </p:nvSpPr>
        <p:spPr>
          <a:xfrm>
            <a:off x="4399920" y="3398760"/>
            <a:ext cx="484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M</a:t>
            </a:r>
            <a:endParaRPr b="0" lang="en-US" sz="2400" strike="noStrike" u="none">
              <a:solidFill>
                <a:srgbClr val="ffff00"/>
              </a:solidFill>
              <a:effectLst/>
              <a:uFillTx/>
              <a:latin typeface="Times New Roman"/>
            </a:endParaRPr>
          </a:p>
        </p:txBody>
      </p:sp>
      <p:sp>
        <p:nvSpPr>
          <p:cNvPr id="1210" name="ZoneTexte 22"/>
          <p:cNvSpPr/>
          <p:nvPr/>
        </p:nvSpPr>
        <p:spPr>
          <a:xfrm>
            <a:off x="5570640" y="3684600"/>
            <a:ext cx="29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J</a:t>
            </a:r>
            <a:endParaRPr b="0" lang="en-US" sz="2400" strike="noStrike" u="none">
              <a:solidFill>
                <a:srgbClr val="ffff00"/>
              </a:solidFill>
              <a:effectLst/>
              <a:uFillTx/>
              <a:latin typeface="Times New Roman"/>
            </a:endParaRPr>
          </a:p>
        </p:txBody>
      </p:sp>
      <p:sp>
        <p:nvSpPr>
          <p:cNvPr id="1211" name="ZoneTexte 23"/>
          <p:cNvSpPr/>
          <p:nvPr/>
        </p:nvSpPr>
        <p:spPr>
          <a:xfrm>
            <a:off x="6104520" y="2465280"/>
            <a:ext cx="4165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V</a:t>
            </a:r>
            <a:endParaRPr b="0" lang="en-US" sz="2400" strike="noStrike" u="none">
              <a:solidFill>
                <a:srgbClr val="ffff00"/>
              </a:solidFill>
              <a:effectLst/>
              <a:uFillTx/>
              <a:latin typeface="Times New Roman"/>
            </a:endParaRPr>
          </a:p>
        </p:txBody>
      </p:sp>
      <p:sp>
        <p:nvSpPr>
          <p:cNvPr id="1212" name="ZoneTexte 24"/>
          <p:cNvSpPr/>
          <p:nvPr/>
        </p:nvSpPr>
        <p:spPr>
          <a:xfrm>
            <a:off x="6669000" y="1959120"/>
            <a:ext cx="4003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S</a:t>
            </a:r>
            <a:endParaRPr b="0" lang="en-US" sz="2400" strike="noStrike" u="none">
              <a:solidFill>
                <a:srgbClr val="ffff00"/>
              </a:solidFill>
              <a:effectLst/>
              <a:uFillTx/>
              <a:latin typeface="Times New Roman"/>
            </a:endParaRPr>
          </a:p>
        </p:txBody>
      </p:sp>
      <p:sp>
        <p:nvSpPr>
          <p:cNvPr id="1213" name="ZoneTexte 25"/>
          <p:cNvSpPr/>
          <p:nvPr/>
        </p:nvSpPr>
        <p:spPr>
          <a:xfrm>
            <a:off x="7252560" y="3684600"/>
            <a:ext cx="4338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D</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14" name="Object 2"/>
          <p:cNvGraphicFramePr/>
          <p:nvPr/>
        </p:nvGraphicFramePr>
        <p:xfrm>
          <a:off x="7162920" y="228600"/>
          <a:ext cx="1981080" cy="1254240"/>
        </p:xfrm>
        <a:graphic>
          <a:graphicData uri="http://schemas.openxmlformats.org/presentationml/2006/ole">
            <p:oleObj progId="Excel.Sheet.12" r:id="rId1" spid="">
              <p:embed/>
              <p:pic>
                <p:nvPicPr>
                  <p:cNvPr id="1215"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216" name="Rectangle 3"/>
          <p:cNvSpPr/>
          <p:nvPr/>
        </p:nvSpPr>
        <p:spPr>
          <a:xfrm>
            <a:off x="179280" y="369720"/>
            <a:ext cx="8763120" cy="680364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Microcycle de choc</a:t>
            </a:r>
            <a:endParaRPr b="0" lang="en-US" sz="60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Grand volume et intensité progressivement de plus en plus élevée des charges d’entraînement; sollicitation élevée</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Stimule les processus d’adaptation de l’organisme</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Utilisé en période de préparation et de compétition</a:t>
            </a:r>
            <a:endParaRPr b="0" lang="en-US" sz="3600" strike="noStrike" u="none">
              <a:solidFill>
                <a:srgbClr val="ffff00"/>
              </a:solidFill>
              <a:effectLst/>
              <a:uFillTx/>
              <a:latin typeface="Times New Roman"/>
            </a:endParaRPr>
          </a:p>
        </p:txBody>
      </p:sp>
      <p:sp>
        <p:nvSpPr>
          <p:cNvPr id="1217" name="Text Box 4"/>
          <p:cNvSpPr/>
          <p:nvPr/>
        </p:nvSpPr>
        <p:spPr>
          <a:xfrm>
            <a:off x="6810480" y="6453360"/>
            <a:ext cx="2006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ffff00"/>
                </a:solidFill>
                <a:effectLst/>
                <a:uFillTx/>
                <a:latin typeface="Arial"/>
              </a:rPr>
              <a:t>L. Bosquet DU 2006</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18" name="Object 2"/>
          <p:cNvGraphicFramePr/>
          <p:nvPr/>
        </p:nvGraphicFramePr>
        <p:xfrm>
          <a:off x="7162920" y="228600"/>
          <a:ext cx="1981080" cy="1254240"/>
        </p:xfrm>
        <a:graphic>
          <a:graphicData uri="http://schemas.openxmlformats.org/presentationml/2006/ole">
            <p:oleObj progId="Excel.Sheet.12" r:id="rId1" spid="">
              <p:embed/>
              <p:pic>
                <p:nvPicPr>
                  <p:cNvPr id="1219"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220" name="Rectangle 3"/>
          <p:cNvSpPr/>
          <p:nvPr/>
        </p:nvSpPr>
        <p:spPr>
          <a:xfrm>
            <a:off x="0" y="609480"/>
            <a:ext cx="9144000" cy="697644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ffff"/>
                </a:solidFill>
                <a:effectLst/>
                <a:uFillTx/>
                <a:latin typeface="Calibri"/>
                <a:ea typeface="Calibri"/>
              </a:rPr>
              <a:t>Microcycle d’approche</a:t>
            </a:r>
            <a:endParaRPr b="0" lang="en-US" sz="55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ffff"/>
                </a:solidFill>
                <a:effectLst/>
                <a:uFillTx/>
                <a:latin typeface="Calibri"/>
                <a:ea typeface="Calibri"/>
              </a:rPr>
              <a:t>                </a:t>
            </a:r>
            <a:r>
              <a:rPr b="1" i="1" lang="fr-CA" sz="3600" strike="noStrike" u="none">
                <a:solidFill>
                  <a:srgbClr val="ffffff"/>
                </a:solidFill>
                <a:effectLst/>
                <a:uFillTx/>
                <a:latin typeface="Calibri"/>
                <a:ea typeface="Calibri"/>
              </a:rPr>
              <a:t>(Affûtage)</a:t>
            </a:r>
            <a:endParaRPr b="0" lang="en-US" sz="36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Volume de travail diminué, sollicitation variée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Prépare le joueur aux conditions de la compétition; favorise la récupération  </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Utilisé en période de compétition</a:t>
            </a:r>
            <a:endParaRPr b="0" lang="en-US" sz="4000" strike="noStrike" u="none">
              <a:solidFill>
                <a:srgbClr val="ffff00"/>
              </a:solidFill>
              <a:effectLst/>
              <a:uFillTx/>
              <a:latin typeface="Times New Roman"/>
            </a:endParaRPr>
          </a:p>
        </p:txBody>
      </p:sp>
      <p:sp>
        <p:nvSpPr>
          <p:cNvPr id="1221" name="Text Box 4"/>
          <p:cNvSpPr/>
          <p:nvPr/>
        </p:nvSpPr>
        <p:spPr>
          <a:xfrm>
            <a:off x="6810480" y="6453360"/>
            <a:ext cx="2006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ffff00"/>
                </a:solidFill>
                <a:effectLst/>
                <a:uFillTx/>
                <a:latin typeface="Arial"/>
              </a:rPr>
              <a:t>L. Bosquet DU 2006</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22" name="Object 2"/>
          <p:cNvGraphicFramePr/>
          <p:nvPr/>
        </p:nvGraphicFramePr>
        <p:xfrm>
          <a:off x="7162920" y="228600"/>
          <a:ext cx="1981080" cy="1254240"/>
        </p:xfrm>
        <a:graphic>
          <a:graphicData uri="http://schemas.openxmlformats.org/presentationml/2006/ole">
            <p:oleObj progId="Excel.Sheet.12" r:id="rId1" spid="">
              <p:embed/>
              <p:pic>
                <p:nvPicPr>
                  <p:cNvPr id="1223"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224" name="Rectangle 3"/>
          <p:cNvSpPr/>
          <p:nvPr/>
        </p:nvSpPr>
        <p:spPr>
          <a:xfrm>
            <a:off x="0" y="115920"/>
            <a:ext cx="9144000" cy="866844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Microcycle de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compétition</a:t>
            </a:r>
            <a:endParaRPr b="0" lang="en-US" sz="55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Volume de travail diminué, sollicitation moins élevée (séance choc) </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Permet au joueur d’arriver reposé à la compétition</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Laisse une grande part à la </a:t>
            </a:r>
            <a:r>
              <a:rPr b="1" i="1" lang="fr-FR" sz="3800" strike="noStrike" u="none">
                <a:solidFill>
                  <a:srgbClr val="ffff00"/>
                </a:solidFill>
                <a:effectLst/>
                <a:uFillTx/>
                <a:latin typeface="Calibri"/>
                <a:ea typeface="Calibri"/>
              </a:rPr>
              <a:t>récupération</a:t>
            </a:r>
            <a:r>
              <a:rPr b="1" i="1" lang="fr-FR" sz="4000" strike="noStrike" u="none">
                <a:solidFill>
                  <a:srgbClr val="ffff00"/>
                </a:solidFill>
                <a:effectLst/>
                <a:uFillTx/>
                <a:latin typeface="Calibri"/>
                <a:ea typeface="Calibri"/>
              </a:rPr>
              <a:t> et à l’entretien des qualités développées</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25" name="Object 2"/>
          <p:cNvGraphicFramePr/>
          <p:nvPr/>
        </p:nvGraphicFramePr>
        <p:xfrm>
          <a:off x="7162920" y="228600"/>
          <a:ext cx="1981080" cy="1254240"/>
        </p:xfrm>
        <a:graphic>
          <a:graphicData uri="http://schemas.openxmlformats.org/presentationml/2006/ole">
            <p:oleObj progId="Excel.Sheet.12" r:id="rId1" spid="">
              <p:embed/>
              <p:pic>
                <p:nvPicPr>
                  <p:cNvPr id="1226"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227" name="Rectangle 3"/>
          <p:cNvSpPr/>
          <p:nvPr/>
        </p:nvSpPr>
        <p:spPr>
          <a:xfrm>
            <a:off x="0" y="115920"/>
            <a:ext cx="9144000" cy="805896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Microcycle de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récupération</a:t>
            </a:r>
            <a:endParaRPr b="0" lang="en-US" sz="55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Volume de travail diminué, sollicitation faible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Permet à l’organisme de récupérer … et de s’adapter</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Utilisé à la fin d’une série de microcycles de choc ou de compétition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8" name="Rectangle 2"/>
          <p:cNvSpPr/>
          <p:nvPr/>
        </p:nvSpPr>
        <p:spPr>
          <a:xfrm>
            <a:off x="0" y="1249200"/>
            <a:ext cx="9144000" cy="360"/>
          </a:xfrm>
          <a:prstGeom prst="rect">
            <a:avLst/>
          </a:prstGeom>
          <a:noFill/>
          <a:ln w="0">
            <a:noFill/>
          </a:ln>
        </p:spPr>
        <p:style>
          <a:lnRef idx="0"/>
          <a:fillRef idx="0"/>
          <a:effectRef idx="0"/>
          <a:fontRef idx="minor"/>
        </p:style>
        <p:txBody>
          <a:bodyPr wrap="none" lIns="90000" rIns="90000" tIns="-46440" bIns="-46440" anchor="ctr">
            <a:spAutoFit/>
          </a:bodyPr>
          <a:p>
            <a:pPr>
              <a:lnSpc>
                <a:spcPct val="100000"/>
              </a:lnSpc>
              <a:tabLst>
                <a:tab algn="l" pos="0"/>
                <a:tab algn="l" pos="108252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nvGrpSpPr>
          <p:cNvPr id="1229" name="Group 3"/>
          <p:cNvGrpSpPr/>
          <p:nvPr/>
        </p:nvGrpSpPr>
        <p:grpSpPr>
          <a:xfrm>
            <a:off x="71280" y="-27000"/>
            <a:ext cx="9072720" cy="5730840"/>
            <a:chOff x="71280" y="-27000"/>
            <a:chExt cx="9072720" cy="5730840"/>
          </a:xfrm>
        </p:grpSpPr>
        <p:sp>
          <p:nvSpPr>
            <p:cNvPr id="1230" name="AutoShape 4"/>
            <p:cNvSpPr/>
            <p:nvPr/>
          </p:nvSpPr>
          <p:spPr>
            <a:xfrm>
              <a:off x="71280" y="-27000"/>
              <a:ext cx="9072720" cy="573084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31" name="Line 5"/>
            <p:cNvSpPr/>
            <p:nvPr/>
          </p:nvSpPr>
          <p:spPr>
            <a:xfrm>
              <a:off x="1622160" y="1584720"/>
              <a:ext cx="720" cy="35816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32" name="Line 6"/>
            <p:cNvSpPr/>
            <p:nvPr/>
          </p:nvSpPr>
          <p:spPr>
            <a:xfrm>
              <a:off x="1622880" y="5166720"/>
              <a:ext cx="7401240" cy="720"/>
            </a:xfrm>
            <a:prstGeom prst="line">
              <a:avLst/>
            </a:prstGeom>
            <a:ln w="28440">
              <a:solidFill>
                <a:srgbClr val="ffffff"/>
              </a:solidFill>
              <a:miter/>
            </a:ln>
          </p:spPr>
          <p:style>
            <a:lnRef idx="0"/>
            <a:fillRef idx="0"/>
            <a:effectRef idx="0"/>
            <a:fontRef idx="minor"/>
          </p:style>
          <p:txBody>
            <a:bodyPr lIns="90000" rIns="90000" tIns="-46080" bIns="-46080" anchor="t">
              <a:noAutofit/>
            </a:bodyPr>
            <a:p>
              <a:endParaRPr b="0" lang="en-US" sz="2400" strike="noStrike" u="none">
                <a:solidFill>
                  <a:srgbClr val="ffff00"/>
                </a:solidFill>
                <a:effectLst/>
                <a:uFillTx/>
                <a:latin typeface="Times New Roman"/>
              </a:endParaRPr>
            </a:p>
          </p:txBody>
        </p:sp>
        <p:sp>
          <p:nvSpPr>
            <p:cNvPr id="1233" name="Text Box 7"/>
            <p:cNvSpPr/>
            <p:nvPr/>
          </p:nvSpPr>
          <p:spPr>
            <a:xfrm>
              <a:off x="71280" y="689040"/>
              <a:ext cx="1432440" cy="537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ea typeface="Times New Roman"/>
                </a:rPr>
                <a:t>Intensité</a:t>
              </a: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p:txBody>
        </p:sp>
        <p:sp>
          <p:nvSpPr>
            <p:cNvPr id="1234" name="Rectangle 8"/>
            <p:cNvSpPr/>
            <p:nvPr/>
          </p:nvSpPr>
          <p:spPr>
            <a:xfrm>
              <a:off x="1742400" y="4271040"/>
              <a:ext cx="119160" cy="895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35" name="Rectangle 9"/>
            <p:cNvSpPr/>
            <p:nvPr/>
          </p:nvSpPr>
          <p:spPr>
            <a:xfrm>
              <a:off x="1861560" y="3554640"/>
              <a:ext cx="119520" cy="16117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36" name="Rectangle 10"/>
            <p:cNvSpPr/>
            <p:nvPr/>
          </p:nvSpPr>
          <p:spPr>
            <a:xfrm>
              <a:off x="1981080" y="3196440"/>
              <a:ext cx="119160" cy="19699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37" name="Rectangle 11"/>
            <p:cNvSpPr/>
            <p:nvPr/>
          </p:nvSpPr>
          <p:spPr>
            <a:xfrm>
              <a:off x="2219760" y="2838240"/>
              <a:ext cx="119160" cy="23281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38" name="Rectangle 12"/>
            <p:cNvSpPr/>
            <p:nvPr/>
          </p:nvSpPr>
          <p:spPr>
            <a:xfrm>
              <a:off x="2100600" y="4271040"/>
              <a:ext cx="119160" cy="895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39" name="Rectangle 13"/>
            <p:cNvSpPr/>
            <p:nvPr/>
          </p:nvSpPr>
          <p:spPr>
            <a:xfrm>
              <a:off x="2339280" y="2480400"/>
              <a:ext cx="119160" cy="2686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0" name="Rectangle 14"/>
            <p:cNvSpPr/>
            <p:nvPr/>
          </p:nvSpPr>
          <p:spPr>
            <a:xfrm>
              <a:off x="2458440" y="4271040"/>
              <a:ext cx="119160" cy="895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1" name="Rectangle 15"/>
            <p:cNvSpPr/>
            <p:nvPr/>
          </p:nvSpPr>
          <p:spPr>
            <a:xfrm>
              <a:off x="2936160" y="3554640"/>
              <a:ext cx="119160" cy="16117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2" name="Rectangle 16"/>
            <p:cNvSpPr/>
            <p:nvPr/>
          </p:nvSpPr>
          <p:spPr>
            <a:xfrm>
              <a:off x="3055680" y="2659320"/>
              <a:ext cx="119160" cy="250740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3" name="Rectangle 17"/>
            <p:cNvSpPr/>
            <p:nvPr/>
          </p:nvSpPr>
          <p:spPr>
            <a:xfrm>
              <a:off x="3174840" y="2301120"/>
              <a:ext cx="119160" cy="28652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4" name="Rectangle 18"/>
            <p:cNvSpPr/>
            <p:nvPr/>
          </p:nvSpPr>
          <p:spPr>
            <a:xfrm>
              <a:off x="3294360" y="3554640"/>
              <a:ext cx="119520" cy="16117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5" name="Rectangle 19"/>
            <p:cNvSpPr/>
            <p:nvPr/>
          </p:nvSpPr>
          <p:spPr>
            <a:xfrm>
              <a:off x="3413880" y="2659320"/>
              <a:ext cx="119160" cy="250740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6" name="Rectangle 20"/>
            <p:cNvSpPr/>
            <p:nvPr/>
          </p:nvSpPr>
          <p:spPr>
            <a:xfrm>
              <a:off x="3533040" y="2659320"/>
              <a:ext cx="119160" cy="250740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7" name="Rectangle 21"/>
            <p:cNvSpPr/>
            <p:nvPr/>
          </p:nvSpPr>
          <p:spPr>
            <a:xfrm>
              <a:off x="3652560" y="1942920"/>
              <a:ext cx="119160" cy="3223440"/>
            </a:xfrm>
            <a:prstGeom prst="rect">
              <a:avLst/>
            </a:prstGeom>
            <a:gradFill rotWithShape="0">
              <a:gsLst>
                <a:gs pos="0">
                  <a:srgbClr val="c0c0c0"/>
                </a:gs>
                <a:gs pos="50000">
                  <a:srgbClr val="eaeaea"/>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48" name="Text Box 22"/>
            <p:cNvSpPr/>
            <p:nvPr/>
          </p:nvSpPr>
          <p:spPr>
            <a:xfrm>
              <a:off x="1145520" y="1584720"/>
              <a:ext cx="596880" cy="37609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ea typeface="Times New Roman"/>
                </a:rPr>
                <a:t>    </a:t>
              </a:r>
              <a:endParaRPr b="0" lang="en-US" sz="18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ea typeface="Times New Roman"/>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    </a:t>
              </a:r>
              <a:endParaRPr b="0" lang="en-US" sz="1600" strike="noStrike" u="none">
                <a:solidFill>
                  <a:srgbClr val="ffff00"/>
                </a:solidFill>
                <a:effectLst/>
                <a:uFillTx/>
                <a:latin typeface="Times New Roman"/>
              </a:endParaRPr>
            </a:p>
          </p:txBody>
        </p:sp>
        <p:sp>
          <p:nvSpPr>
            <p:cNvPr id="1249" name="Text Box 23"/>
            <p:cNvSpPr/>
            <p:nvPr/>
          </p:nvSpPr>
          <p:spPr>
            <a:xfrm>
              <a:off x="71280" y="1226520"/>
              <a:ext cx="1671120" cy="3760920"/>
            </a:xfrm>
            <a:prstGeom prst="rect">
              <a:avLst/>
            </a:prstGeom>
            <a:noFill/>
            <a:ln w="0">
              <a:noFill/>
            </a:ln>
          </p:spPr>
          <p:style>
            <a:lnRef idx="0"/>
            <a:fillRef idx="0"/>
            <a:effectRef idx="0"/>
            <a:fontRef idx="minor"/>
          </p:style>
          <p:txBody>
            <a:bodyPr lIns="90000" rIns="90000" tIns="46800" bIns="46800" anchor="t">
              <a:norm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Maximale</a:t>
              </a: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Elevée</a:t>
              </a: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Moyenne</a:t>
              </a: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Faible</a:t>
              </a: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Régénération</a:t>
              </a:r>
              <a:endParaRPr b="0" lang="en-US" sz="1600" strike="noStrike" u="none">
                <a:solidFill>
                  <a:srgbClr val="ffff00"/>
                </a:solidFill>
                <a:effectLst/>
                <a:uFillTx/>
                <a:latin typeface="Times New Roman"/>
              </a:endParaRPr>
            </a:p>
          </p:txBody>
        </p:sp>
        <p:sp>
          <p:nvSpPr>
            <p:cNvPr id="1250" name="Rectangle 24"/>
            <p:cNvSpPr/>
            <p:nvPr/>
          </p:nvSpPr>
          <p:spPr>
            <a:xfrm>
              <a:off x="424944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1" name="Rectangle 25"/>
            <p:cNvSpPr/>
            <p:nvPr/>
          </p:nvSpPr>
          <p:spPr>
            <a:xfrm>
              <a:off x="436860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2" name="Rectangle 26"/>
            <p:cNvSpPr/>
            <p:nvPr/>
          </p:nvSpPr>
          <p:spPr>
            <a:xfrm>
              <a:off x="448812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3" name="Rectangle 27"/>
            <p:cNvSpPr/>
            <p:nvPr/>
          </p:nvSpPr>
          <p:spPr>
            <a:xfrm>
              <a:off x="460728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4" name="Rectangle 28"/>
            <p:cNvSpPr/>
            <p:nvPr/>
          </p:nvSpPr>
          <p:spPr>
            <a:xfrm>
              <a:off x="4726800" y="4271040"/>
              <a:ext cx="119520" cy="895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5" name="Rectangle 29"/>
            <p:cNvSpPr/>
            <p:nvPr/>
          </p:nvSpPr>
          <p:spPr>
            <a:xfrm>
              <a:off x="484632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6" name="Rectangle 30"/>
            <p:cNvSpPr/>
            <p:nvPr/>
          </p:nvSpPr>
          <p:spPr>
            <a:xfrm>
              <a:off x="5443200" y="3017520"/>
              <a:ext cx="11952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7" name="Rectangle 31"/>
            <p:cNvSpPr/>
            <p:nvPr/>
          </p:nvSpPr>
          <p:spPr>
            <a:xfrm>
              <a:off x="556272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8" name="Rectangle 32"/>
            <p:cNvSpPr/>
            <p:nvPr/>
          </p:nvSpPr>
          <p:spPr>
            <a:xfrm>
              <a:off x="5681880" y="2480400"/>
              <a:ext cx="119160" cy="2686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59" name="Rectangle 33"/>
            <p:cNvSpPr/>
            <p:nvPr/>
          </p:nvSpPr>
          <p:spPr>
            <a:xfrm>
              <a:off x="580140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0" name="Rectangle 34"/>
            <p:cNvSpPr/>
            <p:nvPr/>
          </p:nvSpPr>
          <p:spPr>
            <a:xfrm>
              <a:off x="5920560" y="2480400"/>
              <a:ext cx="119160" cy="26863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1" name="Rectangle 35"/>
            <p:cNvSpPr/>
            <p:nvPr/>
          </p:nvSpPr>
          <p:spPr>
            <a:xfrm>
              <a:off x="604008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2" name="Rectangle 36"/>
            <p:cNvSpPr/>
            <p:nvPr/>
          </p:nvSpPr>
          <p:spPr>
            <a:xfrm>
              <a:off x="663696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3" name="Rectangle 37"/>
            <p:cNvSpPr/>
            <p:nvPr/>
          </p:nvSpPr>
          <p:spPr>
            <a:xfrm>
              <a:off x="6756120" y="2659320"/>
              <a:ext cx="119160" cy="250740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4" name="Rectangle 38"/>
            <p:cNvSpPr/>
            <p:nvPr/>
          </p:nvSpPr>
          <p:spPr>
            <a:xfrm>
              <a:off x="6875640" y="1942920"/>
              <a:ext cx="11952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5" name="Rectangle 39"/>
            <p:cNvSpPr/>
            <p:nvPr/>
          </p:nvSpPr>
          <p:spPr>
            <a:xfrm>
              <a:off x="699516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6" name="Rectangle 40"/>
            <p:cNvSpPr/>
            <p:nvPr/>
          </p:nvSpPr>
          <p:spPr>
            <a:xfrm>
              <a:off x="7114320" y="2659320"/>
              <a:ext cx="119160" cy="250740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7" name="Rectangle 41"/>
            <p:cNvSpPr/>
            <p:nvPr/>
          </p:nvSpPr>
          <p:spPr>
            <a:xfrm>
              <a:off x="7233840" y="3017520"/>
              <a:ext cx="119160" cy="21488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8" name="Rectangle 42"/>
            <p:cNvSpPr/>
            <p:nvPr/>
          </p:nvSpPr>
          <p:spPr>
            <a:xfrm>
              <a:off x="7711560" y="3733920"/>
              <a:ext cx="119160" cy="1432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69" name="Rectangle 43"/>
            <p:cNvSpPr/>
            <p:nvPr/>
          </p:nvSpPr>
          <p:spPr>
            <a:xfrm>
              <a:off x="7830720" y="4629240"/>
              <a:ext cx="119160" cy="5371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70" name="Rectangle 44"/>
            <p:cNvSpPr/>
            <p:nvPr/>
          </p:nvSpPr>
          <p:spPr>
            <a:xfrm>
              <a:off x="795024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71" name="Rectangle 45"/>
            <p:cNvSpPr/>
            <p:nvPr/>
          </p:nvSpPr>
          <p:spPr>
            <a:xfrm>
              <a:off x="8069400" y="4629240"/>
              <a:ext cx="119160" cy="5371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72" name="Rectangle 46"/>
            <p:cNvSpPr/>
            <p:nvPr/>
          </p:nvSpPr>
          <p:spPr>
            <a:xfrm>
              <a:off x="8188920" y="1942920"/>
              <a:ext cx="119160" cy="322344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73" name="Rectangle 47"/>
            <p:cNvSpPr/>
            <p:nvPr/>
          </p:nvSpPr>
          <p:spPr>
            <a:xfrm>
              <a:off x="8308080" y="4629240"/>
              <a:ext cx="119520" cy="537120"/>
            </a:xfrm>
            <a:prstGeom prst="rect">
              <a:avLst/>
            </a:prstGeom>
            <a:gradFill rotWithShape="0">
              <a:gsLst>
                <a:gs pos="0">
                  <a:srgbClr val="c0c0c0"/>
                </a:gs>
                <a:gs pos="50000">
                  <a:srgbClr val="f4f4f4"/>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74" name="Text Box 48"/>
            <p:cNvSpPr/>
            <p:nvPr/>
          </p:nvSpPr>
          <p:spPr>
            <a:xfrm>
              <a:off x="1742400" y="1047600"/>
              <a:ext cx="1193760" cy="89496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  Début  de saison</a:t>
              </a:r>
              <a:endParaRPr b="0" lang="en-US" sz="1800" strike="noStrike" u="none">
                <a:solidFill>
                  <a:srgbClr val="ffff00"/>
                </a:solidFill>
                <a:effectLst/>
                <a:uFillTx/>
                <a:latin typeface="Times New Roman"/>
              </a:endParaRPr>
            </a:p>
          </p:txBody>
        </p:sp>
        <p:sp>
          <p:nvSpPr>
            <p:cNvPr id="1275" name="Text Box 49"/>
            <p:cNvSpPr/>
            <p:nvPr/>
          </p:nvSpPr>
          <p:spPr>
            <a:xfrm>
              <a:off x="2577960" y="1047600"/>
              <a:ext cx="2864880" cy="89496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    Période d’augmentation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 de la charge</a:t>
              </a:r>
              <a:endParaRPr b="0" lang="en-US" sz="1800" strike="noStrike" u="none">
                <a:solidFill>
                  <a:srgbClr val="ffff00"/>
                </a:solidFill>
                <a:effectLst/>
                <a:uFillTx/>
                <a:latin typeface="Times New Roman"/>
              </a:endParaRPr>
            </a:p>
          </p:txBody>
        </p:sp>
        <p:sp>
          <p:nvSpPr>
            <p:cNvPr id="1276" name="Text Box 50"/>
            <p:cNvSpPr/>
            <p:nvPr/>
          </p:nvSpPr>
          <p:spPr>
            <a:xfrm>
              <a:off x="5443200" y="1047600"/>
              <a:ext cx="1790640" cy="89496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Période de pré compétition </a:t>
              </a:r>
              <a:endParaRPr b="0" lang="en-US" sz="1800" strike="noStrike" u="none">
                <a:solidFill>
                  <a:srgbClr val="ffff00"/>
                </a:solidFill>
                <a:effectLst/>
                <a:uFillTx/>
                <a:latin typeface="Times New Roman"/>
              </a:endParaRPr>
            </a:p>
          </p:txBody>
        </p:sp>
        <p:sp>
          <p:nvSpPr>
            <p:cNvPr id="1277" name="Text Box 51"/>
            <p:cNvSpPr/>
            <p:nvPr/>
          </p:nvSpPr>
          <p:spPr>
            <a:xfrm>
              <a:off x="7114320" y="1047600"/>
              <a:ext cx="1790280" cy="71604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Période d’affûtage </a:t>
              </a:r>
              <a:endParaRPr b="0" lang="en-US" sz="1800" strike="noStrike" u="none">
                <a:solidFill>
                  <a:srgbClr val="ffff00"/>
                </a:solidFill>
                <a:effectLst/>
                <a:uFillTx/>
                <a:latin typeface="Times New Roman"/>
              </a:endParaRPr>
            </a:p>
          </p:txBody>
        </p:sp>
        <p:sp>
          <p:nvSpPr>
            <p:cNvPr id="1278" name="Rectangle 52"/>
            <p:cNvSpPr/>
            <p:nvPr/>
          </p:nvSpPr>
          <p:spPr>
            <a:xfrm>
              <a:off x="71280" y="510120"/>
              <a:ext cx="9072720" cy="501444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sp>
        <p:nvSpPr>
          <p:cNvPr id="1279" name="Rectangle 53"/>
          <p:cNvSpPr/>
          <p:nvPr/>
        </p:nvSpPr>
        <p:spPr>
          <a:xfrm>
            <a:off x="179280" y="5875920"/>
            <a:ext cx="8964720" cy="703800"/>
          </a:xfrm>
          <a:prstGeom prst="rect">
            <a:avLst/>
          </a:prstGeom>
          <a:noFill/>
          <a:ln w="0">
            <a:noFill/>
          </a:ln>
        </p:spPr>
        <p:style>
          <a:lnRef idx="0"/>
          <a:fillRef idx="0"/>
          <a:effectRef idx="0"/>
          <a:fontRef idx="minor"/>
        </p:style>
        <p:txBody>
          <a:bodyPr lIns="90000" rIns="90000" tIns="46800" bIns="46800" anchor="ctr">
            <a:spAutoFit/>
          </a:bodyPr>
          <a:p>
            <a:pPr algn="ctr">
              <a:lnSpc>
                <a:spcPct val="100000"/>
              </a:lnSpc>
              <a:tabLst>
                <a:tab algn="l" pos="0"/>
                <a:tab algn="l" pos="108252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ea typeface="Times New Roman"/>
              </a:rPr>
              <a:t> </a:t>
            </a:r>
            <a:r>
              <a:rPr b="0" lang="fr-FR" sz="2000" strike="noStrike" u="none">
                <a:solidFill>
                  <a:srgbClr val="ffffff"/>
                </a:solidFill>
                <a:effectLst/>
                <a:uFillTx/>
                <a:latin typeface="Arial"/>
                <a:ea typeface="Times New Roman"/>
              </a:rPr>
              <a:t>Exemple de profils de microcycles en fonction des périodes d’une saison   d’entraînement</a:t>
            </a:r>
            <a:endParaRPr b="0" lang="en-US" sz="2000" strike="noStrike" u="none">
              <a:solidFill>
                <a:srgbClr val="ffff00"/>
              </a:solidFill>
              <a:effectLst/>
              <a:uFillTx/>
              <a:latin typeface="Times New Roman"/>
            </a:endParaRPr>
          </a:p>
        </p:txBody>
      </p:sp>
      <p:sp>
        <p:nvSpPr>
          <p:cNvPr id="1280" name="Line 54"/>
          <p:cNvSpPr/>
          <p:nvPr/>
        </p:nvSpPr>
        <p:spPr>
          <a:xfrm>
            <a:off x="1692360" y="1916280"/>
            <a:ext cx="698328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81" name="Line 55"/>
          <p:cNvSpPr/>
          <p:nvPr/>
        </p:nvSpPr>
        <p:spPr>
          <a:xfrm>
            <a:off x="1619280" y="2565360"/>
            <a:ext cx="698508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82" name="Line 56"/>
          <p:cNvSpPr/>
          <p:nvPr/>
        </p:nvSpPr>
        <p:spPr>
          <a:xfrm flipV="1">
            <a:off x="1619280" y="3141720"/>
            <a:ext cx="6985080" cy="71280"/>
          </a:xfrm>
          <a:prstGeom prst="line">
            <a:avLst/>
          </a:prstGeom>
          <a:ln w="9360">
            <a:solidFill>
              <a:srgbClr val="ffff00"/>
            </a:solidFill>
            <a:miter/>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1283" name="Line 57"/>
          <p:cNvSpPr/>
          <p:nvPr/>
        </p:nvSpPr>
        <p:spPr>
          <a:xfrm>
            <a:off x="1619280" y="3860640"/>
            <a:ext cx="691344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84" name="Line 58"/>
          <p:cNvSpPr/>
          <p:nvPr/>
        </p:nvSpPr>
        <p:spPr>
          <a:xfrm>
            <a:off x="1619280" y="4437000"/>
            <a:ext cx="691344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5" name="Text Box 2"/>
          <p:cNvSpPr/>
          <p:nvPr/>
        </p:nvSpPr>
        <p:spPr>
          <a:xfrm>
            <a:off x="0" y="609480"/>
            <a:ext cx="9144000" cy="436860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Le microcycle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cccc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ccccff"/>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cccc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ccccff"/>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Principes d’élaboration</a:t>
            </a:r>
            <a:endParaRPr b="0" lang="en-US" sz="4000" strike="noStrike" u="none">
              <a:solidFill>
                <a:srgbClr val="ffff00"/>
              </a:solidFill>
              <a:effectLst/>
              <a:uFillTx/>
              <a:latin typeface="Times New Roman"/>
            </a:endParaRPr>
          </a:p>
        </p:txBody>
      </p:sp>
      <p:sp>
        <p:nvSpPr>
          <p:cNvPr id="1286" name="Text Box 3"/>
          <p:cNvSpPr/>
          <p:nvPr/>
        </p:nvSpPr>
        <p:spPr>
          <a:xfrm>
            <a:off x="5181480" y="6477120"/>
            <a:ext cx="3962520" cy="337680"/>
          </a:xfrm>
          <a:prstGeom prst="rect">
            <a:avLst/>
          </a:prstGeom>
          <a:noFill/>
          <a:ln w="0">
            <a:noFill/>
          </a:ln>
        </p:spPr>
        <p:style>
          <a:lnRef idx="0"/>
          <a:fillRef idx="0"/>
          <a:effectRef idx="0"/>
          <a:fontRef idx="minor"/>
        </p:style>
        <p:txBody>
          <a:bodyPr lIns="90000" rIns="90000" tIns="46800" bIns="46800" anchor="t">
            <a:spAutoFit/>
          </a:bodyPr>
          <a:p>
            <a:pPr algn="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ff"/>
                </a:solidFill>
                <a:effectLst/>
                <a:uFillTx/>
                <a:latin typeface="Times New Roman"/>
              </a:rPr>
              <a:t>Folbert (années 50) : principe d’alternance</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7" name="Line 2"/>
          <p:cNvSpPr/>
          <p:nvPr/>
        </p:nvSpPr>
        <p:spPr>
          <a:xfrm flipV="1">
            <a:off x="1614600" y="964800"/>
            <a:ext cx="0" cy="3543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288" name="Rectangle 3"/>
          <p:cNvSpPr/>
          <p:nvPr/>
        </p:nvSpPr>
        <p:spPr>
          <a:xfrm>
            <a:off x="1766880" y="2301840"/>
            <a:ext cx="152280" cy="2171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89" name="Rectangle 4"/>
          <p:cNvSpPr/>
          <p:nvPr/>
        </p:nvSpPr>
        <p:spPr>
          <a:xfrm>
            <a:off x="2224080" y="195912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0" name="Rectangle 5"/>
          <p:cNvSpPr/>
          <p:nvPr/>
        </p:nvSpPr>
        <p:spPr>
          <a:xfrm>
            <a:off x="2452680" y="1952640"/>
            <a:ext cx="152280" cy="25146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1" name="Rectangle 6"/>
          <p:cNvSpPr/>
          <p:nvPr/>
        </p:nvSpPr>
        <p:spPr>
          <a:xfrm>
            <a:off x="26812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2" name="Rectangle 7"/>
          <p:cNvSpPr/>
          <p:nvPr/>
        </p:nvSpPr>
        <p:spPr>
          <a:xfrm>
            <a:off x="199548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3" name="Rectangle 8"/>
          <p:cNvSpPr/>
          <p:nvPr/>
        </p:nvSpPr>
        <p:spPr>
          <a:xfrm>
            <a:off x="2916360" y="1700280"/>
            <a:ext cx="142920" cy="277344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4" name="Rectangle 9"/>
          <p:cNvSpPr/>
          <p:nvPr/>
        </p:nvSpPr>
        <p:spPr>
          <a:xfrm>
            <a:off x="3367080" y="218772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5" name="Rectangle 10"/>
          <p:cNvSpPr/>
          <p:nvPr/>
        </p:nvSpPr>
        <p:spPr>
          <a:xfrm>
            <a:off x="3824280" y="173052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6" name="Rectangle 11"/>
          <p:cNvSpPr/>
          <p:nvPr/>
        </p:nvSpPr>
        <p:spPr>
          <a:xfrm>
            <a:off x="4052880" y="1722600"/>
            <a:ext cx="152280" cy="27432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7" name="Rectangle 12"/>
          <p:cNvSpPr/>
          <p:nvPr/>
        </p:nvSpPr>
        <p:spPr>
          <a:xfrm>
            <a:off x="4281480" y="2416320"/>
            <a:ext cx="15228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8" name="Rectangle 13"/>
          <p:cNvSpPr/>
          <p:nvPr/>
        </p:nvSpPr>
        <p:spPr>
          <a:xfrm>
            <a:off x="3595680" y="2530440"/>
            <a:ext cx="15228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299" name="Rectangle 14"/>
          <p:cNvSpPr/>
          <p:nvPr/>
        </p:nvSpPr>
        <p:spPr>
          <a:xfrm>
            <a:off x="4890960" y="2073240"/>
            <a:ext cx="152640" cy="24004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0" name="Rectangle 15"/>
          <p:cNvSpPr/>
          <p:nvPr/>
        </p:nvSpPr>
        <p:spPr>
          <a:xfrm>
            <a:off x="53481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1" name="Rectangle 16"/>
          <p:cNvSpPr/>
          <p:nvPr/>
        </p:nvSpPr>
        <p:spPr>
          <a:xfrm>
            <a:off x="5576760" y="1501920"/>
            <a:ext cx="152640" cy="2971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2" name="Rectangle 17"/>
          <p:cNvSpPr/>
          <p:nvPr/>
        </p:nvSpPr>
        <p:spPr>
          <a:xfrm>
            <a:off x="5805360" y="2416320"/>
            <a:ext cx="152640" cy="20574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3" name="Rectangle 18"/>
          <p:cNvSpPr/>
          <p:nvPr/>
        </p:nvSpPr>
        <p:spPr>
          <a:xfrm>
            <a:off x="5119560" y="2530440"/>
            <a:ext cx="152640" cy="19432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4" name="Rectangle 19"/>
          <p:cNvSpPr/>
          <p:nvPr/>
        </p:nvSpPr>
        <p:spPr>
          <a:xfrm>
            <a:off x="6033960" y="1293840"/>
            <a:ext cx="152640" cy="316692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5" name="Rectangle 20"/>
          <p:cNvSpPr/>
          <p:nvPr/>
        </p:nvSpPr>
        <p:spPr>
          <a:xfrm>
            <a:off x="6415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6" name="Rectangle 21"/>
          <p:cNvSpPr/>
          <p:nvPr/>
        </p:nvSpPr>
        <p:spPr>
          <a:xfrm>
            <a:off x="66438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7" name="Rectangle 22"/>
          <p:cNvSpPr/>
          <p:nvPr/>
        </p:nvSpPr>
        <p:spPr>
          <a:xfrm>
            <a:off x="68724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8" name="Rectangle 23"/>
          <p:cNvSpPr/>
          <p:nvPr/>
        </p:nvSpPr>
        <p:spPr>
          <a:xfrm>
            <a:off x="7101000" y="1482840"/>
            <a:ext cx="152280" cy="299088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09" name="Rectangle 24"/>
          <p:cNvSpPr/>
          <p:nvPr/>
        </p:nvSpPr>
        <p:spPr>
          <a:xfrm>
            <a:off x="73296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10" name="Rectangle 25"/>
          <p:cNvSpPr/>
          <p:nvPr/>
        </p:nvSpPr>
        <p:spPr>
          <a:xfrm>
            <a:off x="7558200" y="2644920"/>
            <a:ext cx="152280" cy="18288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11" name="Rectangle 26"/>
          <p:cNvSpPr/>
          <p:nvPr/>
        </p:nvSpPr>
        <p:spPr>
          <a:xfrm>
            <a:off x="7939080" y="2182680"/>
            <a:ext cx="152280" cy="2286000"/>
          </a:xfrm>
          <a:prstGeom prst="rect">
            <a:avLst/>
          </a:prstGeom>
          <a:gradFill rotWithShape="0">
            <a:gsLst>
              <a:gs pos="0">
                <a:srgbClr val="616161"/>
              </a:gs>
              <a:gs pos="50000">
                <a:srgbClr val="ffffff"/>
              </a:gs>
              <a:gs pos="100000">
                <a:srgbClr val="616161"/>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12" name="Text Box 27"/>
          <p:cNvSpPr/>
          <p:nvPr/>
        </p:nvSpPr>
        <p:spPr>
          <a:xfrm>
            <a:off x="1619280" y="3556080"/>
            <a:ext cx="6769080" cy="37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1</a:t>
            </a:r>
            <a:r>
              <a:rPr b="0" lang="fr-FR" sz="1600" strike="noStrike" u="none" baseline="30000">
                <a:solidFill>
                  <a:srgbClr val="000000"/>
                </a:solidFill>
                <a:effectLst/>
                <a:uFillTx/>
                <a:latin typeface="Arial"/>
                <a:ea typeface="Times New Roman"/>
              </a:rPr>
              <a:t>er</a:t>
            </a:r>
            <a:r>
              <a:rPr b="0" lang="fr-FR" sz="1600" strike="noStrike" u="none">
                <a:solidFill>
                  <a:srgbClr val="000000"/>
                </a:solidFill>
                <a:effectLst/>
                <a:uFillTx/>
                <a:latin typeface="Arial"/>
                <a:ea typeface="Times New Roman"/>
              </a:rPr>
              <a:t> microcycle     2</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microcycle  3</a:t>
            </a:r>
            <a:r>
              <a:rPr b="0" lang="fr-FR" sz="1600" strike="noStrike" u="none" baseline="30000">
                <a:solidFill>
                  <a:srgbClr val="000000"/>
                </a:solidFill>
                <a:effectLst/>
                <a:uFillTx/>
                <a:latin typeface="Arial"/>
                <a:ea typeface="Times New Roman"/>
              </a:rPr>
              <a:t>ème</a:t>
            </a:r>
            <a:r>
              <a:rPr b="0" lang="fr-FR" sz="1600" strike="noStrike" u="none">
                <a:solidFill>
                  <a:srgbClr val="000000"/>
                </a:solidFill>
                <a:effectLst/>
                <a:uFillTx/>
                <a:latin typeface="Arial"/>
                <a:ea typeface="Times New Roman"/>
              </a:rPr>
              <a:t> microcyle    Microcycle de récup. </a:t>
            </a:r>
            <a:endParaRPr b="0" lang="en-US" sz="1600" strike="noStrike" u="none">
              <a:solidFill>
                <a:srgbClr val="ffff00"/>
              </a:solidFill>
              <a:effectLst/>
              <a:uFillTx/>
              <a:latin typeface="Times New Roman"/>
            </a:endParaRPr>
          </a:p>
        </p:txBody>
      </p:sp>
      <p:sp>
        <p:nvSpPr>
          <p:cNvPr id="1313" name="Line 28"/>
          <p:cNvSpPr/>
          <p:nvPr/>
        </p:nvSpPr>
        <p:spPr>
          <a:xfrm>
            <a:off x="1614600" y="4487760"/>
            <a:ext cx="647676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14" name="Text Box 29"/>
          <p:cNvSpPr/>
          <p:nvPr/>
        </p:nvSpPr>
        <p:spPr>
          <a:xfrm>
            <a:off x="1001880" y="981000"/>
            <a:ext cx="761760" cy="3086280"/>
          </a:xfrm>
          <a:prstGeom prst="rect">
            <a:avLst/>
          </a:prstGeom>
          <a:noFill/>
          <a:ln w="0">
            <a:noFill/>
          </a:ln>
        </p:spPr>
        <p:style>
          <a:lnRef idx="0"/>
          <a:fillRef idx="0"/>
          <a:effectRef idx="0"/>
          <a:fontRef idx="minor"/>
        </p:style>
        <p:txBody>
          <a:bodyPr lIns="90000" rIns="90000" tIns="46800" bIns="46800" anchor="t">
            <a:normAutofit/>
          </a:bodyPr>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100 -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90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80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70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60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50   -</a:t>
            </a:r>
            <a:endParaRPr b="0" lang="en-US" sz="16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40   -  </a:t>
            </a:r>
            <a:endParaRPr b="0" lang="en-US" sz="1600" strike="noStrike" u="none">
              <a:solidFill>
                <a:srgbClr val="ffff00"/>
              </a:solidFill>
              <a:effectLst/>
              <a:uFillTx/>
              <a:latin typeface="Times New Roman"/>
            </a:endParaRPr>
          </a:p>
        </p:txBody>
      </p:sp>
      <p:sp>
        <p:nvSpPr>
          <p:cNvPr id="1315" name="Text Box 30"/>
          <p:cNvSpPr/>
          <p:nvPr/>
        </p:nvSpPr>
        <p:spPr>
          <a:xfrm>
            <a:off x="1614600" y="4781520"/>
            <a:ext cx="6629400" cy="376200"/>
          </a:xfrm>
          <a:prstGeom prst="rect">
            <a:avLst/>
          </a:prstGeom>
          <a:noFill/>
          <a:ln w="0">
            <a:noFill/>
          </a:ln>
        </p:spPr>
        <p:style>
          <a:lnRef idx="0"/>
          <a:fillRef idx="0"/>
          <a:effectRef idx="0"/>
          <a:fontRef idx="minor"/>
        </p:style>
        <p:txBody>
          <a:bodyPr lIns="90000" rIns="90000" tIns="46800" bIns="46800" anchor="t">
            <a:normAutofit fontScale="25000" lnSpcReduction="1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L  M  M  J  V  S  D   L  M M  J  V  S  D  L  M  M  J  V  S  D  L  M M  J   V  S  D 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JOURS DE LA SEMAINE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400" strike="noStrike" u="none">
                <a:solidFill>
                  <a:srgbClr val="ffffff"/>
                </a:solidFill>
                <a:effectLst/>
                <a:uFillTx/>
                <a:latin typeface="Arial"/>
                <a:ea typeface="Times New Roman"/>
              </a:rPr>
              <a:t>         </a:t>
            </a:r>
            <a:endParaRPr b="0" lang="en-US" sz="1400" strike="noStrike" u="none">
              <a:solidFill>
                <a:srgbClr val="ffff00"/>
              </a:solidFill>
              <a:effectLst/>
              <a:uFillTx/>
              <a:latin typeface="Times New Roman"/>
            </a:endParaRPr>
          </a:p>
        </p:txBody>
      </p:sp>
      <p:sp>
        <p:nvSpPr>
          <p:cNvPr id="1316" name="Line 31"/>
          <p:cNvSpPr/>
          <p:nvPr/>
        </p:nvSpPr>
        <p:spPr>
          <a:xfrm flipV="1">
            <a:off x="1614600" y="1267920"/>
            <a:ext cx="6629400" cy="25560"/>
          </a:xfrm>
          <a:prstGeom prst="line">
            <a:avLst/>
          </a:prstGeom>
          <a:ln w="28440">
            <a:solidFill>
              <a:srgbClr val="ffffff"/>
            </a:solidFill>
            <a:prstDash val="sysDot"/>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1317" name="Text Box 32"/>
          <p:cNvSpPr/>
          <p:nvPr/>
        </p:nvSpPr>
        <p:spPr>
          <a:xfrm>
            <a:off x="900000" y="333360"/>
            <a:ext cx="1727280" cy="57636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Pourcentages</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Times New Roman"/>
              </a:rPr>
              <a:t>du maximum</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318" name="Rectangle 33"/>
          <p:cNvSpPr/>
          <p:nvPr/>
        </p:nvSpPr>
        <p:spPr>
          <a:xfrm>
            <a:off x="1085760" y="1349280"/>
            <a:ext cx="7086600" cy="4229280"/>
          </a:xfrm>
          <a:prstGeom prst="rect">
            <a:avLst/>
          </a:prstGeom>
          <a:noFill/>
          <a:ln w="0">
            <a:no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19" name="Rectangle 34"/>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179064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20" name="Rectangle 35"/>
          <p:cNvSpPr/>
          <p:nvPr/>
        </p:nvSpPr>
        <p:spPr>
          <a:xfrm>
            <a:off x="419040" y="1096920"/>
            <a:ext cx="184320" cy="3668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21" name="Rectangle 36"/>
          <p:cNvSpPr/>
          <p:nvPr/>
        </p:nvSpPr>
        <p:spPr>
          <a:xfrm>
            <a:off x="1221480" y="5927040"/>
            <a:ext cx="7105680" cy="3682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5256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Notion de progressivité </a:t>
            </a:r>
            <a:r>
              <a:rPr b="0" lang="fr-FR" sz="1800" strike="noStrike" u="none">
                <a:solidFill>
                  <a:srgbClr val="ffff00"/>
                </a:solidFill>
                <a:effectLst/>
                <a:uFillTx/>
                <a:latin typeface="Arial"/>
                <a:ea typeface="Times New Roman"/>
              </a:rPr>
              <a:t>de plusieurs séances au sein de microcycles</a:t>
            </a:r>
            <a:endParaRPr b="0" lang="en-US" sz="1800" strike="noStrike" u="none">
              <a:solidFill>
                <a:srgbClr val="ffff00"/>
              </a:solidFill>
              <a:effectLst/>
              <a:uFillTx/>
              <a:latin typeface="Times New Roman"/>
            </a:endParaRPr>
          </a:p>
        </p:txBody>
      </p:sp>
      <p:sp>
        <p:nvSpPr>
          <p:cNvPr id="1322" name="Line 37"/>
          <p:cNvSpPr/>
          <p:nvPr/>
        </p:nvSpPr>
        <p:spPr>
          <a:xfrm flipV="1">
            <a:off x="1763640" y="1197000"/>
            <a:ext cx="51120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23" name="Line 38"/>
          <p:cNvSpPr/>
          <p:nvPr/>
        </p:nvSpPr>
        <p:spPr>
          <a:xfrm flipV="1">
            <a:off x="2198520" y="2421000"/>
            <a:ext cx="5110200" cy="88416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4" name="Rectangle 2"/>
          <p:cNvSpPr/>
          <p:nvPr/>
        </p:nvSpPr>
        <p:spPr>
          <a:xfrm>
            <a:off x="0" y="-934920"/>
            <a:ext cx="184320" cy="3664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179064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25" name="Line 3"/>
          <p:cNvSpPr/>
          <p:nvPr/>
        </p:nvSpPr>
        <p:spPr>
          <a:xfrm>
            <a:off x="690480" y="2101680"/>
            <a:ext cx="0" cy="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grpSp>
        <p:nvGrpSpPr>
          <p:cNvPr id="1326" name="Group 4"/>
          <p:cNvGrpSpPr/>
          <p:nvPr/>
        </p:nvGrpSpPr>
        <p:grpSpPr>
          <a:xfrm>
            <a:off x="182520" y="-4680"/>
            <a:ext cx="9144000" cy="5414760"/>
            <a:chOff x="182520" y="-4680"/>
            <a:chExt cx="9144000" cy="5414760"/>
          </a:xfrm>
        </p:grpSpPr>
        <p:sp>
          <p:nvSpPr>
            <p:cNvPr id="1327" name="AutoShape 5"/>
            <p:cNvSpPr/>
            <p:nvPr/>
          </p:nvSpPr>
          <p:spPr>
            <a:xfrm>
              <a:off x="182520" y="-4680"/>
              <a:ext cx="9144000" cy="541476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28" name="Line 6"/>
            <p:cNvSpPr/>
            <p:nvPr/>
          </p:nvSpPr>
          <p:spPr>
            <a:xfrm>
              <a:off x="663840" y="717120"/>
              <a:ext cx="0" cy="45122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29" name="Line 7"/>
            <p:cNvSpPr/>
            <p:nvPr/>
          </p:nvSpPr>
          <p:spPr>
            <a:xfrm>
              <a:off x="663840" y="5229360"/>
              <a:ext cx="854208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30" name="Rectangle 8"/>
            <p:cNvSpPr/>
            <p:nvPr/>
          </p:nvSpPr>
          <p:spPr>
            <a:xfrm>
              <a:off x="903240" y="2341440"/>
              <a:ext cx="361440" cy="288756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1" name="Rectangle 9"/>
            <p:cNvSpPr/>
            <p:nvPr/>
          </p:nvSpPr>
          <p:spPr>
            <a:xfrm>
              <a:off x="1385640" y="2161080"/>
              <a:ext cx="361800" cy="306828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2" name="Rectangle 10"/>
            <p:cNvSpPr/>
            <p:nvPr/>
          </p:nvSpPr>
          <p:spPr>
            <a:xfrm>
              <a:off x="1866600" y="1980360"/>
              <a:ext cx="361800" cy="324864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3" name="Rectangle 11"/>
            <p:cNvSpPr/>
            <p:nvPr/>
          </p:nvSpPr>
          <p:spPr>
            <a:xfrm>
              <a:off x="2347920" y="3063600"/>
              <a:ext cx="361800" cy="2165760"/>
            </a:xfrm>
            <a:prstGeom prst="rect">
              <a:avLst/>
            </a:prstGeom>
            <a:gradFill rotWithShape="0">
              <a:gsLst>
                <a:gs pos="0">
                  <a:srgbClr val="969696"/>
                </a:gs>
                <a:gs pos="50000">
                  <a:srgbClr val="d5d5d5"/>
                </a:gs>
                <a:gs pos="100000">
                  <a:srgbClr val="969696"/>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4" name="Rectangle 12"/>
            <p:cNvSpPr/>
            <p:nvPr/>
          </p:nvSpPr>
          <p:spPr>
            <a:xfrm>
              <a:off x="2829240" y="2161080"/>
              <a:ext cx="361800" cy="306828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5" name="Rectangle 13"/>
            <p:cNvSpPr/>
            <p:nvPr/>
          </p:nvSpPr>
          <p:spPr>
            <a:xfrm>
              <a:off x="3310560" y="1980360"/>
              <a:ext cx="361800" cy="324864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6" name="Rectangle 14"/>
            <p:cNvSpPr/>
            <p:nvPr/>
          </p:nvSpPr>
          <p:spPr>
            <a:xfrm>
              <a:off x="3791880" y="1800360"/>
              <a:ext cx="361800" cy="342900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7" name="Rectangle 15"/>
            <p:cNvSpPr/>
            <p:nvPr/>
          </p:nvSpPr>
          <p:spPr>
            <a:xfrm>
              <a:off x="4273200" y="1619640"/>
              <a:ext cx="361800" cy="360972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8" name="Rectangle 16"/>
            <p:cNvSpPr/>
            <p:nvPr/>
          </p:nvSpPr>
          <p:spPr>
            <a:xfrm>
              <a:off x="4754160" y="2882880"/>
              <a:ext cx="361800" cy="2346120"/>
            </a:xfrm>
            <a:prstGeom prst="rect">
              <a:avLst/>
            </a:prstGeom>
            <a:gradFill rotWithShape="0">
              <a:gsLst>
                <a:gs pos="0">
                  <a:srgbClr val="969696"/>
                </a:gs>
                <a:gs pos="50000">
                  <a:srgbClr val="d9d9d9"/>
                </a:gs>
                <a:gs pos="100000">
                  <a:srgbClr val="969696"/>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39" name="Rectangle 17"/>
            <p:cNvSpPr/>
            <p:nvPr/>
          </p:nvSpPr>
          <p:spPr>
            <a:xfrm>
              <a:off x="5235480" y="1800360"/>
              <a:ext cx="361800" cy="342900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0" name="Rectangle 18"/>
            <p:cNvSpPr/>
            <p:nvPr/>
          </p:nvSpPr>
          <p:spPr>
            <a:xfrm>
              <a:off x="5716800" y="1438920"/>
              <a:ext cx="361800" cy="379008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1" name="Rectangle 19"/>
            <p:cNvSpPr/>
            <p:nvPr/>
          </p:nvSpPr>
          <p:spPr>
            <a:xfrm>
              <a:off x="6198120" y="2702520"/>
              <a:ext cx="361800" cy="2526840"/>
            </a:xfrm>
            <a:prstGeom prst="rect">
              <a:avLst/>
            </a:prstGeom>
            <a:gradFill rotWithShape="0">
              <a:gsLst>
                <a:gs pos="0">
                  <a:srgbClr val="969696"/>
                </a:gs>
                <a:gs pos="50000">
                  <a:srgbClr val="cbcbcb"/>
                </a:gs>
                <a:gs pos="100000">
                  <a:srgbClr val="969696"/>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2" name="Rectangle 20"/>
            <p:cNvSpPr/>
            <p:nvPr/>
          </p:nvSpPr>
          <p:spPr>
            <a:xfrm>
              <a:off x="7641720" y="1078200"/>
              <a:ext cx="361800" cy="415116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3" name="Rectangle 21"/>
            <p:cNvSpPr/>
            <p:nvPr/>
          </p:nvSpPr>
          <p:spPr>
            <a:xfrm>
              <a:off x="6679440" y="1619640"/>
              <a:ext cx="361800" cy="360972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4" name="Rectangle 22"/>
            <p:cNvSpPr/>
            <p:nvPr/>
          </p:nvSpPr>
          <p:spPr>
            <a:xfrm>
              <a:off x="7160760" y="1438920"/>
              <a:ext cx="361800" cy="3790080"/>
            </a:xfrm>
            <a:prstGeom prst="rect">
              <a:avLst/>
            </a:prstGeom>
            <a:gradFill rotWithShape="0">
              <a:gsLst>
                <a:gs pos="0">
                  <a:srgbClr val="c0c0c0"/>
                </a:gs>
                <a:gs pos="50000">
                  <a:srgbClr val="ffffff"/>
                </a:gs>
                <a:gs pos="100000">
                  <a:srgbClr val="c0c0c0"/>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5" name="Rectangle 23"/>
            <p:cNvSpPr/>
            <p:nvPr/>
          </p:nvSpPr>
          <p:spPr>
            <a:xfrm>
              <a:off x="8123400" y="2522160"/>
              <a:ext cx="361800" cy="2707200"/>
            </a:xfrm>
            <a:prstGeom prst="rect">
              <a:avLst/>
            </a:prstGeom>
            <a:gradFill rotWithShape="0">
              <a:gsLst>
                <a:gs pos="0">
                  <a:srgbClr val="969696"/>
                </a:gs>
                <a:gs pos="50000">
                  <a:srgbClr val="cbcbcb"/>
                </a:gs>
                <a:gs pos="100000">
                  <a:srgbClr val="969696"/>
                </a:gs>
              </a:gsLst>
              <a:lin ang="0"/>
            </a:gradFill>
            <a:ln w="9360">
              <a:solidFill>
                <a:srgbClr val="00000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346" name="Text Box 24"/>
            <p:cNvSpPr/>
            <p:nvPr/>
          </p:nvSpPr>
          <p:spPr>
            <a:xfrm>
              <a:off x="302760" y="175680"/>
              <a:ext cx="2285640" cy="3607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ea typeface="Times New Roman"/>
                </a:rPr>
                <a:t>Intensité et/ou volume</a:t>
              </a:r>
              <a:endParaRPr b="0" lang="en-US" sz="1600" strike="noStrike" u="none">
                <a:solidFill>
                  <a:srgbClr val="ffff00"/>
                </a:solidFill>
                <a:effectLst/>
                <a:uFillTx/>
                <a:latin typeface="Times New Roman"/>
              </a:endParaRPr>
            </a:p>
          </p:txBody>
        </p:sp>
        <p:sp>
          <p:nvSpPr>
            <p:cNvPr id="1347" name="Text Box 25"/>
            <p:cNvSpPr/>
            <p:nvPr/>
          </p:nvSpPr>
          <p:spPr>
            <a:xfrm>
              <a:off x="2829240" y="536400"/>
              <a:ext cx="5654520" cy="361080"/>
            </a:xfrm>
            <a:prstGeom prst="rect">
              <a:avLst/>
            </a:prstGeom>
            <a:noFill/>
            <a:ln w="9360">
              <a:solidFill>
                <a:srgbClr val="ffffff"/>
              </a:solidFill>
              <a:miter/>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ea typeface="Times New Roman"/>
                </a:rPr>
                <a:t>      Microcycles de décrochage et de récupération active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348" name="Line 26"/>
            <p:cNvSpPr/>
            <p:nvPr/>
          </p:nvSpPr>
          <p:spPr>
            <a:xfrm flipH="1">
              <a:off x="2709000" y="897840"/>
              <a:ext cx="360720" cy="10825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49" name="Line 27"/>
            <p:cNvSpPr/>
            <p:nvPr/>
          </p:nvSpPr>
          <p:spPr>
            <a:xfrm>
              <a:off x="4995000" y="897840"/>
              <a:ext cx="720" cy="10825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50" name="Line 28"/>
            <p:cNvSpPr/>
            <p:nvPr/>
          </p:nvSpPr>
          <p:spPr>
            <a:xfrm>
              <a:off x="6438960" y="897840"/>
              <a:ext cx="720" cy="10825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51" name="Line 29"/>
            <p:cNvSpPr/>
            <p:nvPr/>
          </p:nvSpPr>
          <p:spPr>
            <a:xfrm>
              <a:off x="8123400" y="897840"/>
              <a:ext cx="120240" cy="10825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52" name="Text Box 30"/>
            <p:cNvSpPr/>
            <p:nvPr/>
          </p:nvSpPr>
          <p:spPr>
            <a:xfrm>
              <a:off x="2419200" y="3865680"/>
              <a:ext cx="2887560" cy="46080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  Microcycles en progression</a:t>
              </a:r>
              <a:endParaRPr b="0" lang="en-US" sz="1600" strike="noStrike" u="none">
                <a:solidFill>
                  <a:srgbClr val="ffff00"/>
                </a:solidFill>
                <a:effectLst/>
                <a:uFillTx/>
                <a:latin typeface="Times New Roman"/>
              </a:endParaRPr>
            </a:p>
          </p:txBody>
        </p:sp>
        <p:sp>
          <p:nvSpPr>
            <p:cNvPr id="1353" name="Line 31"/>
            <p:cNvSpPr/>
            <p:nvPr/>
          </p:nvSpPr>
          <p:spPr>
            <a:xfrm flipV="1">
              <a:off x="663840" y="1077840"/>
              <a:ext cx="7459200" cy="10825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grpSp>
      <p:sp>
        <p:nvSpPr>
          <p:cNvPr id="1354" name="Rectangle 32"/>
          <p:cNvSpPr/>
          <p:nvPr/>
        </p:nvSpPr>
        <p:spPr>
          <a:xfrm>
            <a:off x="852480" y="5690520"/>
            <a:ext cx="7905960" cy="3682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108252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ea typeface="Times New Roman"/>
              </a:rPr>
              <a:t>Notion de progressivité et d’alternance entre plusieurs microcycles différents</a:t>
            </a:r>
            <a:endParaRPr b="0" lang="en-US" sz="1800" strike="noStrike" u="none">
              <a:solidFill>
                <a:srgbClr val="ffff00"/>
              </a:solidFill>
              <a:effectLst/>
              <a:uFillTx/>
              <a:latin typeface="Times New Roman"/>
            </a:endParaRPr>
          </a:p>
        </p:txBody>
      </p:sp>
      <p:sp>
        <p:nvSpPr>
          <p:cNvPr id="1355" name="Text Box 33"/>
          <p:cNvSpPr/>
          <p:nvPr/>
        </p:nvSpPr>
        <p:spPr>
          <a:xfrm rot="20986800">
            <a:off x="1040760" y="1573200"/>
            <a:ext cx="13521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Arial"/>
              </a:rPr>
              <a:t>Progressivité</a:t>
            </a:r>
            <a:endParaRPr b="0" lang="en-US" sz="1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6" name="Text Box 2"/>
          <p:cNvSpPr/>
          <p:nvPr/>
        </p:nvSpPr>
        <p:spPr>
          <a:xfrm>
            <a:off x="0" y="609480"/>
            <a:ext cx="9144000" cy="575928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3. Le mésocycle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Combinaisons de microcycles</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7" name="Text Box 2"/>
          <p:cNvSpPr/>
          <p:nvPr/>
        </p:nvSpPr>
        <p:spPr>
          <a:xfrm>
            <a:off x="250920" y="990720"/>
            <a:ext cx="8713800" cy="66956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sng">
                <a:solidFill>
                  <a:srgbClr val="ffffff"/>
                </a:solidFill>
                <a:effectLst/>
                <a:uFillTx/>
                <a:latin typeface="Calibri"/>
                <a:ea typeface="Calibri"/>
              </a:rPr>
              <a:t>Mésocycle</a:t>
            </a:r>
            <a:endParaRPr b="0" lang="en-US" sz="6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50000"/>
              </a:lnSpc>
              <a:spcBef>
                <a:spcPts val="22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3600" strike="noStrike" u="none">
                <a:solidFill>
                  <a:srgbClr val="ffff00"/>
                </a:solidFill>
                <a:effectLst/>
                <a:uFillTx/>
                <a:latin typeface="Calibri"/>
                <a:ea typeface="Calibri"/>
              </a:rPr>
              <a:t>Ensemble constitué de 4 à 6 microcycles qui permettent d’assurer le développement d’une aptitude particulière, qu’elle soit physique, technique ou tactique</a:t>
            </a:r>
            <a:r>
              <a:rPr b="1" lang="fr-CA" sz="3600" strike="noStrike" u="none">
                <a:solidFill>
                  <a:srgbClr val="ffff00"/>
                </a:solidFill>
                <a:effectLst/>
                <a:uFillTx/>
                <a:latin typeface="Calibri"/>
                <a:ea typeface="Calibri"/>
              </a:rPr>
              <a:t>.</a:t>
            </a:r>
            <a:endParaRPr b="0" lang="en-US" sz="3600" strike="noStrike" u="none">
              <a:solidFill>
                <a:srgbClr val="ffff00"/>
              </a:solidFill>
              <a:effectLst/>
              <a:uFillTx/>
              <a:latin typeface="Times New Roman"/>
            </a:endParaRPr>
          </a:p>
        </p:txBody>
      </p:sp>
      <p:graphicFrame>
        <p:nvGraphicFramePr>
          <p:cNvPr id="1358" name="Object 3"/>
          <p:cNvGraphicFramePr/>
          <p:nvPr/>
        </p:nvGraphicFramePr>
        <p:xfrm>
          <a:off x="5105520" y="0"/>
          <a:ext cx="3276360" cy="2081160"/>
        </p:xfrm>
        <a:graphic>
          <a:graphicData uri="http://schemas.openxmlformats.org/presentationml/2006/ole">
            <p:oleObj progId="Excel.Sheet.12" r:id="rId1" spid="">
              <p:embed/>
              <p:pic>
                <p:nvPicPr>
                  <p:cNvPr id="1359" name="Object 3" descr=""/>
                  <p:cNvPicPr/>
                  <p:nvPr/>
                </p:nvPicPr>
                <p:blipFill>
                  <a:blip r:embed="rId2"/>
                  <a:stretch/>
                </p:blipFill>
                <p:spPr>
                  <a:xfrm>
                    <a:off x="5105520" y="0"/>
                    <a:ext cx="3276360" cy="20811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0" name="Text Box 2"/>
          <p:cNvSpPr/>
          <p:nvPr/>
        </p:nvSpPr>
        <p:spPr>
          <a:xfrm>
            <a:off x="0" y="609480"/>
            <a:ext cx="9144000" cy="575928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3. Le mésocycle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ff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ff00"/>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Combinaisons de microcycles</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61" name="Object 2"/>
          <p:cNvGraphicFramePr/>
          <p:nvPr/>
        </p:nvGraphicFramePr>
        <p:xfrm>
          <a:off x="7162920" y="228600"/>
          <a:ext cx="1981080" cy="1254240"/>
        </p:xfrm>
        <a:graphic>
          <a:graphicData uri="http://schemas.openxmlformats.org/presentationml/2006/ole">
            <p:oleObj progId="Excel.Sheet.12" r:id="rId1" spid="">
              <p:embed/>
              <p:pic>
                <p:nvPicPr>
                  <p:cNvPr id="1362"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363" name="Rectangle 3"/>
          <p:cNvSpPr/>
          <p:nvPr/>
        </p:nvSpPr>
        <p:spPr>
          <a:xfrm>
            <a:off x="380880" y="609480"/>
            <a:ext cx="8763120" cy="799560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Mésocycle graduel</a:t>
            </a:r>
            <a:endParaRPr b="0" lang="en-US" sz="60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Faible niveau de sollicitation</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Prépare l’organisme à un travail d’entraînement intense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Constitue généralement l’étape initiale de la saison (reprise)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Microcycle : graduel</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64" name="Object 2"/>
          <p:cNvGraphicFramePr/>
          <p:nvPr/>
        </p:nvGraphicFramePr>
        <p:xfrm>
          <a:off x="914400" y="2209680"/>
          <a:ext cx="7315200" cy="3475080"/>
        </p:xfrm>
        <a:graphic>
          <a:graphicData uri="http://schemas.openxmlformats.org/presentationml/2006/ole">
            <p:oleObj progId="Excel.Sheet.12" r:id="rId1" spid="">
              <p:embed/>
              <p:pic>
                <p:nvPicPr>
                  <p:cNvPr id="1365" name="Object 2" descr=""/>
                  <p:cNvPicPr/>
                  <p:nvPr/>
                </p:nvPicPr>
                <p:blipFill>
                  <a:blip r:embed="rId2"/>
                  <a:stretch/>
                </p:blipFill>
                <p:spPr>
                  <a:xfrm>
                    <a:off x="914400" y="2209680"/>
                    <a:ext cx="7315200" cy="3475080"/>
                  </a:xfrm>
                  <a:prstGeom prst="rect">
                    <a:avLst/>
                  </a:prstGeom>
                  <a:noFill/>
                  <a:ln w="0">
                    <a:noFill/>
                  </a:ln>
                </p:spPr>
              </p:pic>
            </p:oleObj>
          </a:graphicData>
        </a:graphic>
      </p:graphicFrame>
      <p:sp>
        <p:nvSpPr>
          <p:cNvPr id="1366" name="Text Box 3"/>
          <p:cNvSpPr/>
          <p:nvPr/>
        </p:nvSpPr>
        <p:spPr>
          <a:xfrm>
            <a:off x="914400" y="609480"/>
            <a:ext cx="7315200" cy="1312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4000" strike="noStrike" u="none">
                <a:solidFill>
                  <a:srgbClr val="66ffff"/>
                </a:solidFill>
                <a:effectLst/>
                <a:uFillTx/>
                <a:latin typeface="Calibri"/>
                <a:ea typeface="Calibri"/>
              </a:rPr>
              <a:t>Exemple de mésocycle graduel</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67" name="Object 2"/>
          <p:cNvGraphicFramePr/>
          <p:nvPr/>
        </p:nvGraphicFramePr>
        <p:xfrm>
          <a:off x="7162920" y="228600"/>
          <a:ext cx="1981080" cy="1254240"/>
        </p:xfrm>
        <a:graphic>
          <a:graphicData uri="http://schemas.openxmlformats.org/presentationml/2006/ole">
            <p:oleObj progId="Excel.Sheet.12" r:id="rId1" spid="">
              <p:embed/>
              <p:pic>
                <p:nvPicPr>
                  <p:cNvPr id="1368"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369" name="Rectangle 3"/>
          <p:cNvSpPr/>
          <p:nvPr/>
        </p:nvSpPr>
        <p:spPr>
          <a:xfrm>
            <a:off x="380880" y="609480"/>
            <a:ext cx="8763120" cy="700452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Mésocycle de base</a:t>
            </a:r>
            <a:endParaRPr b="0" lang="en-US" sz="6000" strike="noStrike" u="none">
              <a:solidFill>
                <a:srgbClr val="ffff00"/>
              </a:solidFill>
              <a:effectLst/>
              <a:uFillTx/>
              <a:latin typeface="Times New Roman"/>
            </a:endParaRPr>
          </a:p>
          <a:p>
            <a:pPr marL="457200" indent="-45720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Augmente les possibilités fonctionnelles</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Grand volume de travail; sollicitation élevée</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Synonymes : développement, foncier</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Microcycle : choc et récupération</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Text Box 2"/>
          <p:cNvSpPr/>
          <p:nvPr/>
        </p:nvSpPr>
        <p:spPr>
          <a:xfrm>
            <a:off x="228600" y="609480"/>
            <a:ext cx="8686800" cy="1312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4000" strike="noStrike" u="none">
                <a:solidFill>
                  <a:srgbClr val="66ffff"/>
                </a:solidFill>
                <a:effectLst/>
                <a:uFillTx/>
                <a:latin typeface="Calibri"/>
                <a:ea typeface="Calibri"/>
              </a:rPr>
              <a:t>Exemples de mésocycles de base</a:t>
            </a:r>
            <a:endParaRPr b="0" lang="en-US" sz="4000" strike="noStrike" u="none">
              <a:solidFill>
                <a:srgbClr val="ffff00"/>
              </a:solidFill>
              <a:effectLst/>
              <a:uFillTx/>
              <a:latin typeface="Times New Roman"/>
            </a:endParaRPr>
          </a:p>
        </p:txBody>
      </p:sp>
      <p:graphicFrame>
        <p:nvGraphicFramePr>
          <p:cNvPr id="1371" name="Object 3"/>
          <p:cNvGraphicFramePr/>
          <p:nvPr/>
        </p:nvGraphicFramePr>
        <p:xfrm>
          <a:off x="228600" y="2209680"/>
          <a:ext cx="4114800" cy="1954440"/>
        </p:xfrm>
        <a:graphic>
          <a:graphicData uri="http://schemas.openxmlformats.org/presentationml/2006/ole">
            <p:oleObj progId="Excel.Sheet.12" r:id="rId1" spid="">
              <p:embed/>
              <p:pic>
                <p:nvPicPr>
                  <p:cNvPr id="1372" name="Object 3" descr=""/>
                  <p:cNvPicPr/>
                  <p:nvPr/>
                </p:nvPicPr>
                <p:blipFill>
                  <a:blip r:embed="rId2"/>
                  <a:stretch/>
                </p:blipFill>
                <p:spPr>
                  <a:xfrm>
                    <a:off x="228600" y="2209680"/>
                    <a:ext cx="4114800" cy="1954440"/>
                  </a:xfrm>
                  <a:prstGeom prst="rect">
                    <a:avLst/>
                  </a:prstGeom>
                  <a:noFill/>
                  <a:ln w="0">
                    <a:noFill/>
                  </a:ln>
                </p:spPr>
              </p:pic>
            </p:oleObj>
          </a:graphicData>
        </a:graphic>
      </p:graphicFrame>
      <p:graphicFrame>
        <p:nvGraphicFramePr>
          <p:cNvPr id="1373" name="Object 4"/>
          <p:cNvGraphicFramePr/>
          <p:nvPr/>
        </p:nvGraphicFramePr>
        <p:xfrm>
          <a:off x="228600" y="4343400"/>
          <a:ext cx="4114800" cy="1954080"/>
        </p:xfrm>
        <a:graphic>
          <a:graphicData uri="http://schemas.openxmlformats.org/presentationml/2006/ole">
            <p:oleObj progId="Excel.Sheet.12" r:id="rId3" spid="">
              <p:embed/>
              <p:pic>
                <p:nvPicPr>
                  <p:cNvPr id="1374" name="Object 4" descr=""/>
                  <p:cNvPicPr/>
                  <p:nvPr/>
                </p:nvPicPr>
                <p:blipFill>
                  <a:blip r:embed="rId4"/>
                  <a:stretch/>
                </p:blipFill>
                <p:spPr>
                  <a:xfrm>
                    <a:off x="228600" y="4343400"/>
                    <a:ext cx="4114800" cy="1954080"/>
                  </a:xfrm>
                  <a:prstGeom prst="rect">
                    <a:avLst/>
                  </a:prstGeom>
                  <a:noFill/>
                  <a:ln w="0">
                    <a:noFill/>
                  </a:ln>
                </p:spPr>
              </p:pic>
            </p:oleObj>
          </a:graphicData>
        </a:graphic>
      </p:graphicFrame>
      <p:graphicFrame>
        <p:nvGraphicFramePr>
          <p:cNvPr id="1375" name="Object 5"/>
          <p:cNvGraphicFramePr/>
          <p:nvPr/>
        </p:nvGraphicFramePr>
        <p:xfrm>
          <a:off x="4495680" y="4343400"/>
          <a:ext cx="4114800" cy="1954080"/>
        </p:xfrm>
        <a:graphic>
          <a:graphicData uri="http://schemas.openxmlformats.org/presentationml/2006/ole">
            <p:oleObj progId="Excel.Sheet.12" r:id="rId5" spid="">
              <p:embed/>
              <p:pic>
                <p:nvPicPr>
                  <p:cNvPr id="1376" name="Object 5" descr=""/>
                  <p:cNvPicPr/>
                  <p:nvPr/>
                </p:nvPicPr>
                <p:blipFill>
                  <a:blip r:embed="rId6"/>
                  <a:stretch/>
                </p:blipFill>
                <p:spPr>
                  <a:xfrm>
                    <a:off x="4495680" y="4343400"/>
                    <a:ext cx="4114800" cy="1954080"/>
                  </a:xfrm>
                  <a:prstGeom prst="rect">
                    <a:avLst/>
                  </a:prstGeom>
                  <a:noFill/>
                  <a:ln w="0">
                    <a:noFill/>
                  </a:ln>
                </p:spPr>
              </p:pic>
            </p:oleObj>
          </a:graphicData>
        </a:graphic>
      </p:graphicFrame>
      <p:graphicFrame>
        <p:nvGraphicFramePr>
          <p:cNvPr id="1377" name="Object 6"/>
          <p:cNvGraphicFramePr/>
          <p:nvPr/>
        </p:nvGraphicFramePr>
        <p:xfrm>
          <a:off x="4495680" y="2209680"/>
          <a:ext cx="4114800" cy="1954440"/>
        </p:xfrm>
        <a:graphic>
          <a:graphicData uri="http://schemas.openxmlformats.org/presentationml/2006/ole">
            <p:oleObj progId="Excel.Sheet.12" r:id="rId7" spid="">
              <p:embed/>
              <p:pic>
                <p:nvPicPr>
                  <p:cNvPr id="1378" name="Object 6" descr=""/>
                  <p:cNvPicPr/>
                  <p:nvPr/>
                </p:nvPicPr>
                <p:blipFill>
                  <a:blip r:embed="rId8"/>
                  <a:stretch/>
                </p:blipFill>
                <p:spPr>
                  <a:xfrm>
                    <a:off x="4495680" y="2209680"/>
                    <a:ext cx="4114800" cy="19544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79" name="Object 2"/>
          <p:cNvGraphicFramePr/>
          <p:nvPr/>
        </p:nvGraphicFramePr>
        <p:xfrm>
          <a:off x="7162920" y="228600"/>
          <a:ext cx="1981080" cy="1254240"/>
        </p:xfrm>
        <a:graphic>
          <a:graphicData uri="http://schemas.openxmlformats.org/presentationml/2006/ole">
            <p:oleObj progId="Excel.Sheet.12" r:id="rId1" spid="">
              <p:embed/>
              <p:pic>
                <p:nvPicPr>
                  <p:cNvPr id="1380"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381" name="Rectangle 3"/>
          <p:cNvSpPr/>
          <p:nvPr/>
        </p:nvSpPr>
        <p:spPr>
          <a:xfrm>
            <a:off x="0" y="609480"/>
            <a:ext cx="9144000" cy="638316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ffff"/>
                </a:solidFill>
                <a:effectLst/>
                <a:uFillTx/>
                <a:latin typeface="Calibri"/>
                <a:ea typeface="Calibri"/>
              </a:rPr>
              <a:t>Mésocycle préparatoire</a:t>
            </a:r>
            <a:endParaRPr b="0" lang="en-US" sz="5500" strike="noStrike" u="none">
              <a:solidFill>
                <a:srgbClr val="ffff00"/>
              </a:solidFill>
              <a:effectLst/>
              <a:uFillTx/>
              <a:latin typeface="Times New Roman"/>
            </a:endParaRPr>
          </a:p>
          <a:p>
            <a:pPr marL="457200" indent="-45720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Transférer les aptitudes développées vers aptitudes spécifiques à la compétition</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Synonyme : spécifique  </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Microcycle : choc et récupération</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82" name="Object 2"/>
          <p:cNvGraphicFramePr/>
          <p:nvPr/>
        </p:nvGraphicFramePr>
        <p:xfrm>
          <a:off x="7162920" y="228600"/>
          <a:ext cx="1981080" cy="1254240"/>
        </p:xfrm>
        <a:graphic>
          <a:graphicData uri="http://schemas.openxmlformats.org/presentationml/2006/ole">
            <p:oleObj progId="Excel.Sheet.12" r:id="rId1" spid="">
              <p:embed/>
              <p:pic>
                <p:nvPicPr>
                  <p:cNvPr id="1383"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384" name="Rectangle 3"/>
          <p:cNvSpPr/>
          <p:nvPr/>
        </p:nvSpPr>
        <p:spPr>
          <a:xfrm>
            <a:off x="0" y="289080"/>
            <a:ext cx="9144000" cy="6522480"/>
          </a:xfrm>
          <a:prstGeom prst="rect">
            <a:avLst/>
          </a:prstGeom>
          <a:noFill/>
          <a:ln w="0">
            <a:noFill/>
          </a:ln>
        </p:spPr>
        <p:style>
          <a:lnRef idx="0"/>
          <a:fillRef idx="0"/>
          <a:effectRef idx="0"/>
          <a:fontRef idx="minor"/>
        </p:style>
        <p:txBody>
          <a:bodyPr lIns="90000" rIns="90000" tIns="46800" bIns="46800" anchor="t">
            <a:spAutoFit/>
          </a:bodyPr>
          <a:p>
            <a:pPr marL="457200" indent="-457200">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ffff"/>
                </a:solidFill>
                <a:effectLst/>
                <a:uFillTx/>
                <a:latin typeface="Calibri"/>
                <a:ea typeface="Calibri"/>
              </a:rPr>
              <a:t>Mésocycle de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Précompétition</a:t>
            </a:r>
            <a:endParaRPr b="0" lang="en-US" sz="55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Compétitions secondaires afin d’optimiser entraînement spécifique.</a:t>
            </a:r>
            <a:endParaRPr b="0" lang="en-US" sz="4000" strike="noStrike" u="none">
              <a:solidFill>
                <a:srgbClr val="ffff00"/>
              </a:solidFill>
              <a:effectLst/>
              <a:uFillTx/>
              <a:latin typeface="Times New Roman"/>
            </a:endParaRPr>
          </a:p>
          <a:p>
            <a:pPr marL="457200" indent="-457200">
              <a:lnSpc>
                <a:spcPct val="100000"/>
              </a:lnSpc>
              <a:spcBef>
                <a:spcPts val="25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000" strike="noStrike" u="none">
                <a:solidFill>
                  <a:srgbClr val="ffff00"/>
                </a:solidFill>
                <a:effectLst/>
                <a:uFillTx/>
                <a:latin typeface="Calibri"/>
                <a:ea typeface="Calibri"/>
              </a:rPr>
              <a:t>Microcycles : choc, approche, récup.</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85" name="Object 2"/>
          <p:cNvGraphicFramePr/>
          <p:nvPr/>
        </p:nvGraphicFramePr>
        <p:xfrm>
          <a:off x="7162920" y="228600"/>
          <a:ext cx="1981080" cy="1254240"/>
        </p:xfrm>
        <a:graphic>
          <a:graphicData uri="http://schemas.openxmlformats.org/presentationml/2006/ole">
            <p:oleObj progId="Excel.Sheet.12" r:id="rId1" spid="">
              <p:embed/>
              <p:pic>
                <p:nvPicPr>
                  <p:cNvPr id="1386" name="Object 2" descr=""/>
                  <p:cNvPicPr/>
                  <p:nvPr/>
                </p:nvPicPr>
                <p:blipFill>
                  <a:blip r:embed="rId2"/>
                  <a:stretch/>
                </p:blipFill>
                <p:spPr>
                  <a:xfrm>
                    <a:off x="7162920" y="228600"/>
                    <a:ext cx="1981080" cy="1254240"/>
                  </a:xfrm>
                  <a:prstGeom prst="rect">
                    <a:avLst/>
                  </a:prstGeom>
                  <a:noFill/>
                  <a:ln w="0">
                    <a:noFill/>
                  </a:ln>
                </p:spPr>
              </p:pic>
            </p:oleObj>
          </a:graphicData>
        </a:graphic>
      </p:graphicFrame>
      <p:sp>
        <p:nvSpPr>
          <p:cNvPr id="1387" name="Rectangle 3"/>
          <p:cNvSpPr/>
          <p:nvPr/>
        </p:nvSpPr>
        <p:spPr>
          <a:xfrm>
            <a:off x="0" y="289080"/>
            <a:ext cx="9144000" cy="768528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6699"/>
                </a:solidFill>
                <a:effectLst/>
                <a:uFillTx/>
                <a:latin typeface="Calibri"/>
                <a:ea typeface="Calibri"/>
              </a:rPr>
              <a:t>  </a:t>
            </a:r>
            <a:r>
              <a:rPr b="1" i="1" lang="fr-CA" sz="5500" strike="noStrike" u="none">
                <a:solidFill>
                  <a:srgbClr val="ff6699"/>
                </a:solidFill>
                <a:effectLst/>
                <a:uFillTx/>
                <a:latin typeface="Calibri"/>
                <a:ea typeface="Calibri"/>
              </a:rPr>
              <a:t>	</a:t>
            </a:r>
            <a:r>
              <a:rPr b="1" i="1" lang="fr-CA" sz="5500" strike="noStrike" u="none">
                <a:solidFill>
                  <a:srgbClr val="ffffff"/>
                </a:solidFill>
                <a:effectLst/>
                <a:uFillTx/>
                <a:latin typeface="Calibri"/>
                <a:ea typeface="Calibri"/>
              </a:rPr>
              <a:t>Mésocycle de </a:t>
            </a:r>
            <a:r>
              <a:rPr b="1" i="1" lang="fr-CA" sz="5500" strike="noStrike" u="none">
                <a:solidFill>
                  <a:srgbClr val="ffffff"/>
                </a:solidFill>
                <a:effectLst/>
                <a:uFillTx/>
                <a:latin typeface="Calibri"/>
                <a:ea typeface="Calibri"/>
              </a:rPr>
              <a:t>	</a:t>
            </a:r>
            <a:r>
              <a:rPr b="1" i="1" lang="fr-CA" sz="5500" strike="noStrike" u="none">
                <a:solidFill>
                  <a:srgbClr val="ffffff"/>
                </a:solidFill>
                <a:effectLst/>
                <a:uFillTx/>
                <a:latin typeface="Calibri"/>
                <a:ea typeface="Calibri"/>
              </a:rPr>
              <a:t>    </a:t>
            </a:r>
            <a:endParaRPr b="0" lang="en-US" sz="5500" strike="noStrike" u="none">
              <a:solidFill>
                <a:srgbClr val="ffff00"/>
              </a:solidFill>
              <a:effectLst/>
              <a:uFillTx/>
              <a:latin typeface="Times New Roman"/>
            </a:endParaRPr>
          </a:p>
          <a:p>
            <a:pPr marL="457200" indent="-457200" algn="ctr">
              <a:lnSpc>
                <a:spcPct val="100000"/>
              </a:lnSpc>
              <a:spcBef>
                <a:spcPts val="343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500" strike="noStrike" u="none">
                <a:solidFill>
                  <a:srgbClr val="ffffff"/>
                </a:solidFill>
                <a:effectLst/>
                <a:uFillTx/>
                <a:latin typeface="Calibri"/>
                <a:ea typeface="Calibri"/>
              </a:rPr>
              <a:t>compétition (affûtage)</a:t>
            </a:r>
            <a:endParaRPr b="0" lang="en-US" sz="55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Volume de travail diminué, sollicitation moyenne faible mais séances (1 ou 2/microcycle) à charge très élevée  </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Propre à chaque discipline</a:t>
            </a:r>
            <a:endParaRPr b="0" lang="en-US" sz="3600" strike="noStrike" u="none">
              <a:solidFill>
                <a:srgbClr val="ffff00"/>
              </a:solidFill>
              <a:effectLst/>
              <a:uFillTx/>
              <a:latin typeface="Times New Roman"/>
            </a:endParaRPr>
          </a:p>
          <a:p>
            <a:pPr marL="457200" indent="-457200">
              <a:lnSpc>
                <a:spcPct val="100000"/>
              </a:lnSpc>
              <a:spcBef>
                <a:spcPts val="225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ff00"/>
                </a:solidFill>
                <a:effectLst/>
                <a:uFillTx/>
                <a:latin typeface="Calibri"/>
                <a:ea typeface="Calibri"/>
              </a:rPr>
              <a:t>Microcycle : compétition, approche, récupération.</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Text Box 2"/>
          <p:cNvSpPr/>
          <p:nvPr/>
        </p:nvSpPr>
        <p:spPr>
          <a:xfrm>
            <a:off x="228600" y="380880"/>
            <a:ext cx="8686800" cy="1312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4000" strike="noStrike" u="none">
                <a:solidFill>
                  <a:srgbClr val="66ffff"/>
                </a:solidFill>
                <a:effectLst/>
                <a:uFillTx/>
                <a:latin typeface="Calibri"/>
                <a:ea typeface="Calibri"/>
              </a:rPr>
              <a:t>Exemples de mésocycles de compétition</a:t>
            </a:r>
            <a:endParaRPr b="0" lang="en-US" sz="4000" strike="noStrike" u="none">
              <a:solidFill>
                <a:srgbClr val="ffff00"/>
              </a:solidFill>
              <a:effectLst/>
              <a:uFillTx/>
              <a:latin typeface="Times New Roman"/>
            </a:endParaRPr>
          </a:p>
        </p:txBody>
      </p:sp>
      <p:graphicFrame>
        <p:nvGraphicFramePr>
          <p:cNvPr id="1389" name="Object 3"/>
          <p:cNvGraphicFramePr/>
          <p:nvPr/>
        </p:nvGraphicFramePr>
        <p:xfrm>
          <a:off x="1905120" y="1905120"/>
          <a:ext cx="4952880" cy="2352600"/>
        </p:xfrm>
        <a:graphic>
          <a:graphicData uri="http://schemas.openxmlformats.org/presentationml/2006/ole">
            <p:oleObj progId="Excel.Sheet.12" r:id="rId1" spid="">
              <p:embed/>
              <p:pic>
                <p:nvPicPr>
                  <p:cNvPr id="1390" name="Object 3" descr=""/>
                  <p:cNvPicPr/>
                  <p:nvPr/>
                </p:nvPicPr>
                <p:blipFill>
                  <a:blip r:embed="rId2"/>
                  <a:stretch/>
                </p:blipFill>
                <p:spPr>
                  <a:xfrm>
                    <a:off x="1905120" y="1905120"/>
                    <a:ext cx="4952880" cy="2352600"/>
                  </a:xfrm>
                  <a:prstGeom prst="rect">
                    <a:avLst/>
                  </a:prstGeom>
                  <a:noFill/>
                  <a:ln w="0">
                    <a:noFill/>
                  </a:ln>
                </p:spPr>
              </p:pic>
            </p:oleObj>
          </a:graphicData>
        </a:graphic>
      </p:graphicFrame>
      <p:graphicFrame>
        <p:nvGraphicFramePr>
          <p:cNvPr id="1391" name="Object 4"/>
          <p:cNvGraphicFramePr/>
          <p:nvPr/>
        </p:nvGraphicFramePr>
        <p:xfrm>
          <a:off x="1905120" y="4267080"/>
          <a:ext cx="4952880" cy="2352960"/>
        </p:xfrm>
        <a:graphic>
          <a:graphicData uri="http://schemas.openxmlformats.org/presentationml/2006/ole">
            <p:oleObj progId="Excel.Sheet.12" r:id="rId3" spid="">
              <p:embed/>
              <p:pic>
                <p:nvPicPr>
                  <p:cNvPr id="1392" name="Object 4" descr=""/>
                  <p:cNvPicPr/>
                  <p:nvPr/>
                </p:nvPicPr>
                <p:blipFill>
                  <a:blip r:embed="rId4"/>
                  <a:stretch/>
                </p:blipFill>
                <p:spPr>
                  <a:xfrm>
                    <a:off x="1905120" y="4267080"/>
                    <a:ext cx="4952880" cy="23529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3" name="Text Box 2"/>
          <p:cNvSpPr/>
          <p:nvPr/>
        </p:nvSpPr>
        <p:spPr>
          <a:xfrm>
            <a:off x="0" y="609480"/>
            <a:ext cx="9144000" cy="575928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3. Le mésocycle</a:t>
            </a:r>
            <a:endParaRPr b="0" lang="en-US" sz="6000" strike="noStrike" u="none">
              <a:solidFill>
                <a:srgbClr val="ffff00"/>
              </a:solidFill>
              <a:effectLst/>
              <a:uFillTx/>
              <a:latin typeface="Times New Roman"/>
            </a:endParaRPr>
          </a:p>
          <a:p>
            <a:pPr marL="457200" indent="-457200">
              <a:lnSpc>
                <a:spcPct val="100000"/>
              </a:lnSpc>
              <a:spcBef>
                <a:spcPts val="156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Définition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Classification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cc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cc00"/>
                </a:solidFill>
                <a:effectLst/>
                <a:uFillTx/>
                <a:latin typeface="Calibri"/>
                <a:ea typeface="Calibri"/>
              </a:rPr>
              <a:t>Combinaisons de microcycles</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4"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Mésocycles,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1395" name="Flèche droite 2"/>
          <p:cNvSpPr/>
          <p:nvPr/>
        </p:nvSpPr>
        <p:spPr>
          <a:xfrm>
            <a:off x="439560" y="357336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30" dur="indefinite" restart="never" nodeType="tmRoot">
          <p:childTnLst>
            <p:seq>
              <p:cTn id="1931" dur="indefinite" nodeType="mainSeq">
                <p:childTnLst>
                  <p:par>
                    <p:cTn id="1932" nodeType="clickEffect" fill="hold">
                      <p:stCondLst>
                        <p:cond delay="indefinite"/>
                      </p:stCondLst>
                      <p:childTnLst>
                        <p:par>
                          <p:cTn id="1933" nodeType="withEffect" fill="hold">
                            <p:stCondLst>
                              <p:cond delay="0"/>
                            </p:stCondLst>
                            <p:childTnLst>
                              <p:par>
                                <p:cTn id="1934" nodeType="clickEffect" fill="hold" presetClass="entr" presetID="22" presetSubtype="8">
                                  <p:stCondLst>
                                    <p:cond delay="0"/>
                                  </p:stCondLst>
                                  <p:childTnLst>
                                    <p:set>
                                      <p:cBhvr>
                                        <p:cTn id="1935" dur="1" fill="hold">
                                          <p:stCondLst>
                                            <p:cond delay="0"/>
                                          </p:stCondLst>
                                        </p:cTn>
                                        <p:tgtEl>
                                          <p:spTgt spid="1395"/>
                                        </p:tgtEl>
                                        <p:attrNameLst>
                                          <p:attrName>style.visibility</p:attrName>
                                        </p:attrNameLst>
                                      </p:cBhvr>
                                      <p:to>
                                        <p:strVal val="visible"/>
                                      </p:to>
                                    </p:set>
                                    <p:animEffect filter="wipe(left)" transition="in">
                                      <p:cBhvr additive="repl">
                                        <p:cTn id="1936" dur="500"/>
                                        <p:tgtEl>
                                          <p:spTgt spid="1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6"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1397"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398"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99"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0"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1"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2"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Programmation, </a:t>
            </a:r>
            <a:r>
              <a:rPr b="0" lang="fr-FR" sz="2400" strike="noStrike" u="none">
                <a:solidFill>
                  <a:srgbClr val="f8f8f8"/>
                </a:solidFill>
                <a:effectLst/>
                <a:uFillTx/>
                <a:latin typeface="Bookman Old Style"/>
              </a:rPr>
              <a:t>(une saison)</a:t>
            </a:r>
            <a:endParaRPr b="0" lang="en-US" sz="2400" strike="noStrike" u="none">
              <a:solidFill>
                <a:srgbClr val="ffff00"/>
              </a:solidFill>
              <a:effectLst/>
              <a:uFillTx/>
              <a:latin typeface="Times New Roman"/>
            </a:endParaRPr>
          </a:p>
        </p:txBody>
      </p:sp>
      <p:sp>
        <p:nvSpPr>
          <p:cNvPr id="1403"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4"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5"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6"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07" name="Text Box 13"/>
          <p:cNvSpPr/>
          <p:nvPr/>
        </p:nvSpPr>
        <p:spPr>
          <a:xfrm>
            <a:off x="22921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408" name="Text Box 14"/>
          <p:cNvSpPr/>
          <p:nvPr/>
        </p:nvSpPr>
        <p:spPr>
          <a:xfrm>
            <a:off x="45781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409"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0"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1"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2" name="Text Box 18"/>
          <p:cNvSpPr/>
          <p:nvPr/>
        </p:nvSpPr>
        <p:spPr>
          <a:xfrm>
            <a:off x="66355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413"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4"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5"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16" name="Text Box 22"/>
          <p:cNvSpPr/>
          <p:nvPr/>
        </p:nvSpPr>
        <p:spPr>
          <a:xfrm>
            <a:off x="2347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417"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418"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419"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1420" name="Line 26"/>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1" name="Line 27"/>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2" name="Line 28"/>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3" name="Line 29"/>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4" name="Line 30"/>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5" name="Line 31"/>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6" name="Line 32"/>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7" name="Line 33"/>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8" name="Line 34"/>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29" name="Line 35"/>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0" name="Line 36"/>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1" name="Text Box 37"/>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432" name="Line 38"/>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3" name="Line 39"/>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4" name="Line 40"/>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5" name="Line 41"/>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6" name="Text Box 42"/>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437" name="Line 43"/>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8" name="Line 44"/>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39" name="Line 45"/>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0" name="Line 46"/>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1" name="Text Box 47"/>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442" name="Line 48"/>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3" name="Line 49"/>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4" name="Line 50"/>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5" name="Line 51"/>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446" name="Ellipse 1"/>
          <p:cNvSpPr/>
          <p:nvPr/>
        </p:nvSpPr>
        <p:spPr>
          <a:xfrm>
            <a:off x="0" y="3147840"/>
            <a:ext cx="9144000" cy="995400"/>
          </a:xfrm>
          <a:prstGeom prst="ellipse">
            <a:avLst/>
          </a:prstGeom>
          <a:noFill/>
          <a:ln w="2556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37" dur="indefinite" restart="never" nodeType="tmRoot">
          <p:childTnLst>
            <p:seq>
              <p:cTn id="1938" dur="indefinite" nodeType="mainSeq">
                <p:childTnLst>
                  <p:par>
                    <p:cTn id="1939" nodeType="clickEffect" fill="hold">
                      <p:stCondLst>
                        <p:cond delay="indefinite"/>
                      </p:stCondLst>
                      <p:childTnLst>
                        <p:par>
                          <p:cTn id="1940" nodeType="withEffect" fill="hold">
                            <p:stCondLst>
                              <p:cond delay="0"/>
                            </p:stCondLst>
                            <p:childTnLst>
                              <p:par>
                                <p:cTn id="1941" nodeType="clickEffect" fill="hold" presetClass="entr" presetID="22" presetSubtype="4" repeatCount="1000">
                                  <p:stCondLst>
                                    <p:cond delay="0"/>
                                  </p:stCondLst>
                                  <p:childTnLst>
                                    <p:set>
                                      <p:cBhvr>
                                        <p:cTn id="1942" dur="1" fill="hold">
                                          <p:stCondLst>
                                            <p:cond delay="0"/>
                                          </p:stCondLst>
                                        </p:cTn>
                                        <p:tgtEl>
                                          <p:spTgt spid="1446"/>
                                        </p:tgtEl>
                                        <p:attrNameLst>
                                          <p:attrName>style.visibility</p:attrName>
                                        </p:attrNameLst>
                                      </p:cBhvr>
                                      <p:to>
                                        <p:strVal val="visible"/>
                                      </p:to>
                                    </p:set>
                                    <p:animEffect filter="wipe(down)" transition="in">
                                      <p:cBhvr additive="repl">
                                        <p:cTn id="1943" dur="1250"/>
                                        <p:tgtEl>
                                          <p:spTgt spid="1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7" name="Text Box 2"/>
          <p:cNvSpPr/>
          <p:nvPr/>
        </p:nvSpPr>
        <p:spPr>
          <a:xfrm>
            <a:off x="0" y="609480"/>
            <a:ext cx="9144000" cy="66438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4.Périodes et périodisation</a:t>
            </a:r>
            <a:endParaRPr b="0" lang="en-US" sz="60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lvl="1" marL="914400" indent="-457200">
              <a:lnSpc>
                <a:spcPct val="100000"/>
              </a:lnSpc>
              <a:spcBef>
                <a:spcPts val="2500"/>
              </a:spcBef>
              <a:buClr>
                <a:srgbClr val="ffcc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cc00"/>
                </a:solidFill>
                <a:effectLst/>
                <a:uFillTx/>
                <a:latin typeface="Calibri"/>
                <a:ea typeface="Calibri"/>
              </a:rPr>
              <a:t>Introduction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Préparation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Compétition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Transition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Text Box 2"/>
          <p:cNvSpPr/>
          <p:nvPr/>
        </p:nvSpPr>
        <p:spPr>
          <a:xfrm>
            <a:off x="289080" y="955800"/>
            <a:ext cx="183960" cy="4572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449" name="Text Box 3"/>
          <p:cNvSpPr/>
          <p:nvPr/>
        </p:nvSpPr>
        <p:spPr>
          <a:xfrm>
            <a:off x="254160" y="1413000"/>
            <a:ext cx="8762760" cy="4655880"/>
          </a:xfrm>
          <a:prstGeom prst="rect">
            <a:avLst/>
          </a:prstGeom>
          <a:noFill/>
          <a:ln w="0">
            <a:noFill/>
          </a:ln>
        </p:spPr>
        <p:style>
          <a:lnRef idx="0"/>
          <a:fillRef idx="0"/>
          <a:effectRef idx="0"/>
          <a:fontRef idx="minor"/>
        </p:style>
        <p:txBody>
          <a:bodyPr lIns="90000" rIns="90000" tIns="46800" bIns="46800" anchor="t">
            <a:normAutofit fontScale="92500" lnSpcReduction="19999"/>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L'entraînement moderne est nécessairement </a:t>
            </a:r>
            <a:r>
              <a:rPr b="1" lang="fr-FR" sz="2800" strike="noStrike" u="none">
                <a:solidFill>
                  <a:srgbClr val="ffffff"/>
                </a:solidFill>
                <a:effectLst/>
                <a:uFillTx/>
                <a:latin typeface="Calibri"/>
                <a:ea typeface="Calibri"/>
              </a:rPr>
              <a:t>« périodisé »,</a:t>
            </a:r>
            <a:r>
              <a:rPr b="1" lang="fr-FR" sz="2800" strike="noStrike" u="none">
                <a:solidFill>
                  <a:srgbClr val="ffff00"/>
                </a:solidFill>
                <a:effectLst/>
                <a:uFillTx/>
                <a:latin typeface="Calibri"/>
                <a:ea typeface="Calibri"/>
              </a:rPr>
              <a:t> dans la mesure où le </a:t>
            </a:r>
            <a:r>
              <a:rPr b="1" lang="fr-FR" sz="2800" strike="noStrike" u="none">
                <a:solidFill>
                  <a:srgbClr val="ffffff"/>
                </a:solidFill>
                <a:effectLst/>
                <a:uFillTx/>
                <a:latin typeface="Calibri"/>
                <a:ea typeface="Calibri"/>
              </a:rPr>
              <a:t>volume</a:t>
            </a:r>
            <a:r>
              <a:rPr b="1" lang="fr-FR" sz="2800" strike="noStrike" u="none">
                <a:solidFill>
                  <a:srgbClr val="ffff00"/>
                </a:solidFill>
                <a:effectLst/>
                <a:uFillTx/>
                <a:latin typeface="Calibri"/>
                <a:ea typeface="Calibri"/>
              </a:rPr>
              <a:t> de travail et </a:t>
            </a:r>
            <a:r>
              <a:rPr b="1" lang="fr-FR" sz="2800" strike="noStrike" u="none">
                <a:solidFill>
                  <a:srgbClr val="ffffff"/>
                </a:solidFill>
                <a:effectLst/>
                <a:uFillTx/>
                <a:latin typeface="Calibri"/>
                <a:ea typeface="Calibri"/>
              </a:rPr>
              <a:t>l'intensité</a:t>
            </a:r>
            <a:r>
              <a:rPr b="1" lang="fr-FR" sz="2800" strike="noStrike" u="none">
                <a:solidFill>
                  <a:srgbClr val="ffff00"/>
                </a:solidFill>
                <a:effectLst/>
                <a:uFillTx/>
                <a:latin typeface="Calibri"/>
                <a:ea typeface="Calibri"/>
              </a:rPr>
              <a:t> des entraînements auxquels sont soumis les joueurs obligent à introduire une </a:t>
            </a:r>
            <a:r>
              <a:rPr b="1" lang="fr-FR" sz="2800" strike="noStrike" u="none">
                <a:solidFill>
                  <a:srgbClr val="ffffff"/>
                </a:solidFill>
                <a:effectLst/>
                <a:uFillTx/>
                <a:latin typeface="Calibri"/>
                <a:ea typeface="Calibri"/>
              </a:rPr>
              <a:t>progression</a:t>
            </a:r>
            <a:r>
              <a:rPr b="1" lang="fr-FR" sz="2800" strike="noStrike" u="none">
                <a:solidFill>
                  <a:srgbClr val="ffff00"/>
                </a:solidFill>
                <a:effectLst/>
                <a:uFillTx/>
                <a:latin typeface="Calibri"/>
                <a:ea typeface="Calibri"/>
              </a:rPr>
              <a:t> (du quantitatif au qualitatif ; du volume à l'intensité ; du général au spécifique ; etc.) et une </a:t>
            </a:r>
            <a:r>
              <a:rPr b="1" lang="fr-FR" sz="2800" strike="noStrike" u="none">
                <a:solidFill>
                  <a:srgbClr val="ffffff"/>
                </a:solidFill>
                <a:effectLst/>
                <a:uFillTx/>
                <a:latin typeface="Calibri"/>
                <a:ea typeface="Calibri"/>
              </a:rPr>
              <a:t>alternance</a:t>
            </a:r>
            <a:r>
              <a:rPr b="1" lang="fr-FR" sz="2800" strike="noStrike" u="none">
                <a:solidFill>
                  <a:srgbClr val="ffff00"/>
                </a:solidFill>
                <a:effectLst/>
                <a:uFillTx/>
                <a:latin typeface="Calibri"/>
                <a:ea typeface="Calibri"/>
              </a:rPr>
              <a:t> entre </a:t>
            </a:r>
            <a:r>
              <a:rPr b="1" lang="fr-FR" sz="2800" strike="noStrike" u="none">
                <a:solidFill>
                  <a:srgbClr val="ffffff"/>
                </a:solidFill>
                <a:effectLst/>
                <a:uFillTx/>
                <a:latin typeface="Calibri"/>
                <a:ea typeface="Calibri"/>
              </a:rPr>
              <a:t>des périodes de travail intense</a:t>
            </a:r>
            <a:r>
              <a:rPr b="1" lang="fr-FR" sz="2800" strike="noStrike" u="none">
                <a:solidFill>
                  <a:srgbClr val="ffff00"/>
                </a:solidFill>
                <a:effectLst/>
                <a:uFillTx/>
                <a:latin typeface="Calibri"/>
                <a:ea typeface="Calibri"/>
              </a:rPr>
              <a:t> et </a:t>
            </a:r>
            <a:r>
              <a:rPr b="1" lang="fr-FR" sz="2800" strike="noStrike" u="none">
                <a:solidFill>
                  <a:srgbClr val="ffffff"/>
                </a:solidFill>
                <a:effectLst/>
                <a:uFillTx/>
                <a:latin typeface="Calibri"/>
                <a:ea typeface="Calibri"/>
              </a:rPr>
              <a:t>des périodes de repos</a:t>
            </a:r>
            <a:r>
              <a:rPr b="1" lang="fr-FR" sz="2800" strike="noStrike" u="none">
                <a:solidFill>
                  <a:srgbClr val="ffff00"/>
                </a:solidFill>
                <a:effectLst/>
                <a:uFillTx/>
                <a:latin typeface="Calibri"/>
                <a:ea typeface="Calibri"/>
              </a:rPr>
              <a:t> ou de travail moins intense qui forment des ondulations sur une durée d'un jour, d'une semaine, d'un mois ou d'une année.</a:t>
            </a:r>
            <a:endParaRPr b="0" lang="en-US" sz="2800" strike="noStrike" u="none">
              <a:solidFill>
                <a:srgbClr val="ffff00"/>
              </a:solidFill>
              <a:effectLst/>
              <a:uFillTx/>
              <a:latin typeface="Times New Roman"/>
            </a:endParaRPr>
          </a:p>
        </p:txBody>
      </p:sp>
      <p:sp>
        <p:nvSpPr>
          <p:cNvPr id="1450" name="Text Box 4"/>
          <p:cNvSpPr/>
          <p:nvPr/>
        </p:nvSpPr>
        <p:spPr>
          <a:xfrm>
            <a:off x="879480" y="533520"/>
            <a:ext cx="7077240" cy="45972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spcBef>
                <a:spcPts val="1199"/>
              </a:spcBef>
              <a:spcAft>
                <a:spcPts val="300"/>
              </a:spcAft>
              <a:buClr>
                <a:srgbClr val="f8f8f8"/>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   PERIODISATION DE L’ENTRAÎNEMENT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1" name="Rectangle 2"/>
          <p:cNvSpPr/>
          <p:nvPr/>
        </p:nvSpPr>
        <p:spPr>
          <a:xfrm>
            <a:off x="571680" y="1887480"/>
            <a:ext cx="8001000" cy="4874760"/>
          </a:xfrm>
          <a:prstGeom prst="rect">
            <a:avLst/>
          </a:prstGeom>
          <a:noFill/>
          <a:ln w="0">
            <a:noFill/>
          </a:ln>
        </p:spPr>
        <p:style>
          <a:lnRef idx="0"/>
          <a:fillRef idx="0"/>
          <a:effectRef idx="0"/>
          <a:fontRef idx="minor"/>
        </p:style>
        <p:txBody>
          <a:bodyPr lIns="90000" rIns="90000" tIns="46800" bIns="46800" anchor="t">
            <a:spAutoFit/>
          </a:bodyPr>
          <a:p>
            <a:pPr>
              <a:lnSpc>
                <a:spcPct val="140000"/>
              </a:lnSpc>
              <a:spcBef>
                <a:spcPts val="1749"/>
              </a:spcBef>
              <a:tabLst>
                <a:tab algn="l" pos="0"/>
                <a:tab algn="l" pos="663480"/>
                <a:tab algn="l" pos="95256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Généralisation de la notion de périodisation : les cycles de progression et d’alternance se retrouvent à tous les niveaux du processus d’entraînement depuis la série d’exercices jusqu’au gigacycle qui constitue la totalité de la carrière du sportif (d’après Péronnet, 1994).</a:t>
            </a:r>
            <a:endParaRPr b="0" lang="en-US" sz="2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52" name="Group 2"/>
          <p:cNvGrpSpPr/>
          <p:nvPr/>
        </p:nvGrpSpPr>
        <p:grpSpPr>
          <a:xfrm>
            <a:off x="0" y="0"/>
            <a:ext cx="9143640" cy="6858000"/>
            <a:chOff x="0" y="0"/>
            <a:chExt cx="9143640" cy="6858000"/>
          </a:xfrm>
        </p:grpSpPr>
        <p:grpSp>
          <p:nvGrpSpPr>
            <p:cNvPr id="1453" name="Group 3"/>
            <p:cNvGrpSpPr/>
            <p:nvPr/>
          </p:nvGrpSpPr>
          <p:grpSpPr>
            <a:xfrm>
              <a:off x="6840" y="4320"/>
              <a:ext cx="9128520" cy="6848280"/>
              <a:chOff x="6840" y="4320"/>
              <a:chExt cx="9128520" cy="6848280"/>
            </a:xfrm>
          </p:grpSpPr>
          <p:grpSp>
            <p:nvGrpSpPr>
              <p:cNvPr id="1454" name="Group 4"/>
              <p:cNvGrpSpPr/>
              <p:nvPr/>
            </p:nvGrpSpPr>
            <p:grpSpPr>
              <a:xfrm>
                <a:off x="6840" y="4320"/>
                <a:ext cx="6175800" cy="618120"/>
                <a:chOff x="6840" y="4320"/>
                <a:chExt cx="6175800" cy="618120"/>
              </a:xfrm>
            </p:grpSpPr>
            <p:sp>
              <p:nvSpPr>
                <p:cNvPr id="1455" name="Rectangle 5"/>
                <p:cNvSpPr/>
                <p:nvPr/>
              </p:nvSpPr>
              <p:spPr>
                <a:xfrm>
                  <a:off x="72720" y="4320"/>
                  <a:ext cx="6042960" cy="61812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CYCLES DE PROGRESSION ET D’ALTERNANCE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56" name="Rectangle 6"/>
                <p:cNvSpPr/>
                <p:nvPr/>
              </p:nvSpPr>
              <p:spPr>
                <a:xfrm>
                  <a:off x="6840" y="432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57" name="Group 7"/>
              <p:cNvGrpSpPr/>
              <p:nvPr/>
            </p:nvGrpSpPr>
            <p:grpSpPr>
              <a:xfrm>
                <a:off x="6183000" y="4320"/>
                <a:ext cx="2952360" cy="618120"/>
                <a:chOff x="6183000" y="4320"/>
                <a:chExt cx="2952360" cy="618120"/>
              </a:xfrm>
            </p:grpSpPr>
            <p:sp>
              <p:nvSpPr>
                <p:cNvPr id="1458" name="Rectangle 8"/>
                <p:cNvSpPr/>
                <p:nvPr/>
              </p:nvSpPr>
              <p:spPr>
                <a:xfrm>
                  <a:off x="6248880" y="4320"/>
                  <a:ext cx="2820240" cy="61812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DUREE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59" name="Rectangle 9"/>
                <p:cNvSpPr/>
                <p:nvPr/>
              </p:nvSpPr>
              <p:spPr>
                <a:xfrm>
                  <a:off x="6183000" y="432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60" name="Group 10"/>
              <p:cNvGrpSpPr/>
              <p:nvPr/>
            </p:nvGrpSpPr>
            <p:grpSpPr>
              <a:xfrm>
                <a:off x="6840" y="622440"/>
                <a:ext cx="6175800" cy="784440"/>
                <a:chOff x="6840" y="622440"/>
                <a:chExt cx="6175800" cy="784440"/>
              </a:xfrm>
            </p:grpSpPr>
            <p:sp>
              <p:nvSpPr>
                <p:cNvPr id="1461" name="Rectangle 11"/>
                <p:cNvSpPr/>
                <p:nvPr/>
              </p:nvSpPr>
              <p:spPr>
                <a:xfrm>
                  <a:off x="72720" y="62244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Minicycle</a:t>
                  </a:r>
                  <a:r>
                    <a:rPr b="1" lang="fr-FR" sz="1600" strike="noStrike" u="none">
                      <a:solidFill>
                        <a:srgbClr val="ffff00"/>
                      </a:solidFill>
                      <a:effectLst/>
                      <a:uFillTx/>
                      <a:latin typeface="Bookman Old Style"/>
                      <a:ea typeface="Times New Roman"/>
                    </a:rPr>
                    <a:t> retrouvé dans une série d’exercices constituant une partie du corps de la séance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62" name="Rectangle 12"/>
                <p:cNvSpPr/>
                <p:nvPr/>
              </p:nvSpPr>
              <p:spPr>
                <a:xfrm>
                  <a:off x="6840" y="62244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63" name="Group 13"/>
              <p:cNvGrpSpPr/>
              <p:nvPr/>
            </p:nvGrpSpPr>
            <p:grpSpPr>
              <a:xfrm>
                <a:off x="6183000" y="622440"/>
                <a:ext cx="2952360" cy="784440"/>
                <a:chOff x="6183000" y="622440"/>
                <a:chExt cx="2952360" cy="784440"/>
              </a:xfrm>
            </p:grpSpPr>
            <p:sp>
              <p:nvSpPr>
                <p:cNvPr id="1464" name="Rectangle 14"/>
                <p:cNvSpPr/>
                <p:nvPr/>
              </p:nvSpPr>
              <p:spPr>
                <a:xfrm>
                  <a:off x="6248880" y="622440"/>
                  <a:ext cx="282024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 quelques minutes à quelques dizaines de minutes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65" name="Rectangle 15"/>
                <p:cNvSpPr/>
                <p:nvPr/>
              </p:nvSpPr>
              <p:spPr>
                <a:xfrm>
                  <a:off x="6183000" y="62244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66" name="Group 16"/>
              <p:cNvGrpSpPr/>
              <p:nvPr/>
            </p:nvGrpSpPr>
            <p:grpSpPr>
              <a:xfrm>
                <a:off x="6840" y="1406880"/>
                <a:ext cx="6175800" cy="784440"/>
                <a:chOff x="6840" y="1406880"/>
                <a:chExt cx="6175800" cy="784440"/>
              </a:xfrm>
            </p:grpSpPr>
            <p:sp>
              <p:nvSpPr>
                <p:cNvPr id="1467" name="Rectangle 17"/>
                <p:cNvSpPr/>
                <p:nvPr/>
              </p:nvSpPr>
              <p:spPr>
                <a:xfrm>
                  <a:off x="72720" y="140688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Cycle de la séance </a:t>
                  </a:r>
                  <a:r>
                    <a:rPr b="1" lang="fr-FR" sz="1600" strike="noStrike" u="none">
                      <a:solidFill>
                        <a:srgbClr val="ffff00"/>
                      </a:solidFill>
                      <a:effectLst/>
                      <a:uFillTx/>
                      <a:latin typeface="Bookman Old Style"/>
                      <a:ea typeface="Times New Roman"/>
                    </a:rPr>
                    <a:t>quotidienne, bi- ou tri-quotidienne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68" name="Rectangle 18"/>
                <p:cNvSpPr/>
                <p:nvPr/>
              </p:nvSpPr>
              <p:spPr>
                <a:xfrm>
                  <a:off x="6840" y="140688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69" name="Group 19"/>
              <p:cNvGrpSpPr/>
              <p:nvPr/>
            </p:nvGrpSpPr>
            <p:grpSpPr>
              <a:xfrm>
                <a:off x="6183000" y="1406880"/>
                <a:ext cx="2952360" cy="784440"/>
                <a:chOff x="6183000" y="1406880"/>
                <a:chExt cx="2952360" cy="784440"/>
              </a:xfrm>
            </p:grpSpPr>
            <p:sp>
              <p:nvSpPr>
                <p:cNvPr id="1470" name="Rectangle 20"/>
                <p:cNvSpPr/>
                <p:nvPr/>
              </p:nvSpPr>
              <p:spPr>
                <a:xfrm>
                  <a:off x="6248880" y="1406880"/>
                  <a:ext cx="282024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 quelques dizaines de minutes à plusieurs heures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71" name="Rectangle 21"/>
                <p:cNvSpPr/>
                <p:nvPr/>
              </p:nvSpPr>
              <p:spPr>
                <a:xfrm>
                  <a:off x="6183000" y="140688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72" name="Group 22"/>
              <p:cNvGrpSpPr/>
              <p:nvPr/>
            </p:nvGrpSpPr>
            <p:grpSpPr>
              <a:xfrm>
                <a:off x="6840" y="2191680"/>
                <a:ext cx="6175800" cy="618120"/>
                <a:chOff x="6840" y="2191680"/>
                <a:chExt cx="6175800" cy="618120"/>
              </a:xfrm>
            </p:grpSpPr>
            <p:sp>
              <p:nvSpPr>
                <p:cNvPr id="1473" name="Rectangle 23"/>
                <p:cNvSpPr/>
                <p:nvPr/>
              </p:nvSpPr>
              <p:spPr>
                <a:xfrm>
                  <a:off x="72720" y="219168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Cycle quotidien </a:t>
                  </a:r>
                  <a:r>
                    <a:rPr b="1" lang="fr-FR" sz="1600" strike="noStrike" u="none">
                      <a:solidFill>
                        <a:srgbClr val="ffff00"/>
                      </a:solidFill>
                      <a:effectLst/>
                      <a:uFillTx/>
                      <a:latin typeface="Bookman Old Style"/>
                      <a:ea typeface="Times New Roman"/>
                    </a:rPr>
                    <a:t>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74" name="Rectangle 24"/>
                <p:cNvSpPr/>
                <p:nvPr/>
              </p:nvSpPr>
              <p:spPr>
                <a:xfrm>
                  <a:off x="6840" y="219168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75" name="Group 25"/>
              <p:cNvGrpSpPr/>
              <p:nvPr/>
            </p:nvGrpSpPr>
            <p:grpSpPr>
              <a:xfrm>
                <a:off x="6183000" y="2191680"/>
                <a:ext cx="2952360" cy="618120"/>
                <a:chOff x="6183000" y="2191680"/>
                <a:chExt cx="2952360" cy="618120"/>
              </a:xfrm>
            </p:grpSpPr>
            <p:sp>
              <p:nvSpPr>
                <p:cNvPr id="1476" name="Rectangle 26"/>
                <p:cNvSpPr/>
                <p:nvPr/>
              </p:nvSpPr>
              <p:spPr>
                <a:xfrm>
                  <a:off x="6248880" y="219168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Vingt quatre heures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77" name="Rectangle 27"/>
                <p:cNvSpPr/>
                <p:nvPr/>
              </p:nvSpPr>
              <p:spPr>
                <a:xfrm>
                  <a:off x="6183000" y="219168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78" name="Group 28"/>
              <p:cNvGrpSpPr/>
              <p:nvPr/>
            </p:nvGrpSpPr>
            <p:grpSpPr>
              <a:xfrm>
                <a:off x="6840" y="2809800"/>
                <a:ext cx="6175800" cy="618480"/>
                <a:chOff x="6840" y="2809800"/>
                <a:chExt cx="6175800" cy="618480"/>
              </a:xfrm>
            </p:grpSpPr>
            <p:sp>
              <p:nvSpPr>
                <p:cNvPr id="1479" name="Rectangle 29"/>
                <p:cNvSpPr/>
                <p:nvPr/>
              </p:nvSpPr>
              <p:spPr>
                <a:xfrm>
                  <a:off x="72720" y="2809800"/>
                  <a:ext cx="604296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Microcycle</a:t>
                  </a:r>
                  <a:r>
                    <a:rPr b="1" lang="fr-FR" sz="1600" strike="noStrike" u="none">
                      <a:solidFill>
                        <a:srgbClr val="ffff00"/>
                      </a:solidFill>
                      <a:effectLst/>
                      <a:uFillTx/>
                      <a:latin typeface="Bookman Old Style"/>
                      <a:ea typeface="Times New Roman"/>
                    </a:rPr>
                    <a:t> hebdomadaire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80" name="Rectangle 30"/>
                <p:cNvSpPr/>
                <p:nvPr/>
              </p:nvSpPr>
              <p:spPr>
                <a:xfrm>
                  <a:off x="6840" y="2809800"/>
                  <a:ext cx="617580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81" name="Group 31"/>
              <p:cNvGrpSpPr/>
              <p:nvPr/>
            </p:nvGrpSpPr>
            <p:grpSpPr>
              <a:xfrm>
                <a:off x="6183000" y="2809800"/>
                <a:ext cx="2952360" cy="618480"/>
                <a:chOff x="6183000" y="2809800"/>
                <a:chExt cx="2952360" cy="618480"/>
              </a:xfrm>
            </p:grpSpPr>
            <p:sp>
              <p:nvSpPr>
                <p:cNvPr id="1482" name="Rectangle 32"/>
                <p:cNvSpPr/>
                <p:nvPr/>
              </p:nvSpPr>
              <p:spPr>
                <a:xfrm>
                  <a:off x="6248880" y="2809800"/>
                  <a:ext cx="282024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Sept jours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83" name="Rectangle 33"/>
                <p:cNvSpPr/>
                <p:nvPr/>
              </p:nvSpPr>
              <p:spPr>
                <a:xfrm>
                  <a:off x="6183000" y="2809800"/>
                  <a:ext cx="295236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84" name="Group 34"/>
              <p:cNvGrpSpPr/>
              <p:nvPr/>
            </p:nvGrpSpPr>
            <p:grpSpPr>
              <a:xfrm>
                <a:off x="6840" y="3428640"/>
                <a:ext cx="6175800" cy="618120"/>
                <a:chOff x="6840" y="3428640"/>
                <a:chExt cx="6175800" cy="618120"/>
              </a:xfrm>
            </p:grpSpPr>
            <p:sp>
              <p:nvSpPr>
                <p:cNvPr id="1485" name="Rectangle 35"/>
                <p:cNvSpPr/>
                <p:nvPr/>
              </p:nvSpPr>
              <p:spPr>
                <a:xfrm>
                  <a:off x="72720" y="342864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Mésocycle</a:t>
                  </a:r>
                  <a:r>
                    <a:rPr b="1" lang="fr-FR" sz="1600" strike="noStrike" u="none">
                      <a:solidFill>
                        <a:srgbClr val="ffff00"/>
                      </a:solidFill>
                      <a:effectLst/>
                      <a:uFillTx/>
                      <a:latin typeface="Bookman Old Style"/>
                      <a:ea typeface="Times New Roman"/>
                    </a:rPr>
                    <a:t> comprenant deux à six microcycles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86" name="Rectangle 36"/>
                <p:cNvSpPr/>
                <p:nvPr/>
              </p:nvSpPr>
              <p:spPr>
                <a:xfrm>
                  <a:off x="6840" y="342864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87" name="Group 37"/>
              <p:cNvGrpSpPr/>
              <p:nvPr/>
            </p:nvGrpSpPr>
            <p:grpSpPr>
              <a:xfrm>
                <a:off x="6183000" y="3428640"/>
                <a:ext cx="2952360" cy="618120"/>
                <a:chOff x="6183000" y="3428640"/>
                <a:chExt cx="2952360" cy="618120"/>
              </a:xfrm>
            </p:grpSpPr>
            <p:sp>
              <p:nvSpPr>
                <p:cNvPr id="1488" name="Rectangle 38"/>
                <p:cNvSpPr/>
                <p:nvPr/>
              </p:nvSpPr>
              <p:spPr>
                <a:xfrm>
                  <a:off x="6248880" y="342864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Deux à six semaines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89" name="Rectangle 39"/>
                <p:cNvSpPr/>
                <p:nvPr/>
              </p:nvSpPr>
              <p:spPr>
                <a:xfrm>
                  <a:off x="6183000" y="342864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90" name="Group 40"/>
              <p:cNvGrpSpPr/>
              <p:nvPr/>
            </p:nvGrpSpPr>
            <p:grpSpPr>
              <a:xfrm>
                <a:off x="6840" y="4046760"/>
                <a:ext cx="6175800" cy="618480"/>
                <a:chOff x="6840" y="4046760"/>
                <a:chExt cx="6175800" cy="618480"/>
              </a:xfrm>
            </p:grpSpPr>
            <p:sp>
              <p:nvSpPr>
                <p:cNvPr id="1491" name="Rectangle 41"/>
                <p:cNvSpPr/>
                <p:nvPr/>
              </p:nvSpPr>
              <p:spPr>
                <a:xfrm>
                  <a:off x="72720" y="4046760"/>
                  <a:ext cx="604296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Macrocycle</a:t>
                  </a:r>
                  <a:r>
                    <a:rPr b="1" lang="fr-FR" sz="1600" strike="noStrike" u="none">
                      <a:solidFill>
                        <a:srgbClr val="ffff00"/>
                      </a:solidFill>
                      <a:effectLst/>
                      <a:uFillTx/>
                      <a:latin typeface="Bookman Old Style"/>
                      <a:ea typeface="Times New Roman"/>
                    </a:rPr>
                    <a:t> comprenant deux à quatre mésocycles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92" name="Rectangle 42"/>
                <p:cNvSpPr/>
                <p:nvPr/>
              </p:nvSpPr>
              <p:spPr>
                <a:xfrm>
                  <a:off x="6840" y="4046760"/>
                  <a:ext cx="617580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93" name="Group 43"/>
              <p:cNvGrpSpPr/>
              <p:nvPr/>
            </p:nvGrpSpPr>
            <p:grpSpPr>
              <a:xfrm>
                <a:off x="6183000" y="4046760"/>
                <a:ext cx="2952360" cy="618480"/>
                <a:chOff x="6183000" y="4046760"/>
                <a:chExt cx="2952360" cy="618480"/>
              </a:xfrm>
            </p:grpSpPr>
            <p:sp>
              <p:nvSpPr>
                <p:cNvPr id="1494" name="Rectangle 44"/>
                <p:cNvSpPr/>
                <p:nvPr/>
              </p:nvSpPr>
              <p:spPr>
                <a:xfrm>
                  <a:off x="6248880" y="4046760"/>
                  <a:ext cx="282024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Un à six mois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95" name="Rectangle 45"/>
                <p:cNvSpPr/>
                <p:nvPr/>
              </p:nvSpPr>
              <p:spPr>
                <a:xfrm>
                  <a:off x="6183000" y="4046760"/>
                  <a:ext cx="295236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96" name="Group 46"/>
              <p:cNvGrpSpPr/>
              <p:nvPr/>
            </p:nvGrpSpPr>
            <p:grpSpPr>
              <a:xfrm>
                <a:off x="6840" y="4665240"/>
                <a:ext cx="6175800" cy="618120"/>
                <a:chOff x="6840" y="4665240"/>
                <a:chExt cx="6175800" cy="618120"/>
              </a:xfrm>
            </p:grpSpPr>
            <p:sp>
              <p:nvSpPr>
                <p:cNvPr id="1497" name="Rectangle 47"/>
                <p:cNvSpPr/>
                <p:nvPr/>
              </p:nvSpPr>
              <p:spPr>
                <a:xfrm>
                  <a:off x="72720" y="466524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Cycle annuel </a:t>
                  </a:r>
                  <a:r>
                    <a:rPr b="1" lang="fr-FR" sz="1600" strike="noStrike" u="none">
                      <a:solidFill>
                        <a:srgbClr val="ffff00"/>
                      </a:solidFill>
                      <a:effectLst/>
                      <a:uFillTx/>
                      <a:latin typeface="Bookman Old Style"/>
                      <a:ea typeface="Times New Roman"/>
                    </a:rPr>
                    <a:t>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498" name="Rectangle 48"/>
                <p:cNvSpPr/>
                <p:nvPr/>
              </p:nvSpPr>
              <p:spPr>
                <a:xfrm>
                  <a:off x="6840" y="466524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499" name="Group 49"/>
              <p:cNvGrpSpPr/>
              <p:nvPr/>
            </p:nvGrpSpPr>
            <p:grpSpPr>
              <a:xfrm>
                <a:off x="6183000" y="4665240"/>
                <a:ext cx="2952360" cy="618120"/>
                <a:chOff x="6183000" y="4665240"/>
                <a:chExt cx="2952360" cy="618120"/>
              </a:xfrm>
            </p:grpSpPr>
            <p:sp>
              <p:nvSpPr>
                <p:cNvPr id="1500" name="Rectangle 50"/>
                <p:cNvSpPr/>
                <p:nvPr/>
              </p:nvSpPr>
              <p:spPr>
                <a:xfrm>
                  <a:off x="6248880" y="466524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Une année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01" name="Rectangle 51"/>
                <p:cNvSpPr/>
                <p:nvPr/>
              </p:nvSpPr>
              <p:spPr>
                <a:xfrm>
                  <a:off x="6183000" y="466524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02" name="Group 52"/>
              <p:cNvGrpSpPr/>
              <p:nvPr/>
            </p:nvGrpSpPr>
            <p:grpSpPr>
              <a:xfrm>
                <a:off x="6840" y="5283360"/>
                <a:ext cx="6175800" cy="784440"/>
                <a:chOff x="6840" y="5283360"/>
                <a:chExt cx="6175800" cy="784440"/>
              </a:xfrm>
            </p:grpSpPr>
            <p:sp>
              <p:nvSpPr>
                <p:cNvPr id="1503" name="Rectangle 53"/>
                <p:cNvSpPr/>
                <p:nvPr/>
              </p:nvSpPr>
              <p:spPr>
                <a:xfrm>
                  <a:off x="72720" y="528336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Mégacycle</a:t>
                  </a:r>
                  <a:r>
                    <a:rPr b="1" lang="fr-FR" sz="1600" strike="noStrike" u="none">
                      <a:solidFill>
                        <a:srgbClr val="ffff00"/>
                      </a:solidFill>
                      <a:effectLst/>
                      <a:uFillTx/>
                      <a:latin typeface="Bookman Old Style"/>
                      <a:ea typeface="Times New Roman"/>
                    </a:rPr>
                    <a:t> comprenant une succession de deux à quatre cycles annuels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04" name="Rectangle 54"/>
                <p:cNvSpPr/>
                <p:nvPr/>
              </p:nvSpPr>
              <p:spPr>
                <a:xfrm>
                  <a:off x="6840" y="528336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05" name="Group 55"/>
              <p:cNvGrpSpPr/>
              <p:nvPr/>
            </p:nvGrpSpPr>
            <p:grpSpPr>
              <a:xfrm>
                <a:off x="6183000" y="5283360"/>
                <a:ext cx="2952360" cy="784440"/>
                <a:chOff x="6183000" y="5283360"/>
                <a:chExt cx="2952360" cy="784440"/>
              </a:xfrm>
            </p:grpSpPr>
            <p:sp>
              <p:nvSpPr>
                <p:cNvPr id="1506" name="Rectangle 56"/>
                <p:cNvSpPr/>
                <p:nvPr/>
              </p:nvSpPr>
              <p:spPr>
                <a:xfrm>
                  <a:off x="6248880" y="5283360"/>
                  <a:ext cx="282024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Deux à quatre ans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07" name="Rectangle 57"/>
                <p:cNvSpPr/>
                <p:nvPr/>
              </p:nvSpPr>
              <p:spPr>
                <a:xfrm>
                  <a:off x="6183000" y="528336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08" name="Group 58"/>
              <p:cNvGrpSpPr/>
              <p:nvPr/>
            </p:nvGrpSpPr>
            <p:grpSpPr>
              <a:xfrm>
                <a:off x="6840" y="6068160"/>
                <a:ext cx="6175800" cy="784440"/>
                <a:chOff x="6840" y="6068160"/>
                <a:chExt cx="6175800" cy="784440"/>
              </a:xfrm>
            </p:grpSpPr>
            <p:sp>
              <p:nvSpPr>
                <p:cNvPr id="1509" name="Rectangle 59"/>
                <p:cNvSpPr/>
                <p:nvPr/>
              </p:nvSpPr>
              <p:spPr>
                <a:xfrm>
                  <a:off x="72720" y="6068160"/>
                  <a:ext cx="604296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ea typeface="Times New Roman"/>
                    </a:rPr>
                    <a:t>Gigacycle</a:t>
                  </a:r>
                  <a:r>
                    <a:rPr b="1" lang="fr-FR" sz="1600" strike="noStrike" u="none">
                      <a:solidFill>
                        <a:srgbClr val="ffff00"/>
                      </a:solidFill>
                      <a:effectLst/>
                      <a:uFillTx/>
                      <a:latin typeface="Bookman Old Style"/>
                      <a:ea typeface="Times New Roman"/>
                    </a:rPr>
                    <a:t> comprenant une succession de plusieurs mégacycles et qui constitue le plan de carrière du sportif</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10" name="Rectangle 60"/>
                <p:cNvSpPr/>
                <p:nvPr/>
              </p:nvSpPr>
              <p:spPr>
                <a:xfrm>
                  <a:off x="6840" y="606816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11" name="Group 61"/>
              <p:cNvGrpSpPr/>
              <p:nvPr/>
            </p:nvGrpSpPr>
            <p:grpSpPr>
              <a:xfrm>
                <a:off x="6183000" y="6068160"/>
                <a:ext cx="2952360" cy="784440"/>
                <a:chOff x="6183000" y="6068160"/>
                <a:chExt cx="2952360" cy="784440"/>
              </a:xfrm>
            </p:grpSpPr>
            <p:sp>
              <p:nvSpPr>
                <p:cNvPr id="1512" name="Rectangle 62"/>
                <p:cNvSpPr/>
                <p:nvPr/>
              </p:nvSpPr>
              <p:spPr>
                <a:xfrm>
                  <a:off x="6248880" y="6068160"/>
                  <a:ext cx="282024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Huit ans et plus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13" name="Rectangle 63"/>
                <p:cNvSpPr/>
                <p:nvPr/>
              </p:nvSpPr>
              <p:spPr>
                <a:xfrm>
                  <a:off x="6183000" y="606816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sp>
          <p:nvSpPr>
            <p:cNvPr id="1514" name="Rectangle 64"/>
            <p:cNvSpPr/>
            <p:nvPr/>
          </p:nvSpPr>
          <p:spPr>
            <a:xfrm>
              <a:off x="0" y="0"/>
              <a:ext cx="9143640" cy="6858000"/>
            </a:xfrm>
            <a:prstGeom prst="rect">
              <a:avLst/>
            </a:prstGeom>
            <a:noFill/>
            <a:ln w="9360">
              <a:solidFill>
                <a:srgbClr val="a0a0a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sp>
        <p:nvSpPr>
          <p:cNvPr id="1515" name="Rectangle 65"/>
          <p:cNvSpPr/>
          <p:nvPr/>
        </p:nvSpPr>
        <p:spPr>
          <a:xfrm>
            <a:off x="3240" y="6956280"/>
            <a:ext cx="9144000" cy="642600"/>
          </a:xfrm>
          <a:prstGeom prst="rect">
            <a:avLst/>
          </a:prstGeom>
          <a:noFill/>
          <a:ln w="0">
            <a:noFill/>
          </a:ln>
        </p:spPr>
        <p:style>
          <a:lnRef idx="0"/>
          <a:fillRef idx="0"/>
          <a:effectRef idx="0"/>
          <a:fontRef idx="minor"/>
        </p:style>
        <p:txBody>
          <a:bodyPr lIns="90000" rIns="90000" tIns="46800" bIns="46800" anchor="t">
            <a:spAutoFit/>
          </a:bodyPr>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ea typeface="Times New Roman"/>
              </a:rPr>
              <a:t> </a:t>
            </a:r>
            <a:endParaRPr b="0" lang="en-US" sz="1200" strike="noStrike" u="none">
              <a:solidFill>
                <a:srgbClr val="ffff00"/>
              </a:solidFill>
              <a:effectLst/>
              <a:uFillTx/>
              <a:latin typeface="Times New Roman"/>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ea typeface="Times New Roman"/>
              </a:rPr>
              <a:t> </a:t>
            </a:r>
            <a:endParaRPr b="0" lang="en-US" sz="12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6" name="Text Box 2"/>
          <p:cNvSpPr/>
          <p:nvPr/>
        </p:nvSpPr>
        <p:spPr>
          <a:xfrm>
            <a:off x="304920" y="838080"/>
            <a:ext cx="8458200" cy="35118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6000" strike="noStrike" u="none">
                <a:solidFill>
                  <a:srgbClr val="ffcc00"/>
                </a:solidFill>
                <a:effectLst/>
                <a:uFillTx/>
                <a:latin typeface="Calibri"/>
                <a:ea typeface="Calibri"/>
              </a:rPr>
              <a:t>Matveiev :</a:t>
            </a:r>
            <a:endParaRPr b="0" lang="en-US" sz="6000" strike="noStrike" u="none">
              <a:solidFill>
                <a:srgbClr val="ffff00"/>
              </a:solidFill>
              <a:effectLst/>
              <a:uFillTx/>
              <a:latin typeface="Times New Roman"/>
            </a:endParaRPr>
          </a:p>
          <a:p>
            <a:pPr lvl="1" marL="457200">
              <a:lnSpc>
                <a:spcPct val="100000"/>
              </a:lnSpc>
              <a:spcBef>
                <a:spcPts val="2251"/>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600" strike="noStrike" u="none">
                <a:solidFill>
                  <a:srgbClr val="ffffff"/>
                </a:solidFill>
                <a:effectLst/>
                <a:uFillTx/>
                <a:latin typeface="Calibri"/>
                <a:ea typeface="Calibri"/>
              </a:rPr>
              <a:t>Acquisition</a:t>
            </a:r>
            <a:endParaRPr b="0" lang="en-US" sz="3600" strike="noStrike" u="none">
              <a:solidFill>
                <a:srgbClr val="ffff00"/>
              </a:solidFill>
              <a:effectLst/>
              <a:uFillTx/>
              <a:latin typeface="Times New Roman"/>
            </a:endParaRPr>
          </a:p>
          <a:p>
            <a:pPr lvl="1" marL="457200">
              <a:lnSpc>
                <a:spcPct val="100000"/>
              </a:lnSpc>
              <a:spcBef>
                <a:spcPts val="2251"/>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600" strike="noStrike" u="none">
                <a:solidFill>
                  <a:srgbClr val="ffffff"/>
                </a:solidFill>
                <a:effectLst/>
                <a:uFillTx/>
                <a:latin typeface="Calibri"/>
                <a:ea typeface="Calibri"/>
              </a:rPr>
              <a:t>Stabilisation</a:t>
            </a:r>
            <a:endParaRPr b="0" lang="en-US" sz="3600" strike="noStrike" u="none">
              <a:solidFill>
                <a:srgbClr val="ffff00"/>
              </a:solidFill>
              <a:effectLst/>
              <a:uFillTx/>
              <a:latin typeface="Times New Roman"/>
            </a:endParaRPr>
          </a:p>
          <a:p>
            <a:pPr lvl="1" marL="457200">
              <a:lnSpc>
                <a:spcPct val="100000"/>
              </a:lnSpc>
              <a:spcBef>
                <a:spcPts val="2251"/>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600" strike="noStrike" u="none">
                <a:solidFill>
                  <a:srgbClr val="ffffff"/>
                </a:solidFill>
                <a:effectLst/>
                <a:uFillTx/>
                <a:latin typeface="Calibri"/>
                <a:ea typeface="Calibri"/>
              </a:rPr>
              <a:t>Diminution momentanée</a:t>
            </a:r>
            <a:endParaRPr b="0" lang="en-US"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7" name="Text Box 2"/>
          <p:cNvSpPr/>
          <p:nvPr/>
        </p:nvSpPr>
        <p:spPr>
          <a:xfrm>
            <a:off x="304920" y="838080"/>
            <a:ext cx="8458200" cy="4465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6000" strike="noStrike" u="none">
                <a:solidFill>
                  <a:srgbClr val="ffcc00"/>
                </a:solidFill>
                <a:effectLst/>
                <a:uFillTx/>
                <a:latin typeface="Calibri"/>
                <a:ea typeface="Calibri"/>
              </a:rPr>
              <a:t>Matveiev :</a:t>
            </a:r>
            <a:endParaRPr b="0" lang="en-US" sz="6000" strike="noStrike" u="none">
              <a:solidFill>
                <a:srgbClr val="ffff00"/>
              </a:solidFill>
              <a:effectLst/>
              <a:uFillTx/>
              <a:latin typeface="Times New Roman"/>
            </a:endParaRPr>
          </a:p>
          <a:p>
            <a:pPr lvl="1" marL="457200">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Calibri"/>
                <a:ea typeface="Calibri"/>
              </a:rPr>
              <a:t>Acquisition </a:t>
            </a:r>
            <a:r>
              <a:rPr b="1" lang="fr-CA" sz="3000" strike="noStrike" u="none">
                <a:solidFill>
                  <a:srgbClr val="66ffff"/>
                </a:solidFill>
                <a:effectLst/>
                <a:uFillTx/>
                <a:latin typeface="Calibri"/>
                <a:ea typeface="Calibri"/>
              </a:rPr>
              <a:t>(période de </a:t>
            </a:r>
            <a:r>
              <a:rPr b="1" lang="fr-CA" sz="3000" strike="noStrike" u="sng">
                <a:solidFill>
                  <a:srgbClr val="66ffff"/>
                </a:solidFill>
                <a:effectLst/>
                <a:uFillTx/>
                <a:latin typeface="Calibri"/>
                <a:ea typeface="Calibri"/>
              </a:rPr>
              <a:t>développement</a:t>
            </a:r>
            <a:r>
              <a:rPr b="1" lang="fr-CA" sz="3000" strike="noStrike" u="none">
                <a:solidFill>
                  <a:srgbClr val="66ffff"/>
                </a:solidFill>
                <a:effectLst/>
                <a:uFillTx/>
                <a:latin typeface="Calibri"/>
                <a:ea typeface="Calibri"/>
              </a:rPr>
              <a:t>)</a:t>
            </a:r>
            <a:endParaRPr b="0" lang="en-US" sz="3000" strike="noStrike" u="none">
              <a:solidFill>
                <a:srgbClr val="ffff00"/>
              </a:solidFill>
              <a:effectLst/>
              <a:uFillTx/>
              <a:latin typeface="Times New Roman"/>
            </a:endParaRPr>
          </a:p>
          <a:p>
            <a:pPr lvl="1" marL="457200">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Calibri"/>
                <a:ea typeface="Calibri"/>
              </a:rPr>
              <a:t>Stabilisation </a:t>
            </a:r>
            <a:r>
              <a:rPr b="1" lang="fr-CA" sz="3000" strike="noStrike" u="none">
                <a:solidFill>
                  <a:srgbClr val="66ffff"/>
                </a:solidFill>
                <a:effectLst/>
                <a:uFillTx/>
                <a:latin typeface="Calibri"/>
                <a:ea typeface="Calibri"/>
              </a:rPr>
              <a:t>(période de </a:t>
            </a:r>
            <a:r>
              <a:rPr b="1" lang="fr-CA" sz="3000" strike="noStrike" u="sng">
                <a:solidFill>
                  <a:srgbClr val="66ffff"/>
                </a:solidFill>
                <a:effectLst/>
                <a:uFillTx/>
                <a:latin typeface="Calibri"/>
                <a:ea typeface="Calibri"/>
              </a:rPr>
              <a:t>compétition</a:t>
            </a:r>
            <a:r>
              <a:rPr b="1" lang="fr-CA" sz="3000" strike="noStrike" u="none">
                <a:solidFill>
                  <a:srgbClr val="66ffff"/>
                </a:solidFill>
                <a:effectLst/>
                <a:uFillTx/>
                <a:latin typeface="Calibri"/>
                <a:ea typeface="Calibri"/>
              </a:rPr>
              <a:t>)</a:t>
            </a:r>
            <a:endParaRPr b="0" lang="en-US" sz="3000" strike="noStrike" u="none">
              <a:solidFill>
                <a:srgbClr val="ffff00"/>
              </a:solidFill>
              <a:effectLst/>
              <a:uFillTx/>
              <a:latin typeface="Times New Roman"/>
            </a:endParaRPr>
          </a:p>
          <a:p>
            <a:pPr lvl="1" marL="457200">
              <a:lnSpc>
                <a:spcPct val="100000"/>
              </a:lnSpc>
              <a:spcBef>
                <a:spcPts val="187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000" strike="noStrike" u="none">
                <a:solidFill>
                  <a:srgbClr val="ffffff"/>
                </a:solidFill>
                <a:effectLst/>
                <a:uFillTx/>
                <a:latin typeface="Calibri"/>
                <a:ea typeface="Calibri"/>
              </a:rPr>
              <a:t>Diminution momentanée </a:t>
            </a:r>
            <a:r>
              <a:rPr b="1" lang="fr-CA" sz="3000" strike="noStrike" u="none">
                <a:solidFill>
                  <a:srgbClr val="66ffff"/>
                </a:solidFill>
                <a:effectLst/>
                <a:uFillTx/>
                <a:latin typeface="Calibri"/>
                <a:ea typeface="Calibri"/>
              </a:rPr>
              <a:t>(période de </a:t>
            </a:r>
            <a:r>
              <a:rPr b="1" lang="fr-CA" sz="3000" strike="noStrike" u="sng">
                <a:solidFill>
                  <a:srgbClr val="66ffff"/>
                </a:solidFill>
                <a:effectLst/>
                <a:uFillTx/>
                <a:latin typeface="Calibri"/>
                <a:ea typeface="Calibri"/>
              </a:rPr>
              <a:t>transition</a:t>
            </a:r>
            <a:r>
              <a:rPr b="1" lang="fr-CA" sz="3000" strike="noStrike" u="none">
                <a:solidFill>
                  <a:srgbClr val="66ffff"/>
                </a:solidFill>
                <a:effectLst/>
                <a:uFillTx/>
                <a:latin typeface="Calibri"/>
                <a:ea typeface="Calibri"/>
              </a:rPr>
              <a:t>)</a:t>
            </a:r>
            <a:endParaRPr b="0" lang="en-US" sz="3000" strike="noStrike" u="none">
              <a:solidFill>
                <a:srgbClr val="ffff00"/>
              </a:solidFill>
              <a:effectLst/>
              <a:uFillTx/>
              <a:latin typeface="Times New Roman"/>
            </a:endParaRPr>
          </a:p>
        </p:txBody>
      </p:sp>
      <p:sp>
        <p:nvSpPr>
          <p:cNvPr id="1518" name="Text Box 3"/>
          <p:cNvSpPr/>
          <p:nvPr/>
        </p:nvSpPr>
        <p:spPr>
          <a:xfrm>
            <a:off x="304920" y="4149720"/>
            <a:ext cx="8762760" cy="3093840"/>
          </a:xfrm>
          <a:prstGeom prst="rect">
            <a:avLst/>
          </a:prstGeom>
          <a:noFill/>
          <a:ln w="0">
            <a:noFill/>
          </a:ln>
        </p:spPr>
        <p:style>
          <a:lnRef idx="0"/>
          <a:fillRef idx="0"/>
          <a:effectRef idx="0"/>
          <a:fontRef idx="minor"/>
        </p:style>
        <p:txBody>
          <a:bodyPr lIns="90000" rIns="90000" tIns="46800" bIns="46800" anchor="t">
            <a:spAutoFit/>
          </a:bodyPr>
          <a:p>
            <a:pPr lvl="1" marL="457200">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1 cycle par an : périodisation simple</a:t>
            </a:r>
            <a:endParaRPr b="0" lang="en-US" sz="3000" strike="noStrike" u="none">
              <a:solidFill>
                <a:srgbClr val="ffff00"/>
              </a:solidFill>
              <a:effectLst/>
              <a:uFillTx/>
              <a:latin typeface="Times New Roman"/>
            </a:endParaRPr>
          </a:p>
          <a:p>
            <a:pPr lvl="1" marL="457200">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2 cycles par an : périodisation double</a:t>
            </a:r>
            <a:endParaRPr b="0" lang="en-US" sz="3000" strike="noStrike" u="none">
              <a:solidFill>
                <a:srgbClr val="ffff00"/>
              </a:solidFill>
              <a:effectLst/>
              <a:uFillTx/>
              <a:latin typeface="Times New Roman"/>
            </a:endParaRPr>
          </a:p>
          <a:p>
            <a:pPr lvl="1" marL="457200">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3 cycles par an : périodisation triple</a:t>
            </a:r>
            <a:endParaRPr b="0" lang="en-US" sz="3000" strike="noStrike" u="none">
              <a:solidFill>
                <a:srgbClr val="ffff00"/>
              </a:solidFill>
              <a:effectLst/>
              <a:uFillTx/>
              <a:latin typeface="Times New Roman"/>
            </a:endParaRPr>
          </a:p>
          <a:p>
            <a:pPr lvl="1" marL="457200">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000" strike="noStrike" u="none">
                <a:solidFill>
                  <a:srgbClr val="ffff00"/>
                </a:solidFill>
                <a:effectLst/>
                <a:uFillTx/>
                <a:latin typeface="Calibri"/>
                <a:ea typeface="Calibri"/>
              </a:rPr>
              <a:t>Plusieurs cycles par saison sportive : football</a:t>
            </a:r>
            <a:endParaRPr b="0" lang="en-US" sz="3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44" dur="indefinite" restart="never" nodeType="tmRoot">
          <p:childTnLst>
            <p:seq>
              <p:cTn id="1945" dur="indefinite" nodeType="mainSeq">
                <p:childTnLst>
                  <p:par>
                    <p:cTn id="1946" nodeType="clickEffect" fill="hold">
                      <p:stCondLst>
                        <p:cond delay="indefinite"/>
                      </p:stCondLst>
                      <p:childTnLst>
                        <p:par>
                          <p:cTn id="1947" nodeType="withEffect" fill="hold">
                            <p:stCondLst>
                              <p:cond delay="0"/>
                            </p:stCondLst>
                            <p:childTnLst>
                              <p:par>
                                <p:cTn id="1948" nodeType="clickEffect" fill="hold" presetClass="entr" presetID="1">
                                  <p:stCondLst>
                                    <p:cond delay="0"/>
                                  </p:stCondLst>
                                  <p:childTnLst>
                                    <p:set>
                                      <p:cBhvr>
                                        <p:cTn id="1949" dur="1" fill="hold">
                                          <p:stCondLst>
                                            <p:cond delay="499"/>
                                          </p:stCondLst>
                                        </p:cTn>
                                        <p:tgtEl>
                                          <p:spTgt spid="1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9" name="Text Box 2"/>
          <p:cNvSpPr/>
          <p:nvPr/>
        </p:nvSpPr>
        <p:spPr>
          <a:xfrm>
            <a:off x="0" y="609480"/>
            <a:ext cx="9144000" cy="57294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4. La période</a:t>
            </a:r>
            <a:endParaRPr b="0" lang="en-US" sz="60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Introduction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cc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cc00"/>
                </a:solidFill>
                <a:effectLst/>
                <a:uFillTx/>
                <a:latin typeface="Calibri"/>
                <a:ea typeface="Calibri"/>
              </a:rPr>
              <a:t>Préparation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Compétition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Transition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0" name="Text Box 2"/>
          <p:cNvSpPr/>
          <p:nvPr/>
        </p:nvSpPr>
        <p:spPr>
          <a:xfrm>
            <a:off x="457200" y="990720"/>
            <a:ext cx="8077320" cy="68630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000" strike="noStrike" u="none">
                <a:solidFill>
                  <a:srgbClr val="ffcc00"/>
                </a:solidFill>
                <a:effectLst/>
                <a:uFillTx/>
                <a:latin typeface="Calibri"/>
                <a:ea typeface="Calibri"/>
              </a:rPr>
              <a:t>Préparation générale </a:t>
            </a:r>
            <a:endParaRPr b="0" lang="en-US" sz="5000" strike="noStrike" u="none">
              <a:solidFill>
                <a:srgbClr val="ffff00"/>
              </a:solidFill>
              <a:effectLst/>
              <a:uFillTx/>
              <a:latin typeface="Times New Roman"/>
            </a:endParaRPr>
          </a:p>
          <a:p>
            <a:pPr>
              <a:lnSpc>
                <a:spcPct val="100000"/>
              </a:lnSpc>
              <a:spcBef>
                <a:spcPts val="2500"/>
              </a:spcBef>
              <a:buClr>
                <a:srgbClr val="ffffff"/>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4000" strike="noStrike" u="none">
                <a:solidFill>
                  <a:srgbClr val="ffffff"/>
                </a:solidFill>
                <a:effectLst/>
                <a:uFillTx/>
                <a:latin typeface="Calibri"/>
                <a:ea typeface="Calibri"/>
              </a:rPr>
              <a:t>Macrocycles de base</a:t>
            </a:r>
            <a:endParaRPr b="0" lang="en-US" sz="4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31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5000" strike="noStrike" u="none">
                <a:solidFill>
                  <a:srgbClr val="ffcc00"/>
                </a:solidFill>
                <a:effectLst/>
                <a:uFillTx/>
                <a:latin typeface="Calibri"/>
                <a:ea typeface="Calibri"/>
              </a:rPr>
              <a:t>Préparation spécifique</a:t>
            </a:r>
            <a:endParaRPr b="0" lang="en-US" sz="5000" strike="noStrike" u="none">
              <a:solidFill>
                <a:srgbClr val="ffff00"/>
              </a:solidFill>
              <a:effectLst/>
              <a:uFillTx/>
              <a:latin typeface="Times New Roman"/>
            </a:endParaRPr>
          </a:p>
          <a:p>
            <a:pPr>
              <a:lnSpc>
                <a:spcPct val="100000"/>
              </a:lnSpc>
              <a:spcBef>
                <a:spcPts val="2500"/>
              </a:spcBef>
              <a:buClr>
                <a:srgbClr val="ffffff"/>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fr-CA" sz="4000" strike="noStrike" u="none">
                <a:solidFill>
                  <a:srgbClr val="ffffff"/>
                </a:solidFill>
                <a:effectLst/>
                <a:uFillTx/>
                <a:latin typeface="Calibri"/>
                <a:ea typeface="Calibri"/>
              </a:rPr>
              <a:t>Macrocycles de préparation</a:t>
            </a:r>
            <a:endParaRPr b="0" lang="en-US" sz="4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66ffff"/>
                </a:solidFill>
                <a:effectLst/>
                <a:uFillTx/>
                <a:latin typeface="Calibri"/>
                <a:ea typeface="Calibri"/>
              </a:rPr>
              <a:t>Attention au surentraînement !</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1" name="Text Box 2"/>
          <p:cNvSpPr/>
          <p:nvPr/>
        </p:nvSpPr>
        <p:spPr>
          <a:xfrm>
            <a:off x="0" y="609480"/>
            <a:ext cx="9144000" cy="5729400"/>
          </a:xfrm>
          <a:prstGeom prst="rect">
            <a:avLst/>
          </a:prstGeom>
          <a:noFill/>
          <a:ln w="0">
            <a:noFill/>
          </a:ln>
        </p:spPr>
        <p:style>
          <a:lnRef idx="0"/>
          <a:fillRef idx="0"/>
          <a:effectRef idx="0"/>
          <a:fontRef idx="minor"/>
        </p:style>
        <p:txBody>
          <a:bodyPr lIns="90000" rIns="90000" tIns="46800" bIns="46800" anchor="t">
            <a:spAutoFit/>
          </a:bodyPr>
          <a:p>
            <a:pPr marL="457200" indent="-457200"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lnSpc>
                <a:spcPct val="100000"/>
              </a:lnSpc>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Calibri"/>
                <a:ea typeface="Calibri"/>
              </a:rPr>
              <a:t>4. La période</a:t>
            </a:r>
            <a:endParaRPr b="0" lang="en-US" sz="6000" strike="noStrike" u="none">
              <a:solidFill>
                <a:srgbClr val="ffff00"/>
              </a:solidFill>
              <a:effectLst/>
              <a:uFillTx/>
              <a:latin typeface="Times New Roman"/>
            </a:endParaRPr>
          </a:p>
          <a:p>
            <a:pPr marL="457200" indent="-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Introduction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Préparation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cc00"/>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cc00"/>
                </a:solidFill>
                <a:effectLst/>
                <a:uFillTx/>
                <a:latin typeface="Calibri"/>
                <a:ea typeface="Calibri"/>
              </a:rPr>
              <a:t>Compétition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Calibri"/>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Calibri"/>
                <a:ea typeface="Calibri"/>
              </a:rPr>
              <a:t>Transition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2" name="Text Box 2"/>
          <p:cNvSpPr/>
          <p:nvPr/>
        </p:nvSpPr>
        <p:spPr>
          <a:xfrm>
            <a:off x="304920" y="762120"/>
            <a:ext cx="8076960" cy="3846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8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600" strike="noStrike" u="none">
                <a:solidFill>
                  <a:srgbClr val="ffffff"/>
                </a:solidFill>
                <a:effectLst/>
                <a:uFillTx/>
                <a:latin typeface="Calibri"/>
                <a:ea typeface="Calibri"/>
              </a:rPr>
              <a:t>Objectif</a:t>
            </a:r>
            <a:r>
              <a:rPr b="0" lang="fr-CA" sz="3000" strike="noStrike" u="none">
                <a:solidFill>
                  <a:srgbClr val="66ffff"/>
                </a:solidFill>
                <a:effectLst/>
                <a:uFillTx/>
                <a:latin typeface="Calibri"/>
                <a:ea typeface="Calibri"/>
              </a:rPr>
              <a:t> </a:t>
            </a:r>
            <a:endParaRPr b="0" lang="en-US" sz="3000" strike="noStrike" u="none">
              <a:solidFill>
                <a:srgbClr val="ffff00"/>
              </a:solidFill>
              <a:effectLst/>
              <a:uFillTx/>
              <a:latin typeface="Times New Roman"/>
            </a:endParaRPr>
          </a:p>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3200" strike="noStrike" u="none">
                <a:solidFill>
                  <a:srgbClr val="ffcc00"/>
                </a:solidFill>
                <a:effectLst/>
                <a:uFillTx/>
                <a:latin typeface="Calibri"/>
                <a:ea typeface="Calibri"/>
              </a:rPr>
              <a:t>maintenir et éventuellement élever le niveau de préparation spécifique, et surtout favoriser la pleine utilisation de celle-ci en compétition </a:t>
            </a:r>
            <a:endParaRPr b="0" lang="en-US" sz="3200" strike="noStrike" u="none">
              <a:solidFill>
                <a:srgbClr val="ffff00"/>
              </a:solidFill>
              <a:effectLst/>
              <a:uFillTx/>
              <a:latin typeface="Times New Roman"/>
            </a:endParaRPr>
          </a:p>
          <a:p>
            <a:pPr>
              <a:lnSpc>
                <a:spcPct val="100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66ffff"/>
                </a:solidFill>
                <a:effectLst/>
                <a:uFillTx/>
                <a:latin typeface="Symbol"/>
                <a:ea typeface="Symbol"/>
              </a:rPr>
              <a:t></a:t>
            </a:r>
            <a:r>
              <a:rPr b="1" lang="fr-CA" sz="2600" strike="noStrike" u="none">
                <a:solidFill>
                  <a:srgbClr val="66ffff"/>
                </a:solidFill>
                <a:effectLst/>
                <a:uFillTx/>
                <a:latin typeface="Calibri"/>
                <a:ea typeface="Calibri"/>
              </a:rPr>
              <a:t> Macrocycles de pré – compétition et de compétition.</a:t>
            </a:r>
            <a:endParaRPr b="0" lang="en-US" sz="2600" strike="noStrike" u="none">
              <a:solidFill>
                <a:srgbClr val="ffff00"/>
              </a:solidFill>
              <a:effectLst/>
              <a:uFillTx/>
              <a:latin typeface="Times New Roman"/>
            </a:endParaRPr>
          </a:p>
        </p:txBody>
      </p:sp>
      <p:sp>
        <p:nvSpPr>
          <p:cNvPr id="1523" name="Text Box 3"/>
          <p:cNvSpPr/>
          <p:nvPr/>
        </p:nvSpPr>
        <p:spPr>
          <a:xfrm>
            <a:off x="380880" y="3962520"/>
            <a:ext cx="8763120" cy="26928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7c80"/>
                </a:solidFill>
                <a:effectLst/>
                <a:uFillTx/>
                <a:latin typeface="Calibri"/>
                <a:ea typeface="Calibri"/>
              </a:rPr>
              <a:t>Il faut prendre en compte :</a:t>
            </a:r>
            <a:endParaRPr b="0" lang="en-US" sz="2600" strike="noStrike" u="none">
              <a:solidFill>
                <a:srgbClr val="ffff00"/>
              </a:solidFill>
              <a:effectLst/>
              <a:uFillTx/>
              <a:latin typeface="Times New Roman"/>
            </a:endParaRPr>
          </a:p>
          <a:p>
            <a:pPr lvl="1" marL="457200">
              <a:lnSpc>
                <a:spcPct val="100000"/>
              </a:lnSpc>
              <a:spcBef>
                <a:spcPts val="162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ff"/>
                </a:solidFill>
                <a:effectLst/>
                <a:uFillTx/>
                <a:latin typeface="Calibri"/>
                <a:ea typeface="Calibri"/>
              </a:rPr>
              <a:t> l’importance des matches dans la saison</a:t>
            </a:r>
            <a:endParaRPr b="0" lang="en-US" sz="2600" strike="noStrike" u="none">
              <a:solidFill>
                <a:srgbClr val="ffff00"/>
              </a:solidFill>
              <a:effectLst/>
              <a:uFillTx/>
              <a:latin typeface="Times New Roman"/>
            </a:endParaRPr>
          </a:p>
          <a:p>
            <a:pPr lvl="1" marL="457200">
              <a:lnSpc>
                <a:spcPct val="100000"/>
              </a:lnSpc>
              <a:spcBef>
                <a:spcPts val="162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ff"/>
                </a:solidFill>
                <a:effectLst/>
                <a:uFillTx/>
                <a:latin typeface="Calibri"/>
                <a:ea typeface="Calibri"/>
              </a:rPr>
              <a:t> le jour de la semaine et l’horaire des matches</a:t>
            </a:r>
            <a:endParaRPr b="0" lang="en-US" sz="2600" strike="noStrike" u="none">
              <a:solidFill>
                <a:srgbClr val="ffff00"/>
              </a:solidFill>
              <a:effectLst/>
              <a:uFillTx/>
              <a:latin typeface="Times New Roman"/>
            </a:endParaRPr>
          </a:p>
          <a:p>
            <a:pPr lvl="1" marL="457200">
              <a:lnSpc>
                <a:spcPct val="100000"/>
              </a:lnSpc>
              <a:spcBef>
                <a:spcPts val="1624"/>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ff"/>
                </a:solidFill>
                <a:effectLst/>
                <a:uFillTx/>
                <a:latin typeface="Calibri"/>
                <a:ea typeface="Calibri"/>
              </a:rPr>
              <a:t> le nombre de matches dans la période</a:t>
            </a:r>
            <a:endParaRPr b="0" lang="en-US" sz="2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50" dur="indefinite" restart="never" nodeType="tmRoot">
          <p:childTnLst>
            <p:seq>
              <p:cTn id="1951" dur="indefinite" nodeType="mainSeq">
                <p:childTnLst>
                  <p:par>
                    <p:cTn id="1952" nodeType="clickEffect" fill="hold">
                      <p:stCondLst>
                        <p:cond delay="indefinite"/>
                      </p:stCondLst>
                      <p:childTnLst>
                        <p:par>
                          <p:cTn id="1953" nodeType="withEffect" fill="hold">
                            <p:stCondLst>
                              <p:cond delay="0"/>
                            </p:stCondLst>
                            <p:childTnLst>
                              <p:par>
                                <p:cTn id="1954" nodeType="clickEffect" fill="hold" presetClass="entr" presetID="1">
                                  <p:stCondLst>
                                    <p:cond delay="0"/>
                                  </p:stCondLst>
                                  <p:childTnLst>
                                    <p:set>
                                      <p:cBhvr>
                                        <p:cTn id="1955" dur="1" fill="hold">
                                          <p:stCondLst>
                                            <p:cond delay="499"/>
                                          </p:stCondLst>
                                        </p:cTn>
                                        <p:tgtEl>
                                          <p:spTgt spid="15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4" name="Text Box 2"/>
          <p:cNvSpPr/>
          <p:nvPr/>
        </p:nvSpPr>
        <p:spPr>
          <a:xfrm>
            <a:off x="0" y="609480"/>
            <a:ext cx="9144000" cy="5729400"/>
          </a:xfrm>
          <a:prstGeom prst="rect">
            <a:avLst/>
          </a:prstGeom>
          <a:noFill/>
          <a:ln w="0">
            <a:noFill/>
          </a:ln>
        </p:spPr>
        <p:style>
          <a:lnRef idx="0"/>
          <a:fillRef idx="0"/>
          <a:effectRef idx="0"/>
          <a:fontRef idx="minor"/>
        </p:style>
        <p:txBody>
          <a:bodyPr lIns="90000" rIns="90000" tIns="46800" bIns="46800" anchor="t">
            <a:spAutoFit/>
          </a:bodyPr>
          <a:p>
            <a:pPr marL="457200" indent="-457200"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457200" indent="-457200">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CA" sz="6000" strike="noStrike" u="none">
                <a:solidFill>
                  <a:srgbClr val="ffffff"/>
                </a:solidFill>
                <a:effectLst/>
                <a:uFillTx/>
                <a:latin typeface="Times New Roman"/>
              </a:rPr>
              <a:t>4. La période</a:t>
            </a:r>
            <a:endParaRPr b="0" lang="en-US" sz="6000" strike="noStrike" u="none">
              <a:solidFill>
                <a:srgbClr val="ffff00"/>
              </a:solidFill>
              <a:effectLst/>
              <a:uFillTx/>
              <a:latin typeface="Times New Roman"/>
            </a:endParaRPr>
          </a:p>
          <a:p>
            <a:pPr marL="457200" indent="-45720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Times New Roman"/>
              </a:rPr>
              <a:t>Introduction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Times New Roman"/>
              </a:rPr>
              <a:t>Préparation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0066ff"/>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0066ff"/>
                </a:solidFill>
                <a:effectLst/>
                <a:uFillTx/>
                <a:latin typeface="Times New Roman"/>
              </a:rPr>
              <a:t>Compétition</a:t>
            </a:r>
            <a:endParaRPr b="0" lang="en-US" sz="4000" strike="noStrike" u="none">
              <a:solidFill>
                <a:srgbClr val="ffff00"/>
              </a:solidFill>
              <a:effectLst/>
              <a:uFillTx/>
              <a:latin typeface="Times New Roman"/>
            </a:endParaRPr>
          </a:p>
          <a:p>
            <a:pPr lvl="1" marL="914400" indent="-457200">
              <a:lnSpc>
                <a:spcPct val="100000"/>
              </a:lnSpc>
              <a:spcBef>
                <a:spcPts val="2500"/>
              </a:spcBef>
              <a:buClr>
                <a:srgbClr val="ffcc00"/>
              </a:buClr>
              <a:buFont typeface="Times New Roman"/>
              <a:buAutoNum type="arabicPeriod"/>
              <a:tabLst>
                <a:tab algn="l" pos="1828800"/>
                <a:tab algn="l" pos="2743200"/>
                <a:tab algn="l" pos="3657600"/>
                <a:tab algn="l" pos="4572000"/>
                <a:tab algn="l" pos="5486400"/>
                <a:tab algn="l" pos="6400800"/>
                <a:tab algn="l" pos="7315200"/>
                <a:tab algn="l" pos="8229600"/>
                <a:tab algn="l" pos="9144000"/>
                <a:tab algn="l" pos="10058400"/>
              </a:tabLst>
            </a:pPr>
            <a:r>
              <a:rPr b="1" i="1" lang="fr-CA" sz="4000" strike="noStrike" u="none">
                <a:solidFill>
                  <a:srgbClr val="ffcc00"/>
                </a:solidFill>
                <a:effectLst/>
                <a:uFillTx/>
                <a:latin typeface="Times New Roman"/>
              </a:rPr>
              <a:t>Transition</a:t>
            </a:r>
            <a:endParaRPr b="0" lang="en-US" sz="40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5" name="Text Box 2"/>
          <p:cNvSpPr/>
          <p:nvPr/>
        </p:nvSpPr>
        <p:spPr>
          <a:xfrm>
            <a:off x="235080" y="260280"/>
            <a:ext cx="8610480" cy="52466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200" strike="noStrike" u="none">
                <a:solidFill>
                  <a:srgbClr val="ffffff"/>
                </a:solidFill>
                <a:effectLst/>
                <a:uFillTx/>
                <a:latin typeface="Calibri"/>
                <a:ea typeface="Calibri"/>
              </a:rPr>
              <a:t>Objectifs</a:t>
            </a:r>
            <a:endParaRPr b="0" lang="en-US" sz="3200" strike="noStrike" u="none">
              <a:solidFill>
                <a:srgbClr val="ffff00"/>
              </a:solidFill>
              <a:effectLst/>
              <a:uFillTx/>
              <a:latin typeface="Times New Roman"/>
            </a:endParaRPr>
          </a:p>
          <a:p>
            <a:pPr>
              <a:lnSpc>
                <a:spcPct val="100000"/>
              </a:lnSpc>
              <a:spcBef>
                <a:spcPts val="2001"/>
              </a:spcBef>
              <a:buClr>
                <a:srgbClr val="ffcc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200" strike="noStrike" u="none">
                <a:solidFill>
                  <a:srgbClr val="ffcc00"/>
                </a:solidFill>
                <a:effectLst/>
                <a:uFillTx/>
                <a:latin typeface="Calibri"/>
                <a:ea typeface="Calibri"/>
              </a:rPr>
              <a:t> apporter un repos satisfaisant après les efforts d’entraînement et de compétition de l’année ou du macrocycle qui précède</a:t>
            </a:r>
            <a:endParaRPr b="0" lang="en-US" sz="3200" strike="noStrike" u="none">
              <a:solidFill>
                <a:srgbClr val="ffff00"/>
              </a:solidFill>
              <a:effectLst/>
              <a:uFillTx/>
              <a:latin typeface="Times New Roman"/>
            </a:endParaRPr>
          </a:p>
          <a:p>
            <a:pPr>
              <a:lnSpc>
                <a:spcPct val="100000"/>
              </a:lnSpc>
              <a:spcBef>
                <a:spcPts val="2001"/>
              </a:spcBef>
              <a:buClr>
                <a:srgbClr val="ffcc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A" sz="3200" strike="noStrike" u="none">
                <a:solidFill>
                  <a:srgbClr val="ffcc00"/>
                </a:solidFill>
                <a:effectLst/>
                <a:uFillTx/>
                <a:latin typeface="Calibri"/>
                <a:ea typeface="Calibri"/>
              </a:rPr>
              <a:t> maintenir un niveau d’entraînement suffisant pour que le macrocycle suivant soit entamé dans de bonnes conditions </a:t>
            </a:r>
            <a:endParaRPr b="0" lang="en-US" sz="3200" strike="noStrike" u="none">
              <a:solidFill>
                <a:srgbClr val="ffff00"/>
              </a:solidFill>
              <a:effectLst/>
              <a:uFillTx/>
              <a:latin typeface="Times New Roman"/>
            </a:endParaRPr>
          </a:p>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200" strike="noStrike" u="none">
                <a:solidFill>
                  <a:srgbClr val="66ffff"/>
                </a:solidFill>
                <a:effectLst/>
                <a:uFillTx/>
                <a:latin typeface="Symbol"/>
                <a:ea typeface="Symbol"/>
              </a:rPr>
              <a:t></a:t>
            </a:r>
            <a:r>
              <a:rPr b="1" lang="fr-CA" sz="3200" strike="noStrike" u="none">
                <a:solidFill>
                  <a:srgbClr val="66ffff"/>
                </a:solidFill>
                <a:effectLst/>
                <a:uFillTx/>
                <a:latin typeface="Calibri"/>
                <a:ea typeface="Calibri"/>
              </a:rPr>
              <a:t> Macrocycle graduel</a:t>
            </a:r>
            <a:endParaRPr b="0" lang="en-US" sz="3200" strike="noStrike" u="none">
              <a:solidFill>
                <a:srgbClr val="ffff00"/>
              </a:solidFill>
              <a:effectLst/>
              <a:uFillTx/>
              <a:latin typeface="Times New Roman"/>
            </a:endParaRPr>
          </a:p>
        </p:txBody>
      </p:sp>
      <p:sp>
        <p:nvSpPr>
          <p:cNvPr id="1526" name="Text Box 3"/>
          <p:cNvSpPr/>
          <p:nvPr/>
        </p:nvSpPr>
        <p:spPr>
          <a:xfrm>
            <a:off x="146160" y="5229360"/>
            <a:ext cx="8762760" cy="1092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00"/>
                </a:solidFill>
                <a:effectLst/>
                <a:uFillTx/>
                <a:latin typeface="Calibri"/>
                <a:ea typeface="Calibri"/>
              </a:rPr>
              <a:t>3 méthodes … </a:t>
            </a:r>
            <a:endParaRPr b="0" lang="en-US" sz="2600" strike="noStrike" u="none">
              <a:solidFill>
                <a:srgbClr val="ffff00"/>
              </a:solidFill>
              <a:effectLst/>
              <a:uFillTx/>
              <a:latin typeface="Times New Roman"/>
            </a:endParaRPr>
          </a:p>
          <a:p>
            <a:pPr>
              <a:lnSpc>
                <a:spcPct val="100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600" strike="noStrike" u="none">
                <a:solidFill>
                  <a:srgbClr val="ffff00"/>
                </a:solidFill>
                <a:effectLst/>
                <a:uFillTx/>
                <a:latin typeface="Calibri"/>
                <a:ea typeface="Calibri"/>
              </a:rPr>
              <a:t>mais un seul principe : se changer les idées !</a:t>
            </a:r>
            <a:endParaRPr b="0" lang="en-US" sz="2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56" dur="indefinite" restart="never" nodeType="tmRoot">
          <p:childTnLst>
            <p:seq>
              <p:cTn id="1957" dur="indefinite" nodeType="mainSeq">
                <p:childTnLst>
                  <p:par>
                    <p:cTn id="1958" nodeType="clickEffect" fill="hold">
                      <p:stCondLst>
                        <p:cond delay="indefinite"/>
                      </p:stCondLst>
                      <p:childTnLst>
                        <p:par>
                          <p:cTn id="1959" nodeType="withEffect" fill="hold">
                            <p:stCondLst>
                              <p:cond delay="0"/>
                            </p:stCondLst>
                            <p:childTnLst>
                              <p:par>
                                <p:cTn id="1960" nodeType="clickEffect" fill="hold" presetClass="entr" presetID="1">
                                  <p:stCondLst>
                                    <p:cond delay="0"/>
                                  </p:stCondLst>
                                  <p:childTnLst>
                                    <p:set>
                                      <p:cBhvr>
                                        <p:cTn id="1961" dur="1" fill="hold">
                                          <p:stCondLst>
                                            <p:cond delay="499"/>
                                          </p:stCondLst>
                                        </p:cTn>
                                        <p:tgtEl>
                                          <p:spTgt spid="1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7" name="Rectangle 1"/>
          <p:cNvSpPr/>
          <p:nvPr/>
        </p:nvSpPr>
        <p:spPr>
          <a:xfrm>
            <a:off x="1332000" y="189000"/>
            <a:ext cx="7632720" cy="6507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Plan du cours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Un peu d’histoire…</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Les grandes lois de l’entraînement :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Principes du F.A.I.T.P.A.S.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Planification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Programmation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Périodisation</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Macrocycles, Mésocycles, Microcycles</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Séance d’entraînement</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Exercices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Contrôles et suivi de l’entraînement </a:t>
            </a:r>
            <a:endParaRPr b="0" lang="en-US" sz="2800" strike="noStrike" u="none">
              <a:solidFill>
                <a:srgbClr val="ffff00"/>
              </a:solidFill>
              <a:effectLst/>
              <a:uFillTx/>
              <a:latin typeface="Times New Roman"/>
            </a:endParaRPr>
          </a:p>
          <a:p>
            <a:pPr>
              <a:lnSpc>
                <a:spcPts val="41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au cours d’une saison</a:t>
            </a:r>
            <a:endParaRPr b="0" lang="en-US" sz="2800" strike="noStrike" u="none">
              <a:solidFill>
                <a:srgbClr val="ffff00"/>
              </a:solidFill>
              <a:effectLst/>
              <a:uFillTx/>
              <a:latin typeface="Times New Roman"/>
            </a:endParaRPr>
          </a:p>
        </p:txBody>
      </p:sp>
      <p:sp>
        <p:nvSpPr>
          <p:cNvPr id="1528" name="Flèche droite 2"/>
          <p:cNvSpPr/>
          <p:nvPr/>
        </p:nvSpPr>
        <p:spPr>
          <a:xfrm>
            <a:off x="468360" y="2997360"/>
            <a:ext cx="739800" cy="341280"/>
          </a:xfrm>
          <a:prstGeom prst="rightArrow">
            <a:avLst>
              <a:gd name="adj1" fmla="val 50000"/>
              <a:gd name="adj2" fmla="val 50008"/>
            </a:avLst>
          </a:prstGeom>
          <a:solidFill>
            <a:srgbClr val="ffff00"/>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62" dur="indefinite" restart="never" nodeType="tmRoot">
          <p:childTnLst>
            <p:seq>
              <p:cTn id="1963" dur="indefinite" nodeType="mainSeq">
                <p:childTnLst>
                  <p:par>
                    <p:cTn id="1964" nodeType="clickEffect" fill="hold">
                      <p:stCondLst>
                        <p:cond delay="indefinite"/>
                      </p:stCondLst>
                      <p:childTnLst>
                        <p:par>
                          <p:cTn id="1965" nodeType="withEffect" fill="hold">
                            <p:stCondLst>
                              <p:cond delay="0"/>
                            </p:stCondLst>
                            <p:childTnLst>
                              <p:par>
                                <p:cTn id="1966" nodeType="clickEffect" fill="hold" presetClass="entr" presetID="22" presetSubtype="8">
                                  <p:stCondLst>
                                    <p:cond delay="0"/>
                                  </p:stCondLst>
                                  <p:childTnLst>
                                    <p:set>
                                      <p:cBhvr>
                                        <p:cTn id="1967" dur="1" fill="hold">
                                          <p:stCondLst>
                                            <p:cond delay="0"/>
                                          </p:stCondLst>
                                        </p:cTn>
                                        <p:tgtEl>
                                          <p:spTgt spid="1528"/>
                                        </p:tgtEl>
                                        <p:attrNameLst>
                                          <p:attrName>style.visibility</p:attrName>
                                        </p:attrNameLst>
                                      </p:cBhvr>
                                      <p:to>
                                        <p:strVal val="visible"/>
                                      </p:to>
                                    </p:set>
                                    <p:animEffect filter="wipe(left)" transition="in">
                                      <p:cBhvr additive="repl">
                                        <p:cTn id="1968" dur="500"/>
                                        <p:tgtEl>
                                          <p:spTgt spid="1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Text Box 2"/>
          <p:cNvSpPr/>
          <p:nvPr/>
        </p:nvSpPr>
        <p:spPr>
          <a:xfrm>
            <a:off x="1704240" y="404640"/>
            <a:ext cx="6054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PLANIFICATION </a:t>
            </a:r>
            <a:r>
              <a:rPr b="0" lang="fr-FR" sz="2400" strike="noStrike" u="none">
                <a:solidFill>
                  <a:srgbClr val="ffff00"/>
                </a:solidFill>
                <a:effectLst/>
                <a:uFillTx/>
                <a:latin typeface="Bookman Old Style"/>
              </a:rPr>
              <a:t>(plusieurs saisons)</a:t>
            </a:r>
            <a:endParaRPr b="0" lang="en-US" sz="2400" strike="noStrike" u="none">
              <a:solidFill>
                <a:srgbClr val="ffff00"/>
              </a:solidFill>
              <a:effectLst/>
              <a:uFillTx/>
              <a:latin typeface="Times New Roman"/>
            </a:endParaRPr>
          </a:p>
        </p:txBody>
      </p:sp>
      <p:sp>
        <p:nvSpPr>
          <p:cNvPr id="1530" name="Line 3"/>
          <p:cNvSpPr/>
          <p:nvPr/>
        </p:nvSpPr>
        <p:spPr>
          <a:xfrm>
            <a:off x="4572000" y="938160"/>
            <a:ext cx="144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1" name="Line 4"/>
          <p:cNvSpPr/>
          <p:nvPr/>
        </p:nvSpPr>
        <p:spPr>
          <a:xfrm>
            <a:off x="1371600" y="1319040"/>
            <a:ext cx="6680160" cy="1800"/>
          </a:xfrm>
          <a:prstGeom prst="line">
            <a:avLst/>
          </a:prstGeom>
          <a:ln w="28440">
            <a:solidFill>
              <a:srgbClr val="ffff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532" name="Line 5"/>
          <p:cNvSpPr/>
          <p:nvPr/>
        </p:nvSpPr>
        <p:spPr>
          <a:xfrm>
            <a:off x="1371600" y="1319040"/>
            <a:ext cx="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3" name="Line 6"/>
          <p:cNvSpPr/>
          <p:nvPr/>
        </p:nvSpPr>
        <p:spPr>
          <a:xfrm>
            <a:off x="457200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4" name="Line 7"/>
          <p:cNvSpPr/>
          <p:nvPr/>
        </p:nvSpPr>
        <p:spPr>
          <a:xfrm>
            <a:off x="7999560" y="1319040"/>
            <a:ext cx="1440" cy="533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5" name="Text Box 8"/>
          <p:cNvSpPr/>
          <p:nvPr/>
        </p:nvSpPr>
        <p:spPr>
          <a:xfrm>
            <a:off x="380880" y="1852560"/>
            <a:ext cx="8458200" cy="459720"/>
          </a:xfrm>
          <a:prstGeom prst="rect">
            <a:avLst/>
          </a:prstGeom>
          <a:noFill/>
          <a:ln w="9360">
            <a:solidFill>
              <a:srgbClr val="f8f8f8"/>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8f8f8"/>
                </a:solidFill>
                <a:effectLst/>
                <a:uFillTx/>
                <a:latin typeface="Bookman Old Style"/>
              </a:rPr>
              <a:t>Programmation, Programmation, </a:t>
            </a:r>
            <a:r>
              <a:rPr b="0" lang="fr-FR" sz="2400" strike="noStrike" u="none">
                <a:solidFill>
                  <a:srgbClr val="f8f8f8"/>
                </a:solidFill>
                <a:effectLst/>
                <a:uFillTx/>
                <a:latin typeface="Bookman Old Style"/>
              </a:rPr>
              <a:t>(une saison)</a:t>
            </a:r>
            <a:endParaRPr b="0" lang="en-US" sz="2400" strike="noStrike" u="none">
              <a:solidFill>
                <a:srgbClr val="ffff00"/>
              </a:solidFill>
              <a:effectLst/>
              <a:uFillTx/>
              <a:latin typeface="Times New Roman"/>
            </a:endParaRPr>
          </a:p>
        </p:txBody>
      </p:sp>
      <p:sp>
        <p:nvSpPr>
          <p:cNvPr id="1536" name="Line 9"/>
          <p:cNvSpPr/>
          <p:nvPr/>
        </p:nvSpPr>
        <p:spPr>
          <a:xfrm>
            <a:off x="457200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7" name="Line 10"/>
          <p:cNvSpPr/>
          <p:nvPr/>
        </p:nvSpPr>
        <p:spPr>
          <a:xfrm>
            <a:off x="3657600" y="291924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8" name="Line 11"/>
          <p:cNvSpPr/>
          <p:nvPr/>
        </p:nvSpPr>
        <p:spPr>
          <a:xfrm>
            <a:off x="36576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39" name="Line 12"/>
          <p:cNvSpPr/>
          <p:nvPr/>
        </p:nvSpPr>
        <p:spPr>
          <a:xfrm>
            <a:off x="55627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0" name="Text Box 13"/>
          <p:cNvSpPr/>
          <p:nvPr/>
        </p:nvSpPr>
        <p:spPr>
          <a:xfrm>
            <a:off x="22921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541" name="Text Box 14"/>
          <p:cNvSpPr/>
          <p:nvPr/>
        </p:nvSpPr>
        <p:spPr>
          <a:xfrm>
            <a:off x="45781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542" name="Line 15"/>
          <p:cNvSpPr/>
          <p:nvPr/>
        </p:nvSpPr>
        <p:spPr>
          <a:xfrm>
            <a:off x="861048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3" name="Line 16"/>
          <p:cNvSpPr/>
          <p:nvPr/>
        </p:nvSpPr>
        <p:spPr>
          <a:xfrm>
            <a:off x="8001000" y="2919240"/>
            <a:ext cx="9907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4" name="Line 17"/>
          <p:cNvSpPr/>
          <p:nvPr/>
        </p:nvSpPr>
        <p:spPr>
          <a:xfrm>
            <a:off x="800100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5" name="Text Box 18"/>
          <p:cNvSpPr/>
          <p:nvPr/>
        </p:nvSpPr>
        <p:spPr>
          <a:xfrm>
            <a:off x="6635520" y="34257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546" name="Line 19"/>
          <p:cNvSpPr/>
          <p:nvPr/>
        </p:nvSpPr>
        <p:spPr>
          <a:xfrm>
            <a:off x="990720" y="230976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7" name="Line 20"/>
          <p:cNvSpPr/>
          <p:nvPr/>
        </p:nvSpPr>
        <p:spPr>
          <a:xfrm>
            <a:off x="0" y="291924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8" name="Line 21"/>
          <p:cNvSpPr/>
          <p:nvPr/>
        </p:nvSpPr>
        <p:spPr>
          <a:xfrm>
            <a:off x="1219320" y="291924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49" name="Text Box 22"/>
          <p:cNvSpPr/>
          <p:nvPr/>
        </p:nvSpPr>
        <p:spPr>
          <a:xfrm>
            <a:off x="234720" y="3427560"/>
            <a:ext cx="1936800" cy="3988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Périodisation</a:t>
            </a:r>
            <a:endParaRPr b="0" lang="en-US" sz="2000" strike="noStrike" u="none">
              <a:solidFill>
                <a:srgbClr val="ffff00"/>
              </a:solidFill>
              <a:effectLst/>
              <a:uFillTx/>
              <a:latin typeface="Times New Roman"/>
            </a:endParaRPr>
          </a:p>
        </p:txBody>
      </p:sp>
      <p:sp>
        <p:nvSpPr>
          <p:cNvPr id="1550" name="Text Box 23"/>
          <p:cNvSpPr/>
          <p:nvPr/>
        </p:nvSpPr>
        <p:spPr>
          <a:xfrm>
            <a:off x="7416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551" name="Text Box 24"/>
          <p:cNvSpPr/>
          <p:nvPr/>
        </p:nvSpPr>
        <p:spPr>
          <a:xfrm>
            <a:off x="3601440" y="4902120"/>
            <a:ext cx="319356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mésocycles…microcycles</a:t>
            </a:r>
            <a:endParaRPr b="0" lang="en-US" sz="1800" strike="noStrike" u="none">
              <a:solidFill>
                <a:srgbClr val="ffff00"/>
              </a:solidFill>
              <a:effectLst/>
              <a:uFillTx/>
              <a:latin typeface="Times New Roman"/>
            </a:endParaRPr>
          </a:p>
        </p:txBody>
      </p:sp>
      <p:sp>
        <p:nvSpPr>
          <p:cNvPr id="1552" name="Text Box 25"/>
          <p:cNvSpPr/>
          <p:nvPr/>
        </p:nvSpPr>
        <p:spPr>
          <a:xfrm>
            <a:off x="7059240" y="4902120"/>
            <a:ext cx="176724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mésocycles…</a:t>
            </a:r>
            <a:endParaRPr b="0" lang="en-US" sz="1800" strike="noStrike" u="none">
              <a:solidFill>
                <a:srgbClr val="ffff00"/>
              </a:solidFill>
              <a:effectLst/>
              <a:uFillTx/>
              <a:latin typeface="Times New Roman"/>
            </a:endParaRPr>
          </a:p>
        </p:txBody>
      </p:sp>
      <p:sp>
        <p:nvSpPr>
          <p:cNvPr id="1553" name="Line 26"/>
          <p:cNvSpPr/>
          <p:nvPr/>
        </p:nvSpPr>
        <p:spPr>
          <a:xfrm>
            <a:off x="325440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4" name="Line 27"/>
          <p:cNvSpPr/>
          <p:nvPr/>
        </p:nvSpPr>
        <p:spPr>
          <a:xfrm>
            <a:off x="2195640" y="444816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5" name="Line 28"/>
          <p:cNvSpPr/>
          <p:nvPr/>
        </p:nvSpPr>
        <p:spPr>
          <a:xfrm>
            <a:off x="21956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6" name="Line 29"/>
          <p:cNvSpPr/>
          <p:nvPr/>
        </p:nvSpPr>
        <p:spPr>
          <a:xfrm>
            <a:off x="410040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7" name="Line 30"/>
          <p:cNvSpPr/>
          <p:nvPr/>
        </p:nvSpPr>
        <p:spPr>
          <a:xfrm>
            <a:off x="102564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8" name="Line 31"/>
          <p:cNvSpPr/>
          <p:nvPr/>
        </p:nvSpPr>
        <p:spPr>
          <a:xfrm>
            <a:off x="34920" y="4448160"/>
            <a:ext cx="12193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59" name="Line 32"/>
          <p:cNvSpPr/>
          <p:nvPr/>
        </p:nvSpPr>
        <p:spPr>
          <a:xfrm>
            <a:off x="125424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0" name="Line 33"/>
          <p:cNvSpPr/>
          <p:nvPr/>
        </p:nvSpPr>
        <p:spPr>
          <a:xfrm>
            <a:off x="6300720" y="383868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1" name="Line 34"/>
          <p:cNvSpPr/>
          <p:nvPr/>
        </p:nvSpPr>
        <p:spPr>
          <a:xfrm>
            <a:off x="5241960" y="444816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2" name="Line 35"/>
          <p:cNvSpPr/>
          <p:nvPr/>
        </p:nvSpPr>
        <p:spPr>
          <a:xfrm>
            <a:off x="524196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3" name="Line 36"/>
          <p:cNvSpPr/>
          <p:nvPr/>
        </p:nvSpPr>
        <p:spPr>
          <a:xfrm>
            <a:off x="7147080" y="444816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4" name="Text Box 37"/>
          <p:cNvSpPr/>
          <p:nvPr/>
        </p:nvSpPr>
        <p:spPr>
          <a:xfrm>
            <a:off x="316080" y="633096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565" name="Line 38"/>
          <p:cNvSpPr/>
          <p:nvPr/>
        </p:nvSpPr>
        <p:spPr>
          <a:xfrm>
            <a:off x="1670040" y="526716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6" name="Line 39"/>
          <p:cNvSpPr/>
          <p:nvPr/>
        </p:nvSpPr>
        <p:spPr>
          <a:xfrm>
            <a:off x="611280" y="5877000"/>
            <a:ext cx="190476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7" name="Line 40"/>
          <p:cNvSpPr/>
          <p:nvPr/>
        </p:nvSpPr>
        <p:spPr>
          <a:xfrm>
            <a:off x="61128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8" name="Line 41"/>
          <p:cNvSpPr/>
          <p:nvPr/>
        </p:nvSpPr>
        <p:spPr>
          <a:xfrm>
            <a:off x="2516040" y="587700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69" name="Text Box 42"/>
          <p:cNvSpPr/>
          <p:nvPr/>
        </p:nvSpPr>
        <p:spPr>
          <a:xfrm>
            <a:off x="3502080" y="636444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570" name="Line 43"/>
          <p:cNvSpPr/>
          <p:nvPr/>
        </p:nvSpPr>
        <p:spPr>
          <a:xfrm>
            <a:off x="4856040" y="5300640"/>
            <a:ext cx="0" cy="60948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1" name="Line 44"/>
          <p:cNvSpPr/>
          <p:nvPr/>
        </p:nvSpPr>
        <p:spPr>
          <a:xfrm>
            <a:off x="3797280" y="59101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2" name="Line 45"/>
          <p:cNvSpPr/>
          <p:nvPr/>
        </p:nvSpPr>
        <p:spPr>
          <a:xfrm>
            <a:off x="379728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3" name="Line 46"/>
          <p:cNvSpPr/>
          <p:nvPr/>
        </p:nvSpPr>
        <p:spPr>
          <a:xfrm>
            <a:off x="5702400" y="59101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4" name="Text Box 47"/>
          <p:cNvSpPr/>
          <p:nvPr/>
        </p:nvSpPr>
        <p:spPr>
          <a:xfrm>
            <a:off x="6616800" y="6365880"/>
            <a:ext cx="2517120" cy="36828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Bookman Old Style"/>
              </a:rPr>
              <a:t>séances….exercices</a:t>
            </a:r>
            <a:endParaRPr b="0" lang="en-US" sz="1800" strike="noStrike" u="none">
              <a:solidFill>
                <a:srgbClr val="ffff00"/>
              </a:solidFill>
              <a:effectLst/>
              <a:uFillTx/>
              <a:latin typeface="Times New Roman"/>
            </a:endParaRPr>
          </a:p>
        </p:txBody>
      </p:sp>
      <p:sp>
        <p:nvSpPr>
          <p:cNvPr id="1575" name="Line 48"/>
          <p:cNvSpPr/>
          <p:nvPr/>
        </p:nvSpPr>
        <p:spPr>
          <a:xfrm>
            <a:off x="7970760" y="5302080"/>
            <a:ext cx="0" cy="60984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6" name="Line 49"/>
          <p:cNvSpPr/>
          <p:nvPr/>
        </p:nvSpPr>
        <p:spPr>
          <a:xfrm>
            <a:off x="6912000" y="5911920"/>
            <a:ext cx="1905120" cy="0"/>
          </a:xfrm>
          <a:prstGeom prst="line">
            <a:avLst/>
          </a:prstGeom>
          <a:ln w="28440">
            <a:solidFill>
              <a:srgbClr val="f8f8f8"/>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7" name="Line 50"/>
          <p:cNvSpPr/>
          <p:nvPr/>
        </p:nvSpPr>
        <p:spPr>
          <a:xfrm>
            <a:off x="691200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8" name="Line 51"/>
          <p:cNvSpPr/>
          <p:nvPr/>
        </p:nvSpPr>
        <p:spPr>
          <a:xfrm>
            <a:off x="8817120" y="5911920"/>
            <a:ext cx="0" cy="457200"/>
          </a:xfrm>
          <a:prstGeom prst="line">
            <a:avLst/>
          </a:prstGeom>
          <a:ln w="28440">
            <a:solidFill>
              <a:srgbClr val="f8f8f8"/>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79" name="Ellipse 1"/>
          <p:cNvSpPr/>
          <p:nvPr/>
        </p:nvSpPr>
        <p:spPr>
          <a:xfrm>
            <a:off x="-152280" y="1619280"/>
            <a:ext cx="9144000" cy="995400"/>
          </a:xfrm>
          <a:prstGeom prst="ellipse">
            <a:avLst/>
          </a:prstGeom>
          <a:noFill/>
          <a:ln w="2556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1969" dur="indefinite" restart="never" nodeType="tmRoot">
          <p:childTnLst>
            <p:seq>
              <p:cTn id="1970" dur="indefinite" nodeType="mainSeq">
                <p:childTnLst>
                  <p:par>
                    <p:cTn id="1971" nodeType="clickEffect" fill="hold">
                      <p:stCondLst>
                        <p:cond delay="indefinite"/>
                      </p:stCondLst>
                      <p:childTnLst>
                        <p:par>
                          <p:cTn id="1972" nodeType="withEffect" fill="hold">
                            <p:stCondLst>
                              <p:cond delay="0"/>
                            </p:stCondLst>
                            <p:childTnLst>
                              <p:par>
                                <p:cTn id="1973" nodeType="clickEffect" fill="hold" presetClass="entr" presetID="22" presetSubtype="4" repeatCount="1000">
                                  <p:stCondLst>
                                    <p:cond delay="0"/>
                                  </p:stCondLst>
                                  <p:childTnLst>
                                    <p:set>
                                      <p:cBhvr>
                                        <p:cTn id="1974" dur="1" fill="hold">
                                          <p:stCondLst>
                                            <p:cond delay="0"/>
                                          </p:stCondLst>
                                        </p:cTn>
                                        <p:tgtEl>
                                          <p:spTgt spid="1579"/>
                                        </p:tgtEl>
                                        <p:attrNameLst>
                                          <p:attrName>style.visibility</p:attrName>
                                        </p:attrNameLst>
                                      </p:cBhvr>
                                      <p:to>
                                        <p:strVal val="visible"/>
                                      </p:to>
                                    </p:set>
                                    <p:animEffect filter="wipe(down)" transition="in">
                                      <p:cBhvr additive="repl">
                                        <p:cTn id="1975" dur="1250"/>
                                        <p:tgtEl>
                                          <p:spTgt spid="1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0" name="Text Box 2"/>
          <p:cNvSpPr/>
          <p:nvPr/>
        </p:nvSpPr>
        <p:spPr>
          <a:xfrm>
            <a:off x="179280" y="1197000"/>
            <a:ext cx="8964720" cy="525636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20000"/>
              </a:lnSpc>
              <a:spcBef>
                <a:spcPts val="1199"/>
              </a:spcBef>
              <a:spcAft>
                <a:spcPts val="300"/>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8f8f8"/>
                </a:solidFill>
                <a:effectLst/>
                <a:uFillTx/>
                <a:latin typeface="Calibri"/>
                <a:ea typeface="Calibri"/>
              </a:rPr>
              <a:t>La programmation de l’entraînement est l’opération qui, dans le cadre d’une planification préalablement définie (voir ce qui a précèdé), consiste à élaborer un plan détaillé de contenus d’entraînements de la saison sportive.</a:t>
            </a:r>
            <a:endParaRPr b="0" lang="en-US" sz="2800" strike="noStrike" u="none">
              <a:solidFill>
                <a:srgbClr val="ffff00"/>
              </a:solidFill>
              <a:effectLst/>
              <a:uFillTx/>
              <a:latin typeface="Times New Roman"/>
            </a:endParaRPr>
          </a:p>
          <a:p>
            <a:pPr>
              <a:lnSpc>
                <a:spcPct val="120000"/>
              </a:lnSpc>
              <a:spcBef>
                <a:spcPts val="1199"/>
              </a:spcBef>
              <a:spcAft>
                <a:spcPts val="300"/>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Ces contenus doivent comprendre un ensemble d’instructions nécessaires à l’exécution d’une suite logique d’opérations adaptées au rythme d’acquisition du joueur, et ce dans le but d’obtenir le développement des capacités requises par la performance visée.</a:t>
            </a:r>
            <a:endParaRPr b="0" lang="en-US" sz="2800" strike="noStrike" u="none">
              <a:solidFill>
                <a:srgbClr val="ffff00"/>
              </a:solidFill>
              <a:effectLst/>
              <a:uFillTx/>
              <a:latin typeface="Times New Roman"/>
            </a:endParaRPr>
          </a:p>
        </p:txBody>
      </p:sp>
      <p:sp>
        <p:nvSpPr>
          <p:cNvPr id="1581" name="Text Box 3"/>
          <p:cNvSpPr/>
          <p:nvPr/>
        </p:nvSpPr>
        <p:spPr>
          <a:xfrm>
            <a:off x="687960" y="333360"/>
            <a:ext cx="7324920" cy="459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   PROGRAMMATION DE L’ENTRAÎNEMENT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2" name="Picture 2" descr="Bompa07"/>
          <p:cNvPicPr/>
          <p:nvPr/>
        </p:nvPicPr>
        <p:blipFill>
          <a:blip r:embed="rId1"/>
          <a:stretch/>
        </p:blipFill>
        <p:spPr>
          <a:xfrm>
            <a:off x="228600" y="228600"/>
            <a:ext cx="8686800" cy="6288120"/>
          </a:xfrm>
          <a:prstGeom prst="rect">
            <a:avLst/>
          </a:prstGeom>
          <a:noFill/>
          <a:ln w="0">
            <a:noFill/>
          </a:ln>
        </p:spPr>
      </p:pic>
      <p:sp>
        <p:nvSpPr>
          <p:cNvPr id="1583" name="Text Box 3"/>
          <p:cNvSpPr/>
          <p:nvPr/>
        </p:nvSpPr>
        <p:spPr>
          <a:xfrm>
            <a:off x="304920" y="6491160"/>
            <a:ext cx="85341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800" strike="noStrike" u="none">
                <a:solidFill>
                  <a:srgbClr val="ffffff"/>
                </a:solidFill>
                <a:effectLst/>
                <a:uFillTx/>
                <a:latin typeface="Times New Roman"/>
              </a:rPr>
              <a:t>Exemple de double planification. Adapté de Bompa (1997)</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4" name="Picture 2" descr="Bompa07"/>
          <p:cNvPicPr/>
          <p:nvPr/>
        </p:nvPicPr>
        <p:blipFill>
          <a:blip r:embed="rId1"/>
          <a:srcRect l="20130" t="73988" r="1974" b="0"/>
          <a:stretch/>
        </p:blipFill>
        <p:spPr>
          <a:xfrm>
            <a:off x="33480" y="4076640"/>
            <a:ext cx="9086760" cy="2413080"/>
          </a:xfrm>
          <a:prstGeom prst="rect">
            <a:avLst/>
          </a:prstGeom>
          <a:noFill/>
          <a:ln w="0">
            <a:noFill/>
          </a:ln>
        </p:spPr>
      </p:pic>
      <p:sp>
        <p:nvSpPr>
          <p:cNvPr id="1585" name="Text Box 3"/>
          <p:cNvSpPr/>
          <p:nvPr/>
        </p:nvSpPr>
        <p:spPr>
          <a:xfrm>
            <a:off x="1116000" y="206280"/>
            <a:ext cx="7201080" cy="795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800" strike="noStrike" u="none">
                <a:solidFill>
                  <a:srgbClr val="ffffff"/>
                </a:solidFill>
                <a:effectLst/>
                <a:uFillTx/>
                <a:latin typeface="Calibri"/>
                <a:ea typeface="Calibri"/>
              </a:rPr>
              <a:t>Exemple de programmation. </a:t>
            </a:r>
            <a:r>
              <a:rPr b="0" i="1" lang="fr-CA" sz="1800" strike="noStrike" u="none">
                <a:solidFill>
                  <a:srgbClr val="ffffff"/>
                </a:solidFill>
                <a:effectLst/>
                <a:uFillTx/>
                <a:latin typeface="Calibri"/>
                <a:ea typeface="Calibri"/>
              </a:rPr>
              <a:t>Adapté de Bompa (1997)</a:t>
            </a:r>
            <a:endParaRPr b="0" lang="en-US" sz="1800" strike="noStrike" u="none">
              <a:solidFill>
                <a:srgbClr val="ffff00"/>
              </a:solidFill>
              <a:effectLst/>
              <a:uFillTx/>
              <a:latin typeface="Times New Roman"/>
            </a:endParaRPr>
          </a:p>
        </p:txBody>
      </p:sp>
      <p:pic>
        <p:nvPicPr>
          <p:cNvPr id="1586" name="Picture 2" descr="Bompa07"/>
          <p:cNvPicPr/>
          <p:nvPr/>
        </p:nvPicPr>
        <p:blipFill>
          <a:blip r:embed="rId2"/>
          <a:srcRect l="879" t="76182" r="81442" b="3831"/>
          <a:stretch/>
        </p:blipFill>
        <p:spPr>
          <a:xfrm>
            <a:off x="2771640" y="907920"/>
            <a:ext cx="2957760" cy="2421000"/>
          </a:xfrm>
          <a:prstGeom prst="rect">
            <a:avLst/>
          </a:prstGeom>
          <a:noFill/>
          <a:ln w="0">
            <a:noFill/>
          </a:ln>
        </p:spPr>
      </p:pic>
      <p:pic>
        <p:nvPicPr>
          <p:cNvPr id="1587" name="Picture 2" descr="Bompa07"/>
          <p:cNvPicPr/>
          <p:nvPr/>
        </p:nvPicPr>
        <p:blipFill>
          <a:blip r:embed="rId3"/>
          <a:srcRect l="23685" t="29128" r="1974" b="65612"/>
          <a:stretch/>
        </p:blipFill>
        <p:spPr>
          <a:xfrm>
            <a:off x="33480" y="3429000"/>
            <a:ext cx="9086760" cy="647640"/>
          </a:xfrm>
          <a:prstGeom prst="rect">
            <a:avLst/>
          </a:prstGeom>
          <a:noFill/>
          <a:ln w="0">
            <a:noFill/>
          </a:ln>
        </p:spPr>
      </p:pic>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8" name="Picture 2" descr="Bompa07"/>
          <p:cNvPicPr/>
          <p:nvPr/>
        </p:nvPicPr>
        <p:blipFill>
          <a:blip r:embed="rId1"/>
          <a:srcRect l="9472" t="29447" r="879" b="35110"/>
          <a:stretch/>
        </p:blipFill>
        <p:spPr>
          <a:xfrm>
            <a:off x="-22320" y="1557360"/>
            <a:ext cx="9166320" cy="3278160"/>
          </a:xfrm>
          <a:prstGeom prst="rect">
            <a:avLst/>
          </a:prstGeom>
          <a:noFill/>
          <a:ln w="0">
            <a:noFill/>
          </a:ln>
        </p:spPr>
      </p:pic>
      <p:sp>
        <p:nvSpPr>
          <p:cNvPr id="1589" name="Text Box 3"/>
          <p:cNvSpPr/>
          <p:nvPr/>
        </p:nvSpPr>
        <p:spPr>
          <a:xfrm>
            <a:off x="1116000" y="206280"/>
            <a:ext cx="7201080" cy="795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2800" strike="noStrike" u="none">
                <a:solidFill>
                  <a:srgbClr val="ffffff"/>
                </a:solidFill>
                <a:effectLst/>
                <a:uFillTx/>
                <a:latin typeface="Calibri"/>
                <a:ea typeface="Calibri"/>
              </a:rPr>
              <a:t>Exemple de programmation. </a:t>
            </a:r>
            <a:r>
              <a:rPr b="0" i="1" lang="fr-CA" sz="1800" strike="noStrike" u="none">
                <a:solidFill>
                  <a:srgbClr val="ffffff"/>
                </a:solidFill>
                <a:effectLst/>
                <a:uFillTx/>
                <a:latin typeface="Calibri"/>
                <a:ea typeface="Calibri"/>
              </a:rPr>
              <a:t>Adapté de Bompa (1997)</a:t>
            </a:r>
            <a:endParaRPr b="0" lang="en-US" sz="18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90" name="Group 2"/>
          <p:cNvGrpSpPr/>
          <p:nvPr/>
        </p:nvGrpSpPr>
        <p:grpSpPr>
          <a:xfrm>
            <a:off x="0" y="0"/>
            <a:ext cx="9143640" cy="6858000"/>
            <a:chOff x="0" y="0"/>
            <a:chExt cx="9143640" cy="6858000"/>
          </a:xfrm>
        </p:grpSpPr>
        <p:grpSp>
          <p:nvGrpSpPr>
            <p:cNvPr id="1591" name="Group 3"/>
            <p:cNvGrpSpPr/>
            <p:nvPr/>
          </p:nvGrpSpPr>
          <p:grpSpPr>
            <a:xfrm>
              <a:off x="6840" y="4320"/>
              <a:ext cx="9128520" cy="6848280"/>
              <a:chOff x="6840" y="4320"/>
              <a:chExt cx="9128520" cy="6848280"/>
            </a:xfrm>
          </p:grpSpPr>
          <p:grpSp>
            <p:nvGrpSpPr>
              <p:cNvPr id="1592" name="Group 4"/>
              <p:cNvGrpSpPr/>
              <p:nvPr/>
            </p:nvGrpSpPr>
            <p:grpSpPr>
              <a:xfrm>
                <a:off x="6840" y="4320"/>
                <a:ext cx="6175800" cy="618120"/>
                <a:chOff x="6840" y="4320"/>
                <a:chExt cx="6175800" cy="618120"/>
              </a:xfrm>
            </p:grpSpPr>
            <p:sp>
              <p:nvSpPr>
                <p:cNvPr id="1593" name="Rectangle 5"/>
                <p:cNvSpPr/>
                <p:nvPr/>
              </p:nvSpPr>
              <p:spPr>
                <a:xfrm>
                  <a:off x="72720" y="4320"/>
                  <a:ext cx="6042960" cy="61812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CYCLES DE PROGRESSION ET D’ALTERNANCE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94" name="Rectangle 6"/>
                <p:cNvSpPr/>
                <p:nvPr/>
              </p:nvSpPr>
              <p:spPr>
                <a:xfrm>
                  <a:off x="6840" y="432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95" name="Group 7"/>
              <p:cNvGrpSpPr/>
              <p:nvPr/>
            </p:nvGrpSpPr>
            <p:grpSpPr>
              <a:xfrm>
                <a:off x="6183000" y="4320"/>
                <a:ext cx="2952360" cy="618120"/>
                <a:chOff x="6183000" y="4320"/>
                <a:chExt cx="2952360" cy="618120"/>
              </a:xfrm>
            </p:grpSpPr>
            <p:sp>
              <p:nvSpPr>
                <p:cNvPr id="1596" name="Rectangle 8"/>
                <p:cNvSpPr/>
                <p:nvPr/>
              </p:nvSpPr>
              <p:spPr>
                <a:xfrm>
                  <a:off x="6248880" y="4320"/>
                  <a:ext cx="2820240" cy="618120"/>
                </a:xfrm>
                <a:prstGeom prst="rect">
                  <a:avLst/>
                </a:prstGeom>
                <a:noFill/>
                <a:ln w="0">
                  <a:noFill/>
                </a:ln>
              </p:spPr>
              <p:style>
                <a:lnRef idx="0"/>
                <a:fillRef idx="0"/>
                <a:effectRef idx="0"/>
                <a:fontRef idx="minor"/>
              </p:style>
              <p:txBody>
                <a:bodyPr lIns="90000" rIns="90000" tIns="46800" bIns="46800" anchor="t">
                  <a:norm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DUREE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597" name="Rectangle 9"/>
                <p:cNvSpPr/>
                <p:nvPr/>
              </p:nvSpPr>
              <p:spPr>
                <a:xfrm>
                  <a:off x="6183000" y="432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598" name="Group 10"/>
              <p:cNvGrpSpPr/>
              <p:nvPr/>
            </p:nvGrpSpPr>
            <p:grpSpPr>
              <a:xfrm>
                <a:off x="6840" y="622440"/>
                <a:ext cx="6175800" cy="784440"/>
                <a:chOff x="6840" y="622440"/>
                <a:chExt cx="6175800" cy="784440"/>
              </a:xfrm>
            </p:grpSpPr>
            <p:sp>
              <p:nvSpPr>
                <p:cNvPr id="1599" name="Rectangle 11"/>
                <p:cNvSpPr/>
                <p:nvPr/>
              </p:nvSpPr>
              <p:spPr>
                <a:xfrm>
                  <a:off x="72720" y="62244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Minicycle retrouvé dans une série d’exercices constituant une partie du corps de la séance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00" name="Rectangle 12"/>
                <p:cNvSpPr/>
                <p:nvPr/>
              </p:nvSpPr>
              <p:spPr>
                <a:xfrm>
                  <a:off x="6840" y="62244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01" name="Group 13"/>
              <p:cNvGrpSpPr/>
              <p:nvPr/>
            </p:nvGrpSpPr>
            <p:grpSpPr>
              <a:xfrm>
                <a:off x="6183000" y="622440"/>
                <a:ext cx="2952360" cy="784440"/>
                <a:chOff x="6183000" y="622440"/>
                <a:chExt cx="2952360" cy="784440"/>
              </a:xfrm>
            </p:grpSpPr>
            <p:sp>
              <p:nvSpPr>
                <p:cNvPr id="1602" name="Rectangle 14"/>
                <p:cNvSpPr/>
                <p:nvPr/>
              </p:nvSpPr>
              <p:spPr>
                <a:xfrm>
                  <a:off x="6248880" y="622440"/>
                  <a:ext cx="282024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 quelques minutes à quelques dizaines de minutes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03" name="Rectangle 15"/>
                <p:cNvSpPr/>
                <p:nvPr/>
              </p:nvSpPr>
              <p:spPr>
                <a:xfrm>
                  <a:off x="6183000" y="62244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04" name="Group 16"/>
              <p:cNvGrpSpPr/>
              <p:nvPr/>
            </p:nvGrpSpPr>
            <p:grpSpPr>
              <a:xfrm>
                <a:off x="6840" y="1406880"/>
                <a:ext cx="6175800" cy="784440"/>
                <a:chOff x="6840" y="1406880"/>
                <a:chExt cx="6175800" cy="784440"/>
              </a:xfrm>
            </p:grpSpPr>
            <p:sp>
              <p:nvSpPr>
                <p:cNvPr id="1605" name="Rectangle 17"/>
                <p:cNvSpPr/>
                <p:nvPr/>
              </p:nvSpPr>
              <p:spPr>
                <a:xfrm>
                  <a:off x="72720" y="140688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Cycle de la séance quotidienne, bi- ou tri-quotidienne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06" name="Rectangle 18"/>
                <p:cNvSpPr/>
                <p:nvPr/>
              </p:nvSpPr>
              <p:spPr>
                <a:xfrm>
                  <a:off x="6840" y="140688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07" name="Group 19"/>
              <p:cNvGrpSpPr/>
              <p:nvPr/>
            </p:nvGrpSpPr>
            <p:grpSpPr>
              <a:xfrm>
                <a:off x="6183000" y="1406880"/>
                <a:ext cx="2952360" cy="784440"/>
                <a:chOff x="6183000" y="1406880"/>
                <a:chExt cx="2952360" cy="784440"/>
              </a:xfrm>
            </p:grpSpPr>
            <p:sp>
              <p:nvSpPr>
                <p:cNvPr id="1608" name="Rectangle 20"/>
                <p:cNvSpPr/>
                <p:nvPr/>
              </p:nvSpPr>
              <p:spPr>
                <a:xfrm>
                  <a:off x="6248880" y="1406880"/>
                  <a:ext cx="282024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 quelques dizaines de minutes à plusieurs heures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09" name="Rectangle 21"/>
                <p:cNvSpPr/>
                <p:nvPr/>
              </p:nvSpPr>
              <p:spPr>
                <a:xfrm>
                  <a:off x="6183000" y="140688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10" name="Group 22"/>
              <p:cNvGrpSpPr/>
              <p:nvPr/>
            </p:nvGrpSpPr>
            <p:grpSpPr>
              <a:xfrm>
                <a:off x="6840" y="2191680"/>
                <a:ext cx="6175800" cy="618120"/>
                <a:chOff x="6840" y="2191680"/>
                <a:chExt cx="6175800" cy="618120"/>
              </a:xfrm>
            </p:grpSpPr>
            <p:sp>
              <p:nvSpPr>
                <p:cNvPr id="1611" name="Rectangle 23"/>
                <p:cNvSpPr/>
                <p:nvPr/>
              </p:nvSpPr>
              <p:spPr>
                <a:xfrm>
                  <a:off x="72720" y="219168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Cycle quotidien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12" name="Rectangle 24"/>
                <p:cNvSpPr/>
                <p:nvPr/>
              </p:nvSpPr>
              <p:spPr>
                <a:xfrm>
                  <a:off x="6840" y="219168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13" name="Group 25"/>
              <p:cNvGrpSpPr/>
              <p:nvPr/>
            </p:nvGrpSpPr>
            <p:grpSpPr>
              <a:xfrm>
                <a:off x="6183000" y="2191680"/>
                <a:ext cx="2952360" cy="618120"/>
                <a:chOff x="6183000" y="2191680"/>
                <a:chExt cx="2952360" cy="618120"/>
              </a:xfrm>
            </p:grpSpPr>
            <p:sp>
              <p:nvSpPr>
                <p:cNvPr id="1614" name="Rectangle 26"/>
                <p:cNvSpPr/>
                <p:nvPr/>
              </p:nvSpPr>
              <p:spPr>
                <a:xfrm>
                  <a:off x="6248880" y="219168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Vingt quatre heures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15" name="Rectangle 27"/>
                <p:cNvSpPr/>
                <p:nvPr/>
              </p:nvSpPr>
              <p:spPr>
                <a:xfrm>
                  <a:off x="6183000" y="219168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16" name="Group 28"/>
              <p:cNvGrpSpPr/>
              <p:nvPr/>
            </p:nvGrpSpPr>
            <p:grpSpPr>
              <a:xfrm>
                <a:off x="6840" y="2809800"/>
                <a:ext cx="6175800" cy="618480"/>
                <a:chOff x="6840" y="2809800"/>
                <a:chExt cx="6175800" cy="618480"/>
              </a:xfrm>
            </p:grpSpPr>
            <p:sp>
              <p:nvSpPr>
                <p:cNvPr id="1617" name="Rectangle 29"/>
                <p:cNvSpPr/>
                <p:nvPr/>
              </p:nvSpPr>
              <p:spPr>
                <a:xfrm>
                  <a:off x="72720" y="2809800"/>
                  <a:ext cx="604296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Microcycle hebdomadaire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18" name="Rectangle 30"/>
                <p:cNvSpPr/>
                <p:nvPr/>
              </p:nvSpPr>
              <p:spPr>
                <a:xfrm>
                  <a:off x="6840" y="2809800"/>
                  <a:ext cx="617580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19" name="Group 31"/>
              <p:cNvGrpSpPr/>
              <p:nvPr/>
            </p:nvGrpSpPr>
            <p:grpSpPr>
              <a:xfrm>
                <a:off x="6183000" y="2809800"/>
                <a:ext cx="2952360" cy="618480"/>
                <a:chOff x="6183000" y="2809800"/>
                <a:chExt cx="2952360" cy="618480"/>
              </a:xfrm>
            </p:grpSpPr>
            <p:sp>
              <p:nvSpPr>
                <p:cNvPr id="1620" name="Rectangle 32"/>
                <p:cNvSpPr/>
                <p:nvPr/>
              </p:nvSpPr>
              <p:spPr>
                <a:xfrm>
                  <a:off x="6248880" y="2809800"/>
                  <a:ext cx="282024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Sept jours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21" name="Rectangle 33"/>
                <p:cNvSpPr/>
                <p:nvPr/>
              </p:nvSpPr>
              <p:spPr>
                <a:xfrm>
                  <a:off x="6183000" y="2809800"/>
                  <a:ext cx="295236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22" name="Group 34"/>
              <p:cNvGrpSpPr/>
              <p:nvPr/>
            </p:nvGrpSpPr>
            <p:grpSpPr>
              <a:xfrm>
                <a:off x="6840" y="3428640"/>
                <a:ext cx="6175800" cy="618120"/>
                <a:chOff x="6840" y="3428640"/>
                <a:chExt cx="6175800" cy="618120"/>
              </a:xfrm>
            </p:grpSpPr>
            <p:sp>
              <p:nvSpPr>
                <p:cNvPr id="1623" name="Rectangle 35"/>
                <p:cNvSpPr/>
                <p:nvPr/>
              </p:nvSpPr>
              <p:spPr>
                <a:xfrm>
                  <a:off x="72720" y="342864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Mésocycle comprenant deux à six microcycles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24" name="Rectangle 36"/>
                <p:cNvSpPr/>
                <p:nvPr/>
              </p:nvSpPr>
              <p:spPr>
                <a:xfrm>
                  <a:off x="6840" y="342864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25" name="Group 37"/>
              <p:cNvGrpSpPr/>
              <p:nvPr/>
            </p:nvGrpSpPr>
            <p:grpSpPr>
              <a:xfrm>
                <a:off x="6183000" y="3428640"/>
                <a:ext cx="2952360" cy="618120"/>
                <a:chOff x="6183000" y="3428640"/>
                <a:chExt cx="2952360" cy="618120"/>
              </a:xfrm>
            </p:grpSpPr>
            <p:sp>
              <p:nvSpPr>
                <p:cNvPr id="1626" name="Rectangle 38"/>
                <p:cNvSpPr/>
                <p:nvPr/>
              </p:nvSpPr>
              <p:spPr>
                <a:xfrm>
                  <a:off x="6248880" y="342864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Deux à six semaines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27" name="Rectangle 39"/>
                <p:cNvSpPr/>
                <p:nvPr/>
              </p:nvSpPr>
              <p:spPr>
                <a:xfrm>
                  <a:off x="6183000" y="342864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28" name="Group 40"/>
              <p:cNvGrpSpPr/>
              <p:nvPr/>
            </p:nvGrpSpPr>
            <p:grpSpPr>
              <a:xfrm>
                <a:off x="6840" y="4046760"/>
                <a:ext cx="6175800" cy="618480"/>
                <a:chOff x="6840" y="4046760"/>
                <a:chExt cx="6175800" cy="618480"/>
              </a:xfrm>
            </p:grpSpPr>
            <p:sp>
              <p:nvSpPr>
                <p:cNvPr id="1629" name="Rectangle 41"/>
                <p:cNvSpPr/>
                <p:nvPr/>
              </p:nvSpPr>
              <p:spPr>
                <a:xfrm>
                  <a:off x="72720" y="4046760"/>
                  <a:ext cx="604296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Macrocycle comprenant deux à quatre mésocycles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30" name="Rectangle 42"/>
                <p:cNvSpPr/>
                <p:nvPr/>
              </p:nvSpPr>
              <p:spPr>
                <a:xfrm>
                  <a:off x="6840" y="4046760"/>
                  <a:ext cx="617580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31" name="Group 43"/>
              <p:cNvGrpSpPr/>
              <p:nvPr/>
            </p:nvGrpSpPr>
            <p:grpSpPr>
              <a:xfrm>
                <a:off x="6183000" y="4046760"/>
                <a:ext cx="2952360" cy="618480"/>
                <a:chOff x="6183000" y="4046760"/>
                <a:chExt cx="2952360" cy="618480"/>
              </a:xfrm>
            </p:grpSpPr>
            <p:sp>
              <p:nvSpPr>
                <p:cNvPr id="1632" name="Rectangle 44"/>
                <p:cNvSpPr/>
                <p:nvPr/>
              </p:nvSpPr>
              <p:spPr>
                <a:xfrm>
                  <a:off x="6248880" y="4046760"/>
                  <a:ext cx="2820240" cy="6184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Un à six mois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33" name="Rectangle 45"/>
                <p:cNvSpPr/>
                <p:nvPr/>
              </p:nvSpPr>
              <p:spPr>
                <a:xfrm>
                  <a:off x="6183000" y="4046760"/>
                  <a:ext cx="2952360" cy="61848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34" name="Group 46"/>
              <p:cNvGrpSpPr/>
              <p:nvPr/>
            </p:nvGrpSpPr>
            <p:grpSpPr>
              <a:xfrm>
                <a:off x="6840" y="4665240"/>
                <a:ext cx="6175800" cy="618120"/>
                <a:chOff x="6840" y="4665240"/>
                <a:chExt cx="6175800" cy="618120"/>
              </a:xfrm>
            </p:grpSpPr>
            <p:sp>
              <p:nvSpPr>
                <p:cNvPr id="1635" name="Rectangle 47"/>
                <p:cNvSpPr/>
                <p:nvPr/>
              </p:nvSpPr>
              <p:spPr>
                <a:xfrm>
                  <a:off x="72720" y="4665240"/>
                  <a:ext cx="604296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Cycle annuel d’entraînement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36" name="Rectangle 48"/>
                <p:cNvSpPr/>
                <p:nvPr/>
              </p:nvSpPr>
              <p:spPr>
                <a:xfrm>
                  <a:off x="6840" y="4665240"/>
                  <a:ext cx="617580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37" name="Group 49"/>
              <p:cNvGrpSpPr/>
              <p:nvPr/>
            </p:nvGrpSpPr>
            <p:grpSpPr>
              <a:xfrm>
                <a:off x="6183000" y="4665240"/>
                <a:ext cx="2952360" cy="618120"/>
                <a:chOff x="6183000" y="4665240"/>
                <a:chExt cx="2952360" cy="618120"/>
              </a:xfrm>
            </p:grpSpPr>
            <p:sp>
              <p:nvSpPr>
                <p:cNvPr id="1638" name="Rectangle 50"/>
                <p:cNvSpPr/>
                <p:nvPr/>
              </p:nvSpPr>
              <p:spPr>
                <a:xfrm>
                  <a:off x="6248880" y="4665240"/>
                  <a:ext cx="2820240" cy="61812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Une année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39" name="Rectangle 51"/>
                <p:cNvSpPr/>
                <p:nvPr/>
              </p:nvSpPr>
              <p:spPr>
                <a:xfrm>
                  <a:off x="6183000" y="4665240"/>
                  <a:ext cx="2952360" cy="61812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40" name="Group 52"/>
              <p:cNvGrpSpPr/>
              <p:nvPr/>
            </p:nvGrpSpPr>
            <p:grpSpPr>
              <a:xfrm>
                <a:off x="6840" y="5283360"/>
                <a:ext cx="6175800" cy="784440"/>
                <a:chOff x="6840" y="5283360"/>
                <a:chExt cx="6175800" cy="784440"/>
              </a:xfrm>
            </p:grpSpPr>
            <p:sp>
              <p:nvSpPr>
                <p:cNvPr id="1641" name="Rectangle 53"/>
                <p:cNvSpPr/>
                <p:nvPr/>
              </p:nvSpPr>
              <p:spPr>
                <a:xfrm>
                  <a:off x="72720" y="5283360"/>
                  <a:ext cx="604296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Mégacycle comprenant une succession de deux à quatre cycles annuels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42" name="Rectangle 54"/>
                <p:cNvSpPr/>
                <p:nvPr/>
              </p:nvSpPr>
              <p:spPr>
                <a:xfrm>
                  <a:off x="6840" y="528336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43" name="Group 55"/>
              <p:cNvGrpSpPr/>
              <p:nvPr/>
            </p:nvGrpSpPr>
            <p:grpSpPr>
              <a:xfrm>
                <a:off x="6183000" y="5283360"/>
                <a:ext cx="2952360" cy="784440"/>
                <a:chOff x="6183000" y="5283360"/>
                <a:chExt cx="2952360" cy="784440"/>
              </a:xfrm>
            </p:grpSpPr>
            <p:sp>
              <p:nvSpPr>
                <p:cNvPr id="1644" name="Rectangle 56"/>
                <p:cNvSpPr/>
                <p:nvPr/>
              </p:nvSpPr>
              <p:spPr>
                <a:xfrm>
                  <a:off x="6248880" y="5283360"/>
                  <a:ext cx="282024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Deux à quatre ans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45" name="Rectangle 57"/>
                <p:cNvSpPr/>
                <p:nvPr/>
              </p:nvSpPr>
              <p:spPr>
                <a:xfrm>
                  <a:off x="6183000" y="528336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46" name="Group 58"/>
              <p:cNvGrpSpPr/>
              <p:nvPr/>
            </p:nvGrpSpPr>
            <p:grpSpPr>
              <a:xfrm>
                <a:off x="6840" y="6068160"/>
                <a:ext cx="6175800" cy="784440"/>
                <a:chOff x="6840" y="6068160"/>
                <a:chExt cx="6175800" cy="784440"/>
              </a:xfrm>
            </p:grpSpPr>
            <p:sp>
              <p:nvSpPr>
                <p:cNvPr id="1647" name="Rectangle 59"/>
                <p:cNvSpPr/>
                <p:nvPr/>
              </p:nvSpPr>
              <p:spPr>
                <a:xfrm>
                  <a:off x="72720" y="6068160"/>
                  <a:ext cx="6042960" cy="784440"/>
                </a:xfrm>
                <a:prstGeom prst="rect">
                  <a:avLst/>
                </a:prstGeom>
                <a:noFill/>
                <a:ln w="0">
                  <a:noFill/>
                </a:ln>
              </p:spPr>
              <p:style>
                <a:lnRef idx="0"/>
                <a:fillRef idx="0"/>
                <a:effectRef idx="0"/>
                <a:fontRef idx="minor"/>
              </p:style>
              <p:txBody>
                <a:bodyPr lIns="90000" rIns="90000" tIns="46800" bIns="46800" anchor="t">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Gigacycle comprenant une succession de plusieurs mégacycles et qui constitue le plan de carrière du sportif</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48" name="Rectangle 60"/>
                <p:cNvSpPr/>
                <p:nvPr/>
              </p:nvSpPr>
              <p:spPr>
                <a:xfrm>
                  <a:off x="6840" y="6068160"/>
                  <a:ext cx="617580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nvGrpSpPr>
              <p:cNvPr id="1649" name="Group 61"/>
              <p:cNvGrpSpPr/>
              <p:nvPr/>
            </p:nvGrpSpPr>
            <p:grpSpPr>
              <a:xfrm>
                <a:off x="6183000" y="6068160"/>
                <a:ext cx="2952360" cy="784440"/>
                <a:chOff x="6183000" y="6068160"/>
                <a:chExt cx="2952360" cy="784440"/>
              </a:xfrm>
            </p:grpSpPr>
            <p:sp>
              <p:nvSpPr>
                <p:cNvPr id="1650" name="Rectangle 62"/>
                <p:cNvSpPr/>
                <p:nvPr/>
              </p:nvSpPr>
              <p:spPr>
                <a:xfrm>
                  <a:off x="6248880" y="6068160"/>
                  <a:ext cx="2820240" cy="78444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ea typeface="Times New Roman"/>
                    </a:rPr>
                    <a:t>Huit ans et plus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p:txBody>
            </p:sp>
            <p:sp>
              <p:nvSpPr>
                <p:cNvPr id="1651" name="Rectangle 63"/>
                <p:cNvSpPr/>
                <p:nvPr/>
              </p:nvSpPr>
              <p:spPr>
                <a:xfrm>
                  <a:off x="6183000" y="6068160"/>
                  <a:ext cx="2952360" cy="784440"/>
                </a:xfrm>
                <a:prstGeom prst="rect">
                  <a:avLst/>
                </a:prstGeom>
                <a:noFill/>
                <a:ln w="0">
                  <a:solidFill>
                    <a:srgbClr val="a0a0a0"/>
                  </a:solidFill>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grpSp>
        <p:sp>
          <p:nvSpPr>
            <p:cNvPr id="1652" name="Rectangle 64"/>
            <p:cNvSpPr/>
            <p:nvPr/>
          </p:nvSpPr>
          <p:spPr>
            <a:xfrm>
              <a:off x="0" y="0"/>
              <a:ext cx="9143640" cy="6858000"/>
            </a:xfrm>
            <a:prstGeom prst="rect">
              <a:avLst/>
            </a:prstGeom>
            <a:noFill/>
            <a:ln w="9360">
              <a:solidFill>
                <a:srgbClr val="a0a0a0"/>
              </a:solidFill>
              <a:miter/>
            </a:ln>
          </p:spPr>
          <p:style>
            <a:lnRef idx="0"/>
            <a:fillRef idx="0"/>
            <a:effectRef idx="0"/>
            <a:fontRef idx="minor"/>
          </p:style>
          <p:txBody>
            <a:bodyPr lIns="90000" rIns="90000" tIns="46800" bIns="46800" anchor="t">
              <a:norm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sp>
        <p:nvSpPr>
          <p:cNvPr id="1653" name="Rectangle 65"/>
          <p:cNvSpPr/>
          <p:nvPr/>
        </p:nvSpPr>
        <p:spPr>
          <a:xfrm>
            <a:off x="3240" y="6956280"/>
            <a:ext cx="9144000" cy="642600"/>
          </a:xfrm>
          <a:prstGeom prst="rect">
            <a:avLst/>
          </a:prstGeom>
          <a:noFill/>
          <a:ln w="0">
            <a:noFill/>
          </a:ln>
        </p:spPr>
        <p:style>
          <a:lnRef idx="0"/>
          <a:fillRef idx="0"/>
          <a:effectRef idx="0"/>
          <a:fontRef idx="minor"/>
        </p:style>
        <p:txBody>
          <a:bodyPr lIns="90000" rIns="90000" tIns="46800" bIns="46800" anchor="t">
            <a:spAutoFit/>
          </a:bodyPr>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ea typeface="Times New Roman"/>
              </a:rPr>
              <a:t> </a:t>
            </a:r>
            <a:endParaRPr b="0" lang="en-US" sz="1200" strike="noStrike" u="none">
              <a:solidFill>
                <a:srgbClr val="ffff00"/>
              </a:solidFill>
              <a:effectLst/>
              <a:uFillTx/>
              <a:latin typeface="Times New Roman"/>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ea typeface="Times New Roman"/>
              </a:rPr>
              <a:t> </a:t>
            </a:r>
            <a:endParaRPr b="0" lang="en-US" sz="12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4" name="Rectangle 2"/>
          <p:cNvSpPr/>
          <p:nvPr/>
        </p:nvSpPr>
        <p:spPr>
          <a:xfrm>
            <a:off x="0" y="44280"/>
            <a:ext cx="9144000" cy="828360"/>
          </a:xfrm>
          <a:prstGeom prst="rect">
            <a:avLst/>
          </a:prstGeom>
          <a:gradFill rotWithShape="0">
            <a:gsLst>
              <a:gs pos="0">
                <a:srgbClr val="66ffff"/>
              </a:gs>
              <a:gs pos="50000">
                <a:srgbClr val="4fc5c5"/>
              </a:gs>
              <a:gs pos="100000">
                <a:srgbClr val="66ffff"/>
              </a:gs>
            </a:gsLst>
            <a:lin ang="5400000"/>
          </a:gradFill>
          <a:ln w="19080">
            <a:solidFill>
              <a:srgbClr val="ffff00"/>
            </a:solidFill>
            <a:miter/>
          </a:ln>
        </p:spPr>
        <p:style>
          <a:lnRef idx="0"/>
          <a:fillRef idx="0"/>
          <a:effectRef idx="0"/>
          <a:fontRef idx="minor"/>
        </p:style>
        <p:txBody>
          <a:bodyPr lIns="90000" rIns="90000" tIns="46800" bIns="46800" anchor="t">
            <a:spAutoFit/>
          </a:bodyPr>
          <a:p>
            <a:pPr algn="ctr">
              <a:lnSpc>
                <a:spcPct val="90000"/>
              </a:lnSpc>
              <a:spcBef>
                <a:spcPts val="300"/>
              </a:spcBef>
              <a:spcAft>
                <a:spcPts val="300"/>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Bookman Old Style"/>
              </a:rPr>
              <a:t>Périodisation de l’entraînement :</a:t>
            </a:r>
            <a:endParaRPr b="0" lang="en-US" sz="2400" strike="noStrike" u="none">
              <a:solidFill>
                <a:srgbClr val="ffff00"/>
              </a:solidFill>
              <a:effectLst/>
              <a:uFillTx/>
              <a:latin typeface="Times New Roman"/>
            </a:endParaRPr>
          </a:p>
          <a:p>
            <a:pPr algn="ctr">
              <a:lnSpc>
                <a:spcPct val="90000"/>
              </a:lnSpc>
              <a:spcBef>
                <a:spcPts val="300"/>
              </a:spcBef>
              <a:spcAft>
                <a:spcPts val="300"/>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Bookman Old Style"/>
              </a:rPr>
              <a:t>Première partie de la saison</a:t>
            </a:r>
            <a:endParaRPr b="0" lang="en-US" sz="2400" strike="noStrike" u="none">
              <a:solidFill>
                <a:srgbClr val="ffff00"/>
              </a:solidFill>
              <a:effectLst/>
              <a:uFillTx/>
              <a:latin typeface="Times New Roman"/>
            </a:endParaRPr>
          </a:p>
        </p:txBody>
      </p:sp>
      <p:sp>
        <p:nvSpPr>
          <p:cNvPr id="1655" name="Text Box 3"/>
          <p:cNvSpPr/>
          <p:nvPr/>
        </p:nvSpPr>
        <p:spPr>
          <a:xfrm>
            <a:off x="0" y="1052640"/>
            <a:ext cx="9144000" cy="580104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1</a:t>
            </a:r>
            <a:r>
              <a:rPr b="1" lang="fr-FR" sz="2400" strike="noStrike" u="none" baseline="30000">
                <a:solidFill>
                  <a:srgbClr val="ffffff"/>
                </a:solidFill>
                <a:effectLst/>
                <a:uFillTx/>
                <a:latin typeface="Arial"/>
                <a:ea typeface="Arial"/>
              </a:rPr>
              <a:t>er </a:t>
            </a:r>
            <a:r>
              <a:rPr b="1" lang="fr-FR" sz="2400" strike="noStrike" u="none">
                <a:solidFill>
                  <a:srgbClr val="ffffff"/>
                </a:solidFill>
                <a:effectLst/>
                <a:uFillTx/>
                <a:latin typeface="Arial"/>
                <a:ea typeface="Arial"/>
              </a:rPr>
              <a:t>mésocycle </a:t>
            </a:r>
            <a:r>
              <a:rPr b="0" lang="fr-FR" sz="2400" strike="noStrike" u="none">
                <a:solidFill>
                  <a:srgbClr val="ffffff"/>
                </a:solidFill>
                <a:effectLst/>
                <a:uFillTx/>
                <a:latin typeface="Arial"/>
                <a:ea typeface="Arial"/>
              </a:rPr>
              <a:t>:</a:t>
            </a:r>
            <a:r>
              <a:rPr b="0" lang="fr-FR" sz="2400" strike="noStrike" u="none">
                <a:solidFill>
                  <a:srgbClr val="e3e822"/>
                </a:solidFill>
                <a:effectLst/>
                <a:uFillTx/>
                <a:latin typeface="Arial"/>
                <a:ea typeface="Arial"/>
              </a:rPr>
              <a:t> </a:t>
            </a:r>
            <a:r>
              <a:rPr b="0" lang="fr-FR" sz="2400" strike="noStrike" u="sng">
                <a:solidFill>
                  <a:srgbClr val="e3e822"/>
                </a:solidFill>
                <a:effectLst/>
                <a:uFillTx/>
                <a:latin typeface="Arial"/>
                <a:ea typeface="Arial"/>
              </a:rPr>
              <a:t>de la  1</a:t>
            </a:r>
            <a:r>
              <a:rPr b="0" lang="fr-FR" sz="2400" strike="noStrike" u="sng" baseline="30000">
                <a:solidFill>
                  <a:srgbClr val="e3e822"/>
                </a:solidFill>
                <a:effectLst/>
                <a:uFillTx/>
                <a:latin typeface="Arial"/>
                <a:ea typeface="Arial"/>
              </a:rPr>
              <a:t>ère</a:t>
            </a:r>
            <a:r>
              <a:rPr b="0" lang="fr-FR" sz="2400" strike="noStrike" u="sng">
                <a:solidFill>
                  <a:srgbClr val="e3e822"/>
                </a:solidFill>
                <a:effectLst/>
                <a:uFillTx/>
                <a:latin typeface="Arial"/>
                <a:ea typeface="Arial"/>
              </a:rPr>
              <a:t> à la 3</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semaine</a:t>
            </a:r>
            <a:r>
              <a:rPr b="0" lang="fr-FR" sz="2400" strike="noStrike" u="none">
                <a:solidFill>
                  <a:srgbClr val="e3e822"/>
                </a:solidFill>
                <a:effectLst/>
                <a:uFillTx/>
                <a:latin typeface="Arial"/>
                <a:ea typeface="Arial"/>
              </a:rPr>
              <a:t>: période de reprise : Préparation des « terrains » physiologique et musculaire</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2</a:t>
            </a:r>
            <a:r>
              <a:rPr b="1" lang="fr-FR" sz="2400" strike="noStrike" u="none" baseline="30000">
                <a:solidFill>
                  <a:srgbClr val="ffffff"/>
                </a:solidFill>
                <a:effectLst/>
                <a:uFillTx/>
                <a:latin typeface="Arial"/>
                <a:ea typeface="Arial"/>
              </a:rPr>
              <a:t>ème</a:t>
            </a:r>
            <a:r>
              <a:rPr b="1" lang="fr-FR" sz="2400" strike="noStrike" u="none">
                <a:solidFill>
                  <a:srgbClr val="ffffff"/>
                </a:solidFill>
                <a:effectLst/>
                <a:uFillTx/>
                <a:latin typeface="Arial"/>
                <a:ea typeface="Arial"/>
              </a:rPr>
              <a:t> mésocycle </a:t>
            </a:r>
            <a:r>
              <a:rPr b="0" lang="fr-FR" sz="2400" strike="noStrike" u="none">
                <a:solidFill>
                  <a:srgbClr val="ffffff"/>
                </a:solidFill>
                <a:effectLst/>
                <a:uFillTx/>
                <a:latin typeface="Arial"/>
                <a:ea typeface="Arial"/>
              </a:rPr>
              <a:t>:</a:t>
            </a:r>
            <a:r>
              <a:rPr b="0" lang="fr-FR" sz="2400" strike="noStrike" u="none">
                <a:solidFill>
                  <a:srgbClr val="e3e822"/>
                </a:solidFill>
                <a:effectLst/>
                <a:uFillTx/>
                <a:latin typeface="Arial"/>
                <a:ea typeface="Arial"/>
              </a:rPr>
              <a:t> </a:t>
            </a:r>
            <a:r>
              <a:rPr b="0" lang="fr-FR" sz="2400" strike="noStrike" u="sng">
                <a:solidFill>
                  <a:srgbClr val="e3e822"/>
                </a:solidFill>
                <a:effectLst/>
                <a:uFillTx/>
                <a:latin typeface="Arial"/>
                <a:ea typeface="Arial"/>
              </a:rPr>
              <a:t>de la 4</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à la 6</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semaine</a:t>
            </a:r>
            <a:r>
              <a:rPr b="0" lang="fr-FR" sz="2400" strike="noStrike" u="none">
                <a:solidFill>
                  <a:srgbClr val="e3e822"/>
                </a:solidFill>
                <a:effectLst/>
                <a:uFillTx/>
                <a:latin typeface="Arial"/>
                <a:ea typeface="Arial"/>
              </a:rPr>
              <a:t>: développement de la puissance aérobie et d’une des qualités requise en priorité par le match de football (vitesse, force, puissance musculaire, puissance ou/et  endurance lactique) </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3</a:t>
            </a:r>
            <a:r>
              <a:rPr b="1" lang="fr-FR" sz="2400" strike="noStrike" u="none" baseline="30000">
                <a:solidFill>
                  <a:srgbClr val="ffffff"/>
                </a:solidFill>
                <a:effectLst/>
                <a:uFillTx/>
                <a:latin typeface="Arial"/>
                <a:ea typeface="Arial"/>
              </a:rPr>
              <a:t>ème</a:t>
            </a:r>
            <a:r>
              <a:rPr b="1" lang="fr-FR" sz="2400" strike="noStrike" u="none">
                <a:solidFill>
                  <a:srgbClr val="ffffff"/>
                </a:solidFill>
                <a:effectLst/>
                <a:uFillTx/>
                <a:latin typeface="Arial"/>
                <a:ea typeface="Arial"/>
              </a:rPr>
              <a:t> mésocycle </a:t>
            </a:r>
            <a:r>
              <a:rPr b="0" lang="fr-FR" sz="2400" strike="noStrike" u="none">
                <a:solidFill>
                  <a:srgbClr val="ffffff"/>
                </a:solidFill>
                <a:effectLst/>
                <a:uFillTx/>
                <a:latin typeface="Arial"/>
                <a:ea typeface="Arial"/>
              </a:rPr>
              <a:t>:</a:t>
            </a:r>
            <a:r>
              <a:rPr b="0" lang="fr-FR" sz="2400" strike="noStrike" u="none">
                <a:solidFill>
                  <a:srgbClr val="e3e822"/>
                </a:solidFill>
                <a:effectLst/>
                <a:uFillTx/>
                <a:latin typeface="Arial"/>
                <a:ea typeface="Arial"/>
              </a:rPr>
              <a:t> </a:t>
            </a:r>
            <a:r>
              <a:rPr b="0" lang="fr-FR" sz="2400" strike="noStrike" u="sng">
                <a:solidFill>
                  <a:srgbClr val="e3e822"/>
                </a:solidFill>
                <a:effectLst/>
                <a:uFillTx/>
                <a:latin typeface="Arial"/>
                <a:ea typeface="Arial"/>
              </a:rPr>
              <a:t>de la 7</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à la 12</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semaine</a:t>
            </a:r>
            <a:r>
              <a:rPr b="0" lang="fr-FR" sz="2400" strike="noStrike" u="none">
                <a:solidFill>
                  <a:srgbClr val="e3e822"/>
                </a:solidFill>
                <a:effectLst/>
                <a:uFillTx/>
                <a:latin typeface="Arial"/>
                <a:ea typeface="Arial"/>
              </a:rPr>
              <a:t> : période de compétition : stabilisation des acquis et augmentation progressive de la charge (volume ++++, intensité ++).</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4</a:t>
            </a:r>
            <a:r>
              <a:rPr b="1" lang="fr-FR" sz="2400" strike="noStrike" u="none" baseline="30000">
                <a:solidFill>
                  <a:srgbClr val="ffffff"/>
                </a:solidFill>
                <a:effectLst/>
                <a:uFillTx/>
                <a:latin typeface="Arial"/>
                <a:ea typeface="Arial"/>
              </a:rPr>
              <a:t>ème</a:t>
            </a:r>
            <a:r>
              <a:rPr b="1" lang="fr-FR" sz="2400" strike="noStrike" u="none">
                <a:solidFill>
                  <a:srgbClr val="ffffff"/>
                </a:solidFill>
                <a:effectLst/>
                <a:uFillTx/>
                <a:latin typeface="Arial"/>
                <a:ea typeface="Arial"/>
              </a:rPr>
              <a:t> mésocycle </a:t>
            </a:r>
            <a:r>
              <a:rPr b="0" lang="fr-FR" sz="2400" strike="noStrike" u="none">
                <a:solidFill>
                  <a:srgbClr val="ffffff"/>
                </a:solidFill>
                <a:effectLst/>
                <a:uFillTx/>
                <a:latin typeface="Arial"/>
                <a:ea typeface="Arial"/>
              </a:rPr>
              <a:t>:</a:t>
            </a:r>
            <a:r>
              <a:rPr b="0" lang="fr-FR" sz="2400" strike="noStrike" u="none">
                <a:solidFill>
                  <a:srgbClr val="e3e822"/>
                </a:solidFill>
                <a:effectLst/>
                <a:uFillTx/>
                <a:latin typeface="Arial"/>
                <a:ea typeface="Arial"/>
              </a:rPr>
              <a:t> </a:t>
            </a:r>
            <a:r>
              <a:rPr b="0" lang="fr-FR" sz="2400" strike="noStrike" u="sng">
                <a:solidFill>
                  <a:srgbClr val="e3e822"/>
                </a:solidFill>
                <a:effectLst/>
                <a:uFillTx/>
                <a:latin typeface="Arial"/>
                <a:ea typeface="Arial"/>
              </a:rPr>
              <a:t>de la 13</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à la 19</a:t>
            </a:r>
            <a:r>
              <a:rPr b="0" lang="fr-FR" sz="2400" strike="noStrike" u="sng" baseline="30000">
                <a:solidFill>
                  <a:srgbClr val="e3e822"/>
                </a:solidFill>
                <a:effectLst/>
                <a:uFillTx/>
                <a:latin typeface="Arial"/>
                <a:ea typeface="Arial"/>
              </a:rPr>
              <a:t>ème</a:t>
            </a:r>
            <a:r>
              <a:rPr b="0" lang="fr-FR" sz="2400" strike="noStrike" u="sng">
                <a:solidFill>
                  <a:srgbClr val="e3e822"/>
                </a:solidFill>
                <a:effectLst/>
                <a:uFillTx/>
                <a:latin typeface="Arial"/>
                <a:ea typeface="Arial"/>
              </a:rPr>
              <a:t> semaine</a:t>
            </a:r>
            <a:r>
              <a:rPr b="0" lang="fr-FR" sz="2400" strike="noStrike" u="none">
                <a:solidFill>
                  <a:srgbClr val="e3e822"/>
                </a:solidFill>
                <a:effectLst/>
                <a:uFillTx/>
                <a:latin typeface="Arial"/>
                <a:ea typeface="Arial"/>
              </a:rPr>
              <a:t> : période d’augmentation de la charge (intensité ++++, volume ++,)</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Placement de l’affûtage :</a:t>
            </a:r>
            <a:r>
              <a:rPr b="0" lang="fr-FR" sz="2400" strike="noStrike" u="none">
                <a:solidFill>
                  <a:srgbClr val="e3e822"/>
                </a:solidFill>
                <a:effectLst/>
                <a:uFillTx/>
                <a:latin typeface="Arial"/>
                <a:ea typeface="Arial"/>
              </a:rPr>
              <a:t> Intensité + récupération</a:t>
            </a:r>
            <a:endParaRPr b="0" lang="en-US" sz="2400" strike="noStrike" u="none">
              <a:solidFill>
                <a:srgbClr val="ffff00"/>
              </a:solidFill>
              <a:effectLst/>
              <a:uFillTx/>
              <a:latin typeface="Times New Roman"/>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ea typeface="Arial"/>
              </a:rPr>
              <a:t>            Championnats d’hiver 4 jours + Trêve 10 jours  </a:t>
            </a:r>
            <a:endParaRPr b="0" lang="en-US" sz="2400" strike="noStrike" u="none">
              <a:solidFill>
                <a:srgbClr val="ffff00"/>
              </a:solidFill>
              <a:effectLst/>
              <a:uFillTx/>
              <a:latin typeface="Times New Roman"/>
            </a:endParaRPr>
          </a:p>
        </p:txBody>
      </p:sp>
    </p:spTree>
  </p:cSld>
  <p:transition>
    <p:blinds dir="horz"/>
  </p:transition>
  <p:timing>
    <p:tnLst>
      <p:par>
        <p:cTn id="1976" dur="indefinite" restart="never" nodeType="tmRoot">
          <p:childTnLst>
            <p:seq>
              <p:cTn id="1977" dur="indefinite" nodeType="mainSeq">
                <p:childTnLst>
                  <p:par>
                    <p:cTn id="1978" nodeType="clickEffect" fill="hold">
                      <p:stCondLst>
                        <p:cond delay="0"/>
                      </p:stCondLst>
                      <p:childTnLst>
                        <p:par>
                          <p:cTn id="1979" nodeType="withEffect" fill="hold">
                            <p:stCondLst>
                              <p:cond delay="0"/>
                            </p:stCondLst>
                            <p:childTnLst>
                              <p:par>
                                <p:cTn id="1980" nodeType="afterEffect" fill="hold" presetClass="entr" presetID="9">
                                  <p:stCondLst>
                                    <p:cond delay="3000"/>
                                  </p:stCondLst>
                                  <p:childTnLst>
                                    <p:set>
                                      <p:cBhvr>
                                        <p:cTn id="1981" dur="1" fill="hold">
                                          <p:stCondLst>
                                            <p:cond delay="0"/>
                                          </p:stCondLst>
                                        </p:cTn>
                                        <p:tgtEl>
                                          <p:spTgt spid="1655">
                                            <p:txEl>
                                              <p:pRg st="0" end="0"/>
                                            </p:txEl>
                                          </p:spTgt>
                                        </p:tgtEl>
                                        <p:attrNameLst>
                                          <p:attrName>style.visibility</p:attrName>
                                        </p:attrNameLst>
                                      </p:cBhvr>
                                      <p:to>
                                        <p:strVal val="visible"/>
                                      </p:to>
                                    </p:set>
                                    <p:animEffect filter="dissolve" transition="in">
                                      <p:cBhvr additive="repl">
                                        <p:cTn id="1982" dur="500"/>
                                        <p:tgtEl>
                                          <p:spTgt spid="1655">
                                            <p:txEl>
                                              <p:pRg st="0" end="0"/>
                                            </p:txEl>
                                          </p:spTgt>
                                        </p:tgtEl>
                                      </p:cBhvr>
                                    </p:animEffect>
                                  </p:childTnLst>
                                </p:cTn>
                              </p:par>
                            </p:childTnLst>
                          </p:cTn>
                        </p:par>
                        <p:par>
                          <p:cTn id="1983" nodeType="afterEffect" fill="hold">
                            <p:stCondLst>
                              <p:cond delay="3500"/>
                            </p:stCondLst>
                            <p:childTnLst>
                              <p:par>
                                <p:cTn id="1984" nodeType="afterEffect" fill="hold" presetClass="entr" presetID="9">
                                  <p:stCondLst>
                                    <p:cond delay="3000"/>
                                  </p:stCondLst>
                                  <p:childTnLst>
                                    <p:set>
                                      <p:cBhvr>
                                        <p:cTn id="1985" dur="1" fill="hold">
                                          <p:stCondLst>
                                            <p:cond delay="0"/>
                                          </p:stCondLst>
                                        </p:cTn>
                                        <p:tgtEl>
                                          <p:spTgt spid="1655">
                                            <p:txEl>
                                              <p:pRg st="1" end="1"/>
                                            </p:txEl>
                                          </p:spTgt>
                                        </p:tgtEl>
                                        <p:attrNameLst>
                                          <p:attrName>style.visibility</p:attrName>
                                        </p:attrNameLst>
                                      </p:cBhvr>
                                      <p:to>
                                        <p:strVal val="visible"/>
                                      </p:to>
                                    </p:set>
                                    <p:animEffect filter="dissolve" transition="in">
                                      <p:cBhvr additive="repl">
                                        <p:cTn id="1986" dur="500"/>
                                        <p:tgtEl>
                                          <p:spTgt spid="1655">
                                            <p:txEl>
                                              <p:pRg st="1" end="1"/>
                                            </p:txEl>
                                          </p:spTgt>
                                        </p:tgtEl>
                                      </p:cBhvr>
                                    </p:animEffect>
                                  </p:childTnLst>
                                </p:cTn>
                              </p:par>
                            </p:childTnLst>
                          </p:cTn>
                        </p:par>
                        <p:par>
                          <p:cTn id="1987" nodeType="afterEffect" fill="hold">
                            <p:stCondLst>
                              <p:cond delay="7000"/>
                            </p:stCondLst>
                            <p:childTnLst>
                              <p:par>
                                <p:cTn id="1988" nodeType="afterEffect" fill="hold" presetClass="entr" presetID="9">
                                  <p:stCondLst>
                                    <p:cond delay="3000"/>
                                  </p:stCondLst>
                                  <p:childTnLst>
                                    <p:set>
                                      <p:cBhvr>
                                        <p:cTn id="1989" dur="1" fill="hold">
                                          <p:stCondLst>
                                            <p:cond delay="0"/>
                                          </p:stCondLst>
                                        </p:cTn>
                                        <p:tgtEl>
                                          <p:spTgt spid="1655">
                                            <p:txEl>
                                              <p:pRg st="2" end="2"/>
                                            </p:txEl>
                                          </p:spTgt>
                                        </p:tgtEl>
                                        <p:attrNameLst>
                                          <p:attrName>style.visibility</p:attrName>
                                        </p:attrNameLst>
                                      </p:cBhvr>
                                      <p:to>
                                        <p:strVal val="visible"/>
                                      </p:to>
                                    </p:set>
                                    <p:animEffect filter="dissolve" transition="in">
                                      <p:cBhvr additive="repl">
                                        <p:cTn id="1990" dur="500"/>
                                        <p:tgtEl>
                                          <p:spTgt spid="1655">
                                            <p:txEl>
                                              <p:pRg st="2" end="2"/>
                                            </p:txEl>
                                          </p:spTgt>
                                        </p:tgtEl>
                                      </p:cBhvr>
                                    </p:animEffect>
                                  </p:childTnLst>
                                </p:cTn>
                              </p:par>
                            </p:childTnLst>
                          </p:cTn>
                        </p:par>
                        <p:par>
                          <p:cTn id="1991" nodeType="afterEffect" fill="hold">
                            <p:stCondLst>
                              <p:cond delay="10500"/>
                            </p:stCondLst>
                            <p:childTnLst>
                              <p:par>
                                <p:cTn id="1992" nodeType="afterEffect" fill="hold" presetClass="entr" presetID="9">
                                  <p:stCondLst>
                                    <p:cond delay="3000"/>
                                  </p:stCondLst>
                                  <p:childTnLst>
                                    <p:set>
                                      <p:cBhvr>
                                        <p:cTn id="1993" dur="1" fill="hold">
                                          <p:stCondLst>
                                            <p:cond delay="0"/>
                                          </p:stCondLst>
                                        </p:cTn>
                                        <p:tgtEl>
                                          <p:spTgt spid="1655">
                                            <p:txEl>
                                              <p:pRg st="3" end="3"/>
                                            </p:txEl>
                                          </p:spTgt>
                                        </p:tgtEl>
                                        <p:attrNameLst>
                                          <p:attrName>style.visibility</p:attrName>
                                        </p:attrNameLst>
                                      </p:cBhvr>
                                      <p:to>
                                        <p:strVal val="visible"/>
                                      </p:to>
                                    </p:set>
                                    <p:animEffect filter="dissolve" transition="in">
                                      <p:cBhvr additive="repl">
                                        <p:cTn id="1994" dur="500"/>
                                        <p:tgtEl>
                                          <p:spTgt spid="1655">
                                            <p:txEl>
                                              <p:pRg st="3" end="3"/>
                                            </p:txEl>
                                          </p:spTgt>
                                        </p:tgtEl>
                                      </p:cBhvr>
                                    </p:animEffect>
                                  </p:childTnLst>
                                </p:cTn>
                              </p:par>
                            </p:childTnLst>
                          </p:cTn>
                        </p:par>
                        <p:par>
                          <p:cTn id="1995" nodeType="afterEffect" fill="hold">
                            <p:stCondLst>
                              <p:cond delay="14000"/>
                            </p:stCondLst>
                            <p:childTnLst>
                              <p:par>
                                <p:cTn id="1996" nodeType="afterEffect" fill="hold" presetClass="entr" presetID="9">
                                  <p:stCondLst>
                                    <p:cond delay="3000"/>
                                  </p:stCondLst>
                                  <p:childTnLst>
                                    <p:set>
                                      <p:cBhvr>
                                        <p:cTn id="1997" dur="1" fill="hold">
                                          <p:stCondLst>
                                            <p:cond delay="0"/>
                                          </p:stCondLst>
                                        </p:cTn>
                                        <p:tgtEl>
                                          <p:spTgt spid="1655">
                                            <p:txEl>
                                              <p:pRg st="4" end="4"/>
                                            </p:txEl>
                                          </p:spTgt>
                                        </p:tgtEl>
                                        <p:attrNameLst>
                                          <p:attrName>style.visibility</p:attrName>
                                        </p:attrNameLst>
                                      </p:cBhvr>
                                      <p:to>
                                        <p:strVal val="visible"/>
                                      </p:to>
                                    </p:set>
                                    <p:animEffect filter="dissolve" transition="in">
                                      <p:cBhvr additive="repl">
                                        <p:cTn id="1998" dur="500"/>
                                        <p:tgtEl>
                                          <p:spTgt spid="1655">
                                            <p:txEl>
                                              <p:pRg st="4" end="4"/>
                                            </p:txEl>
                                          </p:spTgt>
                                        </p:tgtEl>
                                      </p:cBhvr>
                                    </p:animEffect>
                                  </p:childTnLst>
                                </p:cTn>
                              </p:par>
                            </p:childTnLst>
                          </p:cTn>
                        </p:par>
                        <p:par>
                          <p:cTn id="1999" nodeType="afterEffect" fill="hold">
                            <p:stCondLst>
                              <p:cond delay="17500"/>
                            </p:stCondLst>
                            <p:childTnLst>
                              <p:par>
                                <p:cTn id="2000" nodeType="afterEffect" fill="hold" presetClass="entr" presetID="9">
                                  <p:stCondLst>
                                    <p:cond delay="3000"/>
                                  </p:stCondLst>
                                  <p:childTnLst>
                                    <p:set>
                                      <p:cBhvr>
                                        <p:cTn id="2001" dur="1" fill="hold">
                                          <p:stCondLst>
                                            <p:cond delay="0"/>
                                          </p:stCondLst>
                                        </p:cTn>
                                        <p:tgtEl>
                                          <p:spTgt spid="1655">
                                            <p:txEl>
                                              <p:pRg st="5" end="5"/>
                                            </p:txEl>
                                          </p:spTgt>
                                        </p:tgtEl>
                                        <p:attrNameLst>
                                          <p:attrName>style.visibility</p:attrName>
                                        </p:attrNameLst>
                                      </p:cBhvr>
                                      <p:to>
                                        <p:strVal val="visible"/>
                                      </p:to>
                                    </p:set>
                                    <p:animEffect filter="dissolve" transition="in">
                                      <p:cBhvr additive="repl">
                                        <p:cTn id="2002" dur="500"/>
                                        <p:tgtEl>
                                          <p:spTgt spid="165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6" name="Rectangle 2"/>
          <p:cNvSpPr/>
          <p:nvPr/>
        </p:nvSpPr>
        <p:spPr>
          <a:xfrm>
            <a:off x="685800" y="6248520"/>
            <a:ext cx="1905120" cy="457200"/>
          </a:xfrm>
          <a:prstGeom prst="rect">
            <a:avLst/>
          </a:prstGeom>
          <a:no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657" name="PlaceHolder 1"/>
          <p:cNvSpPr>
            <a:spLocks noGrp="1"/>
          </p:cNvSpPr>
          <p:nvPr>
            <p:ph type="title"/>
          </p:nvPr>
        </p:nvSpPr>
        <p:spPr>
          <a:xfrm>
            <a:off x="826920" y="476280"/>
            <a:ext cx="7772400" cy="838080"/>
          </a:xfrm>
          <a:prstGeom prst="rect">
            <a:avLst/>
          </a:prstGeom>
          <a:noFill/>
          <a:ln w="0">
            <a:noFill/>
          </a:ln>
        </p:spPr>
        <p:txBody>
          <a:bodyPr lIns="90360" rIns="90360" tIns="44280" bIns="442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 PLACE DU SUIVI DE L’ENTRAÎNEMENT </a:t>
            </a:r>
            <a:br>
              <a:rPr sz="2400"/>
            </a:br>
            <a:r>
              <a:rPr b="1" lang="es-CL" sz="2400" strike="noStrike" u="none">
                <a:solidFill>
                  <a:srgbClr val="ffff00"/>
                </a:solidFill>
                <a:effectLst/>
                <a:uFillTx/>
                <a:latin typeface="Calibri"/>
                <a:ea typeface="Calibri"/>
              </a:rPr>
              <a:t>AU COURS D’UNE SAISON SPORTIVE</a:t>
            </a:r>
            <a:br>
              <a:rPr sz="2400"/>
            </a:br>
            <a:endParaRPr b="0" lang="en-US" sz="2400" strike="noStrike" u="none">
              <a:solidFill>
                <a:srgbClr val="f8f8f8"/>
              </a:solidFill>
              <a:effectLst/>
              <a:uFillTx/>
              <a:latin typeface="Times New Roman"/>
            </a:endParaRPr>
          </a:p>
        </p:txBody>
      </p:sp>
      <p:sp>
        <p:nvSpPr>
          <p:cNvPr id="1658" name="PlaceHolder 2"/>
          <p:cNvSpPr>
            <a:spLocks noGrp="1"/>
          </p:cNvSpPr>
          <p:nvPr>
            <p:ph/>
          </p:nvPr>
        </p:nvSpPr>
        <p:spPr>
          <a:xfrm>
            <a:off x="394920" y="1268280"/>
            <a:ext cx="8675640" cy="2743200"/>
          </a:xfrm>
          <a:prstGeom prst="rect">
            <a:avLst/>
          </a:prstGeom>
          <a:noFill/>
          <a:ln w="0">
            <a:noFill/>
          </a:ln>
        </p:spPr>
        <p:txBody>
          <a:bodyPr lIns="90360" rIns="90360" tIns="44280" bIns="44280" anchor="t">
            <a:normAutofit fontScale="70000" lnSpcReduction="19999"/>
          </a:bodyPr>
          <a:p>
            <a:pPr marL="343080" indent="-343080">
              <a:lnSpc>
                <a:spcPct val="15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00"/>
                </a:solidFill>
                <a:effectLst/>
                <a:uFillTx/>
                <a:latin typeface="Calibri"/>
                <a:ea typeface="Calibri"/>
              </a:rPr>
              <a:t>A la fin de la saison après la dernière compétition</a:t>
            </a:r>
            <a:endParaRPr b="0" lang="en-US" sz="2800" strike="noStrike" u="none">
              <a:solidFill>
                <a:srgbClr val="ffff00"/>
              </a:solidFill>
              <a:effectLst/>
              <a:uFillTx/>
              <a:latin typeface="Times New Roman"/>
            </a:endParaRPr>
          </a:p>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00"/>
                </a:solidFill>
                <a:effectLst/>
                <a:uFillTx/>
                <a:latin typeface="Calibri"/>
                <a:ea typeface="Calibri"/>
              </a:rPr>
              <a:t>                           </a:t>
            </a:r>
            <a:r>
              <a:rPr b="1" lang="es-CL" sz="2800" strike="noStrike" u="none">
                <a:solidFill>
                  <a:srgbClr val="ffff00"/>
                </a:solidFill>
                <a:effectLst/>
                <a:uFillTx/>
                <a:latin typeface="Calibri"/>
                <a:ea typeface="Calibri"/>
              </a:rPr>
              <a:t>Gestion de l’intersaison :</a:t>
            </a:r>
            <a:endParaRPr b="0" lang="en-US" sz="2800" strike="noStrike" u="none">
              <a:solidFill>
                <a:srgbClr val="ffff00"/>
              </a:solidFill>
              <a:effectLst/>
              <a:uFillTx/>
              <a:latin typeface="Times New Roman"/>
            </a:endParaRPr>
          </a:p>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 arrêt pendant la première semaine  (recherche psychologique</a:t>
            </a:r>
            <a:endParaRPr b="0" lang="en-US" sz="2400" strike="noStrike" u="none">
              <a:solidFill>
                <a:srgbClr val="ffff00"/>
              </a:solidFill>
              <a:effectLst/>
              <a:uFillTx/>
              <a:latin typeface="Times New Roman"/>
            </a:endParaRPr>
          </a:p>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 Entretien de l’endurance aérobie = vélo, VTT 70 à 75 % de la   P.M.A. ou de la V.A.M. course </a:t>
            </a:r>
            <a:endParaRPr b="0" lang="en-US" sz="2400" strike="noStrike" u="none">
              <a:solidFill>
                <a:srgbClr val="ffff00"/>
              </a:solidFill>
              <a:effectLst/>
              <a:uFillTx/>
              <a:latin typeface="Times New Roman"/>
            </a:endParaRPr>
          </a:p>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Renforcement musculaire généralisé – étirements :  </a:t>
            </a:r>
            <a:endParaRPr b="0" lang="en-US" sz="2400" strike="noStrike" u="none">
              <a:solidFill>
                <a:srgbClr val="ffff00"/>
              </a:solidFill>
              <a:effectLst/>
              <a:uFillTx/>
              <a:latin typeface="Times New Roman"/>
            </a:endParaRPr>
          </a:p>
          <a:p>
            <a:pPr marL="343080" indent="-343080">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Jeux de vitesse : Sports de raquettes : tennis, pelote basque,  squash et autres sports co. :</a:t>
            </a:r>
            <a:endParaRPr b="0" lang="en-US" sz="2400" strike="noStrike" u="none">
              <a:solidFill>
                <a:srgbClr val="ffff00"/>
              </a:solidFill>
              <a:effectLst/>
              <a:uFillTx/>
              <a:latin typeface="Times New Roman"/>
            </a:endParaRPr>
          </a:p>
        </p:txBody>
      </p:sp>
    </p:spTree>
  </p:cSld>
  <p:transition>
    <p:strips dir="rd"/>
  </p:transition>
  <p:timing>
    <p:tnLst>
      <p:par>
        <p:cTn id="2003" dur="indefinite" restart="never" nodeType="tmRoot">
          <p:childTnLst>
            <p:seq>
              <p:cTn id="2004" dur="indefinite" nodeType="mainSeq">
                <p:childTnLst>
                  <p:par>
                    <p:cTn id="2005" nodeType="clickEffect" fill="hold">
                      <p:stCondLst>
                        <p:cond delay="indefinite"/>
                      </p:stCondLst>
                      <p:childTnLst>
                        <p:par>
                          <p:cTn id="2006" nodeType="withEffect" fill="hold">
                            <p:stCondLst>
                              <p:cond delay="0"/>
                            </p:stCondLst>
                            <p:childTnLst>
                              <p:par>
                                <p:cTn id="2007" nodeType="clickEffect" fill="hold" presetClass="entr" presetID="2" presetSubtype="1">
                                  <p:stCondLst>
                                    <p:cond delay="0"/>
                                  </p:stCondLst>
                                  <p:childTnLst>
                                    <p:set>
                                      <p:cBhvr>
                                        <p:cTn id="2008" dur="1" fill="hold">
                                          <p:stCondLst>
                                            <p:cond delay="0"/>
                                          </p:stCondLst>
                                        </p:cTn>
                                        <p:tgtEl>
                                          <p:spTgt spid="1658">
                                            <p:txEl>
                                              <p:pRg st="0" end="0"/>
                                            </p:txEl>
                                          </p:spTgt>
                                        </p:tgtEl>
                                        <p:attrNameLst>
                                          <p:attrName>style.visibility</p:attrName>
                                        </p:attrNameLst>
                                      </p:cBhvr>
                                      <p:to>
                                        <p:strVal val="visible"/>
                                      </p:to>
                                    </p:set>
                                    <p:anim calcmode="lin" valueType="num">
                                      <p:cBhvr additive="base">
                                        <p:cTn id="2009" dur="500" fill="hold"/>
                                        <p:tgtEl>
                                          <p:spTgt spid="1658">
                                            <p:txEl>
                                              <p:pRg st="0" end="0"/>
                                            </p:txEl>
                                          </p:spTgt>
                                        </p:tgtEl>
                                        <p:attrNameLst>
                                          <p:attrName>ppt_x</p:attrName>
                                        </p:attrNameLst>
                                      </p:cBhvr>
                                      <p:tavLst>
                                        <p:tav tm="0">
                                          <p:val>
                                            <p:strVal val="#ppt_x"/>
                                          </p:val>
                                        </p:tav>
                                        <p:tav tm="100000">
                                          <p:val>
                                            <p:strVal val="#ppt_x"/>
                                          </p:val>
                                        </p:tav>
                                      </p:tavLst>
                                    </p:anim>
                                    <p:anim calcmode="lin" valueType="num">
                                      <p:cBhvr additive="base">
                                        <p:cTn id="2010" dur="500" fill="hold"/>
                                        <p:tgtEl>
                                          <p:spTgt spid="165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011" nodeType="clickEffect" fill="hold">
                      <p:stCondLst>
                        <p:cond delay="indefinite"/>
                      </p:stCondLst>
                      <p:childTnLst>
                        <p:par>
                          <p:cTn id="2012" nodeType="withEffect" fill="hold">
                            <p:stCondLst>
                              <p:cond delay="0"/>
                            </p:stCondLst>
                            <p:childTnLst>
                              <p:par>
                                <p:cTn id="2013" nodeType="clickEffect" fill="hold" presetClass="entr" presetID="2" presetSubtype="1">
                                  <p:stCondLst>
                                    <p:cond delay="0"/>
                                  </p:stCondLst>
                                  <p:childTnLst>
                                    <p:set>
                                      <p:cBhvr>
                                        <p:cTn id="2014" dur="1" fill="hold">
                                          <p:stCondLst>
                                            <p:cond delay="0"/>
                                          </p:stCondLst>
                                        </p:cTn>
                                        <p:tgtEl>
                                          <p:spTgt spid="1658">
                                            <p:txEl>
                                              <p:pRg st="1" end="1"/>
                                            </p:txEl>
                                          </p:spTgt>
                                        </p:tgtEl>
                                        <p:attrNameLst>
                                          <p:attrName>style.visibility</p:attrName>
                                        </p:attrNameLst>
                                      </p:cBhvr>
                                      <p:to>
                                        <p:strVal val="visible"/>
                                      </p:to>
                                    </p:set>
                                    <p:anim calcmode="lin" valueType="num">
                                      <p:cBhvr additive="base">
                                        <p:cTn id="2015" dur="500" fill="hold"/>
                                        <p:tgtEl>
                                          <p:spTgt spid="1658">
                                            <p:txEl>
                                              <p:pRg st="1" end="1"/>
                                            </p:txEl>
                                          </p:spTgt>
                                        </p:tgtEl>
                                        <p:attrNameLst>
                                          <p:attrName>ppt_x</p:attrName>
                                        </p:attrNameLst>
                                      </p:cBhvr>
                                      <p:tavLst>
                                        <p:tav tm="0">
                                          <p:val>
                                            <p:strVal val="#ppt_x"/>
                                          </p:val>
                                        </p:tav>
                                        <p:tav tm="100000">
                                          <p:val>
                                            <p:strVal val="#ppt_x"/>
                                          </p:val>
                                        </p:tav>
                                      </p:tavLst>
                                    </p:anim>
                                    <p:anim calcmode="lin" valueType="num">
                                      <p:cBhvr additive="base">
                                        <p:cTn id="2016" dur="500" fill="hold"/>
                                        <p:tgtEl>
                                          <p:spTgt spid="1658">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2017" nodeType="clickEffect" fill="hold">
                      <p:stCondLst>
                        <p:cond delay="indefinite"/>
                      </p:stCondLst>
                      <p:childTnLst>
                        <p:par>
                          <p:cTn id="2018" nodeType="withEffect" fill="hold">
                            <p:stCondLst>
                              <p:cond delay="0"/>
                            </p:stCondLst>
                            <p:childTnLst>
                              <p:par>
                                <p:cTn id="2019" nodeType="clickEffect" fill="hold" presetClass="entr" presetID="2" presetSubtype="1">
                                  <p:stCondLst>
                                    <p:cond delay="0"/>
                                  </p:stCondLst>
                                  <p:childTnLst>
                                    <p:set>
                                      <p:cBhvr>
                                        <p:cTn id="2020" dur="1" fill="hold">
                                          <p:stCondLst>
                                            <p:cond delay="0"/>
                                          </p:stCondLst>
                                        </p:cTn>
                                        <p:tgtEl>
                                          <p:spTgt spid="1658">
                                            <p:txEl>
                                              <p:pRg st="2" end="2"/>
                                            </p:txEl>
                                          </p:spTgt>
                                        </p:tgtEl>
                                        <p:attrNameLst>
                                          <p:attrName>style.visibility</p:attrName>
                                        </p:attrNameLst>
                                      </p:cBhvr>
                                      <p:to>
                                        <p:strVal val="visible"/>
                                      </p:to>
                                    </p:set>
                                    <p:anim calcmode="lin" valueType="num">
                                      <p:cBhvr additive="base">
                                        <p:cTn id="2021" dur="500" fill="hold"/>
                                        <p:tgtEl>
                                          <p:spTgt spid="1658">
                                            <p:txEl>
                                              <p:pRg st="2" end="2"/>
                                            </p:txEl>
                                          </p:spTgt>
                                        </p:tgtEl>
                                        <p:attrNameLst>
                                          <p:attrName>ppt_x</p:attrName>
                                        </p:attrNameLst>
                                      </p:cBhvr>
                                      <p:tavLst>
                                        <p:tav tm="0">
                                          <p:val>
                                            <p:strVal val="#ppt_x"/>
                                          </p:val>
                                        </p:tav>
                                        <p:tav tm="100000">
                                          <p:val>
                                            <p:strVal val="#ppt_x"/>
                                          </p:val>
                                        </p:tav>
                                      </p:tavLst>
                                    </p:anim>
                                    <p:anim calcmode="lin" valueType="num">
                                      <p:cBhvr additive="base">
                                        <p:cTn id="2022" dur="500" fill="hold"/>
                                        <p:tgtEl>
                                          <p:spTgt spid="1658">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023" nodeType="clickEffect" fill="hold">
                      <p:stCondLst>
                        <p:cond delay="indefinite"/>
                      </p:stCondLst>
                      <p:childTnLst>
                        <p:par>
                          <p:cTn id="2024" nodeType="withEffect" fill="hold">
                            <p:stCondLst>
                              <p:cond delay="0"/>
                            </p:stCondLst>
                            <p:childTnLst>
                              <p:par>
                                <p:cTn id="2025" nodeType="clickEffect" fill="hold" presetClass="entr" presetID="2" presetSubtype="1">
                                  <p:stCondLst>
                                    <p:cond delay="0"/>
                                  </p:stCondLst>
                                  <p:childTnLst>
                                    <p:set>
                                      <p:cBhvr>
                                        <p:cTn id="2026" dur="1" fill="hold">
                                          <p:stCondLst>
                                            <p:cond delay="0"/>
                                          </p:stCondLst>
                                        </p:cTn>
                                        <p:tgtEl>
                                          <p:spTgt spid="1658">
                                            <p:txEl>
                                              <p:pRg st="3" end="3"/>
                                            </p:txEl>
                                          </p:spTgt>
                                        </p:tgtEl>
                                        <p:attrNameLst>
                                          <p:attrName>style.visibility</p:attrName>
                                        </p:attrNameLst>
                                      </p:cBhvr>
                                      <p:to>
                                        <p:strVal val="visible"/>
                                      </p:to>
                                    </p:set>
                                    <p:anim calcmode="lin" valueType="num">
                                      <p:cBhvr additive="base">
                                        <p:cTn id="2027" dur="500" fill="hold"/>
                                        <p:tgtEl>
                                          <p:spTgt spid="1658">
                                            <p:txEl>
                                              <p:pRg st="3" end="3"/>
                                            </p:txEl>
                                          </p:spTgt>
                                        </p:tgtEl>
                                        <p:attrNameLst>
                                          <p:attrName>ppt_x</p:attrName>
                                        </p:attrNameLst>
                                      </p:cBhvr>
                                      <p:tavLst>
                                        <p:tav tm="0">
                                          <p:val>
                                            <p:strVal val="#ppt_x"/>
                                          </p:val>
                                        </p:tav>
                                        <p:tav tm="100000">
                                          <p:val>
                                            <p:strVal val="#ppt_x"/>
                                          </p:val>
                                        </p:tav>
                                      </p:tavLst>
                                    </p:anim>
                                    <p:anim calcmode="lin" valueType="num">
                                      <p:cBhvr additive="base">
                                        <p:cTn id="2028" dur="500" fill="hold"/>
                                        <p:tgtEl>
                                          <p:spTgt spid="1658">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029" nodeType="clickEffect" fill="hold">
                      <p:stCondLst>
                        <p:cond delay="indefinite"/>
                      </p:stCondLst>
                      <p:childTnLst>
                        <p:par>
                          <p:cTn id="2030" nodeType="withEffect" fill="hold">
                            <p:stCondLst>
                              <p:cond delay="0"/>
                            </p:stCondLst>
                            <p:childTnLst>
                              <p:par>
                                <p:cTn id="2031" nodeType="clickEffect" fill="hold" presetClass="entr" presetID="2" presetSubtype="1">
                                  <p:stCondLst>
                                    <p:cond delay="0"/>
                                  </p:stCondLst>
                                  <p:childTnLst>
                                    <p:set>
                                      <p:cBhvr>
                                        <p:cTn id="2032" dur="1" fill="hold">
                                          <p:stCondLst>
                                            <p:cond delay="0"/>
                                          </p:stCondLst>
                                        </p:cTn>
                                        <p:tgtEl>
                                          <p:spTgt spid="1658">
                                            <p:txEl>
                                              <p:pRg st="4" end="4"/>
                                            </p:txEl>
                                          </p:spTgt>
                                        </p:tgtEl>
                                        <p:attrNameLst>
                                          <p:attrName>style.visibility</p:attrName>
                                        </p:attrNameLst>
                                      </p:cBhvr>
                                      <p:to>
                                        <p:strVal val="visible"/>
                                      </p:to>
                                    </p:set>
                                    <p:anim calcmode="lin" valueType="num">
                                      <p:cBhvr additive="base">
                                        <p:cTn id="2033" dur="500" fill="hold"/>
                                        <p:tgtEl>
                                          <p:spTgt spid="1658">
                                            <p:txEl>
                                              <p:pRg st="4" end="4"/>
                                            </p:txEl>
                                          </p:spTgt>
                                        </p:tgtEl>
                                        <p:attrNameLst>
                                          <p:attrName>ppt_x</p:attrName>
                                        </p:attrNameLst>
                                      </p:cBhvr>
                                      <p:tavLst>
                                        <p:tav tm="0">
                                          <p:val>
                                            <p:strVal val="#ppt_x"/>
                                          </p:val>
                                        </p:tav>
                                        <p:tav tm="100000">
                                          <p:val>
                                            <p:strVal val="#ppt_x"/>
                                          </p:val>
                                        </p:tav>
                                      </p:tavLst>
                                    </p:anim>
                                    <p:anim calcmode="lin" valueType="num">
                                      <p:cBhvr additive="base">
                                        <p:cTn id="2034" dur="500" fill="hold"/>
                                        <p:tgtEl>
                                          <p:spTgt spid="1658">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2035" nodeType="clickEffect" fill="hold">
                      <p:stCondLst>
                        <p:cond delay="indefinite"/>
                      </p:stCondLst>
                      <p:childTnLst>
                        <p:par>
                          <p:cTn id="2036" nodeType="withEffect" fill="hold">
                            <p:stCondLst>
                              <p:cond delay="0"/>
                            </p:stCondLst>
                            <p:childTnLst>
                              <p:par>
                                <p:cTn id="2037" nodeType="clickEffect" fill="hold" presetClass="entr" presetID="2" presetSubtype="1">
                                  <p:stCondLst>
                                    <p:cond delay="0"/>
                                  </p:stCondLst>
                                  <p:childTnLst>
                                    <p:set>
                                      <p:cBhvr>
                                        <p:cTn id="2038" dur="1" fill="hold">
                                          <p:stCondLst>
                                            <p:cond delay="0"/>
                                          </p:stCondLst>
                                        </p:cTn>
                                        <p:tgtEl>
                                          <p:spTgt spid="1658">
                                            <p:txEl>
                                              <p:pRg st="5" end="5"/>
                                            </p:txEl>
                                          </p:spTgt>
                                        </p:tgtEl>
                                        <p:attrNameLst>
                                          <p:attrName>style.visibility</p:attrName>
                                        </p:attrNameLst>
                                      </p:cBhvr>
                                      <p:to>
                                        <p:strVal val="visible"/>
                                      </p:to>
                                    </p:set>
                                    <p:anim calcmode="lin" valueType="num">
                                      <p:cBhvr additive="base">
                                        <p:cTn id="2039" dur="500" fill="hold"/>
                                        <p:tgtEl>
                                          <p:spTgt spid="1658">
                                            <p:txEl>
                                              <p:pRg st="5" end="5"/>
                                            </p:txEl>
                                          </p:spTgt>
                                        </p:tgtEl>
                                        <p:attrNameLst>
                                          <p:attrName>ppt_x</p:attrName>
                                        </p:attrNameLst>
                                      </p:cBhvr>
                                      <p:tavLst>
                                        <p:tav tm="0">
                                          <p:val>
                                            <p:strVal val="#ppt_x"/>
                                          </p:val>
                                        </p:tav>
                                        <p:tav tm="100000">
                                          <p:val>
                                            <p:strVal val="#ppt_x"/>
                                          </p:val>
                                        </p:tav>
                                      </p:tavLst>
                                    </p:anim>
                                    <p:anim calcmode="lin" valueType="num">
                                      <p:cBhvr additive="base">
                                        <p:cTn id="2040" dur="500" fill="hold"/>
                                        <p:tgtEl>
                                          <p:spTgt spid="1658">
                                            <p:txEl>
                                              <p:pRg st="5" end="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9" name="PlaceHolder 1"/>
          <p:cNvSpPr>
            <a:spLocks noGrp="1"/>
          </p:cNvSpPr>
          <p:nvPr>
            <p:ph/>
          </p:nvPr>
        </p:nvSpPr>
        <p:spPr>
          <a:xfrm>
            <a:off x="539640" y="476280"/>
            <a:ext cx="7772400" cy="4114800"/>
          </a:xfrm>
          <a:prstGeom prst="rect">
            <a:avLst/>
          </a:prstGeom>
          <a:noFill/>
          <a:ln w="0">
            <a:noFill/>
          </a:ln>
        </p:spPr>
        <p:txBody>
          <a:bodyPr lIns="91440" rIns="91440" tIns="45720" bIns="45720" anchor="t">
            <a:normAutofit fontScale="85000" lnSpcReduction="19999"/>
          </a:bodyPr>
          <a:p>
            <a:pPr marL="343080" indent="-343080">
              <a:lnSpc>
                <a:spcPct val="120000"/>
              </a:lnSpc>
              <a:spcBef>
                <a:spcPts val="60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2) </a:t>
            </a:r>
            <a:r>
              <a:rPr b="1" lang="es-CL" sz="2400" strike="noStrike" u="sng">
                <a:solidFill>
                  <a:srgbClr val="ffff00"/>
                </a:solidFill>
                <a:effectLst/>
                <a:uFillTx/>
                <a:latin typeface="Calibri"/>
                <a:ea typeface="Calibri"/>
              </a:rPr>
              <a:t>A la reprise de l’entraînement</a:t>
            </a:r>
            <a:endParaRPr b="0" lang="en-US" sz="2400" strike="noStrike" u="none">
              <a:solidFill>
                <a:srgbClr val="ffff00"/>
              </a:solidFill>
              <a:effectLst/>
              <a:uFillTx/>
              <a:latin typeface="Times New Roman"/>
            </a:endParaRPr>
          </a:p>
          <a:p>
            <a:pPr marL="343080" indent="-343080">
              <a:lnSpc>
                <a:spcPct val="12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5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	</a:t>
            </a:r>
            <a:r>
              <a:rPr b="1" lang="es-CL" sz="2400" strike="noStrike" u="none">
                <a:solidFill>
                  <a:srgbClr val="ffff00"/>
                </a:solidFill>
                <a:effectLst/>
                <a:uFillTx/>
                <a:latin typeface="Calibri"/>
                <a:ea typeface="Calibri"/>
              </a:rPr>
              <a:t>- </a:t>
            </a:r>
            <a:r>
              <a:rPr b="1" lang="es-CL" sz="2400" strike="noStrike" u="none">
                <a:solidFill>
                  <a:srgbClr val="ffffff"/>
                </a:solidFill>
                <a:effectLst/>
                <a:uFillTx/>
                <a:latin typeface="Calibri"/>
                <a:ea typeface="Calibri"/>
              </a:rPr>
              <a:t>Gestion de la période de reprise</a:t>
            </a: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Développement de la P.M.A. : fartlek, intervalles longs (3 à 10 min.) = 75 à 85 % de P.M.A. ou V.A.M. course  : </a:t>
            </a:r>
            <a:r>
              <a:rPr b="1" lang="es-CL" sz="2400" strike="noStrike" u="none">
                <a:solidFill>
                  <a:srgbClr val="ffff00"/>
                </a:solidFill>
                <a:effectLst/>
                <a:uFillTx/>
                <a:latin typeface="Calibri"/>
                <a:ea typeface="Calibri"/>
              </a:rPr>
              <a:t>Test de vitesse aérobie maximale</a:t>
            </a:r>
            <a:endParaRPr b="0" lang="en-US" sz="2400" strike="noStrike" u="none">
              <a:solidFill>
                <a:srgbClr val="ffff00"/>
              </a:solidFill>
              <a:effectLst/>
              <a:uFillTx/>
              <a:latin typeface="Times New Roman"/>
            </a:endParaRPr>
          </a:p>
          <a:p>
            <a:pPr marL="343080" indent="-343080">
              <a:lnSpc>
                <a:spcPct val="15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Développement de la force maximale de la vitesse et de la puissance musculaire : générales et spécifiques : </a:t>
            </a:r>
            <a:r>
              <a:rPr b="1" lang="es-CL" sz="2400" strike="noStrike" u="none">
                <a:solidFill>
                  <a:srgbClr val="ffff00"/>
                </a:solidFill>
                <a:effectLst/>
                <a:uFillTx/>
                <a:latin typeface="Calibri"/>
                <a:ea typeface="Calibri"/>
              </a:rPr>
              <a:t>Tests de force maximale DC, ½ squat…</a:t>
            </a:r>
            <a:endParaRPr b="0" lang="en-US" sz="2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0" name="PlaceHolder 1"/>
          <p:cNvSpPr>
            <a:spLocks noGrp="1"/>
          </p:cNvSpPr>
          <p:nvPr>
            <p:ph/>
          </p:nvPr>
        </p:nvSpPr>
        <p:spPr>
          <a:xfrm>
            <a:off x="395280" y="260280"/>
            <a:ext cx="8748720" cy="4114800"/>
          </a:xfrm>
          <a:prstGeom prst="rect">
            <a:avLst/>
          </a:prstGeom>
          <a:noFill/>
          <a:ln w="0">
            <a:noFill/>
          </a:ln>
        </p:spPr>
        <p:txBody>
          <a:bodyPr lIns="90360" rIns="90360" tIns="44280" bIns="44280" anchor="t">
            <a:normAutofit fontScale="25000" lnSpcReduction="19999"/>
          </a:bodyPr>
          <a:p>
            <a:pPr marL="343080" indent="-343080">
              <a:lnSpc>
                <a:spcPct val="80000"/>
              </a:lnSpc>
              <a:spcBef>
                <a:spcPts val="601"/>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3) </a:t>
            </a:r>
            <a:r>
              <a:rPr b="1" lang="es-CL" sz="2400" strike="noStrike" u="sng">
                <a:solidFill>
                  <a:srgbClr val="ffff00"/>
                </a:solidFill>
                <a:effectLst/>
                <a:uFillTx/>
                <a:latin typeface="Calibri"/>
                <a:ea typeface="Calibri"/>
              </a:rPr>
              <a:t>Huit à 10 semaines après la reprise de l’entraînement</a:t>
            </a:r>
            <a:r>
              <a:rPr b="1" lang="es-CL"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Gestion de la période compétitive : contrôle et réorientation éventuelle</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Développement et maintien des acquis : </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P.M.A. et V.A.M. = fartlek et intermittents courts : </a:t>
            </a:r>
            <a:r>
              <a:rPr b="1" lang="es-CL" sz="2400" strike="noStrike" u="none">
                <a:solidFill>
                  <a:srgbClr val="ffff00"/>
                </a:solidFill>
                <a:effectLst/>
                <a:uFillTx/>
                <a:latin typeface="Calibri"/>
                <a:ea typeface="Calibri"/>
              </a:rPr>
              <a:t>Test VAM</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Force, endurance musculaire spécifique, puissance, vitesse : préparation physique intégrée : </a:t>
            </a:r>
            <a:r>
              <a:rPr b="1" lang="es-CL" sz="2400" strike="noStrike" u="none">
                <a:solidFill>
                  <a:srgbClr val="ffff00"/>
                </a:solidFill>
                <a:effectLst/>
                <a:uFillTx/>
                <a:latin typeface="Calibri"/>
                <a:ea typeface="Calibri"/>
              </a:rPr>
              <a:t>Tests spécifiques</a:t>
            </a:r>
            <a:endParaRPr b="0" lang="en-US" sz="2400" strike="noStrike" u="none">
              <a:solidFill>
                <a:srgbClr val="ffff00"/>
              </a:solidFill>
              <a:effectLst/>
              <a:uFillTx/>
              <a:latin typeface="Times New Roman"/>
            </a:endParaRPr>
          </a:p>
          <a:p>
            <a:pPr marL="343080" indent="-343080">
              <a:lnSpc>
                <a:spcPts val="4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4) </a:t>
            </a:r>
            <a:r>
              <a:rPr b="1" lang="es-CL" sz="2400" strike="noStrike" u="sng">
                <a:solidFill>
                  <a:srgbClr val="ffffff"/>
                </a:solidFill>
                <a:effectLst/>
                <a:uFillTx/>
                <a:latin typeface="Calibri"/>
                <a:ea typeface="Calibri"/>
              </a:rPr>
              <a:t>A la demande de l’entraîneur</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Gestion des périodes compétitives spécifiques : </a:t>
            </a:r>
            <a:r>
              <a:rPr b="1" lang="es-CL" sz="2400" strike="noStrike" u="none">
                <a:solidFill>
                  <a:srgbClr val="ffff00"/>
                </a:solidFill>
                <a:effectLst/>
                <a:uFillTx/>
                <a:latin typeface="Calibri"/>
                <a:ea typeface="Calibri"/>
              </a:rPr>
              <a:t>Tests spécifiques</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t>
            </a:r>
            <a:r>
              <a:rPr b="1" lang="es-CL" sz="2400" strike="noStrike" u="none">
                <a:solidFill>
                  <a:srgbClr val="ffffff"/>
                </a:solidFill>
                <a:effectLst/>
                <a:uFillTx/>
                <a:latin typeface="Calibri"/>
                <a:ea typeface="Calibri"/>
              </a:rPr>
              <a:t>- Reprise après arrêt (blessure, mi-saison) : </a:t>
            </a:r>
            <a:r>
              <a:rPr b="1" lang="es-CL" sz="2400" strike="noStrike" u="none">
                <a:solidFill>
                  <a:srgbClr val="ffff00"/>
                </a:solidFill>
                <a:effectLst/>
                <a:uFillTx/>
                <a:latin typeface="Calibri"/>
                <a:ea typeface="Calibri"/>
              </a:rPr>
              <a:t>Tests généraux</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avant période d’affutage (2 à 3 semaines) : </a:t>
            </a:r>
            <a:r>
              <a:rPr b="1" lang="es-CL" sz="2400" strike="noStrike" u="none">
                <a:solidFill>
                  <a:srgbClr val="ffff00"/>
                </a:solidFill>
                <a:effectLst/>
                <a:uFillTx/>
                <a:latin typeface="Calibri"/>
                <a:ea typeface="Calibri"/>
              </a:rPr>
              <a:t>Tests spécifiques</a:t>
            </a:r>
            <a:endParaRPr b="0" lang="en-US" sz="2400" strike="noStrike" u="none">
              <a:solidFill>
                <a:srgbClr val="ffff00"/>
              </a:solidFill>
              <a:effectLst/>
              <a:uFillTx/>
              <a:latin typeface="Times New Roman"/>
            </a:endParaRPr>
          </a:p>
          <a:p>
            <a:pPr marL="343080" indent="-343080">
              <a:lnSpc>
                <a:spcPts val="4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ff"/>
                </a:solidFill>
                <a:effectLst/>
                <a:uFillTx/>
                <a:latin typeface="Calibri"/>
                <a:ea typeface="Calibri"/>
              </a:rPr>
              <a:t>	</a:t>
            </a:r>
            <a:r>
              <a:rPr b="0" lang="es-CL" sz="2400" strike="noStrike" u="none">
                <a:solidFill>
                  <a:srgbClr val="ffffff"/>
                </a:solidFill>
                <a:effectLst/>
                <a:uFillTx/>
                <a:latin typeface="Calibri"/>
                <a:ea typeface="Calibri"/>
              </a:rPr>
              <a:t>	</a:t>
            </a:r>
            <a:endParaRPr b="0" lang="en-US" sz="2400" strike="noStrike" u="none">
              <a:solidFill>
                <a:srgbClr val="ffff00"/>
              </a:solidFill>
              <a:effectLst/>
              <a:uFillTx/>
              <a:latin typeface="Times New Roman"/>
            </a:endParaRPr>
          </a:p>
        </p:txBody>
      </p:sp>
    </p:spTree>
  </p:cSld>
  <p:transition>
    <p:pull dir="rd"/>
  </p:transition>
  <p:timing>
    <p:tnLst>
      <p:par>
        <p:cTn id="2041" dur="indefinite" restart="never" nodeType="tmRoot">
          <p:childTnLst>
            <p:seq>
              <p:cTn id="2042" dur="indefinite" nodeType="mainSeq">
                <p:childTnLst>
                  <p:par>
                    <p:cTn id="2043" nodeType="clickEffect" fill="hold">
                      <p:stCondLst>
                        <p:cond delay="indefinite"/>
                      </p:stCondLst>
                      <p:childTnLst>
                        <p:par>
                          <p:cTn id="2044" nodeType="withEffect" fill="hold">
                            <p:stCondLst>
                              <p:cond delay="0"/>
                            </p:stCondLst>
                            <p:childTnLst>
                              <p:par>
                                <p:cTn id="2045" nodeType="clickEffect" fill="hold" presetClass="entr" presetID="24">
                                  <p:stCondLst>
                                    <p:cond delay="0"/>
                                  </p:stCondLst>
                                  <p:childTnLst>
                                    <p:set>
                                      <p:cBhvr>
                                        <p:cTn id="2046" dur="1" fill="hold">
                                          <p:stCondLst>
                                            <p:cond delay="0"/>
                                          </p:stCondLst>
                                        </p:cTn>
                                        <p:tgtEl>
                                          <p:spTgt spid="1660">
                                            <p:txEl>
                                              <p:pRg st="0" end="0"/>
                                            </p:txEl>
                                          </p:spTgt>
                                        </p:tgtEl>
                                        <p:attrNameLst>
                                          <p:attrName>style.visibility</p:attrName>
                                        </p:attrNameLst>
                                      </p:cBhvr>
                                      <p:to>
                                        <p:strVal val="visible"/>
                                      </p:to>
                                    </p:set>
                                    <p:anim calcmode="discrete" valueType="clr">
                                      <p:cBhvr additive="repl">
                                        <p:cTn id="2047" dur="80"/>
                                        <p:tgtEl>
                                          <p:spTgt spid="1660">
                                            <p:txEl>
                                              <p:pRg st="0" end="0"/>
                                            </p:txEl>
                                          </p:spTgt>
                                        </p:tgtEl>
                                        <p:attrNameLst>
                                          <p:attrName>style.color</p:attrName>
                                        </p:attrNameLst>
                                      </p:cBhvr>
                                      <p:tavLst>
                                        <p:tav tm="0">
                                          <p:val>
                                            <p:strVal val="rgb(-103,51,51)"/>
                                          </p:val>
                                        </p:tav>
                                        <p:tav tm="50000">
                                          <p:val>
                                            <p:strVal val="rgb(-103,-103,0)"/>
                                          </p:val>
                                        </p:tav>
                                      </p:tavLst>
                                    </p:anim>
                                    <p:anim calcmode="discrete" valueType="clr">
                                      <p:cBhvr additive="repl">
                                        <p:cTn id="2048" dur="80"/>
                                        <p:tgtEl>
                                          <p:spTgt spid="1660">
                                            <p:txEl>
                                              <p:pRg st="0" end="0"/>
                                            </p:txEl>
                                          </p:spTgt>
                                        </p:tgtEl>
                                        <p:attrNameLst>
                                          <p:attrName>fillcolor</p:attrName>
                                        </p:attrNameLst>
                                      </p:cBhvr>
                                      <p:tavLst>
                                        <p:tav tm="0">
                                          <p:val>
                                            <p:strVal val="rgb(-103,51,51)"/>
                                          </p:val>
                                        </p:tav>
                                        <p:tav tm="50000">
                                          <p:val>
                                            <p:strVal val="rgb(-103,-103,0)"/>
                                          </p:val>
                                        </p:tav>
                                      </p:tavLst>
                                    </p:anim>
                                    <p:set>
                                      <p:cBhvr>
                                        <p:cTn id="2049" dur="80"/>
                                        <p:tgtEl>
                                          <p:spTgt spid="1660">
                                            <p:txEl>
                                              <p:pRg st="0" end="0"/>
                                            </p:txEl>
                                          </p:spTgt>
                                        </p:tgtEl>
                                        <p:attrNameLst>
                                          <p:attrName>fill.type</p:attrName>
                                        </p:attrNameLst>
                                      </p:cBhvr>
                                      <p:to>
                                        <p:strVal val="solid"/>
                                      </p:to>
                                    </p:set>
                                  </p:childTnLst>
                                </p:cTn>
                              </p:par>
                            </p:childTnLst>
                          </p:cTn>
                        </p:par>
                      </p:childTnLst>
                    </p:cTn>
                  </p:par>
                  <p:par>
                    <p:cTn id="2050" nodeType="clickEffect" fill="hold">
                      <p:stCondLst>
                        <p:cond delay="indefinite"/>
                      </p:stCondLst>
                      <p:childTnLst>
                        <p:par>
                          <p:cTn id="2051" nodeType="withEffect" fill="hold">
                            <p:stCondLst>
                              <p:cond delay="0"/>
                            </p:stCondLst>
                            <p:childTnLst>
                              <p:par>
                                <p:cTn id="2052" nodeType="clickEffect" fill="hold" presetClass="entr" presetID="24">
                                  <p:stCondLst>
                                    <p:cond delay="0"/>
                                  </p:stCondLst>
                                  <p:childTnLst>
                                    <p:set>
                                      <p:cBhvr>
                                        <p:cTn id="2053" dur="1" fill="hold">
                                          <p:stCondLst>
                                            <p:cond delay="0"/>
                                          </p:stCondLst>
                                        </p:cTn>
                                        <p:tgtEl>
                                          <p:spTgt spid="1660">
                                            <p:txEl>
                                              <p:pRg st="2" end="2"/>
                                            </p:txEl>
                                          </p:spTgt>
                                        </p:tgtEl>
                                        <p:attrNameLst>
                                          <p:attrName>style.visibility</p:attrName>
                                        </p:attrNameLst>
                                      </p:cBhvr>
                                      <p:to>
                                        <p:strVal val="visible"/>
                                      </p:to>
                                    </p:set>
                                    <p:animEffect filter="fade" transition="in">
                                      <p:cBhvr additive="repl">
                                        <p:cTn id="2054" dur="1000"/>
                                        <p:tgtEl>
                                          <p:spTgt spid="1660">
                                            <p:txEl>
                                              <p:pRg st="2" end="2"/>
                                            </p:txEl>
                                          </p:spTgt>
                                        </p:tgtEl>
                                      </p:cBhvr>
                                    </p:animEffect>
                                    <p:anim calcmode="lin" valueType="num">
                                      <p:cBhvr additive="repl">
                                        <p:cTn id="2055" dur="1000" fill="hold"/>
                                        <p:tgtEl>
                                          <p:spTgt spid="1660">
                                            <p:txEl>
                                              <p:pRg st="2" end="2"/>
                                            </p:txEl>
                                          </p:spTgt>
                                        </p:tgtEl>
                                        <p:attrNameLst>
                                          <p:attrName>ppt_x</p:attrName>
                                        </p:attrNameLst>
                                      </p:cBhvr>
                                      <p:tavLst>
                                        <p:tav tm="0">
                                          <p:val>
                                            <p:strVal val="#ppt_x"/>
                                          </p:val>
                                        </p:tav>
                                        <p:tav tm="100000">
                                          <p:val>
                                            <p:strVal val="#ppt_x"/>
                                          </p:val>
                                        </p:tav>
                                      </p:tavLst>
                                    </p:anim>
                                    <p:anim calcmode="lin" valueType="num">
                                      <p:cBhvr additive="repl">
                                        <p:cTn id="2056" dur="1000" fill="hold"/>
                                        <p:tgtEl>
                                          <p:spTgt spid="166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57" nodeType="clickEffect" fill="hold">
                      <p:stCondLst>
                        <p:cond delay="indefinite"/>
                      </p:stCondLst>
                      <p:childTnLst>
                        <p:par>
                          <p:cTn id="2058" nodeType="withEffect" fill="hold">
                            <p:stCondLst>
                              <p:cond delay="0"/>
                            </p:stCondLst>
                            <p:childTnLst>
                              <p:par>
                                <p:cTn id="2059" nodeType="clickEffect" fill="hold" presetClass="entr" presetID="24">
                                  <p:stCondLst>
                                    <p:cond delay="0"/>
                                  </p:stCondLst>
                                  <p:childTnLst>
                                    <p:set>
                                      <p:cBhvr>
                                        <p:cTn id="2060" dur="1" fill="hold">
                                          <p:stCondLst>
                                            <p:cond delay="0"/>
                                          </p:stCondLst>
                                        </p:cTn>
                                        <p:tgtEl>
                                          <p:spTgt spid="1660">
                                            <p:txEl>
                                              <p:pRg st="3" end="3"/>
                                            </p:txEl>
                                          </p:spTgt>
                                        </p:tgtEl>
                                        <p:attrNameLst>
                                          <p:attrName>style.visibility</p:attrName>
                                        </p:attrNameLst>
                                      </p:cBhvr>
                                      <p:to>
                                        <p:strVal val="visible"/>
                                      </p:to>
                                    </p:set>
                                    <p:animEffect filter="diamond(out)" transition="in">
                                      <p:cBhvr additive="repl">
                                        <p:cTn id="2061" dur="2000"/>
                                        <p:tgtEl>
                                          <p:spTgt spid="1660">
                                            <p:txEl>
                                              <p:pRg st="3" end="3"/>
                                            </p:txEl>
                                          </p:spTgt>
                                        </p:tgtEl>
                                      </p:cBhvr>
                                    </p:animEffect>
                                  </p:childTnLst>
                                </p:cTn>
                              </p:par>
                            </p:childTnLst>
                          </p:cTn>
                        </p:par>
                      </p:childTnLst>
                    </p:cTn>
                  </p:par>
                  <p:par>
                    <p:cTn id="2062" nodeType="clickEffect" fill="hold">
                      <p:stCondLst>
                        <p:cond delay="indefinite"/>
                      </p:stCondLst>
                      <p:childTnLst>
                        <p:par>
                          <p:cTn id="2063" nodeType="withEffect" fill="hold">
                            <p:stCondLst>
                              <p:cond delay="0"/>
                            </p:stCondLst>
                            <p:childTnLst>
                              <p:par>
                                <p:cTn id="2064" nodeType="clickEffect" fill="hold" presetClass="entr" presetID="24">
                                  <p:stCondLst>
                                    <p:cond delay="0"/>
                                  </p:stCondLst>
                                  <p:childTnLst>
                                    <p:set>
                                      <p:cBhvr>
                                        <p:cTn id="2065" dur="1" fill="hold">
                                          <p:stCondLst>
                                            <p:cond delay="0"/>
                                          </p:stCondLst>
                                        </p:cTn>
                                        <p:tgtEl>
                                          <p:spTgt spid="1660">
                                            <p:txEl>
                                              <p:pRg st="5" end="5"/>
                                            </p:txEl>
                                          </p:spTgt>
                                        </p:tgtEl>
                                        <p:attrNameLst>
                                          <p:attrName>style.visibility</p:attrName>
                                        </p:attrNameLst>
                                      </p:cBhvr>
                                      <p:to>
                                        <p:strVal val="visible"/>
                                      </p:to>
                                    </p:set>
                                    <p:animEffect filter="diamond(in)" transition="in">
                                      <p:cBhvr additive="repl">
                                        <p:cTn id="2066" dur="2000"/>
                                        <p:tgtEl>
                                          <p:spTgt spid="1660">
                                            <p:txEl>
                                              <p:pRg st="5" end="5"/>
                                            </p:txEl>
                                          </p:spTgt>
                                        </p:tgtEl>
                                      </p:cBhvr>
                                    </p:animEffect>
                                  </p:childTnLst>
                                </p:cTn>
                              </p:par>
                            </p:childTnLst>
                          </p:cTn>
                        </p:par>
                      </p:childTnLst>
                    </p:cTn>
                  </p:par>
                  <p:par>
                    <p:cTn id="2067" nodeType="clickEffect" fill="hold">
                      <p:stCondLst>
                        <p:cond delay="indefinite"/>
                      </p:stCondLst>
                      <p:childTnLst>
                        <p:par>
                          <p:cTn id="2068" nodeType="withEffect" fill="hold">
                            <p:stCondLst>
                              <p:cond delay="0"/>
                            </p:stCondLst>
                            <p:childTnLst>
                              <p:par>
                                <p:cTn id="2069" nodeType="clickEffect" fill="hold" presetClass="entr" presetID="24">
                                  <p:stCondLst>
                                    <p:cond delay="0"/>
                                  </p:stCondLst>
                                  <p:childTnLst>
                                    <p:set>
                                      <p:cBhvr>
                                        <p:cTn id="2070" dur="1" fill="hold">
                                          <p:stCondLst>
                                            <p:cond delay="0"/>
                                          </p:stCondLst>
                                        </p:cTn>
                                        <p:tgtEl>
                                          <p:spTgt spid="1660">
                                            <p:txEl>
                                              <p:pRg st="6" end="6"/>
                                            </p:txEl>
                                          </p:spTgt>
                                        </p:tgtEl>
                                        <p:attrNameLst>
                                          <p:attrName>style.visibility</p:attrName>
                                        </p:attrNameLst>
                                      </p:cBhvr>
                                      <p:to>
                                        <p:strVal val="visible"/>
                                      </p:to>
                                    </p:set>
                                    <p:animEffect filter="box(in)" transition="in">
                                      <p:cBhvr additive="repl">
                                        <p:cTn id="2071" dur="500"/>
                                        <p:tgtEl>
                                          <p:spTgt spid="1660">
                                            <p:txEl>
                                              <p:pRg st="6" end="6"/>
                                            </p:txEl>
                                          </p:spTgt>
                                        </p:tgtEl>
                                      </p:cBhvr>
                                    </p:animEffect>
                                  </p:childTnLst>
                                </p:cTn>
                              </p:par>
                            </p:childTnLst>
                          </p:cTn>
                        </p:par>
                      </p:childTnLst>
                    </p:cTn>
                  </p:par>
                  <p:par>
                    <p:cTn id="2072" nodeType="clickEffect" fill="hold">
                      <p:stCondLst>
                        <p:cond delay="indefinite"/>
                      </p:stCondLst>
                      <p:childTnLst>
                        <p:par>
                          <p:cTn id="2073" nodeType="withEffect" fill="hold">
                            <p:stCondLst>
                              <p:cond delay="0"/>
                            </p:stCondLst>
                            <p:childTnLst>
                              <p:par>
                                <p:cTn id="2074" nodeType="clickEffect" fill="hold" presetClass="entr" presetID="24">
                                  <p:stCondLst>
                                    <p:cond delay="0"/>
                                  </p:stCondLst>
                                  <p:childTnLst>
                                    <p:set>
                                      <p:cBhvr>
                                        <p:cTn id="2075" dur="1" fill="hold">
                                          <p:stCondLst>
                                            <p:cond delay="0"/>
                                          </p:stCondLst>
                                        </p:cTn>
                                        <p:tgtEl>
                                          <p:spTgt spid="1660">
                                            <p:txEl>
                                              <p:pRg st="7" end="7"/>
                                            </p:txEl>
                                          </p:spTgt>
                                        </p:tgtEl>
                                        <p:attrNameLst>
                                          <p:attrName>style.visibility</p:attrName>
                                        </p:attrNameLst>
                                      </p:cBhvr>
                                      <p:to>
                                        <p:strVal val="visible"/>
                                      </p:to>
                                    </p:set>
                                    <p:anim calcmode="lin" valueType="num">
                                      <p:cBhvr additive="repl">
                                        <p:cTn id="2076" dur="500" fill="hold"/>
                                        <p:tgtEl>
                                          <p:spTgt spid="1660">
                                            <p:txEl>
                                              <p:pRg st="7" end="7"/>
                                            </p:txEl>
                                          </p:spTgt>
                                        </p:tgtEl>
                                        <p:attrNameLst>
                                          <p:attrName>ppt_x</p:attrName>
                                        </p:attrNameLst>
                                      </p:cBhvr>
                                      <p:tavLst>
                                        <p:tav tm="0">
                                          <p:val>
                                            <p:strVal val="0-#ppt_w/2"/>
                                          </p:val>
                                        </p:tav>
                                        <p:tav tm="100000">
                                          <p:val>
                                            <p:strVal val="#ppt_x"/>
                                          </p:val>
                                        </p:tav>
                                      </p:tavLst>
                                    </p:anim>
                                    <p:anim calcmode="lin" valueType="num">
                                      <p:cBhvr additive="repl">
                                        <p:cTn id="2077" dur="500" fill="hold"/>
                                        <p:tgtEl>
                                          <p:spTgt spid="166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078" nodeType="clickEffect" fill="hold">
                      <p:stCondLst>
                        <p:cond delay="indefinite"/>
                      </p:stCondLst>
                      <p:childTnLst>
                        <p:par>
                          <p:cTn id="2079" nodeType="withEffect" fill="hold">
                            <p:stCondLst>
                              <p:cond delay="0"/>
                            </p:stCondLst>
                            <p:childTnLst>
                              <p:par>
                                <p:cTn id="2080" nodeType="clickEffect" fill="hold" presetClass="entr" presetID="24">
                                  <p:stCondLst>
                                    <p:cond delay="0"/>
                                  </p:stCondLst>
                                  <p:childTnLst>
                                    <p:set>
                                      <p:cBhvr>
                                        <p:cTn id="2081" dur="1" fill="hold">
                                          <p:stCondLst>
                                            <p:cond delay="0"/>
                                          </p:stCondLst>
                                        </p:cTn>
                                        <p:tgtEl>
                                          <p:spTgt spid="1660">
                                            <p:txEl>
                                              <p:pRg st="8" end="8"/>
                                            </p:txEl>
                                          </p:spTgt>
                                        </p:tgtEl>
                                        <p:attrNameLst>
                                          <p:attrName>style.visibility</p:attrName>
                                        </p:attrNameLst>
                                      </p:cBhvr>
                                      <p:to>
                                        <p:strVal val="visible"/>
                                      </p:to>
                                    </p:set>
                                    <p:animEffect filter="wipe(left)" transition="in">
                                      <p:cBhvr additive="repl">
                                        <p:cTn id="2082" dur="500"/>
                                        <p:tgtEl>
                                          <p:spTgt spid="1660">
                                            <p:txEl>
                                              <p:pRg st="8" end="8"/>
                                            </p:txEl>
                                          </p:spTgt>
                                        </p:tgtEl>
                                      </p:cBhvr>
                                    </p:animEffect>
                                  </p:childTnLst>
                                </p:cTn>
                              </p:par>
                            </p:childTnLst>
                          </p:cTn>
                        </p:par>
                      </p:childTnLst>
                    </p:cTn>
                  </p:par>
                  <p:par>
                    <p:cTn id="2083" nodeType="clickEffect" fill="hold">
                      <p:stCondLst>
                        <p:cond delay="indefinite"/>
                      </p:stCondLst>
                      <p:childTnLst>
                        <p:par>
                          <p:cTn id="2084" nodeType="withEffect" fill="hold">
                            <p:stCondLst>
                              <p:cond delay="0"/>
                            </p:stCondLst>
                            <p:childTnLst>
                              <p:par>
                                <p:cTn id="2085" nodeType="clickEffect" fill="hold" presetClass="entr" presetID="24">
                                  <p:stCondLst>
                                    <p:cond delay="0"/>
                                  </p:stCondLst>
                                  <p:childTnLst>
                                    <p:set>
                                      <p:cBhvr>
                                        <p:cTn id="2086" dur="1" fill="hold">
                                          <p:stCondLst>
                                            <p:cond delay="0"/>
                                          </p:stCondLst>
                                        </p:cTn>
                                        <p:tgtEl>
                                          <p:spTgt spid="1660">
                                            <p:txEl>
                                              <p:pRg st="9" end="9"/>
                                            </p:txEl>
                                          </p:spTgt>
                                        </p:tgtEl>
                                        <p:attrNameLst>
                                          <p:attrName>style.visibility</p:attrName>
                                        </p:attrNameLst>
                                      </p:cBhvr>
                                      <p:to>
                                        <p:strVal val="visible"/>
                                      </p:to>
                                    </p:set>
                                    <p:animEffect filter="fade" transition="in">
                                      <p:cBhvr additive="repl">
                                        <p:cTn id="2087" dur="1000"/>
                                        <p:tgtEl>
                                          <p:spTgt spid="1660">
                                            <p:txEl>
                                              <p:pRg st="9" end="9"/>
                                            </p:txEl>
                                          </p:spTgt>
                                        </p:tgtEl>
                                      </p:cBhvr>
                                    </p:animEffect>
                                    <p:anim calcmode="lin" valueType="num">
                                      <p:cBhvr additive="repl">
                                        <p:cTn id="2088" dur="1000" fill="hold"/>
                                        <p:tgtEl>
                                          <p:spTgt spid="1660">
                                            <p:txEl>
                                              <p:pRg st="9" end="9"/>
                                            </p:txEl>
                                          </p:spTgt>
                                        </p:tgtEl>
                                        <p:attrNameLst>
                                          <p:attrName>ppt_x</p:attrName>
                                        </p:attrNameLst>
                                      </p:cBhvr>
                                      <p:tavLst>
                                        <p:tav tm="0">
                                          <p:val>
                                            <p:strVal val="#ppt_x"/>
                                          </p:val>
                                        </p:tav>
                                        <p:tav tm="100000">
                                          <p:val>
                                            <p:strVal val="#ppt_x"/>
                                          </p:val>
                                        </p:tav>
                                      </p:tavLst>
                                    </p:anim>
                                    <p:anim calcmode="lin" valueType="num">
                                      <p:cBhvr additive="repl">
                                        <p:cTn id="2089" dur="1000" fill="hold"/>
                                        <p:tgtEl>
                                          <p:spTgt spid="166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090" nodeType="clickEffect" fill="hold">
                      <p:stCondLst>
                        <p:cond delay="indefinite"/>
                      </p:stCondLst>
                      <p:childTnLst>
                        <p:par>
                          <p:cTn id="2091" nodeType="withEffect" fill="hold">
                            <p:stCondLst>
                              <p:cond delay="0"/>
                            </p:stCondLst>
                            <p:childTnLst>
                              <p:par>
                                <p:cTn id="2092" nodeType="clickEffect" fill="hold" presetClass="entr" presetID="24">
                                  <p:stCondLst>
                                    <p:cond delay="0"/>
                                  </p:stCondLst>
                                  <p:childTnLst>
                                    <p:set>
                                      <p:cBhvr>
                                        <p:cTn id="2093" dur="1" fill="hold">
                                          <p:stCondLst>
                                            <p:cond delay="0"/>
                                          </p:stCondLst>
                                        </p:cTn>
                                        <p:tgtEl>
                                          <p:spTgt spid="1660">
                                            <p:txEl>
                                              <p:pRg st="10" end="10"/>
                                            </p:txEl>
                                          </p:spTgt>
                                        </p:tgtEl>
                                        <p:attrNameLst>
                                          <p:attrName>style.visibility</p:attrName>
                                        </p:attrNameLst>
                                      </p:cBhvr>
                                      <p:to>
                                        <p:strVal val="visible"/>
                                      </p:to>
                                    </p:set>
                                    <p:anim calcmode="lin" valueType="num">
                                      <p:cBhvr additive="repl">
                                        <p:cTn id="2094" dur="500" fill="hold"/>
                                        <p:tgtEl>
                                          <p:spTgt spid="1660">
                                            <p:txEl>
                                              <p:pRg st="10" end="10"/>
                                            </p:txEl>
                                          </p:spTgt>
                                        </p:tgtEl>
                                        <p:attrNameLst>
                                          <p:attrName>ppt_w</p:attrName>
                                        </p:attrNameLst>
                                      </p:cBhvr>
                                      <p:tavLst>
                                        <p:tav tm="0">
                                          <p:val>
                                            <p:strVal val="0"/>
                                          </p:val>
                                        </p:tav>
                                        <p:tav tm="100000">
                                          <p:val>
                                            <p:strVal val="#ppt_w"/>
                                          </p:val>
                                        </p:tav>
                                      </p:tavLst>
                                    </p:anim>
                                    <p:anim calcmode="lin" valueType="num">
                                      <p:cBhvr additive="repl">
                                        <p:cTn id="2095" dur="500" fill="hold"/>
                                        <p:tgtEl>
                                          <p:spTgt spid="1660">
                                            <p:txEl>
                                              <p:pRg st="10" end="10"/>
                                            </p:txEl>
                                          </p:spTgt>
                                        </p:tgtEl>
                                        <p:attrNameLst>
                                          <p:attrName>ppt_h</p:attrName>
                                        </p:attrNameLst>
                                      </p:cBhvr>
                                      <p:tavLst>
                                        <p:tav tm="0">
                                          <p:val>
                                            <p:strVal val="0"/>
                                          </p:val>
                                        </p:tav>
                                        <p:tav tm="100000">
                                          <p:val>
                                            <p:strVal val="#ppt_h"/>
                                          </p:val>
                                        </p:tav>
                                      </p:tavLst>
                                    </p:anim>
                                    <p:animEffect filter="fade" transition="in">
                                      <p:cBhvr additive="repl">
                                        <p:cTn id="2096" dur="500"/>
                                        <p:tgtEl>
                                          <p:spTgt spid="1660">
                                            <p:txEl>
                                              <p:pRg st="10" end="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1" name="Text Box 4"/>
          <p:cNvSpPr/>
          <p:nvPr/>
        </p:nvSpPr>
        <p:spPr>
          <a:xfrm>
            <a:off x="324000" y="1576440"/>
            <a:ext cx="8712000" cy="4363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Réflexion, théorisation et modélisation de l’entraînement ne devraient jamais tomber dans un des deux excès suivants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 exclure la science</a:t>
            </a:r>
            <a:endParaRPr b="0" lang="en-US" sz="28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 n’admettre que la science</a:t>
            </a:r>
            <a:endParaRPr b="0" lang="en-US" sz="28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…mais se situer entre ces deux extrêmes et se fonder sur l’expérience « éclairée » du praticien bien formé.    </a:t>
            </a:r>
            <a:endParaRPr b="0" lang="en-US" sz="2800" strike="noStrike" u="none">
              <a:solidFill>
                <a:srgbClr val="ffff00"/>
              </a:solidFill>
              <a:effectLst/>
              <a:uFillTx/>
              <a:latin typeface="Times New Roman"/>
            </a:endParaRPr>
          </a:p>
        </p:txBody>
      </p:sp>
      <p:sp>
        <p:nvSpPr>
          <p:cNvPr id="1662" name="Text Box 5"/>
          <p:cNvSpPr/>
          <p:nvPr/>
        </p:nvSpPr>
        <p:spPr>
          <a:xfrm>
            <a:off x="219240" y="318960"/>
            <a:ext cx="84085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rPr>
              <a:t>Un peu de philosophie pour terminer…</a:t>
            </a:r>
            <a:endParaRPr b="0" lang="en-US" sz="32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timing>
    <p:tnLst>
      <p:par>
        <p:cTn id="2097" dur="indefinite" restart="never" nodeType="tmRoot">
          <p:childTnLst>
            <p:seq>
              <p:cTn id="2098" dur="indefinite" nodeType="mainSeq">
                <p:childTnLst>
                  <p:par>
                    <p:cTn id="2099" nodeType="clickEffect" fill="hold">
                      <p:stCondLst>
                        <p:cond delay="indefinite"/>
                      </p:stCondLst>
                      <p:childTnLst>
                        <p:par>
                          <p:cTn id="2100" nodeType="withEffect" fill="hold">
                            <p:stCondLst>
                              <p:cond delay="0"/>
                            </p:stCondLst>
                            <p:childTnLst>
                              <p:par>
                                <p:cTn id="2101" nodeType="clickEffect" fill="hold" presetClass="entr" presetID="53">
                                  <p:stCondLst>
                                    <p:cond delay="0"/>
                                  </p:stCondLst>
                                  <p:childTnLst>
                                    <p:set>
                                      <p:cBhvr>
                                        <p:cTn id="2102" dur="1" fill="hold">
                                          <p:stCondLst>
                                            <p:cond delay="0"/>
                                          </p:stCondLst>
                                        </p:cTn>
                                        <p:tgtEl>
                                          <p:spTgt spid="1661">
                                            <p:txEl>
                                              <p:pRg st="0" end="0"/>
                                            </p:txEl>
                                          </p:spTgt>
                                        </p:tgtEl>
                                        <p:attrNameLst>
                                          <p:attrName>style.visibility</p:attrName>
                                        </p:attrNameLst>
                                      </p:cBhvr>
                                      <p:to>
                                        <p:strVal val="visible"/>
                                      </p:to>
                                    </p:set>
                                    <p:anim calcmode="lin" valueType="num">
                                      <p:cBhvr additive="repl">
                                        <p:cTn id="2103" dur="2000" fill="hold"/>
                                        <p:tgtEl>
                                          <p:spTgt spid="1661">
                                            <p:txEl>
                                              <p:pRg st="0" end="0"/>
                                            </p:txEl>
                                          </p:spTgt>
                                        </p:tgtEl>
                                        <p:attrNameLst>
                                          <p:attrName>ppt_w</p:attrName>
                                        </p:attrNameLst>
                                      </p:cBhvr>
                                      <p:tavLst>
                                        <p:tav tm="0">
                                          <p:val>
                                            <p:fltVal val="0"/>
                                          </p:val>
                                        </p:tav>
                                        <p:tav tm="100000">
                                          <p:val>
                                            <p:strVal val="#ppt_w"/>
                                          </p:val>
                                        </p:tav>
                                      </p:tavLst>
                                    </p:anim>
                                    <p:anim calcmode="lin" valueType="num">
                                      <p:cBhvr additive="repl">
                                        <p:cTn id="2104" dur="2000" fill="hold"/>
                                        <p:tgtEl>
                                          <p:spTgt spid="1661">
                                            <p:txEl>
                                              <p:pRg st="0" end="0"/>
                                            </p:txEl>
                                          </p:spTgt>
                                        </p:tgtEl>
                                        <p:attrNameLst>
                                          <p:attrName>ppt_h</p:attrName>
                                        </p:attrNameLst>
                                      </p:cBhvr>
                                      <p:tavLst>
                                        <p:tav tm="0">
                                          <p:val>
                                            <p:fltVal val="0"/>
                                          </p:val>
                                        </p:tav>
                                        <p:tav tm="100000">
                                          <p:val>
                                            <p:strVal val="#ppt_h"/>
                                          </p:val>
                                        </p:tav>
                                      </p:tavLst>
                                    </p:anim>
                                    <p:animEffect filter="fade" transition="in">
                                      <p:cBhvr additive="repl">
                                        <p:cTn id="2105" dur="2000"/>
                                        <p:tgtEl>
                                          <p:spTgt spid="1661">
                                            <p:txEl>
                                              <p:pRg st="0" end="0"/>
                                            </p:txEl>
                                          </p:spTgt>
                                        </p:tgtEl>
                                      </p:cBhvr>
                                    </p:animEffect>
                                  </p:childTnLst>
                                </p:cTn>
                              </p:par>
                            </p:childTnLst>
                          </p:cTn>
                        </p:par>
                      </p:childTnLst>
                    </p:cTn>
                  </p:par>
                  <p:par>
                    <p:cTn id="2106" nodeType="clickEffect" fill="hold">
                      <p:stCondLst>
                        <p:cond delay="indefinite"/>
                      </p:stCondLst>
                      <p:childTnLst>
                        <p:par>
                          <p:cTn id="2107" nodeType="withEffect" fill="hold">
                            <p:stCondLst>
                              <p:cond delay="0"/>
                            </p:stCondLst>
                            <p:childTnLst>
                              <p:par>
                                <p:cTn id="2108" nodeType="clickEffect" fill="hold" presetClass="entr" presetID="22" presetSubtype="8">
                                  <p:stCondLst>
                                    <p:cond delay="0"/>
                                  </p:stCondLst>
                                  <p:childTnLst>
                                    <p:set>
                                      <p:cBhvr>
                                        <p:cTn id="2109" dur="1" fill="hold">
                                          <p:stCondLst>
                                            <p:cond delay="0"/>
                                          </p:stCondLst>
                                        </p:cTn>
                                        <p:tgtEl>
                                          <p:spTgt spid="1661">
                                            <p:txEl>
                                              <p:pRg st="2" end="2"/>
                                            </p:txEl>
                                          </p:spTgt>
                                        </p:tgtEl>
                                        <p:attrNameLst>
                                          <p:attrName>style.visibility</p:attrName>
                                        </p:attrNameLst>
                                      </p:cBhvr>
                                      <p:to>
                                        <p:strVal val="visible"/>
                                      </p:to>
                                    </p:set>
                                    <p:animEffect filter="wipe(left)" transition="in">
                                      <p:cBhvr additive="repl">
                                        <p:cTn id="2110" dur="2000"/>
                                        <p:tgtEl>
                                          <p:spTgt spid="1661">
                                            <p:txEl>
                                              <p:pRg st="2" end="2"/>
                                            </p:txEl>
                                          </p:spTgt>
                                        </p:tgtEl>
                                      </p:cBhvr>
                                    </p:animEffect>
                                  </p:childTnLst>
                                </p:cTn>
                              </p:par>
                            </p:childTnLst>
                          </p:cTn>
                        </p:par>
                      </p:childTnLst>
                    </p:cTn>
                  </p:par>
                  <p:par>
                    <p:cTn id="2111" nodeType="clickEffect" fill="hold">
                      <p:stCondLst>
                        <p:cond delay="indefinite"/>
                      </p:stCondLst>
                      <p:childTnLst>
                        <p:par>
                          <p:cTn id="2112" nodeType="withEffect" fill="hold">
                            <p:stCondLst>
                              <p:cond delay="0"/>
                            </p:stCondLst>
                            <p:childTnLst>
                              <p:par>
                                <p:cTn id="2113" nodeType="clickEffect" fill="hold" presetClass="entr" presetID="22" presetSubtype="8">
                                  <p:stCondLst>
                                    <p:cond delay="0"/>
                                  </p:stCondLst>
                                  <p:childTnLst>
                                    <p:set>
                                      <p:cBhvr>
                                        <p:cTn id="2114" dur="1" fill="hold">
                                          <p:stCondLst>
                                            <p:cond delay="0"/>
                                          </p:stCondLst>
                                        </p:cTn>
                                        <p:tgtEl>
                                          <p:spTgt spid="1661">
                                            <p:txEl>
                                              <p:pRg st="3" end="3"/>
                                            </p:txEl>
                                          </p:spTgt>
                                        </p:tgtEl>
                                        <p:attrNameLst>
                                          <p:attrName>style.visibility</p:attrName>
                                        </p:attrNameLst>
                                      </p:cBhvr>
                                      <p:to>
                                        <p:strVal val="visible"/>
                                      </p:to>
                                    </p:set>
                                    <p:animEffect filter="wipe(left)" transition="in">
                                      <p:cBhvr additive="repl">
                                        <p:cTn id="2115" dur="2000"/>
                                        <p:tgtEl>
                                          <p:spTgt spid="1661">
                                            <p:txEl>
                                              <p:pRg st="3" end="3"/>
                                            </p:txEl>
                                          </p:spTgt>
                                        </p:tgtEl>
                                      </p:cBhvr>
                                    </p:animEffect>
                                  </p:childTnLst>
                                </p:cTn>
                              </p:par>
                            </p:childTnLst>
                          </p:cTn>
                        </p:par>
                      </p:childTnLst>
                    </p:cTn>
                  </p:par>
                  <p:par>
                    <p:cTn id="2116" nodeType="clickEffect" fill="hold">
                      <p:stCondLst>
                        <p:cond delay="indefinite"/>
                      </p:stCondLst>
                      <p:childTnLst>
                        <p:par>
                          <p:cTn id="2117" nodeType="withEffect" fill="hold">
                            <p:stCondLst>
                              <p:cond delay="0"/>
                            </p:stCondLst>
                            <p:childTnLst>
                              <p:par>
                                <p:cTn id="2118" nodeType="clickEffect" fill="hold" presetClass="entr" presetID="22" presetSubtype="8">
                                  <p:stCondLst>
                                    <p:cond delay="0"/>
                                  </p:stCondLst>
                                  <p:childTnLst>
                                    <p:set>
                                      <p:cBhvr>
                                        <p:cTn id="2119" dur="1" fill="hold">
                                          <p:stCondLst>
                                            <p:cond delay="0"/>
                                          </p:stCondLst>
                                        </p:cTn>
                                        <p:tgtEl>
                                          <p:spTgt spid="1661">
                                            <p:txEl>
                                              <p:pRg st="5" end="5"/>
                                            </p:txEl>
                                          </p:spTgt>
                                        </p:tgtEl>
                                        <p:attrNameLst>
                                          <p:attrName>style.visibility</p:attrName>
                                        </p:attrNameLst>
                                      </p:cBhvr>
                                      <p:to>
                                        <p:strVal val="visible"/>
                                      </p:to>
                                    </p:set>
                                    <p:animEffect filter="wipe(left)" transition="in">
                                      <p:cBhvr additive="repl">
                                        <p:cTn id="2120" dur="1000"/>
                                        <p:tgtEl>
                                          <p:spTgt spid="166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3" name="Object 3" descr=""/>
          <p:cNvPicPr/>
          <p:nvPr/>
        </p:nvPicPr>
        <p:blipFill>
          <a:blip r:embed="rId1"/>
          <a:stretch/>
        </p:blipFill>
        <p:spPr>
          <a:xfrm>
            <a:off x="2357280" y="1500120"/>
            <a:ext cx="4191120" cy="2374920"/>
          </a:xfrm>
          <a:prstGeom prst="rect">
            <a:avLst/>
          </a:prstGeom>
          <a:noFill/>
          <a:ln w="0">
            <a:noFill/>
          </a:ln>
        </p:spPr>
      </p:pic>
      <p:sp>
        <p:nvSpPr>
          <p:cNvPr id="1664" name="Rectangle 4"/>
          <p:cNvSpPr/>
          <p:nvPr/>
        </p:nvSpPr>
        <p:spPr>
          <a:xfrm>
            <a:off x="1403280" y="4941720"/>
            <a:ext cx="6408720" cy="1191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00"/>
                </a:solidFill>
                <a:effectLst/>
                <a:uFillTx/>
                <a:latin typeface="Bookman Old Style"/>
              </a:rPr>
              <a:t>MERCI DE</a:t>
            </a:r>
            <a:endParaRPr b="0" lang="en-US" sz="3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00"/>
                </a:solidFill>
                <a:effectLst/>
                <a:uFillTx/>
                <a:latin typeface="Bookman Old Style"/>
              </a:rPr>
              <a:t>VOTRE ATTENTION</a:t>
            </a:r>
            <a:endParaRPr b="0" lang="en-US" sz="3600" strike="noStrike" u="none">
              <a:solidFill>
                <a:srgbClr val="ffff00"/>
              </a:solidFill>
              <a:effectLst/>
              <a:uFillTx/>
              <a:latin typeface="Times New Roman"/>
            </a:endParaRPr>
          </a:p>
        </p:txBody>
      </p:sp>
    </p:spTree>
  </p:cSld>
  <p:transition spd="slow">
    <p:dissolve/>
  </p:transition>
  <p:timing>
    <p:tnLst>
      <p:par>
        <p:cTn id="2121" dur="indefinite" restart="never" nodeType="tmRoot">
          <p:childTnLst>
            <p:seq>
              <p:cTn id="2122" dur="indefinite" nodeType="mainSeq">
                <p:childTnLst>
                  <p:par>
                    <p:cTn id="2123" nodeType="clickEffect" fill="hold">
                      <p:stCondLst>
                        <p:cond delay="0"/>
                      </p:stCondLst>
                      <p:childTnLst>
                        <p:par>
                          <p:cTn id="2124" nodeType="withEffect" fill="hold">
                            <p:stCondLst>
                              <p:cond delay="0"/>
                            </p:stCondLst>
                            <p:childTnLst>
                              <p:par>
                                <p:cTn id="2125" nodeType="afterEffect" fill="hold" presetClass="entr" presetID="22" presetSubtype="8">
                                  <p:stCondLst>
                                    <p:cond delay="0"/>
                                  </p:stCondLst>
                                  <p:childTnLst>
                                    <p:set>
                                      <p:cBhvr>
                                        <p:cTn id="2126" dur="1" fill="hold">
                                          <p:stCondLst>
                                            <p:cond delay="0"/>
                                          </p:stCondLst>
                                        </p:cTn>
                                        <p:tgtEl>
                                          <p:spTgt spid="1664"/>
                                        </p:tgtEl>
                                        <p:attrNameLst>
                                          <p:attrName>style.visibility</p:attrName>
                                        </p:attrNameLst>
                                      </p:cBhvr>
                                      <p:to>
                                        <p:strVal val="visible"/>
                                      </p:to>
                                    </p:set>
                                    <p:animEffect filter="wipe(left)" transition="in">
                                      <p:cBhvr additive="repl">
                                        <p:cTn id="2127" dur="500"/>
                                        <p:tgtEl>
                                          <p:spTgt spid="1664"/>
                                        </p:tgtEl>
                                      </p:cBhvr>
                                    </p:animEffect>
                                  </p:childTnLst>
                                </p:cTn>
                              </p:par>
                            </p:childTnLst>
                          </p:cTn>
                        </p:par>
                        <p:par>
                          <p:cTn id="2128" nodeType="afterEffect" fill="hold">
                            <p:stCondLst>
                              <p:cond delay="500"/>
                            </p:stCondLst>
                            <p:childTnLst>
                              <p:par>
                                <p:cTn id="2129" nodeType="afterEffect" fill="hold" presetClass="entr" presetID="23" presetSubtype="272">
                                  <p:stCondLst>
                                    <p:cond delay="0"/>
                                  </p:stCondLst>
                                  <p:childTnLst>
                                    <p:set>
                                      <p:cBhvr>
                                        <p:cTn id="2130" dur="1" fill="hold">
                                          <p:stCondLst>
                                            <p:cond delay="0"/>
                                          </p:stCondLst>
                                        </p:cTn>
                                        <p:tgtEl>
                                          <p:spTgt spid="1663"/>
                                        </p:tgtEl>
                                        <p:attrNameLst>
                                          <p:attrName>style.visibility</p:attrName>
                                        </p:attrNameLst>
                                      </p:cBhvr>
                                      <p:to>
                                        <p:strVal val="visible"/>
                                      </p:to>
                                    </p:set>
                                    <p:anim calcmode="lin" valueType="num">
                                      <p:cBhvr additive="repl">
                                        <p:cTn id="2131" dur="500" fill="hold"/>
                                        <p:tgtEl>
                                          <p:spTgt spid="1663"/>
                                        </p:tgtEl>
                                        <p:attrNameLst>
                                          <p:attrName>ppt_w</p:attrName>
                                        </p:attrNameLst>
                                      </p:cBhvr>
                                      <p:tavLst>
                                        <p:tav tm="0">
                                          <p:val>
                                            <p:strVal val="2/3*#ppt_w"/>
                                          </p:val>
                                        </p:tav>
                                        <p:tav tm="100000">
                                          <p:val>
                                            <p:strVal val="#ppt_w"/>
                                          </p:val>
                                        </p:tav>
                                      </p:tavLst>
                                    </p:anim>
                                    <p:anim calcmode="lin" valueType="num">
                                      <p:cBhvr additive="repl">
                                        <p:cTn id="2132" dur="500" fill="hold"/>
                                        <p:tgtEl>
                                          <p:spTgt spid="1663"/>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2002-10-16T09:18:54Z</dcterms:created>
  <dc:creator>Cazorla Georges</dc:creator>
  <dc:description/>
  <dc:language>en-US</dc:language>
  <cp:lastModifiedBy>cazgeor43@outlook.fr</cp:lastModifiedBy>
  <dcterms:modified xsi:type="dcterms:W3CDTF">2018-09-09T19:53:40Z</dcterms:modified>
  <cp:revision>214</cp:revision>
  <dc:subject/>
  <dc:title>Présentation PowerPoint</dc:title>
</cp:coreProperties>
</file>